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5"/>
  </p:notesMasterIdLst>
  <p:sldIdLst>
    <p:sldId id="256" r:id="rId2"/>
    <p:sldId id="289" r:id="rId3"/>
    <p:sldId id="284" r:id="rId4"/>
    <p:sldId id="285" r:id="rId5"/>
    <p:sldId id="327" r:id="rId6"/>
    <p:sldId id="308" r:id="rId7"/>
    <p:sldId id="328" r:id="rId8"/>
    <p:sldId id="312" r:id="rId9"/>
    <p:sldId id="341" r:id="rId10"/>
    <p:sldId id="321" r:id="rId11"/>
    <p:sldId id="323" r:id="rId12"/>
    <p:sldId id="342" r:id="rId13"/>
    <p:sldId id="343" r:id="rId14"/>
    <p:sldId id="410" r:id="rId15"/>
    <p:sldId id="344" r:id="rId16"/>
    <p:sldId id="330" r:id="rId17"/>
    <p:sldId id="335" r:id="rId18"/>
    <p:sldId id="336" r:id="rId19"/>
    <p:sldId id="346" r:id="rId20"/>
    <p:sldId id="347" r:id="rId21"/>
    <p:sldId id="399" r:id="rId22"/>
    <p:sldId id="403" r:id="rId23"/>
    <p:sldId id="404" r:id="rId24"/>
    <p:sldId id="402" r:id="rId25"/>
    <p:sldId id="405" r:id="rId26"/>
    <p:sldId id="409" r:id="rId27"/>
    <p:sldId id="406" r:id="rId28"/>
    <p:sldId id="408" r:id="rId29"/>
    <p:sldId id="407" r:id="rId30"/>
    <p:sldId id="340" r:id="rId31"/>
    <p:sldId id="345" r:id="rId32"/>
    <p:sldId id="348" r:id="rId33"/>
    <p:sldId id="337" r:id="rId34"/>
  </p:sldIdLst>
  <p:sldSz cx="9144000" cy="6858000" type="screen4x3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18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47048-0A01-4ECB-99B0-EE0598EE86B6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4024C-DF7D-46AE-AAB7-E1E472E947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8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4024C-DF7D-46AE-AAB7-E1E472E9470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25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4024C-DF7D-46AE-AAB7-E1E472E9470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74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4024C-DF7D-46AE-AAB7-E1E472E9470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337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149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122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027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919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797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348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5686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873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4024C-DF7D-46AE-AAB7-E1E472E9470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96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23B36638-A246-45AF-B4A1-7BF0B62BE9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D5B7778-A611-4872-8891-91482CF4C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0" y="-76200"/>
            <a:ext cx="9144000" cy="6934200"/>
            <a:chOff x="0" y="-76200"/>
            <a:chExt cx="9144000" cy="6934200"/>
          </a:xfrm>
        </p:grpSpPr>
        <p:pic>
          <p:nvPicPr>
            <p:cNvPr id="13" name="Picture 6" descr="https://fengardice.files.wordpress.com/2012/03/blackboardmath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524"/>
            <a:stretch/>
          </p:blipFill>
          <p:spPr bwMode="auto">
            <a:xfrm>
              <a:off x="0" y="504264"/>
              <a:ext cx="9137750" cy="6353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url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8803" y="-76200"/>
              <a:ext cx="4505197" cy="480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://www.woodmann.com/collaborative/knowledge/images/Sc_Stuxnet%27s_Rootkit_%28MRxNet%29_into_C%2B%2B_2011-2-6_13.54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6252"/>
              <a:ext cx="4638803" cy="390433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6" name="Title 1"/>
            <p:cNvSpPr txBox="1">
              <a:spLocks/>
            </p:cNvSpPr>
            <p:nvPr>
              <p:custDataLst>
                <p:tags r:id="rId2"/>
              </p:custDataLst>
            </p:nvPr>
          </p:nvSpPr>
          <p:spPr>
            <a:xfrm>
              <a:off x="457200" y="2189214"/>
              <a:ext cx="8383017" cy="28621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6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ctr"/>
              <a:r>
                <a:rPr lang="en-US" sz="4800" dirty="0"/>
                <a:t>Truth Tables</a:t>
              </a:r>
            </a:p>
            <a:p>
              <a:pPr algn="ctr"/>
              <a:r>
                <a:rPr lang="en-US" sz="7200" dirty="0"/>
                <a:t> </a:t>
              </a:r>
              <a:endParaRPr lang="en-US" sz="5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2008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1. Truth table for basic logical connectives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not, and, or, </a:t>
            </a:r>
            <a:r>
              <a:rPr lang="en-US" dirty="0" err="1"/>
              <a:t>xor</a:t>
            </a:r>
            <a:r>
              <a:rPr lang="en-US" dirty="0"/>
              <a:t>, implies</a:t>
            </a:r>
          </a:p>
        </p:txBody>
      </p:sp>
    </p:spTree>
    <p:extLst>
      <p:ext uri="{BB962C8B-B14F-4D97-AF65-F5344CB8AC3E}">
        <p14:creationId xmlns:p14="http://schemas.microsoft.com/office/powerpoint/2010/main" val="210494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43490" y="762000"/>
            <a:ext cx="7024744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Logical connectives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4400" y="1752600"/>
            <a:ext cx="7338508" cy="4495800"/>
          </a:xfrm>
        </p:spPr>
        <p:txBody>
          <a:bodyPr>
            <a:normAutofit/>
          </a:bodyPr>
          <a:lstStyle/>
          <a:p>
            <a:pPr lvl="3">
              <a:buNone/>
              <a:tabLst>
                <a:tab pos="631825" algn="ctr"/>
                <a:tab pos="3200400" algn="ctr"/>
                <a:tab pos="5486400" algn="ctr"/>
              </a:tabLst>
            </a:pPr>
            <a:r>
              <a:rPr lang="en-US" sz="2800" dirty="0"/>
              <a:t>		</a:t>
            </a:r>
            <a:r>
              <a:rPr lang="en-US" sz="2800" b="1" u="sng" dirty="0"/>
              <a:t>math</a:t>
            </a:r>
            <a:r>
              <a:rPr lang="en-US" sz="2800" b="1" dirty="0"/>
              <a:t>	</a:t>
            </a:r>
            <a:r>
              <a:rPr lang="en-US" sz="2800" b="1" u="sng" dirty="0"/>
              <a:t>Java/C++</a:t>
            </a:r>
          </a:p>
          <a:p>
            <a:pPr marL="68580" indent="0">
              <a:buNone/>
              <a:tabLst>
                <a:tab pos="631825" algn="ctr"/>
                <a:tab pos="3200400" algn="ctr"/>
                <a:tab pos="5486400" algn="ctr"/>
              </a:tabLst>
            </a:pPr>
            <a:r>
              <a:rPr lang="en-US" sz="3600" dirty="0"/>
              <a:t> 	</a:t>
            </a:r>
            <a:r>
              <a:rPr lang="en-US" sz="3600" b="1" dirty="0"/>
              <a:t>and</a:t>
            </a:r>
            <a:r>
              <a:rPr lang="en-US" sz="3600" dirty="0"/>
              <a:t>	p </a:t>
            </a:r>
            <a:r>
              <a:rPr lang="en-US" sz="3600" dirty="0">
                <a:sym typeface="Symbol"/>
              </a:rPr>
              <a:t> q	p &amp;&amp; q</a:t>
            </a:r>
          </a:p>
          <a:p>
            <a:pPr marL="68580" indent="0">
              <a:buNone/>
              <a:tabLst>
                <a:tab pos="631825" algn="ctr"/>
                <a:tab pos="3200400" algn="ctr"/>
                <a:tab pos="5486400" algn="ctr"/>
              </a:tabLst>
            </a:pPr>
            <a:r>
              <a:rPr lang="en-US" sz="3600" dirty="0">
                <a:sym typeface="Symbol"/>
              </a:rPr>
              <a:t> 	</a:t>
            </a:r>
            <a:r>
              <a:rPr lang="en-US" sz="3600" b="1" dirty="0">
                <a:sym typeface="Symbol"/>
              </a:rPr>
              <a:t>or</a:t>
            </a:r>
            <a:r>
              <a:rPr lang="en-US" sz="3600" dirty="0">
                <a:sym typeface="Symbol"/>
              </a:rPr>
              <a:t>	p  q	p || q</a:t>
            </a:r>
          </a:p>
          <a:p>
            <a:pPr marL="68580" indent="0">
              <a:buNone/>
              <a:tabLst>
                <a:tab pos="631825" algn="ctr"/>
                <a:tab pos="3200400" algn="ctr"/>
                <a:tab pos="5486400" algn="ctr"/>
              </a:tabLst>
            </a:pPr>
            <a:r>
              <a:rPr lang="en-US" sz="3600" dirty="0"/>
              <a:t> 	</a:t>
            </a:r>
            <a:r>
              <a:rPr lang="en-US" sz="3600" b="1" dirty="0" err="1"/>
              <a:t>xor</a:t>
            </a:r>
            <a:r>
              <a:rPr lang="en-US" sz="3600" dirty="0"/>
              <a:t>	p </a:t>
            </a:r>
            <a:r>
              <a:rPr lang="en-US" sz="3600" dirty="0">
                <a:sym typeface="Symbol"/>
              </a:rPr>
              <a:t> q	p ^ q</a:t>
            </a:r>
          </a:p>
          <a:p>
            <a:pPr marL="68580" indent="0">
              <a:buNone/>
              <a:tabLst>
                <a:tab pos="631825" algn="ctr"/>
                <a:tab pos="3200400" algn="ctr"/>
                <a:tab pos="5486400" algn="ctr"/>
              </a:tabLst>
            </a:pPr>
            <a:r>
              <a:rPr lang="en-US" sz="3600" dirty="0">
                <a:sym typeface="Symbol"/>
              </a:rPr>
              <a:t> 	</a:t>
            </a:r>
            <a:r>
              <a:rPr lang="en-US" sz="3600" b="1" dirty="0">
                <a:sym typeface="Symbol"/>
              </a:rPr>
              <a:t>not</a:t>
            </a:r>
            <a:r>
              <a:rPr lang="en-US" sz="3600" dirty="0">
                <a:sym typeface="Symbol"/>
              </a:rPr>
              <a:t>	</a:t>
            </a:r>
            <a:r>
              <a:rPr lang="en-US" sz="3600" baseline="30000" dirty="0">
                <a:sym typeface="Symbol"/>
              </a:rPr>
              <a:t></a:t>
            </a:r>
            <a:r>
              <a:rPr lang="en-US" sz="3600" dirty="0">
                <a:sym typeface="Symbol"/>
              </a:rPr>
              <a:t>p	!p</a:t>
            </a:r>
          </a:p>
          <a:p>
            <a:pPr marL="68580" indent="0">
              <a:buNone/>
            </a:pPr>
            <a:endParaRPr lang="en-US" sz="3600" dirty="0">
              <a:sym typeface="Symbol"/>
            </a:endParaRPr>
          </a:p>
          <a:p>
            <a:pPr marL="68580" indent="0" algn="ctr">
              <a:buNone/>
            </a:pPr>
            <a:r>
              <a:rPr lang="en-US" sz="3600" dirty="0">
                <a:sym typeface="Symbol"/>
              </a:rPr>
              <a:t>We will use the </a:t>
            </a:r>
            <a:r>
              <a:rPr lang="en-US" sz="3600" b="1" dirty="0">
                <a:sym typeface="Symbol"/>
              </a:rPr>
              <a:t>Java notation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9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Logical connectives:  Operator precedence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11677"/>
              </p:ext>
            </p:extLst>
          </p:nvPr>
        </p:nvGraphicFramePr>
        <p:xfrm>
          <a:off x="2590800" y="2514600"/>
          <a:ext cx="34528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baseline="30000" dirty="0">
                          <a:sym typeface="Symbol"/>
                        </a:rPr>
                        <a:t>!</a:t>
                      </a:r>
                      <a:r>
                        <a:rPr lang="en-US" b="1" dirty="0">
                          <a:sym typeface="Symbol"/>
                        </a:rPr>
                        <a:t> (not)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ym typeface="Symbol"/>
                        </a:rPr>
                        <a:t>&amp;&amp; (and)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ym typeface="Symbol"/>
                        </a:rPr>
                        <a:t>|| (or)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066800" y="5029200"/>
            <a:ext cx="7338508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As with programming,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it is good practice to use 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parenthesis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for clarity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965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Truth tables:</a:t>
            </a:r>
            <a:br>
              <a:rPr lang="en-US" dirty="0"/>
            </a:br>
            <a:r>
              <a:rPr lang="en-US" dirty="0"/>
              <a:t>AND </a:t>
            </a:r>
            <a:r>
              <a:rPr lang="en-US" sz="5300" b="1" dirty="0">
                <a:sym typeface="Symbol"/>
              </a:rPr>
              <a:t>&amp;&amp;			</a:t>
            </a:r>
            <a:endParaRPr lang="en-US" b="1" dirty="0"/>
          </a:p>
        </p:txBody>
      </p:sp>
      <p:graphicFrame>
        <p:nvGraphicFramePr>
          <p:cNvPr id="4" name="Content Placeholder 6"/>
          <p:cNvGraphicFramePr>
            <a:graphicFrameLocks noGrp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6027567"/>
              </p:ext>
            </p:extLst>
          </p:nvPr>
        </p:nvGraphicFramePr>
        <p:xfrm>
          <a:off x="1119187" y="2438400"/>
          <a:ext cx="291941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/>
                        <a:t>p&amp;&amp;q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76400" y="5257800"/>
            <a:ext cx="60198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I’m interested in seeing if this makes </a:t>
            </a:r>
            <a:r>
              <a:rPr lang="en-US" b="1" i="1" dirty="0">
                <a:solidFill>
                  <a:srgbClr val="92D050"/>
                </a:solidFill>
              </a:rPr>
              <a:t>intuitive</a:t>
            </a:r>
            <a:r>
              <a:rPr lang="en-US" dirty="0"/>
              <a:t> sense to you – can you </a:t>
            </a:r>
            <a:r>
              <a:rPr lang="en-US" i="1" dirty="0"/>
              <a:t>explain</a:t>
            </a:r>
            <a:r>
              <a:rPr lang="en-US" dirty="0"/>
              <a:t> why each output makes sense, using example sentences?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4343400" y="1676400"/>
            <a:ext cx="4267200" cy="3200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4000" b="1" dirty="0">
                <a:solidFill>
                  <a:schemeClr val="accent1"/>
                </a:solidFill>
              </a:rPr>
              <a:t>Is it:</a:t>
            </a:r>
          </a:p>
          <a:p>
            <a:pPr>
              <a:buNone/>
            </a:pPr>
            <a:endParaRPr lang="en-US" sz="2800" b="1" dirty="0">
              <a:solidFill>
                <a:schemeClr val="accent1"/>
              </a:solidFill>
            </a:endParaRPr>
          </a:p>
          <a:p>
            <a:pPr marL="525780" indent="-457200">
              <a:buAutoNum type="alphaUcPeriod"/>
            </a:pPr>
            <a:r>
              <a:rPr lang="en-US" sz="3600" dirty="0"/>
              <a:t>F,F,F,F</a:t>
            </a:r>
          </a:p>
          <a:p>
            <a:pPr marL="525780" indent="-457200">
              <a:buAutoNum type="alphaUcPeriod"/>
            </a:pPr>
            <a:r>
              <a:rPr lang="en-US" sz="3600" dirty="0"/>
              <a:t>T,T,T,F</a:t>
            </a:r>
          </a:p>
          <a:p>
            <a:pPr marL="525780" indent="-457200">
              <a:buAutoNum type="alphaUcPeriod"/>
            </a:pPr>
            <a:r>
              <a:rPr lang="en-US" sz="3600" dirty="0"/>
              <a:t>F,T,T,T</a:t>
            </a:r>
          </a:p>
          <a:p>
            <a:pPr marL="525780" indent="-457200">
              <a:buFont typeface="Wingdings 2" pitchFamily="18" charset="2"/>
              <a:buAutoNum type="alphaUcPeriod"/>
            </a:pPr>
            <a:r>
              <a:rPr lang="en-US" sz="3600" dirty="0"/>
              <a:t>T,F,F,F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Truth tables:</a:t>
            </a:r>
            <a:br>
              <a:rPr lang="en-US" dirty="0"/>
            </a:br>
            <a:r>
              <a:rPr lang="en-US" dirty="0"/>
              <a:t>AND </a:t>
            </a:r>
            <a:r>
              <a:rPr lang="en-US" sz="5300" b="1" dirty="0">
                <a:sym typeface="Symbol"/>
              </a:rPr>
              <a:t>&amp;&amp;			</a:t>
            </a:r>
            <a:endParaRPr lang="en-US" b="1" dirty="0"/>
          </a:p>
        </p:txBody>
      </p:sp>
      <p:graphicFrame>
        <p:nvGraphicFramePr>
          <p:cNvPr id="4" name="Content Placeholder 6"/>
          <p:cNvGraphicFramePr>
            <a:graphicFrameLocks noGrp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6172747"/>
              </p:ext>
            </p:extLst>
          </p:nvPr>
        </p:nvGraphicFramePr>
        <p:xfrm>
          <a:off x="1119187" y="2438400"/>
          <a:ext cx="291941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/>
                        <a:t>p&amp;&amp;q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76400" y="5257800"/>
            <a:ext cx="60198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I’m interested in seeing if this makes </a:t>
            </a:r>
            <a:r>
              <a:rPr lang="en-US" b="1" i="1" dirty="0">
                <a:solidFill>
                  <a:srgbClr val="92D050"/>
                </a:solidFill>
              </a:rPr>
              <a:t>intuitive</a:t>
            </a:r>
            <a:r>
              <a:rPr lang="en-US" dirty="0"/>
              <a:t> sense to you – can you </a:t>
            </a:r>
            <a:r>
              <a:rPr lang="en-US" i="1" dirty="0"/>
              <a:t>explain</a:t>
            </a:r>
            <a:r>
              <a:rPr lang="en-US" dirty="0"/>
              <a:t> why each output makes sense, using example sentences?</a:t>
            </a:r>
          </a:p>
        </p:txBody>
      </p:sp>
      <p:sp>
        <p:nvSpPr>
          <p:cNvPr id="7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4343400" y="1676400"/>
            <a:ext cx="4267200" cy="32004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500" b="1" dirty="0">
                <a:solidFill>
                  <a:schemeClr val="accent1"/>
                </a:solidFill>
              </a:rPr>
              <a:t>Is it:</a:t>
            </a:r>
          </a:p>
          <a:p>
            <a:pPr>
              <a:buNone/>
            </a:pPr>
            <a:endParaRPr lang="en-US" sz="2200" b="1" dirty="0">
              <a:solidFill>
                <a:schemeClr val="accent1"/>
              </a:solidFill>
            </a:endParaRPr>
          </a:p>
          <a:p>
            <a:pPr marL="525780" indent="-457200">
              <a:buAutoNum type="alphaUcPeriod"/>
            </a:pPr>
            <a:r>
              <a:rPr lang="en-US" sz="3100" dirty="0"/>
              <a:t>F,F,F,F</a:t>
            </a:r>
          </a:p>
          <a:p>
            <a:pPr marL="525780" indent="-457200">
              <a:buAutoNum type="alphaUcPeriod"/>
            </a:pPr>
            <a:r>
              <a:rPr lang="en-US" sz="3100" dirty="0"/>
              <a:t>T,T,T,F</a:t>
            </a:r>
          </a:p>
          <a:p>
            <a:pPr marL="525780" indent="-457200">
              <a:buAutoNum type="alphaUcPeriod"/>
            </a:pPr>
            <a:r>
              <a:rPr lang="en-US" sz="3100" dirty="0"/>
              <a:t>F,T,T,T</a:t>
            </a:r>
          </a:p>
          <a:p>
            <a:pPr marL="525780" indent="-457200">
              <a:buFont typeface="Wingdings 2" pitchFamily="18" charset="2"/>
              <a:buAutoNum type="alphaUcPeriod"/>
            </a:pPr>
            <a:r>
              <a:rPr lang="en-US" sz="3100" dirty="0">
                <a:solidFill>
                  <a:srgbClr val="FF0000"/>
                </a:solidFill>
              </a:rPr>
              <a:t>T,F,F,F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Truth tables:</a:t>
            </a:r>
            <a:br>
              <a:rPr lang="en-US" dirty="0"/>
            </a:br>
            <a:r>
              <a:rPr lang="en-US" dirty="0"/>
              <a:t>AND </a:t>
            </a:r>
            <a:r>
              <a:rPr lang="en-US" sz="5300" b="1" dirty="0">
                <a:sym typeface="Symbol"/>
              </a:rPr>
              <a:t>&amp;&amp;		</a:t>
            </a:r>
            <a:r>
              <a:rPr lang="en-US" dirty="0"/>
              <a:t>OR </a:t>
            </a:r>
            <a:r>
              <a:rPr lang="en-US" sz="5300" b="1" dirty="0">
                <a:sym typeface="Symbol"/>
              </a:rPr>
              <a:t>||</a:t>
            </a:r>
            <a:endParaRPr lang="en-US" b="1" dirty="0"/>
          </a:p>
        </p:txBody>
      </p:sp>
      <p:graphicFrame>
        <p:nvGraphicFramePr>
          <p:cNvPr id="4" name="Content Placeholder 6"/>
          <p:cNvGraphicFramePr>
            <a:graphicFrameLocks noGrp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9087860"/>
              </p:ext>
            </p:extLst>
          </p:nvPr>
        </p:nvGraphicFramePr>
        <p:xfrm>
          <a:off x="1119187" y="2438400"/>
          <a:ext cx="291941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>
                          <a:sym typeface="Symbol"/>
                        </a:rPr>
                        <a:t>p&amp;&amp;</a:t>
                      </a:r>
                      <a:r>
                        <a:rPr lang="en-US" sz="2800" baseline="0" dirty="0"/>
                        <a:t>q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6"/>
          <p:cNvGraphicFramePr>
            <a:graphicFrameLocks noGrp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13413414"/>
              </p:ext>
            </p:extLst>
          </p:nvPr>
        </p:nvGraphicFramePr>
        <p:xfrm>
          <a:off x="4800600" y="2438400"/>
          <a:ext cx="291941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>
                          <a:sym typeface="Symbol"/>
                        </a:rPr>
                        <a:t>p||</a:t>
                      </a:r>
                      <a:r>
                        <a:rPr lang="en-US" sz="2800" baseline="0" dirty="0"/>
                        <a:t>q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257800"/>
            <a:ext cx="79248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I’m interested in seeing if this makes </a:t>
            </a:r>
            <a:r>
              <a:rPr lang="en-US" sz="2400" b="1" i="1" dirty="0">
                <a:solidFill>
                  <a:srgbClr val="92D050"/>
                </a:solidFill>
              </a:rPr>
              <a:t>intuitive</a:t>
            </a:r>
            <a:r>
              <a:rPr lang="en-US" sz="2400" dirty="0"/>
              <a:t> sense to you – can you </a:t>
            </a:r>
            <a:r>
              <a:rPr lang="en-US" sz="2400" i="1" dirty="0"/>
              <a:t>explain</a:t>
            </a:r>
            <a:r>
              <a:rPr lang="en-US" sz="2400" dirty="0"/>
              <a:t> why each output makes sense, using example sentences?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73903" y="564810"/>
            <a:ext cx="7024744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OR is tricky in English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914400" y="1417638"/>
            <a:ext cx="3057148" cy="639762"/>
          </a:xfrm>
        </p:spPr>
        <p:txBody>
          <a:bodyPr>
            <a:normAutofit/>
          </a:bodyPr>
          <a:lstStyle/>
          <a:p>
            <a:r>
              <a:rPr lang="en-US" dirty="0"/>
              <a:t>OR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950382550"/>
              </p:ext>
            </p:extLst>
          </p:nvPr>
        </p:nvGraphicFramePr>
        <p:xfrm>
          <a:off x="838200" y="2082800"/>
          <a:ext cx="341947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 OR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572000" y="1417638"/>
            <a:ext cx="4038600" cy="639762"/>
          </a:xfrm>
        </p:spPr>
        <p:txBody>
          <a:bodyPr>
            <a:noAutofit/>
          </a:bodyPr>
          <a:lstStyle/>
          <a:p>
            <a:r>
              <a:rPr lang="en-US" dirty="0"/>
              <a:t>XOR</a:t>
            </a:r>
          </a:p>
        </p:txBody>
      </p:sp>
      <p:graphicFrame>
        <p:nvGraphicFramePr>
          <p:cNvPr id="11" name="Content Placeholder 6"/>
          <p:cNvGraphicFramePr>
            <a:graphicFrameLocks noGrp="1"/>
          </p:cNvGraphicFramePr>
          <p:nvPr>
            <p:ph sz="quarter" idx="4"/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3777397"/>
              </p:ext>
            </p:extLst>
          </p:nvPr>
        </p:nvGraphicFramePr>
        <p:xfrm>
          <a:off x="4645025" y="2057400"/>
          <a:ext cx="381317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 XOR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lide Number Placeholder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4648200"/>
            <a:ext cx="4038600" cy="16927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Birthday party host:</a:t>
            </a:r>
            <a:r>
              <a:rPr lang="en-US" sz="2000" dirty="0"/>
              <a:t> “Do you want some cake OR ice-</a:t>
            </a:r>
            <a:r>
              <a:rPr lang="en-US" sz="2000" dirty="0" err="1"/>
              <a:t>crem</a:t>
            </a:r>
            <a:r>
              <a:rPr lang="en-US" sz="2000" dirty="0"/>
              <a:t>?” YOU CAN HAVE BOTH</a:t>
            </a:r>
          </a:p>
          <a:p>
            <a:r>
              <a:rPr lang="en-US" dirty="0"/>
              <a:t>(imagine it is rude to have nothing)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24" y="4648199"/>
            <a:ext cx="3889375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Diner breakfast special</a:t>
            </a:r>
            <a:r>
              <a:rPr lang="en-US" sz="2000" b="1" dirty="0">
                <a:solidFill>
                  <a:srgbClr val="92D050"/>
                </a:solidFill>
              </a:rPr>
              <a:t>: </a:t>
            </a:r>
            <a:r>
              <a:rPr lang="en-US" sz="2000" dirty="0"/>
              <a:t>“Pancake,  two eggs and bacon XOR sausage.” </a:t>
            </a:r>
            <a:br>
              <a:rPr lang="en-US" sz="2000" dirty="0"/>
            </a:br>
            <a:r>
              <a:rPr lang="en-US" sz="2000" dirty="0"/>
              <a:t>YOU MUST PICK EXACTLY ONE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4252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1’s and 0’s are easier to write and tell apart than T’s and F’s</a:t>
            </a:r>
            <a:endParaRPr lang="en-US" b="1" dirty="0"/>
          </a:p>
        </p:txBody>
      </p:sp>
      <p:graphicFrame>
        <p:nvGraphicFramePr>
          <p:cNvPr id="4" name="Content Placeholder 6"/>
          <p:cNvGraphicFramePr>
            <a:graphicFrameLocks noGrp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2173383"/>
              </p:ext>
            </p:extLst>
          </p:nvPr>
        </p:nvGraphicFramePr>
        <p:xfrm>
          <a:off x="1119187" y="2438400"/>
          <a:ext cx="291941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>
                          <a:sym typeface="Symbol"/>
                        </a:rPr>
                        <a:t>p&amp;&amp;</a:t>
                      </a:r>
                      <a:r>
                        <a:rPr lang="en-US" sz="2800" baseline="0" dirty="0"/>
                        <a:t>q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6"/>
          <p:cNvGraphicFramePr>
            <a:graphicFrameLocks noGrp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71659937"/>
              </p:ext>
            </p:extLst>
          </p:nvPr>
        </p:nvGraphicFramePr>
        <p:xfrm>
          <a:off x="4800600" y="2438400"/>
          <a:ext cx="291941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/>
                        <a:t>p</a:t>
                      </a:r>
                      <a:r>
                        <a:rPr lang="en-US" sz="2800" baseline="0" dirty="0">
                          <a:sym typeface="Symbol"/>
                        </a:rPr>
                        <a:t>||</a:t>
                      </a:r>
                      <a:r>
                        <a:rPr lang="en-US" sz="2800" baseline="0" dirty="0"/>
                        <a:t>q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597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“Step-by-step” truth tables for complex propositional formulas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940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6800" y="838200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Truth table for </a:t>
            </a:r>
            <a:br>
              <a:rPr lang="en-US" dirty="0"/>
            </a:br>
            <a:r>
              <a:rPr lang="en-US" b="1" dirty="0">
                <a:solidFill>
                  <a:srgbClr val="002060"/>
                </a:solidFill>
              </a:rPr>
              <a:t>(p||</a:t>
            </a:r>
            <a:r>
              <a:rPr lang="en-US" b="1" dirty="0">
                <a:solidFill>
                  <a:srgbClr val="002060"/>
                </a:solidFill>
                <a:sym typeface="Symbol"/>
              </a:rPr>
              <a:t>q) </a:t>
            </a:r>
            <a:r>
              <a:rPr lang="en-US" b="1" dirty="0">
                <a:sym typeface="Symbol"/>
              </a:rPr>
              <a:t>&amp;&amp; </a:t>
            </a:r>
            <a:r>
              <a:rPr lang="en-US" b="1" dirty="0">
                <a:solidFill>
                  <a:srgbClr val="7030A0"/>
                </a:solidFill>
                <a:sym typeface="Symbol"/>
              </a:rPr>
              <a:t>!(p&amp;&amp;q)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5" name="Content Placeholder 6"/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71071956"/>
              </p:ext>
            </p:extLst>
          </p:nvPr>
        </p:nvGraphicFramePr>
        <p:xfrm>
          <a:off x="685800" y="2514600"/>
          <a:ext cx="7543799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2199">
                  <a:extLst>
                    <a:ext uri="{9D8B030D-6E8A-4147-A177-3AD203B41FA5}">
                      <a16:colId xmlns:a16="http://schemas.microsoft.com/office/drawing/2014/main" val="4143571680"/>
                    </a:ext>
                  </a:extLst>
                </a:gridCol>
              </a:tblGrid>
              <a:tr h="491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p||q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p&amp;&amp;q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!(</a:t>
                      </a:r>
                      <a:r>
                        <a:rPr lang="en-US" sz="2400" dirty="0">
                          <a:sym typeface="Symbol"/>
                        </a:rPr>
                        <a:t>p&amp;&amp;q)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(p||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sym typeface="Symbol"/>
                        </a:rPr>
                        <a:t>q) </a:t>
                      </a:r>
                      <a:r>
                        <a:rPr lang="en-US" sz="2400" dirty="0">
                          <a:sym typeface="Symbol"/>
                        </a:rPr>
                        <a:t>&amp;&amp; 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sym typeface="Symbol"/>
                        </a:rPr>
                        <a:t>!(p&amp;&amp;q)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9800" y="5650468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 truth tables of AND, OR, and NOT</a:t>
            </a:r>
          </a:p>
        </p:txBody>
      </p:sp>
    </p:spTree>
    <p:extLst>
      <p:ext uri="{BB962C8B-B14F-4D97-AF65-F5344CB8AC3E}">
        <p14:creationId xmlns:p14="http://schemas.microsoft.com/office/powerpoint/2010/main" val="1124750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6800" y="838200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Truth table for </a:t>
            </a:r>
            <a:br>
              <a:rPr lang="en-US" dirty="0"/>
            </a:br>
            <a:r>
              <a:rPr lang="en-US" b="1" dirty="0">
                <a:solidFill>
                  <a:srgbClr val="002060"/>
                </a:solidFill>
              </a:rPr>
              <a:t>(p||</a:t>
            </a:r>
            <a:r>
              <a:rPr lang="en-US" b="1" dirty="0">
                <a:solidFill>
                  <a:srgbClr val="002060"/>
                </a:solidFill>
                <a:sym typeface="Symbol"/>
              </a:rPr>
              <a:t>q) </a:t>
            </a:r>
            <a:r>
              <a:rPr lang="en-US" b="1" dirty="0">
                <a:sym typeface="Symbol"/>
              </a:rPr>
              <a:t>&amp;&amp; </a:t>
            </a:r>
            <a:r>
              <a:rPr lang="en-US" b="1" dirty="0">
                <a:solidFill>
                  <a:srgbClr val="7030A0"/>
                </a:solidFill>
                <a:sym typeface="Symbol"/>
              </a:rPr>
              <a:t>!(p&amp;&amp;q)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5" name="Content Placeholder 6"/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8319701"/>
              </p:ext>
            </p:extLst>
          </p:nvPr>
        </p:nvGraphicFramePr>
        <p:xfrm>
          <a:off x="685800" y="2514600"/>
          <a:ext cx="7543799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2199">
                  <a:extLst>
                    <a:ext uri="{9D8B030D-6E8A-4147-A177-3AD203B41FA5}">
                      <a16:colId xmlns:a16="http://schemas.microsoft.com/office/drawing/2014/main" val="4143571680"/>
                    </a:ext>
                  </a:extLst>
                </a:gridCol>
              </a:tblGrid>
              <a:tr h="491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p||q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p&amp;&amp;q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!(</a:t>
                      </a:r>
                      <a:r>
                        <a:rPr lang="en-US" sz="2400" dirty="0">
                          <a:sym typeface="Symbol"/>
                        </a:rPr>
                        <a:t>p&amp;&amp;q)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(p||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sym typeface="Symbol"/>
                        </a:rPr>
                        <a:t>q) </a:t>
                      </a:r>
                      <a:r>
                        <a:rPr lang="en-US" sz="2400" dirty="0">
                          <a:sym typeface="Symbol"/>
                        </a:rPr>
                        <a:t>&amp;&amp; 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sym typeface="Symbol"/>
                        </a:rPr>
                        <a:t>!(p&amp;&amp;q)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9800" y="5650468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 truth tables of AND, OR, and NOT</a:t>
            </a:r>
          </a:p>
        </p:txBody>
      </p:sp>
    </p:spTree>
    <p:extLst>
      <p:ext uri="{BB962C8B-B14F-4D97-AF65-F5344CB8AC3E}">
        <p14:creationId xmlns:p14="http://schemas.microsoft.com/office/powerpoint/2010/main" val="1363160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6800" y="838200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Truth table for </a:t>
            </a:r>
            <a:br>
              <a:rPr lang="en-US" dirty="0"/>
            </a:br>
            <a:r>
              <a:rPr lang="en-US" b="1" dirty="0">
                <a:solidFill>
                  <a:srgbClr val="002060"/>
                </a:solidFill>
              </a:rPr>
              <a:t>(p||</a:t>
            </a:r>
            <a:r>
              <a:rPr lang="en-US" b="1" dirty="0">
                <a:solidFill>
                  <a:srgbClr val="002060"/>
                </a:solidFill>
                <a:sym typeface="Symbol"/>
              </a:rPr>
              <a:t>q) </a:t>
            </a:r>
            <a:r>
              <a:rPr lang="en-US" b="1" dirty="0">
                <a:sym typeface="Symbol"/>
              </a:rPr>
              <a:t>&amp;&amp; </a:t>
            </a:r>
            <a:r>
              <a:rPr lang="en-US" b="1" dirty="0">
                <a:solidFill>
                  <a:srgbClr val="7030A0"/>
                </a:solidFill>
                <a:sym typeface="Symbol"/>
              </a:rPr>
              <a:t>!(p&amp;&amp;q)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5" name="Content Placeholder 6"/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99422470"/>
              </p:ext>
            </p:extLst>
          </p:nvPr>
        </p:nvGraphicFramePr>
        <p:xfrm>
          <a:off x="685800" y="2514600"/>
          <a:ext cx="7543799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2199">
                  <a:extLst>
                    <a:ext uri="{9D8B030D-6E8A-4147-A177-3AD203B41FA5}">
                      <a16:colId xmlns:a16="http://schemas.microsoft.com/office/drawing/2014/main" val="4143571680"/>
                    </a:ext>
                  </a:extLst>
                </a:gridCol>
              </a:tblGrid>
              <a:tr h="491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p||q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p&amp;&amp;q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!(</a:t>
                      </a:r>
                      <a:r>
                        <a:rPr lang="en-US" sz="2400" dirty="0">
                          <a:sym typeface="Symbol"/>
                        </a:rPr>
                        <a:t>p&amp;&amp;q)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(p||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sym typeface="Symbol"/>
                        </a:rPr>
                        <a:t>q) </a:t>
                      </a:r>
                      <a:r>
                        <a:rPr lang="en-US" sz="2400" dirty="0">
                          <a:sym typeface="Symbol"/>
                        </a:rPr>
                        <a:t>&amp;&amp; 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sym typeface="Symbol"/>
                        </a:rPr>
                        <a:t>!(p&amp;&amp;q)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9800" y="5650468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 truth tables of AND, OR, and NOT</a:t>
            </a:r>
          </a:p>
        </p:txBody>
      </p:sp>
    </p:spTree>
    <p:extLst>
      <p:ext uri="{BB962C8B-B14F-4D97-AF65-F5344CB8AC3E}">
        <p14:creationId xmlns:p14="http://schemas.microsoft.com/office/powerpoint/2010/main" val="420766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6800" y="838200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Truth table for </a:t>
            </a:r>
            <a:br>
              <a:rPr lang="en-US" dirty="0"/>
            </a:br>
            <a:r>
              <a:rPr lang="en-US" b="1" dirty="0">
                <a:solidFill>
                  <a:srgbClr val="002060"/>
                </a:solidFill>
              </a:rPr>
              <a:t>(p||</a:t>
            </a:r>
            <a:r>
              <a:rPr lang="en-US" b="1" dirty="0">
                <a:solidFill>
                  <a:srgbClr val="002060"/>
                </a:solidFill>
                <a:sym typeface="Symbol"/>
              </a:rPr>
              <a:t>q) </a:t>
            </a:r>
            <a:r>
              <a:rPr lang="en-US" b="1" dirty="0">
                <a:sym typeface="Symbol"/>
              </a:rPr>
              <a:t>&amp;&amp; </a:t>
            </a:r>
            <a:r>
              <a:rPr lang="en-US" b="1" dirty="0">
                <a:solidFill>
                  <a:srgbClr val="7030A0"/>
                </a:solidFill>
                <a:sym typeface="Symbol"/>
              </a:rPr>
              <a:t>!(p&amp;&amp;q)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5" name="Content Placeholder 6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685800" y="2514600"/>
          <a:ext cx="7543799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2199">
                  <a:extLst>
                    <a:ext uri="{9D8B030D-6E8A-4147-A177-3AD203B41FA5}">
                      <a16:colId xmlns:a16="http://schemas.microsoft.com/office/drawing/2014/main" val="4143571680"/>
                    </a:ext>
                  </a:extLst>
                </a:gridCol>
              </a:tblGrid>
              <a:tr h="491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p||q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p&amp;&amp;q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!(</a:t>
                      </a:r>
                      <a:r>
                        <a:rPr lang="en-US" sz="2400" dirty="0">
                          <a:sym typeface="Symbol"/>
                        </a:rPr>
                        <a:t>p&amp;&amp;q)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(p||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sym typeface="Symbol"/>
                        </a:rPr>
                        <a:t>q) </a:t>
                      </a:r>
                      <a:r>
                        <a:rPr lang="en-US" sz="2400" dirty="0">
                          <a:sym typeface="Symbol"/>
                        </a:rPr>
                        <a:t>&amp;&amp; 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sym typeface="Symbol"/>
                        </a:rPr>
                        <a:t>!(p&amp;&amp;q)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9800" y="5650468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 truth tables of AND, OR, and NOT</a:t>
            </a:r>
          </a:p>
        </p:txBody>
      </p:sp>
    </p:spTree>
    <p:extLst>
      <p:ext uri="{BB962C8B-B14F-4D97-AF65-F5344CB8AC3E}">
        <p14:creationId xmlns:p14="http://schemas.microsoft.com/office/powerpoint/2010/main" val="3115135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6800" y="838200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Truth table for </a:t>
            </a:r>
            <a:br>
              <a:rPr lang="en-US" dirty="0"/>
            </a:br>
            <a:r>
              <a:rPr lang="en-US" b="1" dirty="0">
                <a:solidFill>
                  <a:srgbClr val="002060"/>
                </a:solidFill>
              </a:rPr>
              <a:t>(p||</a:t>
            </a:r>
            <a:r>
              <a:rPr lang="en-US" b="1" dirty="0">
                <a:solidFill>
                  <a:srgbClr val="002060"/>
                </a:solidFill>
                <a:sym typeface="Symbol"/>
              </a:rPr>
              <a:t>q) </a:t>
            </a:r>
            <a:r>
              <a:rPr lang="en-US" b="1" dirty="0">
                <a:sym typeface="Symbol"/>
              </a:rPr>
              <a:t>&amp;&amp; </a:t>
            </a:r>
            <a:r>
              <a:rPr lang="en-US" b="1" dirty="0">
                <a:solidFill>
                  <a:srgbClr val="7030A0"/>
                </a:solidFill>
                <a:sym typeface="Symbol"/>
              </a:rPr>
              <a:t>!(p&amp;&amp;q)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5" name="Content Placeholder 6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685800" y="2514600"/>
          <a:ext cx="7543799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2199">
                  <a:extLst>
                    <a:ext uri="{9D8B030D-6E8A-4147-A177-3AD203B41FA5}">
                      <a16:colId xmlns:a16="http://schemas.microsoft.com/office/drawing/2014/main" val="4143571680"/>
                    </a:ext>
                  </a:extLst>
                </a:gridCol>
              </a:tblGrid>
              <a:tr h="491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p||q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p&amp;&amp;q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!(</a:t>
                      </a:r>
                      <a:r>
                        <a:rPr lang="en-US" sz="2400" dirty="0">
                          <a:sym typeface="Symbol"/>
                        </a:rPr>
                        <a:t>p&amp;&amp;q)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(p||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sym typeface="Symbol"/>
                        </a:rPr>
                        <a:t>q) </a:t>
                      </a:r>
                      <a:r>
                        <a:rPr lang="en-US" sz="2400" dirty="0">
                          <a:sym typeface="Symbol"/>
                        </a:rPr>
                        <a:t>&amp;&amp; 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sym typeface="Symbol"/>
                        </a:rPr>
                        <a:t>!(p&amp;&amp;q)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9800" y="5650468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 truth tables of AND, OR, and NOT</a:t>
            </a:r>
          </a:p>
        </p:txBody>
      </p:sp>
    </p:spTree>
    <p:extLst>
      <p:ext uri="{BB962C8B-B14F-4D97-AF65-F5344CB8AC3E}">
        <p14:creationId xmlns:p14="http://schemas.microsoft.com/office/powerpoint/2010/main" val="639423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41471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Truth tables for complex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37723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Intermediate columns: build complex expression step by step</a:t>
            </a:r>
          </a:p>
          <a:p>
            <a:endParaRPr lang="en-US" dirty="0"/>
          </a:p>
          <a:p>
            <a:r>
              <a:rPr lang="en-US" dirty="0"/>
              <a:t>Each intermediate column is a </a:t>
            </a:r>
            <a:r>
              <a:rPr lang="en-US" dirty="0">
                <a:solidFill>
                  <a:srgbClr val="FF0000"/>
                </a:solidFill>
              </a:rPr>
              <a:t>basic connective</a:t>
            </a:r>
            <a:r>
              <a:rPr lang="en-US" dirty="0"/>
              <a:t> (NOT,AND,OR,…) applied to already calculated previous columns</a:t>
            </a:r>
          </a:p>
          <a:p>
            <a:endParaRPr lang="en-US" dirty="0"/>
          </a:p>
          <a:p>
            <a:r>
              <a:rPr lang="en-US" dirty="0"/>
              <a:t>Use truth tables of basic connectives to compute the value of new column, one at a time</a:t>
            </a:r>
          </a:p>
        </p:txBody>
      </p:sp>
    </p:spTree>
    <p:extLst>
      <p:ext uri="{BB962C8B-B14F-4D97-AF65-F5344CB8AC3E}">
        <p14:creationId xmlns:p14="http://schemas.microsoft.com/office/powerpoint/2010/main" val="4101429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marL="525780" indent="-457200"/>
            <a:r>
              <a:rPr lang="en-US" dirty="0"/>
              <a:t>4. Proving equivalence of two boolean expressions using truth tables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59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43000" y="10668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pair of expressions are equivalent to each other?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9320616"/>
              </p:ext>
            </p:extLst>
          </p:nvPr>
        </p:nvGraphicFramePr>
        <p:xfrm>
          <a:off x="730308" y="2872263"/>
          <a:ext cx="7672669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3603416976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3482718086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2999176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/>
                        <a:t>p&amp;&amp;q</a:t>
                      </a:r>
                      <a:endParaRPr lang="en-US" sz="2000" dirty="0"/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!(p&amp;&amp;q)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!p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!q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!p||!q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F8FD467-8539-4C68-8397-87CE2AA2A60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4"/>
          <p:cNvSpPr/>
          <p:nvPr>
            <p:custDataLst>
              <p:tags r:id="rId4"/>
            </p:custDataLst>
          </p:nvPr>
        </p:nvSpPr>
        <p:spPr>
          <a:xfrm>
            <a:off x="609600" y="5211633"/>
            <a:ext cx="4267200" cy="830997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525780" indent="-457200">
              <a:buFont typeface="+mj-lt"/>
              <a:buAutoNum type="alphaUcPeriod"/>
            </a:pPr>
            <a:r>
              <a:rPr lang="en-US" sz="2400" b="1" dirty="0"/>
              <a:t>p, !p</a:t>
            </a:r>
          </a:p>
          <a:p>
            <a:pPr marL="525780" indent="-457200">
              <a:buFont typeface="+mj-lt"/>
              <a:buAutoNum type="alphaUcPeriod"/>
            </a:pPr>
            <a:r>
              <a:rPr lang="en-US" sz="2400" b="1" dirty="0"/>
              <a:t>p &amp;&amp; q, !p||!q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223CFE-991F-421F-B137-5DBC007A19D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43400" y="5265003"/>
            <a:ext cx="3733800" cy="830997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525780" indent="-457200">
              <a:buAutoNum type="alphaUcPeriod" startAt="3"/>
            </a:pPr>
            <a:r>
              <a:rPr lang="en-US" sz="2400" b="1" dirty="0"/>
              <a:t>q, !p</a:t>
            </a:r>
          </a:p>
          <a:p>
            <a:pPr marL="525780" indent="-457200">
              <a:buAutoNum type="alphaUcPeriod" startAt="3"/>
            </a:pPr>
            <a:r>
              <a:rPr lang="en-US" sz="2400" b="1" dirty="0"/>
              <a:t>!(p&amp;&amp;q), !p||!q</a:t>
            </a:r>
          </a:p>
        </p:txBody>
      </p:sp>
    </p:spTree>
    <p:extLst>
      <p:ext uri="{BB962C8B-B14F-4D97-AF65-F5344CB8AC3E}">
        <p14:creationId xmlns:p14="http://schemas.microsoft.com/office/powerpoint/2010/main" val="3396152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43000" y="10668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pair of expressions are equivalent to each other?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4436836"/>
              </p:ext>
            </p:extLst>
          </p:nvPr>
        </p:nvGraphicFramePr>
        <p:xfrm>
          <a:off x="806506" y="2872263"/>
          <a:ext cx="757549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3603416976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3482718086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2999176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/>
                        <a:t>p&amp;&amp;q</a:t>
                      </a:r>
                      <a:endParaRPr lang="en-US" sz="2000" dirty="0"/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!(p&amp;&amp;q)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!p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!q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!p||!q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F8FD467-8539-4C68-8397-87CE2AA2A60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9C6D5-8197-436C-AC7B-744A9176005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" y="5211633"/>
            <a:ext cx="4267200" cy="830997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525780" indent="-457200">
              <a:buFont typeface="+mj-lt"/>
              <a:buAutoNum type="alphaUcPeriod"/>
            </a:pPr>
            <a:r>
              <a:rPr lang="en-US" sz="2400" b="1" dirty="0"/>
              <a:t>p, !p</a:t>
            </a:r>
          </a:p>
          <a:p>
            <a:pPr marL="525780" indent="-457200">
              <a:buFont typeface="+mj-lt"/>
              <a:buAutoNum type="alphaUcPeriod"/>
            </a:pPr>
            <a:r>
              <a:rPr lang="en-US" sz="2400" b="1" dirty="0"/>
              <a:t>p &amp;&amp; q, !p||!q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901C52-77F6-45C9-83CC-C0B27D5B6AF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43400" y="5265003"/>
            <a:ext cx="3733800" cy="830997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525780" indent="-457200">
              <a:buAutoNum type="alphaUcPeriod" startAt="3"/>
            </a:pPr>
            <a:r>
              <a:rPr lang="en-US" sz="2400" b="1" dirty="0"/>
              <a:t>q, !p</a:t>
            </a:r>
          </a:p>
          <a:p>
            <a:pPr marL="525780" indent="-457200">
              <a:buAutoNum type="alphaUcPeriod" startAt="3"/>
            </a:pPr>
            <a:r>
              <a:rPr lang="en-US" sz="2400" b="1" dirty="0"/>
              <a:t>!(p&amp;&amp;q), !p||!q</a:t>
            </a:r>
          </a:p>
        </p:txBody>
      </p:sp>
    </p:spTree>
    <p:extLst>
      <p:ext uri="{BB962C8B-B14F-4D97-AF65-F5344CB8AC3E}">
        <p14:creationId xmlns:p14="http://schemas.microsoft.com/office/powerpoint/2010/main" val="2016563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43000" y="10668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pair of expressions are equivalent to each other?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7595185"/>
              </p:ext>
            </p:extLst>
          </p:nvPr>
        </p:nvGraphicFramePr>
        <p:xfrm>
          <a:off x="730308" y="2872263"/>
          <a:ext cx="757549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3603416976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3482718086"/>
                    </a:ext>
                  </a:extLst>
                </a:gridCol>
                <a:gridCol w="1350710">
                  <a:extLst>
                    <a:ext uri="{9D8B030D-6E8A-4147-A177-3AD203B41FA5}">
                      <a16:colId xmlns:a16="http://schemas.microsoft.com/office/drawing/2014/main" val="2999176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/>
                        <a:t>p&amp;&amp;q</a:t>
                      </a:r>
                      <a:endParaRPr lang="en-US" sz="2000" dirty="0"/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!(p&amp;&amp;q)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!p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!q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!p||!q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F8FD467-8539-4C68-8397-87CE2AA2A60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901C52-77F6-45C9-83CC-C0B27D5B6AF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47800" y="5265003"/>
            <a:ext cx="6629400" cy="70788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68580"/>
            <a:r>
              <a:rPr lang="en-US" sz="4000" dirty="0"/>
              <a:t>So  !(p&amp;&amp;q) == !p||!q</a:t>
            </a:r>
          </a:p>
        </p:txBody>
      </p:sp>
    </p:spTree>
    <p:extLst>
      <p:ext uri="{BB962C8B-B14F-4D97-AF65-F5344CB8AC3E}">
        <p14:creationId xmlns:p14="http://schemas.microsoft.com/office/powerpoint/2010/main" val="1746335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629240"/>
              </p:ext>
            </p:extLst>
          </p:nvPr>
        </p:nvGraphicFramePr>
        <p:xfrm>
          <a:off x="457200" y="1584960"/>
          <a:ext cx="8229598" cy="4663440"/>
        </p:xfrm>
        <a:graphic>
          <a:graphicData uri="http://schemas.openxmlformats.org/drawingml/2006/table">
            <a:tbl>
              <a:tblPr/>
              <a:tblGrid>
                <a:gridCol w="59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928">
                  <a:extLst>
                    <a:ext uri="{9D8B030D-6E8A-4147-A177-3AD203B41FA5}">
                      <a16:colId xmlns:a16="http://schemas.microsoft.com/office/drawing/2014/main" val="295109969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3733798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!b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!b || 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a</a:t>
                      </a:r>
                      <a:r>
                        <a:rPr lang="en-US" altLang="en-US" sz="2800" b="1" dirty="0">
                          <a:latin typeface="Tahoma" panose="020B0604030504040204" pitchFamily="34" charset="0"/>
                        </a:rPr>
                        <a:t> &amp;&amp; </a:t>
                      </a: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(!b || c)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32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545201"/>
              </p:ext>
            </p:extLst>
          </p:nvPr>
        </p:nvGraphicFramePr>
        <p:xfrm>
          <a:off x="457200" y="1584960"/>
          <a:ext cx="8229598" cy="4663440"/>
        </p:xfrm>
        <a:graphic>
          <a:graphicData uri="http://schemas.openxmlformats.org/drawingml/2006/table">
            <a:tbl>
              <a:tblPr/>
              <a:tblGrid>
                <a:gridCol w="59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928">
                  <a:extLst>
                    <a:ext uri="{9D8B030D-6E8A-4147-A177-3AD203B41FA5}">
                      <a16:colId xmlns:a16="http://schemas.microsoft.com/office/drawing/2014/main" val="295109969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3733798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!b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!b || 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a</a:t>
                      </a:r>
                      <a:r>
                        <a:rPr lang="en-US" altLang="en-US" sz="2800" b="1" dirty="0">
                          <a:latin typeface="Tahoma" panose="020B0604030504040204" pitchFamily="34" charset="0"/>
                        </a:rPr>
                        <a:t> &amp;&amp; </a:t>
                      </a: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(!b || c)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658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98865"/>
              </p:ext>
            </p:extLst>
          </p:nvPr>
        </p:nvGraphicFramePr>
        <p:xfrm>
          <a:off x="457200" y="1584960"/>
          <a:ext cx="8229598" cy="4663440"/>
        </p:xfrm>
        <a:graphic>
          <a:graphicData uri="http://schemas.openxmlformats.org/drawingml/2006/table">
            <a:tbl>
              <a:tblPr/>
              <a:tblGrid>
                <a:gridCol w="59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928">
                  <a:extLst>
                    <a:ext uri="{9D8B030D-6E8A-4147-A177-3AD203B41FA5}">
                      <a16:colId xmlns:a16="http://schemas.microsoft.com/office/drawing/2014/main" val="295109969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3733798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!b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!b || 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a</a:t>
                      </a:r>
                      <a:r>
                        <a:rPr lang="en-US" altLang="en-US" sz="2800" b="1" dirty="0">
                          <a:latin typeface="Tahoma" panose="020B0604030504040204" pitchFamily="34" charset="0"/>
                        </a:rPr>
                        <a:t> &amp;&amp; </a:t>
                      </a: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(!b || c)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765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584960"/>
          <a:ext cx="8229598" cy="4663440"/>
        </p:xfrm>
        <a:graphic>
          <a:graphicData uri="http://schemas.openxmlformats.org/drawingml/2006/table">
            <a:tbl>
              <a:tblPr/>
              <a:tblGrid>
                <a:gridCol w="59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928">
                  <a:extLst>
                    <a:ext uri="{9D8B030D-6E8A-4147-A177-3AD203B41FA5}">
                      <a16:colId xmlns:a16="http://schemas.microsoft.com/office/drawing/2014/main" val="295109969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3733798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!b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!b || 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a</a:t>
                      </a:r>
                      <a:r>
                        <a:rPr lang="en-US" altLang="en-US" sz="2800" b="1" dirty="0">
                          <a:latin typeface="Tahoma" panose="020B0604030504040204" pitchFamily="34" charset="0"/>
                        </a:rPr>
                        <a:t> &amp;&amp; </a:t>
                      </a: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(!b || c)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372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899004"/>
              </p:ext>
            </p:extLst>
          </p:nvPr>
        </p:nvGraphicFramePr>
        <p:xfrm>
          <a:off x="1796870" y="1584960"/>
          <a:ext cx="5518330" cy="4663440"/>
        </p:xfrm>
        <a:graphic>
          <a:graphicData uri="http://schemas.openxmlformats.org/drawingml/2006/table">
            <a:tbl>
              <a:tblPr/>
              <a:tblGrid>
                <a:gridCol w="68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3867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(a &amp;&amp; b) || !c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536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/>
        </p:nvGraphicFramePr>
        <p:xfrm>
          <a:off x="1796870" y="1584960"/>
          <a:ext cx="5518330" cy="4663440"/>
        </p:xfrm>
        <a:graphic>
          <a:graphicData uri="http://schemas.openxmlformats.org/drawingml/2006/table">
            <a:tbl>
              <a:tblPr/>
              <a:tblGrid>
                <a:gridCol w="68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3867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(a &amp;&amp; b) || !c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457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981820"/>
              </p:ext>
            </p:extLst>
          </p:nvPr>
        </p:nvGraphicFramePr>
        <p:xfrm>
          <a:off x="1720670" y="1600200"/>
          <a:ext cx="5518330" cy="4663440"/>
        </p:xfrm>
        <a:graphic>
          <a:graphicData uri="http://schemas.openxmlformats.org/drawingml/2006/table">
            <a:tbl>
              <a:tblPr/>
              <a:tblGrid>
                <a:gridCol w="68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3867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(a &amp;&amp; b) || !c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966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932908"/>
              </p:ext>
            </p:extLst>
          </p:nvPr>
        </p:nvGraphicFramePr>
        <p:xfrm>
          <a:off x="1720670" y="1600200"/>
          <a:ext cx="5518330" cy="4663440"/>
        </p:xfrm>
        <a:graphic>
          <a:graphicData uri="http://schemas.openxmlformats.org/drawingml/2006/table">
            <a:tbl>
              <a:tblPr/>
              <a:tblGrid>
                <a:gridCol w="68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3867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(a &amp;&amp; b) || !c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109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365005"/>
              </p:ext>
            </p:extLst>
          </p:nvPr>
        </p:nvGraphicFramePr>
        <p:xfrm>
          <a:off x="457201" y="1584960"/>
          <a:ext cx="8229599" cy="4663440"/>
        </p:xfrm>
        <a:graphic>
          <a:graphicData uri="http://schemas.openxmlformats.org/drawingml/2006/table">
            <a:tbl>
              <a:tblPr/>
              <a:tblGrid>
                <a:gridCol w="68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536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1186733">
                  <a:extLst>
                    <a:ext uri="{9D8B030D-6E8A-4147-A177-3AD203B41FA5}">
                      <a16:colId xmlns:a16="http://schemas.microsoft.com/office/drawing/2014/main" val="1961461358"/>
                    </a:ext>
                  </a:extLst>
                </a:gridCol>
                <a:gridCol w="3613867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a &amp;&amp; b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!c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(a &amp;&amp; b) </a:t>
                      </a:r>
                      <a:r>
                        <a:rPr lang="en-US" altLang="en-US" sz="2800" b="1" dirty="0">
                          <a:latin typeface="Tahoma" panose="020B0604030504040204" pitchFamily="34" charset="0"/>
                        </a:rPr>
                        <a:t>|| </a:t>
                      </a: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!c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205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43490" y="990600"/>
            <a:ext cx="733851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can we prove that two propositions are </a:t>
            </a:r>
            <a:r>
              <a:rPr lang="en-US" i="1" dirty="0"/>
              <a:t>not </a:t>
            </a:r>
            <a:r>
              <a:rPr lang="en-US" dirty="0"/>
              <a:t>equivalent?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90600" y="2438400"/>
            <a:ext cx="7109908" cy="3657600"/>
          </a:xfrm>
        </p:spPr>
        <p:txBody>
          <a:bodyPr>
            <a:normAutofit/>
          </a:bodyPr>
          <a:lstStyle/>
          <a:p>
            <a:pPr marL="525780" indent="-457200">
              <a:buFont typeface="+mj-lt"/>
              <a:buAutoNum type="alphaUcPeriod"/>
            </a:pPr>
            <a:r>
              <a:rPr lang="en-US" dirty="0"/>
              <a:t>Make a truth table that has columns for both, and verify that not all the entries in the two columns are T</a:t>
            </a:r>
          </a:p>
          <a:p>
            <a:pPr marL="525780" indent="-457200">
              <a:buFont typeface="+mj-lt"/>
              <a:buAutoNum type="alphaUcPeriod"/>
            </a:pPr>
            <a:r>
              <a:rPr lang="en-US" dirty="0"/>
              <a:t>Make a truth table that has columns for both, and verify that at least one of the entries in the two columns is F</a:t>
            </a:r>
          </a:p>
          <a:p>
            <a:pPr marL="525780" indent="-457200">
              <a:buFont typeface="+mj-lt"/>
              <a:buAutoNum type="alphaUcPeriod"/>
            </a:pPr>
            <a:r>
              <a:rPr lang="en-US" dirty="0"/>
              <a:t>Make a truth table that has columns for both, and make sure that the two columns are not identical to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436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43490" y="990600"/>
            <a:ext cx="733851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can we prove that two propositions are </a:t>
            </a:r>
            <a:r>
              <a:rPr lang="en-US" i="1" dirty="0"/>
              <a:t>not </a:t>
            </a:r>
            <a:r>
              <a:rPr lang="en-US" dirty="0"/>
              <a:t>equivalent?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90600" y="2438400"/>
            <a:ext cx="7109908" cy="3657600"/>
          </a:xfrm>
        </p:spPr>
        <p:txBody>
          <a:bodyPr>
            <a:normAutofit/>
          </a:bodyPr>
          <a:lstStyle/>
          <a:p>
            <a:pPr marL="525780" indent="-457200">
              <a:buFont typeface="+mj-lt"/>
              <a:buAutoNum type="alphaUcPeriod"/>
            </a:pPr>
            <a:r>
              <a:rPr lang="en-US" dirty="0"/>
              <a:t>Make a truth table that has columns for both, and verify that not all the entries in the two columns are T</a:t>
            </a:r>
          </a:p>
          <a:p>
            <a:pPr marL="525780" indent="-457200">
              <a:buFont typeface="+mj-lt"/>
              <a:buAutoNum type="alphaUcPeriod"/>
            </a:pPr>
            <a:r>
              <a:rPr lang="en-US" dirty="0"/>
              <a:t>Make a truth table that has columns for both, and verify that at least one of the entries in the two columns is F</a:t>
            </a:r>
          </a:p>
          <a:p>
            <a:pPr marL="525780" indent="-457200">
              <a:buFont typeface="+mj-lt"/>
              <a:buAutoNum type="alphaUcPeriod"/>
            </a:pPr>
            <a:r>
              <a:rPr lang="en-US" dirty="0"/>
              <a:t>Make a truth table that has columns for both, and make sure that the two columns </a:t>
            </a:r>
            <a:r>
              <a:rPr lang="en-US" b="1" dirty="0"/>
              <a:t>are not identical to each other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4649096" y="224491"/>
            <a:ext cx="1332156" cy="365125"/>
          </a:xfrm>
        </p:spPr>
        <p:txBody>
          <a:bodyPr/>
          <a:lstStyle/>
          <a:p>
            <a:fld id="{3F8FD467-8539-4C68-8397-87CE2AA2A60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643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695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43490" y="381000"/>
            <a:ext cx="7024744" cy="1143000"/>
          </a:xfrm>
        </p:spPr>
        <p:txBody>
          <a:bodyPr>
            <a:normAutofit/>
          </a:bodyPr>
          <a:lstStyle/>
          <a:p>
            <a:r>
              <a:rPr lang="en-US" dirty="0"/>
              <a:t>Truth table for (p → q) ∧ ¬p 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1524000" y="1600200"/>
          <a:ext cx="57912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p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q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/>
                        <a:t>p </a:t>
                      </a:r>
                      <a:r>
                        <a:rPr lang="en-US" sz="2800" dirty="0"/>
                        <a:t>→</a:t>
                      </a:r>
                      <a:r>
                        <a:rPr lang="en-US" sz="2800" baseline="0" dirty="0"/>
                        <a:t> q</a:t>
                      </a:r>
                      <a:endParaRPr lang="en-US" sz="2800" dirty="0"/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¬p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(p → q) ∧ ¬p 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 marL="196852" marR="1968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F8FD467-8539-4C68-8397-87CE2AA2A60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5562600" y="3276600"/>
            <a:ext cx="2891246" cy="30469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68580"/>
            <a:r>
              <a:rPr lang="en-US" sz="2400" b="1" dirty="0"/>
              <a:t>(p → q) ∧ ¬p is equivalent to:</a:t>
            </a:r>
          </a:p>
          <a:p>
            <a:pPr marL="525780" indent="-457200">
              <a:buFont typeface="+mj-lt"/>
              <a:buAutoNum type="alphaUcPeriod"/>
            </a:pPr>
            <a:r>
              <a:rPr lang="en-US" sz="2400" dirty="0"/>
              <a:t>q</a:t>
            </a:r>
          </a:p>
          <a:p>
            <a:pPr marL="525780" indent="-457200">
              <a:buFont typeface="+mj-lt"/>
              <a:buAutoNum type="alphaUcPeriod"/>
            </a:pPr>
            <a:r>
              <a:rPr lang="en-US" sz="2400" dirty="0"/>
              <a:t>p → q</a:t>
            </a:r>
          </a:p>
          <a:p>
            <a:pPr marL="525780" indent="-457200">
              <a:buFont typeface="+mj-lt"/>
              <a:buAutoNum type="alphaUcPeriod"/>
            </a:pPr>
            <a:r>
              <a:rPr lang="en-US" sz="2400" dirty="0"/>
              <a:t>¬p ∨ q</a:t>
            </a:r>
          </a:p>
          <a:p>
            <a:pPr marL="525780" indent="-457200">
              <a:buFont typeface="+mj-lt"/>
              <a:buAutoNum type="alphaUcPeriod"/>
            </a:pPr>
            <a:r>
              <a:rPr lang="en-US" sz="2400" dirty="0"/>
              <a:t>¬p</a:t>
            </a:r>
          </a:p>
          <a:p>
            <a:pPr marL="525780" indent="-457200">
              <a:buFont typeface="+mj-lt"/>
              <a:buAutoNum type="alphaUcPeriod"/>
            </a:pPr>
            <a:r>
              <a:rPr lang="en-US" sz="2400" dirty="0"/>
              <a:t>Other/none/more than one</a:t>
            </a:r>
          </a:p>
        </p:txBody>
      </p:sp>
    </p:spTree>
    <p:extLst>
      <p:ext uri="{BB962C8B-B14F-4D97-AF65-F5344CB8AC3E}">
        <p14:creationId xmlns:p14="http://schemas.microsoft.com/office/powerpoint/2010/main" val="17175409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2507</TotalTime>
  <Words>2479</Words>
  <Application>Microsoft Office PowerPoint</Application>
  <PresentationFormat>On-screen Show (4:3)</PresentationFormat>
  <Paragraphs>900</Paragraphs>
  <Slides>33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 Black</vt:lpstr>
      <vt:lpstr>Calibri</vt:lpstr>
      <vt:lpstr>Century Gothic</vt:lpstr>
      <vt:lpstr>Symbol</vt:lpstr>
      <vt:lpstr>Tahoma</vt:lpstr>
      <vt:lpstr>Times New Roman</vt:lpstr>
      <vt:lpstr>Wingdings 2</vt:lpstr>
      <vt:lpstr>Austin</vt:lpstr>
      <vt:lpstr>PowerPoint Presentation</vt:lpstr>
      <vt:lpstr>1. Truth table for basic logical connectives</vt:lpstr>
      <vt:lpstr>Logical connectives</vt:lpstr>
      <vt:lpstr>Logical connectives:  Operator precedence</vt:lpstr>
      <vt:lpstr>Truth tables: AND &amp;&amp;   </vt:lpstr>
      <vt:lpstr>Truth tables: AND &amp;&amp;   </vt:lpstr>
      <vt:lpstr>Truth tables: AND &amp;&amp;  OR ||</vt:lpstr>
      <vt:lpstr>OR is tricky in English</vt:lpstr>
      <vt:lpstr>1’s and 0’s are easier to write and tell apart than T’s and F’s</vt:lpstr>
      <vt:lpstr>2. “Step-by-step” truth tables for complex propositional formulas</vt:lpstr>
      <vt:lpstr>Truth table for  (p||q) &amp;&amp; !(p&amp;&amp;q)</vt:lpstr>
      <vt:lpstr>Truth table for  (p||q) &amp;&amp; !(p&amp;&amp;q)</vt:lpstr>
      <vt:lpstr>Truth table for  (p||q) &amp;&amp; !(p&amp;&amp;q)</vt:lpstr>
      <vt:lpstr>Truth table for  (p||q) &amp;&amp; !(p&amp;&amp;q)</vt:lpstr>
      <vt:lpstr>Truth table for  (p||q) &amp;&amp; !(p&amp;&amp;q)</vt:lpstr>
      <vt:lpstr>Truth tables for complex formulas</vt:lpstr>
      <vt:lpstr>4. Proving equivalence of two boolean expressions using truth tables</vt:lpstr>
      <vt:lpstr>Which pair of expressions are equivalent to each other?</vt:lpstr>
      <vt:lpstr>Which pair of expressions are equivalent to each other?</vt:lpstr>
      <vt:lpstr>Which pair of expressions are equivalent to each other?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can we prove that two propositions are not equivalent?</vt:lpstr>
      <vt:lpstr>How can we prove that two propositions are not equivalent?</vt:lpstr>
      <vt:lpstr>PowerPoint Presentation</vt:lpstr>
      <vt:lpstr>Truth table for (p → q) ∧ ¬p 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 – Discrete Mathematics</dc:title>
  <dc:creator>HP-6</dc:creator>
  <cp:lastModifiedBy>WELDON JASIK</cp:lastModifiedBy>
  <cp:revision>101</cp:revision>
  <dcterms:created xsi:type="dcterms:W3CDTF">2012-09-25T19:16:12Z</dcterms:created>
  <dcterms:modified xsi:type="dcterms:W3CDTF">2020-12-09T17:59:55Z</dcterms:modified>
</cp:coreProperties>
</file>
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81"/>
  </p:notesMasterIdLst>
  <p:handoutMasterIdLst>
    <p:handoutMasterId r:id="rId82"/>
  </p:handoutMasterIdLst>
  <p:sldIdLst>
    <p:sldId id="264" r:id="rId3"/>
    <p:sldId id="664" r:id="rId4"/>
    <p:sldId id="665" r:id="rId5"/>
    <p:sldId id="334" r:id="rId6"/>
    <p:sldId id="676" r:id="rId7"/>
    <p:sldId id="321" r:id="rId8"/>
    <p:sldId id="318" r:id="rId9"/>
    <p:sldId id="319" r:id="rId10"/>
    <p:sldId id="320" r:id="rId11"/>
    <p:sldId id="678" r:id="rId12"/>
    <p:sldId id="679" r:id="rId13"/>
    <p:sldId id="680" r:id="rId14"/>
    <p:sldId id="572" r:id="rId15"/>
    <p:sldId id="508" r:id="rId16"/>
    <p:sldId id="509" r:id="rId17"/>
    <p:sldId id="656" r:id="rId18"/>
    <p:sldId id="511" r:id="rId19"/>
    <p:sldId id="653" r:id="rId20"/>
    <p:sldId id="569" r:id="rId21"/>
    <p:sldId id="654" r:id="rId22"/>
    <p:sldId id="510" r:id="rId23"/>
    <p:sldId id="655" r:id="rId24"/>
    <p:sldId id="571" r:id="rId25"/>
    <p:sldId id="570" r:id="rId26"/>
    <p:sldId id="669" r:id="rId27"/>
    <p:sldId id="670" r:id="rId28"/>
    <p:sldId id="671" r:id="rId29"/>
    <p:sldId id="672" r:id="rId30"/>
    <p:sldId id="673" r:id="rId31"/>
    <p:sldId id="329" r:id="rId32"/>
    <p:sldId id="310" r:id="rId33"/>
    <p:sldId id="677" r:id="rId34"/>
    <p:sldId id="360" r:id="rId35"/>
    <p:sldId id="361" r:id="rId36"/>
    <p:sldId id="349" r:id="rId37"/>
    <p:sldId id="357" r:id="rId38"/>
    <p:sldId id="362" r:id="rId39"/>
    <p:sldId id="363" r:id="rId40"/>
    <p:sldId id="296" r:id="rId41"/>
    <p:sldId id="364" r:id="rId42"/>
    <p:sldId id="675" r:id="rId43"/>
    <p:sldId id="312" r:id="rId44"/>
    <p:sldId id="365" r:id="rId45"/>
    <p:sldId id="368" r:id="rId46"/>
    <p:sldId id="366" r:id="rId47"/>
    <p:sldId id="367" r:id="rId48"/>
    <p:sldId id="355" r:id="rId49"/>
    <p:sldId id="348" r:id="rId50"/>
    <p:sldId id="347" r:id="rId51"/>
    <p:sldId id="331" r:id="rId52"/>
    <p:sldId id="339" r:id="rId53"/>
    <p:sldId id="356" r:id="rId54"/>
    <p:sldId id="666" r:id="rId55"/>
    <p:sldId id="325" r:id="rId56"/>
    <p:sldId id="354" r:id="rId57"/>
    <p:sldId id="340" r:id="rId58"/>
    <p:sldId id="341" r:id="rId59"/>
    <p:sldId id="342" r:id="rId60"/>
    <p:sldId id="358" r:id="rId61"/>
    <p:sldId id="343" r:id="rId62"/>
    <p:sldId id="359" r:id="rId63"/>
    <p:sldId id="345" r:id="rId64"/>
    <p:sldId id="330" r:id="rId65"/>
    <p:sldId id="322" r:id="rId66"/>
    <p:sldId id="333" r:id="rId67"/>
    <p:sldId id="290" r:id="rId68"/>
    <p:sldId id="299" r:id="rId69"/>
    <p:sldId id="657" r:id="rId70"/>
    <p:sldId id="658" r:id="rId71"/>
    <p:sldId id="659" r:id="rId72"/>
    <p:sldId id="660" r:id="rId73"/>
    <p:sldId id="661" r:id="rId74"/>
    <p:sldId id="662" r:id="rId75"/>
    <p:sldId id="674" r:id="rId76"/>
    <p:sldId id="668" r:id="rId77"/>
    <p:sldId id="663" r:id="rId78"/>
    <p:sldId id="667" r:id="rId79"/>
    <p:sldId id="272" r:id="rId80"/>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200" kern="1200">
        <a:solidFill>
          <a:schemeClr val="tx1"/>
        </a:solidFill>
        <a:latin typeface="Tahoma" panose="020B0604030504040204" pitchFamily="34" charset="0"/>
        <a:ea typeface="+mn-ea"/>
        <a:cs typeface="+mn-cs"/>
      </a:defRPr>
    </a:lvl5pPr>
    <a:lvl6pPr marL="2286000" algn="l" defTabSz="914400" rtl="0" eaLnBrk="1" latinLnBrk="0" hangingPunct="1">
      <a:defRPr sz="2200" kern="1200">
        <a:solidFill>
          <a:schemeClr val="tx1"/>
        </a:solidFill>
        <a:latin typeface="Tahoma" panose="020B0604030504040204" pitchFamily="34" charset="0"/>
        <a:ea typeface="+mn-ea"/>
        <a:cs typeface="+mn-cs"/>
      </a:defRPr>
    </a:lvl6pPr>
    <a:lvl7pPr marL="2743200" algn="l" defTabSz="914400" rtl="0" eaLnBrk="1" latinLnBrk="0" hangingPunct="1">
      <a:defRPr sz="2200" kern="1200">
        <a:solidFill>
          <a:schemeClr val="tx1"/>
        </a:solidFill>
        <a:latin typeface="Tahoma" panose="020B0604030504040204" pitchFamily="34" charset="0"/>
        <a:ea typeface="+mn-ea"/>
        <a:cs typeface="+mn-cs"/>
      </a:defRPr>
    </a:lvl7pPr>
    <a:lvl8pPr marL="3200400" algn="l" defTabSz="914400" rtl="0" eaLnBrk="1" latinLnBrk="0" hangingPunct="1">
      <a:defRPr sz="2200" kern="1200">
        <a:solidFill>
          <a:schemeClr val="tx1"/>
        </a:solidFill>
        <a:latin typeface="Tahoma" panose="020B0604030504040204" pitchFamily="34" charset="0"/>
        <a:ea typeface="+mn-ea"/>
        <a:cs typeface="+mn-cs"/>
      </a:defRPr>
    </a:lvl8pPr>
    <a:lvl9pPr marL="3657600" algn="l" defTabSz="914400" rtl="0" eaLnBrk="1" latinLnBrk="0" hangingPunct="1">
      <a:defRPr sz="2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0689"/>
    <a:srgbClr val="3300FF"/>
    <a:srgbClr val="CC0000"/>
    <a:srgbClr val="0000FF"/>
    <a:srgbClr val="008000"/>
    <a:srgbClr val="00CC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0929"/>
  </p:normalViewPr>
  <p:slideViewPr>
    <p:cSldViewPr snapToGrid="0">
      <p:cViewPr varScale="1">
        <p:scale>
          <a:sx n="84" d="100"/>
          <a:sy n="84" d="100"/>
        </p:scale>
        <p:origin x="12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17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815407-1E49-4376-AB7C-2D15708DFB4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3" name="Rectangle 3">
            <a:extLst>
              <a:ext uri="{FF2B5EF4-FFF2-40B4-BE49-F238E27FC236}">
                <a16:creationId xmlns:a16="http://schemas.microsoft.com/office/drawing/2014/main" id="{D376ADFC-07FE-4DE5-B8BB-06006E891A69}"/>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5844" name="Rectangle 4">
            <a:extLst>
              <a:ext uri="{FF2B5EF4-FFF2-40B4-BE49-F238E27FC236}">
                <a16:creationId xmlns:a16="http://schemas.microsoft.com/office/drawing/2014/main" id="{4CB35903-B38D-48F4-A7EF-36D7B2A910D7}"/>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5" name="Rectangle 5">
            <a:extLst>
              <a:ext uri="{FF2B5EF4-FFF2-40B4-BE49-F238E27FC236}">
                <a16:creationId xmlns:a16="http://schemas.microsoft.com/office/drawing/2014/main" id="{E19B9881-FE86-44C8-8DF4-692DE97F2429}"/>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3AC3DC78-E5C8-414C-980B-A1B84845742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3EB7A4B-F4EA-4E91-95BB-68E553458E8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4819" name="Rectangle 3">
            <a:extLst>
              <a:ext uri="{FF2B5EF4-FFF2-40B4-BE49-F238E27FC236}">
                <a16:creationId xmlns:a16="http://schemas.microsoft.com/office/drawing/2014/main" id="{53A950EF-1A33-497C-B558-E69D820A5F5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4820" name="Rectangle 4">
            <a:extLst>
              <a:ext uri="{FF2B5EF4-FFF2-40B4-BE49-F238E27FC236}">
                <a16:creationId xmlns:a16="http://schemas.microsoft.com/office/drawing/2014/main" id="{659435F0-A266-4CDA-9ED8-7DA908FA968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21" name="Rectangle 5">
            <a:extLst>
              <a:ext uri="{FF2B5EF4-FFF2-40B4-BE49-F238E27FC236}">
                <a16:creationId xmlns:a16="http://schemas.microsoft.com/office/drawing/2014/main" id="{D03E6892-61A6-48CC-9D8C-943BEB4CE79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4" name="Rectangle 8">
            <a:extLst>
              <a:ext uri="{FF2B5EF4-FFF2-40B4-BE49-F238E27FC236}">
                <a16:creationId xmlns:a16="http://schemas.microsoft.com/office/drawing/2014/main" id="{0941B27F-E969-43EB-9326-DFD543DCE45F}"/>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pPr algn="r"/>
            <a:r>
              <a:rPr lang="en-US" altLang="en-US" sz="1200" b="1"/>
              <a:t>©A+ Computer Science     www.apluscompsci.com                 </a:t>
            </a:r>
            <a:fld id="{5D7796AD-AC2A-49DB-88C3-2A1E7C748D11}" type="slidenum">
              <a:rPr lang="en-US" altLang="en-US" sz="1200" b="1"/>
              <a:pPr algn="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oracle.com/en/java/javase/17/docs/api/java.base/java/lang/Double.html#longBitsToDouble(long)"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2C129AD-3733-406A-A792-A8827F341215}"/>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FAB6B90-0BB9-4E46-BB90-302550AF9D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484DCE10-F1D2-4AFA-9A18-D4822A65FD91}"/>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B39E8241-1EA3-4F2D-969F-A3F184F363B2}"/>
              </a:ext>
            </a:extLst>
          </p:cNvPr>
          <p:cNvSpPr>
            <a:spLocks noGrp="1" noChangeArrowheads="1"/>
          </p:cNvSpPr>
          <p:nvPr>
            <p:ph type="body" idx="1"/>
          </p:nvPr>
        </p:nvSpPr>
        <p:spPr/>
        <p:txBody>
          <a:bodyPr/>
          <a:lstStyle/>
          <a:p>
            <a:r>
              <a:rPr lang="en-US" altLang="en-US" sz="1600"/>
              <a:t>Interfaces are used to detail what things an Object should do.</a:t>
            </a:r>
            <a:br>
              <a:rPr lang="en-US" altLang="en-US" sz="1600"/>
            </a:br>
            <a:r>
              <a:rPr lang="en-US" altLang="en-US" sz="1600"/>
              <a:t>Interfaces are used typically when the way an Object will do things is unknown.</a:t>
            </a:r>
            <a:br>
              <a:rPr lang="en-US" altLang="en-US" sz="1600"/>
            </a:br>
            <a:r>
              <a:rPr lang="en-US" alt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p>
        </p:txBody>
      </p:sp>
    </p:spTree>
    <p:extLst>
      <p:ext uri="{BB962C8B-B14F-4D97-AF65-F5344CB8AC3E}">
        <p14:creationId xmlns:p14="http://schemas.microsoft.com/office/powerpoint/2010/main" val="4157386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7A27-B9F5-474A-F5F9-8503A78E57D6}"/>
            </a:ext>
          </a:extLst>
        </p:cNvPr>
        <p:cNvGrpSpPr/>
        <p:nvPr/>
      </p:nvGrpSpPr>
      <p:grpSpPr>
        <a:xfrm>
          <a:off x="0" y="0"/>
          <a:ext cx="0" cy="0"/>
          <a:chOff x="0" y="0"/>
          <a:chExt cx="0" cy="0"/>
        </a:xfrm>
      </p:grpSpPr>
      <p:sp>
        <p:nvSpPr>
          <p:cNvPr id="180226" name="Rectangle 2">
            <a:extLst>
              <a:ext uri="{FF2B5EF4-FFF2-40B4-BE49-F238E27FC236}">
                <a16:creationId xmlns:a16="http://schemas.microsoft.com/office/drawing/2014/main" id="{7E548D27-13A0-67B4-BE99-8E0EE0BA80E9}"/>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63ABCFF9-AEB5-96C7-74B3-A13C3F275A1C}"/>
              </a:ext>
            </a:extLst>
          </p:cNvPr>
          <p:cNvSpPr>
            <a:spLocks noGrp="1" noChangeArrowheads="1"/>
          </p:cNvSpPr>
          <p:nvPr>
            <p:ph type="body" idx="1"/>
          </p:nvPr>
        </p:nvSpPr>
        <p:spPr/>
        <p:txBody>
          <a:bodyPr/>
          <a:lstStyle/>
          <a:p>
            <a:r>
              <a:rPr lang="en-US" altLang="en-US" sz="1600"/>
              <a:t>Interfaces are used to detail what things an Object should do.</a:t>
            </a:r>
            <a:br>
              <a:rPr lang="en-US" altLang="en-US" sz="1600"/>
            </a:br>
            <a:r>
              <a:rPr lang="en-US" altLang="en-US" sz="1600"/>
              <a:t>Interfaces are used typically when the way an Object will do things is unknown.</a:t>
            </a:r>
            <a:br>
              <a:rPr lang="en-US" altLang="en-US" sz="1600"/>
            </a:br>
            <a:r>
              <a:rPr lang="en-US" alt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p>
        </p:txBody>
      </p:sp>
    </p:spTree>
    <p:extLst>
      <p:ext uri="{BB962C8B-B14F-4D97-AF65-F5344CB8AC3E}">
        <p14:creationId xmlns:p14="http://schemas.microsoft.com/office/powerpoint/2010/main" val="2963907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780E683-B730-48DF-8FE7-C2A7F56728F9}"/>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B68F167-8C5B-4F80-83FB-652BCFF02A69}"/>
              </a:ext>
            </a:extLst>
          </p:cNvPr>
          <p:cNvSpPr>
            <a:spLocks noGrp="1" noChangeArrowheads="1"/>
          </p:cNvSpPr>
          <p:nvPr>
            <p:ph type="body" idx="1"/>
          </p:nvPr>
        </p:nvSpPr>
        <p:spPr/>
        <p:txBody>
          <a:bodyPr/>
          <a:lstStyle/>
          <a:p>
            <a:r>
              <a:rPr lang="en-US" altLang="en-US" sz="1600" b="1" dirty="0"/>
              <a:t>I.e. all members are public whether you add the public modifier or not.</a:t>
            </a:r>
          </a:p>
          <a:p>
            <a:endParaRPr lang="en-US" altLang="en-US" sz="1600" dirty="0"/>
          </a:p>
          <a:p>
            <a:r>
              <a:rPr lang="en-US" altLang="en-US" sz="1600" dirty="0"/>
              <a:t>Each abstract method listed in an interface must be implemented in the class that implements the interface.</a:t>
            </a:r>
          </a:p>
          <a:p>
            <a:endParaRPr lang="en-US" altLang="en-US" sz="1600" dirty="0"/>
          </a:p>
          <a:p>
            <a:r>
              <a:rPr lang="en-US" altLang="en-US" sz="1600" dirty="0"/>
              <a:t>All variables listed in an interface are public static final, making them final class variables.  </a:t>
            </a:r>
          </a:p>
          <a:p>
            <a:endParaRPr lang="en-US" altLang="en-US" sz="1600" dirty="0"/>
          </a:p>
          <a:p>
            <a:r>
              <a:rPr lang="en-US" altLang="en-US" sz="1600" dirty="0"/>
              <a:t>Interfaces cannot contain implemented methods, constructors, or instance variables.</a:t>
            </a:r>
          </a:p>
          <a:p>
            <a:endParaRPr lang="en-US" altLang="en-US" dirty="0"/>
          </a:p>
        </p:txBody>
      </p:sp>
    </p:spTree>
    <p:extLst>
      <p:ext uri="{BB962C8B-B14F-4D97-AF65-F5344CB8AC3E}">
        <p14:creationId xmlns:p14="http://schemas.microsoft.com/office/powerpoint/2010/main" val="2946593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A5D5509-D63D-44C7-B321-5E2BCA20E905}"/>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802964A6-56AD-41BA-97AD-7CFA6B6E8B52}"/>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692398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4D25A715-02BF-4B29-BD4C-29D03F7D0E99}"/>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7C0D6A93-4A4B-4E88-8C4E-9CB5A334578C}"/>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765563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8798105-676B-46F0-A821-87A28863190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1B49B5C0-28B3-4E66-96D0-414A33559B3B}"/>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040156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7AB4-AD75-B4AB-B80E-B14E159247E6}"/>
            </a:ext>
          </a:extLst>
        </p:cNvPr>
        <p:cNvGrpSpPr/>
        <p:nvPr/>
      </p:nvGrpSpPr>
      <p:grpSpPr>
        <a:xfrm>
          <a:off x="0" y="0"/>
          <a:ext cx="0" cy="0"/>
          <a:chOff x="0" y="0"/>
          <a:chExt cx="0" cy="0"/>
        </a:xfrm>
      </p:grpSpPr>
      <p:sp>
        <p:nvSpPr>
          <p:cNvPr id="133122" name="Rectangle 2">
            <a:extLst>
              <a:ext uri="{FF2B5EF4-FFF2-40B4-BE49-F238E27FC236}">
                <a16:creationId xmlns:a16="http://schemas.microsoft.com/office/drawing/2014/main" id="{9193754C-1F0C-3F59-FCAF-77A171C6D59B}"/>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9EF13278-096C-87FC-CBFC-070AEF8C7DCD}"/>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687720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4997D-4225-D24C-6DB9-91BC9567B1AD}"/>
            </a:ext>
          </a:extLst>
        </p:cNvPr>
        <p:cNvGrpSpPr/>
        <p:nvPr/>
      </p:nvGrpSpPr>
      <p:grpSpPr>
        <a:xfrm>
          <a:off x="0" y="0"/>
          <a:ext cx="0" cy="0"/>
          <a:chOff x="0" y="0"/>
          <a:chExt cx="0" cy="0"/>
        </a:xfrm>
      </p:grpSpPr>
      <p:sp>
        <p:nvSpPr>
          <p:cNvPr id="133122" name="Rectangle 2">
            <a:extLst>
              <a:ext uri="{FF2B5EF4-FFF2-40B4-BE49-F238E27FC236}">
                <a16:creationId xmlns:a16="http://schemas.microsoft.com/office/drawing/2014/main" id="{BA42B7B7-EA1E-1C22-D155-DCC9A524017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993277CC-ED89-A08A-7038-D582935C0FC5}"/>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911901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F34AC-A6A9-EF38-BA69-DFA392DC08B4}"/>
            </a:ext>
          </a:extLst>
        </p:cNvPr>
        <p:cNvGrpSpPr/>
        <p:nvPr/>
      </p:nvGrpSpPr>
      <p:grpSpPr>
        <a:xfrm>
          <a:off x="0" y="0"/>
          <a:ext cx="0" cy="0"/>
          <a:chOff x="0" y="0"/>
          <a:chExt cx="0" cy="0"/>
        </a:xfrm>
      </p:grpSpPr>
      <p:sp>
        <p:nvSpPr>
          <p:cNvPr id="133122" name="Rectangle 2">
            <a:extLst>
              <a:ext uri="{FF2B5EF4-FFF2-40B4-BE49-F238E27FC236}">
                <a16:creationId xmlns:a16="http://schemas.microsoft.com/office/drawing/2014/main" id="{F4E225E1-736C-86EF-3BEA-8DDB12D755FF}"/>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C22FAD55-4EF3-B9FA-A60A-813416EA5D93}"/>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275191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2104040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3167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public, they can be accessed in the super class, sub class, or any other class.   </a:t>
            </a:r>
          </a:p>
          <a:p>
            <a:r>
              <a:rPr lang="en-US" altLang="en-US" sz="1600"/>
              <a:t>When a sub class inherits public parts, those parts can be accessed directly by the sub class.</a:t>
            </a:r>
          </a:p>
        </p:txBody>
      </p:sp>
    </p:spTree>
    <p:extLst>
      <p:ext uri="{BB962C8B-B14F-4D97-AF65-F5344CB8AC3E}">
        <p14:creationId xmlns:p14="http://schemas.microsoft.com/office/powerpoint/2010/main" val="3025381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private, they can be accessed in the super class.   </a:t>
            </a:r>
          </a:p>
          <a:p>
            <a:r>
              <a:rPr lang="en-US" altLang="en-US" sz="1600"/>
              <a:t>When a sub class inherits private parts, those parts cannot be accessed directly by the sub class or any other class.</a:t>
            </a:r>
          </a:p>
          <a:p>
            <a:endParaRPr lang="en-US" altLang="en-US"/>
          </a:p>
        </p:txBody>
      </p:sp>
    </p:spTree>
    <p:extLst>
      <p:ext uri="{BB962C8B-B14F-4D97-AF65-F5344CB8AC3E}">
        <p14:creationId xmlns:p14="http://schemas.microsoft.com/office/powerpoint/2010/main" val="874516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endParaRPr lang="en-US" altLang="en-US"/>
          </a:p>
        </p:txBody>
      </p:sp>
    </p:spTree>
    <p:extLst>
      <p:ext uri="{BB962C8B-B14F-4D97-AF65-F5344CB8AC3E}">
        <p14:creationId xmlns:p14="http://schemas.microsoft.com/office/powerpoint/2010/main" val="2661551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r>
              <a:rPr lang="en-US" altLang="en-US"/>
              <a:t>?Protected is commonly referred to as package public?</a:t>
            </a:r>
          </a:p>
        </p:txBody>
      </p:sp>
    </p:spTree>
    <p:extLst>
      <p:ext uri="{BB962C8B-B14F-4D97-AF65-F5344CB8AC3E}">
        <p14:creationId xmlns:p14="http://schemas.microsoft.com/office/powerpoint/2010/main" val="297927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5792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137940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966290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857813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135629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3B3C725A-0EE8-4E2F-BB85-C15426D52ABA}"/>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CF0C1D41-ECBE-4213-9BB0-BBDE7EEDFD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089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244036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495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66382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137425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42582151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1A00-92E6-2EFD-515E-94F0B14618B4}"/>
            </a:ext>
          </a:extLst>
        </p:cNvPr>
        <p:cNvGrpSpPr/>
        <p:nvPr/>
      </p:nvGrpSpPr>
      <p:grpSpPr>
        <a:xfrm>
          <a:off x="0" y="0"/>
          <a:ext cx="0" cy="0"/>
          <a:chOff x="0" y="0"/>
          <a:chExt cx="0" cy="0"/>
        </a:xfrm>
      </p:grpSpPr>
      <p:sp>
        <p:nvSpPr>
          <p:cNvPr id="113666" name="Rectangle 2">
            <a:extLst>
              <a:ext uri="{FF2B5EF4-FFF2-40B4-BE49-F238E27FC236}">
                <a16:creationId xmlns:a16="http://schemas.microsoft.com/office/drawing/2014/main" id="{CB5D0091-6D5A-7ECD-F557-3D92E6190EED}"/>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C67B06C6-0639-5F95-87E6-BD87708E4F84}"/>
              </a:ext>
            </a:extLst>
          </p:cNvPr>
          <p:cNvSpPr>
            <a:spLocks noGrp="1" noChangeArrowheads="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mn-cs"/>
              </a:rPr>
              <a:t>public static long </a:t>
            </a:r>
            <a:r>
              <a:rPr lang="en-US" sz="1200" b="0" i="0" kern="1200" dirty="0" err="1">
                <a:solidFill>
                  <a:schemeClr val="tx1"/>
                </a:solidFill>
                <a:effectLst/>
                <a:latin typeface="Times New Roman" panose="02020603050405020304" pitchFamily="18" charset="0"/>
                <a:ea typeface="+mn-ea"/>
                <a:cs typeface="+mn-cs"/>
              </a:rPr>
              <a:t>doubleToLongBits</a:t>
            </a:r>
            <a:r>
              <a:rPr lang="en-US" sz="1200" b="0" i="0" kern="1200" dirty="0">
                <a:solidFill>
                  <a:schemeClr val="tx1"/>
                </a:solidFill>
                <a:effectLst/>
                <a:latin typeface="Times New Roman" panose="02020603050405020304" pitchFamily="18" charset="0"/>
                <a:ea typeface="+mn-ea"/>
                <a:cs typeface="+mn-cs"/>
              </a:rPr>
              <a:t>(double value)</a:t>
            </a:r>
          </a:p>
          <a:p>
            <a:r>
              <a:rPr lang="en-US" sz="1200" b="0" i="0" kern="1200" dirty="0">
                <a:solidFill>
                  <a:schemeClr val="tx1"/>
                </a:solidFill>
                <a:effectLst/>
                <a:latin typeface="Times New Roman" panose="02020603050405020304" pitchFamily="18" charset="0"/>
                <a:ea typeface="+mn-ea"/>
                <a:cs typeface="+mn-cs"/>
              </a:rPr>
              <a:t>Returns a representation of the specified floating-point value according to the IEEE 754 floating-point "double format" bit </a:t>
            </a:r>
            <a:r>
              <a:rPr lang="en-US" sz="1200" b="0" i="0" kern="1200" dirty="0" err="1">
                <a:solidFill>
                  <a:schemeClr val="tx1"/>
                </a:solidFill>
                <a:effectLst/>
                <a:latin typeface="Times New Roman" panose="02020603050405020304" pitchFamily="18" charset="0"/>
                <a:ea typeface="+mn-ea"/>
                <a:cs typeface="+mn-cs"/>
              </a:rPr>
              <a:t>layout.Bit</a:t>
            </a:r>
            <a:r>
              <a:rPr lang="en-US" sz="1200" b="0" i="0" kern="1200" dirty="0">
                <a:solidFill>
                  <a:schemeClr val="tx1"/>
                </a:solidFill>
                <a:effectLst/>
                <a:latin typeface="Times New Roman" panose="02020603050405020304" pitchFamily="18" charset="0"/>
                <a:ea typeface="+mn-ea"/>
                <a:cs typeface="+mn-cs"/>
              </a:rPr>
              <a:t> 63 (the bit that is selected by the mask 0x8000000000000000L) represents the sign of the floating-point number. Bits 62-52 (the bits that are selected by the mask 0x7ff0000000000000L) represent the exponent. Bits 51-0 (the bits that are selected by the mask 0x000fffffffffffffL) represent the significand (sometimes called the mantissa) of the floating-point number.</a:t>
            </a:r>
          </a:p>
          <a:p>
            <a:r>
              <a:rPr lang="en-US" sz="1200" b="0" i="0" kern="1200" dirty="0">
                <a:solidFill>
                  <a:schemeClr val="tx1"/>
                </a:solidFill>
                <a:effectLst/>
                <a:latin typeface="Times New Roman" panose="02020603050405020304" pitchFamily="18" charset="0"/>
                <a:ea typeface="+mn-ea"/>
                <a:cs typeface="+mn-cs"/>
              </a:rPr>
              <a:t>If the argument is positive infinity, the result is 0x7ff0000000000000L.</a:t>
            </a:r>
          </a:p>
          <a:p>
            <a:r>
              <a:rPr lang="en-US" sz="1200" b="0" i="0" kern="1200" dirty="0">
                <a:solidFill>
                  <a:schemeClr val="tx1"/>
                </a:solidFill>
                <a:effectLst/>
                <a:latin typeface="Times New Roman" panose="02020603050405020304" pitchFamily="18" charset="0"/>
                <a:ea typeface="+mn-ea"/>
                <a:cs typeface="+mn-cs"/>
              </a:rPr>
              <a:t>If the argument is negative infinity, the result is 0xfff0000000000000L.</a:t>
            </a:r>
          </a:p>
          <a:p>
            <a:r>
              <a:rPr lang="en-US" sz="1200" b="0" i="0" kern="1200" dirty="0">
                <a:solidFill>
                  <a:schemeClr val="tx1"/>
                </a:solidFill>
                <a:effectLst/>
                <a:latin typeface="Times New Roman" panose="02020603050405020304" pitchFamily="18" charset="0"/>
                <a:ea typeface="+mn-ea"/>
                <a:cs typeface="+mn-cs"/>
              </a:rPr>
              <a:t>If the argument is </a:t>
            </a:r>
            <a:r>
              <a:rPr lang="en-US" sz="1200" b="0" i="0" kern="1200" dirty="0" err="1">
                <a:solidFill>
                  <a:schemeClr val="tx1"/>
                </a:solidFill>
                <a:effectLst/>
                <a:latin typeface="Times New Roman" panose="02020603050405020304" pitchFamily="18" charset="0"/>
                <a:ea typeface="+mn-ea"/>
                <a:cs typeface="+mn-cs"/>
              </a:rPr>
              <a:t>NaN</a:t>
            </a:r>
            <a:r>
              <a:rPr lang="en-US" sz="1200" b="0" i="0" kern="1200" dirty="0">
                <a:solidFill>
                  <a:schemeClr val="tx1"/>
                </a:solidFill>
                <a:effectLst/>
                <a:latin typeface="Times New Roman" panose="02020603050405020304" pitchFamily="18" charset="0"/>
                <a:ea typeface="+mn-ea"/>
                <a:cs typeface="+mn-cs"/>
              </a:rPr>
              <a:t>, the result is 0x7ff8000000000000L.</a:t>
            </a:r>
          </a:p>
          <a:p>
            <a:r>
              <a:rPr lang="en-US" sz="1200" b="0" i="0" kern="1200" dirty="0">
                <a:solidFill>
                  <a:schemeClr val="tx1"/>
                </a:solidFill>
                <a:effectLst/>
                <a:latin typeface="Times New Roman" panose="02020603050405020304" pitchFamily="18" charset="0"/>
                <a:ea typeface="+mn-ea"/>
                <a:cs typeface="+mn-cs"/>
              </a:rPr>
              <a:t>In all cases, the result is a long integer that, when given to the </a:t>
            </a:r>
            <a:r>
              <a:rPr lang="en-US" sz="1200" b="0" i="0" u="none" strike="noStrike" kern="1200" dirty="0" err="1">
                <a:solidFill>
                  <a:schemeClr val="tx1"/>
                </a:solidFill>
                <a:effectLst/>
                <a:latin typeface="Times New Roman" panose="02020603050405020304" pitchFamily="18" charset="0"/>
                <a:ea typeface="+mn-ea"/>
                <a:cs typeface="+mn-cs"/>
                <a:hlinkClick r:id="rId3"/>
              </a:rPr>
              <a:t>longBitsToDouble</a:t>
            </a:r>
            <a:r>
              <a:rPr lang="en-US" sz="1200" b="0" i="0" u="none" strike="noStrike" kern="1200" dirty="0">
                <a:solidFill>
                  <a:schemeClr val="tx1"/>
                </a:solidFill>
                <a:effectLst/>
                <a:latin typeface="Times New Roman" panose="02020603050405020304" pitchFamily="18" charset="0"/>
                <a:ea typeface="+mn-ea"/>
                <a:cs typeface="+mn-cs"/>
                <a:hlinkClick r:id="rId3"/>
              </a:rPr>
              <a:t>(long)</a:t>
            </a:r>
            <a:r>
              <a:rPr lang="en-US" sz="1200" b="0" i="0" kern="1200" dirty="0">
                <a:solidFill>
                  <a:schemeClr val="tx1"/>
                </a:solidFill>
                <a:effectLst/>
                <a:latin typeface="Times New Roman" panose="02020603050405020304" pitchFamily="18" charset="0"/>
                <a:ea typeface="+mn-ea"/>
                <a:cs typeface="+mn-cs"/>
              </a:rPr>
              <a:t> method, will produce a floating-point value the same as the argument to </a:t>
            </a:r>
            <a:r>
              <a:rPr lang="en-US" sz="1200" b="0" i="0" kern="1200" dirty="0" err="1">
                <a:solidFill>
                  <a:schemeClr val="tx1"/>
                </a:solidFill>
                <a:effectLst/>
                <a:latin typeface="Times New Roman" panose="02020603050405020304" pitchFamily="18" charset="0"/>
                <a:ea typeface="+mn-ea"/>
                <a:cs typeface="+mn-cs"/>
              </a:rPr>
              <a:t>doubleToLongBits</a:t>
            </a:r>
            <a:r>
              <a:rPr lang="en-US" sz="1200" b="0" i="0" kern="1200" dirty="0">
                <a:solidFill>
                  <a:schemeClr val="tx1"/>
                </a:solidFill>
                <a:effectLst/>
                <a:latin typeface="Times New Roman" panose="02020603050405020304" pitchFamily="18" charset="0"/>
                <a:ea typeface="+mn-ea"/>
                <a:cs typeface="+mn-cs"/>
              </a:rPr>
              <a:t> (except all </a:t>
            </a:r>
            <a:r>
              <a:rPr lang="en-US" sz="1200" b="0" i="0" kern="1200" dirty="0" err="1">
                <a:solidFill>
                  <a:schemeClr val="tx1"/>
                </a:solidFill>
                <a:effectLst/>
                <a:latin typeface="Times New Roman" panose="02020603050405020304" pitchFamily="18" charset="0"/>
                <a:ea typeface="+mn-ea"/>
                <a:cs typeface="+mn-cs"/>
              </a:rPr>
              <a:t>NaN</a:t>
            </a:r>
            <a:r>
              <a:rPr lang="en-US" sz="1200" b="0" i="0" kern="1200" dirty="0">
                <a:solidFill>
                  <a:schemeClr val="tx1"/>
                </a:solidFill>
                <a:effectLst/>
                <a:latin typeface="Times New Roman" panose="02020603050405020304" pitchFamily="18" charset="0"/>
                <a:ea typeface="+mn-ea"/>
                <a:cs typeface="+mn-cs"/>
              </a:rPr>
              <a:t> values are collapsed to a single "canonical" </a:t>
            </a:r>
            <a:r>
              <a:rPr lang="en-US" sz="1200" b="0" i="0" kern="1200" dirty="0" err="1">
                <a:solidFill>
                  <a:schemeClr val="tx1"/>
                </a:solidFill>
                <a:effectLst/>
                <a:latin typeface="Times New Roman" panose="02020603050405020304" pitchFamily="18" charset="0"/>
                <a:ea typeface="+mn-ea"/>
                <a:cs typeface="+mn-cs"/>
              </a:rPr>
              <a:t>NaN</a:t>
            </a:r>
            <a:r>
              <a:rPr lang="en-US" sz="1200" b="0" i="0" kern="1200">
                <a:solidFill>
                  <a:schemeClr val="tx1"/>
                </a:solidFill>
                <a:effectLst/>
                <a:latin typeface="Times New Roman" panose="02020603050405020304" pitchFamily="18" charset="0"/>
                <a:ea typeface="+mn-ea"/>
                <a:cs typeface="+mn-cs"/>
              </a:rPr>
              <a:t> value).</a:t>
            </a:r>
          </a:p>
          <a:p>
            <a:endParaRPr lang="en-US" altLang="en-US" dirty="0"/>
          </a:p>
        </p:txBody>
      </p:sp>
    </p:spTree>
    <p:extLst>
      <p:ext uri="{BB962C8B-B14F-4D97-AF65-F5344CB8AC3E}">
        <p14:creationId xmlns:p14="http://schemas.microsoft.com/office/powerpoint/2010/main" val="12152747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144A9D3D-BE4E-4F6F-9D81-AEF1D7E41ED2}"/>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D1A09E8C-6AF8-49C0-8DBB-A343C122EB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8901196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415583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3052028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11813952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extLst>
      <p:ext uri="{BB962C8B-B14F-4D97-AF65-F5344CB8AC3E}">
        <p14:creationId xmlns:p14="http://schemas.microsoft.com/office/powerpoint/2010/main" val="38888382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A6BFEB88-9C2A-4007-A34D-F54B77CB44C5}"/>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72C85295-AD69-4067-ADE8-31BB6D695D24}"/>
              </a:ext>
            </a:extLst>
          </p:cNvPr>
          <p:cNvSpPr>
            <a:spLocks noGrp="1" noChangeArrowheads="1"/>
          </p:cNvSpPr>
          <p:nvPr>
            <p:ph type="body" idx="1"/>
          </p:nvPr>
        </p:nvSpPr>
        <p:spPr/>
        <p:txBody>
          <a:bodyPr/>
          <a:lstStyle/>
          <a:p>
            <a:r>
              <a:rPr lang="en-US" altLang="en-US" sz="1600"/>
              <a:t>Comparable is an interface.  Interfaces can </a:t>
            </a:r>
            <a:r>
              <a:rPr lang="en-US" altLang="en-US" sz="1600" b="1" i="1" u="sng"/>
              <a:t>not </a:t>
            </a:r>
            <a:r>
              <a:rPr lang="en-US" altLang="en-US" sz="1600"/>
              <a:t>have instance variables, constructors, or implemented methods.  </a:t>
            </a:r>
          </a:p>
          <a:p>
            <a:r>
              <a:rPr lang="en-US" altLang="en-US" sz="1600"/>
              <a:t>Interfaces cannot be instantiated because they have no instance variables and they have no constructors.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B1F82C99-313C-48FF-8705-DACD02CADE27}"/>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91FF12DE-C261-4D92-8749-4ABB70D10A38}"/>
              </a:ext>
            </a:extLst>
          </p:cNvPr>
          <p:cNvSpPr>
            <a:spLocks noGrp="1" noChangeArrowheads="1"/>
          </p:cNvSpPr>
          <p:nvPr>
            <p:ph type="body" idx="1"/>
          </p:nvPr>
        </p:nvSpPr>
        <p:spPr>
          <a:noFill/>
          <a:ln/>
        </p:spPr>
        <p:txBody>
          <a:bodyPr/>
          <a:lstStyle/>
          <a:p>
            <a:r>
              <a:rPr lang="en-US" altLang="en-US" sz="1600"/>
              <a:t>Comparable is an interface used by most classes that would need to be compared.  Comparable has only one abstract method,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06F6786F-11C9-46BD-B778-0C0B64666B3B}"/>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83857F45-E6A1-439D-A1E9-E0F007AEB3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AE09AA87-B7DF-4F99-AFCD-B158A9CD818C}"/>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445A5B4F-E8B5-4DAD-95B2-347A729F09A2}"/>
              </a:ext>
            </a:extLst>
          </p:cNvPr>
          <p:cNvSpPr>
            <a:spLocks noGrp="1" noChangeArrowheads="1"/>
          </p:cNvSpPr>
          <p:nvPr>
            <p:ph type="body" idx="1"/>
          </p:nvPr>
        </p:nvSpPr>
        <p:spPr>
          <a:noFill/>
          <a:ln/>
        </p:spPr>
        <p:txBody>
          <a:bodyPr/>
          <a:lstStyle/>
          <a:p>
            <a:r>
              <a:rPr lang="en-US" altLang="en-US" sz="1600"/>
              <a:t>All methods listed in an interface are abstract.  Abstract methods have no code.  Abstract methods are simply the method signature with a semi-colon at the end.</a:t>
            </a:r>
          </a:p>
          <a:p>
            <a:r>
              <a:rPr lang="en-US" altLang="en-US" sz="1600"/>
              <a:t>Classes implementing an interface must implement all of the abstract methods listed in the interface.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26323939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1178277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FB4CC901-DDCF-4309-B6D6-C34C86E2597F}"/>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D83A1682-7235-4094-AFD6-49AC9B12CF3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452743B9-9D4A-49E2-A80F-384E3CC7EB9B}"/>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04C0D695-FE14-4B03-91DD-8CA72490EC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EDFC3CAD-05C8-46A5-A715-3A806FB531BA}"/>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F92E496-9602-485D-8565-5AE847A882F4}"/>
              </a:ext>
            </a:extLst>
          </p:cNvPr>
          <p:cNvSpPr>
            <a:spLocks noGrp="1" noChangeArrowheads="1"/>
          </p:cNvSpPr>
          <p:nvPr>
            <p:ph type="body" idx="1"/>
          </p:nvPr>
        </p:nvSpPr>
        <p:spPr/>
        <p:txBody>
          <a:bodyPr/>
          <a:lstStyle/>
          <a:p>
            <a:r>
              <a:rPr lang="en-US" altLang="en-US" sz="1600"/>
              <a:t>List is an array of </a:t>
            </a:r>
            <a:r>
              <a:rPr lang="en-US" altLang="en-US" sz="1600">
                <a:latin typeface="Courier New" panose="02070309020205020404" pitchFamily="49" charset="0"/>
              </a:rPr>
              <a:t>Comparable</a:t>
            </a:r>
            <a:r>
              <a:rPr lang="en-US" altLang="en-US" sz="1600"/>
              <a:t> references.  Each spot in list stores the address of a </a:t>
            </a:r>
            <a:r>
              <a:rPr lang="en-US" altLang="en-US" sz="1600">
                <a:latin typeface="Courier New" panose="02070309020205020404" pitchFamily="49" charset="0"/>
              </a:rPr>
              <a:t>Comparable</a:t>
            </a:r>
            <a:r>
              <a:rPr lang="en-US" altLang="en-US" sz="1600"/>
              <a:t> object.  </a:t>
            </a:r>
          </a:p>
          <a:p>
            <a:endParaRPr lang="en-US" altLang="en-US" sz="1600"/>
          </a:p>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42670186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A4A0905E-5FF7-4E82-9407-CE5628D1B477}"/>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69912570-4752-46F8-8CA5-81B2BBF27A8C}"/>
              </a:ext>
            </a:extLst>
          </p:cNvPr>
          <p:cNvSpPr>
            <a:spLocks noGrp="1" noChangeArrowheads="1"/>
          </p:cNvSpPr>
          <p:nvPr>
            <p:ph type="body" idx="1"/>
          </p:nvPr>
        </p:nvSpPr>
        <p:spPr/>
        <p:txBody>
          <a:bodyPr/>
          <a:lstStyle/>
          <a:p>
            <a:r>
              <a:rPr lang="en-US" altLang="en-US" sz="1600"/>
              <a:t>Thanks to autoboxing and autounboxing, list can be initialized with a list of primitive integers.   </a:t>
            </a:r>
          </a:p>
          <a:p>
            <a:r>
              <a:rPr lang="en-US" altLang="en-US" sz="1600"/>
              <a:t>Java instantiates an </a:t>
            </a:r>
            <a:r>
              <a:rPr lang="en-US" altLang="en-US" sz="1600">
                <a:latin typeface="Courier New" panose="02070309020205020404" pitchFamily="49" charset="0"/>
              </a:rPr>
              <a:t>Integer </a:t>
            </a:r>
            <a:r>
              <a:rPr lang="en-US" altLang="en-US" sz="1600"/>
              <a:t>object and passes in each primitive to the </a:t>
            </a:r>
            <a:r>
              <a:rPr lang="en-US" altLang="en-US" sz="1600">
                <a:latin typeface="Courier New" panose="02070309020205020404" pitchFamily="49" charset="0"/>
              </a:rPr>
              <a:t>new Integer( )</a:t>
            </a:r>
            <a:r>
              <a:rPr lang="en-US" altLang="en-US" sz="1600"/>
              <a:t> constructor call.</a:t>
            </a:r>
          </a:p>
          <a:p>
            <a:endParaRPr lang="en-US" altLang="en-US" sz="16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39577567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B2171FFA-7CA2-4D9B-8043-86CC901BE4A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E5851B58-B87B-47CE-81FA-072C4CBE46DB}"/>
              </a:ext>
            </a:extLst>
          </p:cNvPr>
          <p:cNvSpPr>
            <a:spLocks noGrp="1" noChangeArrowheads="1"/>
          </p:cNvSpPr>
          <p:nvPr>
            <p:ph type="body" idx="1"/>
          </p:nvPr>
        </p:nvSpPr>
        <p:spPr/>
        <p:txBody>
          <a:bodyPr/>
          <a:lstStyle/>
          <a:p>
            <a:r>
              <a:rPr lang="en-US" altLang="en-US" sz="1600"/>
              <a:t>The selection sort sorts </a:t>
            </a:r>
            <a:r>
              <a:rPr lang="en-US" altLang="en-US" sz="1600">
                <a:latin typeface="Courier New" panose="02070309020205020404" pitchFamily="49" charset="0"/>
              </a:rPr>
              <a:t>Comparable</a:t>
            </a:r>
            <a:r>
              <a:rPr lang="en-US" altLang="en-US" sz="1600"/>
              <a:t> arrays.   Because stuff is an array of </a:t>
            </a:r>
            <a:r>
              <a:rPr lang="en-US" altLang="en-US" sz="1600">
                <a:latin typeface="Courier New" panose="02070309020205020404" pitchFamily="49" charset="0"/>
              </a:rPr>
              <a:t>Comparable</a:t>
            </a:r>
            <a:r>
              <a:rPr lang="en-US" altLang="en-US" sz="1600"/>
              <a:t>, I can write very generic code based on the </a:t>
            </a:r>
            <a:r>
              <a:rPr lang="en-US" altLang="en-US" sz="1600">
                <a:latin typeface="Courier New" panose="02070309020205020404" pitchFamily="49" charset="0"/>
              </a:rPr>
              <a:t>compareTo()</a:t>
            </a:r>
            <a:r>
              <a:rPr lang="en-US" altLang="en-US" sz="1600"/>
              <a:t> method.</a:t>
            </a:r>
          </a:p>
          <a:p>
            <a:r>
              <a:rPr lang="en-US" altLang="en-US" sz="1600"/>
              <a:t>As long as an array of </a:t>
            </a:r>
            <a:r>
              <a:rPr lang="en-US" altLang="en-US" sz="1600">
                <a:latin typeface="Courier New" panose="02070309020205020404" pitchFamily="49" charset="0"/>
              </a:rPr>
              <a:t>Comparable</a:t>
            </a:r>
            <a:r>
              <a:rPr lang="en-US" altLang="en-US" sz="1600"/>
              <a:t> references is sent in, this code will work perfectly every time.</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4EB2AEDD-B50B-4B76-B1C5-BC13924DFA6C}"/>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CBDC0D28-7B61-47A9-AA2A-6C2B17CEAE9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58816878-79FD-4227-ADF4-969F2DD92041}"/>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98EC3AA7-7A47-4F64-A091-30B72AC00E92}"/>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BB77AB7-5F55-41CE-BC29-4EDFC5F0BD71}"/>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191C9811-EC6C-4C1C-9A02-13B0DAC6C518}"/>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02868744-8566-4440-84DB-FB9DFB092056}"/>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E721A7D4-1791-4E03-B9E4-1A3FB56F5AE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923A691-EB67-4D07-BAD2-3420BC04CEF1}"/>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52336BF-F30B-47F8-AA47-41CA47F9D70A}"/>
              </a:ext>
            </a:extLst>
          </p:cNvPr>
          <p:cNvSpPr>
            <a:spLocks noGrp="1" noChangeArrowheads="1"/>
          </p:cNvSpPr>
          <p:nvPr>
            <p:ph type="body" idx="1"/>
          </p:nvPr>
        </p:nvSpPr>
        <p:spPr>
          <a:noFill/>
          <a:ln/>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means it has no implementation, and “final” means it can’t be overridden in a subclass. So, the useless method can never be fixed!</a:t>
            </a:r>
          </a:p>
        </p:txBody>
      </p:sp>
    </p:spTree>
    <p:extLst>
      <p:ext uri="{BB962C8B-B14F-4D97-AF65-F5344CB8AC3E}">
        <p14:creationId xmlns:p14="http://schemas.microsoft.com/office/powerpoint/2010/main" val="40817896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a:t>
            </a:r>
            <a:r>
              <a:rPr lang="en-US"/>
              <a:t>. </a:t>
            </a:r>
            <a:endParaRPr lang="en-US" dirty="0"/>
          </a:p>
        </p:txBody>
      </p:sp>
    </p:spTree>
    <p:extLst>
      <p:ext uri="{BB962C8B-B14F-4D97-AF65-F5344CB8AC3E}">
        <p14:creationId xmlns:p14="http://schemas.microsoft.com/office/powerpoint/2010/main" val="1409360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a:p>
            <a:endParaRPr lang="en-US" dirty="0"/>
          </a:p>
        </p:txBody>
      </p:sp>
    </p:spTree>
    <p:extLst>
      <p:ext uri="{BB962C8B-B14F-4D97-AF65-F5344CB8AC3E}">
        <p14:creationId xmlns:p14="http://schemas.microsoft.com/office/powerpoint/2010/main" val="144771173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p:txBody>
      </p:sp>
    </p:spTree>
    <p:extLst>
      <p:ext uri="{BB962C8B-B14F-4D97-AF65-F5344CB8AC3E}">
        <p14:creationId xmlns:p14="http://schemas.microsoft.com/office/powerpoint/2010/main" val="38585010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2DB1A62-7020-F884-B5D1-FA7E1747B679}"/>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6C9BF45-F02F-453C-9B8F-792EA794E6B6}"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8674" name="Slide Image Placeholder 1">
            <a:extLst>
              <a:ext uri="{FF2B5EF4-FFF2-40B4-BE49-F238E27FC236}">
                <a16:creationId xmlns:a16="http://schemas.microsoft.com/office/drawing/2014/main" id="{E5A7DC84-644B-F19E-DC79-F511552043E2}"/>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AD6FFA7C-9A68-546A-A0C3-4209888BA544}"/>
              </a:ext>
            </a:extLst>
          </p:cNvPr>
          <p:cNvSpPr>
            <a:spLocks noGrp="1"/>
          </p:cNvSpPr>
          <p:nvPr>
            <p:ph type="body" idx="1"/>
          </p:nvPr>
        </p:nvSpPr>
        <p:spPr/>
        <p:txBody>
          <a:bodyPr/>
          <a:lstStyle/>
          <a:p>
            <a:pPr>
              <a:spcBef>
                <a:spcPct val="0"/>
              </a:spcBef>
            </a:pPr>
            <a:endParaRPr lang="en-US" altLang="en-US"/>
          </a:p>
        </p:txBody>
      </p:sp>
      <p:sp>
        <p:nvSpPr>
          <p:cNvPr id="28676" name="Slide Number Placeholder 3">
            <a:extLst>
              <a:ext uri="{FF2B5EF4-FFF2-40B4-BE49-F238E27FC236}">
                <a16:creationId xmlns:a16="http://schemas.microsoft.com/office/drawing/2014/main" id="{E7E8EA5E-30AF-3324-4CAB-0A6BE86C226F}"/>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3982F73-763A-4F5D-B5E0-600F20585CDF}"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C64-87B5-45EC-8800-5548194A45B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FE92FF-1295-4BA5-A977-81DE887F0AD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E6A6F-73C6-492C-905C-B64F3B65C672}"/>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5671FBC-3207-4E50-B9F1-DD1979E2F494}"/>
              </a:ext>
            </a:extLst>
          </p:cNvPr>
          <p:cNvSpPr>
            <a:spLocks noGrp="1"/>
          </p:cNvSpPr>
          <p:nvPr>
            <p:ph type="sldNum" sz="quarter" idx="11"/>
          </p:nvPr>
        </p:nvSpPr>
        <p:spPr/>
        <p:txBody>
          <a:bodyPr/>
          <a:lstStyle>
            <a:lvl1pPr>
              <a:defRPr/>
            </a:lvl1pPr>
          </a:lstStyle>
          <a:p>
            <a:fld id="{9D35CD04-A742-40F5-98D2-34F7E88B02B3}" type="slidenum">
              <a:rPr lang="en-US" altLang="en-US"/>
              <a:pPr/>
              <a:t>‹#›</a:t>
            </a:fld>
            <a:endParaRPr lang="en-US" altLang="en-US"/>
          </a:p>
        </p:txBody>
      </p:sp>
      <p:sp>
        <p:nvSpPr>
          <p:cNvPr id="6" name="Footer Placeholder 5">
            <a:extLst>
              <a:ext uri="{FF2B5EF4-FFF2-40B4-BE49-F238E27FC236}">
                <a16:creationId xmlns:a16="http://schemas.microsoft.com/office/drawing/2014/main" id="{A7A7C7B7-A504-4385-931E-E47475FB082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59547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504D-3687-4D3F-BD72-A8FD7F870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4C72F4-A9B1-46AC-8AD0-C9233E83E9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80FD2-8DC5-42C9-A173-A533DAE9F8E1}"/>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C5BE66B-901B-4AC1-8E92-AF14AC0BAB04}"/>
              </a:ext>
            </a:extLst>
          </p:cNvPr>
          <p:cNvSpPr>
            <a:spLocks noGrp="1"/>
          </p:cNvSpPr>
          <p:nvPr>
            <p:ph type="sldNum" sz="quarter" idx="11"/>
          </p:nvPr>
        </p:nvSpPr>
        <p:spPr/>
        <p:txBody>
          <a:bodyPr/>
          <a:lstStyle>
            <a:lvl1pPr>
              <a:defRPr/>
            </a:lvl1pPr>
          </a:lstStyle>
          <a:p>
            <a:fld id="{96FF23BB-C5F3-4169-8CED-04304C0F4773}" type="slidenum">
              <a:rPr lang="en-US" altLang="en-US"/>
              <a:pPr/>
              <a:t>‹#›</a:t>
            </a:fld>
            <a:endParaRPr lang="en-US" altLang="en-US"/>
          </a:p>
        </p:txBody>
      </p:sp>
      <p:sp>
        <p:nvSpPr>
          <p:cNvPr id="6" name="Footer Placeholder 5">
            <a:extLst>
              <a:ext uri="{FF2B5EF4-FFF2-40B4-BE49-F238E27FC236}">
                <a16:creationId xmlns:a16="http://schemas.microsoft.com/office/drawing/2014/main" id="{E1999344-8481-450E-B425-D9551B2CE8B8}"/>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0034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CBCB4-6E38-43C4-9921-93103D6EF7E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D9420E-F4A8-4AC8-8EC2-E20C01C5154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E587E4B-A067-4E8D-94B3-2188D2AFE900}"/>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2CDA12D-0594-436B-9138-BA786B45C489}"/>
              </a:ext>
            </a:extLst>
          </p:cNvPr>
          <p:cNvSpPr>
            <a:spLocks noGrp="1"/>
          </p:cNvSpPr>
          <p:nvPr>
            <p:ph type="sldNum" sz="quarter" idx="11"/>
          </p:nvPr>
        </p:nvSpPr>
        <p:spPr/>
        <p:txBody>
          <a:bodyPr/>
          <a:lstStyle>
            <a:lvl1pPr>
              <a:defRPr/>
            </a:lvl1pPr>
          </a:lstStyle>
          <a:p>
            <a:fld id="{2BCD0480-CE55-448A-9631-3C72E4857BF0}" type="slidenum">
              <a:rPr lang="en-US" altLang="en-US"/>
              <a:pPr/>
              <a:t>‹#›</a:t>
            </a:fld>
            <a:endParaRPr lang="en-US" altLang="en-US"/>
          </a:p>
        </p:txBody>
      </p:sp>
      <p:sp>
        <p:nvSpPr>
          <p:cNvPr id="6" name="Footer Placeholder 5">
            <a:extLst>
              <a:ext uri="{FF2B5EF4-FFF2-40B4-BE49-F238E27FC236}">
                <a16:creationId xmlns:a16="http://schemas.microsoft.com/office/drawing/2014/main" id="{DBA85C44-2CC4-414E-9BDC-4AF25F21E784}"/>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8347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D3C4-CC81-4638-A376-84C3A078D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B33C26-F75C-4EEA-9E4D-5CCADB9FDD13}"/>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047126-E3AA-4217-892E-309FA9B3BD68}"/>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73B8D1-F43F-460D-A811-4271690909D9}"/>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7165C4-5CC5-465E-810F-DF15D187F6A8}"/>
              </a:ext>
            </a:extLst>
          </p:cNvPr>
          <p:cNvSpPr>
            <a:spLocks noGrp="1"/>
          </p:cNvSpPr>
          <p:nvPr>
            <p:ph type="sldNum" sz="quarter" idx="11"/>
          </p:nvPr>
        </p:nvSpPr>
        <p:spPr/>
        <p:txBody>
          <a:bodyPr/>
          <a:lstStyle>
            <a:lvl1pPr>
              <a:defRPr/>
            </a:lvl1pPr>
          </a:lstStyle>
          <a:p>
            <a:fld id="{D653B78E-F85F-4B51-9BC1-4A3D1BEFF767}" type="slidenum">
              <a:rPr lang="en-US" altLang="en-US"/>
              <a:pPr/>
              <a:t>‹#›</a:t>
            </a:fld>
            <a:endParaRPr lang="en-US" altLang="en-US"/>
          </a:p>
        </p:txBody>
      </p:sp>
      <p:sp>
        <p:nvSpPr>
          <p:cNvPr id="7" name="Footer Placeholder 6">
            <a:extLst>
              <a:ext uri="{FF2B5EF4-FFF2-40B4-BE49-F238E27FC236}">
                <a16:creationId xmlns:a16="http://schemas.microsoft.com/office/drawing/2014/main" id="{31309C2B-7732-4E0A-B57D-137789B049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23744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2BAD-72A2-41C1-8A78-E22CBB18F17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021D4D-53BC-4DBB-84EB-2AABC370EEC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BC23F-B304-4032-8807-88F6352AD2E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720129-D346-4195-8994-704EF8B1C5A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60DE5-02B6-406C-A96C-D6B744BAEE5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B4000-8200-4477-BBCB-081B7C51D078}"/>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04A8FDB-2B4C-4D41-8611-B98E270EA5BC}"/>
              </a:ext>
            </a:extLst>
          </p:cNvPr>
          <p:cNvSpPr>
            <a:spLocks noGrp="1"/>
          </p:cNvSpPr>
          <p:nvPr>
            <p:ph type="sldNum" sz="quarter" idx="11"/>
          </p:nvPr>
        </p:nvSpPr>
        <p:spPr/>
        <p:txBody>
          <a:bodyPr/>
          <a:lstStyle>
            <a:lvl1pPr>
              <a:defRPr/>
            </a:lvl1pPr>
          </a:lstStyle>
          <a:p>
            <a:fld id="{164D0588-9D7A-4D0C-82DB-AF434FCC7F49}" type="slidenum">
              <a:rPr lang="en-US" altLang="en-US"/>
              <a:pPr/>
              <a:t>‹#›</a:t>
            </a:fld>
            <a:endParaRPr lang="en-US" altLang="en-US"/>
          </a:p>
        </p:txBody>
      </p:sp>
      <p:sp>
        <p:nvSpPr>
          <p:cNvPr id="9" name="Footer Placeholder 8">
            <a:extLst>
              <a:ext uri="{FF2B5EF4-FFF2-40B4-BE49-F238E27FC236}">
                <a16:creationId xmlns:a16="http://schemas.microsoft.com/office/drawing/2014/main" id="{3042C709-772B-4C1B-B0E7-C17AAFEB9AB1}"/>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77758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732F-C397-4707-8D20-35C9DCE6C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32989-F540-4127-B8A1-25E42D01BE03}"/>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F821AD8-0D92-4FC9-917E-DEF1A5CDBD03}"/>
              </a:ext>
            </a:extLst>
          </p:cNvPr>
          <p:cNvSpPr>
            <a:spLocks noGrp="1"/>
          </p:cNvSpPr>
          <p:nvPr>
            <p:ph type="sldNum" sz="quarter" idx="11"/>
          </p:nvPr>
        </p:nvSpPr>
        <p:spPr/>
        <p:txBody>
          <a:bodyPr/>
          <a:lstStyle>
            <a:lvl1pPr>
              <a:defRPr/>
            </a:lvl1pPr>
          </a:lstStyle>
          <a:p>
            <a:fld id="{39C087E4-2C53-4EB3-9F91-7B3CAF6D90E9}" type="slidenum">
              <a:rPr lang="en-US" altLang="en-US"/>
              <a:pPr/>
              <a:t>‹#›</a:t>
            </a:fld>
            <a:endParaRPr lang="en-US" altLang="en-US"/>
          </a:p>
        </p:txBody>
      </p:sp>
      <p:sp>
        <p:nvSpPr>
          <p:cNvPr id="5" name="Footer Placeholder 4">
            <a:extLst>
              <a:ext uri="{FF2B5EF4-FFF2-40B4-BE49-F238E27FC236}">
                <a16:creationId xmlns:a16="http://schemas.microsoft.com/office/drawing/2014/main" id="{5646AEAE-6212-429A-B4E8-E14254BB95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2534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A3E29-640D-4CCB-801B-BC10F87BFA99}"/>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416B8C62-BD17-4994-A304-6E26695BA9E1}"/>
              </a:ext>
            </a:extLst>
          </p:cNvPr>
          <p:cNvSpPr>
            <a:spLocks noGrp="1"/>
          </p:cNvSpPr>
          <p:nvPr>
            <p:ph type="sldNum" sz="quarter" idx="11"/>
          </p:nvPr>
        </p:nvSpPr>
        <p:spPr/>
        <p:txBody>
          <a:bodyPr/>
          <a:lstStyle>
            <a:lvl1pPr>
              <a:defRPr/>
            </a:lvl1pPr>
          </a:lstStyle>
          <a:p>
            <a:fld id="{EBA53652-5EC9-4BFF-9B18-4AE23DEA856A}" type="slidenum">
              <a:rPr lang="en-US" altLang="en-US"/>
              <a:pPr/>
              <a:t>‹#›</a:t>
            </a:fld>
            <a:endParaRPr lang="en-US" altLang="en-US"/>
          </a:p>
        </p:txBody>
      </p:sp>
      <p:sp>
        <p:nvSpPr>
          <p:cNvPr id="4" name="Footer Placeholder 3">
            <a:extLst>
              <a:ext uri="{FF2B5EF4-FFF2-40B4-BE49-F238E27FC236}">
                <a16:creationId xmlns:a16="http://schemas.microsoft.com/office/drawing/2014/main" id="{CA865639-4179-47AB-9E5F-14D208106A1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68103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007D-5F73-40AD-9281-ED3ACC8611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105D1-AA8E-4AF6-8AA9-7233901DE18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D1596-D40F-45F5-B922-EC891F1C96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3C964-FD6F-4266-8C64-98572671D4BF}"/>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804783-D625-489D-956A-5709A8130A8B}"/>
              </a:ext>
            </a:extLst>
          </p:cNvPr>
          <p:cNvSpPr>
            <a:spLocks noGrp="1"/>
          </p:cNvSpPr>
          <p:nvPr>
            <p:ph type="sldNum" sz="quarter" idx="11"/>
          </p:nvPr>
        </p:nvSpPr>
        <p:spPr/>
        <p:txBody>
          <a:bodyPr/>
          <a:lstStyle>
            <a:lvl1pPr>
              <a:defRPr/>
            </a:lvl1pPr>
          </a:lstStyle>
          <a:p>
            <a:fld id="{A3BD152A-AB58-4CFA-963E-D8F8104849B6}" type="slidenum">
              <a:rPr lang="en-US" altLang="en-US"/>
              <a:pPr/>
              <a:t>‹#›</a:t>
            </a:fld>
            <a:endParaRPr lang="en-US" altLang="en-US"/>
          </a:p>
        </p:txBody>
      </p:sp>
      <p:sp>
        <p:nvSpPr>
          <p:cNvPr id="7" name="Footer Placeholder 6">
            <a:extLst>
              <a:ext uri="{FF2B5EF4-FFF2-40B4-BE49-F238E27FC236}">
                <a16:creationId xmlns:a16="http://schemas.microsoft.com/office/drawing/2014/main" id="{28B06BFB-38CD-4ED1-A45D-3DC1A81AA6C0}"/>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135760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0510-4C13-4B69-A1FA-0EBB0702DB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ABC7F2-1E1A-4422-B5AC-284289062AD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80E81C-0E79-46F3-A0BB-472DC38E027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B7246-8994-4E2E-B358-C5130E696EE7}"/>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75F288-4A3D-46E0-93BB-BF384D611096}"/>
              </a:ext>
            </a:extLst>
          </p:cNvPr>
          <p:cNvSpPr>
            <a:spLocks noGrp="1"/>
          </p:cNvSpPr>
          <p:nvPr>
            <p:ph type="sldNum" sz="quarter" idx="11"/>
          </p:nvPr>
        </p:nvSpPr>
        <p:spPr/>
        <p:txBody>
          <a:bodyPr/>
          <a:lstStyle>
            <a:lvl1pPr>
              <a:defRPr/>
            </a:lvl1pPr>
          </a:lstStyle>
          <a:p>
            <a:fld id="{0206F42B-5442-4398-A9F4-6CA010D0CF6D}" type="slidenum">
              <a:rPr lang="en-US" altLang="en-US"/>
              <a:pPr/>
              <a:t>‹#›</a:t>
            </a:fld>
            <a:endParaRPr lang="en-US" altLang="en-US"/>
          </a:p>
        </p:txBody>
      </p:sp>
      <p:sp>
        <p:nvSpPr>
          <p:cNvPr id="7" name="Footer Placeholder 6">
            <a:extLst>
              <a:ext uri="{FF2B5EF4-FFF2-40B4-BE49-F238E27FC236}">
                <a16:creationId xmlns:a16="http://schemas.microsoft.com/office/drawing/2014/main" id="{9E5BC27E-D61D-4884-B06B-8CA66193A77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89614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D4472-EC5C-477A-93B1-022E4528A5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681608-C4E0-48A4-93F1-37AA99DE5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9BAFD-B394-46DF-907A-3FF17287854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E214554-B930-485A-98C8-ADC8713528EE}"/>
              </a:ext>
            </a:extLst>
          </p:cNvPr>
          <p:cNvSpPr>
            <a:spLocks noGrp="1"/>
          </p:cNvSpPr>
          <p:nvPr>
            <p:ph type="sldNum" sz="quarter" idx="11"/>
          </p:nvPr>
        </p:nvSpPr>
        <p:spPr/>
        <p:txBody>
          <a:bodyPr/>
          <a:lstStyle>
            <a:lvl1pPr>
              <a:defRPr/>
            </a:lvl1pPr>
          </a:lstStyle>
          <a:p>
            <a:fld id="{2BE15174-5903-4E96-831C-4B01590BD952}" type="slidenum">
              <a:rPr lang="en-US" altLang="en-US"/>
              <a:pPr/>
              <a:t>‹#›</a:t>
            </a:fld>
            <a:endParaRPr lang="en-US" altLang="en-US"/>
          </a:p>
        </p:txBody>
      </p:sp>
      <p:sp>
        <p:nvSpPr>
          <p:cNvPr id="6" name="Footer Placeholder 5">
            <a:extLst>
              <a:ext uri="{FF2B5EF4-FFF2-40B4-BE49-F238E27FC236}">
                <a16:creationId xmlns:a16="http://schemas.microsoft.com/office/drawing/2014/main" id="{13B5DC8C-6EF6-4CBF-8968-547E25CE0549}"/>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70109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F299F-E3B3-4D88-8493-3F9217538306}"/>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4B9A3-D4CB-45BE-BCF4-574E4EF68AB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C499A-13AD-43F3-80CE-5B6D5217811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46E4931-7244-4A55-943A-F1F4B7E93263}"/>
              </a:ext>
            </a:extLst>
          </p:cNvPr>
          <p:cNvSpPr>
            <a:spLocks noGrp="1"/>
          </p:cNvSpPr>
          <p:nvPr>
            <p:ph type="sldNum" sz="quarter" idx="11"/>
          </p:nvPr>
        </p:nvSpPr>
        <p:spPr/>
        <p:txBody>
          <a:bodyPr/>
          <a:lstStyle>
            <a:lvl1pPr>
              <a:defRPr/>
            </a:lvl1pPr>
          </a:lstStyle>
          <a:p>
            <a:fld id="{CC9BCF1D-322C-4F09-87F4-20B4B3BF905E}" type="slidenum">
              <a:rPr lang="en-US" altLang="en-US"/>
              <a:pPr/>
              <a:t>‹#›</a:t>
            </a:fld>
            <a:endParaRPr lang="en-US" altLang="en-US"/>
          </a:p>
        </p:txBody>
      </p:sp>
      <p:sp>
        <p:nvSpPr>
          <p:cNvPr id="6" name="Footer Placeholder 5">
            <a:extLst>
              <a:ext uri="{FF2B5EF4-FFF2-40B4-BE49-F238E27FC236}">
                <a16:creationId xmlns:a16="http://schemas.microsoft.com/office/drawing/2014/main" id="{D8D2D200-6BEE-4CEC-821E-8E6499C7C187}"/>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3897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3ED98D48-FA85-41FE-B471-F406F1568E18}" type="slidenum">
              <a:rPr lang="en-US" altLang="en-US"/>
              <a:pPr>
                <a:defRPr/>
              </a:pPr>
              <a:t>‹#›</a:t>
            </a:fld>
            <a:endParaRPr lang="en-US" alt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38756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9394" name="Line 2">
            <a:extLst>
              <a:ext uri="{FF2B5EF4-FFF2-40B4-BE49-F238E27FC236}">
                <a16:creationId xmlns:a16="http://schemas.microsoft.com/office/drawing/2014/main" id="{656DC304-DF9A-0EF7-97CD-E68DE528A86E}"/>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5" name="Rectangle 3">
            <a:extLst>
              <a:ext uri="{FF2B5EF4-FFF2-40B4-BE49-F238E27FC236}">
                <a16:creationId xmlns:a16="http://schemas.microsoft.com/office/drawing/2014/main" id="{B59623A5-36B2-4A31-CB71-CAD1F62FE866}"/>
              </a:ext>
            </a:extLst>
          </p:cNvPr>
          <p:cNvSpPr>
            <a:spLocks noGrp="1" noChangeArrowheads="1"/>
          </p:cNvSpPr>
          <p:nvPr>
            <p:ph type="ctrTitle"/>
          </p:nvPr>
        </p:nvSpPr>
        <p:spPr>
          <a:xfrm>
            <a:off x="315913" y="466725"/>
            <a:ext cx="6781800" cy="2133600"/>
          </a:xfrm>
        </p:spPr>
        <p:txBody>
          <a:bodyPr/>
          <a:lstStyle>
            <a:lvl1pPr algn="r">
              <a:defRPr sz="4800"/>
            </a:lvl1pPr>
          </a:lstStyle>
          <a:p>
            <a:pPr lvl="0"/>
            <a:r>
              <a:rPr lang="en-US" altLang="en-US" noProof="0"/>
              <a:t>Click to edit Master title style</a:t>
            </a:r>
          </a:p>
        </p:txBody>
      </p:sp>
      <p:sp>
        <p:nvSpPr>
          <p:cNvPr id="59396" name="Rectangle 4">
            <a:extLst>
              <a:ext uri="{FF2B5EF4-FFF2-40B4-BE49-F238E27FC236}">
                <a16:creationId xmlns:a16="http://schemas.microsoft.com/office/drawing/2014/main" id="{77312783-7C9F-FF94-1947-B30A6DFD396C}"/>
              </a:ext>
            </a:extLst>
          </p:cNvPr>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en-US" altLang="en-US" noProof="0"/>
              <a:t>Click to edit Master subtitle style</a:t>
            </a:r>
          </a:p>
        </p:txBody>
      </p:sp>
      <p:sp>
        <p:nvSpPr>
          <p:cNvPr id="59397" name="Rectangle 5">
            <a:extLst>
              <a:ext uri="{FF2B5EF4-FFF2-40B4-BE49-F238E27FC236}">
                <a16:creationId xmlns:a16="http://schemas.microsoft.com/office/drawing/2014/main" id="{DFE52B85-4160-7148-7E4A-998B1BEA7E60}"/>
              </a:ext>
            </a:extLst>
          </p:cNvPr>
          <p:cNvSpPr>
            <a:spLocks noGrp="1" noChangeArrowheads="1"/>
          </p:cNvSpPr>
          <p:nvPr>
            <p:ph type="dt" sz="half" idx="2"/>
          </p:nvPr>
        </p:nvSpPr>
        <p:spPr/>
        <p:txBody>
          <a:bodyPr/>
          <a:lstStyle>
            <a:lvl1pPr>
              <a:defRPr/>
            </a:lvl1pPr>
          </a:lstStyle>
          <a:p>
            <a:r>
              <a:rPr lang="en-US" altLang="en-US"/>
              <a:t>Aug 7, 2007</a:t>
            </a:r>
          </a:p>
        </p:txBody>
      </p:sp>
      <p:sp>
        <p:nvSpPr>
          <p:cNvPr id="59398" name="Rectangle 6">
            <a:extLst>
              <a:ext uri="{FF2B5EF4-FFF2-40B4-BE49-F238E27FC236}">
                <a16:creationId xmlns:a16="http://schemas.microsoft.com/office/drawing/2014/main" id="{F0D5CCCC-E82A-F8D1-EAE1-7AC185395EE2}"/>
              </a:ext>
            </a:extLst>
          </p:cNvPr>
          <p:cNvSpPr>
            <a:spLocks noGrp="1" noChangeArrowheads="1"/>
          </p:cNvSpPr>
          <p:nvPr>
            <p:ph type="ftr" sz="quarter" idx="3"/>
          </p:nvPr>
        </p:nvSpPr>
        <p:spPr/>
        <p:txBody>
          <a:bodyPr/>
          <a:lstStyle>
            <a:lvl1pPr>
              <a:defRPr/>
            </a:lvl1pPr>
          </a:lstStyle>
          <a:p>
            <a:endParaRPr lang="en-US" altLang="en-US"/>
          </a:p>
        </p:txBody>
      </p:sp>
      <p:sp>
        <p:nvSpPr>
          <p:cNvPr id="59399" name="Rectangle 7">
            <a:extLst>
              <a:ext uri="{FF2B5EF4-FFF2-40B4-BE49-F238E27FC236}">
                <a16:creationId xmlns:a16="http://schemas.microsoft.com/office/drawing/2014/main" id="{11BCC44C-B6D3-5094-3BE9-347C5D82BDAC}"/>
              </a:ext>
            </a:extLst>
          </p:cNvPr>
          <p:cNvSpPr>
            <a:spLocks noGrp="1" noChangeArrowheads="1"/>
          </p:cNvSpPr>
          <p:nvPr>
            <p:ph type="sldNum" sz="quarter" idx="4"/>
          </p:nvPr>
        </p:nvSpPr>
        <p:spPr/>
        <p:txBody>
          <a:bodyPr/>
          <a:lstStyle>
            <a:lvl1pPr>
              <a:defRPr/>
            </a:lvl1pPr>
          </a:lstStyle>
          <a:p>
            <a:fld id="{F17A7B09-6FC1-4932-AAFD-195D203AC35A}" type="slidenum">
              <a:rPr lang="en-US" altLang="en-US"/>
              <a:pPr/>
              <a:t>‹#›</a:t>
            </a:fld>
            <a:endParaRPr lang="en-US" altLang="en-US"/>
          </a:p>
        </p:txBody>
      </p:sp>
      <p:grpSp>
        <p:nvGrpSpPr>
          <p:cNvPr id="59400" name="Group 8">
            <a:extLst>
              <a:ext uri="{FF2B5EF4-FFF2-40B4-BE49-F238E27FC236}">
                <a16:creationId xmlns:a16="http://schemas.microsoft.com/office/drawing/2014/main" id="{5E952E29-E206-B288-8886-7CE3E05AD32D}"/>
              </a:ext>
            </a:extLst>
          </p:cNvPr>
          <p:cNvGrpSpPr>
            <a:grpSpLocks/>
          </p:cNvGrpSpPr>
          <p:nvPr/>
        </p:nvGrpSpPr>
        <p:grpSpPr bwMode="auto">
          <a:xfrm>
            <a:off x="7493000" y="2992438"/>
            <a:ext cx="1338263" cy="2189162"/>
            <a:chOff x="4704" y="1885"/>
            <a:chExt cx="843" cy="1379"/>
          </a:xfrm>
        </p:grpSpPr>
        <p:sp>
          <p:nvSpPr>
            <p:cNvPr id="59401" name="Oval 9">
              <a:extLst>
                <a:ext uri="{FF2B5EF4-FFF2-40B4-BE49-F238E27FC236}">
                  <a16:creationId xmlns:a16="http://schemas.microsoft.com/office/drawing/2014/main" id="{B8E5B171-4053-D149-6D94-2EF92174CE4B}"/>
                </a:ext>
              </a:extLst>
            </p:cNvPr>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2" name="Oval 10">
              <a:extLst>
                <a:ext uri="{FF2B5EF4-FFF2-40B4-BE49-F238E27FC236}">
                  <a16:creationId xmlns:a16="http://schemas.microsoft.com/office/drawing/2014/main" id="{2BD473F6-D22D-3600-B760-E7D89A0598D4}"/>
                </a:ext>
              </a:extLst>
            </p:cNvPr>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3" name="Oval 11">
              <a:extLst>
                <a:ext uri="{FF2B5EF4-FFF2-40B4-BE49-F238E27FC236}">
                  <a16:creationId xmlns:a16="http://schemas.microsoft.com/office/drawing/2014/main" id="{4231F0CD-DC84-0F1E-104E-57DF61AE13FA}"/>
                </a:ext>
              </a:extLst>
            </p:cNvPr>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4" name="Oval 12">
              <a:extLst>
                <a:ext uri="{FF2B5EF4-FFF2-40B4-BE49-F238E27FC236}">
                  <a16:creationId xmlns:a16="http://schemas.microsoft.com/office/drawing/2014/main" id="{6DC81A42-34ED-B76A-5D6A-6F48C54DBBFB}"/>
                </a:ext>
              </a:extLst>
            </p:cNvPr>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5" name="Oval 13">
              <a:extLst>
                <a:ext uri="{FF2B5EF4-FFF2-40B4-BE49-F238E27FC236}">
                  <a16:creationId xmlns:a16="http://schemas.microsoft.com/office/drawing/2014/main" id="{2A6C85AB-8159-9362-1F02-E763CF5921EE}"/>
                </a:ext>
              </a:extLst>
            </p:cNvPr>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6" name="Oval 14">
              <a:extLst>
                <a:ext uri="{FF2B5EF4-FFF2-40B4-BE49-F238E27FC236}">
                  <a16:creationId xmlns:a16="http://schemas.microsoft.com/office/drawing/2014/main" id="{22551E74-4164-B9B3-09E5-879420C3AA49}"/>
                </a:ext>
              </a:extLst>
            </p:cNvPr>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7" name="Oval 15">
              <a:extLst>
                <a:ext uri="{FF2B5EF4-FFF2-40B4-BE49-F238E27FC236}">
                  <a16:creationId xmlns:a16="http://schemas.microsoft.com/office/drawing/2014/main" id="{940AAC98-6B9C-EB05-3B5A-1401910B84BE}"/>
                </a:ext>
              </a:extLst>
            </p:cNvPr>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8" name="Oval 16">
              <a:extLst>
                <a:ext uri="{FF2B5EF4-FFF2-40B4-BE49-F238E27FC236}">
                  <a16:creationId xmlns:a16="http://schemas.microsoft.com/office/drawing/2014/main" id="{00A4DD2B-8E2A-7AE2-5E75-CC8DD0D4270C}"/>
                </a:ext>
              </a:extLst>
            </p:cNvPr>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9" name="Oval 17">
              <a:extLst>
                <a:ext uri="{FF2B5EF4-FFF2-40B4-BE49-F238E27FC236}">
                  <a16:creationId xmlns:a16="http://schemas.microsoft.com/office/drawing/2014/main" id="{1A5BD715-4733-1A8B-979A-042ABDBF153F}"/>
                </a:ext>
              </a:extLst>
            </p:cNvPr>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Oval 18">
              <a:extLst>
                <a:ext uri="{FF2B5EF4-FFF2-40B4-BE49-F238E27FC236}">
                  <a16:creationId xmlns:a16="http://schemas.microsoft.com/office/drawing/2014/main" id="{C1C310D9-3760-8BC3-9CCB-93D90548FA99}"/>
                </a:ext>
              </a:extLst>
            </p:cNvPr>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1" name="Oval 19">
              <a:extLst>
                <a:ext uri="{FF2B5EF4-FFF2-40B4-BE49-F238E27FC236}">
                  <a16:creationId xmlns:a16="http://schemas.microsoft.com/office/drawing/2014/main" id="{50A75D0E-55A1-1A4C-508C-3600BADD7F6B}"/>
                </a:ext>
              </a:extLst>
            </p:cNvPr>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2" name="Oval 20">
              <a:extLst>
                <a:ext uri="{FF2B5EF4-FFF2-40B4-BE49-F238E27FC236}">
                  <a16:creationId xmlns:a16="http://schemas.microsoft.com/office/drawing/2014/main" id="{50C78519-0209-045D-B523-962116065EF5}"/>
                </a:ext>
              </a:extLst>
            </p:cNvPr>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3" name="Oval 21">
              <a:extLst>
                <a:ext uri="{FF2B5EF4-FFF2-40B4-BE49-F238E27FC236}">
                  <a16:creationId xmlns:a16="http://schemas.microsoft.com/office/drawing/2014/main" id="{30BD7491-CDAF-30E8-9865-8EF3F89F348D}"/>
                </a:ext>
              </a:extLst>
            </p:cNvPr>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4" name="Oval 22">
              <a:extLst>
                <a:ext uri="{FF2B5EF4-FFF2-40B4-BE49-F238E27FC236}">
                  <a16:creationId xmlns:a16="http://schemas.microsoft.com/office/drawing/2014/main" id="{7E7A60E5-B206-C964-E96B-7581B44EF787}"/>
                </a:ext>
              </a:extLst>
            </p:cNvPr>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5" name="Oval 23">
              <a:extLst>
                <a:ext uri="{FF2B5EF4-FFF2-40B4-BE49-F238E27FC236}">
                  <a16:creationId xmlns:a16="http://schemas.microsoft.com/office/drawing/2014/main" id="{7ED2F2BF-D60B-064F-D9D3-8EC0643B3089}"/>
                </a:ext>
              </a:extLst>
            </p:cNvPr>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6" name="Oval 24">
              <a:extLst>
                <a:ext uri="{FF2B5EF4-FFF2-40B4-BE49-F238E27FC236}">
                  <a16:creationId xmlns:a16="http://schemas.microsoft.com/office/drawing/2014/main" id="{78C53853-D3E9-1462-559A-D5910AEAF2F1}"/>
                </a:ext>
              </a:extLst>
            </p:cNvPr>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7" name="Oval 25">
              <a:extLst>
                <a:ext uri="{FF2B5EF4-FFF2-40B4-BE49-F238E27FC236}">
                  <a16:creationId xmlns:a16="http://schemas.microsoft.com/office/drawing/2014/main" id="{A3CE0A23-80D8-F6BD-3790-8BFA6A7D0F18}"/>
                </a:ext>
              </a:extLst>
            </p:cNvPr>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8" name="Oval 26">
              <a:extLst>
                <a:ext uri="{FF2B5EF4-FFF2-40B4-BE49-F238E27FC236}">
                  <a16:creationId xmlns:a16="http://schemas.microsoft.com/office/drawing/2014/main" id="{6D1EF63A-E656-3910-A7C8-ADA4973C7C4B}"/>
                </a:ext>
              </a:extLst>
            </p:cNvPr>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9" name="Oval 27">
              <a:extLst>
                <a:ext uri="{FF2B5EF4-FFF2-40B4-BE49-F238E27FC236}">
                  <a16:creationId xmlns:a16="http://schemas.microsoft.com/office/drawing/2014/main" id="{D0586E0B-5B8C-3A6D-9E4B-AF8868EF38FD}"/>
                </a:ext>
              </a:extLst>
            </p:cNvPr>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0" name="Oval 28">
              <a:extLst>
                <a:ext uri="{FF2B5EF4-FFF2-40B4-BE49-F238E27FC236}">
                  <a16:creationId xmlns:a16="http://schemas.microsoft.com/office/drawing/2014/main" id="{36B08327-F4AD-F659-7550-F094F6924286}"/>
                </a:ext>
              </a:extLst>
            </p:cNvPr>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1" name="Oval 29">
              <a:extLst>
                <a:ext uri="{FF2B5EF4-FFF2-40B4-BE49-F238E27FC236}">
                  <a16:creationId xmlns:a16="http://schemas.microsoft.com/office/drawing/2014/main" id="{14595BB6-9AB5-1350-E5A2-9567448473D5}"/>
                </a:ext>
              </a:extLst>
            </p:cNvPr>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2" name="Oval 30">
              <a:extLst>
                <a:ext uri="{FF2B5EF4-FFF2-40B4-BE49-F238E27FC236}">
                  <a16:creationId xmlns:a16="http://schemas.microsoft.com/office/drawing/2014/main" id="{6582FF1D-B50A-742C-615B-890E2448C76E}"/>
                </a:ext>
              </a:extLst>
            </p:cNvPr>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3" name="Oval 31">
              <a:extLst>
                <a:ext uri="{FF2B5EF4-FFF2-40B4-BE49-F238E27FC236}">
                  <a16:creationId xmlns:a16="http://schemas.microsoft.com/office/drawing/2014/main" id="{46A7B779-504D-D727-9ACF-BCF6403369A0}"/>
                </a:ext>
              </a:extLst>
            </p:cNvPr>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4" name="Oval 32">
              <a:extLst>
                <a:ext uri="{FF2B5EF4-FFF2-40B4-BE49-F238E27FC236}">
                  <a16:creationId xmlns:a16="http://schemas.microsoft.com/office/drawing/2014/main" id="{AE1637A2-8AB2-98B1-E865-19DC1AFA6ECB}"/>
                </a:ext>
              </a:extLst>
            </p:cNvPr>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5" name="Oval 33">
              <a:extLst>
                <a:ext uri="{FF2B5EF4-FFF2-40B4-BE49-F238E27FC236}">
                  <a16:creationId xmlns:a16="http://schemas.microsoft.com/office/drawing/2014/main" id="{AC942C54-B773-1618-5FE7-914E2E0CAE8F}"/>
                </a:ext>
              </a:extLst>
            </p:cNvPr>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6" name="Oval 34">
              <a:extLst>
                <a:ext uri="{FF2B5EF4-FFF2-40B4-BE49-F238E27FC236}">
                  <a16:creationId xmlns:a16="http://schemas.microsoft.com/office/drawing/2014/main" id="{9F26B5B1-8829-5A91-B897-8884484307AF}"/>
                </a:ext>
              </a:extLst>
            </p:cNvPr>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7" name="Oval 35">
              <a:extLst>
                <a:ext uri="{FF2B5EF4-FFF2-40B4-BE49-F238E27FC236}">
                  <a16:creationId xmlns:a16="http://schemas.microsoft.com/office/drawing/2014/main" id="{AE98DA39-FAE1-C175-3196-FE8C191C8581}"/>
                </a:ext>
              </a:extLst>
            </p:cNvPr>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8" name="Oval 36">
              <a:extLst>
                <a:ext uri="{FF2B5EF4-FFF2-40B4-BE49-F238E27FC236}">
                  <a16:creationId xmlns:a16="http://schemas.microsoft.com/office/drawing/2014/main" id="{96CD6B5F-2582-FB50-AA3A-3D0BAB6D74BB}"/>
                </a:ext>
              </a:extLst>
            </p:cNvPr>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29" name="Oval 37">
              <a:extLst>
                <a:ext uri="{FF2B5EF4-FFF2-40B4-BE49-F238E27FC236}">
                  <a16:creationId xmlns:a16="http://schemas.microsoft.com/office/drawing/2014/main" id="{FD5C6C41-BA10-1C69-60B0-379BDD698FAD}"/>
                </a:ext>
              </a:extLst>
            </p:cNvPr>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0" name="Oval 38">
              <a:extLst>
                <a:ext uri="{FF2B5EF4-FFF2-40B4-BE49-F238E27FC236}">
                  <a16:creationId xmlns:a16="http://schemas.microsoft.com/office/drawing/2014/main" id="{DDCF3646-E922-E929-421B-E505B44F742A}"/>
                </a:ext>
              </a:extLst>
            </p:cNvPr>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31" name="Oval 39">
              <a:extLst>
                <a:ext uri="{FF2B5EF4-FFF2-40B4-BE49-F238E27FC236}">
                  <a16:creationId xmlns:a16="http://schemas.microsoft.com/office/drawing/2014/main" id="{49269746-A2D0-1CB4-41E0-4518EFD55C3E}"/>
                </a:ext>
              </a:extLst>
            </p:cNvPr>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9432" name="Line 40">
            <a:extLst>
              <a:ext uri="{FF2B5EF4-FFF2-40B4-BE49-F238E27FC236}">
                <a16:creationId xmlns:a16="http://schemas.microsoft.com/office/drawing/2014/main" id="{36B5B704-8AE8-67DB-A9AF-A888BACAD650}"/>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788481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52EC-009E-53B1-1003-A30BF63459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7599C7-48D2-B769-A57E-B354BDE2F6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1A9B6-761B-AF33-2076-7883EAC0E32E}"/>
              </a:ext>
            </a:extLst>
          </p:cNvPr>
          <p:cNvSpPr>
            <a:spLocks noGrp="1"/>
          </p:cNvSpPr>
          <p:nvPr>
            <p:ph type="dt" sz="half" idx="10"/>
          </p:nvPr>
        </p:nvSpPr>
        <p:spPr/>
        <p:txBody>
          <a:bodyPr/>
          <a:lstStyle>
            <a:lvl1pPr>
              <a:defRPr/>
            </a:lvl1pPr>
          </a:lstStyle>
          <a:p>
            <a:r>
              <a:rPr lang="en-US" altLang="en-US"/>
              <a:t>Aug 7, 2007</a:t>
            </a:r>
          </a:p>
        </p:txBody>
      </p:sp>
      <p:sp>
        <p:nvSpPr>
          <p:cNvPr id="5" name="Footer Placeholder 4">
            <a:extLst>
              <a:ext uri="{FF2B5EF4-FFF2-40B4-BE49-F238E27FC236}">
                <a16:creationId xmlns:a16="http://schemas.microsoft.com/office/drawing/2014/main" id="{A9D8A653-FA83-0C1C-861D-4E622F466C5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EC2D0F8-435D-D83F-6B97-E2358245D6E0}"/>
              </a:ext>
            </a:extLst>
          </p:cNvPr>
          <p:cNvSpPr>
            <a:spLocks noGrp="1"/>
          </p:cNvSpPr>
          <p:nvPr>
            <p:ph type="sldNum" sz="quarter" idx="12"/>
          </p:nvPr>
        </p:nvSpPr>
        <p:spPr/>
        <p:txBody>
          <a:bodyPr/>
          <a:lstStyle>
            <a:lvl1pPr>
              <a:defRPr/>
            </a:lvl1pPr>
          </a:lstStyle>
          <a:p>
            <a:fld id="{252B0F0A-737B-4802-80A3-15CC842D13DB}" type="slidenum">
              <a:rPr lang="en-US" altLang="en-US"/>
              <a:pPr/>
              <a:t>‹#›</a:t>
            </a:fld>
            <a:endParaRPr lang="en-US" altLang="en-US"/>
          </a:p>
        </p:txBody>
      </p:sp>
    </p:spTree>
    <p:extLst>
      <p:ext uri="{BB962C8B-B14F-4D97-AF65-F5344CB8AC3E}">
        <p14:creationId xmlns:p14="http://schemas.microsoft.com/office/powerpoint/2010/main" val="3698562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2E6AB-27ED-FBAF-B0A5-A946A95B3C62}"/>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718652-504C-5EE1-BB46-CF0870B0B00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3B3F91A-3E9D-21C4-9C2C-DED59AF55A6E}"/>
              </a:ext>
            </a:extLst>
          </p:cNvPr>
          <p:cNvSpPr>
            <a:spLocks noGrp="1"/>
          </p:cNvSpPr>
          <p:nvPr>
            <p:ph type="dt" sz="half" idx="10"/>
          </p:nvPr>
        </p:nvSpPr>
        <p:spPr/>
        <p:txBody>
          <a:bodyPr/>
          <a:lstStyle>
            <a:lvl1pPr>
              <a:defRPr/>
            </a:lvl1pPr>
          </a:lstStyle>
          <a:p>
            <a:r>
              <a:rPr lang="en-US" altLang="en-US"/>
              <a:t>Aug 7, 2007</a:t>
            </a:r>
          </a:p>
        </p:txBody>
      </p:sp>
      <p:sp>
        <p:nvSpPr>
          <p:cNvPr id="5" name="Footer Placeholder 4">
            <a:extLst>
              <a:ext uri="{FF2B5EF4-FFF2-40B4-BE49-F238E27FC236}">
                <a16:creationId xmlns:a16="http://schemas.microsoft.com/office/drawing/2014/main" id="{80E43F9F-EAB8-4129-D1F6-0CFD61D588F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3AAD102-7A46-24EA-6B1F-33BFF6BEA54D}"/>
              </a:ext>
            </a:extLst>
          </p:cNvPr>
          <p:cNvSpPr>
            <a:spLocks noGrp="1"/>
          </p:cNvSpPr>
          <p:nvPr>
            <p:ph type="sldNum" sz="quarter" idx="12"/>
          </p:nvPr>
        </p:nvSpPr>
        <p:spPr/>
        <p:txBody>
          <a:bodyPr/>
          <a:lstStyle>
            <a:lvl1pPr>
              <a:defRPr/>
            </a:lvl1pPr>
          </a:lstStyle>
          <a:p>
            <a:fld id="{64883696-2D56-4019-ADA6-FA50F1744806}" type="slidenum">
              <a:rPr lang="en-US" altLang="en-US"/>
              <a:pPr/>
              <a:t>‹#›</a:t>
            </a:fld>
            <a:endParaRPr lang="en-US" altLang="en-US"/>
          </a:p>
        </p:txBody>
      </p:sp>
    </p:spTree>
    <p:extLst>
      <p:ext uri="{BB962C8B-B14F-4D97-AF65-F5344CB8AC3E}">
        <p14:creationId xmlns:p14="http://schemas.microsoft.com/office/powerpoint/2010/main" val="3582148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D9A25-B4CF-A91E-80E7-EE9F1400CA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7907E2-9DFD-6D8D-732E-2F2487AC3292}"/>
              </a:ext>
            </a:extLst>
          </p:cNvPr>
          <p:cNvSpPr>
            <a:spLocks noGrp="1"/>
          </p:cNvSpPr>
          <p:nvPr>
            <p:ph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365F40-5DE9-E08B-0E8C-755F7A48FD02}"/>
              </a:ext>
            </a:extLst>
          </p:cNvPr>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5C471-56EA-B2F8-298B-FFBD18B30E03}"/>
              </a:ext>
            </a:extLst>
          </p:cNvPr>
          <p:cNvSpPr>
            <a:spLocks noGrp="1"/>
          </p:cNvSpPr>
          <p:nvPr>
            <p:ph type="dt" sz="half" idx="10"/>
          </p:nvPr>
        </p:nvSpPr>
        <p:spPr/>
        <p:txBody>
          <a:bodyPr/>
          <a:lstStyle>
            <a:lvl1pPr>
              <a:defRPr/>
            </a:lvl1pPr>
          </a:lstStyle>
          <a:p>
            <a:r>
              <a:rPr lang="en-US" altLang="en-US"/>
              <a:t>Aug 7, 2007</a:t>
            </a:r>
          </a:p>
        </p:txBody>
      </p:sp>
      <p:sp>
        <p:nvSpPr>
          <p:cNvPr id="6" name="Footer Placeholder 5">
            <a:extLst>
              <a:ext uri="{FF2B5EF4-FFF2-40B4-BE49-F238E27FC236}">
                <a16:creationId xmlns:a16="http://schemas.microsoft.com/office/drawing/2014/main" id="{B65ED37E-BBB1-B554-8298-520BBB1C7336}"/>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FDC5C71-5B3B-CEDF-EEC2-997E5083526F}"/>
              </a:ext>
            </a:extLst>
          </p:cNvPr>
          <p:cNvSpPr>
            <a:spLocks noGrp="1"/>
          </p:cNvSpPr>
          <p:nvPr>
            <p:ph type="sldNum" sz="quarter" idx="12"/>
          </p:nvPr>
        </p:nvSpPr>
        <p:spPr/>
        <p:txBody>
          <a:bodyPr/>
          <a:lstStyle>
            <a:lvl1pPr>
              <a:defRPr/>
            </a:lvl1pPr>
          </a:lstStyle>
          <a:p>
            <a:fld id="{518DC374-E79A-4E5B-B05C-6B45B7C4C05F}" type="slidenum">
              <a:rPr lang="en-US" altLang="en-US"/>
              <a:pPr/>
              <a:t>‹#›</a:t>
            </a:fld>
            <a:endParaRPr lang="en-US" altLang="en-US"/>
          </a:p>
        </p:txBody>
      </p:sp>
    </p:spTree>
    <p:extLst>
      <p:ext uri="{BB962C8B-B14F-4D97-AF65-F5344CB8AC3E}">
        <p14:creationId xmlns:p14="http://schemas.microsoft.com/office/powerpoint/2010/main" val="2678650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BBD8D-0151-D01A-F8FA-ECD6081FC2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A827FE-D3F0-8DE0-4C72-9BC6DE426C9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342A4C-5012-035D-F7D3-DF8A7E087CF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F7406D-E7FD-6544-F3AC-FBCE5E11438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C6A4F-7A7B-D0DF-B569-E75DE823F03C}"/>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12F2A4-1C2E-3809-731D-DD1225C09745}"/>
              </a:ext>
            </a:extLst>
          </p:cNvPr>
          <p:cNvSpPr>
            <a:spLocks noGrp="1"/>
          </p:cNvSpPr>
          <p:nvPr>
            <p:ph type="dt" sz="half" idx="10"/>
          </p:nvPr>
        </p:nvSpPr>
        <p:spPr/>
        <p:txBody>
          <a:bodyPr/>
          <a:lstStyle>
            <a:lvl1pPr>
              <a:defRPr/>
            </a:lvl1pPr>
          </a:lstStyle>
          <a:p>
            <a:r>
              <a:rPr lang="en-US" altLang="en-US"/>
              <a:t>Aug 7, 2007</a:t>
            </a:r>
          </a:p>
        </p:txBody>
      </p:sp>
      <p:sp>
        <p:nvSpPr>
          <p:cNvPr id="8" name="Footer Placeholder 7">
            <a:extLst>
              <a:ext uri="{FF2B5EF4-FFF2-40B4-BE49-F238E27FC236}">
                <a16:creationId xmlns:a16="http://schemas.microsoft.com/office/drawing/2014/main" id="{B9AC42A8-144C-EDDC-6BBE-8B44B48A4E3D}"/>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52B0FB9-8435-8AD7-DF10-B0715BD857D8}"/>
              </a:ext>
            </a:extLst>
          </p:cNvPr>
          <p:cNvSpPr>
            <a:spLocks noGrp="1"/>
          </p:cNvSpPr>
          <p:nvPr>
            <p:ph type="sldNum" sz="quarter" idx="12"/>
          </p:nvPr>
        </p:nvSpPr>
        <p:spPr/>
        <p:txBody>
          <a:bodyPr/>
          <a:lstStyle>
            <a:lvl1pPr>
              <a:defRPr/>
            </a:lvl1pPr>
          </a:lstStyle>
          <a:p>
            <a:fld id="{501184D6-5848-4E45-8804-7FCFA3CA1644}" type="slidenum">
              <a:rPr lang="en-US" altLang="en-US"/>
              <a:pPr/>
              <a:t>‹#›</a:t>
            </a:fld>
            <a:endParaRPr lang="en-US" altLang="en-US"/>
          </a:p>
        </p:txBody>
      </p:sp>
    </p:spTree>
    <p:extLst>
      <p:ext uri="{BB962C8B-B14F-4D97-AF65-F5344CB8AC3E}">
        <p14:creationId xmlns:p14="http://schemas.microsoft.com/office/powerpoint/2010/main" val="4107045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7CDC5-1553-C4B9-8D7D-E567878462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9173F-97B3-6A0A-8C29-DFF6F9E2E50D}"/>
              </a:ext>
            </a:extLst>
          </p:cNvPr>
          <p:cNvSpPr>
            <a:spLocks noGrp="1"/>
          </p:cNvSpPr>
          <p:nvPr>
            <p:ph type="dt" sz="half" idx="10"/>
          </p:nvPr>
        </p:nvSpPr>
        <p:spPr/>
        <p:txBody>
          <a:bodyPr/>
          <a:lstStyle>
            <a:lvl1pPr>
              <a:defRPr/>
            </a:lvl1pPr>
          </a:lstStyle>
          <a:p>
            <a:r>
              <a:rPr lang="en-US" altLang="en-US"/>
              <a:t>Aug 7, 2007</a:t>
            </a:r>
          </a:p>
        </p:txBody>
      </p:sp>
      <p:sp>
        <p:nvSpPr>
          <p:cNvPr id="4" name="Footer Placeholder 3">
            <a:extLst>
              <a:ext uri="{FF2B5EF4-FFF2-40B4-BE49-F238E27FC236}">
                <a16:creationId xmlns:a16="http://schemas.microsoft.com/office/drawing/2014/main" id="{DF6C38AA-1461-9D65-B47E-E5730492C69D}"/>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9A5D670C-7230-8204-4EDF-B3390F66737B}"/>
              </a:ext>
            </a:extLst>
          </p:cNvPr>
          <p:cNvSpPr>
            <a:spLocks noGrp="1"/>
          </p:cNvSpPr>
          <p:nvPr>
            <p:ph type="sldNum" sz="quarter" idx="12"/>
          </p:nvPr>
        </p:nvSpPr>
        <p:spPr/>
        <p:txBody>
          <a:bodyPr/>
          <a:lstStyle>
            <a:lvl1pPr>
              <a:defRPr/>
            </a:lvl1pPr>
          </a:lstStyle>
          <a:p>
            <a:fld id="{BAB58B0A-1984-41F9-AF96-7DF8F6FE823C}" type="slidenum">
              <a:rPr lang="en-US" altLang="en-US"/>
              <a:pPr/>
              <a:t>‹#›</a:t>
            </a:fld>
            <a:endParaRPr lang="en-US" altLang="en-US"/>
          </a:p>
        </p:txBody>
      </p:sp>
    </p:spTree>
    <p:extLst>
      <p:ext uri="{BB962C8B-B14F-4D97-AF65-F5344CB8AC3E}">
        <p14:creationId xmlns:p14="http://schemas.microsoft.com/office/powerpoint/2010/main" val="2898294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1A8BCE-F7E3-CCF6-5AD0-E1912D058990}"/>
              </a:ext>
            </a:extLst>
          </p:cNvPr>
          <p:cNvSpPr>
            <a:spLocks noGrp="1"/>
          </p:cNvSpPr>
          <p:nvPr>
            <p:ph type="dt" sz="half" idx="10"/>
          </p:nvPr>
        </p:nvSpPr>
        <p:spPr/>
        <p:txBody>
          <a:bodyPr/>
          <a:lstStyle>
            <a:lvl1pPr>
              <a:defRPr/>
            </a:lvl1pPr>
          </a:lstStyle>
          <a:p>
            <a:r>
              <a:rPr lang="en-US" altLang="en-US"/>
              <a:t>Aug 7, 2007</a:t>
            </a:r>
          </a:p>
        </p:txBody>
      </p:sp>
      <p:sp>
        <p:nvSpPr>
          <p:cNvPr id="3" name="Footer Placeholder 2">
            <a:extLst>
              <a:ext uri="{FF2B5EF4-FFF2-40B4-BE49-F238E27FC236}">
                <a16:creationId xmlns:a16="http://schemas.microsoft.com/office/drawing/2014/main" id="{7A1E78BB-211F-8CDC-083B-3D2639464FCF}"/>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69807FF-F1BF-4AC2-14C1-2CAED8FBA4B1}"/>
              </a:ext>
            </a:extLst>
          </p:cNvPr>
          <p:cNvSpPr>
            <a:spLocks noGrp="1"/>
          </p:cNvSpPr>
          <p:nvPr>
            <p:ph type="sldNum" sz="quarter" idx="12"/>
          </p:nvPr>
        </p:nvSpPr>
        <p:spPr/>
        <p:txBody>
          <a:bodyPr/>
          <a:lstStyle>
            <a:lvl1pPr>
              <a:defRPr/>
            </a:lvl1pPr>
          </a:lstStyle>
          <a:p>
            <a:fld id="{69F9C341-C297-48E7-834C-7A7B48550A94}" type="slidenum">
              <a:rPr lang="en-US" altLang="en-US"/>
              <a:pPr/>
              <a:t>‹#›</a:t>
            </a:fld>
            <a:endParaRPr lang="en-US" altLang="en-US"/>
          </a:p>
        </p:txBody>
      </p:sp>
    </p:spTree>
    <p:extLst>
      <p:ext uri="{BB962C8B-B14F-4D97-AF65-F5344CB8AC3E}">
        <p14:creationId xmlns:p14="http://schemas.microsoft.com/office/powerpoint/2010/main" val="998603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54C7-FA97-3E06-D2D5-F984133BEA36}"/>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1D2CF2-BAEA-C2E3-0566-D68D0AA26BD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9261AB-413A-5313-9CB8-091F361D21C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7A762-233D-09FE-145B-100126BBE699}"/>
              </a:ext>
            </a:extLst>
          </p:cNvPr>
          <p:cNvSpPr>
            <a:spLocks noGrp="1"/>
          </p:cNvSpPr>
          <p:nvPr>
            <p:ph type="dt" sz="half" idx="10"/>
          </p:nvPr>
        </p:nvSpPr>
        <p:spPr/>
        <p:txBody>
          <a:bodyPr/>
          <a:lstStyle>
            <a:lvl1pPr>
              <a:defRPr/>
            </a:lvl1pPr>
          </a:lstStyle>
          <a:p>
            <a:r>
              <a:rPr lang="en-US" altLang="en-US"/>
              <a:t>Aug 7, 2007</a:t>
            </a:r>
          </a:p>
        </p:txBody>
      </p:sp>
      <p:sp>
        <p:nvSpPr>
          <p:cNvPr id="6" name="Footer Placeholder 5">
            <a:extLst>
              <a:ext uri="{FF2B5EF4-FFF2-40B4-BE49-F238E27FC236}">
                <a16:creationId xmlns:a16="http://schemas.microsoft.com/office/drawing/2014/main" id="{DE156DE4-3CFF-008C-D4DE-BEAA9252165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AC9DA2A3-E1EB-51A5-D748-8B3283A524A6}"/>
              </a:ext>
            </a:extLst>
          </p:cNvPr>
          <p:cNvSpPr>
            <a:spLocks noGrp="1"/>
          </p:cNvSpPr>
          <p:nvPr>
            <p:ph type="sldNum" sz="quarter" idx="12"/>
          </p:nvPr>
        </p:nvSpPr>
        <p:spPr/>
        <p:txBody>
          <a:bodyPr/>
          <a:lstStyle>
            <a:lvl1pPr>
              <a:defRPr/>
            </a:lvl1pPr>
          </a:lstStyle>
          <a:p>
            <a:fld id="{5CEDF579-16FB-4F0B-9F1F-ED4B60134CB7}" type="slidenum">
              <a:rPr lang="en-US" altLang="en-US"/>
              <a:pPr/>
              <a:t>‹#›</a:t>
            </a:fld>
            <a:endParaRPr lang="en-US" altLang="en-US"/>
          </a:p>
        </p:txBody>
      </p:sp>
    </p:spTree>
    <p:extLst>
      <p:ext uri="{BB962C8B-B14F-4D97-AF65-F5344CB8AC3E}">
        <p14:creationId xmlns:p14="http://schemas.microsoft.com/office/powerpoint/2010/main" val="39562747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A5B6-360E-C55F-0245-3DC6D738DB70}"/>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C9BB1A-E833-A1AB-4C71-4F1F42B4D99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51FD66-D554-3F83-EA9D-EB1584C3304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6AA278-A5FE-60DB-0113-9ADE7BE8609C}"/>
              </a:ext>
            </a:extLst>
          </p:cNvPr>
          <p:cNvSpPr>
            <a:spLocks noGrp="1"/>
          </p:cNvSpPr>
          <p:nvPr>
            <p:ph type="dt" sz="half" idx="10"/>
          </p:nvPr>
        </p:nvSpPr>
        <p:spPr/>
        <p:txBody>
          <a:bodyPr/>
          <a:lstStyle>
            <a:lvl1pPr>
              <a:defRPr/>
            </a:lvl1pPr>
          </a:lstStyle>
          <a:p>
            <a:r>
              <a:rPr lang="en-US" altLang="en-US"/>
              <a:t>Aug 7, 2007</a:t>
            </a:r>
          </a:p>
        </p:txBody>
      </p:sp>
      <p:sp>
        <p:nvSpPr>
          <p:cNvPr id="6" name="Footer Placeholder 5">
            <a:extLst>
              <a:ext uri="{FF2B5EF4-FFF2-40B4-BE49-F238E27FC236}">
                <a16:creationId xmlns:a16="http://schemas.microsoft.com/office/drawing/2014/main" id="{56A76DD0-49C5-5A3D-96CF-FAC8ECC5BE4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C0111D7-E49E-65E7-F4E8-9690CAA3E991}"/>
              </a:ext>
            </a:extLst>
          </p:cNvPr>
          <p:cNvSpPr>
            <a:spLocks noGrp="1"/>
          </p:cNvSpPr>
          <p:nvPr>
            <p:ph type="sldNum" sz="quarter" idx="12"/>
          </p:nvPr>
        </p:nvSpPr>
        <p:spPr/>
        <p:txBody>
          <a:bodyPr/>
          <a:lstStyle>
            <a:lvl1pPr>
              <a:defRPr/>
            </a:lvl1pPr>
          </a:lstStyle>
          <a:p>
            <a:fld id="{0AD70165-645F-4798-B3D2-DFAF4C01212B}" type="slidenum">
              <a:rPr lang="en-US" altLang="en-US"/>
              <a:pPr/>
              <a:t>‹#›</a:t>
            </a:fld>
            <a:endParaRPr lang="en-US" altLang="en-US"/>
          </a:p>
        </p:txBody>
      </p:sp>
    </p:spTree>
    <p:extLst>
      <p:ext uri="{BB962C8B-B14F-4D97-AF65-F5344CB8AC3E}">
        <p14:creationId xmlns:p14="http://schemas.microsoft.com/office/powerpoint/2010/main" val="3156530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2537-FC7B-7900-0C4A-FD09013F56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E51703-F20D-3C43-7965-60EA16DF69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A3EEF3-948B-CAC0-3565-AFACD3D4AEEB}"/>
              </a:ext>
            </a:extLst>
          </p:cNvPr>
          <p:cNvSpPr>
            <a:spLocks noGrp="1"/>
          </p:cNvSpPr>
          <p:nvPr>
            <p:ph type="dt" sz="half" idx="10"/>
          </p:nvPr>
        </p:nvSpPr>
        <p:spPr/>
        <p:txBody>
          <a:bodyPr/>
          <a:lstStyle>
            <a:lvl1pPr>
              <a:defRPr/>
            </a:lvl1pPr>
          </a:lstStyle>
          <a:p>
            <a:r>
              <a:rPr lang="en-US" altLang="en-US"/>
              <a:t>Aug 7, 2007</a:t>
            </a:r>
          </a:p>
        </p:txBody>
      </p:sp>
      <p:sp>
        <p:nvSpPr>
          <p:cNvPr id="5" name="Footer Placeholder 4">
            <a:extLst>
              <a:ext uri="{FF2B5EF4-FFF2-40B4-BE49-F238E27FC236}">
                <a16:creationId xmlns:a16="http://schemas.microsoft.com/office/drawing/2014/main" id="{B89DFE36-C0F1-3C6D-9E74-EFEF99E36E1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FB9D5EB-8DC2-E4EF-4FD0-1E3684ED0143}"/>
              </a:ext>
            </a:extLst>
          </p:cNvPr>
          <p:cNvSpPr>
            <a:spLocks noGrp="1"/>
          </p:cNvSpPr>
          <p:nvPr>
            <p:ph type="sldNum" sz="quarter" idx="12"/>
          </p:nvPr>
        </p:nvSpPr>
        <p:spPr/>
        <p:txBody>
          <a:bodyPr/>
          <a:lstStyle>
            <a:lvl1pPr>
              <a:defRPr/>
            </a:lvl1pPr>
          </a:lstStyle>
          <a:p>
            <a:fld id="{F055F106-DF69-46D1-B8D7-79A01BB8EA82}" type="slidenum">
              <a:rPr lang="en-US" altLang="en-US"/>
              <a:pPr/>
              <a:t>‹#›</a:t>
            </a:fld>
            <a:endParaRPr lang="en-US" altLang="en-US"/>
          </a:p>
        </p:txBody>
      </p:sp>
    </p:spTree>
    <p:extLst>
      <p:ext uri="{BB962C8B-B14F-4D97-AF65-F5344CB8AC3E}">
        <p14:creationId xmlns:p14="http://schemas.microsoft.com/office/powerpoint/2010/main" val="22556757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299AF1-BEB7-721E-EAF9-0E87E2E500A0}"/>
              </a:ext>
            </a:extLst>
          </p:cNvPr>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70AC65-56FB-3BB9-3843-3F3750B91250}"/>
              </a:ext>
            </a:extLst>
          </p:cNvPr>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1DCA50-ADAE-E4D0-46C5-840DA6CBBB89}"/>
              </a:ext>
            </a:extLst>
          </p:cNvPr>
          <p:cNvSpPr>
            <a:spLocks noGrp="1"/>
          </p:cNvSpPr>
          <p:nvPr>
            <p:ph type="dt" sz="half" idx="10"/>
          </p:nvPr>
        </p:nvSpPr>
        <p:spPr/>
        <p:txBody>
          <a:bodyPr/>
          <a:lstStyle>
            <a:lvl1pPr>
              <a:defRPr/>
            </a:lvl1pPr>
          </a:lstStyle>
          <a:p>
            <a:r>
              <a:rPr lang="en-US" altLang="en-US"/>
              <a:t>Aug 7, 2007</a:t>
            </a:r>
          </a:p>
        </p:txBody>
      </p:sp>
      <p:sp>
        <p:nvSpPr>
          <p:cNvPr id="5" name="Footer Placeholder 4">
            <a:extLst>
              <a:ext uri="{FF2B5EF4-FFF2-40B4-BE49-F238E27FC236}">
                <a16:creationId xmlns:a16="http://schemas.microsoft.com/office/drawing/2014/main" id="{B88CBD4C-DAAC-BBE3-A2A7-7DC42D4E95D6}"/>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9B4C6AE-F8D8-C455-6757-150401936B0F}"/>
              </a:ext>
            </a:extLst>
          </p:cNvPr>
          <p:cNvSpPr>
            <a:spLocks noGrp="1"/>
          </p:cNvSpPr>
          <p:nvPr>
            <p:ph type="sldNum" sz="quarter" idx="12"/>
          </p:nvPr>
        </p:nvSpPr>
        <p:spPr/>
        <p:txBody>
          <a:bodyPr/>
          <a:lstStyle>
            <a:lvl1pPr>
              <a:defRPr/>
            </a:lvl1pPr>
          </a:lstStyle>
          <a:p>
            <a:fld id="{F5955B30-C196-4E3C-919F-B1C65021765A}" type="slidenum">
              <a:rPr lang="en-US" altLang="en-US"/>
              <a:pPr/>
              <a:t>‹#›</a:t>
            </a:fld>
            <a:endParaRPr lang="en-US" altLang="en-US"/>
          </a:p>
        </p:txBody>
      </p:sp>
    </p:spTree>
    <p:extLst>
      <p:ext uri="{BB962C8B-B14F-4D97-AF65-F5344CB8AC3E}">
        <p14:creationId xmlns:p14="http://schemas.microsoft.com/office/powerpoint/2010/main" val="3558703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5AECFC-27A2-4290-95CC-0B9AC6AAA15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79FCCAF-2A01-4FDC-870A-A4198DB920E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6A84978-95EE-4BC4-97C2-E62EDBAA601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id="{14DB3F5C-E8A6-4B9F-8B77-7B49F773217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13CB3114-C76D-4197-BAB3-C0227B6868E1}" type="slidenum">
              <a:rPr lang="en-US" altLang="en-US"/>
              <a:pPr/>
              <a:t>‹#›</a:t>
            </a:fld>
            <a:endParaRPr lang="en-US" altLang="en-US"/>
          </a:p>
        </p:txBody>
      </p:sp>
      <p:sp>
        <p:nvSpPr>
          <p:cNvPr id="1031" name="Rectangle 7">
            <a:extLst>
              <a:ext uri="{FF2B5EF4-FFF2-40B4-BE49-F238E27FC236}">
                <a16:creationId xmlns:a16="http://schemas.microsoft.com/office/drawing/2014/main" id="{0484AF92-3B09-4A7D-AB7A-5D2E2578F13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endParaRPr lang="en-US" altLang="en-US"/>
          </a:p>
          <a:p>
            <a:endParaRPr lang="en-US" altLang="en-US" b="0">
              <a:latin typeface="Tahoma" panose="020B0604030504040204" pitchFamily="34" charset="0"/>
            </a:endParaRPr>
          </a:p>
          <a:p>
            <a:endParaRPr lang="en-US" altLang="en-US">
              <a:latin typeface="Tahoma" panose="020B0604030504040204" pitchFamily="34" charset="0"/>
            </a:endParaRPr>
          </a:p>
          <a:p>
            <a:r>
              <a:rPr lang="en-US" alt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Line 2">
            <a:extLst>
              <a:ext uri="{FF2B5EF4-FFF2-40B4-BE49-F238E27FC236}">
                <a16:creationId xmlns:a16="http://schemas.microsoft.com/office/drawing/2014/main" id="{93747D6C-2FCE-BF7B-6731-843AC408E584}"/>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1" name="Rectangle 3">
            <a:extLst>
              <a:ext uri="{FF2B5EF4-FFF2-40B4-BE49-F238E27FC236}">
                <a16:creationId xmlns:a16="http://schemas.microsoft.com/office/drawing/2014/main" id="{6B36D113-699B-A13B-CB1E-02F943630F12}"/>
              </a:ext>
            </a:extLst>
          </p:cNvPr>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58372" name="Rectangle 4">
            <a:extLst>
              <a:ext uri="{FF2B5EF4-FFF2-40B4-BE49-F238E27FC236}">
                <a16:creationId xmlns:a16="http://schemas.microsoft.com/office/drawing/2014/main" id="{19C1262D-A8EC-C5BB-3BB4-FAA431191C9C}"/>
              </a:ext>
            </a:extLst>
          </p:cNvPr>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8373" name="Rectangle 5">
            <a:extLst>
              <a:ext uri="{FF2B5EF4-FFF2-40B4-BE49-F238E27FC236}">
                <a16:creationId xmlns:a16="http://schemas.microsoft.com/office/drawing/2014/main" id="{03049EE6-7E1A-82A0-189A-BFFC4EA079DE}"/>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lvl1pPr>
          </a:lstStyle>
          <a:p>
            <a:r>
              <a:rPr lang="en-US" altLang="en-US"/>
              <a:t>Aug 7, 2007</a:t>
            </a:r>
          </a:p>
        </p:txBody>
      </p:sp>
      <p:sp>
        <p:nvSpPr>
          <p:cNvPr id="58374" name="Rectangle 6">
            <a:extLst>
              <a:ext uri="{FF2B5EF4-FFF2-40B4-BE49-F238E27FC236}">
                <a16:creationId xmlns:a16="http://schemas.microsoft.com/office/drawing/2014/main" id="{64831BDC-28EF-8EF5-2B9C-4E4E88B284D6}"/>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lvl1pPr>
          </a:lstStyle>
          <a:p>
            <a:endParaRPr lang="en-US" altLang="en-US"/>
          </a:p>
        </p:txBody>
      </p:sp>
      <p:sp>
        <p:nvSpPr>
          <p:cNvPr id="58375" name="Rectangle 7">
            <a:extLst>
              <a:ext uri="{FF2B5EF4-FFF2-40B4-BE49-F238E27FC236}">
                <a16:creationId xmlns:a16="http://schemas.microsoft.com/office/drawing/2014/main" id="{29233B42-79F8-B64D-12E6-1AB2C45EBE67}"/>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lvl1pPr>
          </a:lstStyle>
          <a:p>
            <a:fld id="{589E0449-99AD-4AAF-AAE6-4800A82B164C}" type="slidenum">
              <a:rPr lang="en-US" altLang="en-US"/>
              <a:pPr/>
              <a:t>‹#›</a:t>
            </a:fld>
            <a:endParaRPr lang="en-US" altLang="en-US"/>
          </a:p>
        </p:txBody>
      </p:sp>
      <p:grpSp>
        <p:nvGrpSpPr>
          <p:cNvPr id="58376" name="Group 8">
            <a:extLst>
              <a:ext uri="{FF2B5EF4-FFF2-40B4-BE49-F238E27FC236}">
                <a16:creationId xmlns:a16="http://schemas.microsoft.com/office/drawing/2014/main" id="{1CF7741D-9CB9-3B3F-00CC-AA2D18CE1B62}"/>
              </a:ext>
            </a:extLst>
          </p:cNvPr>
          <p:cNvGrpSpPr>
            <a:grpSpLocks/>
          </p:cNvGrpSpPr>
          <p:nvPr/>
        </p:nvGrpSpPr>
        <p:grpSpPr bwMode="auto">
          <a:xfrm>
            <a:off x="8153400" y="152400"/>
            <a:ext cx="792163" cy="1295400"/>
            <a:chOff x="5136" y="960"/>
            <a:chExt cx="528" cy="864"/>
          </a:xfrm>
        </p:grpSpPr>
        <p:sp>
          <p:nvSpPr>
            <p:cNvPr id="58377" name="Oval 9">
              <a:extLst>
                <a:ext uri="{FF2B5EF4-FFF2-40B4-BE49-F238E27FC236}">
                  <a16:creationId xmlns:a16="http://schemas.microsoft.com/office/drawing/2014/main" id="{99BE509C-5E93-70C2-A34E-389EFCC09D4B}"/>
                </a:ext>
              </a:extLst>
            </p:cNvPr>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8" name="Oval 10">
              <a:extLst>
                <a:ext uri="{FF2B5EF4-FFF2-40B4-BE49-F238E27FC236}">
                  <a16:creationId xmlns:a16="http://schemas.microsoft.com/office/drawing/2014/main" id="{8D6C5E9E-B09A-72E3-CE48-60D8A0F3E3EA}"/>
                </a:ext>
              </a:extLst>
            </p:cNvPr>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79" name="Oval 11">
              <a:extLst>
                <a:ext uri="{FF2B5EF4-FFF2-40B4-BE49-F238E27FC236}">
                  <a16:creationId xmlns:a16="http://schemas.microsoft.com/office/drawing/2014/main" id="{4D3AC573-58D9-8873-A14B-F32123380310}"/>
                </a:ext>
              </a:extLst>
            </p:cNvPr>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0" name="Oval 12">
              <a:extLst>
                <a:ext uri="{FF2B5EF4-FFF2-40B4-BE49-F238E27FC236}">
                  <a16:creationId xmlns:a16="http://schemas.microsoft.com/office/drawing/2014/main" id="{CE204751-54BE-90D9-9960-F69A91A334E2}"/>
                </a:ext>
              </a:extLst>
            </p:cNvPr>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1" name="Oval 13">
              <a:extLst>
                <a:ext uri="{FF2B5EF4-FFF2-40B4-BE49-F238E27FC236}">
                  <a16:creationId xmlns:a16="http://schemas.microsoft.com/office/drawing/2014/main" id="{37045DAF-9686-C34B-97E7-4279A70758CC}"/>
                </a:ext>
              </a:extLst>
            </p:cNvPr>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2" name="Oval 14">
              <a:extLst>
                <a:ext uri="{FF2B5EF4-FFF2-40B4-BE49-F238E27FC236}">
                  <a16:creationId xmlns:a16="http://schemas.microsoft.com/office/drawing/2014/main" id="{D6BAB27C-0613-C233-B1D8-11875ADAD9F4}"/>
                </a:ext>
              </a:extLst>
            </p:cNvPr>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3" name="Oval 15">
              <a:extLst>
                <a:ext uri="{FF2B5EF4-FFF2-40B4-BE49-F238E27FC236}">
                  <a16:creationId xmlns:a16="http://schemas.microsoft.com/office/drawing/2014/main" id="{3F0319AE-9B73-8A34-B81C-D65B543A7F49}"/>
                </a:ext>
              </a:extLst>
            </p:cNvPr>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4" name="Oval 16">
              <a:extLst>
                <a:ext uri="{FF2B5EF4-FFF2-40B4-BE49-F238E27FC236}">
                  <a16:creationId xmlns:a16="http://schemas.microsoft.com/office/drawing/2014/main" id="{221FCA37-F1A1-DF7C-61D0-92F0E372E82C}"/>
                </a:ext>
              </a:extLst>
            </p:cNvPr>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5" name="Oval 17">
              <a:extLst>
                <a:ext uri="{FF2B5EF4-FFF2-40B4-BE49-F238E27FC236}">
                  <a16:creationId xmlns:a16="http://schemas.microsoft.com/office/drawing/2014/main" id="{9BDC4926-FB75-B56F-1CA5-28798456C6AA}"/>
                </a:ext>
              </a:extLst>
            </p:cNvPr>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6" name="Oval 18">
              <a:extLst>
                <a:ext uri="{FF2B5EF4-FFF2-40B4-BE49-F238E27FC236}">
                  <a16:creationId xmlns:a16="http://schemas.microsoft.com/office/drawing/2014/main" id="{2C683EE7-E807-05A5-2D9B-35DB1323923E}"/>
                </a:ext>
              </a:extLst>
            </p:cNvPr>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7" name="Oval 19">
              <a:extLst>
                <a:ext uri="{FF2B5EF4-FFF2-40B4-BE49-F238E27FC236}">
                  <a16:creationId xmlns:a16="http://schemas.microsoft.com/office/drawing/2014/main" id="{C8E6517B-FE48-3D7C-800A-C5804382588F}"/>
                </a:ext>
              </a:extLst>
            </p:cNvPr>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8" name="Oval 20">
              <a:extLst>
                <a:ext uri="{FF2B5EF4-FFF2-40B4-BE49-F238E27FC236}">
                  <a16:creationId xmlns:a16="http://schemas.microsoft.com/office/drawing/2014/main" id="{D91DAF3A-EC25-1FEB-59C1-D2189642B25B}"/>
                </a:ext>
              </a:extLst>
            </p:cNvPr>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89" name="Oval 21">
              <a:extLst>
                <a:ext uri="{FF2B5EF4-FFF2-40B4-BE49-F238E27FC236}">
                  <a16:creationId xmlns:a16="http://schemas.microsoft.com/office/drawing/2014/main" id="{4931E3E8-AF54-65D7-AC81-F2443795DE0C}"/>
                </a:ext>
              </a:extLst>
            </p:cNvPr>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0" name="Oval 22">
              <a:extLst>
                <a:ext uri="{FF2B5EF4-FFF2-40B4-BE49-F238E27FC236}">
                  <a16:creationId xmlns:a16="http://schemas.microsoft.com/office/drawing/2014/main" id="{5727CF6B-831A-5E41-1666-2A286E788A5B}"/>
                </a:ext>
              </a:extLst>
            </p:cNvPr>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1" name="Oval 23">
              <a:extLst>
                <a:ext uri="{FF2B5EF4-FFF2-40B4-BE49-F238E27FC236}">
                  <a16:creationId xmlns:a16="http://schemas.microsoft.com/office/drawing/2014/main" id="{AAA57400-369E-43D6-7123-8278A7DCF964}"/>
                </a:ext>
              </a:extLst>
            </p:cNvPr>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2" name="Oval 24">
              <a:extLst>
                <a:ext uri="{FF2B5EF4-FFF2-40B4-BE49-F238E27FC236}">
                  <a16:creationId xmlns:a16="http://schemas.microsoft.com/office/drawing/2014/main" id="{03CF1742-F472-5770-B9E6-000FB6472433}"/>
                </a:ext>
              </a:extLst>
            </p:cNvPr>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3" name="Oval 25">
              <a:extLst>
                <a:ext uri="{FF2B5EF4-FFF2-40B4-BE49-F238E27FC236}">
                  <a16:creationId xmlns:a16="http://schemas.microsoft.com/office/drawing/2014/main" id="{87FC56CD-B796-1805-8908-C6840958B0D7}"/>
                </a:ext>
              </a:extLst>
            </p:cNvPr>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4" name="Oval 26">
              <a:extLst>
                <a:ext uri="{FF2B5EF4-FFF2-40B4-BE49-F238E27FC236}">
                  <a16:creationId xmlns:a16="http://schemas.microsoft.com/office/drawing/2014/main" id="{4B18BA09-C173-D2C3-F20B-1B267B191568}"/>
                </a:ext>
              </a:extLst>
            </p:cNvPr>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5" name="Oval 27">
              <a:extLst>
                <a:ext uri="{FF2B5EF4-FFF2-40B4-BE49-F238E27FC236}">
                  <a16:creationId xmlns:a16="http://schemas.microsoft.com/office/drawing/2014/main" id="{472DBA07-8795-4EA2-7A6F-67CD9922ABF6}"/>
                </a:ext>
              </a:extLst>
            </p:cNvPr>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6" name="Oval 28">
              <a:extLst>
                <a:ext uri="{FF2B5EF4-FFF2-40B4-BE49-F238E27FC236}">
                  <a16:creationId xmlns:a16="http://schemas.microsoft.com/office/drawing/2014/main" id="{46FAE75B-FBCD-02AD-57D6-A2AD2457CBFD}"/>
                </a:ext>
              </a:extLst>
            </p:cNvPr>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7" name="Oval 29">
              <a:extLst>
                <a:ext uri="{FF2B5EF4-FFF2-40B4-BE49-F238E27FC236}">
                  <a16:creationId xmlns:a16="http://schemas.microsoft.com/office/drawing/2014/main" id="{64A5834A-28CD-08E5-2A6A-FC449AA863FA}"/>
                </a:ext>
              </a:extLst>
            </p:cNvPr>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8" name="Oval 30">
              <a:extLst>
                <a:ext uri="{FF2B5EF4-FFF2-40B4-BE49-F238E27FC236}">
                  <a16:creationId xmlns:a16="http://schemas.microsoft.com/office/drawing/2014/main" id="{A3CF4251-0F58-DD37-7B42-CECB708FB10B}"/>
                </a:ext>
              </a:extLst>
            </p:cNvPr>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399" name="Oval 31">
              <a:extLst>
                <a:ext uri="{FF2B5EF4-FFF2-40B4-BE49-F238E27FC236}">
                  <a16:creationId xmlns:a16="http://schemas.microsoft.com/office/drawing/2014/main" id="{81CF349E-4591-671B-5BB3-52671F54F4FA}"/>
                </a:ext>
              </a:extLst>
            </p:cNvPr>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0" name="Oval 32">
              <a:extLst>
                <a:ext uri="{FF2B5EF4-FFF2-40B4-BE49-F238E27FC236}">
                  <a16:creationId xmlns:a16="http://schemas.microsoft.com/office/drawing/2014/main" id="{9D847D93-92A3-7363-4CC5-425D927E376C}"/>
                </a:ext>
              </a:extLst>
            </p:cNvPr>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1" name="Oval 33">
              <a:extLst>
                <a:ext uri="{FF2B5EF4-FFF2-40B4-BE49-F238E27FC236}">
                  <a16:creationId xmlns:a16="http://schemas.microsoft.com/office/drawing/2014/main" id="{C59B55F0-07F1-3F99-54BC-8B04124DB3E4}"/>
                </a:ext>
              </a:extLst>
            </p:cNvPr>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2" name="Oval 34">
              <a:extLst>
                <a:ext uri="{FF2B5EF4-FFF2-40B4-BE49-F238E27FC236}">
                  <a16:creationId xmlns:a16="http://schemas.microsoft.com/office/drawing/2014/main" id="{E02818D8-0060-A7EC-D041-3BEC576433A1}"/>
                </a:ext>
              </a:extLst>
            </p:cNvPr>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3" name="Oval 35">
              <a:extLst>
                <a:ext uri="{FF2B5EF4-FFF2-40B4-BE49-F238E27FC236}">
                  <a16:creationId xmlns:a16="http://schemas.microsoft.com/office/drawing/2014/main" id="{95D08380-1AC9-CF6D-F8AC-46CBCF2381C5}"/>
                </a:ext>
              </a:extLst>
            </p:cNvPr>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4" name="Oval 36">
              <a:extLst>
                <a:ext uri="{FF2B5EF4-FFF2-40B4-BE49-F238E27FC236}">
                  <a16:creationId xmlns:a16="http://schemas.microsoft.com/office/drawing/2014/main" id="{AFCC70A6-AD58-6712-DC38-AB3DE44AF405}"/>
                </a:ext>
              </a:extLst>
            </p:cNvPr>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5" name="Oval 37">
              <a:extLst>
                <a:ext uri="{FF2B5EF4-FFF2-40B4-BE49-F238E27FC236}">
                  <a16:creationId xmlns:a16="http://schemas.microsoft.com/office/drawing/2014/main" id="{6E184447-67B5-AD90-F754-49847080EA7A}"/>
                </a:ext>
              </a:extLst>
            </p:cNvPr>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6" name="Oval 38">
              <a:extLst>
                <a:ext uri="{FF2B5EF4-FFF2-40B4-BE49-F238E27FC236}">
                  <a16:creationId xmlns:a16="http://schemas.microsoft.com/office/drawing/2014/main" id="{2F405D19-8C4B-668B-70C1-31EA247E11CC}"/>
                </a:ext>
              </a:extLst>
            </p:cNvPr>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407" name="Oval 39">
              <a:extLst>
                <a:ext uri="{FF2B5EF4-FFF2-40B4-BE49-F238E27FC236}">
                  <a16:creationId xmlns:a16="http://schemas.microsoft.com/office/drawing/2014/main" id="{9DD2CE32-3BB8-235A-F03C-C39850E4FC57}"/>
                </a:ext>
              </a:extLst>
            </p:cNvPr>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385549316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p:txStyles>
    <p:titleStyle>
      <a:lvl1pPr algn="l" rtl="0" fontAlgn="base">
        <a:spcBef>
          <a:spcPct val="0"/>
        </a:spcBef>
        <a:spcAft>
          <a:spcPct val="0"/>
        </a:spcAft>
        <a:defRPr sz="3900" b="1" kern="1200">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defRPr>
      </a:lvl2pPr>
      <a:lvl3pPr algn="l" rtl="0" fontAlgn="base">
        <a:spcBef>
          <a:spcPct val="0"/>
        </a:spcBef>
        <a:spcAft>
          <a:spcPct val="0"/>
        </a:spcAft>
        <a:defRPr sz="3900" b="1">
          <a:solidFill>
            <a:schemeClr val="tx2"/>
          </a:solidFill>
          <a:latin typeface="Arial" panose="020B0604020202020204" pitchFamily="34" charset="0"/>
        </a:defRPr>
      </a:lvl3pPr>
      <a:lvl4pPr algn="l" rtl="0" fontAlgn="base">
        <a:spcBef>
          <a:spcPct val="0"/>
        </a:spcBef>
        <a:spcAft>
          <a:spcPct val="0"/>
        </a:spcAft>
        <a:defRPr sz="3900" b="1">
          <a:solidFill>
            <a:schemeClr val="tx2"/>
          </a:solidFill>
          <a:latin typeface="Arial" panose="020B0604020202020204" pitchFamily="34" charset="0"/>
        </a:defRPr>
      </a:lvl4pPr>
      <a:lvl5pPr algn="l" rtl="0" fontAlgn="base">
        <a:spcBef>
          <a:spcPct val="0"/>
        </a:spcBef>
        <a:spcAft>
          <a:spcPct val="0"/>
        </a:spcAft>
        <a:defRPr sz="3900" b="1">
          <a:solidFill>
            <a:schemeClr val="tx2"/>
          </a:solidFill>
          <a:latin typeface="Arial" panose="020B0604020202020204" pitchFamily="34" charset="0"/>
        </a:defRPr>
      </a:lvl5pPr>
      <a:lvl6pPr marL="457200" algn="l" rtl="0" fontAlgn="base">
        <a:spcBef>
          <a:spcPct val="0"/>
        </a:spcBef>
        <a:spcAft>
          <a:spcPct val="0"/>
        </a:spcAft>
        <a:defRPr sz="3900" b="1">
          <a:solidFill>
            <a:schemeClr val="tx2"/>
          </a:solidFill>
          <a:latin typeface="Arial" panose="020B0604020202020204" pitchFamily="34" charset="0"/>
        </a:defRPr>
      </a:lvl6pPr>
      <a:lvl7pPr marL="914400" algn="l" rtl="0" fontAlgn="base">
        <a:spcBef>
          <a:spcPct val="0"/>
        </a:spcBef>
        <a:spcAft>
          <a:spcPct val="0"/>
        </a:spcAft>
        <a:defRPr sz="3900" b="1">
          <a:solidFill>
            <a:schemeClr val="tx2"/>
          </a:solidFill>
          <a:latin typeface="Arial" panose="020B0604020202020204" pitchFamily="34" charset="0"/>
        </a:defRPr>
      </a:lvl7pPr>
      <a:lvl8pPr marL="1371600" algn="l" rtl="0" fontAlgn="base">
        <a:spcBef>
          <a:spcPct val="0"/>
        </a:spcBef>
        <a:spcAft>
          <a:spcPct val="0"/>
        </a:spcAft>
        <a:defRPr sz="3900" b="1">
          <a:solidFill>
            <a:schemeClr val="tx2"/>
          </a:solidFill>
          <a:latin typeface="Arial" panose="020B0604020202020204" pitchFamily="34" charset="0"/>
        </a:defRPr>
      </a:lvl8pPr>
      <a:lvl9pPr marL="1828800" algn="l" rtl="0" fontAlgn="base">
        <a:spcBef>
          <a:spcPct val="0"/>
        </a:spcBef>
        <a:spcAft>
          <a:spcPct val="0"/>
        </a:spcAft>
        <a:defRPr sz="3900" b="1">
          <a:solidFill>
            <a:schemeClr val="tx2"/>
          </a:solidFill>
          <a:latin typeface="Arial" panose="020B0604020202020204" pitchFamily="34" charset="0"/>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fontAlgn="base">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fontAlgn="base">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hyperlink" Target="https://docs.oracle.com/javase/7/docs/api/java/util/List.html" TargetMode="External"/><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D1CD2E1-B324-4D6F-9288-F580DA414603}"/>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0242" name="WordArt 1026">
            <a:extLst>
              <a:ext uri="{FF2B5EF4-FFF2-40B4-BE49-F238E27FC236}">
                <a16:creationId xmlns:a16="http://schemas.microsoft.com/office/drawing/2014/main" id="{4D751062-96B6-4BF4-A025-10CD0DEFDA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
        <p:nvSpPr>
          <p:cNvPr id="10243" name="WordArt 1027">
            <a:extLst>
              <a:ext uri="{FF2B5EF4-FFF2-40B4-BE49-F238E27FC236}">
                <a16:creationId xmlns:a16="http://schemas.microsoft.com/office/drawing/2014/main" id="{064DD6ED-5466-458C-98F0-A28DF39E108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Labs 06 and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4CF3-A39D-AE9D-5F91-B71E9C989EE5}"/>
              </a:ext>
            </a:extLst>
          </p:cNvPr>
          <p:cNvSpPr>
            <a:spLocks noGrp="1"/>
          </p:cNvSpPr>
          <p:nvPr>
            <p:ph type="ctrTitle"/>
          </p:nvPr>
        </p:nvSpPr>
        <p:spPr>
          <a:xfrm>
            <a:off x="3162300" y="62060"/>
            <a:ext cx="2895600" cy="782637"/>
          </a:xfrm>
        </p:spPr>
        <p:txBody>
          <a:bodyPr/>
          <a:lstStyle/>
          <a:p>
            <a:r>
              <a:rPr lang="en-US" sz="4400" b="1" dirty="0">
                <a:latin typeface="Inter"/>
              </a:rPr>
              <a:t>interface</a:t>
            </a:r>
          </a:p>
        </p:txBody>
      </p:sp>
      <p:sp>
        <p:nvSpPr>
          <p:cNvPr id="5" name="Rectangle 1">
            <a:extLst>
              <a:ext uri="{FF2B5EF4-FFF2-40B4-BE49-F238E27FC236}">
                <a16:creationId xmlns:a16="http://schemas.microsoft.com/office/drawing/2014/main" id="{C8A12BFE-609A-67C8-8FAB-700AAAEC7506}"/>
              </a:ext>
            </a:extLst>
          </p:cNvPr>
          <p:cNvSpPr>
            <a:spLocks noGrp="1" noChangeArrowheads="1"/>
          </p:cNvSpPr>
          <p:nvPr>
            <p:ph type="subTitle" idx="1"/>
          </p:nvPr>
        </p:nvSpPr>
        <p:spPr bwMode="auto">
          <a:xfrm>
            <a:off x="304800" y="879333"/>
            <a:ext cx="8610600" cy="5597668"/>
          </a:xfrm>
          <a:prstGeom prst="rect">
            <a:avLst/>
          </a:prstGeom>
          <a:solidFill>
            <a:srgbClr val="F8F8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5698" tIns="19044" rIns="91440" bIns="38088"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verb</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interact with (another system, person, etc.).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connect with (another computer or piece of equipment) by an interface. </a:t>
            </a:r>
          </a:p>
          <a:p>
            <a:pPr marL="0" marR="0" lvl="1"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333333"/>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noun</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point where two systems, subjects, organizations, etc. meet and interact.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surface forming a common boundary between two portions of matter or space, for example between two immiscible liquids.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device or program enabling a user to communicate with a computer. </a:t>
            </a:r>
          </a:p>
        </p:txBody>
      </p:sp>
    </p:spTree>
    <p:extLst>
      <p:ext uri="{BB962C8B-B14F-4D97-AF65-F5344CB8AC3E}">
        <p14:creationId xmlns:p14="http://schemas.microsoft.com/office/powerpoint/2010/main" val="172172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FEB3-E622-8BD0-3AD5-F0E987214FA4}"/>
              </a:ext>
            </a:extLst>
          </p:cNvPr>
          <p:cNvSpPr>
            <a:spLocks noGrp="1"/>
          </p:cNvSpPr>
          <p:nvPr>
            <p:ph type="title"/>
          </p:nvPr>
        </p:nvSpPr>
        <p:spPr>
          <a:xfrm>
            <a:off x="685800" y="228600"/>
            <a:ext cx="7772400" cy="1143000"/>
          </a:xfrm>
        </p:spPr>
        <p:txBody>
          <a:bodyPr/>
          <a:lstStyle/>
          <a:p>
            <a:r>
              <a:rPr lang="en-US" dirty="0"/>
              <a:t>A Java Interface</a:t>
            </a:r>
          </a:p>
        </p:txBody>
      </p:sp>
      <p:sp>
        <p:nvSpPr>
          <p:cNvPr id="3" name="Content Placeholder 2">
            <a:extLst>
              <a:ext uri="{FF2B5EF4-FFF2-40B4-BE49-F238E27FC236}">
                <a16:creationId xmlns:a16="http://schemas.microsoft.com/office/drawing/2014/main" id="{A48DDD92-C2C9-7E53-9E9B-876FD0136A70}"/>
              </a:ext>
            </a:extLst>
          </p:cNvPr>
          <p:cNvSpPr>
            <a:spLocks noGrp="1"/>
          </p:cNvSpPr>
          <p:nvPr>
            <p:ph idx="1"/>
          </p:nvPr>
        </p:nvSpPr>
        <p:spPr>
          <a:xfrm>
            <a:off x="457200" y="1600200"/>
            <a:ext cx="8305800" cy="4648200"/>
          </a:xfrm>
        </p:spPr>
        <p:txBody>
          <a:bodyPr/>
          <a:lstStyle/>
          <a:p>
            <a:r>
              <a:rPr lang="en-US" altLang="en-US" sz="4000" dirty="0"/>
              <a:t>A </a:t>
            </a:r>
            <a:r>
              <a:rPr lang="en-US" altLang="en-US" sz="4000" b="1" dirty="0">
                <a:solidFill>
                  <a:srgbClr val="0000FF"/>
                </a:solidFill>
                <a:latin typeface="Consolas" panose="020B0609020204030204" pitchFamily="49" charset="0"/>
              </a:rPr>
              <a:t>Java interface</a:t>
            </a:r>
            <a:r>
              <a:rPr lang="en-US" altLang="en-US" sz="4000" dirty="0"/>
              <a:t> specifies methods that classes must have in their public interface (in the generic sense of the term) </a:t>
            </a:r>
          </a:p>
          <a:p>
            <a:r>
              <a:rPr lang="en-US" sz="4000" dirty="0"/>
              <a:t>An </a:t>
            </a:r>
            <a:r>
              <a:rPr lang="en-US" altLang="en-US" sz="4000" b="1" dirty="0">
                <a:solidFill>
                  <a:srgbClr val="0000FF"/>
                </a:solidFill>
              </a:rPr>
              <a:t>interface</a:t>
            </a:r>
            <a:r>
              <a:rPr lang="en-US" sz="4000" dirty="0"/>
              <a:t> is a group of related methods (usually) with empty bodies.</a:t>
            </a:r>
          </a:p>
        </p:txBody>
      </p:sp>
    </p:spTree>
    <p:extLst>
      <p:ext uri="{BB962C8B-B14F-4D97-AF65-F5344CB8AC3E}">
        <p14:creationId xmlns:p14="http://schemas.microsoft.com/office/powerpoint/2010/main" val="36509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CAB2562-FD78-4C83-B93C-84844D5A3E6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9202" name="Text Box 2">
            <a:extLst>
              <a:ext uri="{FF2B5EF4-FFF2-40B4-BE49-F238E27FC236}">
                <a16:creationId xmlns:a16="http://schemas.microsoft.com/office/drawing/2014/main" id="{41C31FA5-37B3-4E92-ACAA-459F1945B17F}"/>
              </a:ext>
            </a:extLst>
          </p:cNvPr>
          <p:cNvSpPr txBox="1">
            <a:spLocks noChangeArrowheads="1"/>
          </p:cNvSpPr>
          <p:nvPr/>
        </p:nvSpPr>
        <p:spPr bwMode="auto">
          <a:xfrm>
            <a:off x="838200" y="2002185"/>
            <a:ext cx="71627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Interfaces are typically used to specify </a:t>
            </a:r>
            <a:r>
              <a:rPr lang="en-US" altLang="en-US" sz="3200" b="1" dirty="0">
                <a:solidFill>
                  <a:srgbClr val="0000FF"/>
                </a:solidFill>
              </a:rPr>
              <a:t>what</a:t>
            </a:r>
            <a:r>
              <a:rPr lang="en-US" altLang="en-US" sz="3200" b="1" dirty="0"/>
              <a:t> you want to do, but do not </a:t>
            </a:r>
            <a:r>
              <a:rPr lang="en-US" altLang="en-US" sz="3200" b="1" dirty="0">
                <a:solidFill>
                  <a:srgbClr val="0000FF"/>
                </a:solidFill>
              </a:rPr>
              <a:t>how</a:t>
            </a:r>
            <a:r>
              <a:rPr lang="en-US" altLang="en-US" sz="3200" b="1" dirty="0"/>
              <a:t> it will be done.</a:t>
            </a:r>
          </a:p>
          <a:p>
            <a:endParaRPr lang="en-US" altLang="en-US" sz="3200" b="1" dirty="0"/>
          </a:p>
          <a:p>
            <a:r>
              <a:rPr lang="en-US" altLang="en-US" sz="3200" b="1" dirty="0"/>
              <a:t>If only the behavior is known, use</a:t>
            </a:r>
          </a:p>
          <a:p>
            <a:r>
              <a:rPr lang="en-US" altLang="en-US" sz="3200" b="1" dirty="0"/>
              <a:t>an interface.</a:t>
            </a:r>
          </a:p>
        </p:txBody>
      </p:sp>
      <p:sp>
        <p:nvSpPr>
          <p:cNvPr id="179203" name="WordArt 3">
            <a:extLst>
              <a:ext uri="{FF2B5EF4-FFF2-40B4-BE49-F238E27FC236}">
                <a16:creationId xmlns:a16="http://schemas.microsoft.com/office/drawing/2014/main" id="{966DB443-0149-4D5D-AAEB-F26D18ECA75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80543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9AA3F-D22E-92DE-A321-3064876762A4}"/>
            </a:ext>
          </a:extLst>
        </p:cNvPr>
        <p:cNvGrpSpPr/>
        <p:nvPr/>
      </p:nvGrpSpPr>
      <p:grpSpPr>
        <a:xfrm>
          <a:off x="0" y="0"/>
          <a:ext cx="0" cy="0"/>
          <a:chOff x="0" y="0"/>
          <a:chExt cx="0" cy="0"/>
        </a:xfrm>
      </p:grpSpPr>
      <p:sp>
        <p:nvSpPr>
          <p:cNvPr id="179203" name="WordArt 3">
            <a:extLst>
              <a:ext uri="{FF2B5EF4-FFF2-40B4-BE49-F238E27FC236}">
                <a16:creationId xmlns:a16="http://schemas.microsoft.com/office/drawing/2014/main" id="{1B1D97A4-18BD-D681-C0F3-4BBF102FEC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 name="Rectangle 10">
            <a:extLst>
              <a:ext uri="{FF2B5EF4-FFF2-40B4-BE49-F238E27FC236}">
                <a16:creationId xmlns:a16="http://schemas.microsoft.com/office/drawing/2014/main" id="{E6B29818-6052-1761-F613-566C5267A4F0}"/>
              </a:ext>
            </a:extLst>
          </p:cNvPr>
          <p:cNvSpPr txBox="1">
            <a:spLocks noChangeArrowheads="1"/>
          </p:cNvSpPr>
          <p:nvPr/>
        </p:nvSpPr>
        <p:spPr>
          <a:xfrm>
            <a:off x="381000" y="1901952"/>
            <a:ext cx="8574088" cy="4078224"/>
          </a:xfrm>
          <a:prstGeom prst="rect">
            <a:avLst/>
          </a:prstGeom>
        </p:spPr>
        <p:txBody>
          <a:bodyPr rIns="132080"/>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dirty="0"/>
              <a:t>You can </a:t>
            </a:r>
            <a:r>
              <a:rPr lang="en-US" b="1" dirty="0">
                <a:latin typeface="Times New Roman Italic" charset="0"/>
                <a:cs typeface="Times New Roman Italic" charset="0"/>
                <a:sym typeface="Times New Roman Italic" charset="0"/>
              </a:rPr>
              <a:t>declare</a:t>
            </a:r>
            <a:r>
              <a:rPr lang="en-US" dirty="0"/>
              <a:t> an object without </a:t>
            </a:r>
            <a:r>
              <a:rPr lang="en-US" b="1" dirty="0">
                <a:latin typeface="Times New Roman Italic" charset="0"/>
                <a:cs typeface="Times New Roman Italic" charset="0"/>
                <a:sym typeface="Times New Roman Italic" charset="0"/>
              </a:rPr>
              <a:t>defining</a:t>
            </a:r>
            <a:r>
              <a:rPr lang="en-US" dirty="0"/>
              <a:t> it:</a:t>
            </a:r>
          </a:p>
          <a:p>
            <a:pPr marL="782638" lvl="1">
              <a:lnSpc>
                <a:spcPct val="90000"/>
              </a:lnSpc>
              <a:buClr>
                <a:srgbClr val="FFFF99"/>
              </a:buClr>
              <a:buFont typeface="Trebuchet MS" pitchFamily="34" charset="0"/>
              <a:buChar char=" "/>
              <a:defRPr/>
            </a:pPr>
            <a:r>
              <a:rPr lang="en-US" dirty="0">
                <a:solidFill>
                  <a:srgbClr val="3300FF"/>
                </a:solidFill>
                <a:latin typeface="Trebuchet MS" pitchFamily="34" charset="0"/>
                <a:ea typeface="Trebuchet MS" pitchFamily="34" charset="0"/>
                <a:cs typeface="Trebuchet MS" pitchFamily="34" charset="0"/>
                <a:sym typeface="Trebuchet MS" pitchFamily="34" charset="0"/>
              </a:rPr>
              <a:t>Person p;</a:t>
            </a:r>
            <a:endParaRPr lang="en-US" dirty="0">
              <a:solidFill>
                <a:srgbClr val="3300FF"/>
              </a:solidFill>
              <a:latin typeface="Trebuchet MS" pitchFamily="34" charset="0"/>
              <a:ea typeface="ヒラギノ角ゴ ProN W3" charset="0"/>
              <a:cs typeface="ヒラギノ角ゴ ProN W3" charset="0"/>
              <a:sym typeface="Trebuchet MS" pitchFamily="34" charset="0"/>
            </a:endParaRPr>
          </a:p>
          <a:p>
            <a:pPr>
              <a:lnSpc>
                <a:spcPct val="90000"/>
              </a:lnSpc>
              <a:spcBef>
                <a:spcPts val="1800"/>
              </a:spcBef>
              <a:defRPr/>
            </a:pPr>
            <a:r>
              <a:rPr lang="en-US" dirty="0"/>
              <a:t>Similarly, you can declare a </a:t>
            </a:r>
            <a:r>
              <a:rPr lang="en-US" dirty="0">
                <a:latin typeface="Times New Roman Italic" charset="0"/>
                <a:cs typeface="Times New Roman Italic" charset="0"/>
                <a:sym typeface="Times New Roman Italic" charset="0"/>
              </a:rPr>
              <a:t>method</a:t>
            </a:r>
            <a:r>
              <a:rPr lang="en-US" dirty="0"/>
              <a:t> without defining it:</a:t>
            </a:r>
          </a:p>
          <a:p>
            <a:pPr marL="782638" lvl="1">
              <a:lnSpc>
                <a:spcPct val="90000"/>
              </a:lnSpc>
              <a:buClr>
                <a:srgbClr val="FFFF99"/>
              </a:buClr>
              <a:buFont typeface="Trebuchet MS" pitchFamily="34" charset="0"/>
              <a:buChar char=" "/>
              <a:defRPr/>
            </a:pPr>
            <a:r>
              <a:rPr lang="en-US" dirty="0">
                <a:solidFill>
                  <a:srgbClr val="3300FF"/>
                </a:solidFill>
                <a:latin typeface="Trebuchet MS" pitchFamily="34" charset="0"/>
                <a:ea typeface="Trebuchet MS" pitchFamily="34" charset="0"/>
                <a:cs typeface="Trebuchet MS" pitchFamily="34" charset="0"/>
                <a:sym typeface="Trebuchet MS" pitchFamily="34" charset="0"/>
              </a:rPr>
              <a:t>public</a:t>
            </a:r>
            <a:r>
              <a:rPr lang="en-US" dirty="0">
                <a:latin typeface="Trebuchet MS" pitchFamily="34" charset="0"/>
                <a:ea typeface="Trebuchet MS" pitchFamily="34" charset="0"/>
                <a:cs typeface="Trebuchet MS" pitchFamily="34" charset="0"/>
                <a:sym typeface="Trebuchet MS" pitchFamily="34" charset="0"/>
              </a:rPr>
              <a:t> </a:t>
            </a:r>
            <a:r>
              <a:rPr lang="en-US" b="1" dirty="0">
                <a:solidFill>
                  <a:srgbClr val="3300FF"/>
                </a:solidFill>
                <a:latin typeface="Trebuchet MS" pitchFamily="34" charset="0"/>
                <a:ea typeface="Trebuchet MS" pitchFamily="34" charset="0"/>
                <a:cs typeface="Trebuchet MS" pitchFamily="34" charset="0"/>
                <a:sym typeface="Trebuchet MS" pitchFamily="34" charset="0"/>
              </a:rPr>
              <a:t>abstract</a:t>
            </a:r>
            <a:r>
              <a:rPr lang="en-US" dirty="0">
                <a:latin typeface="Trebuchet MS" pitchFamily="34" charset="0"/>
                <a:ea typeface="Trebuchet MS" pitchFamily="34" charset="0"/>
                <a:cs typeface="Trebuchet MS" pitchFamily="34" charset="0"/>
                <a:sym typeface="Trebuchet MS" pitchFamily="34" charset="0"/>
              </a:rPr>
              <a:t> </a:t>
            </a:r>
            <a:r>
              <a:rPr lang="en-US" dirty="0">
                <a:solidFill>
                  <a:srgbClr val="3300FF"/>
                </a:solidFill>
                <a:latin typeface="Trebuchet MS" pitchFamily="34" charset="0"/>
                <a:ea typeface="Trebuchet MS" pitchFamily="34" charset="0"/>
                <a:cs typeface="Trebuchet MS" pitchFamily="34" charset="0"/>
                <a:sym typeface="Trebuchet MS" pitchFamily="34" charset="0"/>
              </a:rPr>
              <a:t>void draw(int size);</a:t>
            </a:r>
            <a:endParaRPr lang="en-US" dirty="0"/>
          </a:p>
          <a:p>
            <a:pPr marL="782638" lvl="1">
              <a:lnSpc>
                <a:spcPct val="90000"/>
              </a:lnSpc>
              <a:defRPr/>
            </a:pPr>
            <a:r>
              <a:rPr lang="en-US" dirty="0"/>
              <a:t>Notice that the body of the method is missing</a:t>
            </a:r>
          </a:p>
          <a:p>
            <a:pPr>
              <a:lnSpc>
                <a:spcPct val="90000"/>
              </a:lnSpc>
              <a:spcBef>
                <a:spcPts val="1800"/>
              </a:spcBef>
              <a:defRPr/>
            </a:pPr>
            <a:r>
              <a:rPr lang="en-US" dirty="0"/>
              <a:t>A method that has been declared but not defined is an </a:t>
            </a:r>
            <a:r>
              <a:rPr lang="en-US" dirty="0">
                <a:solidFill>
                  <a:srgbClr val="FF0000"/>
                </a:solidFill>
              </a:rPr>
              <a:t>abstract method</a:t>
            </a:r>
          </a:p>
        </p:txBody>
      </p:sp>
    </p:spTree>
    <p:extLst>
      <p:ext uri="{BB962C8B-B14F-4D97-AF65-F5344CB8AC3E}">
        <p14:creationId xmlns:p14="http://schemas.microsoft.com/office/powerpoint/2010/main" val="8026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bldLvl="5"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0113D6D-67E8-4077-A511-5F85C5046FE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4146" name="Text Box 2">
            <a:extLst>
              <a:ext uri="{FF2B5EF4-FFF2-40B4-BE49-F238E27FC236}">
                <a16:creationId xmlns:a16="http://schemas.microsoft.com/office/drawing/2014/main" id="{1EEDEED2-B754-4732-BAA1-B38B009D51BE}"/>
              </a:ext>
            </a:extLst>
          </p:cNvPr>
          <p:cNvSpPr txBox="1">
            <a:spLocks noChangeArrowheads="1"/>
          </p:cNvSpPr>
          <p:nvPr/>
        </p:nvSpPr>
        <p:spPr bwMode="auto">
          <a:xfrm>
            <a:off x="841248" y="1905000"/>
            <a:ext cx="807415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Methods in are normally </a:t>
            </a:r>
            <a:r>
              <a:rPr lang="en-US" altLang="en-US" sz="3200" b="1" dirty="0">
                <a:solidFill>
                  <a:schemeClr val="accent2">
                    <a:lumMod val="75000"/>
                  </a:schemeClr>
                </a:solidFill>
              </a:rPr>
              <a:t>public</a:t>
            </a:r>
            <a:r>
              <a:rPr lang="en-US" altLang="en-US" sz="3200" b="1" dirty="0"/>
              <a:t>, </a:t>
            </a:r>
            <a:br>
              <a:rPr lang="en-US" altLang="en-US" sz="3200" b="1" dirty="0"/>
            </a:br>
            <a:r>
              <a:rPr lang="en-US" altLang="en-US" sz="3200" b="1" dirty="0"/>
              <a:t>but can be </a:t>
            </a:r>
            <a:r>
              <a:rPr lang="en-US" altLang="en-US" sz="3200" b="1" dirty="0">
                <a:solidFill>
                  <a:schemeClr val="accent2">
                    <a:lumMod val="75000"/>
                  </a:schemeClr>
                </a:solidFill>
              </a:rPr>
              <a:t>private</a:t>
            </a:r>
            <a:r>
              <a:rPr lang="en-US" altLang="en-US" sz="3200" b="1" dirty="0"/>
              <a:t>. </a:t>
            </a:r>
          </a:p>
          <a:p>
            <a:endParaRPr lang="en-US" altLang="en-US" sz="3200" b="1" dirty="0"/>
          </a:p>
          <a:p>
            <a:r>
              <a:rPr lang="en-US" altLang="en-US" sz="3200" b="1" dirty="0"/>
              <a:t>Methods are normally </a:t>
            </a:r>
            <a:r>
              <a:rPr lang="en-US" altLang="en-US" sz="3200" b="1" dirty="0">
                <a:solidFill>
                  <a:schemeClr val="accent2">
                    <a:lumMod val="75000"/>
                  </a:schemeClr>
                </a:solidFill>
              </a:rPr>
              <a:t>abstract</a:t>
            </a:r>
            <a:r>
              <a:rPr lang="en-US" altLang="en-US" sz="3200" b="1" dirty="0"/>
              <a:t>, </a:t>
            </a:r>
            <a:br>
              <a:rPr lang="en-US" altLang="en-US" sz="3200" b="1" dirty="0"/>
            </a:br>
            <a:r>
              <a:rPr lang="en-US" altLang="en-US" sz="3200" b="1" dirty="0"/>
              <a:t>but can be </a:t>
            </a:r>
            <a:r>
              <a:rPr lang="en-US" altLang="en-US" sz="3200" b="1" dirty="0">
                <a:solidFill>
                  <a:schemeClr val="accent2">
                    <a:lumMod val="75000"/>
                  </a:schemeClr>
                </a:solidFill>
              </a:rPr>
              <a:t>concrete</a:t>
            </a:r>
            <a:r>
              <a:rPr lang="en-US" altLang="en-US" sz="3200" b="1" dirty="0"/>
              <a:t>. </a:t>
            </a:r>
          </a:p>
          <a:p>
            <a:endParaRPr lang="en-US" altLang="en-US" sz="3200" b="1" dirty="0"/>
          </a:p>
          <a:p>
            <a:r>
              <a:rPr lang="en-US" altLang="en-US" sz="3200" b="1" dirty="0"/>
              <a:t>Interfaces </a:t>
            </a:r>
            <a:r>
              <a:rPr lang="en-US" altLang="en-US" sz="3200" b="1" dirty="0">
                <a:solidFill>
                  <a:schemeClr val="accent2">
                    <a:lumMod val="75000"/>
                  </a:schemeClr>
                </a:solidFill>
              </a:rPr>
              <a:t>cannot have constructors</a:t>
            </a:r>
            <a:r>
              <a:rPr lang="en-US" altLang="en-US" sz="3200" b="1" dirty="0"/>
              <a:t>!!!</a:t>
            </a:r>
          </a:p>
          <a:p>
            <a:endParaRPr lang="en-US" altLang="en-US" sz="3200" b="1" dirty="0"/>
          </a:p>
        </p:txBody>
      </p:sp>
      <p:sp>
        <p:nvSpPr>
          <p:cNvPr id="134147" name="WordArt 3">
            <a:extLst>
              <a:ext uri="{FF2B5EF4-FFF2-40B4-BE49-F238E27FC236}">
                <a16:creationId xmlns:a16="http://schemas.microsoft.com/office/drawing/2014/main" id="{BBB8BBB1-344C-49F4-8E9A-53D203E6E2F5}"/>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2003775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7822B0-CEB2-499F-B0BA-A2B0143E31A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8002" name="WordArt 2">
            <a:extLst>
              <a:ext uri="{FF2B5EF4-FFF2-40B4-BE49-F238E27FC236}">
                <a16:creationId xmlns:a16="http://schemas.microsoft.com/office/drawing/2014/main" id="{97F30241-2A74-40E9-81C8-4A8CC7E51556}"/>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8003" name="Text Box 3">
            <a:extLst>
              <a:ext uri="{FF2B5EF4-FFF2-40B4-BE49-F238E27FC236}">
                <a16:creationId xmlns:a16="http://schemas.microsoft.com/office/drawing/2014/main" id="{95AE694A-9DFC-4F7E-98F5-B46D4A8DD568}"/>
              </a:ext>
            </a:extLst>
          </p:cNvPr>
          <p:cNvSpPr txBox="1">
            <a:spLocks noChangeArrowheads="1"/>
          </p:cNvSpPr>
          <p:nvPr/>
        </p:nvSpPr>
        <p:spPr bwMode="auto">
          <a:xfrm>
            <a:off x="990600" y="1905000"/>
            <a:ext cx="61087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dirty="0"/>
              <a:t>public </a:t>
            </a:r>
            <a:r>
              <a:rPr lang="en-US" altLang="en-US" sz="3600" b="1" dirty="0">
                <a:solidFill>
                  <a:schemeClr val="accent2"/>
                </a:solidFill>
              </a:rPr>
              <a:t>interface</a:t>
            </a:r>
            <a:r>
              <a:rPr lang="en-US" altLang="en-US" sz="3600" b="1" dirty="0"/>
              <a:t> Locatable</a:t>
            </a:r>
          </a:p>
          <a:p>
            <a:r>
              <a:rPr lang="en-US" altLang="en-US" sz="3600" b="1" dirty="0"/>
              <a:t>{</a:t>
            </a:r>
          </a:p>
          <a:p>
            <a:r>
              <a:rPr lang="en-US" altLang="en-US" sz="3600" b="1" dirty="0"/>
              <a:t>   public int </a:t>
            </a:r>
            <a:r>
              <a:rPr lang="en-US" altLang="en-US" sz="3600" b="1" dirty="0" err="1"/>
              <a:t>getX</a:t>
            </a:r>
            <a:r>
              <a:rPr lang="en-US" altLang="en-US" sz="3600" b="1" dirty="0"/>
              <a:t>();</a:t>
            </a:r>
          </a:p>
          <a:p>
            <a:r>
              <a:rPr lang="en-US" altLang="en-US" sz="3600" b="1" dirty="0"/>
              <a:t>   public int </a:t>
            </a:r>
            <a:r>
              <a:rPr lang="en-US" altLang="en-US" sz="3600" b="1" dirty="0" err="1"/>
              <a:t>getY</a:t>
            </a:r>
            <a:r>
              <a:rPr lang="en-US" altLang="en-US" sz="3600" b="1" dirty="0"/>
              <a:t>();</a:t>
            </a:r>
          </a:p>
          <a:p>
            <a:r>
              <a:rPr lang="en-US" altLang="en-US" sz="3600" b="1" dirty="0"/>
              <a:t>}</a:t>
            </a:r>
          </a:p>
          <a:p>
            <a:endParaRPr lang="en-US" altLang="en-US" sz="3600" b="1" dirty="0"/>
          </a:p>
        </p:txBody>
      </p:sp>
    </p:spTree>
    <p:extLst>
      <p:ext uri="{BB962C8B-B14F-4D97-AF65-F5344CB8AC3E}">
        <p14:creationId xmlns:p14="http://schemas.microsoft.com/office/powerpoint/2010/main" val="2169502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5273482-6653-4B92-9360-65697151539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0050" name="WordArt 2">
            <a:extLst>
              <a:ext uri="{FF2B5EF4-FFF2-40B4-BE49-F238E27FC236}">
                <a16:creationId xmlns:a16="http://schemas.microsoft.com/office/drawing/2014/main" id="{97CF65F1-60B0-4322-B2CA-672534430CC2}"/>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0051" name="Text Box 3">
            <a:extLst>
              <a:ext uri="{FF2B5EF4-FFF2-40B4-BE49-F238E27FC236}">
                <a16:creationId xmlns:a16="http://schemas.microsoft.com/office/drawing/2014/main" id="{583F5AFB-32F0-4CB8-830A-DEB485C15C85}"/>
              </a:ext>
            </a:extLst>
          </p:cNvPr>
          <p:cNvSpPr txBox="1">
            <a:spLocks noChangeArrowheads="1"/>
          </p:cNvSpPr>
          <p:nvPr/>
        </p:nvSpPr>
        <p:spPr bwMode="auto">
          <a:xfrm>
            <a:off x="914400" y="1905000"/>
            <a:ext cx="7764463" cy="399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dirty="0"/>
              <a:t>public </a:t>
            </a:r>
            <a:r>
              <a:rPr lang="en-US" altLang="en-US" sz="3600" b="1" dirty="0">
                <a:solidFill>
                  <a:schemeClr val="accent2"/>
                </a:solidFill>
              </a:rPr>
              <a:t>interface</a:t>
            </a:r>
            <a:r>
              <a:rPr lang="en-US" altLang="en-US" sz="3600" b="1" dirty="0"/>
              <a:t> Movable</a:t>
            </a:r>
          </a:p>
          <a:p>
            <a:r>
              <a:rPr lang="en-US" altLang="en-US" sz="3600" b="1" dirty="0"/>
              <a:t>{</a:t>
            </a:r>
          </a:p>
          <a:p>
            <a:r>
              <a:rPr lang="en-US" altLang="en-US" sz="3600" b="1" dirty="0"/>
              <a:t>   public void </a:t>
            </a:r>
            <a:r>
              <a:rPr lang="en-US" altLang="en-US" sz="3600" b="1" dirty="0" err="1"/>
              <a:t>setPos</a:t>
            </a:r>
            <a:r>
              <a:rPr lang="en-US" altLang="en-US" sz="3600" b="1" dirty="0"/>
              <a:t>( int x, int y);</a:t>
            </a:r>
          </a:p>
          <a:p>
            <a:r>
              <a:rPr lang="en-US" altLang="en-US" sz="3600" b="1" dirty="0"/>
              <a:t>   public void </a:t>
            </a:r>
            <a:r>
              <a:rPr lang="en-US" altLang="en-US" sz="3600" b="1" dirty="0" err="1"/>
              <a:t>setX</a:t>
            </a:r>
            <a:r>
              <a:rPr lang="en-US" altLang="en-US" sz="3600" b="1" dirty="0"/>
              <a:t>( int x );</a:t>
            </a:r>
          </a:p>
          <a:p>
            <a:r>
              <a:rPr lang="en-US" altLang="en-US" sz="3600" b="1" dirty="0"/>
              <a:t>   public void </a:t>
            </a:r>
            <a:r>
              <a:rPr lang="en-US" altLang="en-US" sz="3600" b="1" dirty="0" err="1"/>
              <a:t>setY</a:t>
            </a:r>
            <a:r>
              <a:rPr lang="en-US" altLang="en-US" sz="3600" b="1" dirty="0"/>
              <a:t>( int y );</a:t>
            </a:r>
          </a:p>
          <a:p>
            <a:r>
              <a:rPr lang="en-US" altLang="en-US" sz="3600" b="1" dirty="0"/>
              <a:t>}</a:t>
            </a:r>
          </a:p>
          <a:p>
            <a:pPr eaLnBrk="0" hangingPunct="0"/>
            <a:endParaRPr lang="en-US" altLang="en-US" sz="4000" b="1" dirty="0">
              <a:latin typeface="Arial" panose="020B0604020202020204" pitchFamily="34" charset="0"/>
            </a:endParaRPr>
          </a:p>
        </p:txBody>
      </p:sp>
    </p:spTree>
    <p:extLst>
      <p:ext uri="{BB962C8B-B14F-4D97-AF65-F5344CB8AC3E}">
        <p14:creationId xmlns:p14="http://schemas.microsoft.com/office/powerpoint/2010/main" val="1603121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917CD9D-32FA-4FEA-BD26-E58D3BA36F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8" name="WordArt 2">
            <a:extLst>
              <a:ext uri="{FF2B5EF4-FFF2-40B4-BE49-F238E27FC236}">
                <a16:creationId xmlns:a16="http://schemas.microsoft.com/office/drawing/2014/main" id="{C62D496C-C8C8-453C-9871-D17693DCA18B}"/>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2099" name="Text Box 3">
            <a:extLst>
              <a:ext uri="{FF2B5EF4-FFF2-40B4-BE49-F238E27FC236}">
                <a16:creationId xmlns:a16="http://schemas.microsoft.com/office/drawing/2014/main" id="{F14FAB9A-43C3-407A-A1E3-CF607F32DA26}"/>
              </a:ext>
            </a:extLst>
          </p:cNvPr>
          <p:cNvSpPr txBox="1">
            <a:spLocks noChangeArrowheads="1"/>
          </p:cNvSpPr>
          <p:nvPr/>
        </p:nvSpPr>
        <p:spPr bwMode="auto">
          <a:xfrm>
            <a:off x="381000" y="1981200"/>
            <a:ext cx="87630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class Ship </a:t>
            </a:r>
            <a:r>
              <a:rPr lang="en-US" altLang="en-US" sz="3200" b="1">
                <a:solidFill>
                  <a:schemeClr val="accent2"/>
                </a:solidFill>
              </a:rPr>
              <a:t>implements</a:t>
            </a:r>
            <a:r>
              <a:rPr lang="en-US" altLang="en-US" sz="3200" b="1"/>
              <a:t> Locatable, Movable</a:t>
            </a:r>
          </a:p>
          <a:p>
            <a:r>
              <a:rPr lang="en-US" altLang="en-US" sz="3200" b="1"/>
              <a:t>{</a:t>
            </a:r>
          </a:p>
          <a:p>
            <a:r>
              <a:rPr lang="en-US" altLang="en-US" sz="3200" b="1"/>
              <a:t>	private int xPos, yPos;</a:t>
            </a:r>
          </a:p>
          <a:p>
            <a:endParaRPr lang="en-US" altLang="en-US" sz="3200" b="1"/>
          </a:p>
          <a:p>
            <a:r>
              <a:rPr lang="en-US" altLang="en-US" sz="3200" b="1">
                <a:solidFill>
                  <a:srgbClr val="008000"/>
                </a:solidFill>
              </a:rPr>
              <a:t>	//how many methods must</a:t>
            </a:r>
          </a:p>
          <a:p>
            <a:r>
              <a:rPr lang="en-US" altLang="en-US" sz="3200" b="1">
                <a:solidFill>
                  <a:srgbClr val="008000"/>
                </a:solidFill>
              </a:rPr>
              <a:t>	//be implemented?</a:t>
            </a:r>
          </a:p>
          <a:p>
            <a:r>
              <a:rPr lang="en-US" altLang="en-US" sz="3200" b="1"/>
              <a:t>}</a:t>
            </a:r>
          </a:p>
        </p:txBody>
      </p:sp>
    </p:spTree>
    <p:extLst>
      <p:ext uri="{BB962C8B-B14F-4D97-AF65-F5344CB8AC3E}">
        <p14:creationId xmlns:p14="http://schemas.microsoft.com/office/powerpoint/2010/main" val="3244496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2BB1-5662-9464-CE06-8B56E6E2655E}"/>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6CBCAAD4-C7F1-D207-FEA3-A5FA9870039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8" name="WordArt 2">
            <a:extLst>
              <a:ext uri="{FF2B5EF4-FFF2-40B4-BE49-F238E27FC236}">
                <a16:creationId xmlns:a16="http://schemas.microsoft.com/office/drawing/2014/main" id="{C064FE98-957A-4EE1-383A-61583AA55182}"/>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2099" name="Text Box 3">
            <a:extLst>
              <a:ext uri="{FF2B5EF4-FFF2-40B4-BE49-F238E27FC236}">
                <a16:creationId xmlns:a16="http://schemas.microsoft.com/office/drawing/2014/main" id="{8E468B3A-777C-526A-DF56-25231038D674}"/>
              </a:ext>
            </a:extLst>
          </p:cNvPr>
          <p:cNvSpPr txBox="1">
            <a:spLocks noChangeArrowheads="1"/>
          </p:cNvSpPr>
          <p:nvPr/>
        </p:nvSpPr>
        <p:spPr bwMode="auto">
          <a:xfrm>
            <a:off x="198120" y="1743456"/>
            <a:ext cx="8847294"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dirty="0"/>
              <a:t>class Ship </a:t>
            </a:r>
            <a:r>
              <a:rPr lang="en-US" altLang="en-US" sz="3200" b="1" dirty="0">
                <a:solidFill>
                  <a:schemeClr val="accent2"/>
                </a:solidFill>
              </a:rPr>
              <a:t>implements</a:t>
            </a:r>
            <a:r>
              <a:rPr lang="en-US" altLang="en-US" sz="3200" b="1" dirty="0"/>
              <a:t> Locatable, Movable</a:t>
            </a:r>
          </a:p>
          <a:p>
            <a:r>
              <a:rPr lang="en-US" altLang="en-US" sz="3200" b="1" dirty="0"/>
              <a:t>{</a:t>
            </a:r>
          </a:p>
          <a:p>
            <a:r>
              <a:rPr lang="en-US" altLang="en-US" sz="3200" b="1" dirty="0"/>
              <a:t>    private int </a:t>
            </a:r>
            <a:r>
              <a:rPr lang="en-US" altLang="en-US" sz="3200" b="1" dirty="0" err="1"/>
              <a:t>xPos</a:t>
            </a:r>
            <a:r>
              <a:rPr lang="en-US" altLang="en-US" sz="3200" b="1" dirty="0"/>
              <a:t>, </a:t>
            </a:r>
            <a:r>
              <a:rPr lang="en-US" altLang="en-US" sz="3200" b="1" dirty="0" err="1"/>
              <a:t>yPos</a:t>
            </a:r>
            <a:r>
              <a:rPr lang="en-US" altLang="en-US" sz="3200" b="1" dirty="0"/>
              <a:t>;</a:t>
            </a:r>
          </a:p>
          <a:p>
            <a:endParaRPr lang="en-US" altLang="en-US" sz="2000" b="1" dirty="0"/>
          </a:p>
          <a:p>
            <a:r>
              <a:rPr lang="en-US" altLang="en-US" sz="3200" b="1" dirty="0">
                <a:solidFill>
                  <a:srgbClr val="008000"/>
                </a:solidFill>
              </a:rPr>
              <a:t>    public int </a:t>
            </a:r>
            <a:r>
              <a:rPr lang="en-US" altLang="en-US" sz="3200" b="1" dirty="0" err="1">
                <a:solidFill>
                  <a:srgbClr val="008000"/>
                </a:solidFill>
              </a:rPr>
              <a:t>getX</a:t>
            </a:r>
            <a:r>
              <a:rPr lang="en-US" altLang="en-US" sz="3200" b="1" dirty="0">
                <a:solidFill>
                  <a:srgbClr val="008000"/>
                </a:solidFill>
              </a:rPr>
              <a:t>() { … }</a:t>
            </a:r>
          </a:p>
          <a:p>
            <a:r>
              <a:rPr lang="en-US" altLang="en-US" sz="3200" b="1" dirty="0">
                <a:solidFill>
                  <a:srgbClr val="008000"/>
                </a:solidFill>
              </a:rPr>
              <a:t>    public int </a:t>
            </a:r>
            <a:r>
              <a:rPr lang="en-US" altLang="en-US" sz="3200" b="1" dirty="0" err="1">
                <a:solidFill>
                  <a:srgbClr val="008000"/>
                </a:solidFill>
              </a:rPr>
              <a:t>getY</a:t>
            </a:r>
            <a:r>
              <a:rPr lang="en-US" altLang="en-US" sz="3200" b="1" dirty="0">
                <a:solidFill>
                  <a:srgbClr val="008000"/>
                </a:solidFill>
              </a:rPr>
              <a:t>() { … }</a:t>
            </a:r>
          </a:p>
          <a:p>
            <a:r>
              <a:rPr lang="en-US" altLang="en-US" sz="3200" b="1" dirty="0">
                <a:solidFill>
                  <a:srgbClr val="008000"/>
                </a:solidFill>
              </a:rPr>
              <a:t>    public void </a:t>
            </a:r>
            <a:r>
              <a:rPr lang="en-US" altLang="en-US" sz="3200" b="1" dirty="0" err="1">
                <a:solidFill>
                  <a:srgbClr val="008000"/>
                </a:solidFill>
              </a:rPr>
              <a:t>setPos</a:t>
            </a:r>
            <a:r>
              <a:rPr lang="en-US" altLang="en-US" sz="3200" b="1" dirty="0">
                <a:solidFill>
                  <a:srgbClr val="008000"/>
                </a:solidFill>
              </a:rPr>
              <a:t>( int x, int y) { … }</a:t>
            </a:r>
          </a:p>
          <a:p>
            <a:r>
              <a:rPr lang="en-US" altLang="en-US" sz="3200" b="1" dirty="0">
                <a:solidFill>
                  <a:srgbClr val="008000"/>
                </a:solidFill>
              </a:rPr>
              <a:t>    public void </a:t>
            </a:r>
            <a:r>
              <a:rPr lang="en-US" altLang="en-US" sz="3200" b="1" dirty="0" err="1">
                <a:solidFill>
                  <a:srgbClr val="008000"/>
                </a:solidFill>
              </a:rPr>
              <a:t>setX</a:t>
            </a:r>
            <a:r>
              <a:rPr lang="en-US" altLang="en-US" sz="3200" b="1" dirty="0">
                <a:solidFill>
                  <a:srgbClr val="008000"/>
                </a:solidFill>
              </a:rPr>
              <a:t>( int x ) { … }</a:t>
            </a:r>
          </a:p>
          <a:p>
            <a:r>
              <a:rPr lang="en-US" altLang="en-US" sz="3200" b="1" dirty="0">
                <a:solidFill>
                  <a:srgbClr val="008000"/>
                </a:solidFill>
              </a:rPr>
              <a:t>    public void </a:t>
            </a:r>
            <a:r>
              <a:rPr lang="en-US" altLang="en-US" sz="3200" b="1" dirty="0" err="1">
                <a:solidFill>
                  <a:srgbClr val="008000"/>
                </a:solidFill>
              </a:rPr>
              <a:t>setY</a:t>
            </a:r>
            <a:r>
              <a:rPr lang="en-US" altLang="en-US" sz="3200" b="1" dirty="0">
                <a:solidFill>
                  <a:srgbClr val="008000"/>
                </a:solidFill>
              </a:rPr>
              <a:t>( int y ) { … }</a:t>
            </a:r>
          </a:p>
          <a:p>
            <a:r>
              <a:rPr lang="en-US" altLang="en-US" sz="3200" b="1" dirty="0"/>
              <a:t>}</a:t>
            </a:r>
          </a:p>
        </p:txBody>
      </p:sp>
    </p:spTree>
    <p:extLst>
      <p:ext uri="{BB962C8B-B14F-4D97-AF65-F5344CB8AC3E}">
        <p14:creationId xmlns:p14="http://schemas.microsoft.com/office/powerpoint/2010/main" val="2963523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5B7C-D73D-7D7F-561B-3DC6F2735D52}"/>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E028BEDD-3FEA-7833-1721-5C48D620FBD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9" name="Text Box 3">
            <a:extLst>
              <a:ext uri="{FF2B5EF4-FFF2-40B4-BE49-F238E27FC236}">
                <a16:creationId xmlns:a16="http://schemas.microsoft.com/office/drawing/2014/main" id="{77441178-682D-3608-C943-FC28DCA6C040}"/>
              </a:ext>
            </a:extLst>
          </p:cNvPr>
          <p:cNvSpPr txBox="1">
            <a:spLocks noChangeArrowheads="1"/>
          </p:cNvSpPr>
          <p:nvPr/>
        </p:nvSpPr>
        <p:spPr bwMode="auto">
          <a:xfrm>
            <a:off x="198120" y="1743456"/>
            <a:ext cx="8847294"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dirty="0"/>
              <a:t>class Ship </a:t>
            </a:r>
            <a:r>
              <a:rPr lang="en-US" altLang="en-US" sz="3200" b="1" dirty="0">
                <a:solidFill>
                  <a:schemeClr val="accent2"/>
                </a:solidFill>
              </a:rPr>
              <a:t>implements</a:t>
            </a:r>
            <a:r>
              <a:rPr lang="en-US" altLang="en-US" sz="3200" b="1" dirty="0"/>
              <a:t> Locatable, </a:t>
            </a:r>
            <a:r>
              <a:rPr lang="en-US" altLang="en-US" sz="3200" b="1" dirty="0">
                <a:solidFill>
                  <a:srgbClr val="FF0000"/>
                </a:solidFill>
              </a:rPr>
              <a:t>Movable</a:t>
            </a:r>
          </a:p>
          <a:p>
            <a:r>
              <a:rPr lang="en-US" altLang="en-US" sz="3200" b="1" dirty="0"/>
              <a:t>{</a:t>
            </a:r>
          </a:p>
          <a:p>
            <a:r>
              <a:rPr lang="en-US" altLang="en-US" sz="3200" b="1" dirty="0"/>
              <a:t>    private int </a:t>
            </a:r>
            <a:r>
              <a:rPr lang="en-US" altLang="en-US" sz="3200" b="1" dirty="0" err="1"/>
              <a:t>xPos</a:t>
            </a:r>
            <a:r>
              <a:rPr lang="en-US" altLang="en-US" sz="3200" b="1" dirty="0"/>
              <a:t>, </a:t>
            </a:r>
            <a:r>
              <a:rPr lang="en-US" altLang="en-US" sz="3200" b="1" dirty="0" err="1"/>
              <a:t>yPos</a:t>
            </a:r>
            <a:r>
              <a:rPr lang="en-US" altLang="en-US" sz="3200" b="1" dirty="0"/>
              <a:t>;</a:t>
            </a:r>
          </a:p>
          <a:p>
            <a:endParaRPr lang="en-US" altLang="en-US" sz="2000" b="1" dirty="0"/>
          </a:p>
          <a:p>
            <a:r>
              <a:rPr lang="en-US" altLang="en-US" sz="3200" b="1" dirty="0">
                <a:solidFill>
                  <a:srgbClr val="008000"/>
                </a:solidFill>
              </a:rPr>
              <a:t>    public int </a:t>
            </a:r>
            <a:r>
              <a:rPr lang="en-US" altLang="en-US" sz="3200" b="1" dirty="0" err="1">
                <a:solidFill>
                  <a:srgbClr val="008000"/>
                </a:solidFill>
              </a:rPr>
              <a:t>getX</a:t>
            </a:r>
            <a:r>
              <a:rPr lang="en-US" altLang="en-US" sz="3200" b="1" dirty="0">
                <a:solidFill>
                  <a:srgbClr val="008000"/>
                </a:solidFill>
              </a:rPr>
              <a:t>() { … }</a:t>
            </a:r>
          </a:p>
          <a:p>
            <a:r>
              <a:rPr lang="en-US" altLang="en-US" sz="3200" b="1" dirty="0">
                <a:solidFill>
                  <a:srgbClr val="008000"/>
                </a:solidFill>
              </a:rPr>
              <a:t>    public int </a:t>
            </a:r>
            <a:r>
              <a:rPr lang="en-US" altLang="en-US" sz="3200" b="1" dirty="0" err="1">
                <a:solidFill>
                  <a:srgbClr val="008000"/>
                </a:solidFill>
              </a:rPr>
              <a:t>getY</a:t>
            </a:r>
            <a:r>
              <a:rPr lang="en-US" altLang="en-US" sz="3200" b="1" dirty="0">
                <a:solidFill>
                  <a:srgbClr val="008000"/>
                </a:solidFill>
              </a:rPr>
              <a:t>() { … }</a:t>
            </a:r>
          </a:p>
          <a:p>
            <a:r>
              <a:rPr lang="en-US" altLang="en-US" sz="3200" b="1" dirty="0">
                <a:solidFill>
                  <a:srgbClr val="008000"/>
                </a:solidFill>
              </a:rPr>
              <a:t>    public void </a:t>
            </a:r>
            <a:r>
              <a:rPr lang="en-US" altLang="en-US" sz="3200" b="1" dirty="0" err="1">
                <a:solidFill>
                  <a:srgbClr val="008000"/>
                </a:solidFill>
              </a:rPr>
              <a:t>setPos</a:t>
            </a:r>
            <a:r>
              <a:rPr lang="en-US" altLang="en-US" sz="3200" b="1" dirty="0">
                <a:solidFill>
                  <a:srgbClr val="008000"/>
                </a:solidFill>
              </a:rPr>
              <a:t>( int x, int y) { … }</a:t>
            </a:r>
          </a:p>
          <a:p>
            <a:r>
              <a:rPr lang="en-US" altLang="en-US" sz="3200" b="1" dirty="0">
                <a:solidFill>
                  <a:srgbClr val="008000"/>
                </a:solidFill>
              </a:rPr>
              <a:t>    public void </a:t>
            </a:r>
            <a:r>
              <a:rPr lang="en-US" altLang="en-US" sz="3200" b="1" dirty="0" err="1">
                <a:solidFill>
                  <a:srgbClr val="008000"/>
                </a:solidFill>
              </a:rPr>
              <a:t>setX</a:t>
            </a:r>
            <a:r>
              <a:rPr lang="en-US" altLang="en-US" sz="3200" b="1" dirty="0">
                <a:solidFill>
                  <a:srgbClr val="008000"/>
                </a:solidFill>
              </a:rPr>
              <a:t>( int x ) { … }</a:t>
            </a:r>
          </a:p>
          <a:p>
            <a:r>
              <a:rPr lang="en-US" altLang="en-US" sz="3200" b="1" dirty="0"/>
              <a:t>}</a:t>
            </a:r>
          </a:p>
        </p:txBody>
      </p:sp>
      <p:sp>
        <p:nvSpPr>
          <p:cNvPr id="2" name="Rectangle 1">
            <a:extLst>
              <a:ext uri="{FF2B5EF4-FFF2-40B4-BE49-F238E27FC236}">
                <a16:creationId xmlns:a16="http://schemas.microsoft.com/office/drawing/2014/main" id="{5B9D2D94-C2DE-4282-DA79-9975E8523117}"/>
              </a:ext>
            </a:extLst>
          </p:cNvPr>
          <p:cNvSpPr/>
          <p:nvPr/>
        </p:nvSpPr>
        <p:spPr>
          <a:xfrm>
            <a:off x="780009" y="282452"/>
            <a:ext cx="7683515" cy="830997"/>
          </a:xfrm>
          <a:prstGeom prst="rect">
            <a:avLst/>
          </a:prstGeom>
          <a:noFill/>
        </p:spPr>
        <p:txBody>
          <a:bodyPr wrap="none" lIns="91440" tIns="45720" rIns="91440" bIns="45720">
            <a:spAutoFit/>
          </a:bodyPr>
          <a:lstStyle/>
          <a:p>
            <a:pPr algn="ctr"/>
            <a:r>
              <a:rPr lang="en-US" sz="4800" b="1" cap="none" spc="0" dirty="0">
                <a:ln w="13462">
                  <a:solidFill>
                    <a:schemeClr val="bg1"/>
                  </a:solidFill>
                  <a:prstDash val="solid"/>
                </a:ln>
                <a:solidFill>
                  <a:srgbClr val="FF0000"/>
                </a:solidFill>
                <a:effectLst>
                  <a:outerShdw dist="38100" dir="2700000" algn="bl" rotWithShape="0">
                    <a:schemeClr val="accent5"/>
                  </a:outerShdw>
                </a:effectLst>
              </a:rPr>
              <a:t>This class won’t compile</a:t>
            </a:r>
          </a:p>
        </p:txBody>
      </p:sp>
    </p:spTree>
    <p:extLst>
      <p:ext uri="{BB962C8B-B14F-4D97-AF65-F5344CB8AC3E}">
        <p14:creationId xmlns:p14="http://schemas.microsoft.com/office/powerpoint/2010/main" val="4059611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8B96D-4875-692F-D57D-1591C37D7EDE}"/>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DECFD11E-29BF-27D1-BF12-9C8FF5CC05B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9" name="Text Box 3">
            <a:extLst>
              <a:ext uri="{FF2B5EF4-FFF2-40B4-BE49-F238E27FC236}">
                <a16:creationId xmlns:a16="http://schemas.microsoft.com/office/drawing/2014/main" id="{D3BB2A83-00F0-C332-AFA8-F3CE3530C9DD}"/>
              </a:ext>
            </a:extLst>
          </p:cNvPr>
          <p:cNvSpPr txBox="1">
            <a:spLocks noChangeArrowheads="1"/>
          </p:cNvSpPr>
          <p:nvPr/>
        </p:nvSpPr>
        <p:spPr bwMode="auto">
          <a:xfrm>
            <a:off x="152401" y="1917192"/>
            <a:ext cx="894588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solidFill>
                  <a:schemeClr val="accent2"/>
                </a:solidFill>
              </a:rPr>
              <a:t>abstract</a:t>
            </a:r>
            <a:r>
              <a:rPr lang="en-US" altLang="en-US" sz="3200" b="1" dirty="0"/>
              <a:t> class Ship </a:t>
            </a:r>
            <a:r>
              <a:rPr lang="en-US" altLang="en-US" sz="3200" b="1" dirty="0">
                <a:solidFill>
                  <a:schemeClr val="accent2"/>
                </a:solidFill>
              </a:rPr>
              <a:t>implements</a:t>
            </a:r>
            <a:r>
              <a:rPr lang="en-US" altLang="en-US" sz="3200" b="1" dirty="0"/>
              <a:t> Locatable, </a:t>
            </a:r>
          </a:p>
          <a:p>
            <a:pPr>
              <a:tabLst>
                <a:tab pos="6456363" algn="l"/>
              </a:tabLst>
            </a:pPr>
            <a:r>
              <a:rPr lang="en-US" altLang="en-US" sz="3200" b="1" dirty="0"/>
              <a:t>	Movable  {</a:t>
            </a:r>
          </a:p>
          <a:p>
            <a:r>
              <a:rPr lang="en-US" altLang="en-US" sz="3200" b="1" dirty="0"/>
              <a:t>    private int </a:t>
            </a:r>
            <a:r>
              <a:rPr lang="en-US" altLang="en-US" sz="3200" b="1" dirty="0" err="1"/>
              <a:t>xPos</a:t>
            </a:r>
            <a:r>
              <a:rPr lang="en-US" altLang="en-US" sz="3200" b="1" dirty="0"/>
              <a:t>, </a:t>
            </a:r>
            <a:r>
              <a:rPr lang="en-US" altLang="en-US" sz="3200" b="1" dirty="0" err="1"/>
              <a:t>yPos</a:t>
            </a:r>
            <a:r>
              <a:rPr lang="en-US" altLang="en-US" sz="3200" b="1" dirty="0"/>
              <a:t>;</a:t>
            </a:r>
          </a:p>
          <a:p>
            <a:endParaRPr lang="en-US" altLang="en-US" sz="2000" b="1" dirty="0"/>
          </a:p>
          <a:p>
            <a:r>
              <a:rPr lang="en-US" altLang="en-US" sz="3200" b="1" dirty="0">
                <a:solidFill>
                  <a:srgbClr val="008000"/>
                </a:solidFill>
              </a:rPr>
              <a:t>    public int </a:t>
            </a:r>
            <a:r>
              <a:rPr lang="en-US" altLang="en-US" sz="3200" b="1" dirty="0" err="1">
                <a:solidFill>
                  <a:srgbClr val="008000"/>
                </a:solidFill>
              </a:rPr>
              <a:t>getX</a:t>
            </a:r>
            <a:r>
              <a:rPr lang="en-US" altLang="en-US" sz="3200" b="1" dirty="0">
                <a:solidFill>
                  <a:srgbClr val="008000"/>
                </a:solidFill>
              </a:rPr>
              <a:t>() { … }</a:t>
            </a:r>
          </a:p>
          <a:p>
            <a:r>
              <a:rPr lang="en-US" altLang="en-US" sz="3200" b="1" dirty="0">
                <a:solidFill>
                  <a:srgbClr val="008000"/>
                </a:solidFill>
              </a:rPr>
              <a:t>    public int </a:t>
            </a:r>
            <a:r>
              <a:rPr lang="en-US" altLang="en-US" sz="3200" b="1" dirty="0" err="1">
                <a:solidFill>
                  <a:srgbClr val="008000"/>
                </a:solidFill>
              </a:rPr>
              <a:t>getY</a:t>
            </a:r>
            <a:r>
              <a:rPr lang="en-US" altLang="en-US" sz="3200" b="1" dirty="0">
                <a:solidFill>
                  <a:srgbClr val="008000"/>
                </a:solidFill>
              </a:rPr>
              <a:t>() { … }</a:t>
            </a:r>
          </a:p>
          <a:p>
            <a:r>
              <a:rPr lang="en-US" altLang="en-US" sz="3200" b="1" dirty="0">
                <a:solidFill>
                  <a:srgbClr val="008000"/>
                </a:solidFill>
              </a:rPr>
              <a:t>    public void </a:t>
            </a:r>
            <a:r>
              <a:rPr lang="en-US" altLang="en-US" sz="3200" b="1" dirty="0" err="1">
                <a:solidFill>
                  <a:srgbClr val="008000"/>
                </a:solidFill>
              </a:rPr>
              <a:t>setPos</a:t>
            </a:r>
            <a:r>
              <a:rPr lang="en-US" altLang="en-US" sz="3200" b="1" dirty="0">
                <a:solidFill>
                  <a:srgbClr val="008000"/>
                </a:solidFill>
              </a:rPr>
              <a:t>( int x, int y) { … }</a:t>
            </a:r>
          </a:p>
          <a:p>
            <a:r>
              <a:rPr lang="en-US" altLang="en-US" sz="3200" b="1" dirty="0">
                <a:solidFill>
                  <a:srgbClr val="008000"/>
                </a:solidFill>
              </a:rPr>
              <a:t>    public void </a:t>
            </a:r>
            <a:r>
              <a:rPr lang="en-US" altLang="en-US" sz="3200" b="1" dirty="0" err="1">
                <a:solidFill>
                  <a:srgbClr val="008000"/>
                </a:solidFill>
              </a:rPr>
              <a:t>setX</a:t>
            </a:r>
            <a:r>
              <a:rPr lang="en-US" altLang="en-US" sz="3200" b="1" dirty="0">
                <a:solidFill>
                  <a:srgbClr val="008000"/>
                </a:solidFill>
              </a:rPr>
              <a:t>( int x ) { … }</a:t>
            </a:r>
          </a:p>
          <a:p>
            <a:r>
              <a:rPr lang="en-US" altLang="en-US" sz="3200" b="1" dirty="0"/>
              <a:t>}</a:t>
            </a:r>
          </a:p>
        </p:txBody>
      </p:sp>
      <p:sp>
        <p:nvSpPr>
          <p:cNvPr id="2" name="Rectangle 1">
            <a:extLst>
              <a:ext uri="{FF2B5EF4-FFF2-40B4-BE49-F238E27FC236}">
                <a16:creationId xmlns:a16="http://schemas.microsoft.com/office/drawing/2014/main" id="{0B99A013-5FDC-8C12-8954-E2C0C606E171}"/>
              </a:ext>
            </a:extLst>
          </p:cNvPr>
          <p:cNvSpPr/>
          <p:nvPr/>
        </p:nvSpPr>
        <p:spPr>
          <a:xfrm>
            <a:off x="198120" y="152400"/>
            <a:ext cx="8616217" cy="1661993"/>
          </a:xfrm>
          <a:prstGeom prst="rect">
            <a:avLst/>
          </a:prstGeom>
          <a:noFill/>
        </p:spPr>
        <p:txBody>
          <a:bodyPr wrap="square" lIns="91440" tIns="45720" rIns="91440" bIns="45720">
            <a:spAutoFit/>
          </a:bodyPr>
          <a:lstStyle/>
          <a:p>
            <a:pPr algn="ctr"/>
            <a:r>
              <a:rPr lang="en-US" sz="4400" b="1" dirty="0">
                <a:ln w="13462">
                  <a:solidFill>
                    <a:schemeClr val="bg1"/>
                  </a:solidFill>
                  <a:prstDash val="solid"/>
                </a:ln>
                <a:solidFill>
                  <a:srgbClr val="FF0000"/>
                </a:solidFill>
                <a:effectLst>
                  <a:outerShdw dist="38100" dir="2700000" algn="bl" rotWithShape="0">
                    <a:schemeClr val="accent5"/>
                  </a:outerShdw>
                </a:effectLst>
              </a:rPr>
              <a:t>Unless you declare it </a:t>
            </a:r>
            <a:r>
              <a:rPr lang="en-US" sz="5400" b="1" dirty="0">
                <a:ln w="13462">
                  <a:solidFill>
                    <a:schemeClr val="bg1"/>
                  </a:solidFill>
                  <a:prstDash val="solid"/>
                </a:ln>
                <a:solidFill>
                  <a:srgbClr val="FF0000"/>
                </a:solidFill>
                <a:effectLst>
                  <a:outerShdw dist="38100" dir="2700000" algn="bl" rotWithShape="0">
                    <a:schemeClr val="accent5"/>
                  </a:outerShdw>
                </a:effectLst>
              </a:rPr>
              <a:t>Abstract</a:t>
            </a:r>
            <a:endParaRPr lang="en-US" sz="5400" b="1" cap="none" spc="0" dirty="0">
              <a:ln w="13462">
                <a:solidFill>
                  <a:schemeClr val="bg1"/>
                </a:solidFill>
                <a:prstDash val="solid"/>
              </a:ln>
              <a:solidFill>
                <a:srgbClr val="FF0000"/>
              </a:solidFill>
              <a:effectLst>
                <a:outerShdw dist="38100" dir="2700000" algn="bl" rotWithShape="0">
                  <a:schemeClr val="accent5"/>
                </a:outerShdw>
              </a:effectLst>
            </a:endParaRPr>
          </a:p>
        </p:txBody>
      </p:sp>
    </p:spTree>
    <p:extLst>
      <p:ext uri="{BB962C8B-B14F-4D97-AF65-F5344CB8AC3E}">
        <p14:creationId xmlns:p14="http://schemas.microsoft.com/office/powerpoint/2010/main" val="574369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762000" y="1752600"/>
            <a:ext cx="7772400" cy="3581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defRPr/>
            </a:pPr>
            <a:r>
              <a:rPr lang="en-US" sz="44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Access Modifiers</a:t>
            </a:r>
          </a:p>
          <a:p>
            <a:pPr algn="ctr">
              <a:defRPr/>
            </a:pPr>
            <a:endParaRPr lang="en-US" sz="20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a:p>
            <a:pPr algn="ctr">
              <a:defRPr/>
            </a:pP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r>
              <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Visibility Modifiers</a:t>
            </a: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p>
          <a:p>
            <a:pPr algn="ctr">
              <a:defRPr/>
            </a:pPr>
            <a:endPar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p:txBody>
      </p:sp>
    </p:spTree>
    <p:extLst>
      <p:ext uri="{BB962C8B-B14F-4D97-AF65-F5344CB8AC3E}">
        <p14:creationId xmlns:p14="http://schemas.microsoft.com/office/powerpoint/2010/main" val="3728430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5779"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562673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7827" name="Rectangle 2"/>
          <p:cNvSpPr>
            <a:spLocks noChangeArrowheads="1"/>
          </p:cNvSpPr>
          <p:nvPr/>
        </p:nvSpPr>
        <p:spPr bwMode="auto">
          <a:xfrm>
            <a:off x="685800" y="1752600"/>
            <a:ext cx="752316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r>
              <a:rPr lang="en-US" altLang="en-US" sz="4000">
                <a:solidFill>
                  <a:schemeClr val="accent2"/>
                </a:solidFill>
                <a:latin typeface="Arial" panose="020B0604020202020204" pitchFamily="34" charset="0"/>
              </a:rPr>
              <a:t>public</a:t>
            </a:r>
          </a:p>
          <a:p>
            <a:pPr>
              <a:spcBef>
                <a:spcPct val="0"/>
              </a:spcBef>
              <a:buFontTx/>
              <a:buNone/>
            </a:pPr>
            <a:r>
              <a:rPr lang="en-US" altLang="en-US" sz="4000">
                <a:latin typeface="Arial" panose="020B0604020202020204" pitchFamily="34" charset="0"/>
              </a:rPr>
              <a:t>can be accessed by members</a:t>
            </a:r>
          </a:p>
          <a:p>
            <a:pPr>
              <a:spcBef>
                <a:spcPct val="0"/>
              </a:spcBef>
              <a:buFontTx/>
              <a:buNone/>
            </a:pPr>
            <a:r>
              <a:rPr lang="en-US" altLang="en-US" sz="4000">
                <a:latin typeface="Arial" panose="020B0604020202020204" pitchFamily="34" charset="0"/>
              </a:rPr>
              <a:t>of </a:t>
            </a:r>
            <a:r>
              <a:rPr lang="en-US" altLang="en-US" sz="4000" u="sng">
                <a:latin typeface="Arial" panose="020B0604020202020204" pitchFamily="34" charset="0"/>
              </a:rPr>
              <a:t>any</a:t>
            </a:r>
            <a:r>
              <a:rPr lang="en-US" altLang="en-US" sz="4000">
                <a:latin typeface="Arial" panose="020B0604020202020204" pitchFamily="34" charset="0"/>
              </a:rPr>
              <a:t> class.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This is the least restrictive </a:t>
            </a:r>
          </a:p>
          <a:p>
            <a:pPr>
              <a:spcBef>
                <a:spcPct val="0"/>
              </a:spcBef>
              <a:buFontTx/>
              <a:buNone/>
            </a:pPr>
            <a:r>
              <a:rPr lang="en-US" altLang="en-US" sz="4000">
                <a:latin typeface="Arial" panose="020B0604020202020204" pitchFamily="34" charset="0"/>
              </a:rPr>
              <a:t>visibility level.</a:t>
            </a:r>
          </a:p>
        </p:txBody>
      </p:sp>
      <p:sp>
        <p:nvSpPr>
          <p:cNvPr id="77828" name="WordArt 4"/>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public</a:t>
            </a:r>
          </a:p>
        </p:txBody>
      </p:sp>
    </p:spTree>
    <p:extLst>
      <p:ext uri="{BB962C8B-B14F-4D97-AF65-F5344CB8AC3E}">
        <p14:creationId xmlns:p14="http://schemas.microsoft.com/office/powerpoint/2010/main" val="3429505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ublic access&#10;}&#10;public class MyOtherClass {&#10;}&#10;Your file:&#10;package yourPackage;&#10;class YourClass extends MyClass { &#10;}&#10;class YourOtherClass extends MyClass {&#10;}&#10;My public class member can be access from any of the other classes.">
            <a:extLst>
              <a:ext uri="{FF2B5EF4-FFF2-40B4-BE49-F238E27FC236}">
                <a16:creationId xmlns:a16="http://schemas.microsoft.com/office/drawing/2014/main" id="{1667D4FA-C3E8-BE3F-0214-43E7C61F61CA}"/>
              </a:ext>
            </a:extLst>
          </p:cNvPr>
          <p:cNvGrpSpPr/>
          <p:nvPr/>
        </p:nvGrpSpPr>
        <p:grpSpPr>
          <a:xfrm>
            <a:off x="-76200" y="-152400"/>
            <a:ext cx="9067800" cy="7239000"/>
            <a:chOff x="-76200" y="-152400"/>
            <a:chExt cx="9067800" cy="7239000"/>
          </a:xfrm>
        </p:grpSpPr>
        <p:pic>
          <p:nvPicPr>
            <p:cNvPr id="18434"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8436"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8438" name="TextBox 8"/>
            <p:cNvSpPr txBox="1">
              <a:spLocks noChangeArrowheads="1"/>
            </p:cNvSpPr>
            <p:nvPr/>
          </p:nvSpPr>
          <p:spPr bwMode="auto">
            <a:xfrm>
              <a:off x="685800" y="920750"/>
              <a:ext cx="236635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public</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8439"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0"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1"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2" name="Freeform 12"/>
            <p:cNvSpPr>
              <a:spLocks/>
            </p:cNvSpPr>
            <p:nvPr/>
          </p:nvSpPr>
          <p:spPr bwMode="auto">
            <a:xfrm>
              <a:off x="2057400" y="2178050"/>
              <a:ext cx="982663" cy="657225"/>
            </a:xfrm>
            <a:custGeom>
              <a:avLst/>
              <a:gdLst>
                <a:gd name="T0" fmla="*/ 832486 w 982696"/>
                <a:gd name="T1" fmla="*/ 0 h 657289"/>
                <a:gd name="T2" fmla="*/ 982607 w 982696"/>
                <a:gd name="T3" fmla="*/ 327514 h 657289"/>
                <a:gd name="T4" fmla="*/ 846134 w 982696"/>
                <a:gd name="T5" fmla="*/ 655029 h 657289"/>
                <a:gd name="T6" fmla="*/ 549362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Freeform 13"/>
            <p:cNvSpPr>
              <a:spLocks/>
            </p:cNvSpPr>
            <p:nvPr/>
          </p:nvSpPr>
          <p:spPr bwMode="auto">
            <a:xfrm>
              <a:off x="3557588" y="1736725"/>
              <a:ext cx="1309687" cy="584200"/>
            </a:xfrm>
            <a:custGeom>
              <a:avLst/>
              <a:gdLst>
                <a:gd name="T0" fmla="*/ 0 w 1309941"/>
                <a:gd name="T1" fmla="*/ 400860 h 584262"/>
                <a:gd name="T2" fmla="*/ 387181 w 1309941"/>
                <a:gd name="T3" fmla="*/ 584111 h 584262"/>
                <a:gd name="T4" fmla="*/ 687618 w 1309941"/>
                <a:gd name="T5" fmla="*/ 382339 h 584262"/>
                <a:gd name="T6" fmla="*/ 835966 w 1309941"/>
                <a:gd name="T7" fmla="*/ 19229 h 584262"/>
                <a:gd name="T8" fmla="*/ 1309687 w 1309941"/>
                <a:gd name="T9" fmla="*/ 0 h 584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9941" h="584262">
                  <a:moveTo>
                    <a:pt x="0" y="400903"/>
                  </a:moveTo>
                  <a:cubicBezTo>
                    <a:pt x="73925" y="510085"/>
                    <a:pt x="272631" y="587260"/>
                    <a:pt x="387256" y="584173"/>
                  </a:cubicBezTo>
                  <a:cubicBezTo>
                    <a:pt x="501881" y="581086"/>
                    <a:pt x="612939" y="476537"/>
                    <a:pt x="687751" y="382380"/>
                  </a:cubicBezTo>
                  <a:cubicBezTo>
                    <a:pt x="762563" y="288223"/>
                    <a:pt x="706474" y="39702"/>
                    <a:pt x="836128" y="19231"/>
                  </a:cubicBezTo>
                  <a:cubicBezTo>
                    <a:pt x="965782" y="-1240"/>
                    <a:pt x="1254612" y="7754"/>
                    <a:pt x="1309941"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Freeform 14"/>
            <p:cNvSpPr>
              <a:spLocks/>
            </p:cNvSpPr>
            <p:nvPr/>
          </p:nvSpPr>
          <p:spPr bwMode="auto">
            <a:xfrm>
              <a:off x="3144838"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Freeform 15"/>
            <p:cNvSpPr>
              <a:spLocks/>
            </p:cNvSpPr>
            <p:nvPr/>
          </p:nvSpPr>
          <p:spPr bwMode="auto">
            <a:xfrm>
              <a:off x="3397250" y="2270125"/>
              <a:ext cx="2868613" cy="3178175"/>
            </a:xfrm>
            <a:custGeom>
              <a:avLst/>
              <a:gdLst>
                <a:gd name="T0" fmla="*/ 0 w 2868616"/>
                <a:gd name="T1" fmla="*/ 0 h 3179242"/>
                <a:gd name="T2" fmla="*/ 1015540 w 2868616"/>
                <a:gd name="T3" fmla="*/ 964037 h 3179242"/>
                <a:gd name="T4" fmla="*/ 1729148 w 2868616"/>
                <a:gd name="T5" fmla="*/ 1665085 h 3179242"/>
                <a:gd name="T6" fmla="*/ 2221414 w 2868616"/>
                <a:gd name="T7" fmla="*/ 2248934 h 3179242"/>
                <a:gd name="T8" fmla="*/ 2235333 w 2868616"/>
                <a:gd name="T9" fmla="*/ 2872993 h 3179242"/>
                <a:gd name="T10" fmla="*/ 2403523 w 2868616"/>
                <a:gd name="T11" fmla="*/ 3135779 h 3179242"/>
                <a:gd name="T12" fmla="*/ 2858715 w 2868616"/>
                <a:gd name="T13" fmla="*/ 3173745 h 31792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68616" h="3179242">
                  <a:moveTo>
                    <a:pt x="0" y="0"/>
                  </a:moveTo>
                  <a:cubicBezTo>
                    <a:pt x="73925" y="109182"/>
                    <a:pt x="727349" y="686754"/>
                    <a:pt x="1015541" y="964361"/>
                  </a:cubicBezTo>
                  <a:cubicBezTo>
                    <a:pt x="1303733" y="1241968"/>
                    <a:pt x="1558107" y="1426930"/>
                    <a:pt x="1729150" y="1665644"/>
                  </a:cubicBezTo>
                  <a:cubicBezTo>
                    <a:pt x="1900193" y="1904358"/>
                    <a:pt x="2137052" y="2048303"/>
                    <a:pt x="2221416" y="2249689"/>
                  </a:cubicBezTo>
                  <a:cubicBezTo>
                    <a:pt x="2305780" y="2451075"/>
                    <a:pt x="2221312" y="2726101"/>
                    <a:pt x="2235335" y="2873958"/>
                  </a:cubicBezTo>
                  <a:cubicBezTo>
                    <a:pt x="2249358" y="3021815"/>
                    <a:pt x="2318679" y="3070361"/>
                    <a:pt x="2403526" y="3136832"/>
                  </a:cubicBezTo>
                  <a:cubicBezTo>
                    <a:pt x="2255675" y="3102713"/>
                    <a:pt x="2959380" y="3200773"/>
                    <a:pt x="2858718" y="3174811"/>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77476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9875" name="Rectangle 2"/>
          <p:cNvSpPr>
            <a:spLocks noChangeArrowheads="1"/>
          </p:cNvSpPr>
          <p:nvPr/>
        </p:nvSpPr>
        <p:spPr bwMode="auto">
          <a:xfrm>
            <a:off x="762000" y="1524000"/>
            <a:ext cx="81756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private</a:t>
            </a:r>
            <a:r>
              <a:rPr lang="en-US" altLang="en-US" sz="4000">
                <a:latin typeface="Arial" panose="020B0604020202020204" pitchFamily="34" charset="0"/>
              </a:rPr>
              <a:t> can only be accessed</a:t>
            </a:r>
          </a:p>
          <a:p>
            <a:pPr>
              <a:spcBef>
                <a:spcPct val="0"/>
              </a:spcBef>
              <a:buFontTx/>
              <a:buNone/>
            </a:pPr>
            <a:r>
              <a:rPr lang="en-US" altLang="en-US" sz="4000">
                <a:latin typeface="Arial" panose="020B0604020202020204" pitchFamily="34" charset="0"/>
              </a:rPr>
              <a:t>by members of the class where</a:t>
            </a:r>
          </a:p>
          <a:p>
            <a:pPr>
              <a:spcBef>
                <a:spcPct val="0"/>
              </a:spcBef>
              <a:buFontTx/>
              <a:buNone/>
            </a:pPr>
            <a:r>
              <a:rPr lang="en-US" altLang="en-US" sz="4000">
                <a:latin typeface="Arial" panose="020B0604020202020204" pitchFamily="34" charset="0"/>
              </a:rPr>
              <a:t>they are defined.</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Private members may not be</a:t>
            </a:r>
          </a:p>
          <a:p>
            <a:pPr>
              <a:spcBef>
                <a:spcPct val="0"/>
              </a:spcBef>
              <a:buFontTx/>
              <a:buNone/>
            </a:pPr>
            <a:r>
              <a:rPr lang="en-US" altLang="en-US" sz="4000">
                <a:latin typeface="Arial" panose="020B0604020202020204" pitchFamily="34" charset="0"/>
              </a:rPr>
              <a:t>accessed directly by sub classes</a:t>
            </a:r>
          </a:p>
          <a:p>
            <a:pPr>
              <a:spcBef>
                <a:spcPct val="0"/>
              </a:spcBef>
              <a:buFontTx/>
              <a:buNone/>
            </a:pPr>
            <a:r>
              <a:rPr lang="en-US" altLang="en-US" sz="4000">
                <a:latin typeface="Arial" panose="020B0604020202020204" pitchFamily="34" charset="0"/>
              </a:rPr>
              <a:t>or by other classes.</a:t>
            </a:r>
          </a:p>
        </p:txBody>
      </p:sp>
      <p:sp>
        <p:nvSpPr>
          <p:cNvPr id="79876"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private</a:t>
            </a:r>
          </a:p>
        </p:txBody>
      </p:sp>
    </p:spTree>
    <p:extLst>
      <p:ext uri="{BB962C8B-B14F-4D97-AF65-F5344CB8AC3E}">
        <p14:creationId xmlns:p14="http://schemas.microsoft.com/office/powerpoint/2010/main" val="1315765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ivate access&#10;}&#10;public class MyOtherClass {&#10;}&#10;Your file:&#10;package yourPackage;&#10;class YourClass extends MyClass { &#10;}&#10;class YourOtherClass extends MyClass {&#10;}&#10;My private class member can only be accessed from inside the same class.">
            <a:extLst>
              <a:ext uri="{FF2B5EF4-FFF2-40B4-BE49-F238E27FC236}">
                <a16:creationId xmlns:a16="http://schemas.microsoft.com/office/drawing/2014/main" id="{9E912DA1-0E8A-8046-DE8B-F34A399CA6E8}"/>
              </a:ext>
            </a:extLst>
          </p:cNvPr>
          <p:cNvGrpSpPr/>
          <p:nvPr/>
        </p:nvGrpSpPr>
        <p:grpSpPr>
          <a:xfrm>
            <a:off x="-76200" y="-152400"/>
            <a:ext cx="9067800" cy="7239000"/>
            <a:chOff x="-76200" y="-152400"/>
            <a:chExt cx="9067800" cy="7239000"/>
          </a:xfrm>
        </p:grpSpPr>
        <p:pic>
          <p:nvPicPr>
            <p:cNvPr id="9218"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9220"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9222" name="TextBox 8"/>
            <p:cNvSpPr txBox="1">
              <a:spLocks noChangeArrowheads="1"/>
            </p:cNvSpPr>
            <p:nvPr/>
          </p:nvSpPr>
          <p:spPr bwMode="auto">
            <a:xfrm>
              <a:off x="685800" y="920750"/>
              <a:ext cx="25010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private</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i="1" dirty="0">
                <a:solidFill>
                  <a:srgbClr val="7030A0"/>
                </a:solidFill>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9223" name="TextBox 9"/>
            <p:cNvSpPr txBox="1">
              <a:spLocks noChangeArrowheads="1"/>
            </p:cNvSpPr>
            <p:nvPr/>
          </p:nvSpPr>
          <p:spPr bwMode="auto">
            <a:xfrm>
              <a:off x="4292600" y="920750"/>
              <a:ext cx="1955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4"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5"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6" name="Freeform 12"/>
            <p:cNvSpPr>
              <a:spLocks/>
            </p:cNvSpPr>
            <p:nvPr/>
          </p:nvSpPr>
          <p:spPr bwMode="auto">
            <a:xfrm>
              <a:off x="2133600" y="1989138"/>
              <a:ext cx="671513" cy="561975"/>
            </a:xfrm>
            <a:custGeom>
              <a:avLst/>
              <a:gdLst>
                <a:gd name="T0" fmla="*/ 587326 w 670973"/>
                <a:gd name="T1" fmla="*/ 0 h 561907"/>
                <a:gd name="T2" fmla="*/ 669279 w 670973"/>
                <a:gd name="T3" fmla="*/ 177441 h 561907"/>
                <a:gd name="T4" fmla="*/ 532691 w 670973"/>
                <a:gd name="T5" fmla="*/ 505028 h 561907"/>
                <a:gd name="T6" fmla="*/ 0 w 670973"/>
                <a:gd name="T7" fmla="*/ 559626 h 561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0973" h="561907">
                  <a:moveTo>
                    <a:pt x="586854" y="0"/>
                  </a:moveTo>
                  <a:cubicBezTo>
                    <a:pt x="660779" y="109182"/>
                    <a:pt x="677839" y="93259"/>
                    <a:pt x="668741" y="177420"/>
                  </a:cubicBezTo>
                  <a:cubicBezTo>
                    <a:pt x="659643" y="261581"/>
                    <a:pt x="643720" y="441277"/>
                    <a:pt x="532263" y="504967"/>
                  </a:cubicBezTo>
                  <a:cubicBezTo>
                    <a:pt x="420806" y="568657"/>
                    <a:pt x="210403" y="564107"/>
                    <a:pt x="0" y="559558"/>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044238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23" name="Rectangle 2"/>
          <p:cNvSpPr>
            <a:spLocks noChangeArrowheads="1"/>
          </p:cNvSpPr>
          <p:nvPr/>
        </p:nvSpPr>
        <p:spPr bwMode="auto">
          <a:xfrm>
            <a:off x="685800" y="1524000"/>
            <a:ext cx="795178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This is the default visibility.</a:t>
            </a:r>
          </a:p>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package</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any other</a:t>
            </a:r>
          </a:p>
          <a:p>
            <a:pPr>
              <a:spcBef>
                <a:spcPct val="0"/>
              </a:spcBef>
              <a:buFontTx/>
              <a:buNone/>
            </a:pPr>
            <a:r>
              <a:rPr lang="en-US" altLang="en-US" sz="4000">
                <a:latin typeface="Arial" panose="020B0604020202020204" pitchFamily="34" charset="0"/>
              </a:rPr>
              <a:t>class in the same package.</a:t>
            </a:r>
          </a:p>
          <a:p>
            <a:pPr>
              <a:spcBef>
                <a:spcPct val="0"/>
              </a:spcBef>
              <a:buFontTx/>
              <a:buNone/>
            </a:pPr>
            <a:endParaRPr lang="en-US" altLang="en-US" sz="1400">
              <a:latin typeface="Arial" panose="020B0604020202020204" pitchFamily="34" charset="0"/>
            </a:endParaRPr>
          </a:p>
          <a:p>
            <a:pPr>
              <a:spcBef>
                <a:spcPct val="0"/>
              </a:spcBef>
              <a:buFontTx/>
              <a:buNone/>
            </a:pPr>
            <a:r>
              <a:rPr lang="en-US" altLang="en-US" sz="4000">
                <a:latin typeface="Arial" panose="020B0604020202020204" pitchFamily="34" charset="0"/>
              </a:rPr>
              <a:t>Sub class members may access</a:t>
            </a:r>
          </a:p>
          <a:p>
            <a:pPr>
              <a:spcBef>
                <a:spcPct val="0"/>
              </a:spcBef>
              <a:buFontTx/>
              <a:buNone/>
            </a:pPr>
            <a:r>
              <a:rPr lang="en-US" altLang="en-US" sz="4000">
                <a:latin typeface="Arial" panose="020B0604020202020204" pitchFamily="34" charset="0"/>
              </a:rPr>
              <a:t>them only if the sub class is in</a:t>
            </a:r>
          </a:p>
          <a:p>
            <a:pPr>
              <a:spcBef>
                <a:spcPct val="0"/>
              </a:spcBef>
              <a:buFontTx/>
              <a:buNone/>
            </a:pPr>
            <a:r>
              <a:rPr lang="en-US" altLang="en-US" sz="4000">
                <a:latin typeface="Arial" panose="020B0604020202020204" pitchFamily="34" charset="0"/>
              </a:rPr>
              <a:t>the same package.</a:t>
            </a:r>
          </a:p>
          <a:p>
            <a:pPr>
              <a:spcBef>
                <a:spcPct val="0"/>
              </a:spcBef>
              <a:buFontTx/>
              <a:buNone/>
            </a:pPr>
            <a:endParaRPr lang="en-US" altLang="en-US" sz="4000">
              <a:latin typeface="Arial" panose="020B0604020202020204" pitchFamily="34" charset="0"/>
            </a:endParaRPr>
          </a:p>
        </p:txBody>
      </p:sp>
      <p:sp>
        <p:nvSpPr>
          <p:cNvPr id="81924" name="WordArt 3"/>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package</a:t>
            </a:r>
          </a:p>
        </p:txBody>
      </p:sp>
    </p:spTree>
    <p:extLst>
      <p:ext uri="{BB962C8B-B14F-4D97-AF65-F5344CB8AC3E}">
        <p14:creationId xmlns:p14="http://schemas.microsoft.com/office/powerpoint/2010/main" val="1852318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958596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myPackage</a:t>
            </a:r>
          </a:p>
        </p:txBody>
      </p:sp>
      <p:pic>
        <p:nvPicPr>
          <p:cNvPr id="12292"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yourPackage</a:t>
            </a:r>
          </a:p>
        </p:txBody>
      </p:sp>
      <p:sp>
        <p:nvSpPr>
          <p:cNvPr id="12294" name="TextBox 8"/>
          <p:cNvSpPr txBox="1">
            <a:spLocks noChangeArrowheads="1"/>
          </p:cNvSpPr>
          <p:nvPr/>
        </p:nvSpPr>
        <p:spPr bwMode="auto">
          <a:xfrm>
            <a:off x="685800" y="920750"/>
            <a:ext cx="157126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     int size;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1" u="none" strike="noStrike" kern="1200" cap="none" spc="0" normalizeH="0" baseline="0" noProof="0" dirty="0">
              <a:ln>
                <a:noFill/>
              </a:ln>
              <a:solidFill>
                <a:srgbClr val="7030A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5" name="TextBox 9"/>
          <p:cNvSpPr txBox="1">
            <a:spLocks noChangeArrowheads="1"/>
          </p:cNvSpPr>
          <p:nvPr/>
        </p:nvSpPr>
        <p:spPr bwMode="auto">
          <a:xfrm>
            <a:off x="4154488" y="903288"/>
            <a:ext cx="195738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MyOtherClass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6"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YourClass extends MyClass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7"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YourOtherClass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8"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2299" name="Freeform 13"/>
          <p:cNvSpPr>
            <a:spLocks/>
          </p:cNvSpPr>
          <p:nvPr/>
        </p:nvSpPr>
        <p:spPr bwMode="auto">
          <a:xfrm>
            <a:off x="3389313"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 name="TextBox 2">
            <a:extLst>
              <a:ext uri="{FF2B5EF4-FFF2-40B4-BE49-F238E27FC236}">
                <a16:creationId xmlns:a16="http://schemas.microsoft.com/office/drawing/2014/main" id="{06F0B265-D54D-E00F-065D-9B970D52A66D}"/>
              </a:ext>
            </a:extLst>
          </p:cNvPr>
          <p:cNvSpPr txBox="1"/>
          <p:nvPr/>
        </p:nvSpPr>
        <p:spPr>
          <a:xfrm>
            <a:off x="6092825" y="796468"/>
            <a:ext cx="2980099" cy="224676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Note that there is no modifier since package is the default access level.</a:t>
            </a:r>
          </a:p>
        </p:txBody>
      </p:sp>
    </p:spTree>
    <p:extLst>
      <p:ext uri="{BB962C8B-B14F-4D97-AF65-F5344CB8AC3E}">
        <p14:creationId xmlns:p14="http://schemas.microsoft.com/office/powerpoint/2010/main" val="3769769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3971" name="Rectangle 2"/>
          <p:cNvSpPr>
            <a:spLocks noChangeArrowheads="1"/>
          </p:cNvSpPr>
          <p:nvPr/>
        </p:nvSpPr>
        <p:spPr bwMode="auto">
          <a:xfrm>
            <a:off x="685800" y="1676400"/>
            <a:ext cx="7299325"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protected</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the sub class </a:t>
            </a:r>
          </a:p>
          <a:p>
            <a:pPr>
              <a:spcBef>
                <a:spcPct val="0"/>
              </a:spcBef>
              <a:buFontTx/>
              <a:buNone/>
            </a:pPr>
            <a:r>
              <a:rPr lang="en-US" altLang="en-US" sz="4000">
                <a:latin typeface="Arial" panose="020B0604020202020204" pitchFamily="34" charset="0"/>
              </a:rPr>
              <a:t>and any other class in the </a:t>
            </a:r>
          </a:p>
          <a:p>
            <a:pPr>
              <a:spcBef>
                <a:spcPct val="0"/>
              </a:spcBef>
              <a:buFontTx/>
              <a:buNone/>
            </a:pPr>
            <a:r>
              <a:rPr lang="en-US" altLang="en-US" sz="4000">
                <a:latin typeface="Arial" panose="020B0604020202020204" pitchFamily="34" charset="0"/>
              </a:rPr>
              <a:t>same package.</a:t>
            </a:r>
          </a:p>
          <a:p>
            <a:pPr>
              <a:spcBef>
                <a:spcPct val="0"/>
              </a:spcBef>
              <a:buFontTx/>
              <a:buNone/>
            </a:pPr>
            <a:endParaRPr lang="en-US" altLang="en-US" sz="1600">
              <a:latin typeface="Arial" panose="020B0604020202020204" pitchFamily="34" charset="0"/>
            </a:endParaRPr>
          </a:p>
          <a:p>
            <a:pPr>
              <a:spcBef>
                <a:spcPct val="0"/>
              </a:spcBef>
              <a:buFontTx/>
              <a:buNone/>
            </a:pPr>
            <a:r>
              <a:rPr lang="en-US" altLang="en-US" sz="4000">
                <a:latin typeface="Arial" panose="020B0604020202020204" pitchFamily="34" charset="0"/>
              </a:rPr>
              <a:t>This makes protected less </a:t>
            </a:r>
          </a:p>
          <a:p>
            <a:pPr>
              <a:spcBef>
                <a:spcPct val="0"/>
              </a:spcBef>
              <a:buFontTx/>
              <a:buNone/>
            </a:pPr>
            <a:r>
              <a:rPr lang="en-US" altLang="en-US" sz="4000">
                <a:latin typeface="Arial" panose="020B0604020202020204" pitchFamily="34" charset="0"/>
              </a:rPr>
              <a:t>restrictive than package.</a:t>
            </a:r>
          </a:p>
        </p:txBody>
      </p:sp>
      <p:sp>
        <p:nvSpPr>
          <p:cNvPr id="83972"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protected</a:t>
            </a:r>
          </a:p>
        </p:txBody>
      </p:sp>
    </p:spTree>
    <p:extLst>
      <p:ext uri="{BB962C8B-B14F-4D97-AF65-F5344CB8AC3E}">
        <p14:creationId xmlns:p14="http://schemas.microsoft.com/office/powerpoint/2010/main" val="652547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otected access&#10;}&#10;public class MyOtherClass {&#10;}&#10;Your file:&#10;package yourPackage;&#10;class YourClass extends MyClass { &#10;}&#10;class YourOtherClass extends MyClass {&#10;}&#10;My protected class member can be access from classes in the same package AND from subclasses.">
            <a:extLst>
              <a:ext uri="{FF2B5EF4-FFF2-40B4-BE49-F238E27FC236}">
                <a16:creationId xmlns:a16="http://schemas.microsoft.com/office/drawing/2014/main" id="{A4C86D36-B26A-B68A-400F-956BDFA115C8}"/>
              </a:ext>
            </a:extLst>
          </p:cNvPr>
          <p:cNvGrpSpPr/>
          <p:nvPr/>
        </p:nvGrpSpPr>
        <p:grpSpPr>
          <a:xfrm>
            <a:off x="-76200" y="-152400"/>
            <a:ext cx="9067800" cy="7239000"/>
            <a:chOff x="-76200" y="-152400"/>
            <a:chExt cx="9067800" cy="7239000"/>
          </a:xfrm>
        </p:grpSpPr>
        <p:pic>
          <p:nvPicPr>
            <p:cNvPr id="15362"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5364"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5366" name="TextBox 8"/>
            <p:cNvSpPr txBox="1">
              <a:spLocks noChangeArrowheads="1"/>
            </p:cNvSpPr>
            <p:nvPr/>
          </p:nvSpPr>
          <p:spPr bwMode="auto">
            <a:xfrm>
              <a:off x="685800" y="920750"/>
              <a:ext cx="320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FontTx/>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protected</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5367"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8"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a:t>
              </a:r>
              <a:r>
                <a:rPr lang="en-US" altLang="en-US" sz="2000">
                  <a:solidFill>
                    <a:srgbClr val="0070C0"/>
                  </a:solidFill>
                  <a:latin typeface="Tahoma" panose="020B0604030504040204" pitchFamily="34" charset="0"/>
                </a:rPr>
                <a:t>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9"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70"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Freeform 13"/>
            <p:cNvSpPr>
              <a:spLocks/>
            </p:cNvSpPr>
            <p:nvPr/>
          </p:nvSpPr>
          <p:spPr bwMode="auto">
            <a:xfrm>
              <a:off x="3678238"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2" name="Freeform 15"/>
            <p:cNvSpPr>
              <a:spLocks/>
            </p:cNvSpPr>
            <p:nvPr/>
          </p:nvSpPr>
          <p:spPr bwMode="auto">
            <a:xfrm>
              <a:off x="3451225"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605025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6019" name="Rectangle 37"/>
          <p:cNvSpPr>
            <a:spLocks noGrp="1" noChangeArrowheads="1"/>
          </p:cNvSpPr>
          <p:nvPr>
            <p:ph type="title"/>
          </p:nvPr>
        </p:nvSpPr>
        <p:spPr>
          <a:xfrm>
            <a:off x="685800" y="304800"/>
            <a:ext cx="7772400" cy="1143000"/>
          </a:xfrm>
        </p:spPr>
        <p:txBody>
          <a:bodyPr/>
          <a:lstStyle/>
          <a:p>
            <a:r>
              <a:rPr lang="en-US" altLang="en-US" b="1">
                <a:solidFill>
                  <a:schemeClr val="accent2"/>
                </a:solidFill>
                <a:latin typeface="Helvetica" panose="020B0604020202020204" pitchFamily="34" charset="0"/>
              </a:rPr>
              <a:t>Visibility Levels</a:t>
            </a:r>
          </a:p>
        </p:txBody>
      </p:sp>
      <p:graphicFrame>
        <p:nvGraphicFramePr>
          <p:cNvPr id="534641" name="Group 113"/>
          <p:cNvGraphicFramePr>
            <a:graphicFrameLocks noGrp="1"/>
          </p:cNvGraphicFramePr>
          <p:nvPr>
            <p:ph idx="1"/>
          </p:nvPr>
        </p:nvGraphicFramePr>
        <p:xfrm>
          <a:off x="609600" y="1905000"/>
          <a:ext cx="8153400" cy="4068762"/>
        </p:xfrm>
        <a:graphic>
          <a:graphicData uri="http://schemas.openxmlformats.org/drawingml/2006/table">
            <a:tbl>
              <a:tblPr/>
              <a:tblGrid>
                <a:gridCol w="1838325">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631950">
                  <a:extLst>
                    <a:ext uri="{9D8B030D-6E8A-4147-A177-3AD203B41FA5}">
                      <a16:colId xmlns:a16="http://schemas.microsoft.com/office/drawing/2014/main" val="20002"/>
                    </a:ext>
                  </a:extLst>
                </a:gridCol>
                <a:gridCol w="1630363">
                  <a:extLst>
                    <a:ext uri="{9D8B030D-6E8A-4147-A177-3AD203B41FA5}">
                      <a16:colId xmlns:a16="http://schemas.microsoft.com/office/drawing/2014/main" val="20003"/>
                    </a:ext>
                  </a:extLst>
                </a:gridCol>
                <a:gridCol w="1630362">
                  <a:extLst>
                    <a:ext uri="{9D8B030D-6E8A-4147-A177-3AD203B41FA5}">
                      <a16:colId xmlns:a16="http://schemas.microsoft.com/office/drawing/2014/main" val="20004"/>
                    </a:ext>
                  </a:extLst>
                </a:gridCol>
              </a:tblGrid>
              <a:tr h="94487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sng" strike="noStrike" cap="none" normalizeH="0" baseline="0" dirty="0">
                          <a:ln>
                            <a:noFill/>
                          </a:ln>
                          <a:solidFill>
                            <a:schemeClr val="tx1"/>
                          </a:solidFill>
                          <a:effectLst/>
                          <a:latin typeface="Helvetica" pitchFamily="2" charset="0"/>
                        </a:rPr>
                        <a:t>Visibility</a:t>
                      </a:r>
                    </a:p>
                  </a:txBody>
                  <a:tcPr marT="45715" marB="45715"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Helvetica" pitchFamily="2" charset="0"/>
                        </a:rPr>
                        <a:t>This Class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Same Package</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Sub Classes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World</a:t>
                      </a:r>
                    </a:p>
                  </a:txBody>
                  <a:tcPr marT="45715" marB="45715"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Public</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Protected</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Helvetica" pitchFamily="2" charset="0"/>
                        </a:rPr>
                        <a:t>Package</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Private</a:t>
                      </a:r>
                    </a:p>
                  </a:txBody>
                  <a:tcPr marT="45715" marB="45715"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Helvetica" pitchFamily="2" charset="0"/>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33732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189456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14" name="Freeform: Shape 13">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6" name="Freeform: Shape 25">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Footer Placeholder 1">
            <a:extLst>
              <a:ext uri="{FF2B5EF4-FFF2-40B4-BE49-F238E27FC236}">
                <a16:creationId xmlns:a16="http://schemas.microsoft.com/office/drawing/2014/main" id="{E640F573-36EA-7554-1D64-9E9597EC4339}"/>
              </a:ext>
            </a:extLst>
          </p:cNvPr>
          <p:cNvSpPr>
            <a:spLocks noGrp="1"/>
          </p:cNvSpPr>
          <p:nvPr>
            <p:ph type="ftr" sz="quarter" idx="12"/>
          </p:nvPr>
        </p:nvSpPr>
        <p:spPr>
          <a:xfrm>
            <a:off x="603504" y="5991225"/>
            <a:ext cx="1908291" cy="365125"/>
          </a:xfrm>
        </p:spPr>
        <p:txBody>
          <a:bodyPr>
            <a:normAutofit fontScale="70000" lnSpcReduction="20000"/>
          </a:bodyPr>
          <a:lstStyle/>
          <a:p>
            <a:pPr algn="l">
              <a:lnSpc>
                <a:spcPct val="90000"/>
              </a:lnSpc>
              <a:spcAft>
                <a:spcPts val="600"/>
              </a:spcAft>
            </a:pPr>
            <a:endParaRPr lang="en-US" altLang="en-US" sz="200" b="1">
              <a:latin typeface="+mn-lt"/>
            </a:endParaRPr>
          </a:p>
          <a:p>
            <a:pPr algn="l">
              <a:lnSpc>
                <a:spcPct val="90000"/>
              </a:lnSpc>
              <a:spcAft>
                <a:spcPts val="600"/>
              </a:spcAft>
            </a:pPr>
            <a:endParaRPr lang="en-US" altLang="en-US" sz="200"/>
          </a:p>
          <a:p>
            <a:pPr algn="l">
              <a:lnSpc>
                <a:spcPct val="90000"/>
              </a:lnSpc>
              <a:spcAft>
                <a:spcPts val="600"/>
              </a:spcAft>
            </a:pPr>
            <a:endParaRPr lang="en-US" altLang="en-US" sz="200" b="1"/>
          </a:p>
          <a:p>
            <a:pPr algn="l">
              <a:lnSpc>
                <a:spcPct val="90000"/>
              </a:lnSpc>
              <a:spcAft>
                <a:spcPts val="600"/>
              </a:spcAft>
            </a:pPr>
            <a:r>
              <a:rPr lang="en-US" altLang="en-US" sz="200" b="1"/>
              <a:t>© A+ Computer Science  -  www.apluscompsci.com</a:t>
            </a:r>
          </a:p>
        </p:txBody>
      </p:sp>
      <p:sp>
        <p:nvSpPr>
          <p:cNvPr id="5" name="Rectangle 4">
            <a:extLst>
              <a:ext uri="{FF2B5EF4-FFF2-40B4-BE49-F238E27FC236}">
                <a16:creationId xmlns:a16="http://schemas.microsoft.com/office/drawing/2014/main" id="{5F148819-D895-FA5C-8E13-690F3602BA1A}"/>
              </a:ext>
            </a:extLst>
          </p:cNvPr>
          <p:cNvSpPr/>
          <p:nvPr/>
        </p:nvSpPr>
        <p:spPr>
          <a:xfrm>
            <a:off x="1611780" y="1920868"/>
            <a:ext cx="5920210" cy="2862322"/>
          </a:xfrm>
          <a:prstGeom prst="rect">
            <a:avLst/>
          </a:prstGeom>
          <a:noFill/>
        </p:spPr>
        <p:txBody>
          <a:bodyPr wrap="none" lIns="91440" tIns="45720" rIns="91440" bIns="45720">
            <a:spAutoFit/>
          </a:bodyPr>
          <a:lstStyle/>
          <a:p>
            <a:pPr algn="ctr"/>
            <a:r>
              <a:rPr lang="en-US" sz="6000" b="0" cap="none" spc="0" dirty="0">
                <a:ln w="0"/>
                <a:solidFill>
                  <a:schemeClr val="tx1"/>
                </a:solidFill>
                <a:effectLst>
                  <a:outerShdw blurRad="38100" dist="19050" dir="2700000" algn="tl" rotWithShape="0">
                    <a:schemeClr val="dk1">
                      <a:alpha val="40000"/>
                    </a:schemeClr>
                  </a:outerShdw>
                </a:effectLst>
              </a:rPr>
              <a:t>Default Modifiers</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for Classes and</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Interfaces</a:t>
            </a:r>
          </a:p>
        </p:txBody>
      </p:sp>
    </p:spTree>
    <p:extLst>
      <p:ext uri="{BB962C8B-B14F-4D97-AF65-F5344CB8AC3E}">
        <p14:creationId xmlns:p14="http://schemas.microsoft.com/office/powerpoint/2010/main" val="2706851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Variable 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70697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2" presetClass="emph" presetSubtype="0" fill="hold" grpId="1" nodeType="clickEffect">
                                  <p:stCondLst>
                                    <p:cond delay="0"/>
                                  </p:stCondLst>
                                  <p:childTnLst>
                                    <p:animRot by="120000">
                                      <p:cBhvr>
                                        <p:cTn id="12" dur="100" fill="hold">
                                          <p:stCondLst>
                                            <p:cond delay="0"/>
                                          </p:stCondLst>
                                        </p:cTn>
                                        <p:tgtEl>
                                          <p:spTgt spid="5"/>
                                        </p:tgtEl>
                                        <p:attrNameLst>
                                          <p:attrName>r</p:attrName>
                                        </p:attrNameLst>
                                      </p:cBhvr>
                                    </p:animRot>
                                    <p:animRot by="-240000">
                                      <p:cBhvr>
                                        <p:cTn id="13" dur="200" fill="hold">
                                          <p:stCondLst>
                                            <p:cond delay="200"/>
                                          </p:stCondLst>
                                        </p:cTn>
                                        <p:tgtEl>
                                          <p:spTgt spid="5"/>
                                        </p:tgtEl>
                                        <p:attrNameLst>
                                          <p:attrName>r</p:attrName>
                                        </p:attrNameLst>
                                      </p:cBhvr>
                                    </p:animRot>
                                    <p:animRot by="240000">
                                      <p:cBhvr>
                                        <p:cTn id="14" dur="200" fill="hold">
                                          <p:stCondLst>
                                            <p:cond delay="400"/>
                                          </p:stCondLst>
                                        </p:cTn>
                                        <p:tgtEl>
                                          <p:spTgt spid="5"/>
                                        </p:tgtEl>
                                        <p:attrNameLst>
                                          <p:attrName>r</p:attrName>
                                        </p:attrNameLst>
                                      </p:cBhvr>
                                    </p:animRot>
                                    <p:animRot by="-240000">
                                      <p:cBhvr>
                                        <p:cTn id="15" dur="200" fill="hold">
                                          <p:stCondLst>
                                            <p:cond delay="600"/>
                                          </p:stCondLst>
                                        </p:cTn>
                                        <p:tgtEl>
                                          <p:spTgt spid="5"/>
                                        </p:tgtEl>
                                        <p:attrNameLst>
                                          <p:attrName>r</p:attrName>
                                        </p:attrNameLst>
                                      </p:cBhvr>
                                    </p:animRot>
                                    <p:animRot by="120000">
                                      <p:cBhvr>
                                        <p:cTn id="16" dur="200" fill="hold">
                                          <p:stCondLst>
                                            <p:cond delay="800"/>
                                          </p:stCondLst>
                                        </p:cTn>
                                        <p:tgtEl>
                                          <p:spTgt spid="5"/>
                                        </p:tgtEl>
                                        <p:attrNameLst>
                                          <p:attrName>r</p:attrName>
                                        </p:attrNameLst>
                                      </p:cBhvr>
                                    </p:animRot>
                                  </p:childTnLst>
                                </p:cTn>
                              </p:par>
                            </p:childTnLst>
                          </p:cTn>
                        </p:par>
                        <p:par>
                          <p:cTn id="17" fill="hold">
                            <p:stCondLst>
                              <p:cond delay="1000"/>
                            </p:stCondLst>
                            <p:childTnLst>
                              <p:par>
                                <p:cTn id="18" presetID="1" presetClass="entr" presetSubtype="0" fill="hold" grpId="0" nodeType="afterEffect">
                                  <p:stCondLst>
                                    <p:cond delay="30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arn(inVertic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mph" presetSubtype="0" fill="remove" grpId="1" nodeType="clickEffect">
                                  <p:stCondLst>
                                    <p:cond delay="0"/>
                                  </p:stCondLst>
                                  <p:childTnLst>
                                    <p:animClr clrSpc="rgb" dir="cw">
                                      <p:cBhvr override="childStyle">
                                        <p:cTn id="36" dur="250" autoRev="1" fill="remove"/>
                                        <p:tgtEl>
                                          <p:spTgt spid="16"/>
                                        </p:tgtEl>
                                        <p:attrNameLst>
                                          <p:attrName>style.color</p:attrName>
                                        </p:attrNameLst>
                                      </p:cBhvr>
                                      <p:to>
                                        <a:schemeClr val="bg1"/>
                                      </p:to>
                                    </p:animClr>
                                    <p:animClr clrSpc="rgb" dir="cw">
                                      <p:cBhvr>
                                        <p:cTn id="37" dur="250" autoRev="1" fill="remove"/>
                                        <p:tgtEl>
                                          <p:spTgt spid="16"/>
                                        </p:tgtEl>
                                        <p:attrNameLst>
                                          <p:attrName>fillcolor</p:attrName>
                                        </p:attrNameLst>
                                      </p:cBhvr>
                                      <p:to>
                                        <a:schemeClr val="bg1"/>
                                      </p:to>
                                    </p:animClr>
                                    <p:set>
                                      <p:cBhvr>
                                        <p:cTn id="38" dur="250" autoRev="1" fill="remove"/>
                                        <p:tgtEl>
                                          <p:spTgt spid="16"/>
                                        </p:tgtEl>
                                        <p:attrNameLst>
                                          <p:attrName>fill.type</p:attrName>
                                        </p:attrNameLst>
                                      </p:cBhvr>
                                      <p:to>
                                        <p:strVal val="solid"/>
                                      </p:to>
                                    </p:set>
                                    <p:set>
                                      <p:cBhvr>
                                        <p:cTn id="39" dur="250" autoRev="1" fill="remove"/>
                                        <p:tgtEl>
                                          <p:spTgt spid="16"/>
                                        </p:tgtEl>
                                        <p:attrNameLst>
                                          <p:attrName>fill.on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0"/>
                                        <p:tgtEl>
                                          <p:spTgt spid="10"/>
                                        </p:tgtEl>
                                      </p:cBhvr>
                                    </p:animEffect>
                                    <p:anim calcmode="lin" valueType="num">
                                      <p:cBhvr>
                                        <p:cTn id="55" dur="1000" fill="hold"/>
                                        <p:tgtEl>
                                          <p:spTgt spid="10"/>
                                        </p:tgtEl>
                                        <p:attrNameLst>
                                          <p:attrName>ppt_x</p:attrName>
                                        </p:attrNameLst>
                                      </p:cBhvr>
                                      <p:tavLst>
                                        <p:tav tm="0">
                                          <p:val>
                                            <p:strVal val="#ppt_x"/>
                                          </p:val>
                                        </p:tav>
                                        <p:tav tm="100000">
                                          <p:val>
                                            <p:strVal val="#ppt_x"/>
                                          </p:val>
                                        </p:tav>
                                      </p:tavLst>
                                    </p:anim>
                                    <p:anim calcmode="lin" valueType="num">
                                      <p:cBhvr>
                                        <p:cTn id="56" dur="1000" fill="hold"/>
                                        <p:tgtEl>
                                          <p:spTgt spid="1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1000"/>
                                        <p:tgtEl>
                                          <p:spTgt spid="11"/>
                                        </p:tgtEl>
                                      </p:cBhvr>
                                    </p:animEffect>
                                    <p:anim calcmode="lin" valueType="num">
                                      <p:cBhvr>
                                        <p:cTn id="60" dur="1000" fill="hold"/>
                                        <p:tgtEl>
                                          <p:spTgt spid="11"/>
                                        </p:tgtEl>
                                        <p:attrNameLst>
                                          <p:attrName>ppt_x</p:attrName>
                                        </p:attrNameLst>
                                      </p:cBhvr>
                                      <p:tavLst>
                                        <p:tav tm="0">
                                          <p:val>
                                            <p:strVal val="#ppt_x"/>
                                          </p:val>
                                        </p:tav>
                                        <p:tav tm="100000">
                                          <p:val>
                                            <p:strVal val="#ppt_x"/>
                                          </p:val>
                                        </p:tav>
                                      </p:tavLst>
                                    </p:anim>
                                    <p:anim calcmode="lin" valueType="num">
                                      <p:cBhvr>
                                        <p:cTn id="6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8" presetClass="emph" presetSubtype="0" fill="hold" grpId="1" nodeType="clickEffect">
                                  <p:stCondLst>
                                    <p:cond delay="0"/>
                                  </p:stCondLst>
                                  <p:childTnLst>
                                    <p:animRot by="21600000">
                                      <p:cBhvr>
                                        <p:cTn id="69" dur="2000" fill="hold"/>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5" grpId="1"/>
      <p:bldP spid="6" grpId="0"/>
      <p:bldP spid="7" grpId="0"/>
      <p:bldP spid="8" grpId="0"/>
      <p:bldP spid="9" grpId="0"/>
      <p:bldP spid="10" grpId="0"/>
      <p:bldP spid="11" grpId="0"/>
      <p:bldP spid="15" grpId="0"/>
      <p:bldP spid="16" grpId="0"/>
      <p:bldP spid="16" grpId="1"/>
      <p:bldP spid="17" grpId="0"/>
      <p:bldP spid="17"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Method defaults in a </a:t>
            </a:r>
            <a:r>
              <a:rPr lang="en-US" b="1" cap="small" dirty="0">
                <a:latin typeface="Abadi" panose="020B0604020104020204" pitchFamily="34" charset="0"/>
              </a:rPr>
              <a:t>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3" name="Content Placeholder 2">
            <a:extLst>
              <a:ext uri="{FF2B5EF4-FFF2-40B4-BE49-F238E27FC236}">
                <a16:creationId xmlns:a16="http://schemas.microsoft.com/office/drawing/2014/main" id="{F2E43BE6-5714-EECD-A1AC-80CECE76CF96}"/>
              </a:ext>
            </a:extLst>
          </p:cNvPr>
          <p:cNvSpPr txBox="1">
            <a:spLocks/>
          </p:cNvSpPr>
          <p:nvPr/>
        </p:nvSpPr>
        <p:spPr bwMode="auto">
          <a:xfrm>
            <a:off x="1203960" y="4345940"/>
            <a:ext cx="25679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concrete</a:t>
            </a:r>
            <a:endParaRPr lang="en-US" dirty="0">
              <a:latin typeface="Abadi" panose="020B0604020104020204" pitchFamily="34" charset="0"/>
            </a:endParaRPr>
          </a:p>
        </p:txBody>
      </p:sp>
      <p:sp>
        <p:nvSpPr>
          <p:cNvPr id="14" name="Content Placeholder 2">
            <a:extLst>
              <a:ext uri="{FF2B5EF4-FFF2-40B4-BE49-F238E27FC236}">
                <a16:creationId xmlns:a16="http://schemas.microsoft.com/office/drawing/2014/main" id="{764A87D2-BA9E-874E-91A0-E5326075701B}"/>
              </a:ext>
            </a:extLst>
          </p:cNvPr>
          <p:cNvSpPr txBox="1">
            <a:spLocks/>
          </p:cNvSpPr>
          <p:nvPr/>
        </p:nvSpPr>
        <p:spPr bwMode="auto">
          <a:xfrm>
            <a:off x="4810760" y="43459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abstract</a:t>
            </a: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
        <p:nvSpPr>
          <p:cNvPr id="18" name="Content Placeholder 2">
            <a:extLst>
              <a:ext uri="{FF2B5EF4-FFF2-40B4-BE49-F238E27FC236}">
                <a16:creationId xmlns:a16="http://schemas.microsoft.com/office/drawing/2014/main" id="{551A2694-033E-1E59-585C-40E9F95B5028}"/>
              </a:ext>
            </a:extLst>
          </p:cNvPr>
          <p:cNvSpPr txBox="1">
            <a:spLocks/>
          </p:cNvSpPr>
          <p:nvPr/>
        </p:nvSpPr>
        <p:spPr bwMode="auto">
          <a:xfrm>
            <a:off x="1272540" y="4351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concrete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05009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iterate type="lt">
                                    <p:tmPct val="0"/>
                                  </p:iterate>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5" presetClass="emph" presetSubtype="0" grpId="1" nodeType="clickEffect">
                                  <p:stCondLst>
                                    <p:cond delay="0"/>
                                  </p:stCondLst>
                                  <p:iterate type="lt">
                                    <p:tmAbs val="25"/>
                                  </p:iterate>
                                  <p:childTnLst>
                                    <p:set>
                                      <p:cBhvr override="childStyle">
                                        <p:cTn id="19" dur="indefinite"/>
                                        <p:tgtEl>
                                          <p:spTgt spid="18"/>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1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 </a:t>
            </a:r>
            <a:r>
              <a:rPr lang="en-US" b="1" cap="small" dirty="0">
                <a:latin typeface="Abadi" panose="020B0604020104020204" pitchFamily="34" charset="0"/>
              </a:rPr>
              <a:t>Class</a:t>
            </a:r>
            <a:endParaRPr lang="en-US" b="1" dirty="0">
              <a:latin typeface="Abadi" panose="020B0604020104020204" pitchFamily="34" charset="0"/>
            </a:endParaRP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685800" y="1563624"/>
            <a:ext cx="8221980" cy="4999736"/>
          </a:xfrm>
        </p:spPr>
        <p:txBody>
          <a:bodyPr/>
          <a:lstStyle/>
          <a:p>
            <a:pPr marL="0" indent="0">
              <a:buNone/>
            </a:pPr>
            <a:r>
              <a:rPr lang="en-US" sz="4000" b="1" dirty="0">
                <a:latin typeface="Abadi" panose="020B0604020104020204" pitchFamily="34" charset="0"/>
              </a:rPr>
              <a:t>Variables</a:t>
            </a:r>
            <a:r>
              <a:rPr lang="en-US" sz="4000" dirty="0">
                <a:latin typeface="Abadi" panose="020B0604020104020204" pitchFamily="34" charset="0"/>
              </a:rPr>
              <a:t> in a class default to:</a:t>
            </a:r>
            <a:br>
              <a:rPr lang="en-US" sz="4000" dirty="0">
                <a:latin typeface="Abadi" panose="020B0604020104020204" pitchFamily="34" charset="0"/>
              </a:rPr>
            </a:br>
            <a:r>
              <a:rPr lang="en-US" sz="4000" b="1" dirty="0">
                <a:latin typeface="Abadi" panose="020B0604020104020204" pitchFamily="34" charset="0"/>
              </a:rPr>
              <a:t>non-static</a:t>
            </a:r>
            <a:r>
              <a:rPr lang="en-US" sz="4000" dirty="0">
                <a:latin typeface="Abadi" panose="020B0604020104020204" pitchFamily="34" charset="0"/>
              </a:rPr>
              <a:t>, </a:t>
            </a:r>
            <a:r>
              <a:rPr lang="en-US" sz="4000" b="1" dirty="0">
                <a:latin typeface="Abadi" panose="020B0604020104020204" pitchFamily="34" charset="0"/>
              </a:rPr>
              <a:t>non-final</a:t>
            </a:r>
            <a:r>
              <a:rPr lang="en-US" sz="4000" dirty="0">
                <a:latin typeface="Abadi" panose="020B0604020104020204" pitchFamily="34" charset="0"/>
              </a:rPr>
              <a:t>, and </a:t>
            </a:r>
            <a:r>
              <a:rPr lang="en-US" sz="4000" b="1" dirty="0">
                <a:latin typeface="Abadi" panose="020B0604020104020204" pitchFamily="34" charset="0"/>
              </a:rPr>
              <a:t>package level access</a:t>
            </a:r>
            <a:r>
              <a:rPr lang="en-US" sz="4000" dirty="0">
                <a:latin typeface="Abadi" panose="020B0604020104020204" pitchFamily="34" charset="0"/>
              </a:rPr>
              <a:t>.</a:t>
            </a:r>
          </a:p>
          <a:p>
            <a:pPr marL="0" indent="0">
              <a:buNone/>
            </a:pPr>
            <a:endParaRPr lang="en-US" sz="4000" dirty="0">
              <a:latin typeface="Abadi" panose="020B0604020104020204" pitchFamily="34" charset="0"/>
            </a:endParaRPr>
          </a:p>
          <a:p>
            <a:pPr marL="0" indent="0">
              <a:buNone/>
            </a:pPr>
            <a:r>
              <a:rPr lang="en-US" sz="4000" b="1" dirty="0">
                <a:latin typeface="Abadi" panose="020B0604020104020204" pitchFamily="34" charset="0"/>
              </a:rPr>
              <a:t>Methods</a:t>
            </a:r>
            <a:r>
              <a:rPr lang="en-US" sz="4000" dirty="0">
                <a:latin typeface="Abadi" panose="020B0604020104020204" pitchFamily="34" charset="0"/>
              </a:rPr>
              <a:t> in a class default to:</a:t>
            </a:r>
            <a:br>
              <a:rPr lang="en-US" sz="4000" dirty="0">
                <a:latin typeface="Abadi" panose="020B0604020104020204" pitchFamily="34" charset="0"/>
              </a:rPr>
            </a:br>
            <a:r>
              <a:rPr lang="en-US" sz="4000" dirty="0">
                <a:latin typeface="Abadi" panose="020B0604020104020204" pitchFamily="34" charset="0"/>
              </a:rPr>
              <a:t> </a:t>
            </a:r>
            <a:r>
              <a:rPr lang="en-US" sz="4000" b="1" dirty="0">
                <a:latin typeface="Abadi" panose="020B0604020104020204" pitchFamily="34" charset="0"/>
              </a:rPr>
              <a:t>concrete</a:t>
            </a:r>
            <a:r>
              <a:rPr lang="en-US" sz="4000" dirty="0">
                <a:latin typeface="Abadi" panose="020B0604020104020204" pitchFamily="34" charset="0"/>
              </a:rPr>
              <a:t> and </a:t>
            </a:r>
            <a:r>
              <a:rPr lang="en-US" sz="4000" b="1" dirty="0">
                <a:latin typeface="Abadi" panose="020B0604020104020204" pitchFamily="34" charset="0"/>
              </a:rPr>
              <a:t>non-static</a:t>
            </a:r>
            <a:r>
              <a:rPr lang="en-US" sz="4000" dirty="0">
                <a:latin typeface="Abadi" panose="020B0604020104020204" pitchFamily="34" charset="0"/>
              </a:rPr>
              <a:t>, </a:t>
            </a:r>
            <a:r>
              <a:rPr lang="en-US" sz="4000" b="1" dirty="0">
                <a:latin typeface="Abadi" panose="020B0604020104020204" pitchFamily="34" charset="0"/>
              </a:rPr>
              <a:t>non-final</a:t>
            </a:r>
            <a:r>
              <a:rPr lang="en-US" sz="4000" dirty="0">
                <a:latin typeface="Abadi" panose="020B0604020104020204" pitchFamily="34" charset="0"/>
              </a:rPr>
              <a:t>, and </a:t>
            </a:r>
            <a:r>
              <a:rPr lang="en-US" sz="4000" b="1" dirty="0">
                <a:latin typeface="Abadi" panose="020B0604020104020204" pitchFamily="34" charset="0"/>
              </a:rPr>
              <a:t>package level access</a:t>
            </a:r>
            <a:r>
              <a:rPr lang="en-US" sz="4000" dirty="0">
                <a:latin typeface="Abadi" panose="020B0604020104020204" pitchFamily="34" charset="0"/>
              </a:rPr>
              <a:t>.</a:t>
            </a:r>
          </a:p>
        </p:txBody>
      </p:sp>
    </p:spTree>
    <p:extLst>
      <p:ext uri="{BB962C8B-B14F-4D97-AF65-F5344CB8AC3E}">
        <p14:creationId xmlns:p14="http://schemas.microsoft.com/office/powerpoint/2010/main" val="193812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an </a:t>
            </a:r>
            <a:r>
              <a:rPr lang="en-US" b="1" cap="small" dirty="0">
                <a:solidFill>
                  <a:schemeClr val="accent2">
                    <a:lumMod val="75000"/>
                  </a:schemeClr>
                </a:solidFill>
                <a:latin typeface="Abadi" panose="020B0604020104020204" pitchFamily="34" charset="0"/>
              </a:rPr>
              <a:t>Interface</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541020" y="1730248"/>
            <a:ext cx="8221980" cy="4204208"/>
          </a:xfrm>
        </p:spPr>
        <p:txBody>
          <a:bodyPr/>
          <a:lstStyle/>
          <a:p>
            <a:pPr marL="0" indent="0">
              <a:buNone/>
            </a:pPr>
            <a:r>
              <a:rPr lang="en-US" sz="4000" b="1" dirty="0">
                <a:latin typeface="Abadi" panose="020B0604020104020204" pitchFamily="34" charset="0"/>
              </a:rPr>
              <a:t>Variables</a:t>
            </a:r>
            <a:r>
              <a:rPr lang="en-US" sz="4000" dirty="0">
                <a:latin typeface="Abadi" panose="020B0604020104020204" pitchFamily="34" charset="0"/>
              </a:rPr>
              <a:t> in an </a:t>
            </a:r>
            <a:r>
              <a:rPr lang="en-US" sz="4000" dirty="0">
                <a:solidFill>
                  <a:schemeClr val="accent2">
                    <a:lumMod val="75000"/>
                  </a:schemeClr>
                </a:solidFill>
                <a:latin typeface="Abadi" panose="020B0604020104020204" pitchFamily="34" charset="0"/>
              </a:rPr>
              <a:t>interface</a:t>
            </a:r>
            <a:r>
              <a:rPr lang="en-US" sz="4000" dirty="0">
                <a:latin typeface="Abadi" panose="020B0604020104020204" pitchFamily="34" charset="0"/>
              </a:rPr>
              <a:t> are </a:t>
            </a:r>
            <a:br>
              <a:rPr lang="en-US" sz="4000" dirty="0">
                <a:latin typeface="Abadi" panose="020B0604020104020204" pitchFamily="34" charset="0"/>
              </a:rPr>
            </a:br>
            <a:r>
              <a:rPr lang="en-US" sz="4000" b="1" cap="small" dirty="0">
                <a:latin typeface="Abadi" panose="020B0604020104020204" pitchFamily="34" charset="0"/>
              </a:rPr>
              <a:t>always</a:t>
            </a:r>
            <a:r>
              <a:rPr lang="en-US" sz="4000" b="1" dirty="0">
                <a:latin typeface="Abadi" panose="020B0604020104020204" pitchFamily="34" charset="0"/>
              </a:rPr>
              <a:t> public, static, and final</a:t>
            </a:r>
            <a:r>
              <a:rPr lang="en-US" sz="4000" dirty="0">
                <a:latin typeface="Abadi" panose="020B0604020104020204" pitchFamily="34" charset="0"/>
              </a:rPr>
              <a:t>.</a:t>
            </a:r>
          </a:p>
          <a:p>
            <a:pPr marL="0" indent="0">
              <a:buNone/>
            </a:pPr>
            <a:endParaRPr lang="en-US" sz="2000" dirty="0">
              <a:latin typeface="Abadi" panose="020B0604020104020204" pitchFamily="34" charset="0"/>
            </a:endParaRPr>
          </a:p>
          <a:p>
            <a:pPr marL="0" indent="0">
              <a:buNone/>
            </a:pPr>
            <a:r>
              <a:rPr lang="en-US" sz="4000" b="1" dirty="0">
                <a:latin typeface="Abadi" panose="020B0604020104020204" pitchFamily="34" charset="0"/>
              </a:rPr>
              <a:t>Methods</a:t>
            </a:r>
            <a:r>
              <a:rPr lang="en-US" sz="4000" dirty="0">
                <a:latin typeface="Abadi" panose="020B0604020104020204" pitchFamily="34" charset="0"/>
              </a:rPr>
              <a:t> in an </a:t>
            </a:r>
            <a:r>
              <a:rPr lang="en-US" sz="4000" dirty="0">
                <a:solidFill>
                  <a:schemeClr val="accent2">
                    <a:lumMod val="75000"/>
                  </a:schemeClr>
                </a:solidFill>
                <a:latin typeface="Abadi" panose="020B0604020104020204" pitchFamily="34" charset="0"/>
              </a:rPr>
              <a:t>interface</a:t>
            </a:r>
            <a:r>
              <a:rPr lang="en-US" sz="4000" dirty="0">
                <a:latin typeface="Abadi" panose="020B0604020104020204" pitchFamily="34" charset="0"/>
              </a:rPr>
              <a:t> are </a:t>
            </a:r>
            <a:br>
              <a:rPr lang="en-US" sz="4000" dirty="0">
                <a:latin typeface="Abadi" panose="020B0604020104020204" pitchFamily="34" charset="0"/>
              </a:rPr>
            </a:br>
            <a:r>
              <a:rPr lang="en-US" sz="4000" b="1" cap="small" dirty="0">
                <a:latin typeface="Abadi" panose="020B0604020104020204" pitchFamily="34" charset="0"/>
              </a:rPr>
              <a:t>always</a:t>
            </a:r>
            <a:r>
              <a:rPr lang="en-US" sz="4000" b="1" dirty="0">
                <a:latin typeface="Abadi" panose="020B0604020104020204" pitchFamily="34" charset="0"/>
              </a:rPr>
              <a:t> public and non-final</a:t>
            </a:r>
            <a:r>
              <a:rPr lang="en-US" sz="4000" dirty="0">
                <a:latin typeface="Abadi" panose="020B0604020104020204" pitchFamily="34" charset="0"/>
              </a:rPr>
              <a:t>, and </a:t>
            </a:r>
            <a:r>
              <a:rPr lang="en-US" sz="4000" b="1" cap="small" dirty="0">
                <a:latin typeface="Abadi" panose="020B0604020104020204" pitchFamily="34" charset="0"/>
              </a:rPr>
              <a:t>usually</a:t>
            </a:r>
            <a:r>
              <a:rPr lang="en-US" sz="4000" b="1" dirty="0">
                <a:latin typeface="Abadi" panose="020B0604020104020204" pitchFamily="34" charset="0"/>
              </a:rPr>
              <a:t> abstract and non-static</a:t>
            </a:r>
            <a:r>
              <a:rPr lang="en-US" sz="4000" dirty="0">
                <a:latin typeface="Abadi" panose="020B0604020104020204" pitchFamily="34" charset="0"/>
              </a:rPr>
              <a:t>.</a:t>
            </a:r>
          </a:p>
        </p:txBody>
      </p:sp>
    </p:spTree>
    <p:extLst>
      <p:ext uri="{BB962C8B-B14F-4D97-AF65-F5344CB8AC3E}">
        <p14:creationId xmlns:p14="http://schemas.microsoft.com/office/powerpoint/2010/main" val="1674593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9A26EF-22EB-4E17-A2C4-431234F8C27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3602" name="WordArt 2">
            <a:extLst>
              <a:ext uri="{FF2B5EF4-FFF2-40B4-BE49-F238E27FC236}">
                <a16:creationId xmlns:a16="http://schemas.microsoft.com/office/drawing/2014/main" id="{06DF2F94-5581-4796-94C3-30D459A4AE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3">
            <a:extLst>
              <a:ext uri="{FF2B5EF4-FFF2-40B4-BE49-F238E27FC236}">
                <a16:creationId xmlns:a16="http://schemas.microsoft.com/office/drawing/2014/main" id="{E43C9A49-1933-4B52-AF0D-3E182543B87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81000" y="12192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t>Most all of the classes in Java that can be compared implement Comparable. </a:t>
            </a:r>
          </a:p>
        </p:txBody>
      </p:sp>
      <p:sp>
        <p:nvSpPr>
          <p:cNvPr id="112660" name="Text Box 20">
            <a:extLst>
              <a:ext uri="{FF2B5EF4-FFF2-40B4-BE49-F238E27FC236}">
                <a16:creationId xmlns:a16="http://schemas.microsoft.com/office/drawing/2014/main" id="{DAFF76BA-B2A3-4C86-8B55-C8FB5B814FBC}"/>
              </a:ext>
            </a:extLst>
          </p:cNvPr>
          <p:cNvSpPr txBox="1">
            <a:spLocks noChangeArrowheads="1"/>
          </p:cNvSpPr>
          <p:nvPr/>
        </p:nvSpPr>
        <p:spPr bwMode="auto">
          <a:xfrm>
            <a:off x="3505200" y="5486400"/>
            <a:ext cx="3581400" cy="4365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chemeClr val="accent2"/>
                </a:solidFill>
              </a:rPr>
              <a:t>Compare Booleans???????</a:t>
            </a:r>
            <a:endParaRPr lang="en-US" altLang="en-US"/>
          </a:p>
        </p:txBody>
      </p:sp>
      <p:grpSp>
        <p:nvGrpSpPr>
          <p:cNvPr id="2" name="Group 1" descr="The Comparable Interface is implemented by the String class as well as the Wrapper Classes: Integer, Long, Double, Float, Character, and Boolean (among others).">
            <a:extLst>
              <a:ext uri="{FF2B5EF4-FFF2-40B4-BE49-F238E27FC236}">
                <a16:creationId xmlns:a16="http://schemas.microsoft.com/office/drawing/2014/main" id="{695A8812-2DA8-82C5-648B-6B178BEBC4BC}"/>
              </a:ext>
            </a:extLst>
          </p:cNvPr>
          <p:cNvGrpSpPr/>
          <p:nvPr/>
        </p:nvGrpSpPr>
        <p:grpSpPr>
          <a:xfrm>
            <a:off x="304800" y="2438400"/>
            <a:ext cx="8382000" cy="2971800"/>
            <a:chOff x="304800" y="2438400"/>
            <a:chExt cx="8382000" cy="2971800"/>
          </a:xfrm>
        </p:grpSpPr>
        <p:sp>
          <p:nvSpPr>
            <p:cNvPr id="112644" name="Rectangle 4">
              <a:extLst>
                <a:ext uri="{FF2B5EF4-FFF2-40B4-BE49-F238E27FC236}">
                  <a16:creationId xmlns:a16="http://schemas.microsoft.com/office/drawing/2014/main" id="{83FDAEFF-6003-40D5-AAD8-C38365694DD0}"/>
                </a:ext>
              </a:extLst>
            </p:cNvPr>
            <p:cNvSpPr>
              <a:spLocks noChangeArrowheads="1"/>
            </p:cNvSpPr>
            <p:nvPr/>
          </p:nvSpPr>
          <p:spPr bwMode="auto">
            <a:xfrm>
              <a:off x="2819400" y="2438400"/>
              <a:ext cx="2819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Comparable</a:t>
              </a:r>
            </a:p>
          </p:txBody>
        </p:sp>
        <p:sp>
          <p:nvSpPr>
            <p:cNvPr id="112646" name="Line 6">
              <a:extLst>
                <a:ext uri="{FF2B5EF4-FFF2-40B4-BE49-F238E27FC236}">
                  <a16:creationId xmlns:a16="http://schemas.microsoft.com/office/drawing/2014/main" id="{718A3C60-E6AD-4A20-8947-CB178F2EA37A}"/>
                </a:ext>
              </a:extLst>
            </p:cNvPr>
            <p:cNvSpPr>
              <a:spLocks noChangeShapeType="1"/>
            </p:cNvSpPr>
            <p:nvPr/>
          </p:nvSpPr>
          <p:spPr bwMode="auto">
            <a:xfrm flipH="1">
              <a:off x="2057400" y="2971800"/>
              <a:ext cx="533400" cy="1295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7" name="Rectangle 7">
              <a:extLst>
                <a:ext uri="{FF2B5EF4-FFF2-40B4-BE49-F238E27FC236}">
                  <a16:creationId xmlns:a16="http://schemas.microsoft.com/office/drawing/2014/main" id="{3990BF91-6219-4A1F-862E-9315D791E2A6}"/>
                </a:ext>
              </a:extLst>
            </p:cNvPr>
            <p:cNvSpPr>
              <a:spLocks noChangeArrowheads="1"/>
            </p:cNvSpPr>
            <p:nvPr/>
          </p:nvSpPr>
          <p:spPr bwMode="auto">
            <a:xfrm>
              <a:off x="304800" y="28956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String</a:t>
              </a:r>
            </a:p>
          </p:txBody>
        </p:sp>
        <p:sp>
          <p:nvSpPr>
            <p:cNvPr id="112648" name="Rectangle 8">
              <a:extLst>
                <a:ext uri="{FF2B5EF4-FFF2-40B4-BE49-F238E27FC236}">
                  <a16:creationId xmlns:a16="http://schemas.microsoft.com/office/drawing/2014/main" id="{61E440FA-5452-4BF8-AF3D-50B0D253CDF3}"/>
                </a:ext>
              </a:extLst>
            </p:cNvPr>
            <p:cNvSpPr>
              <a:spLocks noChangeArrowheads="1"/>
            </p:cNvSpPr>
            <p:nvPr/>
          </p:nvSpPr>
          <p:spPr bwMode="auto">
            <a:xfrm>
              <a:off x="838200" y="4419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Integer</a:t>
              </a:r>
            </a:p>
          </p:txBody>
        </p:sp>
        <p:sp>
          <p:nvSpPr>
            <p:cNvPr id="112649" name="Line 9">
              <a:extLst>
                <a:ext uri="{FF2B5EF4-FFF2-40B4-BE49-F238E27FC236}">
                  <a16:creationId xmlns:a16="http://schemas.microsoft.com/office/drawing/2014/main" id="{2CF389A8-9120-4EBD-B506-9192AF2E3FE2}"/>
                </a:ext>
              </a:extLst>
            </p:cNvPr>
            <p:cNvSpPr>
              <a:spLocks noChangeShapeType="1"/>
            </p:cNvSpPr>
            <p:nvPr/>
          </p:nvSpPr>
          <p:spPr bwMode="auto">
            <a:xfrm>
              <a:off x="5562600" y="2819400"/>
              <a:ext cx="6858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0" name="Line 10">
              <a:extLst>
                <a:ext uri="{FF2B5EF4-FFF2-40B4-BE49-F238E27FC236}">
                  <a16:creationId xmlns:a16="http://schemas.microsoft.com/office/drawing/2014/main" id="{15A1A6BB-62FB-48EE-823A-B0DC5F5C5AB2}"/>
                </a:ext>
              </a:extLst>
            </p:cNvPr>
            <p:cNvSpPr>
              <a:spLocks noChangeShapeType="1"/>
            </p:cNvSpPr>
            <p:nvPr/>
          </p:nvSpPr>
          <p:spPr bwMode="auto">
            <a:xfrm>
              <a:off x="4038600" y="2971800"/>
              <a:ext cx="0" cy="1752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1" name="Rectangle 11">
              <a:extLst>
                <a:ext uri="{FF2B5EF4-FFF2-40B4-BE49-F238E27FC236}">
                  <a16:creationId xmlns:a16="http://schemas.microsoft.com/office/drawing/2014/main" id="{7A18076F-2C11-4F73-B7CE-1AF8885968A0}"/>
                </a:ext>
              </a:extLst>
            </p:cNvPr>
            <p:cNvSpPr>
              <a:spLocks noChangeArrowheads="1"/>
            </p:cNvSpPr>
            <p:nvPr/>
          </p:nvSpPr>
          <p:spPr bwMode="auto">
            <a:xfrm>
              <a:off x="4419600" y="3962400"/>
              <a:ext cx="17526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Double</a:t>
              </a:r>
            </a:p>
          </p:txBody>
        </p:sp>
        <p:sp>
          <p:nvSpPr>
            <p:cNvPr id="112652" name="Line 12">
              <a:extLst>
                <a:ext uri="{FF2B5EF4-FFF2-40B4-BE49-F238E27FC236}">
                  <a16:creationId xmlns:a16="http://schemas.microsoft.com/office/drawing/2014/main" id="{691A2795-5670-4A66-B024-114CAD63291D}"/>
                </a:ext>
              </a:extLst>
            </p:cNvPr>
            <p:cNvSpPr>
              <a:spLocks noChangeShapeType="1"/>
            </p:cNvSpPr>
            <p:nvPr/>
          </p:nvSpPr>
          <p:spPr bwMode="auto">
            <a:xfrm>
              <a:off x="2971800" y="2971800"/>
              <a:ext cx="0" cy="533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3" name="Rectangle 13">
              <a:extLst>
                <a:ext uri="{FF2B5EF4-FFF2-40B4-BE49-F238E27FC236}">
                  <a16:creationId xmlns:a16="http://schemas.microsoft.com/office/drawing/2014/main" id="{EE3F263D-551E-4557-B303-DB004100F261}"/>
                </a:ext>
              </a:extLst>
            </p:cNvPr>
            <p:cNvSpPr>
              <a:spLocks noChangeArrowheads="1"/>
            </p:cNvSpPr>
            <p:nvPr/>
          </p:nvSpPr>
          <p:spPr bwMode="auto">
            <a:xfrm>
              <a:off x="6400800" y="3810000"/>
              <a:ext cx="1524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Float</a:t>
              </a:r>
            </a:p>
          </p:txBody>
        </p:sp>
        <p:sp>
          <p:nvSpPr>
            <p:cNvPr id="112654" name="Rectangle 14">
              <a:extLst>
                <a:ext uri="{FF2B5EF4-FFF2-40B4-BE49-F238E27FC236}">
                  <a16:creationId xmlns:a16="http://schemas.microsoft.com/office/drawing/2014/main" id="{0DF51385-1858-4D8E-B239-AF9C2F9BC3A2}"/>
                </a:ext>
              </a:extLst>
            </p:cNvPr>
            <p:cNvSpPr>
              <a:spLocks noChangeArrowheads="1"/>
            </p:cNvSpPr>
            <p:nvPr/>
          </p:nvSpPr>
          <p:spPr bwMode="auto">
            <a:xfrm>
              <a:off x="6324600" y="28194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Character</a:t>
              </a:r>
            </a:p>
          </p:txBody>
        </p:sp>
        <p:sp>
          <p:nvSpPr>
            <p:cNvPr id="112655" name="Line 15">
              <a:extLst>
                <a:ext uri="{FF2B5EF4-FFF2-40B4-BE49-F238E27FC236}">
                  <a16:creationId xmlns:a16="http://schemas.microsoft.com/office/drawing/2014/main" id="{BA4BA551-DD2C-4BAD-B512-2DD0F2AC2A84}"/>
                </a:ext>
              </a:extLst>
            </p:cNvPr>
            <p:cNvSpPr>
              <a:spLocks noChangeShapeType="1"/>
            </p:cNvSpPr>
            <p:nvPr/>
          </p:nvSpPr>
          <p:spPr bwMode="auto">
            <a:xfrm>
              <a:off x="4876800" y="2971800"/>
              <a:ext cx="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6" name="Rectangle 16">
              <a:extLst>
                <a:ext uri="{FF2B5EF4-FFF2-40B4-BE49-F238E27FC236}">
                  <a16:creationId xmlns:a16="http://schemas.microsoft.com/office/drawing/2014/main" id="{538B9C11-DE03-4C28-BC4B-A1582499DC38}"/>
                </a:ext>
              </a:extLst>
            </p:cNvPr>
            <p:cNvSpPr>
              <a:spLocks noChangeArrowheads="1"/>
            </p:cNvSpPr>
            <p:nvPr/>
          </p:nvSpPr>
          <p:spPr bwMode="auto">
            <a:xfrm>
              <a:off x="2514600" y="3581400"/>
              <a:ext cx="1295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Long</a:t>
              </a:r>
            </a:p>
          </p:txBody>
        </p:sp>
        <p:sp>
          <p:nvSpPr>
            <p:cNvPr id="112657" name="Rectangle 17">
              <a:extLst>
                <a:ext uri="{FF2B5EF4-FFF2-40B4-BE49-F238E27FC236}">
                  <a16:creationId xmlns:a16="http://schemas.microsoft.com/office/drawing/2014/main" id="{CA5D40EE-1883-4B00-A8D7-E4DEAC0F3FAC}"/>
                </a:ext>
              </a:extLst>
            </p:cNvPr>
            <p:cNvSpPr>
              <a:spLocks noChangeArrowheads="1"/>
            </p:cNvSpPr>
            <p:nvPr/>
          </p:nvSpPr>
          <p:spPr bwMode="auto">
            <a:xfrm>
              <a:off x="3505200" y="4800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Boolean</a:t>
              </a:r>
            </a:p>
          </p:txBody>
        </p:sp>
        <p:sp>
          <p:nvSpPr>
            <p:cNvPr id="112658" name="Line 18">
              <a:extLst>
                <a:ext uri="{FF2B5EF4-FFF2-40B4-BE49-F238E27FC236}">
                  <a16:creationId xmlns:a16="http://schemas.microsoft.com/office/drawing/2014/main" id="{1DB81EC3-FA1C-4E7C-954E-69E1893F94DE}"/>
                </a:ext>
              </a:extLst>
            </p:cNvPr>
            <p:cNvSpPr>
              <a:spLocks noChangeShapeType="1"/>
            </p:cNvSpPr>
            <p:nvPr/>
          </p:nvSpPr>
          <p:spPr bwMode="auto">
            <a:xfrm>
              <a:off x="5334000" y="2971800"/>
              <a:ext cx="106680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61" name="Line 21">
              <a:extLst>
                <a:ext uri="{FF2B5EF4-FFF2-40B4-BE49-F238E27FC236}">
                  <a16:creationId xmlns:a16="http://schemas.microsoft.com/office/drawing/2014/main" id="{A1AB242A-6439-4F8B-96BB-6ECB647E44F3}"/>
                </a:ext>
              </a:extLst>
            </p:cNvPr>
            <p:cNvSpPr>
              <a:spLocks noChangeShapeType="1"/>
            </p:cNvSpPr>
            <p:nvPr/>
          </p:nvSpPr>
          <p:spPr bwMode="auto">
            <a:xfrm flipH="1">
              <a:off x="2057400" y="2743200"/>
              <a:ext cx="8382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terface Classes">
            <a:extLst>
              <a:ext uri="{FF2B5EF4-FFF2-40B4-BE49-F238E27FC236}">
                <a16:creationId xmlns:a16="http://schemas.microsoft.com/office/drawing/2014/main" id="{12B143EC-0C89-B7A5-F157-1EB904A77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08215"/>
            <a:ext cx="9144000" cy="55006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C96154-DC63-3545-734B-E315CB0C5493}"/>
              </a:ext>
            </a:extLst>
          </p:cNvPr>
          <p:cNvSpPr txBox="1"/>
          <p:nvPr/>
        </p:nvSpPr>
        <p:spPr>
          <a:xfrm>
            <a:off x="1508760" y="149098"/>
            <a:ext cx="6489277" cy="707886"/>
          </a:xfrm>
          <a:prstGeom prst="rect">
            <a:avLst/>
          </a:prstGeom>
          <a:noFill/>
        </p:spPr>
        <p:txBody>
          <a:bodyPr wrap="none" rtlCol="0">
            <a:spAutoFit/>
          </a:bodyPr>
          <a:lstStyle/>
          <a:p>
            <a:r>
              <a:rPr lang="en-US" sz="4000" b="1" dirty="0">
                <a:solidFill>
                  <a:srgbClr val="460689"/>
                </a:solidFill>
              </a:rPr>
              <a:t>Abstract Class Hierarchy</a:t>
            </a:r>
          </a:p>
        </p:txBody>
      </p:sp>
      <p:sp>
        <p:nvSpPr>
          <p:cNvPr id="6" name="Rectangle 5">
            <a:extLst>
              <a:ext uri="{FF2B5EF4-FFF2-40B4-BE49-F238E27FC236}">
                <a16:creationId xmlns:a16="http://schemas.microsoft.com/office/drawing/2014/main" id="{52DEFB6D-8F29-13BA-DD05-149AE398CF41}"/>
              </a:ext>
            </a:extLst>
          </p:cNvPr>
          <p:cNvSpPr/>
          <p:nvPr/>
        </p:nvSpPr>
        <p:spPr>
          <a:xfrm>
            <a:off x="0" y="1208215"/>
            <a:ext cx="969264" cy="4011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2736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23850" y="1600200"/>
            <a:ext cx="84963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interface</a:t>
            </a:r>
            <a:r>
              <a:rPr lang="fr-FR" sz="3200" b="1" dirty="0">
                <a:solidFill>
                  <a:srgbClr val="000000"/>
                </a:solidFill>
                <a:latin typeface="Consolas" panose="020B0609020204030204" pitchFamily="49" charset="0"/>
              </a:rPr>
              <a:t> Comparable&lt;T&gt; </a:t>
            </a:r>
          </a:p>
          <a:p>
            <a:pPr>
              <a:spcBef>
                <a:spcPts val="0"/>
              </a:spcBef>
            </a:pPr>
            <a:r>
              <a:rPr lang="fr-FR" sz="3200" b="1" dirty="0">
                <a:solidFill>
                  <a:srgbClr val="000000"/>
                </a:solidFill>
                <a:latin typeface="Consolas" panose="020B0609020204030204" pitchFamily="49" charset="0"/>
              </a:rPr>
              <a:t>{</a:t>
            </a:r>
            <a:br>
              <a:rPr lang="fr-FR" sz="3200" b="1" dirty="0">
                <a:solidFill>
                  <a:srgbClr val="000000"/>
                </a:solidFill>
                <a:latin typeface="Consolas" panose="020B0609020204030204" pitchFamily="49" charset="0"/>
              </a:rPr>
            </a:b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abstract</a:t>
            </a:r>
            <a:r>
              <a:rPr lang="fr-FR" sz="3200" b="1" dirty="0">
                <a:solidFill>
                  <a:srgbClr val="000000"/>
                </a:solidFill>
                <a:latin typeface="Consolas" panose="020B0609020204030204" pitchFamily="49" charset="0"/>
              </a:rPr>
              <a:t> </a:t>
            </a:r>
            <a:r>
              <a:rPr lang="fr-FR" sz="3200" b="1" dirty="0" err="1">
                <a:solidFill>
                  <a:srgbClr val="941EDF"/>
                </a:solidFill>
                <a:latin typeface="Consolas" panose="020B0609020204030204" pitchFamily="49" charset="0"/>
              </a:rPr>
              <a:t>int</a:t>
            </a:r>
            <a:r>
              <a:rPr lang="fr-FR" sz="3200" b="1" dirty="0">
                <a:solidFill>
                  <a:srgbClr val="000000"/>
                </a:solidFill>
                <a:latin typeface="Consolas" panose="020B0609020204030204" pitchFamily="49" charset="0"/>
              </a:rPr>
              <a:t> </a:t>
            </a:r>
            <a:r>
              <a:rPr lang="fr-FR" sz="3200" b="1" dirty="0" err="1">
                <a:solidFill>
                  <a:srgbClr val="000000"/>
                </a:solidFill>
                <a:latin typeface="Consolas" panose="020B0609020204030204" pitchFamily="49" charset="0"/>
              </a:rPr>
              <a:t>compareTo</a:t>
            </a:r>
            <a:r>
              <a:rPr lang="fr-FR" sz="3200" b="1" dirty="0">
                <a:solidFill>
                  <a:srgbClr val="000000"/>
                </a:solidFill>
                <a:latin typeface="Consolas" panose="020B0609020204030204" pitchFamily="49" charset="0"/>
              </a:rPr>
              <a:t>(T o);</a:t>
            </a: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a:t>
            </a:r>
            <a:endParaRPr lang="en-US" altLang="en-US" sz="4800" b="1" dirty="0">
              <a:latin typeface="Consolas" panose="020B0609020204030204" pitchFamily="49" charset="0"/>
            </a:endParaRPr>
          </a:p>
        </p:txBody>
      </p:sp>
    </p:spTree>
    <p:extLst>
      <p:ext uri="{BB962C8B-B14F-4D97-AF65-F5344CB8AC3E}">
        <p14:creationId xmlns:p14="http://schemas.microsoft.com/office/powerpoint/2010/main" val="822404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57200" y="2133600"/>
            <a:ext cx="84963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941EDF"/>
                </a:solidFill>
                <a:latin typeface="Courier New" panose="02070309020205020404" pitchFamily="49" charset="0"/>
              </a:rPr>
              <a:t>public</a:t>
            </a: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int</a:t>
            </a:r>
            <a:r>
              <a:rPr lang="en-US" sz="2800" b="1" dirty="0">
                <a:solidFill>
                  <a:srgbClr val="000000"/>
                </a:solidFill>
                <a:latin typeface="Courier New" panose="02070309020205020404" pitchFamily="49" charset="0"/>
              </a:rPr>
              <a:t> </a:t>
            </a:r>
            <a:r>
              <a:rPr lang="en-US" sz="2800" b="1" dirty="0" err="1">
                <a:solidFill>
                  <a:srgbClr val="000000"/>
                </a:solidFill>
                <a:latin typeface="Courier New" panose="02070309020205020404" pitchFamily="49" charset="0"/>
              </a:rPr>
              <a:t>compareTo</a:t>
            </a:r>
            <a:r>
              <a:rPr lang="en-US" sz="2800" b="1" dirty="0">
                <a:solidFill>
                  <a:srgbClr val="000000"/>
                </a:solidFill>
                <a:latin typeface="Courier New" panose="02070309020205020404" pitchFamily="49" charset="0"/>
              </a:rPr>
              <a:t>(Character other) </a:t>
            </a:r>
          </a:p>
          <a:p>
            <a:pPr>
              <a:spcBef>
                <a:spcPct val="50000"/>
              </a:spcBef>
            </a:pP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return</a:t>
            </a:r>
            <a:r>
              <a:rPr lang="en-US" sz="2800" b="1" dirty="0">
                <a:solidFill>
                  <a:srgbClr val="000000"/>
                </a:solidFill>
                <a:latin typeface="Courier New" panose="02070309020205020404" pitchFamily="49" charset="0"/>
              </a:rPr>
              <a:t> </a:t>
            </a:r>
            <a:r>
              <a:rPr lang="en-US" sz="2800" b="1" dirty="0" err="1">
                <a:solidFill>
                  <a:srgbClr val="941EDF"/>
                </a:solidFill>
                <a:latin typeface="Courier New" panose="02070309020205020404" pitchFamily="49" charset="0"/>
              </a:rPr>
              <a:t>this</a:t>
            </a:r>
            <a:r>
              <a:rPr lang="en-US" sz="2800" b="1" dirty="0" err="1">
                <a:solidFill>
                  <a:srgbClr val="000000"/>
                </a:solidFill>
                <a:latin typeface="Courier New" panose="02070309020205020404" pitchFamily="49" charset="0"/>
              </a:rPr>
              <a:t>.value</a:t>
            </a:r>
            <a:r>
              <a:rPr lang="en-US" sz="2800" b="1" dirty="0">
                <a:solidFill>
                  <a:srgbClr val="000000"/>
                </a:solidFill>
                <a:latin typeface="Courier New" panose="02070309020205020404" pitchFamily="49" charset="0"/>
              </a:rPr>
              <a:t> - </a:t>
            </a:r>
            <a:r>
              <a:rPr lang="en-US" sz="2800" b="1" dirty="0" err="1">
                <a:solidFill>
                  <a:srgbClr val="000000"/>
                </a:solidFill>
                <a:latin typeface="Courier New" panose="02070309020205020404" pitchFamily="49" charset="0"/>
              </a:rPr>
              <a:t>other.value</a:t>
            </a: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a:t>
            </a:r>
            <a:endParaRPr lang="en-US" altLang="en-US" sz="28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228600" y="381000"/>
            <a:ext cx="8132354"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Character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Comparable&lt;Character&gt;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4915947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"and";</a:t>
            </a:r>
          </a:p>
          <a:p>
            <a:pPr eaLnBrk="0" hangingPunct="0"/>
            <a:r>
              <a:rPr lang="en-US" altLang="en-US" sz="4000" b="1" dirty="0">
                <a:latin typeface="Arial" panose="020B0604020202020204" pitchFamily="34" charset="0"/>
              </a:rPr>
              <a:t>Comparable y = "art";</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"ants";</a:t>
            </a:r>
          </a:p>
          <a:p>
            <a:pPr eaLnBrk="0" hangingPunct="0"/>
            <a:r>
              <a:rPr lang="en-US" altLang="en-US" sz="4000" b="1" dirty="0">
                <a:latin typeface="Arial" panose="020B0604020202020204" pitchFamily="34" charset="0"/>
              </a:rPr>
              <a:t>Comparable y = "an";</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2</a:t>
            </a:r>
          </a:p>
        </p:txBody>
      </p:sp>
    </p:spTree>
    <p:extLst>
      <p:ext uri="{BB962C8B-B14F-4D97-AF65-F5344CB8AC3E}">
        <p14:creationId xmlns:p14="http://schemas.microsoft.com/office/powerpoint/2010/main" val="636889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08252" y="1425000"/>
            <a:ext cx="611634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1600" b="1" dirty="0">
                <a:solidFill>
                  <a:srgbClr val="941EDF"/>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compareTo</a:t>
            </a:r>
            <a:r>
              <a:rPr lang="en-US" sz="1600" b="1" dirty="0">
                <a:solidFill>
                  <a:srgbClr val="000000"/>
                </a:solidFill>
                <a:latin typeface="Courier New" panose="02070309020205020404" pitchFamily="49" charset="0"/>
              </a:rPr>
              <a:t>(String </a:t>
            </a:r>
            <a:r>
              <a:rPr lang="en-US" sz="1600" b="1" dirty="0" err="1">
                <a:solidFill>
                  <a:srgbClr val="000000"/>
                </a:solidFill>
                <a:latin typeface="Courier New" panose="02070309020205020404" pitchFamily="49" charset="0"/>
              </a:rPr>
              <a:t>anotherString</a:t>
            </a:r>
            <a:r>
              <a:rPr lang="en-US" sz="1600" b="1" dirty="0">
                <a:solidFill>
                  <a:srgbClr val="000000"/>
                </a:solidFill>
                <a:latin typeface="Courier New" panose="02070309020205020404" pitchFamily="49" charset="0"/>
              </a:rPr>
              <a:t>) </a:t>
            </a:r>
          </a:p>
          <a:p>
            <a:pPr>
              <a:spcBef>
                <a:spcPts val="0"/>
              </a:spcBef>
            </a:pP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len1 = count;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len2 = </a:t>
            </a:r>
            <a:r>
              <a:rPr lang="en-US" sz="1600" b="1" dirty="0" err="1">
                <a:solidFill>
                  <a:srgbClr val="000000"/>
                </a:solidFill>
                <a:latin typeface="Courier New" panose="02070309020205020404" pitchFamily="49" charset="0"/>
              </a:rPr>
              <a:t>anotherString.count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n = </a:t>
            </a:r>
            <a:r>
              <a:rPr lang="en-US" sz="1600" b="1" dirty="0" err="1">
                <a:solidFill>
                  <a:srgbClr val="000000"/>
                </a:solidFill>
                <a:latin typeface="Courier New" panose="02070309020205020404" pitchFamily="49" charset="0"/>
              </a:rPr>
              <a:t>Math.min</a:t>
            </a:r>
            <a:r>
              <a:rPr lang="en-US" sz="1600" b="1" dirty="0">
                <a:solidFill>
                  <a:srgbClr val="000000"/>
                </a:solidFill>
                <a:latin typeface="Courier New" panose="02070309020205020404" pitchFamily="49" charset="0"/>
              </a:rPr>
              <a:t>(len1,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v1[] = value;</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v2[] = </a:t>
            </a:r>
            <a:r>
              <a:rPr lang="en-US" sz="1600" b="1" dirty="0" err="1">
                <a:solidFill>
                  <a:srgbClr val="000000"/>
                </a:solidFill>
                <a:latin typeface="Courier New" panose="02070309020205020404" pitchFamily="49" charset="0"/>
              </a:rPr>
              <a:t>anotherString.value</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i = offset;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j = </a:t>
            </a:r>
            <a:r>
              <a:rPr lang="en-US" sz="1600" b="1" dirty="0" err="1">
                <a:solidFill>
                  <a:srgbClr val="000000"/>
                </a:solidFill>
                <a:latin typeface="Courier New" panose="02070309020205020404" pitchFamily="49" charset="0"/>
              </a:rPr>
              <a:t>anotherString.offset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(i == j) </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k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 n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(k &lt;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a:t>
            </a:r>
            <a:br>
              <a:rPr lang="en-US" sz="1600" b="1" dirty="0">
                <a:solidFill>
                  <a:srgbClr val="000000"/>
                </a:solidFill>
                <a:highlight>
                  <a:srgbClr val="FFFF00"/>
                </a:highlight>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endParaRPr lang="en-US" altLang="en-US" sz="2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762000" y="228600"/>
            <a:ext cx="7487947"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String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Comparable&lt;String&gt;</a:t>
            </a:r>
            <a:br>
              <a:rPr lang="en-US" sz="2800" b="1" dirty="0">
                <a:solidFill>
                  <a:srgbClr val="0000FF"/>
                </a:solidFill>
                <a:latin typeface="Courier New" panose="02070309020205020404" pitchFamily="49" charset="0"/>
              </a:rPr>
            </a:br>
            <a:endParaRPr lang="en-US" sz="3200" b="1" dirty="0">
              <a:solidFill>
                <a:srgbClr val="0000FF"/>
              </a:solidFill>
            </a:endParaRPr>
          </a:p>
        </p:txBody>
      </p:sp>
      <p:sp>
        <p:nvSpPr>
          <p:cNvPr id="4" name="TextBox 3">
            <a:extLst>
              <a:ext uri="{FF2B5EF4-FFF2-40B4-BE49-F238E27FC236}">
                <a16:creationId xmlns:a16="http://schemas.microsoft.com/office/drawing/2014/main" id="{28382394-E19D-A169-86E8-E887AE5D8854}"/>
              </a:ext>
            </a:extLst>
          </p:cNvPr>
          <p:cNvSpPr txBox="1"/>
          <p:nvPr/>
        </p:nvSpPr>
        <p:spPr>
          <a:xfrm>
            <a:off x="5105400" y="3886200"/>
            <a:ext cx="4572000" cy="3046988"/>
          </a:xfrm>
          <a:prstGeom prst="rect">
            <a:avLst/>
          </a:prstGeom>
          <a:noFill/>
        </p:spPr>
        <p:txBody>
          <a:bodyPr wrap="square">
            <a:spAutoFit/>
          </a:bodyPr>
          <a:lstStyle/>
          <a:p>
            <a:r>
              <a:rPr lang="en-US" sz="1600" b="1" dirty="0">
                <a:solidFill>
                  <a:srgbClr val="941EDF"/>
                </a:solidFill>
                <a:latin typeface="Courier New" panose="02070309020205020404" pitchFamily="49" charset="0"/>
              </a:rPr>
              <a:t>else</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(n-- != 0)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a:t>
            </a:r>
            <a:r>
              <a:rPr lang="en-US" sz="1600" b="1" dirty="0" err="1">
                <a:solidFill>
                  <a:srgbClr val="000000"/>
                </a:solidFill>
                <a:latin typeface="Courier New" panose="02070309020205020404" pitchFamily="49" charset="0"/>
              </a:rPr>
              <a:t>j++</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len1 - len2</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endParaRPr lang="en-US" sz="1600" dirty="0"/>
          </a:p>
        </p:txBody>
      </p:sp>
    </p:spTree>
    <p:extLst>
      <p:ext uri="{BB962C8B-B14F-4D97-AF65-F5344CB8AC3E}">
        <p14:creationId xmlns:p14="http://schemas.microsoft.com/office/powerpoint/2010/main" val="28133492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19100" y="1524000"/>
            <a:ext cx="84963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(Integer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941EDF"/>
                </a:solidFill>
                <a:latin typeface="Courier New" panose="02070309020205020404" pitchFamily="49" charset="0"/>
              </a:rPr>
              <a:t>this</a:t>
            </a:r>
            <a:r>
              <a:rPr lang="en-US" sz="2400" b="1" dirty="0" err="1">
                <a:solidFill>
                  <a:srgbClr val="000000"/>
                </a:solidFill>
                <a:latin typeface="Courier New" panose="02070309020205020404" pitchFamily="49" charset="0"/>
              </a:rPr>
              <a:t>.value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other =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&lt; other ? -1 : </a:t>
            </a:r>
          </a:p>
          <a:p>
            <a:pPr>
              <a:spcBef>
                <a:spcPct val="5000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other ? 0 : 1));</a:t>
            </a:r>
            <a:br>
              <a:rPr lang="en-US" sz="2400" b="1" dirty="0">
                <a:solidFill>
                  <a:srgbClr val="000000"/>
                </a:solidFill>
                <a:latin typeface="Courier New" panose="02070309020205020404" pitchFamily="49" charset="0"/>
              </a:rPr>
            </a:br>
            <a:endParaRPr lang="en-US" sz="2400" b="1" dirty="0">
              <a:solidFill>
                <a:srgbClr val="000000"/>
              </a:solidFill>
              <a:latin typeface="Courier New" panose="02070309020205020404" pitchFamily="49" charset="0"/>
            </a:endParaRPr>
          </a:p>
          <a:p>
            <a:pPr>
              <a:spcBef>
                <a:spcPct val="50000"/>
              </a:spcBef>
            </a:pPr>
            <a:r>
              <a:rPr lang="en-US" sz="2400" dirty="0">
                <a:solidFill>
                  <a:srgbClr val="E65D00"/>
                </a:solidFill>
                <a:latin typeface="Courier New" panose="02070309020205020404" pitchFamily="49" charset="0"/>
              </a:rPr>
              <a:t>// Equivalent to:</a:t>
            </a:r>
            <a:br>
              <a:rPr lang="en-US" sz="2400"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&lt;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0;</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endParaRPr lang="en-US" altLang="en-US" sz="3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144655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Integer </a:t>
            </a:r>
            <a:r>
              <a:rPr lang="en-US" sz="2800" dirty="0">
                <a:solidFill>
                  <a:srgbClr val="0000FF"/>
                </a:solidFill>
                <a:latin typeface="Courier New" panose="02070309020205020404" pitchFamily="49" charset="0"/>
              </a:rPr>
              <a:t>extends </a:t>
            </a:r>
            <a:r>
              <a:rPr lang="en-US" sz="2800" b="1" dirty="0">
                <a:solidFill>
                  <a:srgbClr val="0000FF"/>
                </a:solidFill>
                <a:latin typeface="Courier New" panose="02070309020205020404" pitchFamily="49" charset="0"/>
              </a:rPr>
              <a:t>Number</a:t>
            </a:r>
          </a:p>
          <a:p>
            <a:r>
              <a:rPr lang="en-US" sz="2800" b="1" dirty="0">
                <a:solidFill>
                  <a:srgbClr val="0000FF"/>
                </a:solidFill>
                <a:latin typeface="Courier New" panose="02070309020205020404" pitchFamily="49" charset="0"/>
              </a:rPr>
              <a:t>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Comparable&lt;Integer&gt;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00506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2" name="WordArt 2">
            <a:extLst>
              <a:ext uri="{FF2B5EF4-FFF2-40B4-BE49-F238E27FC236}">
                <a16:creationId xmlns:a16="http://schemas.microsoft.com/office/drawing/2014/main" id="{7247F030-1087-4A1A-839A-DC007D9AFA6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54;</a:t>
            </a:r>
          </a:p>
          <a:p>
            <a:pPr eaLnBrk="0" hangingPunct="0"/>
            <a:r>
              <a:rPr lang="en-US" altLang="en-US" sz="4000" b="1">
                <a:latin typeface="Arial" panose="020B0604020202020204" pitchFamily="34" charset="0"/>
              </a:rPr>
              <a:t>Comparable y = 67;</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r>
              <a:rPr lang="en-US" altLang="en-US" sz="4000" b="1">
                <a:solidFill>
                  <a:schemeClr val="accent2"/>
                </a:solidFill>
                <a:latin typeface="Arial" panose="020B0604020202020204" pitchFamily="34" charset="0"/>
              </a:rPr>
              <a:t>Why is this okay??</a:t>
            </a: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6781800" y="4648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76200" y="1219200"/>
            <a:ext cx="89535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(Double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Double.compare</a:t>
            </a:r>
            <a:r>
              <a:rPr lang="en-US" sz="2400" b="1" dirty="0">
                <a:solidFill>
                  <a:srgbClr val="000000"/>
                </a:solidFill>
                <a:latin typeface="Courier New" panose="02070309020205020404" pitchFamily="49" charset="0"/>
              </a:rPr>
              <a:t>(value,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p>
          <a:p>
            <a:pPr>
              <a:spcBef>
                <a:spcPts val="0"/>
              </a:spcBef>
            </a:pPr>
            <a:endParaRPr lang="en-US" altLang="en-US" sz="1800" b="1" dirty="0">
              <a:solidFill>
                <a:srgbClr val="000000"/>
              </a:solidFill>
              <a:latin typeface="Courier New" panose="02070309020205020404" pitchFamily="49" charset="0"/>
            </a:endParaRPr>
          </a:p>
          <a:p>
            <a:pPr>
              <a:spcBef>
                <a:spcPts val="0"/>
              </a:spcBef>
            </a:pPr>
            <a:r>
              <a:rPr lang="en-US" sz="2400" dirty="0">
                <a:solidFill>
                  <a:srgbClr val="941EDF"/>
                </a:solidFill>
                <a:latin typeface="Courier New" panose="02070309020205020404" pitchFamily="49" charset="0"/>
              </a:rPr>
              <a:t>public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static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int</a:t>
            </a:r>
            <a:r>
              <a:rPr lang="en-US" sz="2400" dirty="0">
                <a:solidFill>
                  <a:srgbClr val="000000"/>
                </a:solidFill>
                <a:latin typeface="Courier New" panose="02070309020205020404" pitchFamily="49" charset="0"/>
              </a:rPr>
              <a:t> compare(</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d1, </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&lt;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&gt;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br>
              <a:rPr lang="en-US" sz="1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(d1);</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(d2);</a:t>
            </a:r>
            <a:br>
              <a:rPr lang="en-US" sz="2400" dirty="0">
                <a:solidFill>
                  <a:srgbClr val="000000"/>
                </a:solidFill>
                <a:latin typeface="Courier New" panose="02070309020205020404" pitchFamily="49" charset="0"/>
              </a:rPr>
            </a:b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0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&lt;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-1 : 1));</a:t>
            </a:r>
            <a:endParaRPr lang="en-US" sz="2400" dirty="0">
              <a:solidFill>
                <a:srgbClr val="E65D00"/>
              </a:solidFill>
              <a:latin typeface="Courier New" panose="02070309020205020404" pitchFamily="49" charset="0"/>
            </a:endParaRPr>
          </a:p>
          <a:p>
            <a:pPr>
              <a:spcBef>
                <a:spcPts val="0"/>
              </a:spcBef>
            </a:pPr>
            <a:r>
              <a:rPr lang="en-US" sz="2400" dirty="0">
                <a:solidFill>
                  <a:srgbClr val="000000"/>
                </a:solidFill>
                <a:latin typeface="Courier New" panose="02070309020205020404" pitchFamily="49" charset="0"/>
              </a:rPr>
              <a:t>}</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Tree>
    <p:extLst>
      <p:ext uri="{BB962C8B-B14F-4D97-AF65-F5344CB8AC3E}">
        <p14:creationId xmlns:p14="http://schemas.microsoft.com/office/powerpoint/2010/main" val="2774759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A0B36-42C5-6208-F01B-7DB2D1BEC5C9}"/>
            </a:ext>
          </a:extLst>
        </p:cNvPr>
        <p:cNvGrpSpPr/>
        <p:nvPr/>
      </p:nvGrpSpPr>
      <p:grpSpPr>
        <a:xfrm>
          <a:off x="0" y="0"/>
          <a:ext cx="0" cy="0"/>
          <a:chOff x="0" y="0"/>
          <a:chExt cx="0" cy="0"/>
        </a:xfrm>
      </p:grpSpPr>
      <p:sp>
        <p:nvSpPr>
          <p:cNvPr id="112659" name="Text Box 19">
            <a:extLst>
              <a:ext uri="{FF2B5EF4-FFF2-40B4-BE49-F238E27FC236}">
                <a16:creationId xmlns:a16="http://schemas.microsoft.com/office/drawing/2014/main" id="{1A2FAFEA-20A6-3BEF-DAA1-D954833CD8C8}"/>
              </a:ext>
            </a:extLst>
          </p:cNvPr>
          <p:cNvSpPr txBox="1">
            <a:spLocks noChangeArrowheads="1"/>
          </p:cNvSpPr>
          <p:nvPr/>
        </p:nvSpPr>
        <p:spPr bwMode="auto">
          <a:xfrm>
            <a:off x="76200" y="1219200"/>
            <a:ext cx="89535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br>
              <a:rPr lang="en-US" sz="1400" b="1"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thisBits</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Double.doubleToLongBits</a:t>
            </a:r>
            <a:r>
              <a:rPr lang="en-US" sz="2400" b="1" dirty="0">
                <a:solidFill>
                  <a:srgbClr val="000000"/>
                </a:solidFill>
                <a:latin typeface="Courier New" panose="02070309020205020404" pitchFamily="49" charset="0"/>
              </a:rPr>
              <a:t>(d1);</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D3E2A7B4-116F-011B-5781-345BDDAEA93A}"/>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
        <p:nvSpPr>
          <p:cNvPr id="3" name="Rectangle 1">
            <a:extLst>
              <a:ext uri="{FF2B5EF4-FFF2-40B4-BE49-F238E27FC236}">
                <a16:creationId xmlns:a16="http://schemas.microsoft.com/office/drawing/2014/main" id="{D3120EC7-8C24-F0A4-5A60-4807D309FC1C}"/>
              </a:ext>
            </a:extLst>
          </p:cNvPr>
          <p:cNvSpPr>
            <a:spLocks noChangeArrowheads="1"/>
          </p:cNvSpPr>
          <p:nvPr/>
        </p:nvSpPr>
        <p:spPr bwMode="auto">
          <a:xfrm>
            <a:off x="393193" y="2513237"/>
            <a:ext cx="8293608" cy="3852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0784"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ts val="1200"/>
              </a:spcAft>
              <a:buClrTx/>
              <a:buSzTx/>
              <a:buFontTx/>
              <a:buNone/>
              <a:tabLst/>
            </a:pPr>
            <a:r>
              <a:rPr kumimoji="0" lang="en-US" altLang="en-US" sz="3200" b="0" i="0" u="none" strike="noStrike" cap="none" normalizeH="0" baseline="0" dirty="0">
                <a:ln>
                  <a:noFill/>
                </a:ln>
                <a:solidFill>
                  <a:srgbClr val="474747"/>
                </a:solidFill>
                <a:effectLst/>
                <a:latin typeface="DejaVu Serif"/>
              </a:rPr>
              <a:t>Returns a 64 representation of the specified floating-point value :</a:t>
            </a:r>
            <a:endParaRPr kumimoji="0" lang="en-US" altLang="en-US" sz="18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 63 represents the sign of the floating-point number. </a:t>
            </a: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Bits 62-52 represent the exponent.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Bits 51-0 represent the significand (a.k.a. the mantissa) of the floating-point number.</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2930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70D45D2-9F3F-4819-A290-C37011945BF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0834" name="WordArt 2">
            <a:extLst>
              <a:ext uri="{FF2B5EF4-FFF2-40B4-BE49-F238E27FC236}">
                <a16:creationId xmlns:a16="http://schemas.microsoft.com/office/drawing/2014/main" id="{830D06B0-D3D7-46E0-9BD8-EA57A661957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0835" name="Text Box 3">
            <a:extLst>
              <a:ext uri="{FF2B5EF4-FFF2-40B4-BE49-F238E27FC236}">
                <a16:creationId xmlns:a16="http://schemas.microsoft.com/office/drawing/2014/main" id="{CDBAA474-5CCB-49A4-9581-CC60886B0FEE}"/>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9.21;</a:t>
            </a:r>
          </a:p>
          <a:p>
            <a:pPr eaLnBrk="0" hangingPunct="0"/>
            <a:r>
              <a:rPr lang="en-US" altLang="en-US" sz="4000" b="1">
                <a:latin typeface="Arial" panose="020B0604020202020204" pitchFamily="34" charset="0"/>
              </a:rPr>
              <a:t>Comparable y = 8.54;</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endParaRPr lang="en-US" altLang="en-US" sz="4000" b="1">
              <a:latin typeface="Arial" panose="020B0604020202020204" pitchFamily="34" charset="0"/>
            </a:endParaRPr>
          </a:p>
        </p:txBody>
      </p:sp>
      <p:sp>
        <p:nvSpPr>
          <p:cNvPr id="120836" name="Text Box 4">
            <a:extLst>
              <a:ext uri="{FF2B5EF4-FFF2-40B4-BE49-F238E27FC236}">
                <a16:creationId xmlns:a16="http://schemas.microsoft.com/office/drawing/2014/main" id="{CE7A51F3-04DB-45D5-AED2-137D20CC6D0B}"/>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3200" b="1" dirty="0">
                <a:solidFill>
                  <a:srgbClr val="941EDF"/>
                </a:solidFill>
                <a:latin typeface="Courier New" panose="02070309020205020404" pitchFamily="49" charset="0"/>
              </a:rPr>
              <a:t>public</a:t>
            </a: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int</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compareTo</a:t>
            </a:r>
            <a:r>
              <a:rPr lang="en-US" sz="3200" b="1" dirty="0">
                <a:solidFill>
                  <a:srgbClr val="000000"/>
                </a:solidFill>
                <a:latin typeface="Courier New" panose="02070309020205020404" pitchFamily="49" charset="0"/>
              </a:rPr>
              <a:t>(Boolean b) </a:t>
            </a:r>
          </a:p>
          <a:p>
            <a:pPr>
              <a:spcBef>
                <a:spcPts val="0"/>
              </a:spcBef>
            </a:pPr>
            <a:r>
              <a:rPr lang="en-US" sz="3200" b="1" dirty="0">
                <a:solidFill>
                  <a:srgbClr val="000000"/>
                </a:solidFill>
                <a:latin typeface="Courier New" panose="02070309020205020404" pitchFamily="49" charset="0"/>
              </a:rPr>
              <a:t>{</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return</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b.value</a:t>
            </a:r>
            <a:r>
              <a:rPr lang="en-US" sz="3200" b="1" dirty="0">
                <a:solidFill>
                  <a:srgbClr val="000000"/>
                </a:solidFill>
                <a:latin typeface="Courier New" panose="02070309020205020404" pitchFamily="49" charset="0"/>
              </a:rPr>
              <a:t> == value </a:t>
            </a:r>
          </a:p>
          <a:p>
            <a:pPr>
              <a:spcBef>
                <a:spcPts val="0"/>
              </a:spcBef>
            </a:pPr>
            <a:r>
              <a:rPr lang="en-US" sz="3200" b="1" dirty="0">
                <a:solidFill>
                  <a:srgbClr val="000000"/>
                </a:solidFill>
                <a:latin typeface="Courier New" panose="02070309020205020404" pitchFamily="49" charset="0"/>
              </a:rPr>
              <a:t>           ? 0 </a:t>
            </a:r>
          </a:p>
          <a:p>
            <a:pPr>
              <a:spcBef>
                <a:spcPts val="0"/>
              </a:spcBef>
            </a:pPr>
            <a:r>
              <a:rPr lang="en-US" sz="3200" b="1" dirty="0">
                <a:solidFill>
                  <a:srgbClr val="000000"/>
                </a:solidFill>
                <a:latin typeface="Courier New" panose="02070309020205020404" pitchFamily="49" charset="0"/>
              </a:rPr>
              <a:t>           : (value ? 1 : -1));</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a:t>
            </a:r>
            <a:endParaRPr lang="en-US" altLang="en-US" sz="6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Boolean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Comparable&lt;Boolean&gt;</a:t>
            </a:r>
            <a:endParaRPr lang="en-US" sz="3200" b="1" dirty="0">
              <a:solidFill>
                <a:srgbClr val="0000FF"/>
              </a:solidFill>
            </a:endParaRPr>
          </a:p>
        </p:txBody>
      </p:sp>
    </p:spTree>
    <p:extLst>
      <p:ext uri="{BB962C8B-B14F-4D97-AF65-F5344CB8AC3E}">
        <p14:creationId xmlns:p14="http://schemas.microsoft.com/office/powerpoint/2010/main" val="5438343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534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(Date </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a:solidFill>
                  <a:srgbClr val="941EDF"/>
                </a:solidFill>
                <a:latin typeface="Courier New" panose="02070309020205020404" pitchFamily="49" charset="0"/>
              </a:rPr>
              <a:t>this</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&lt;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 -1 </a:t>
            </a:r>
          </a:p>
          <a:p>
            <a:pPr>
              <a:spcBef>
                <a:spcPts val="0"/>
              </a:spcBef>
            </a:pP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0 :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altLang="en-US" sz="80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304800" y="304800"/>
            <a:ext cx="8534400" cy="52322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Date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Comparable&lt;Date&gt;</a:t>
            </a:r>
            <a:endParaRPr lang="en-US" sz="3200" b="1" dirty="0">
              <a:solidFill>
                <a:srgbClr val="0000FF"/>
              </a:solidFill>
            </a:endParaRPr>
          </a:p>
        </p:txBody>
      </p:sp>
    </p:spTree>
    <p:extLst>
      <p:ext uri="{BB962C8B-B14F-4D97-AF65-F5344CB8AC3E}">
        <p14:creationId xmlns:p14="http://schemas.microsoft.com/office/powerpoint/2010/main" val="12497158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000" dirty="0">
                <a:solidFill>
                  <a:srgbClr val="941EDF"/>
                </a:solidFill>
                <a:latin typeface="Courier New" panose="02070309020205020404" pitchFamily="49" charset="0"/>
              </a:rPr>
              <a:t>public</a:t>
            </a: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a:t>
            </a:r>
            <a:r>
              <a:rPr lang="en-US" sz="2000" dirty="0" err="1">
                <a:solidFill>
                  <a:srgbClr val="000000"/>
                </a:solidFill>
                <a:latin typeface="Courier New" panose="02070309020205020404" pitchFamily="49" charset="0"/>
              </a:rPr>
              <a:t>ChronoLocalDate</a:t>
            </a:r>
            <a:r>
              <a:rPr lang="en-US" sz="2000" dirty="0">
                <a:solidFill>
                  <a:srgbClr val="000000"/>
                </a:solidFill>
                <a:latin typeface="Courier New" panose="02070309020205020404" pitchFamily="49" charset="0"/>
              </a:rPr>
              <a:t> other)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(other </a:t>
            </a:r>
            <a:r>
              <a:rPr lang="en-US" sz="2000" dirty="0" err="1">
                <a:solidFill>
                  <a:srgbClr val="941EDF"/>
                </a:solidFill>
                <a:latin typeface="Courier New" panose="02070309020205020404" pitchFamily="49" charset="0"/>
              </a:rPr>
              <a:t>instanceof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ChronoLocalDate.</a:t>
            </a:r>
            <a:r>
              <a:rPr lang="en-US" sz="2000" dirty="0" err="1">
                <a:solidFill>
                  <a:srgbClr val="941EDF"/>
                </a:solidFill>
                <a:latin typeface="Courier New" panose="02070309020205020404" pitchFamily="49" charset="0"/>
              </a:rPr>
              <a:t>super</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a:p>
            <a:pPr>
              <a:spcBef>
                <a:spcPts val="0"/>
              </a:spcBef>
            </a:pPr>
            <a:endParaRPr lang="en-US" sz="2000" dirty="0">
              <a:solidFill>
                <a:srgbClr val="000000"/>
              </a:solidFill>
              <a:latin typeface="Courier New" panose="02070309020205020404" pitchFamily="49" charset="0"/>
            </a:endParaRPr>
          </a:p>
          <a:p>
            <a:pPr>
              <a:spcBef>
                <a:spcPts val="0"/>
              </a:spcBef>
            </a:pP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otherDate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(year - </a:t>
            </a:r>
            <a:r>
              <a:rPr lang="en-US" sz="2000" dirty="0" err="1">
                <a:solidFill>
                  <a:srgbClr val="000000"/>
                </a:solidFill>
                <a:latin typeface="Courier New" panose="02070309020205020404" pitchFamily="49" charset="0"/>
              </a:rPr>
              <a:t>otherDate.year</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(month - </a:t>
            </a:r>
            <a:r>
              <a:rPr lang="en-US" sz="2000" dirty="0" err="1">
                <a:solidFill>
                  <a:srgbClr val="000000"/>
                </a:solidFill>
                <a:latin typeface="Courier New" panose="02070309020205020404" pitchFamily="49" charset="0"/>
              </a:rPr>
              <a:t>otherDate.month</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(day - </a:t>
            </a:r>
            <a:r>
              <a:rPr lang="en-US" sz="2000" dirty="0" err="1">
                <a:solidFill>
                  <a:srgbClr val="000000"/>
                </a:solidFill>
                <a:latin typeface="Courier New" panose="02070309020205020404" pitchFamily="49" charset="0"/>
              </a:rPr>
              <a:t>otherDate.day</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17B5989-8C90-CB5D-D201-35531C5158DE}"/>
              </a:ext>
            </a:extLst>
          </p:cNvPr>
          <p:cNvSpPr txBox="1"/>
          <p:nvPr/>
        </p:nvSpPr>
        <p:spPr>
          <a:xfrm>
            <a:off x="349827" y="457200"/>
            <a:ext cx="8444346"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err="1">
                <a:solidFill>
                  <a:srgbClr val="0000FF"/>
                </a:solidFill>
                <a:latin typeface="Courier New" panose="02070309020205020404" pitchFamily="49" charset="0"/>
              </a:rPr>
              <a:t>ChronoLocalDate</a:t>
            </a:r>
            <a:endParaRPr lang="en-US" sz="4000" b="1" dirty="0">
              <a:solidFill>
                <a:srgbClr val="0000FF"/>
              </a:solidFill>
            </a:endParaRPr>
          </a:p>
        </p:txBody>
      </p:sp>
    </p:spTree>
    <p:extLst>
      <p:ext uri="{BB962C8B-B14F-4D97-AF65-F5344CB8AC3E}">
        <p14:creationId xmlns:p14="http://schemas.microsoft.com/office/powerpoint/2010/main" val="34479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0" y="1752600"/>
            <a:ext cx="9144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default</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ChronoLocalDate</a:t>
            </a:r>
            <a:r>
              <a:rPr lang="en-US" sz="2400" b="1" dirty="0">
                <a:solidFill>
                  <a:srgbClr val="000000"/>
                </a:solidFill>
                <a:latin typeface="Courier New" panose="02070309020205020404" pitchFamily="49" charset="0"/>
              </a:rPr>
              <a:t> other)</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Long.compare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toEpochDay</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other.toEpochDay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0)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getChronology</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other.getChronology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sz="2800" b="1" dirty="0">
              <a:solidFill>
                <a:srgbClr val="000000"/>
              </a:solidFill>
              <a:latin typeface="Courier New" panose="020703090202050204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228600"/>
            <a:ext cx="9144000"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ChronoLocalDate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a:solidFill>
                  <a:srgbClr val="0000FF"/>
                </a:solidFill>
                <a:latin typeface="Courier New" panose="02070309020205020404" pitchFamily="49" charset="0"/>
              </a:rPr>
              <a:t>Comparable&lt;</a:t>
            </a:r>
            <a:r>
              <a:rPr lang="en-US" sz="2400" b="1" dirty="0" err="1">
                <a:solidFill>
                  <a:srgbClr val="0000FF"/>
                </a:solidFill>
                <a:latin typeface="Courier New" panose="02070309020205020404" pitchFamily="49" charset="0"/>
              </a:rPr>
              <a:t>ChronoLocalDate</a:t>
            </a:r>
            <a:r>
              <a:rPr lang="en-US" sz="2400" b="1" dirty="0">
                <a:solidFill>
                  <a:srgbClr val="0000FF"/>
                </a:solidFill>
                <a:latin typeface="Courier New" panose="02070309020205020404" pitchFamily="49" charset="0"/>
              </a:rPr>
              <a:t>&gt;</a:t>
            </a:r>
            <a:endParaRPr lang="en-US" sz="4000" b="1" dirty="0">
              <a:solidFill>
                <a:srgbClr val="0000FF"/>
              </a:solidFill>
            </a:endParaRPr>
          </a:p>
        </p:txBody>
      </p:sp>
    </p:spTree>
    <p:extLst>
      <p:ext uri="{BB962C8B-B14F-4D97-AF65-F5344CB8AC3E}">
        <p14:creationId xmlns:p14="http://schemas.microsoft.com/office/powerpoint/2010/main" val="36070011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304800" y="228600"/>
            <a:ext cx="701544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54;</a:t>
            </a:r>
          </a:p>
          <a:p>
            <a:pPr eaLnBrk="0" hangingPunct="0"/>
            <a:r>
              <a:rPr lang="en-US" altLang="en-US" sz="4000" b="1" dirty="0">
                <a:latin typeface="Arial" panose="020B0604020202020204" pitchFamily="34" charset="0"/>
              </a:rPr>
              <a:t>Comparable y = 67;</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9.32;</a:t>
            </a:r>
          </a:p>
          <a:p>
            <a:pPr eaLnBrk="0" hangingPunct="0"/>
            <a:r>
              <a:rPr lang="en-US" altLang="en-US" sz="4000" b="1" dirty="0">
                <a:latin typeface="Arial" panose="020B0604020202020204" pitchFamily="34" charset="0"/>
              </a:rPr>
              <a:t>y = 7.85;</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“an”;</a:t>
            </a:r>
          </a:p>
          <a:p>
            <a:pPr eaLnBrk="0" hangingPunct="0"/>
            <a:r>
              <a:rPr lang="en-US" altLang="en-US" sz="4000" b="1" dirty="0">
                <a:latin typeface="Arial" panose="020B0604020202020204" pitchFamily="34" charset="0"/>
              </a:rPr>
              <a:t>y = “antler”;</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7218218" y="3810000"/>
            <a:ext cx="19050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-1</a:t>
            </a:r>
          </a:p>
          <a:p>
            <a:pPr algn="ctr" eaLnBrk="0" hangingPunct="0">
              <a:spcBef>
                <a:spcPct val="50000"/>
              </a:spcBef>
            </a:pPr>
            <a:r>
              <a:rPr lang="en-US" altLang="en-US" sz="3200" b="1" dirty="0"/>
              <a:t>1</a:t>
            </a:r>
          </a:p>
          <a:p>
            <a:pPr algn="ctr" eaLnBrk="0" hangingPunct="0">
              <a:spcBef>
                <a:spcPct val="50000"/>
              </a:spcBef>
            </a:pPr>
            <a:r>
              <a:rPr lang="en-US" altLang="en-US" sz="3200" b="1" dirty="0"/>
              <a:t>-4</a:t>
            </a:r>
          </a:p>
        </p:txBody>
      </p:sp>
    </p:spTree>
    <p:extLst>
      <p:ext uri="{BB962C8B-B14F-4D97-AF65-F5344CB8AC3E}">
        <p14:creationId xmlns:p14="http://schemas.microsoft.com/office/powerpoint/2010/main" val="2445545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5525166-6E3F-49D9-A59F-D7F041E046B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4258" name="Text Box 2">
            <a:extLst>
              <a:ext uri="{FF2B5EF4-FFF2-40B4-BE49-F238E27FC236}">
                <a16:creationId xmlns:a16="http://schemas.microsoft.com/office/drawing/2014/main" id="{6C2BAE69-8F48-4D5B-B30A-5143B848FD06}"/>
              </a:ext>
            </a:extLst>
          </p:cNvPr>
          <p:cNvSpPr txBox="1">
            <a:spLocks noChangeArrowheads="1"/>
          </p:cNvSpPr>
          <p:nvPr/>
        </p:nvSpPr>
        <p:spPr bwMode="auto">
          <a:xfrm>
            <a:off x="914400" y="1676400"/>
            <a:ext cx="750093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t>
            </a:r>
          </a:p>
          <a:p>
            <a:pPr eaLnBrk="0" hangingPunct="0"/>
            <a:r>
              <a:rPr lang="en-US" altLang="en-US" sz="4000" b="1" dirty="0">
                <a:latin typeface="Arial" panose="020B0604020202020204" pitchFamily="34" charset="0"/>
              </a:rPr>
              <a:t>			</a:t>
            </a:r>
            <a:r>
              <a:rPr lang="en-US" altLang="en-US" sz="4000" b="1" dirty="0">
                <a:solidFill>
                  <a:srgbClr val="C00000"/>
                </a:solidFill>
                <a:latin typeface="Arial" panose="020B0604020202020204" pitchFamily="34" charset="0"/>
              </a:rPr>
              <a:t>new Comparable();</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(x);</a:t>
            </a:r>
          </a:p>
          <a:p>
            <a:pPr eaLnBrk="0" hangingPunct="0"/>
            <a:endParaRPr lang="en-US" altLang="en-US" sz="4000" b="1" dirty="0">
              <a:latin typeface="Arial" panose="020B0604020202020204" pitchFamily="34" charset="0"/>
            </a:endParaRPr>
          </a:p>
          <a:p>
            <a:pPr eaLnBrk="0" hangingPunct="0"/>
            <a:r>
              <a:rPr lang="en-US" altLang="en-US" sz="4000" b="1" dirty="0">
                <a:solidFill>
                  <a:srgbClr val="FF0000"/>
                </a:solidFill>
                <a:latin typeface="Arial" panose="020B0604020202020204" pitchFamily="34" charset="0"/>
              </a:rPr>
              <a:t>Is this okay??</a:t>
            </a:r>
          </a:p>
        </p:txBody>
      </p:sp>
      <p:sp>
        <p:nvSpPr>
          <p:cNvPr id="224259" name="WordArt 3">
            <a:extLst>
              <a:ext uri="{FF2B5EF4-FFF2-40B4-BE49-F238E27FC236}">
                <a16:creationId xmlns:a16="http://schemas.microsoft.com/office/drawing/2014/main" id="{717A6352-738C-469F-B3E1-85CBA8106B59}"/>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4260" name="Text Box 4">
            <a:extLst>
              <a:ext uri="{FF2B5EF4-FFF2-40B4-BE49-F238E27FC236}">
                <a16:creationId xmlns:a16="http://schemas.microsoft.com/office/drawing/2014/main" id="{35FABAE8-E51C-448F-BB79-6DEBA6FEAD67}"/>
              </a:ext>
            </a:extLst>
          </p:cNvPr>
          <p:cNvSpPr txBox="1">
            <a:spLocks noChangeArrowheads="1"/>
          </p:cNvSpPr>
          <p:nvPr/>
        </p:nvSpPr>
        <p:spPr bwMode="auto">
          <a:xfrm>
            <a:off x="5334000" y="3581400"/>
            <a:ext cx="32766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eaLnBrk="0" hangingPunct="0">
              <a:spcBef>
                <a:spcPct val="50000"/>
              </a:spcBef>
            </a:pPr>
            <a:r>
              <a:rPr lang="en-US" altLang="en-US" sz="3200" b="1"/>
              <a:t>no output</a:t>
            </a:r>
            <a:br>
              <a:rPr lang="en-US" altLang="en-US" sz="3200" b="1"/>
            </a:br>
            <a:r>
              <a:rPr lang="en-US" altLang="en-US" sz="3200" b="1"/>
              <a:t>compile error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07209BC6-046C-4764-83F3-FF34DBA46E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2210" name="WordArt 2">
            <a:extLst>
              <a:ext uri="{FF2B5EF4-FFF2-40B4-BE49-F238E27FC236}">
                <a16:creationId xmlns:a16="http://schemas.microsoft.com/office/drawing/2014/main" id="{FB574E02-45F3-4324-A773-DEA1C3D5F610}"/>
              </a:ext>
            </a:extLst>
          </p:cNvPr>
          <p:cNvSpPr>
            <a:spLocks noChangeArrowheads="1" noChangeShapeType="1" noTextEdit="1"/>
          </p:cNvSpPr>
          <p:nvPr/>
        </p:nvSpPr>
        <p:spPr bwMode="auto">
          <a:xfrm>
            <a:off x="914400" y="457200"/>
            <a:ext cx="73914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222211" name="Text Box 3">
            <a:extLst>
              <a:ext uri="{FF2B5EF4-FFF2-40B4-BE49-F238E27FC236}">
                <a16:creationId xmlns:a16="http://schemas.microsoft.com/office/drawing/2014/main" id="{2492AA4F-8DFC-4F48-A5E0-A53353E88AD6}"/>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222214" name="Text Box 6">
            <a:extLst>
              <a:ext uri="{FF2B5EF4-FFF2-40B4-BE49-F238E27FC236}">
                <a16:creationId xmlns:a16="http://schemas.microsoft.com/office/drawing/2014/main" id="{86B1B60F-BEB8-4B88-A14E-60E363C5B663}"/>
              </a:ext>
            </a:extLst>
          </p:cNvPr>
          <p:cNvSpPr txBox="1">
            <a:spLocks noChangeArrowheads="1"/>
          </p:cNvSpPr>
          <p:nvPr/>
        </p:nvSpPr>
        <p:spPr bwMode="auto">
          <a:xfrm>
            <a:off x="1066800" y="4495800"/>
            <a:ext cx="6019800" cy="138271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No instance variables!</a:t>
            </a:r>
          </a:p>
          <a:p>
            <a:r>
              <a:rPr lang="en-US" altLang="en-US" sz="2800" b="1">
                <a:solidFill>
                  <a:schemeClr val="accent2"/>
                </a:solidFill>
              </a:rPr>
              <a:t>No constructors!</a:t>
            </a:r>
          </a:p>
          <a:p>
            <a:r>
              <a:rPr lang="en-US" altLang="en-US" sz="2800" b="1">
                <a:solidFill>
                  <a:schemeClr val="accent2"/>
                </a:solidFill>
              </a:rPr>
              <a:t>No method implementations!</a:t>
            </a:r>
          </a:p>
        </p:txBody>
      </p:sp>
      <p:sp>
        <p:nvSpPr>
          <p:cNvPr id="222215" name="Text Box 7">
            <a:extLst>
              <a:ext uri="{FF2B5EF4-FFF2-40B4-BE49-F238E27FC236}">
                <a16:creationId xmlns:a16="http://schemas.microsoft.com/office/drawing/2014/main" id="{96F56FFA-7CA7-411D-9545-D9FD282BFEE4}"/>
              </a:ext>
            </a:extLst>
          </p:cNvPr>
          <p:cNvSpPr txBox="1">
            <a:spLocks noChangeArrowheads="1"/>
          </p:cNvSpPr>
          <p:nvPr/>
        </p:nvSpPr>
        <p:spPr bwMode="auto">
          <a:xfrm>
            <a:off x="7162800" y="2895600"/>
            <a:ext cx="1524000" cy="9572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CC00"/>
                </a:solidFill>
              </a:rPr>
              <a:t>ABSTRACT</a:t>
            </a:r>
          </a:p>
          <a:p>
            <a:pPr>
              <a:spcBef>
                <a:spcPct val="50000"/>
              </a:spcBef>
            </a:pPr>
            <a:r>
              <a:rPr lang="en-US" altLang="en-US" sz="1600" b="1">
                <a:solidFill>
                  <a:srgbClr val="00CC00"/>
                </a:solidFill>
              </a:rPr>
              <a:t>Lots of unknowns!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4DECBD-72E7-4809-9BF8-6ED8E16B2C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7698" name="WordArt 2">
            <a:extLst>
              <a:ext uri="{FF2B5EF4-FFF2-40B4-BE49-F238E27FC236}">
                <a16:creationId xmlns:a16="http://schemas.microsoft.com/office/drawing/2014/main" id="{4D3F57CD-59EB-414B-BD20-D2EF32604BBE}"/>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Making the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abstract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concrete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6A2F49E6-A62D-47AE-8115-5DEFF4BF621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1490" name="WordArt 2">
            <a:extLst>
              <a:ext uri="{FF2B5EF4-FFF2-40B4-BE49-F238E27FC236}">
                <a16:creationId xmlns:a16="http://schemas.microsoft.com/office/drawing/2014/main" id="{D3CCA487-32C2-4219-81AC-00E4CB0B781E}"/>
              </a:ext>
            </a:extLst>
          </p:cNvPr>
          <p:cNvSpPr>
            <a:spLocks noChangeArrowheads="1" noChangeShapeType="1" noTextEdit="1"/>
          </p:cNvSpPr>
          <p:nvPr/>
        </p:nvSpPr>
        <p:spPr bwMode="auto">
          <a:xfrm>
            <a:off x="1066800" y="457200"/>
            <a:ext cx="67056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What is an interface?</a:t>
            </a:r>
          </a:p>
        </p:txBody>
      </p:sp>
      <p:sp>
        <p:nvSpPr>
          <p:cNvPr id="191491" name="Text Box 3">
            <a:extLst>
              <a:ext uri="{FF2B5EF4-FFF2-40B4-BE49-F238E27FC236}">
                <a16:creationId xmlns:a16="http://schemas.microsoft.com/office/drawing/2014/main" id="{F7EF4248-344A-4A96-8B25-CC25DC8CF959}"/>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191492" name="Text Box 4">
            <a:extLst>
              <a:ext uri="{FF2B5EF4-FFF2-40B4-BE49-F238E27FC236}">
                <a16:creationId xmlns:a16="http://schemas.microsoft.com/office/drawing/2014/main" id="{688D2B27-F441-4B79-B916-381D9C4D0C7B}"/>
              </a:ext>
            </a:extLst>
          </p:cNvPr>
          <p:cNvSpPr txBox="1">
            <a:spLocks noChangeArrowheads="1"/>
          </p:cNvSpPr>
          <p:nvPr/>
        </p:nvSpPr>
        <p:spPr bwMode="auto">
          <a:xfrm>
            <a:off x="762000" y="4343400"/>
            <a:ext cx="7772400" cy="18081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abstract  -  an idea of what to do</a:t>
            </a:r>
          </a:p>
          <a:p>
            <a:pPr>
              <a:spcBef>
                <a:spcPct val="50000"/>
              </a:spcBef>
            </a:pPr>
            <a:r>
              <a:rPr lang="en-US" altLang="en-US" sz="3200" b="1">
                <a:solidFill>
                  <a:srgbClr val="00CC00"/>
                </a:solidFill>
              </a:rPr>
              <a:t>concrete  - having enough 					information to actually do 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1804776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return </a:t>
            </a:r>
            <a:r>
              <a:rPr lang="en-US" altLang="en-US" sz="2000" b="1" dirty="0" err="1"/>
              <a:t>this.size</a:t>
            </a:r>
            <a:r>
              <a:rPr lang="en-US" altLang="en-US" sz="2000" b="1" dirty="0"/>
              <a:t> - </a:t>
            </a:r>
            <a:r>
              <a:rPr lang="en-US" altLang="en-US" sz="2000" b="1" dirty="0" err="1"/>
              <a:t>other.size</a:t>
            </a:r>
            <a:r>
              <a:rPr lang="en-US" altLang="en-US" sz="2000" b="1" dirty="0"/>
              <a:t>;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246303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60118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public class Creature </a:t>
            </a:r>
            <a:r>
              <a:rPr lang="en-US" altLang="en-US" sz="2000" b="1" dirty="0">
                <a:solidFill>
                  <a:schemeClr val="accent2"/>
                </a:solidFill>
              </a:rPr>
              <a:t>implements</a:t>
            </a:r>
            <a:r>
              <a:rPr lang="en-US" altLang="en-US" sz="2000" b="1" dirty="0"/>
              <a:t> Comparable</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Object</a:t>
            </a:r>
            <a:r>
              <a:rPr lang="en-US" altLang="en-US" sz="2000" b="1" dirty="0"/>
              <a:t> </a:t>
            </a:r>
            <a:r>
              <a:rPr lang="en-US" altLang="en-US" sz="2000" b="1" dirty="0">
                <a:solidFill>
                  <a:srgbClr val="7030A0"/>
                </a:solidFill>
              </a:rPr>
              <a:t>obj</a:t>
            </a:r>
            <a:r>
              <a:rPr lang="en-US" altLang="en-US" sz="2000" b="1" dirty="0"/>
              <a:t>) </a:t>
            </a:r>
          </a:p>
          <a:p>
            <a:r>
              <a:rPr lang="en-US" altLang="en-US" sz="2000" b="1" dirty="0"/>
              <a:t>  {</a:t>
            </a:r>
          </a:p>
          <a:p>
            <a:r>
              <a:rPr lang="en-US" altLang="en-US" sz="2000" b="1" dirty="0">
                <a:solidFill>
                  <a:srgbClr val="7030A0"/>
                </a:solidFill>
              </a:rPr>
              <a:t>     Creature other = (Creature)obj;</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return "" + size;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A91459-8D66-4912-90AD-18C0F3530564}"/>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36546" name="WordArt 2">
            <a:extLst>
              <a:ext uri="{FF2B5EF4-FFF2-40B4-BE49-F238E27FC236}">
                <a16:creationId xmlns:a16="http://schemas.microsoft.com/office/drawing/2014/main" id="{D3537516-E7FE-48C7-966D-4CA4C700C28F}"/>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How Java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uses</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5A0D7D0-B81B-4AAE-91CE-F77662A47929}"/>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5586" name="WordArt 2">
            <a:extLst>
              <a:ext uri="{FF2B5EF4-FFF2-40B4-BE49-F238E27FC236}">
                <a16:creationId xmlns:a16="http://schemas.microsoft.com/office/drawing/2014/main" id="{9EE1B703-58AA-4DED-BCD1-C8D45260155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195587" name="Text Box 3">
            <a:extLst>
              <a:ext uri="{FF2B5EF4-FFF2-40B4-BE49-F238E27FC236}">
                <a16:creationId xmlns:a16="http://schemas.microsoft.com/office/drawing/2014/main" id="{1065A657-5C91-44F3-AE1B-C8863712EB12}"/>
              </a:ext>
            </a:extLst>
          </p:cNvPr>
          <p:cNvSpPr txBox="1">
            <a:spLocks noChangeArrowheads="1"/>
          </p:cNvSpPr>
          <p:nvPr/>
        </p:nvSpPr>
        <p:spPr bwMode="auto">
          <a:xfrm>
            <a:off x="685800" y="2057400"/>
            <a:ext cx="789146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If an entire hierarchy of classes</a:t>
            </a:r>
          </a:p>
          <a:p>
            <a:pPr eaLnBrk="0" hangingPunct="0"/>
            <a:r>
              <a:rPr lang="en-US" altLang="en-US" sz="4000" b="1">
                <a:latin typeface="Arial" panose="020B0604020202020204" pitchFamily="34" charset="0"/>
              </a:rPr>
              <a:t>implements the same interface,</a:t>
            </a:r>
          </a:p>
          <a:p>
            <a:pPr eaLnBrk="0" hangingPunct="0"/>
            <a:r>
              <a:rPr lang="en-US" altLang="en-US" sz="4000" b="1">
                <a:latin typeface="Arial" panose="020B0604020202020204" pitchFamily="34" charset="0"/>
              </a:rPr>
              <a:t>you can write very generic code</a:t>
            </a:r>
          </a:p>
          <a:p>
            <a:pPr eaLnBrk="0" hangingPunct="0"/>
            <a:r>
              <a:rPr lang="en-US" altLang="en-US" sz="4000" b="1">
                <a:latin typeface="Arial" panose="020B0604020202020204" pitchFamily="34" charset="0"/>
              </a:rPr>
              <a:t>to manipulate any of those</a:t>
            </a:r>
          </a:p>
          <a:p>
            <a:pPr eaLnBrk="0" hangingPunct="0"/>
            <a:r>
              <a:rPr lang="en-US" altLang="en-US" sz="4000" b="1">
                <a:latin typeface="Arial" panose="020B0604020202020204" pitchFamily="34" charset="0"/>
              </a:rPr>
              <a:t>classes.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7AC62C6-FBC4-4B99-84AD-EBAA9B27613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7634" name="Text Box 2">
            <a:extLst>
              <a:ext uri="{FF2B5EF4-FFF2-40B4-BE49-F238E27FC236}">
                <a16:creationId xmlns:a16="http://schemas.microsoft.com/office/drawing/2014/main" id="{98E175CA-0716-470F-8B53-E6FB36EAE781}"/>
              </a:ext>
            </a:extLst>
          </p:cNvPr>
          <p:cNvSpPr txBox="1">
            <a:spLocks noChangeArrowheads="1"/>
          </p:cNvSpPr>
          <p:nvPr/>
        </p:nvSpPr>
        <p:spPr bwMode="auto">
          <a:xfrm>
            <a:off x="838200" y="1981200"/>
            <a:ext cx="7583488"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list =  </a:t>
            </a:r>
          </a:p>
          <a:p>
            <a:pPr eaLnBrk="0" hangingPunct="0"/>
            <a:r>
              <a:rPr lang="en-US" altLang="en-US" sz="4000" b="1">
                <a:latin typeface="Arial" panose="020B0604020202020204" pitchFamily="34" charset="0"/>
              </a:rPr>
              <a:t>                new Comparable[25];</a:t>
            </a:r>
          </a:p>
          <a:p>
            <a:pPr eaLnBrk="0" hangingPunct="0"/>
            <a:br>
              <a:rPr lang="en-US" altLang="en-US" sz="4000" b="1">
                <a:latin typeface="Arial" panose="020B0604020202020204" pitchFamily="34" charset="0"/>
              </a:rPr>
            </a:br>
            <a:r>
              <a:rPr lang="en-US" altLang="en-US" sz="4000" b="1">
                <a:solidFill>
                  <a:srgbClr val="00CC00"/>
                </a:solidFill>
                <a:latin typeface="Arial" panose="020B0604020202020204" pitchFamily="34" charset="0"/>
              </a:rPr>
              <a:t>//load with Comparables</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Arrays.sort(list);</a:t>
            </a:r>
          </a:p>
          <a:p>
            <a:pPr eaLnBrk="0" hangingPunct="0"/>
            <a:r>
              <a:rPr lang="en-US" altLang="en-US" sz="4000" b="1">
                <a:latin typeface="Arial" panose="020B0604020202020204" pitchFamily="34" charset="0"/>
              </a:rPr>
              <a:t>  </a:t>
            </a:r>
          </a:p>
        </p:txBody>
      </p:sp>
      <p:sp>
        <p:nvSpPr>
          <p:cNvPr id="197635" name="WordArt 3">
            <a:extLst>
              <a:ext uri="{FF2B5EF4-FFF2-40B4-BE49-F238E27FC236}">
                <a16:creationId xmlns:a16="http://schemas.microsoft.com/office/drawing/2014/main" id="{CF71DD14-833F-4B4A-AD2D-C2026809B69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B853852-81B6-422A-970F-22C21EE0537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9682" name="Text Box 2">
            <a:extLst>
              <a:ext uri="{FF2B5EF4-FFF2-40B4-BE49-F238E27FC236}">
                <a16:creationId xmlns:a16="http://schemas.microsoft.com/office/drawing/2014/main" id="{E9B23B09-72C0-4B2D-B638-53CC1EE9F154}"/>
              </a:ext>
            </a:extLst>
          </p:cNvPr>
          <p:cNvSpPr txBox="1">
            <a:spLocks noChangeArrowheads="1"/>
          </p:cNvSpPr>
          <p:nvPr/>
        </p:nvSpPr>
        <p:spPr bwMode="auto">
          <a:xfrm>
            <a:off x="914400" y="2209800"/>
            <a:ext cx="74104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Arrays.sort() will use the </a:t>
            </a:r>
          </a:p>
          <a:p>
            <a:pPr eaLnBrk="0" hangingPunct="0"/>
            <a:r>
              <a:rPr lang="en-US" altLang="en-US" sz="4000" b="1">
                <a:latin typeface="Arial" panose="020B0604020202020204" pitchFamily="34" charset="0"/>
              </a:rPr>
              <a:t>compareTo() method of each</a:t>
            </a:r>
          </a:p>
          <a:p>
            <a:pPr eaLnBrk="0" hangingPunct="0"/>
            <a:r>
              <a:rPr lang="en-US" altLang="en-US" sz="4000" b="1">
                <a:latin typeface="Arial" panose="020B0604020202020204" pitchFamily="34" charset="0"/>
              </a:rPr>
              <a:t>object when sorting the array.</a:t>
            </a:r>
          </a:p>
          <a:p>
            <a:pPr eaLnBrk="0" hangingPunct="0"/>
            <a:r>
              <a:rPr lang="en-US" altLang="en-US" sz="4000" b="1">
                <a:latin typeface="Arial" panose="020B0604020202020204" pitchFamily="34" charset="0"/>
              </a:rPr>
              <a:t>  </a:t>
            </a:r>
          </a:p>
        </p:txBody>
      </p:sp>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Arrays Sort Method</a:t>
            </a:r>
          </a:p>
        </p:txBody>
      </p:sp>
      <p:sp>
        <p:nvSpPr>
          <p:cNvPr id="4" name="Rectangle 3">
            <a:extLst>
              <a:ext uri="{FF2B5EF4-FFF2-40B4-BE49-F238E27FC236}">
                <a16:creationId xmlns:a16="http://schemas.microsoft.com/office/drawing/2014/main" id="{6CF1003F-5D96-4E2E-A6D4-A26F28D34AC2}"/>
              </a:ext>
            </a:extLst>
          </p:cNvPr>
          <p:cNvSpPr>
            <a:spLocks noChangeArrowheads="1"/>
          </p:cNvSpPr>
          <p:nvPr/>
        </p:nvSpPr>
        <p:spPr bwMode="auto">
          <a:xfrm>
            <a:off x="685800" y="1905000"/>
            <a:ext cx="81915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353833"/>
                </a:solidFill>
                <a:effectLst/>
                <a:latin typeface="Arial Unicode MS"/>
              </a:rPr>
              <a:t>public static void sort(</a:t>
            </a:r>
            <a:r>
              <a:rPr kumimoji="0" lang="en-US" altLang="en-US" sz="3200" b="1" i="0" u="none" strike="noStrike" cap="none" normalizeH="0" baseline="0" dirty="0">
                <a:ln>
                  <a:noFill/>
                </a:ln>
                <a:solidFill>
                  <a:srgbClr val="4C6B87"/>
                </a:solidFill>
                <a:effectLst/>
                <a:latin typeface="Arial Unicode MS"/>
              </a:rPr>
              <a:t>Object</a:t>
            </a:r>
            <a:r>
              <a:rPr kumimoji="0" lang="en-US" altLang="en-US" sz="3200" b="1" i="0" u="none" strike="noStrike" cap="none" normalizeH="0" baseline="0" dirty="0">
                <a:ln>
                  <a:noFill/>
                </a:ln>
                <a:solidFill>
                  <a:srgbClr val="353833"/>
                </a:solidFill>
                <a:effectLst/>
                <a:latin typeface="Arial Unicode MS"/>
              </a:rPr>
              <a:t>[] a)</a:t>
            </a: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3538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570038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a:extLst>
              <a:ext uri="{FF2B5EF4-FFF2-40B4-BE49-F238E27FC236}">
                <a16:creationId xmlns:a16="http://schemas.microsoft.com/office/drawing/2014/main" id="{30B2D25D-7F09-4B71-9FC2-2F8A6CB7816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1730" name="Text Box 2">
            <a:extLst>
              <a:ext uri="{FF2B5EF4-FFF2-40B4-BE49-F238E27FC236}">
                <a16:creationId xmlns:a16="http://schemas.microsoft.com/office/drawing/2014/main" id="{2257B8E7-0FDE-4367-BB67-E172AF0F7FCE}"/>
              </a:ext>
            </a:extLst>
          </p:cNvPr>
          <p:cNvSpPr txBox="1">
            <a:spLocks noChangeArrowheads="1"/>
          </p:cNvSpPr>
          <p:nvPr/>
        </p:nvSpPr>
        <p:spPr bwMode="auto">
          <a:xfrm>
            <a:off x="457200" y="1828800"/>
            <a:ext cx="673735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Comparable[] list =  {3,8,7,6,5,4,9};</a:t>
            </a:r>
          </a:p>
          <a:p>
            <a:r>
              <a:rPr lang="en-US" altLang="en-US" sz="2800" b="1"/>
              <a:t>Arrays.sort(list); </a:t>
            </a:r>
          </a:p>
          <a:p>
            <a:r>
              <a:rPr lang="en-US" altLang="en-US" sz="2800" b="1"/>
              <a:t>for(Comparable num : list)</a:t>
            </a:r>
          </a:p>
          <a:p>
            <a:r>
              <a:rPr lang="en-US" altLang="en-US" sz="2800" b="1"/>
              <a:t>{</a:t>
            </a:r>
          </a:p>
          <a:p>
            <a:r>
              <a:rPr lang="en-US" altLang="en-US" sz="2800" b="1"/>
              <a:t>   out.println(num);</a:t>
            </a:r>
          </a:p>
          <a:p>
            <a:r>
              <a:rPr lang="en-US" altLang="en-US" sz="2800" b="1"/>
              <a:t>}</a:t>
            </a:r>
            <a:endParaRPr lang="en-US" altLang="en-US" sz="4000" b="1">
              <a:latin typeface="Arial" panose="020B0604020202020204" pitchFamily="34" charset="0"/>
            </a:endParaRPr>
          </a:p>
          <a:p>
            <a:pPr eaLnBrk="0" hangingPunct="0"/>
            <a:r>
              <a:rPr lang="en-US" altLang="en-US" sz="4000" b="1">
                <a:latin typeface="Arial" panose="020B0604020202020204" pitchFamily="34" charset="0"/>
              </a:rPr>
              <a:t>  </a:t>
            </a:r>
          </a:p>
        </p:txBody>
      </p:sp>
      <p:sp>
        <p:nvSpPr>
          <p:cNvPr id="201731" name="WordArt 3">
            <a:extLst>
              <a:ext uri="{FF2B5EF4-FFF2-40B4-BE49-F238E27FC236}">
                <a16:creationId xmlns:a16="http://schemas.microsoft.com/office/drawing/2014/main" id="{8BDC4445-C802-4456-895F-22EE247377FF}"/>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1732" name="Text Box 4">
            <a:extLst>
              <a:ext uri="{FF2B5EF4-FFF2-40B4-BE49-F238E27FC236}">
                <a16:creationId xmlns:a16="http://schemas.microsoft.com/office/drawing/2014/main" id="{78F73C01-C483-4CED-9139-0EF2A9C780A6}"/>
              </a:ext>
            </a:extLst>
          </p:cNvPr>
          <p:cNvSpPr txBox="1">
            <a:spLocks noChangeArrowheads="1"/>
          </p:cNvSpPr>
          <p:nvPr/>
        </p:nvSpPr>
        <p:spPr bwMode="auto">
          <a:xfrm>
            <a:off x="7010400" y="2438400"/>
            <a:ext cx="1905000" cy="40036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3200" b="1" u="sng">
                <a:solidFill>
                  <a:srgbClr val="FF0000"/>
                </a:solidFill>
              </a:rPr>
              <a:t>OUTPUT</a:t>
            </a:r>
            <a:r>
              <a:rPr lang="en-US" altLang="en-US" sz="3200" b="1"/>
              <a:t>3</a:t>
            </a:r>
            <a:br>
              <a:rPr lang="en-US" altLang="en-US" sz="3200" b="1"/>
            </a:br>
            <a:r>
              <a:rPr lang="en-US" altLang="en-US" sz="3200" b="1"/>
              <a:t>4</a:t>
            </a:r>
            <a:br>
              <a:rPr lang="en-US" altLang="en-US" sz="3200" b="1"/>
            </a:br>
            <a:r>
              <a:rPr lang="en-US" altLang="en-US" sz="3200" b="1"/>
              <a:t>5</a:t>
            </a:r>
            <a:br>
              <a:rPr lang="en-US" altLang="en-US" sz="3200" b="1"/>
            </a:br>
            <a:r>
              <a:rPr lang="en-US" altLang="en-US" sz="3200" b="1"/>
              <a:t>6</a:t>
            </a:r>
            <a:br>
              <a:rPr lang="en-US" altLang="en-US" sz="3200" b="1"/>
            </a:br>
            <a:r>
              <a:rPr lang="en-US" altLang="en-US" sz="3200" b="1"/>
              <a:t>7</a:t>
            </a:r>
            <a:br>
              <a:rPr lang="en-US" altLang="en-US" sz="3200" b="1"/>
            </a:br>
            <a:r>
              <a:rPr lang="en-US" altLang="en-US" sz="3200" b="1"/>
              <a:t>8</a:t>
            </a:r>
            <a:br>
              <a:rPr lang="en-US" altLang="en-US" sz="3200" b="1"/>
            </a:br>
            <a:r>
              <a:rPr lang="en-US" altLang="en-US" sz="3200" b="1"/>
              <a:t>9</a:t>
            </a:r>
          </a:p>
        </p:txBody>
      </p:sp>
      <p:sp>
        <p:nvSpPr>
          <p:cNvPr id="201733" name="Text Box 5">
            <a:extLst>
              <a:ext uri="{FF2B5EF4-FFF2-40B4-BE49-F238E27FC236}">
                <a16:creationId xmlns:a16="http://schemas.microsoft.com/office/drawing/2014/main" id="{18AB2F1F-3BBA-4161-BF7E-699AC48FDE0F}"/>
              </a:ext>
            </a:extLst>
          </p:cNvPr>
          <p:cNvSpPr txBox="1">
            <a:spLocks noChangeArrowheads="1"/>
          </p:cNvSpPr>
          <p:nvPr/>
        </p:nvSpPr>
        <p:spPr bwMode="auto">
          <a:xfrm>
            <a:off x="914400" y="5410200"/>
            <a:ext cx="730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list</a:t>
            </a:r>
          </a:p>
        </p:txBody>
      </p:sp>
      <p:graphicFrame>
        <p:nvGraphicFramePr>
          <p:cNvPr id="201734" name="Group 6">
            <a:extLst>
              <a:ext uri="{FF2B5EF4-FFF2-40B4-BE49-F238E27FC236}">
                <a16:creationId xmlns:a16="http://schemas.microsoft.com/office/drawing/2014/main" id="{8C297C56-545B-4600-A8CE-93FB1BABA9C1}"/>
              </a:ext>
            </a:extLst>
          </p:cNvPr>
          <p:cNvGraphicFramePr>
            <a:graphicFrameLocks noGrp="1"/>
          </p:cNvGraphicFramePr>
          <p:nvPr/>
        </p:nvGraphicFramePr>
        <p:xfrm>
          <a:off x="1844675" y="5334000"/>
          <a:ext cx="4746625" cy="584200"/>
        </p:xfrm>
        <a:graphic>
          <a:graphicData uri="http://schemas.openxmlformats.org/drawingml/2006/table">
            <a:tbl>
              <a:tblPr/>
              <a:tblGrid>
                <a:gridCol w="677863">
                  <a:extLst>
                    <a:ext uri="{9D8B030D-6E8A-4147-A177-3AD203B41FA5}">
                      <a16:colId xmlns:a16="http://schemas.microsoft.com/office/drawing/2014/main" val="1627496313"/>
                    </a:ext>
                  </a:extLst>
                </a:gridCol>
                <a:gridCol w="677862">
                  <a:extLst>
                    <a:ext uri="{9D8B030D-6E8A-4147-A177-3AD203B41FA5}">
                      <a16:colId xmlns:a16="http://schemas.microsoft.com/office/drawing/2014/main" val="2288862127"/>
                    </a:ext>
                  </a:extLst>
                </a:gridCol>
                <a:gridCol w="679450">
                  <a:extLst>
                    <a:ext uri="{9D8B030D-6E8A-4147-A177-3AD203B41FA5}">
                      <a16:colId xmlns:a16="http://schemas.microsoft.com/office/drawing/2014/main" val="3998344260"/>
                    </a:ext>
                  </a:extLst>
                </a:gridCol>
                <a:gridCol w="677863">
                  <a:extLst>
                    <a:ext uri="{9D8B030D-6E8A-4147-A177-3AD203B41FA5}">
                      <a16:colId xmlns:a16="http://schemas.microsoft.com/office/drawing/2014/main" val="3476853004"/>
                    </a:ext>
                  </a:extLst>
                </a:gridCol>
                <a:gridCol w="677862">
                  <a:extLst>
                    <a:ext uri="{9D8B030D-6E8A-4147-A177-3AD203B41FA5}">
                      <a16:colId xmlns:a16="http://schemas.microsoft.com/office/drawing/2014/main" val="2279769698"/>
                    </a:ext>
                  </a:extLst>
                </a:gridCol>
                <a:gridCol w="677863">
                  <a:extLst>
                    <a:ext uri="{9D8B030D-6E8A-4147-A177-3AD203B41FA5}">
                      <a16:colId xmlns:a16="http://schemas.microsoft.com/office/drawing/2014/main" val="3926591413"/>
                    </a:ext>
                  </a:extLst>
                </a:gridCol>
                <a:gridCol w="677862">
                  <a:extLst>
                    <a:ext uri="{9D8B030D-6E8A-4147-A177-3AD203B41FA5}">
                      <a16:colId xmlns:a16="http://schemas.microsoft.com/office/drawing/2014/main" val="1588844522"/>
                    </a:ext>
                  </a:extLst>
                </a:gridCol>
              </a:tblGrid>
              <a:tr h="58420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6</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159508089"/>
                  </a:ext>
                </a:extLst>
              </a:tr>
            </a:tbl>
          </a:graphicData>
        </a:graphic>
      </p:graphicFrame>
      <p:sp>
        <p:nvSpPr>
          <p:cNvPr id="201752" name="Text Box 24">
            <a:extLst>
              <a:ext uri="{FF2B5EF4-FFF2-40B4-BE49-F238E27FC236}">
                <a16:creationId xmlns:a16="http://schemas.microsoft.com/office/drawing/2014/main" id="{98E581FD-40D3-4AB7-BD68-778C9D6A85FE}"/>
              </a:ext>
            </a:extLst>
          </p:cNvPr>
          <p:cNvSpPr txBox="1">
            <a:spLocks noChangeArrowheads="1"/>
          </p:cNvSpPr>
          <p:nvPr/>
        </p:nvSpPr>
        <p:spPr bwMode="auto">
          <a:xfrm>
            <a:off x="1981200" y="46482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t>0    1     2    3    4     5    6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990600" y="457200"/>
            <a:ext cx="71628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Collections Sort Method</a:t>
            </a:r>
          </a:p>
        </p:txBody>
      </p:sp>
      <p:sp>
        <p:nvSpPr>
          <p:cNvPr id="2" name="Rectangle 1">
            <a:extLst>
              <a:ext uri="{FF2B5EF4-FFF2-40B4-BE49-F238E27FC236}">
                <a16:creationId xmlns:a16="http://schemas.microsoft.com/office/drawing/2014/main" id="{21572E46-9E15-45E8-AA68-064C81561592}"/>
              </a:ext>
            </a:extLst>
          </p:cNvPr>
          <p:cNvSpPr>
            <a:spLocks noChangeArrowheads="1"/>
          </p:cNvSpPr>
          <p:nvPr/>
        </p:nvSpPr>
        <p:spPr bwMode="auto">
          <a:xfrm>
            <a:off x="0" y="1792816"/>
            <a:ext cx="9144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53833"/>
                </a:solidFill>
                <a:effectLst/>
                <a:latin typeface="Arial Unicode MS"/>
              </a:rPr>
              <a:t>public static &lt;T extends </a:t>
            </a:r>
            <a:r>
              <a:rPr kumimoji="0" lang="en-US" altLang="en-US" sz="3000" b="0" i="0" u="none" strike="noStrike" cap="none" normalizeH="0" baseline="0" dirty="0">
                <a:ln>
                  <a:noFill/>
                </a:ln>
                <a:solidFill>
                  <a:srgbClr val="4C6B87"/>
                </a:solidFill>
                <a:effectLst/>
                <a:latin typeface="Arial Unicode MS"/>
              </a:rPr>
              <a:t>Comparable</a:t>
            </a:r>
            <a:r>
              <a:rPr kumimoji="0" lang="en-US" altLang="en-US" sz="3000" b="0" i="0" u="none" strike="noStrike" cap="none" normalizeH="0" baseline="0" dirty="0">
                <a:ln>
                  <a:noFill/>
                </a:ln>
                <a:solidFill>
                  <a:srgbClr val="353833"/>
                </a:solidFill>
                <a:effectLst/>
                <a:latin typeface="Arial Unicode MS"/>
              </a:rPr>
              <a:t>&lt;? super T&gt;&gt; </a:t>
            </a: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353833"/>
                </a:solidFill>
                <a:effectLst/>
                <a:latin typeface="Arial Unicode MS"/>
              </a:rPr>
              <a:t>void sort(</a:t>
            </a:r>
            <a:r>
              <a:rPr kumimoji="0" lang="en-US" altLang="en-US" sz="3000" b="1" i="0" u="none" strike="noStrike" cap="none" normalizeH="0" baseline="0" dirty="0">
                <a:ln>
                  <a:noFill/>
                </a:ln>
                <a:solidFill>
                  <a:srgbClr val="4C6B87"/>
                </a:solidFill>
                <a:effectLst/>
                <a:latin typeface="Arial Unicode MS"/>
                <a:hlinkClick r:id="rId3" tooltip="interface in java.util"/>
              </a:rPr>
              <a:t>List</a:t>
            </a:r>
            <a:r>
              <a:rPr kumimoji="0" lang="en-US" altLang="en-US" sz="3000" b="1" i="0" u="none" strike="noStrike" cap="none" normalizeH="0" baseline="0" dirty="0">
                <a:ln>
                  <a:noFill/>
                </a:ln>
                <a:solidFill>
                  <a:srgbClr val="353833"/>
                </a:solidFill>
                <a:effectLst/>
                <a:latin typeface="Arial Unicode MS"/>
              </a:rPr>
              <a:t>&lt;T&gt; list)</a:t>
            </a:r>
            <a:br>
              <a:rPr kumimoji="0" lang="en-US" altLang="en-US" sz="3000" b="1" i="0" u="none" strike="noStrike" cap="none" normalizeH="0" baseline="0" dirty="0">
                <a:ln>
                  <a:noFill/>
                </a:ln>
                <a:solidFill>
                  <a:schemeClr val="tx1"/>
                </a:solidFill>
                <a:effectLst/>
              </a:rPr>
            </a:br>
            <a:endParaRPr kumimoji="0" lang="en-US" altLang="en-US" sz="3000" b="1"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700ABFF-137F-42A5-88B7-E4A66B6832B6}"/>
              </a:ext>
            </a:extLst>
          </p:cNvPr>
          <p:cNvSpPr txBox="1"/>
          <p:nvPr/>
        </p:nvSpPr>
        <p:spPr>
          <a:xfrm>
            <a:off x="304800" y="3276600"/>
            <a:ext cx="86868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57088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43503C15-569F-4ECE-97DE-A8170CD1E7E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5826" name="Text Box 2">
            <a:extLst>
              <a:ext uri="{FF2B5EF4-FFF2-40B4-BE49-F238E27FC236}">
                <a16:creationId xmlns:a16="http://schemas.microsoft.com/office/drawing/2014/main" id="{A9B8DE13-B9FD-43C0-8468-7119CF526C3F}"/>
              </a:ext>
            </a:extLst>
          </p:cNvPr>
          <p:cNvSpPr txBox="1">
            <a:spLocks noChangeArrowheads="1"/>
          </p:cNvSpPr>
          <p:nvPr/>
        </p:nvSpPr>
        <p:spPr bwMode="auto">
          <a:xfrm>
            <a:off x="762000" y="1143000"/>
            <a:ext cx="664845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public void sort(Comparable[] stuff)</a:t>
            </a:r>
          </a:p>
          <a:p>
            <a:r>
              <a:rPr lang="en-US" altLang="en-US" sz="2400" b="1"/>
              <a:t>{</a:t>
            </a:r>
          </a:p>
          <a:p>
            <a:r>
              <a:rPr lang="en-US" altLang="en-US" sz="2400"/>
              <a:t>    </a:t>
            </a:r>
            <a:r>
              <a:rPr lang="en-US" altLang="en-US" sz="2400" b="1"/>
              <a:t>for(int i=0;i&lt;stuff.length-1;i++)</a:t>
            </a:r>
          </a:p>
          <a:p>
            <a:r>
              <a:rPr lang="en-US" altLang="en-US" sz="2400" b="1"/>
              <a:t>    {</a:t>
            </a:r>
          </a:p>
          <a:p>
            <a:r>
              <a:rPr lang="en-US" altLang="en-US" sz="2400" b="1"/>
              <a:t>      int spot=i; </a:t>
            </a:r>
          </a:p>
          <a:p>
            <a:r>
              <a:rPr lang="en-US" altLang="en-US" sz="2400" b="1"/>
              <a:t>      for(int j=i;j&lt;stuff.length;j++){</a:t>
            </a:r>
          </a:p>
          <a:p>
            <a:r>
              <a:rPr lang="en-US" altLang="en-US" sz="2400" b="1"/>
              <a:t>        if(stuff[j].compareTo(stuff[spot])&gt;0)</a:t>
            </a:r>
          </a:p>
          <a:p>
            <a:r>
              <a:rPr lang="en-US" altLang="en-US" sz="2400" b="1"/>
              <a:t>          spot=j;</a:t>
            </a:r>
          </a:p>
          <a:p>
            <a:r>
              <a:rPr lang="en-US" altLang="en-US" sz="2400" b="1"/>
              <a:t>      }</a:t>
            </a:r>
          </a:p>
          <a:p>
            <a:r>
              <a:rPr lang="en-US" altLang="en-US" sz="2400" b="1"/>
              <a:t>      Comparable save=stuff[i];</a:t>
            </a:r>
          </a:p>
          <a:p>
            <a:r>
              <a:rPr lang="en-US" altLang="en-US" sz="2400" b="1"/>
              <a:t>      stuff[i]=stuff[spot];</a:t>
            </a:r>
          </a:p>
          <a:p>
            <a:r>
              <a:rPr lang="en-US" altLang="en-US" sz="2400" b="1"/>
              <a:t>      stuff[spot]=save;</a:t>
            </a:r>
          </a:p>
          <a:p>
            <a:r>
              <a:rPr lang="en-US" altLang="en-US" sz="2400" b="1"/>
              <a:t>    }</a:t>
            </a:r>
            <a:r>
              <a:rPr lang="en-US" altLang="en-US" sz="2400"/>
              <a:t> </a:t>
            </a:r>
            <a:endParaRPr lang="en-US" altLang="en-US" sz="2400" b="1"/>
          </a:p>
          <a:p>
            <a:r>
              <a:rPr lang="en-US" altLang="en-US" sz="2400" b="1"/>
              <a:t>}</a:t>
            </a:r>
          </a:p>
        </p:txBody>
      </p:sp>
      <p:sp>
        <p:nvSpPr>
          <p:cNvPr id="205827" name="WordArt 3">
            <a:extLst>
              <a:ext uri="{FF2B5EF4-FFF2-40B4-BE49-F238E27FC236}">
                <a16:creationId xmlns:a16="http://schemas.microsoft.com/office/drawing/2014/main" id="{096C3423-6894-4C45-BD26-7FEC3B7FDF57}"/>
              </a:ext>
            </a:extLst>
          </p:cNvPr>
          <p:cNvSpPr>
            <a:spLocks noChangeArrowheads="1" noChangeShapeType="1" noTextEdit="1"/>
          </p:cNvSpPr>
          <p:nvPr/>
        </p:nvSpPr>
        <p:spPr bwMode="auto">
          <a:xfrm>
            <a:off x="1524000" y="304800"/>
            <a:ext cx="62484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5828" name="Text Box 4">
            <a:extLst>
              <a:ext uri="{FF2B5EF4-FFF2-40B4-BE49-F238E27FC236}">
                <a16:creationId xmlns:a16="http://schemas.microsoft.com/office/drawing/2014/main" id="{06448E1B-2804-40FD-99C7-C763841AD803}"/>
              </a:ext>
            </a:extLst>
          </p:cNvPr>
          <p:cNvSpPr txBox="1">
            <a:spLocks noChangeArrowheads="1"/>
          </p:cNvSpPr>
          <p:nvPr/>
        </p:nvSpPr>
        <p:spPr bwMode="auto">
          <a:xfrm>
            <a:off x="5791200" y="4191000"/>
            <a:ext cx="2971800" cy="1690688"/>
          </a:xfrm>
          <a:prstGeom prst="rect">
            <a:avLst/>
          </a:prstGeom>
          <a:noFill/>
          <a:ln w="9525">
            <a:solidFill>
              <a:srgbClr val="00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8000"/>
                </a:solidFill>
              </a:rPr>
              <a:t>Why would this method be passed an array of Comparable?</a:t>
            </a:r>
          </a:p>
          <a:p>
            <a:pPr>
              <a:spcBef>
                <a:spcPct val="50000"/>
              </a:spcBef>
            </a:pPr>
            <a:r>
              <a:rPr lang="en-US" altLang="en-US" sz="1600" b="1">
                <a:solidFill>
                  <a:srgbClr val="008000"/>
                </a:solidFill>
              </a:rPr>
              <a:t>Does this demonstrate the power of interfaces and hierarchies?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7F6A6B-8567-4784-8D17-B7298D7F0A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5650" name="WordArt 2">
            <a:extLst>
              <a:ext uri="{FF2B5EF4-FFF2-40B4-BE49-F238E27FC236}">
                <a16:creationId xmlns:a16="http://schemas.microsoft.com/office/drawing/2014/main" id="{AEF1656E-0833-40CE-A37B-1E89555D3797}"/>
              </a:ext>
            </a:extLst>
          </p:cNvPr>
          <p:cNvSpPr>
            <a:spLocks noChangeArrowheads="1" noChangeShapeType="1" noTextEdit="1"/>
          </p:cNvSpPr>
          <p:nvPr/>
        </p:nvSpPr>
        <p:spPr bwMode="auto">
          <a:xfrm>
            <a:off x="685800" y="1981200"/>
            <a:ext cx="7620000" cy="2438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More</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815BE8BF-4AC1-474F-93B2-F9011E83173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6194" name="Text Box 2">
            <a:extLst>
              <a:ext uri="{FF2B5EF4-FFF2-40B4-BE49-F238E27FC236}">
                <a16:creationId xmlns:a16="http://schemas.microsoft.com/office/drawing/2014/main" id="{CE97B07B-7B21-4BF3-AD5B-3B604CCA1066}"/>
              </a:ext>
            </a:extLst>
          </p:cNvPr>
          <p:cNvSpPr txBox="1">
            <a:spLocks noChangeArrowheads="1"/>
          </p:cNvSpPr>
          <p:nvPr/>
        </p:nvSpPr>
        <p:spPr bwMode="auto">
          <a:xfrm>
            <a:off x="1143000" y="1752600"/>
            <a:ext cx="608647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int writeIt(Object o);</a:t>
            </a:r>
          </a:p>
          <a:p>
            <a:pPr eaLnBrk="0" hangingPunct="0"/>
            <a:r>
              <a:rPr lang="en-US" altLang="en-US" sz="3200" b="1"/>
              <a:t>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36195" name="WordArt 3">
            <a:extLst>
              <a:ext uri="{FF2B5EF4-FFF2-40B4-BE49-F238E27FC236}">
                <a16:creationId xmlns:a16="http://schemas.microsoft.com/office/drawing/2014/main" id="{49B3AD4B-BC11-404F-9C09-B7231D2FB81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6196" name="Text Box 4">
            <a:extLst>
              <a:ext uri="{FF2B5EF4-FFF2-40B4-BE49-F238E27FC236}">
                <a16:creationId xmlns:a16="http://schemas.microsoft.com/office/drawing/2014/main" id="{694C987D-8DE6-410C-9BDC-00E1142119CC}"/>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8178DD9-51D1-4E02-88DB-05976965170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7154" name="Text Box 2">
            <a:extLst>
              <a:ext uri="{FF2B5EF4-FFF2-40B4-BE49-F238E27FC236}">
                <a16:creationId xmlns:a16="http://schemas.microsoft.com/office/drawing/2014/main" id="{C6F77595-A486-4B0F-9984-253109F8F695}"/>
              </a:ext>
            </a:extLst>
          </p:cNvPr>
          <p:cNvSpPr txBox="1">
            <a:spLocks noChangeArrowheads="1"/>
          </p:cNvSpPr>
          <p:nvPr/>
        </p:nvSpPr>
        <p:spPr bwMode="auto">
          <a:xfrm>
            <a:off x="457200" y="1676400"/>
            <a:ext cx="802322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public abstract int writeIt(Object o);</a:t>
            </a:r>
          </a:p>
          <a:p>
            <a:pPr eaLnBrk="0" hangingPunct="0"/>
            <a:r>
              <a:rPr lang="en-US" altLang="en-US" sz="3200" b="1"/>
              <a:t>   public static final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77155" name="WordArt 3">
            <a:extLst>
              <a:ext uri="{FF2B5EF4-FFF2-40B4-BE49-F238E27FC236}">
                <a16:creationId xmlns:a16="http://schemas.microsoft.com/office/drawing/2014/main" id="{BBB5FFA9-728D-4B17-9808-3AFCF5A2E4D3}"/>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77156" name="Text Box 4">
            <a:extLst>
              <a:ext uri="{FF2B5EF4-FFF2-40B4-BE49-F238E27FC236}">
                <a16:creationId xmlns:a16="http://schemas.microsoft.com/office/drawing/2014/main" id="{3943A509-E12B-460B-BAC1-CAD232F6B5C1}"/>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08BBB30-7DBC-4F72-AE85-4F6668B2588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81922" name="Text Box 2">
            <a:extLst>
              <a:ext uri="{FF2B5EF4-FFF2-40B4-BE49-F238E27FC236}">
                <a16:creationId xmlns:a16="http://schemas.microsoft.com/office/drawing/2014/main" id="{83491A21-16ED-4BC8-B693-FA92A4E64C6C}"/>
              </a:ext>
            </a:extLst>
          </p:cNvPr>
          <p:cNvSpPr txBox="1">
            <a:spLocks noChangeArrowheads="1"/>
          </p:cNvSpPr>
          <p:nvPr/>
        </p:nvSpPr>
        <p:spPr bwMode="auto">
          <a:xfrm>
            <a:off x="304800" y="2057400"/>
            <a:ext cx="88392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600" b="1">
                <a:latin typeface="Arial" panose="020B0604020202020204" pitchFamily="34" charset="0"/>
              </a:rPr>
              <a:t>class A implements B {  }</a:t>
            </a:r>
          </a:p>
          <a:p>
            <a:pPr eaLnBrk="0" hangingPunct="0"/>
            <a:endParaRPr lang="en-US" altLang="en-US" sz="3600" b="1">
              <a:latin typeface="Arial" panose="020B0604020202020204" pitchFamily="34" charset="0"/>
            </a:endParaRPr>
          </a:p>
          <a:p>
            <a:pPr eaLnBrk="0" hangingPunct="0"/>
            <a:r>
              <a:rPr lang="en-US" altLang="en-US" sz="3600" b="1">
                <a:latin typeface="Arial" panose="020B0604020202020204" pitchFamily="34" charset="0"/>
              </a:rPr>
              <a:t>A class can implement multiple interfaces.</a:t>
            </a:r>
          </a:p>
          <a:p>
            <a:pPr eaLnBrk="0" hangingPunct="0"/>
            <a:endParaRPr lang="en-US" altLang="en-US" sz="3600" b="1">
              <a:latin typeface="Arial" panose="020B0604020202020204" pitchFamily="34" charset="0"/>
            </a:endParaRPr>
          </a:p>
          <a:p>
            <a:pPr eaLnBrk="0" hangingPunct="0"/>
            <a:r>
              <a:rPr lang="en-US" altLang="en-US" sz="4000" b="1">
                <a:latin typeface="Arial" panose="020B0604020202020204" pitchFamily="34" charset="0"/>
              </a:rPr>
              <a:t>class A implements B,C {  }  </a:t>
            </a:r>
            <a:r>
              <a:rPr lang="en-US" altLang="en-US" sz="4000" b="1">
                <a:solidFill>
                  <a:srgbClr val="008000"/>
                </a:solidFill>
                <a:latin typeface="Arial" panose="020B0604020202020204" pitchFamily="34" charset="0"/>
              </a:rPr>
              <a:t>//legal</a:t>
            </a:r>
            <a:endParaRPr lang="en-US" altLang="en-US" sz="3600" b="1">
              <a:solidFill>
                <a:srgbClr val="008000"/>
              </a:solidFill>
              <a:latin typeface="Arial" panose="020B0604020202020204" pitchFamily="34" charset="0"/>
            </a:endParaRPr>
          </a:p>
        </p:txBody>
      </p:sp>
      <p:sp>
        <p:nvSpPr>
          <p:cNvPr id="81924" name="WordArt 4">
            <a:extLst>
              <a:ext uri="{FF2B5EF4-FFF2-40B4-BE49-F238E27FC236}">
                <a16:creationId xmlns:a16="http://schemas.microsoft.com/office/drawing/2014/main" id="{56B271DB-7845-47F0-87F0-6A43D823D13B}"/>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EC377E6D-AAF2-4395-A3DE-6F393DDE05D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5234" name="WordArt 2">
            <a:extLst>
              <a:ext uri="{FF2B5EF4-FFF2-40B4-BE49-F238E27FC236}">
                <a16:creationId xmlns:a16="http://schemas.microsoft.com/office/drawing/2014/main" id="{78BC4BCA-9D8E-4878-9C8B-EF4E8603810E}"/>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5235" name="Text Box 3">
            <a:extLst>
              <a:ext uri="{FF2B5EF4-FFF2-40B4-BE49-F238E27FC236}">
                <a16:creationId xmlns:a16="http://schemas.microsoft.com/office/drawing/2014/main" id="{7905249C-8A49-45BF-87BC-0FD98487666E}"/>
              </a:ext>
            </a:extLst>
          </p:cNvPr>
          <p:cNvSpPr txBox="1">
            <a:spLocks noChangeArrowheads="1"/>
          </p:cNvSpPr>
          <p:nvPr/>
        </p:nvSpPr>
        <p:spPr bwMode="auto">
          <a:xfrm>
            <a:off x="990600" y="1905000"/>
            <a:ext cx="728436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All methods listed in</a:t>
            </a:r>
          </a:p>
          <a:p>
            <a:pPr eaLnBrk="0" hangingPunct="0"/>
            <a:r>
              <a:rPr lang="en-US" altLang="en-US" sz="4000" b="1" dirty="0">
                <a:latin typeface="Arial" panose="020B0604020202020204" pitchFamily="34" charset="0"/>
              </a:rPr>
              <a:t>an interface are abstract; as</a:t>
            </a:r>
          </a:p>
          <a:p>
            <a:pPr eaLnBrk="0" hangingPunct="0"/>
            <a:r>
              <a:rPr lang="en-US" altLang="en-US" sz="4000" b="1" dirty="0">
                <a:latin typeface="Arial" panose="020B0604020202020204" pitchFamily="34" charset="0"/>
              </a:rPr>
              <a:t>a result, you must implement</a:t>
            </a:r>
          </a:p>
          <a:p>
            <a:pPr eaLnBrk="0" hangingPunct="0"/>
            <a:r>
              <a:rPr lang="en-US" altLang="en-US" sz="4000" b="1" dirty="0">
                <a:latin typeface="Arial" panose="020B0604020202020204" pitchFamily="34" charset="0"/>
              </a:rPr>
              <a:t>every method.</a:t>
            </a:r>
          </a:p>
          <a:p>
            <a:pPr eaLnBrk="0" hangingPunct="0"/>
            <a:endParaRPr lang="en-US" altLang="en-US" sz="4000" b="1" dirty="0">
              <a:latin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828800" y="1752600"/>
            <a:ext cx="5410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457200" y="4495800"/>
            <a:ext cx="8153400" cy="1938992"/>
          </a:xfrm>
          <a:prstGeom prst="rect">
            <a:avLst/>
          </a:prstGeom>
          <a:noFill/>
        </p:spPr>
        <p:txBody>
          <a:bodyPr wrap="square">
            <a:spAutoFit/>
          </a:bodyPr>
          <a:lstStyle/>
          <a:p>
            <a:r>
              <a:rPr lang="en-US" sz="4000" dirty="0">
                <a:solidFill>
                  <a:srgbClr val="008000"/>
                </a:solidFill>
              </a:rPr>
              <a:t>Valid – both methods are implicitly public and abstract, and neither has code.</a:t>
            </a:r>
            <a:endParaRPr lang="en-US" sz="4000" dirty="0"/>
          </a:p>
        </p:txBody>
      </p:sp>
    </p:spTree>
    <p:extLst>
      <p:ext uri="{BB962C8B-B14F-4D97-AF65-F5344CB8AC3E}">
        <p14:creationId xmlns:p14="http://schemas.microsoft.com/office/powerpoint/2010/main" val="328540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23455" y="4191000"/>
            <a:ext cx="8153400" cy="2554545"/>
          </a:xfrm>
          <a:prstGeom prst="rect">
            <a:avLst/>
          </a:prstGeom>
          <a:noFill/>
        </p:spPr>
        <p:txBody>
          <a:bodyPr wrap="square">
            <a:spAutoFit/>
          </a:bodyPr>
          <a:lstStyle/>
          <a:p>
            <a:r>
              <a:rPr lang="en-US" sz="4000" dirty="0">
                <a:solidFill>
                  <a:srgbClr val="C00000"/>
                </a:solidFill>
              </a:rPr>
              <a:t>Invalid – </a:t>
            </a:r>
            <a:r>
              <a:rPr lang="en-US" sz="4000" dirty="0" err="1">
                <a:solidFill>
                  <a:srgbClr val="C00000"/>
                </a:solidFill>
              </a:rPr>
              <a:t>calcAnswer</a:t>
            </a:r>
            <a:r>
              <a:rPr lang="en-US" sz="4000" dirty="0">
                <a:solidFill>
                  <a:srgbClr val="C00000"/>
                </a:solidFill>
              </a:rPr>
              <a:t> is abstract, but has code. The {} count as implementation. They declare the method does nothing.</a:t>
            </a:r>
          </a:p>
        </p:txBody>
      </p:sp>
    </p:spTree>
    <p:extLst>
      <p:ext uri="{BB962C8B-B14F-4D97-AF65-F5344CB8AC3E}">
        <p14:creationId xmlns:p14="http://schemas.microsoft.com/office/powerpoint/2010/main" val="251642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09600" y="4572000"/>
            <a:ext cx="8153400" cy="1323439"/>
          </a:xfrm>
          <a:prstGeom prst="rect">
            <a:avLst/>
          </a:prstGeom>
          <a:noFill/>
        </p:spPr>
        <p:txBody>
          <a:bodyPr wrap="square">
            <a:spAutoFit/>
          </a:bodyPr>
          <a:lstStyle/>
          <a:p>
            <a:r>
              <a:rPr lang="en-US" sz="4000" dirty="0">
                <a:solidFill>
                  <a:srgbClr val="C00000"/>
                </a:solidFill>
              </a:rPr>
              <a:t>Invalid – Interfaces can’t have constructors.</a:t>
            </a:r>
          </a:p>
        </p:txBody>
      </p:sp>
    </p:spTree>
    <p:extLst>
      <p:ext uri="{BB962C8B-B14F-4D97-AF65-F5344CB8AC3E}">
        <p14:creationId xmlns:p14="http://schemas.microsoft.com/office/powerpoint/2010/main" val="315995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2573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381000" y="1752600"/>
            <a:ext cx="8382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private</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final int n = 5</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381000" y="4495800"/>
            <a:ext cx="8610600" cy="1938992"/>
          </a:xfrm>
          <a:prstGeom prst="rect">
            <a:avLst/>
          </a:prstGeom>
          <a:noFill/>
        </p:spPr>
        <p:txBody>
          <a:bodyPr wrap="square">
            <a:spAutoFit/>
          </a:bodyPr>
          <a:lstStyle/>
          <a:p>
            <a:r>
              <a:rPr lang="en-US" sz="4000" dirty="0">
                <a:solidFill>
                  <a:srgbClr val="C00000"/>
                </a:solidFill>
              </a:rPr>
              <a:t>Invalid – you can’t declare a member as private. The final variable was initialized, so that part is good.</a:t>
            </a:r>
          </a:p>
        </p:txBody>
      </p:sp>
    </p:spTree>
    <p:extLst>
      <p:ext uri="{BB962C8B-B14F-4D97-AF65-F5344CB8AC3E}">
        <p14:creationId xmlns:p14="http://schemas.microsoft.com/office/powerpoint/2010/main" val="2189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85800" y="1752600"/>
            <a:ext cx="7696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abstract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int n</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495800"/>
            <a:ext cx="8610600" cy="1323439"/>
          </a:xfrm>
          <a:prstGeom prst="rect">
            <a:avLst/>
          </a:prstGeom>
          <a:noFill/>
        </p:spPr>
        <p:txBody>
          <a:bodyPr wrap="square">
            <a:spAutoFit/>
          </a:bodyPr>
          <a:lstStyle/>
          <a:p>
            <a:r>
              <a:rPr lang="en-US" sz="4000" dirty="0">
                <a:solidFill>
                  <a:srgbClr val="C00000"/>
                </a:solidFill>
              </a:rPr>
              <a:t>Invalid – The final variable was not initialized. The method is fine.</a:t>
            </a:r>
          </a:p>
        </p:txBody>
      </p:sp>
    </p:spTree>
    <p:extLst>
      <p:ext uri="{BB962C8B-B14F-4D97-AF65-F5344CB8AC3E}">
        <p14:creationId xmlns:p14="http://schemas.microsoft.com/office/powerpoint/2010/main" val="7692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619250" y="1752600"/>
            <a:ext cx="5791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938992"/>
          </a:xfrm>
          <a:prstGeom prst="rect">
            <a:avLst/>
          </a:prstGeom>
          <a:noFill/>
        </p:spPr>
        <p:txBody>
          <a:bodyPr wrap="square">
            <a:spAutoFit/>
          </a:bodyPr>
          <a:lstStyle/>
          <a:p>
            <a:r>
              <a:rPr lang="en-US" sz="4000" dirty="0">
                <a:solidFill>
                  <a:srgbClr val="008000"/>
                </a:solidFill>
              </a:rPr>
              <a:t>Valid – The abstract method has no code and the final variable was initialized.</a:t>
            </a:r>
            <a:endParaRPr lang="en-US" sz="4000" dirty="0"/>
          </a:p>
        </p:txBody>
      </p:sp>
    </p:spTree>
    <p:extLst>
      <p:ext uri="{BB962C8B-B14F-4D97-AF65-F5344CB8AC3E}">
        <p14:creationId xmlns:p14="http://schemas.microsoft.com/office/powerpoint/2010/main" val="230163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085850" y="1752600"/>
            <a:ext cx="6858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final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323439"/>
          </a:xfrm>
          <a:prstGeom prst="rect">
            <a:avLst/>
          </a:prstGeom>
          <a:noFill/>
        </p:spPr>
        <p:txBody>
          <a:bodyPr wrap="square">
            <a:spAutoFit/>
          </a:bodyPr>
          <a:lstStyle/>
          <a:p>
            <a:r>
              <a:rPr lang="en-US" sz="4000" dirty="0">
                <a:solidFill>
                  <a:srgbClr val="FF0000"/>
                </a:solidFill>
              </a:rPr>
              <a:t>Invalid – abstract and final can’t be combined!</a:t>
            </a:r>
          </a:p>
        </p:txBody>
      </p:sp>
      <p:sp>
        <p:nvSpPr>
          <p:cNvPr id="8" name="TextBox 7">
            <a:extLst>
              <a:ext uri="{FF2B5EF4-FFF2-40B4-BE49-F238E27FC236}">
                <a16:creationId xmlns:a16="http://schemas.microsoft.com/office/drawing/2014/main" id="{7C64D6D1-F03B-AD2E-8761-11B8B5FB2F2B}"/>
              </a:ext>
            </a:extLst>
          </p:cNvPr>
          <p:cNvSpPr txBox="1"/>
          <p:nvPr/>
        </p:nvSpPr>
        <p:spPr>
          <a:xfrm>
            <a:off x="1828800" y="2730213"/>
            <a:ext cx="1554480" cy="584775"/>
          </a:xfrm>
          <a:prstGeom prst="rect">
            <a:avLst/>
          </a:prstGeom>
          <a:noFill/>
        </p:spPr>
        <p:txBody>
          <a:bodyPr wrap="square">
            <a:spAutoFit/>
          </a:bodyPr>
          <a:lstStyle/>
          <a:p>
            <a:r>
              <a:rPr kumimoji="0" lang="fr-FR" sz="3200" b="1" i="0" u="none" strike="noStrike" kern="1200" cap="none" spc="0" normalizeH="0" baseline="0" noProof="0" dirty="0">
                <a:ln>
                  <a:noFill/>
                </a:ln>
                <a:solidFill>
                  <a:srgbClr val="FF0000"/>
                </a:solidFill>
                <a:effectLst/>
                <a:uLnTx/>
                <a:uFillTx/>
                <a:latin typeface="Courier New" panose="02070309020205020404" pitchFamily="49" charset="0"/>
                <a:ea typeface="Times New Roman" panose="02020603050405020304" pitchFamily="18" charset="0"/>
                <a:cs typeface="+mn-cs"/>
              </a:rPr>
              <a:t>final</a:t>
            </a:r>
            <a:endParaRPr lang="en-US" dirty="0">
              <a:solidFill>
                <a:srgbClr val="FF0000"/>
              </a:solidFill>
            </a:endParaRPr>
          </a:p>
        </p:txBody>
      </p:sp>
    </p:spTree>
    <p:extLst>
      <p:ext uri="{BB962C8B-B14F-4D97-AF65-F5344CB8AC3E}">
        <p14:creationId xmlns:p14="http://schemas.microsoft.com/office/powerpoint/2010/main" val="20032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90"/>
                                          </p:val>
                                        </p:tav>
                                        <p:tav tm="100000">
                                          <p:val>
                                            <p:fltVal val="0"/>
                                          </p:val>
                                        </p:tav>
                                      </p:tavLst>
                                    </p:anim>
                                    <p:animEffect transition="in" filter="fade">
                                      <p:cBhvr>
                                        <p:cTn id="10" dur="500"/>
                                        <p:tgtEl>
                                          <p:spTgt spid="7"/>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614208"/>
            <a:ext cx="8026400" cy="1938992"/>
          </a:xfrm>
          <a:prstGeom prst="rect">
            <a:avLst/>
          </a:prstGeom>
          <a:noFill/>
        </p:spPr>
        <p:txBody>
          <a:bodyPr wrap="square">
            <a:spAutoFit/>
          </a:bodyPr>
          <a:lstStyle/>
          <a:p>
            <a:r>
              <a:rPr lang="en-US" sz="4000" dirty="0">
                <a:solidFill>
                  <a:schemeClr val="accent2">
                    <a:lumMod val="75000"/>
                  </a:schemeClr>
                </a:solidFill>
              </a:rPr>
              <a:t>What is the access level of the </a:t>
            </a:r>
            <a:r>
              <a:rPr lang="en-US" sz="4000" dirty="0" err="1">
                <a:solidFill>
                  <a:schemeClr val="accent2">
                    <a:lumMod val="75000"/>
                  </a:schemeClr>
                </a:solidFill>
              </a:rPr>
              <a:t>calcAnswer</a:t>
            </a:r>
            <a:r>
              <a:rPr lang="en-US" sz="4000" dirty="0">
                <a:solidFill>
                  <a:schemeClr val="accent2">
                    <a:lumMod val="75000"/>
                  </a:schemeClr>
                </a:solidFill>
              </a:rPr>
              <a:t> method in the interface? And in the class?</a:t>
            </a:r>
          </a:p>
        </p:txBody>
      </p:sp>
    </p:spTree>
    <p:extLst>
      <p:ext uri="{BB962C8B-B14F-4D97-AF65-F5344CB8AC3E}">
        <p14:creationId xmlns:p14="http://schemas.microsoft.com/office/powerpoint/2010/main" val="36606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776768"/>
            <a:ext cx="8382000" cy="1323439"/>
          </a:xfrm>
          <a:prstGeom prst="rect">
            <a:avLst/>
          </a:prstGeom>
          <a:noFill/>
        </p:spPr>
        <p:txBody>
          <a:bodyPr wrap="square">
            <a:spAutoFit/>
          </a:bodyPr>
          <a:lstStyle/>
          <a:p>
            <a:r>
              <a:rPr lang="en-US" sz="4000" dirty="0">
                <a:solidFill>
                  <a:srgbClr val="C00000"/>
                </a:solidFill>
              </a:rPr>
              <a:t>Invalid – the class can’t make the access level more restrictive.</a:t>
            </a:r>
          </a:p>
        </p:txBody>
      </p:sp>
    </p:spTree>
    <p:extLst>
      <p:ext uri="{BB962C8B-B14F-4D97-AF65-F5344CB8AC3E}">
        <p14:creationId xmlns:p14="http://schemas.microsoft.com/office/powerpoint/2010/main" val="11719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public int calc()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876800"/>
            <a:ext cx="8763000" cy="1323439"/>
          </a:xfrm>
          <a:prstGeom prst="rect">
            <a:avLst/>
          </a:prstGeom>
          <a:noFill/>
        </p:spPr>
        <p:txBody>
          <a:bodyPr wrap="square">
            <a:spAutoFit/>
          </a:bodyPr>
          <a:lstStyle/>
          <a:p>
            <a:pPr algn="ctr"/>
            <a:r>
              <a:rPr lang="en-US" sz="4000" dirty="0">
                <a:solidFill>
                  <a:srgbClr val="C00000"/>
                </a:solidFill>
              </a:rPr>
              <a:t>Invalid – the class failed to implement the </a:t>
            </a:r>
            <a:r>
              <a:rPr lang="en-US" sz="4000" b="1" dirty="0" err="1">
                <a:solidFill>
                  <a:srgbClr val="C00000"/>
                </a:solidFill>
              </a:rPr>
              <a:t>calcAnswer</a:t>
            </a:r>
            <a:r>
              <a:rPr lang="en-US" sz="4000" dirty="0">
                <a:solidFill>
                  <a:srgbClr val="C00000"/>
                </a:solidFill>
              </a:rPr>
              <a:t> method</a:t>
            </a:r>
          </a:p>
        </p:txBody>
      </p:sp>
      <p:sp>
        <p:nvSpPr>
          <p:cNvPr id="8" name="TextBox 7">
            <a:extLst>
              <a:ext uri="{FF2B5EF4-FFF2-40B4-BE49-F238E27FC236}">
                <a16:creationId xmlns:a16="http://schemas.microsoft.com/office/drawing/2014/main" id="{873AB964-17B4-32E7-8349-F3C3917602DE}"/>
              </a:ext>
            </a:extLst>
          </p:cNvPr>
          <p:cNvSpPr txBox="1"/>
          <p:nvPr/>
        </p:nvSpPr>
        <p:spPr>
          <a:xfrm>
            <a:off x="3576320" y="3342640"/>
            <a:ext cx="170434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CC0000"/>
                </a:solidFill>
                <a:effectLst/>
                <a:uLnTx/>
                <a:uFillTx/>
                <a:latin typeface="Courier New" panose="02070309020205020404" pitchFamily="49" charset="0"/>
                <a:ea typeface="Times New Roman" panose="02020603050405020304" pitchFamily="18" charset="0"/>
                <a:cs typeface="+mn-cs"/>
              </a:rPr>
              <a:t>calc() </a:t>
            </a:r>
            <a:endParaRPr lang="en-US" dirty="0">
              <a:solidFill>
                <a:srgbClr val="CC0000"/>
              </a:solidFill>
            </a:endParaRPr>
          </a:p>
        </p:txBody>
      </p:sp>
    </p:spTree>
    <p:extLst>
      <p:ext uri="{BB962C8B-B14F-4D97-AF65-F5344CB8AC3E}">
        <p14:creationId xmlns:p14="http://schemas.microsoft.com/office/powerpoint/2010/main" val="2419420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CA5D5F-270E-B2E6-5F42-8759FA63236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Aug 7, 2007</a:t>
            </a:r>
          </a:p>
        </p:txBody>
      </p:sp>
      <p:sp>
        <p:nvSpPr>
          <p:cNvPr id="3" name="Slide Number Placeholder 3">
            <a:extLst>
              <a:ext uri="{FF2B5EF4-FFF2-40B4-BE49-F238E27FC236}">
                <a16:creationId xmlns:a16="http://schemas.microsoft.com/office/drawing/2014/main" id="{BFD3259B-C880-596D-2A14-F8F0F261057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29427A-30A4-4CB5-B4A0-B18E73258856}" type="slidenum">
              <a:rPr kumimoji="0" lang="en-US" alt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7650" name="Rectangle 2">
            <a:extLst>
              <a:ext uri="{FF2B5EF4-FFF2-40B4-BE49-F238E27FC236}">
                <a16:creationId xmlns:a16="http://schemas.microsoft.com/office/drawing/2014/main" id="{C833B00C-A584-8FC3-3F43-E5548141598E}"/>
              </a:ext>
            </a:extLst>
          </p:cNvPr>
          <p:cNvSpPr>
            <a:spLocks noGrp="1" noChangeArrowheads="1"/>
          </p:cNvSpPr>
          <p:nvPr>
            <p:ph type="title" idx="4294967295"/>
          </p:nvPr>
        </p:nvSpPr>
        <p:spPr/>
        <p:txBody>
          <a:bodyPr anchor="ctr"/>
          <a:lstStyle/>
          <a:p>
            <a:r>
              <a:rPr lang="en-US" altLang="en-US" sz="3000"/>
              <a:t>Interface Semantics Are Not Enforced</a:t>
            </a:r>
          </a:p>
        </p:txBody>
      </p:sp>
      <p:sp>
        <p:nvSpPr>
          <p:cNvPr id="27651" name="Rectangle 3">
            <a:extLst>
              <a:ext uri="{FF2B5EF4-FFF2-40B4-BE49-F238E27FC236}">
                <a16:creationId xmlns:a16="http://schemas.microsoft.com/office/drawing/2014/main" id="{4144149E-8AE3-364D-0B34-699249BC1632}"/>
              </a:ext>
            </a:extLst>
          </p:cNvPr>
          <p:cNvSpPr>
            <a:spLocks noGrp="1" noChangeArrowheads="1"/>
          </p:cNvSpPr>
          <p:nvPr>
            <p:ph type="body" idx="4294967295"/>
          </p:nvPr>
        </p:nvSpPr>
        <p:spPr/>
        <p:txBody>
          <a:bodyPr/>
          <a:lstStyle/>
          <a:p>
            <a:pPr>
              <a:lnSpc>
                <a:spcPct val="80000"/>
              </a:lnSpc>
            </a:pPr>
            <a:r>
              <a:rPr lang="en-US" altLang="en-US" sz="2100"/>
              <a:t>When a class implements an interface, the compiler and run-time system check the syntax of the interface and its implementation</a:t>
            </a:r>
          </a:p>
          <a:p>
            <a:pPr lvl="1">
              <a:lnSpc>
                <a:spcPct val="80000"/>
              </a:lnSpc>
            </a:pPr>
            <a:r>
              <a:rPr lang="en-US" altLang="en-US" sz="2000"/>
              <a:t>However, neither checks that the body of an interface is consistent with its intended meaning</a:t>
            </a:r>
          </a:p>
          <a:p>
            <a:pPr lvl="1">
              <a:lnSpc>
                <a:spcPct val="80000"/>
              </a:lnSpc>
              <a:buFont typeface="Wingdings" panose="05000000000000000000" pitchFamily="2" charset="2"/>
              <a:buNone/>
            </a:pPr>
            <a:endParaRPr lang="en-US" altLang="en-US" sz="2000"/>
          </a:p>
          <a:p>
            <a:pPr>
              <a:lnSpc>
                <a:spcPct val="80000"/>
              </a:lnSpc>
            </a:pPr>
            <a:r>
              <a:rPr lang="en-US" altLang="en-US" sz="2100"/>
              <a:t>Required semantics for an interface are normally added to the documentation for an interface</a:t>
            </a:r>
          </a:p>
          <a:p>
            <a:pPr lvl="1">
              <a:lnSpc>
                <a:spcPct val="80000"/>
              </a:lnSpc>
            </a:pPr>
            <a:r>
              <a:rPr lang="en-US" altLang="en-US" sz="2000"/>
              <a:t>It then becomes the responsibility of each programmer implementing the interface to follow the semantics</a:t>
            </a:r>
          </a:p>
          <a:p>
            <a:pPr lvl="1">
              <a:lnSpc>
                <a:spcPct val="80000"/>
              </a:lnSpc>
              <a:buFont typeface="Wingdings" panose="05000000000000000000" pitchFamily="2" charset="2"/>
              <a:buNone/>
            </a:pPr>
            <a:endParaRPr lang="en-US" altLang="en-US" sz="2000"/>
          </a:p>
          <a:p>
            <a:pPr>
              <a:lnSpc>
                <a:spcPct val="80000"/>
              </a:lnSpc>
            </a:pPr>
            <a:r>
              <a:rPr lang="en-US" altLang="en-US" sz="2100"/>
              <a:t>If the method body does not satisfy the specified semantics, then software written for classes that implement the interface may not work correctly</a:t>
            </a:r>
          </a:p>
        </p:txBody>
      </p:sp>
      <p:sp>
        <p:nvSpPr>
          <p:cNvPr id="7" name="Footer Placeholder 6">
            <a:extLst>
              <a:ext uri="{FF2B5EF4-FFF2-40B4-BE49-F238E27FC236}">
                <a16:creationId xmlns:a16="http://schemas.microsoft.com/office/drawing/2014/main" id="{05087148-7782-C790-3604-42053E5D33DE}"/>
              </a:ext>
            </a:extLst>
          </p:cNvPr>
          <p:cNvSpPr txBox="1">
            <a:spLocks noGrp="1"/>
          </p:cNvSpPr>
          <p:nvPr/>
        </p:nvSpPr>
        <p:spPr>
          <a:xfrm>
            <a:off x="2438400" y="6324600"/>
            <a:ext cx="4343400" cy="365125"/>
          </a:xfrm>
          <a:prstGeom prst="rect">
            <a:avLst/>
          </a:prstGeom>
          <a:noFill/>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t>Copyright © 2008 Pearson Addison-Wesley.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t>All rights reserved</a:t>
            </a:r>
            <a:endParaRPr kumimoji="0" lang="en-CA"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1618</TotalTime>
  <Words>6071</Words>
  <Application>Microsoft Office PowerPoint</Application>
  <PresentationFormat>On-screen Show (4:3)</PresentationFormat>
  <Paragraphs>919</Paragraphs>
  <Slides>78</Slides>
  <Notes>63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78</vt:i4>
      </vt:variant>
    </vt:vector>
  </HeadingPairs>
  <TitlesOfParts>
    <vt:vector size="96" baseType="lpstr">
      <vt:lpstr>Abadi</vt:lpstr>
      <vt:lpstr>Arial</vt:lpstr>
      <vt:lpstr>Arial Black</vt:lpstr>
      <vt:lpstr>Arial Unicode MS</vt:lpstr>
      <vt:lpstr>Calibri</vt:lpstr>
      <vt:lpstr>Consolas</vt:lpstr>
      <vt:lpstr>Courier New</vt:lpstr>
      <vt:lpstr>DejaVu Serif</vt:lpstr>
      <vt:lpstr>Helvetica</vt:lpstr>
      <vt:lpstr>Impact</vt:lpstr>
      <vt:lpstr>Inter</vt:lpstr>
      <vt:lpstr>Tahoma</vt:lpstr>
      <vt:lpstr>Times New Roman</vt:lpstr>
      <vt:lpstr>Times New Roman Italic</vt:lpstr>
      <vt:lpstr>Trebuchet MS</vt:lpstr>
      <vt:lpstr>Wingdings</vt:lpstr>
      <vt:lpstr>Default Design</vt:lpstr>
      <vt:lpstr>Network</vt:lpstr>
      <vt:lpstr>PowerPoint Presentation</vt:lpstr>
      <vt:lpstr>interface</vt:lpstr>
      <vt:lpstr>A Java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Visibility Levels</vt:lpstr>
      <vt:lpstr>PowerPoint Presentation</vt:lpstr>
      <vt:lpstr>PowerPoint Presentation</vt:lpstr>
      <vt:lpstr>Variable defaults in a class</vt:lpstr>
      <vt:lpstr>Method defaults in a Class</vt:lpstr>
      <vt:lpstr>Defaults in a Class</vt:lpstr>
      <vt:lpstr>Defaults in an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lpstr>Interface Semantics Are Not Enforced</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Interfaces</dc:title>
  <dc:subject>Interfaces</dc:subject>
  <dc:creator>A+ Computer Science</dc:creator>
  <cp:keywords>www.apluscompsci.com</cp:keywords>
  <dc:description>Interfaces_x000d_
©A+ Computer Science_x000d_
www.apluscompsci.com</dc:description>
  <cp:lastModifiedBy>Weldon Jasik</cp:lastModifiedBy>
  <cp:revision>284</cp:revision>
  <dcterms:created xsi:type="dcterms:W3CDTF">2002-06-22T16:18:29Z</dcterms:created>
  <dcterms:modified xsi:type="dcterms:W3CDTF">2025-10-03T01:25:22Z</dcterms:modified>
  <cp:category>www.apluscompsci.com</cp:category>
</cp:coreProperties>
</file>
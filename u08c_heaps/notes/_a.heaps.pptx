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8" r:id="rId3"/>
    <p:sldId id="280" r:id="rId4"/>
    <p:sldId id="284" r:id="rId5"/>
    <p:sldId id="307" r:id="rId6"/>
    <p:sldId id="285" r:id="rId7"/>
    <p:sldId id="292" r:id="rId8"/>
    <p:sldId id="281" r:id="rId9"/>
    <p:sldId id="286" r:id="rId10"/>
    <p:sldId id="259" r:id="rId11"/>
    <p:sldId id="260" r:id="rId12"/>
    <p:sldId id="305" r:id="rId13"/>
    <p:sldId id="306" r:id="rId14"/>
    <p:sldId id="308" r:id="rId15"/>
    <p:sldId id="261" r:id="rId16"/>
    <p:sldId id="287" r:id="rId17"/>
    <p:sldId id="309" r:id="rId18"/>
    <p:sldId id="288" r:id="rId19"/>
    <p:sldId id="303" r:id="rId20"/>
    <p:sldId id="276" r:id="rId21"/>
    <p:sldId id="318" r:id="rId22"/>
    <p:sldId id="319" r:id="rId23"/>
    <p:sldId id="320" r:id="rId24"/>
    <p:sldId id="316" r:id="rId25"/>
    <p:sldId id="263" r:id="rId26"/>
    <p:sldId id="302" r:id="rId27"/>
    <p:sldId id="312" r:id="rId28"/>
    <p:sldId id="313" r:id="rId29"/>
    <p:sldId id="277" r:id="rId30"/>
    <p:sldId id="265" r:id="rId31"/>
    <p:sldId id="321" r:id="rId32"/>
    <p:sldId id="322" r:id="rId33"/>
    <p:sldId id="301" r:id="rId3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3300"/>
    <a:srgbClr val="FFFFCC"/>
    <a:srgbClr val="0000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029" autoAdjust="0"/>
    <p:restoredTop sz="86469" autoAdjust="0"/>
  </p:normalViewPr>
  <p:slideViewPr>
    <p:cSldViewPr>
      <p:cViewPr varScale="1">
        <p:scale>
          <a:sx n="69" d="100"/>
          <a:sy n="69" d="100"/>
        </p:scale>
        <p:origin x="120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6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626E255-C720-46B9-82D9-AC905404B4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7A3D3D4-F8E8-4630-A88B-BFE417D824C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12FB52A4-D6CC-4F29-B40F-074177BEB9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27D3AE68-8FCB-4E60-9F0F-05B76ADC3BE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28D9CB7-F8DE-4FB3-8498-1553263987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05B3133-D5CB-45FB-9BA3-44A750BFBD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725BF2A-132E-4A11-96F7-AD12240C5EC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711A46A-2C75-492C-962A-B48F3D05DBE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B40E016C-D43A-4C83-AA44-66AA9E8561C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37D822A5-5B4C-4F3E-A788-99135F6AC51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07CDDEC7-B32A-4B92-8E55-F7C7C6CC3F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A3EC4CF-7D7D-43F6-AA1D-F44FF0912C7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18F78E-6F62-49BA-B88F-F077E44984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4D3A133-E440-40C3-8FBB-A47F91F55E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605DCA-BBEB-413D-B519-859541F8F4E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F0EC16F-37E6-47AB-B0D7-979508CB542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6872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5B6ADD-6B58-4557-B1CF-3CC1449D0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BE5CB34-336A-4D58-8CC0-1F7626F50C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F097BD-162E-41E9-8459-A69DBCCDA48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FD1457C-DE5E-4A24-97B4-9C719342D36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8883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41F2E9-9A13-4841-9E8E-A5D76D19FA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26E038-49FD-475F-ADB7-616B9FA352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F6B7C5-86B1-4545-8185-A11EDEFB294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0179871-A41E-4335-815D-F814D0E602B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5392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8B20E1-E5CA-48D3-BB49-46387989CE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B02D1D-882C-4622-940A-64A9F48940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26D743-0A4D-403F-9579-97FC2B97279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01CFFAC-A1DA-457A-BF15-FB97F696F74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2830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68E0DE1-78C0-48FB-B36F-4DD45A64B2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6D98551-B1C8-4B84-8C14-236546119FB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FAC00FA-D2B4-4CDA-B963-092C7757457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F206BBD-9461-4B50-B4FF-D14132446F1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714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7085D5D-CC2D-443A-952B-2F0C041F41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1AC0C2F-B341-4E40-94E0-FFF4C92A66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C00965-366C-447D-9AB4-371AFC1954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C0F416C-4E11-40A7-BE42-AD138ABDBCB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15200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BCC9E42-25B3-49CE-8AC8-C9264F7B32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8B2D048B-8DBD-458B-A990-A9F9F71C519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FC9974-659B-4061-B2E7-F0ECDC05C5A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9C67F89-5169-4667-AA3B-E79E7997ACE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3465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1FA278-7B11-43AF-AA01-3CDE345723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109D86-060E-4E88-AADC-2B6C3DC0F7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D467D6-978F-42DE-8867-CB6DE7E3E0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CC4B71D-22A2-4277-91AF-8448F787EE9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1585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CCA824-6939-418C-94B2-0EE5359C15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BB2CF1-406E-474B-AFE7-D1DF53DFE46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1FC084-7B2B-45E5-95FA-2C53A39E97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6562D8B-D4DD-47CD-BD54-5DF56DBBE8D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84118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6627A6-71D1-40E9-A9B7-95F98B70D4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05AF1A9-4749-4B34-A545-0C1129928BD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3E1504-F438-4AF8-9796-4BFCBF5D55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CEE0CD1-DF95-475A-A779-748295D0213E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7956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1C496E-6AE0-4FEA-8055-FEFB4B084F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88168B-FCC1-44F1-9FFD-D6C2937BDC7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09DB08-8770-47D2-81AB-8B75CD7143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866224-4B79-4789-A1B1-D4BBB44B856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8115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2E1F20-8D3B-4898-94BB-24170744C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06976B1-0E7B-46D1-A007-77D21443B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A5C1AF-78B3-4ABF-830E-53311810DD5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12F0CDE-3225-4790-BA10-A01D23F491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76E2CF5C-3435-40A1-B647-52EA6DFAA3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4655212-3960-4F25-B492-69221D461C0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2">
            <a:extLst>
              <a:ext uri="{FF2B5EF4-FFF2-40B4-BE49-F238E27FC236}">
                <a16:creationId xmlns:a16="http://schemas.microsoft.com/office/drawing/2014/main" id="{D7460115-E938-4394-9E36-6C3671FE9D37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990600" y="1752600"/>
            <a:ext cx="7315200" cy="1981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THE HEAP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BE9FEF78-AC74-4DCB-AAC5-D997C579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  <a:endParaRPr lang="en-US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WordArt 5">
            <a:extLst>
              <a:ext uri="{FF2B5EF4-FFF2-40B4-BE49-F238E27FC236}">
                <a16:creationId xmlns:a16="http://schemas.microsoft.com/office/drawing/2014/main" id="{0C19C17B-9B13-4CC4-B40D-8088211EAA08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heap</a:t>
            </a:r>
          </a:p>
        </p:txBody>
      </p:sp>
      <p:sp>
        <p:nvSpPr>
          <p:cNvPr id="5123" name="Text Box 2">
            <a:extLst>
              <a:ext uri="{FF2B5EF4-FFF2-40B4-BE49-F238E27FC236}">
                <a16:creationId xmlns:a16="http://schemas.microsoft.com/office/drawing/2014/main" id="{E1A73F6B-5F65-4DBA-9DF5-569212227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1" y="1981200"/>
            <a:ext cx="71628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The heap is essentially an array-based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binary tree with the biggest element at the root.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A heap must obey two rules:</a:t>
            </a:r>
          </a:p>
        </p:txBody>
      </p:sp>
      <p:grpSp>
        <p:nvGrpSpPr>
          <p:cNvPr id="2" name="Group 1" descr="A complete tree, i.e. a tree with every level full except the last, which is filled from the left:&#10;Row 0: 15&#10;Row 1: 11, 10&#10;Row 2: 7, 8, 9&#10;&#10;Level order: 15 | 11 10 | 7 8 9">
            <a:extLst>
              <a:ext uri="{FF2B5EF4-FFF2-40B4-BE49-F238E27FC236}">
                <a16:creationId xmlns:a16="http://schemas.microsoft.com/office/drawing/2014/main" id="{47EFEE5B-51E3-4FEF-EB4B-46C8F5D1CC11}"/>
              </a:ext>
            </a:extLst>
          </p:cNvPr>
          <p:cNvGrpSpPr/>
          <p:nvPr/>
        </p:nvGrpSpPr>
        <p:grpSpPr>
          <a:xfrm>
            <a:off x="2590800" y="3733800"/>
            <a:ext cx="2667000" cy="1524000"/>
            <a:chOff x="2590800" y="3733800"/>
            <a:chExt cx="2667000" cy="1524000"/>
          </a:xfrm>
        </p:grpSpPr>
        <p:sp>
          <p:nvSpPr>
            <p:cNvPr id="5125" name="Oval 6">
              <a:extLst>
                <a:ext uri="{FF2B5EF4-FFF2-40B4-BE49-F238E27FC236}">
                  <a16:creationId xmlns:a16="http://schemas.microsoft.com/office/drawing/2014/main" id="{BA76F3C3-E853-4BB3-A8BE-3A04D0A5F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3733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5126" name="Oval 7">
              <a:extLst>
                <a:ext uri="{FF2B5EF4-FFF2-40B4-BE49-F238E27FC236}">
                  <a16:creationId xmlns:a16="http://schemas.microsoft.com/office/drawing/2014/main" id="{343A515C-EF76-4257-A05D-1248DE333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267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5127" name="Oval 8">
              <a:extLst>
                <a:ext uri="{FF2B5EF4-FFF2-40B4-BE49-F238E27FC236}">
                  <a16:creationId xmlns:a16="http://schemas.microsoft.com/office/drawing/2014/main" id="{40888769-52A1-4A31-9501-ABA1C2A8D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5128" name="Oval 9">
              <a:extLst>
                <a:ext uri="{FF2B5EF4-FFF2-40B4-BE49-F238E27FC236}">
                  <a16:creationId xmlns:a16="http://schemas.microsoft.com/office/drawing/2014/main" id="{A8B4D812-B84D-4370-AFE7-F3B256D17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5129" name="Oval 10">
              <a:extLst>
                <a:ext uri="{FF2B5EF4-FFF2-40B4-BE49-F238E27FC236}">
                  <a16:creationId xmlns:a16="http://schemas.microsoft.com/office/drawing/2014/main" id="{D9C6EDE2-6D11-41C3-BCFF-CB4FFB5B4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191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5130" name="Oval 11">
              <a:extLst>
                <a:ext uri="{FF2B5EF4-FFF2-40B4-BE49-F238E27FC236}">
                  <a16:creationId xmlns:a16="http://schemas.microsoft.com/office/drawing/2014/main" id="{B834023F-68B9-4084-8861-D64E9F493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</p:grpSp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3A8897C9-EC08-4E2C-8EA9-2FC4E84EC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172200" y="6317673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FCB2-285A-1558-163A-C14BA2809F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78606" y="457660"/>
            <a:ext cx="5586787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Shape Rule</a:t>
            </a:r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B9C73E61-0A73-4BAF-A95D-F91DF2BAA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1752591"/>
            <a:ext cx="74676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In a complete tree, every level that can be filled is filled.   Any levels that are not full have all nodes shifted as far left as possible.</a:t>
            </a:r>
          </a:p>
        </p:txBody>
      </p:sp>
      <p:grpSp>
        <p:nvGrpSpPr>
          <p:cNvPr id="3" name="Group 2" descr="The same complete tree as last slide, but with no values shown.">
            <a:extLst>
              <a:ext uri="{FF2B5EF4-FFF2-40B4-BE49-F238E27FC236}">
                <a16:creationId xmlns:a16="http://schemas.microsoft.com/office/drawing/2014/main" id="{89EEAB1E-84C5-A1B9-F951-1F967D0A74F3}"/>
              </a:ext>
            </a:extLst>
          </p:cNvPr>
          <p:cNvGrpSpPr/>
          <p:nvPr/>
        </p:nvGrpSpPr>
        <p:grpSpPr>
          <a:xfrm>
            <a:off x="2590800" y="4267200"/>
            <a:ext cx="2667000" cy="1524000"/>
            <a:chOff x="2590800" y="4267200"/>
            <a:chExt cx="2667000" cy="1524000"/>
          </a:xfrm>
        </p:grpSpPr>
        <p:sp>
          <p:nvSpPr>
            <p:cNvPr id="7172" name="Oval 4">
              <a:extLst>
                <a:ext uri="{FF2B5EF4-FFF2-40B4-BE49-F238E27FC236}">
                  <a16:creationId xmlns:a16="http://schemas.microsoft.com/office/drawing/2014/main" id="{B06B07EB-E8AD-4D30-9B45-973D34F5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42672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3" name="Oval 5">
              <a:extLst>
                <a:ext uri="{FF2B5EF4-FFF2-40B4-BE49-F238E27FC236}">
                  <a16:creationId xmlns:a16="http://schemas.microsoft.com/office/drawing/2014/main" id="{F9318233-CF98-4525-AAF8-BEC37DEB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8006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4" name="Oval 6">
              <a:extLst>
                <a:ext uri="{FF2B5EF4-FFF2-40B4-BE49-F238E27FC236}">
                  <a16:creationId xmlns:a16="http://schemas.microsoft.com/office/drawing/2014/main" id="{2B0C3334-B7B8-498D-A11A-9E6CBA84A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53340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5" name="Oval 7">
              <a:extLst>
                <a:ext uri="{FF2B5EF4-FFF2-40B4-BE49-F238E27FC236}">
                  <a16:creationId xmlns:a16="http://schemas.microsoft.com/office/drawing/2014/main" id="{B470711B-F845-4F46-A21D-A386B3798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53340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6" name="Oval 8">
              <a:extLst>
                <a:ext uri="{FF2B5EF4-FFF2-40B4-BE49-F238E27FC236}">
                  <a16:creationId xmlns:a16="http://schemas.microsoft.com/office/drawing/2014/main" id="{5D2D24D8-DC5D-458C-BC87-1D34B5A38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7244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7" name="Oval 9">
              <a:extLst>
                <a:ext uri="{FF2B5EF4-FFF2-40B4-BE49-F238E27FC236}">
                  <a16:creationId xmlns:a16="http://schemas.microsoft.com/office/drawing/2014/main" id="{ECB6DFCB-77B2-4731-A9C1-504726EDD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5334000"/>
              <a:ext cx="533400" cy="457200"/>
            </a:xfrm>
            <a:prstGeom prst="ellipse">
              <a:avLst/>
            </a:prstGeom>
            <a:solidFill>
              <a:srgbClr val="99CC00">
                <a:alpha val="49019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7170" name="Footer Placeholder 3">
            <a:extLst>
              <a:ext uri="{FF2B5EF4-FFF2-40B4-BE49-F238E27FC236}">
                <a16:creationId xmlns:a16="http://schemas.microsoft.com/office/drawing/2014/main" id="{4A791789-5A0B-4761-A1FF-8081ED77E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6708-70C0-671C-F6B9-03A969308B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55739" y="457660"/>
            <a:ext cx="5232523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 Heap Rule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2E0D3C14-0106-4A1C-AD54-5E83D9B22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106535"/>
            <a:ext cx="7010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u="sng" dirty="0">
                <a:latin typeface="Tahoma" panose="020B0604030504040204" pitchFamily="34" charset="0"/>
              </a:rPr>
              <a:t>Every</a:t>
            </a:r>
            <a:r>
              <a:rPr lang="en-US" altLang="en-US" sz="3600" dirty="0">
                <a:latin typeface="Tahoma" panose="020B0604030504040204" pitchFamily="34" charset="0"/>
              </a:rPr>
              <a:t> parent will always be larger than its children. </a:t>
            </a:r>
          </a:p>
        </p:txBody>
      </p:sp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FEB2E8ED-B041-4B76-8553-E261EA2B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6708-70C0-671C-F6B9-03A969308BE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0294" y="457660"/>
            <a:ext cx="8063426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Max Heap vs Min Heap</a:t>
            </a:r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2E0D3C14-0106-4A1C-AD54-5E83D9B22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106535"/>
            <a:ext cx="79248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u="sng" dirty="0">
                <a:latin typeface="Tahoma" panose="020B0604030504040204" pitchFamily="34" charset="0"/>
              </a:rPr>
              <a:t>Heaps are Max Heaps by default: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Tahoma" panose="020B0604030504040204" pitchFamily="34" charset="0"/>
              </a:rPr>
              <a:t>Every parent will always be larger than its children.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36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 dirty="0">
                <a:latin typeface="Tahoma" panose="020B0604030504040204" pitchFamily="34" charset="0"/>
              </a:rPr>
              <a:t>Min Heaps:  In a min heap the rule is that a parent is smaller than its children.</a:t>
            </a:r>
          </a:p>
        </p:txBody>
      </p:sp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FEB2E8ED-B041-4B76-8553-E261EA2B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05928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WordArt 11">
            <a:extLst>
              <a:ext uri="{FF2B5EF4-FFF2-40B4-BE49-F238E27FC236}">
                <a16:creationId xmlns:a16="http://schemas.microsoft.com/office/drawing/2014/main" id="{350334BE-1E5D-4705-8BC6-A9364349A628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heap</a:t>
            </a:r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28F45B2C-2400-4BAA-B231-BDFB22A7F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1905000"/>
            <a:ext cx="4856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 Heap is a </a:t>
            </a:r>
            <a:r>
              <a:rPr lang="en-US" altLang="en-US" sz="2800" u="sng">
                <a:latin typeface="Tahoma" panose="020B0604030504040204" pitchFamily="34" charset="0"/>
              </a:rPr>
              <a:t>complete</a:t>
            </a:r>
            <a:r>
              <a:rPr lang="en-US" altLang="en-US" sz="2800">
                <a:latin typeface="Tahoma" panose="020B0604030504040204" pitchFamily="34" charset="0"/>
              </a:rPr>
              <a:t> tree.</a:t>
            </a:r>
          </a:p>
        </p:txBody>
      </p:sp>
      <p:grpSp>
        <p:nvGrpSpPr>
          <p:cNvPr id="8196" name="Group 1" descr="The same complete tree again:&#10;Level order:&#10;15 | 11 10 | 7 8 9&#10;Row-by-row description:&#10;Row 0: 15&#10;Row 1: 11, 10&#10;Row 2: 7, 8, 9">
            <a:extLst>
              <a:ext uri="{FF2B5EF4-FFF2-40B4-BE49-F238E27FC236}">
                <a16:creationId xmlns:a16="http://schemas.microsoft.com/office/drawing/2014/main" id="{7EE11D7F-48D6-4A9F-B56E-CCFB4EE93BF6}"/>
              </a:ext>
            </a:extLst>
          </p:cNvPr>
          <p:cNvGrpSpPr>
            <a:grpSpLocks/>
          </p:cNvGrpSpPr>
          <p:nvPr/>
        </p:nvGrpSpPr>
        <p:grpSpPr bwMode="auto">
          <a:xfrm>
            <a:off x="509588" y="2884488"/>
            <a:ext cx="2667000" cy="1524000"/>
            <a:chOff x="2590800" y="3733800"/>
            <a:chExt cx="2667000" cy="1524000"/>
          </a:xfrm>
        </p:grpSpPr>
        <p:sp>
          <p:nvSpPr>
            <p:cNvPr id="8208" name="Oval 3">
              <a:extLst>
                <a:ext uri="{FF2B5EF4-FFF2-40B4-BE49-F238E27FC236}">
                  <a16:creationId xmlns:a16="http://schemas.microsoft.com/office/drawing/2014/main" id="{CD56CE58-0F88-43E7-9A68-74EC8E176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3733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8209" name="Oval 4">
              <a:extLst>
                <a:ext uri="{FF2B5EF4-FFF2-40B4-BE49-F238E27FC236}">
                  <a16:creationId xmlns:a16="http://schemas.microsoft.com/office/drawing/2014/main" id="{A22485CD-1FD7-41D8-9A9E-22D134B8A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267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8210" name="Oval 5">
              <a:extLst>
                <a:ext uri="{FF2B5EF4-FFF2-40B4-BE49-F238E27FC236}">
                  <a16:creationId xmlns:a16="http://schemas.microsoft.com/office/drawing/2014/main" id="{282DC1BD-A743-4A3B-88D9-35E38CAA3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8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8211" name="Oval 6">
              <a:extLst>
                <a:ext uri="{FF2B5EF4-FFF2-40B4-BE49-F238E27FC236}">
                  <a16:creationId xmlns:a16="http://schemas.microsoft.com/office/drawing/2014/main" id="{97857560-E357-407C-9E9F-F20EBE864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8212" name="Oval 7">
              <a:extLst>
                <a:ext uri="{FF2B5EF4-FFF2-40B4-BE49-F238E27FC236}">
                  <a16:creationId xmlns:a16="http://schemas.microsoft.com/office/drawing/2014/main" id="{37E35BA3-2D1B-4017-B886-8882254B5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191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8213" name="Oval 8">
              <a:extLst>
                <a:ext uri="{FF2B5EF4-FFF2-40B4-BE49-F238E27FC236}">
                  <a16:creationId xmlns:a16="http://schemas.microsoft.com/office/drawing/2014/main" id="{05945FD9-2C4B-481E-82B1-CC2A35214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4800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</p:grpSp>
      <p:sp>
        <p:nvSpPr>
          <p:cNvPr id="8198" name="Text Box 2">
            <a:extLst>
              <a:ext uri="{FF2B5EF4-FFF2-40B4-BE49-F238E27FC236}">
                <a16:creationId xmlns:a16="http://schemas.microsoft.com/office/drawing/2014/main" id="{346D05C8-BABF-409A-9D7D-A5C33F037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4643438"/>
            <a:ext cx="38750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[ 15, 11, 10, 7, 8, 9 ]</a:t>
            </a:r>
          </a:p>
        </p:txBody>
      </p:sp>
      <p:sp>
        <p:nvSpPr>
          <p:cNvPr id="8201" name="Text Box 2">
            <a:extLst>
              <a:ext uri="{FF2B5EF4-FFF2-40B4-BE49-F238E27FC236}">
                <a16:creationId xmlns:a16="http://schemas.microsoft.com/office/drawing/2014/main" id="{E43C1F41-CB6D-4C29-ABD5-464611DCD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0138" y="3308350"/>
            <a:ext cx="27320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0000"/>
                </a:solidFill>
                <a:latin typeface="Tahoma" panose="020B0604030504040204" pitchFamily="34" charset="0"/>
              </a:rPr>
              <a:t>Not complete:</a:t>
            </a:r>
          </a:p>
        </p:txBody>
      </p:sp>
      <p:grpSp>
        <p:nvGrpSpPr>
          <p:cNvPr id="8199" name="Group 2" descr="Not a complete tree:&#10;Level order:&#10;15 | 11 10 | 7 null 8 9&#10;Row-by-row description:&#10;Row 0:&#10;Root: 15&#10;Row 1:&#10;Left child of 15: 11&#10;Right child of 15: 10&#10;Row 2:&#10;Left child of 11: 7&#10;Left child of 10: 8&#10;Right child of 10: 9">
            <a:extLst>
              <a:ext uri="{FF2B5EF4-FFF2-40B4-BE49-F238E27FC236}">
                <a16:creationId xmlns:a16="http://schemas.microsoft.com/office/drawing/2014/main" id="{BC133F8E-3ACF-4D94-A0CB-3BD3F50912B0}"/>
              </a:ext>
            </a:extLst>
          </p:cNvPr>
          <p:cNvGrpSpPr>
            <a:grpSpLocks/>
          </p:cNvGrpSpPr>
          <p:nvPr/>
        </p:nvGrpSpPr>
        <p:grpSpPr bwMode="auto">
          <a:xfrm>
            <a:off x="4819650" y="3990975"/>
            <a:ext cx="3086100" cy="1524000"/>
            <a:chOff x="4991100" y="3429000"/>
            <a:chExt cx="3086100" cy="1524000"/>
          </a:xfrm>
        </p:grpSpPr>
        <p:sp>
          <p:nvSpPr>
            <p:cNvPr id="8202" name="Oval 3">
              <a:extLst>
                <a:ext uri="{FF2B5EF4-FFF2-40B4-BE49-F238E27FC236}">
                  <a16:creationId xmlns:a16="http://schemas.microsoft.com/office/drawing/2014/main" id="{F551CE62-77F3-440C-9D20-E845175A6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2700" y="3429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8203" name="Oval 4">
              <a:extLst>
                <a:ext uri="{FF2B5EF4-FFF2-40B4-BE49-F238E27FC236}">
                  <a16:creationId xmlns:a16="http://schemas.microsoft.com/office/drawing/2014/main" id="{B144DAD3-73CC-43A8-B4E9-830185445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0700" y="3962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8204" name="Oval 5">
              <a:extLst>
                <a:ext uri="{FF2B5EF4-FFF2-40B4-BE49-F238E27FC236}">
                  <a16:creationId xmlns:a16="http://schemas.microsoft.com/office/drawing/2014/main" id="{2BE5EAE0-FC09-4411-A6D2-754122316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100" y="4495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8205" name="Oval 6">
              <a:extLst>
                <a:ext uri="{FF2B5EF4-FFF2-40B4-BE49-F238E27FC236}">
                  <a16:creationId xmlns:a16="http://schemas.microsoft.com/office/drawing/2014/main" id="{7435D8B3-3CE8-4440-A9D4-B67241551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495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8206" name="Oval 7">
              <a:extLst>
                <a:ext uri="{FF2B5EF4-FFF2-40B4-BE49-F238E27FC236}">
                  <a16:creationId xmlns:a16="http://schemas.microsoft.com/office/drawing/2014/main" id="{D9F2F040-A0E7-4356-8726-8249FE6FF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4700" y="3886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8207" name="Oval 8">
              <a:extLst>
                <a:ext uri="{FF2B5EF4-FFF2-40B4-BE49-F238E27FC236}">
                  <a16:creationId xmlns:a16="http://schemas.microsoft.com/office/drawing/2014/main" id="{4414EC26-E91F-41DA-869D-9E6D896CE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4495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</p:grpSp>
      <p:sp>
        <p:nvSpPr>
          <p:cNvPr id="8200" name="Text Box 2">
            <a:extLst>
              <a:ext uri="{FF2B5EF4-FFF2-40B4-BE49-F238E27FC236}">
                <a16:creationId xmlns:a16="http://schemas.microsoft.com/office/drawing/2014/main" id="{C4F30C29-B91C-478D-99BD-03DD9FE7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711825"/>
            <a:ext cx="46640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[ 15, 11, 10, 7,</a:t>
            </a:r>
            <a:r>
              <a:rPr lang="en-US" altLang="en-US" sz="2800">
                <a:solidFill>
                  <a:srgbClr val="C00000"/>
                </a:solidFill>
                <a:latin typeface="Tahoma" panose="020B0604030504040204" pitchFamily="34" charset="0"/>
              </a:rPr>
              <a:t>null</a:t>
            </a:r>
            <a:r>
              <a:rPr lang="en-US" altLang="en-US" sz="2800">
                <a:latin typeface="Tahoma" panose="020B0604030504040204" pitchFamily="34" charset="0"/>
              </a:rPr>
              <a:t>, 8, 9 ]</a:t>
            </a:r>
          </a:p>
        </p:txBody>
      </p:sp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EA273072-D245-4A32-AFCA-8817BA57D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WordArt 22">
            <a:extLst>
              <a:ext uri="{FF2B5EF4-FFF2-40B4-BE49-F238E27FC236}">
                <a16:creationId xmlns:a16="http://schemas.microsoft.com/office/drawing/2014/main" id="{D49C1834-3604-41FC-BC83-AF33057FD5A7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max heap</a:t>
            </a:r>
          </a:p>
        </p:txBody>
      </p:sp>
      <p:sp>
        <p:nvSpPr>
          <p:cNvPr id="10246" name="Text Box 23">
            <a:extLst>
              <a:ext uri="{FF2B5EF4-FFF2-40B4-BE49-F238E27FC236}">
                <a16:creationId xmlns:a16="http://schemas.microsoft.com/office/drawing/2014/main" id="{155864BE-96D8-45DD-8CE6-32D3DB3B3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42" y="4419600"/>
            <a:ext cx="7217040" cy="954107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A heap is a max heap by default.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Every parent is larger than its children.</a:t>
            </a:r>
          </a:p>
        </p:txBody>
      </p:sp>
      <p:grpSp>
        <p:nvGrpSpPr>
          <p:cNvPr id="2" name="Group 1" descr="Level order:&#10;90 | 45 43 | 30 39 38 end&#10;Row-by-row description:&#10;The tree has the number 90 as its root node. This root has two children:  &#10;&#10;- The left child is 45, which has two children:&#10;  - The left child of 45 is 30.&#10;  - The right child of 45 is 39.&#10;&#10;- The right child of the root (90) is 43, which has one child:&#10;  - The left child of 43 is 38.">
            <a:extLst>
              <a:ext uri="{FF2B5EF4-FFF2-40B4-BE49-F238E27FC236}">
                <a16:creationId xmlns:a16="http://schemas.microsoft.com/office/drawing/2014/main" id="{5E3BCAE1-7508-F198-1364-66865DDA6287}"/>
              </a:ext>
            </a:extLst>
          </p:cNvPr>
          <p:cNvGrpSpPr/>
          <p:nvPr/>
        </p:nvGrpSpPr>
        <p:grpSpPr>
          <a:xfrm>
            <a:off x="1219200" y="2133600"/>
            <a:ext cx="5834063" cy="1524000"/>
            <a:chOff x="1219200" y="2133600"/>
            <a:chExt cx="5834063" cy="1524000"/>
          </a:xfrm>
        </p:grpSpPr>
        <p:sp>
          <p:nvSpPr>
            <p:cNvPr id="10247" name="Oval 24">
              <a:extLst>
                <a:ext uri="{FF2B5EF4-FFF2-40B4-BE49-F238E27FC236}">
                  <a16:creationId xmlns:a16="http://schemas.microsoft.com/office/drawing/2014/main" id="{45EFDA91-CB09-42D1-A151-F2F5822F9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45</a:t>
              </a:r>
            </a:p>
          </p:txBody>
        </p:sp>
        <p:sp>
          <p:nvSpPr>
            <p:cNvPr id="10248" name="Oval 25">
              <a:extLst>
                <a:ext uri="{FF2B5EF4-FFF2-40B4-BE49-F238E27FC236}">
                  <a16:creationId xmlns:a16="http://schemas.microsoft.com/office/drawing/2014/main" id="{C12C4548-4738-433B-BA53-1BB896FAB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 dirty="0">
                  <a:latin typeface="Tahoma" panose="020B0604030504040204" pitchFamily="34" charset="0"/>
                </a:rPr>
                <a:t>30</a:t>
              </a:r>
            </a:p>
          </p:txBody>
        </p:sp>
        <p:sp>
          <p:nvSpPr>
            <p:cNvPr id="10249" name="Oval 26">
              <a:extLst>
                <a:ext uri="{FF2B5EF4-FFF2-40B4-BE49-F238E27FC236}">
                  <a16:creationId xmlns:a16="http://schemas.microsoft.com/office/drawing/2014/main" id="{A2896CD4-6A38-4F77-8D2A-4B0673198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39</a:t>
              </a:r>
            </a:p>
          </p:txBody>
        </p:sp>
        <p:sp>
          <p:nvSpPr>
            <p:cNvPr id="10250" name="Oval 27">
              <a:extLst>
                <a:ext uri="{FF2B5EF4-FFF2-40B4-BE49-F238E27FC236}">
                  <a16:creationId xmlns:a16="http://schemas.microsoft.com/office/drawing/2014/main" id="{4F638107-F838-4502-9723-AF273EB52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43</a:t>
              </a:r>
            </a:p>
          </p:txBody>
        </p:sp>
        <p:sp>
          <p:nvSpPr>
            <p:cNvPr id="10251" name="Oval 28">
              <a:extLst>
                <a:ext uri="{FF2B5EF4-FFF2-40B4-BE49-F238E27FC236}">
                  <a16:creationId xmlns:a16="http://schemas.microsoft.com/office/drawing/2014/main" id="{C9F90B9C-90A9-457F-8ED6-98ABFE590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 dirty="0">
                  <a:latin typeface="Tahoma" panose="020B0604030504040204" pitchFamily="34" charset="0"/>
                </a:rPr>
                <a:t>38</a:t>
              </a:r>
            </a:p>
          </p:txBody>
        </p:sp>
        <p:sp>
          <p:nvSpPr>
            <p:cNvPr id="10252" name="Oval 29">
              <a:extLst>
                <a:ext uri="{FF2B5EF4-FFF2-40B4-BE49-F238E27FC236}">
                  <a16:creationId xmlns:a16="http://schemas.microsoft.com/office/drawing/2014/main" id="{036E3018-D6EB-4D5D-800A-DF319A8E1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90</a:t>
              </a:r>
            </a:p>
          </p:txBody>
        </p:sp>
        <p:sp>
          <p:nvSpPr>
            <p:cNvPr id="10253" name="Line 30">
              <a:extLst>
                <a:ext uri="{FF2B5EF4-FFF2-40B4-BE49-F238E27FC236}">
                  <a16:creationId xmlns:a16="http://schemas.microsoft.com/office/drawing/2014/main" id="{81C24A32-F4BB-4518-ABDB-B12D891E34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9400" y="2438400"/>
              <a:ext cx="13716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Line 31">
              <a:extLst>
                <a:ext uri="{FF2B5EF4-FFF2-40B4-BE49-F238E27FC236}">
                  <a16:creationId xmlns:a16="http://schemas.microsoft.com/office/drawing/2014/main" id="{63983A78-B2F6-4E07-89C2-DB848BC89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2438400"/>
              <a:ext cx="12192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Line 32">
              <a:extLst>
                <a:ext uri="{FF2B5EF4-FFF2-40B4-BE49-F238E27FC236}">
                  <a16:creationId xmlns:a16="http://schemas.microsoft.com/office/drawing/2014/main" id="{DF1B7CED-F550-4A2E-8ABB-1C59315A16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0480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33">
              <a:extLst>
                <a:ext uri="{FF2B5EF4-FFF2-40B4-BE49-F238E27FC236}">
                  <a16:creationId xmlns:a16="http://schemas.microsoft.com/office/drawing/2014/main" id="{315F1981-45FD-4CCF-95F0-EE217C97A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96000" y="30480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Line 34">
              <a:extLst>
                <a:ext uri="{FF2B5EF4-FFF2-40B4-BE49-F238E27FC236}">
                  <a16:creationId xmlns:a16="http://schemas.microsoft.com/office/drawing/2014/main" id="{6DBE72F8-D9E0-4A9A-A7CA-48E797991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30480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F41CBFCC-2455-469A-9A86-A4F5A2FE5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3" name="WordArt 35">
            <a:extLst>
              <a:ext uri="{FF2B5EF4-FFF2-40B4-BE49-F238E27FC236}">
                <a16:creationId xmlns:a16="http://schemas.microsoft.com/office/drawing/2014/main" id="{3CA16B09-B570-4F86-844F-D4ED187C87BB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min heap</a:t>
            </a:r>
          </a:p>
        </p:txBody>
      </p:sp>
      <p:sp>
        <p:nvSpPr>
          <p:cNvPr id="9221" name="Text Box 17">
            <a:extLst>
              <a:ext uri="{FF2B5EF4-FFF2-40B4-BE49-F238E27FC236}">
                <a16:creationId xmlns:a16="http://schemas.microsoft.com/office/drawing/2014/main" id="{C33BECF0-F50B-464B-9E35-0931A8D16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656" y="4419600"/>
            <a:ext cx="6845144" cy="954107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A min heap is a binary tree that has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a root smaller than all of its children.</a:t>
            </a:r>
          </a:p>
        </p:txBody>
      </p:sp>
      <p:grpSp>
        <p:nvGrpSpPr>
          <p:cNvPr id="2" name="Group 1" descr="Level order:&#10;9 | 18 23 | 20 21 25 end&#10;Row-by-row description:&#10;The tree has the number 9 as its root node. This root has two children:  &#10;&#10;- The left child is 18, which has two children:&#10;  - The left child of 18 is 20.&#10;  - The right child of 18 is 21.&#10;&#10;- The right child of the root (9) is 23, which has one child:&#10;  - The left child of 23 is 25.">
            <a:extLst>
              <a:ext uri="{FF2B5EF4-FFF2-40B4-BE49-F238E27FC236}">
                <a16:creationId xmlns:a16="http://schemas.microsoft.com/office/drawing/2014/main" id="{D9A2F8E9-B9FF-F490-AEC6-B0A1D9D31F4B}"/>
              </a:ext>
            </a:extLst>
          </p:cNvPr>
          <p:cNvGrpSpPr/>
          <p:nvPr/>
        </p:nvGrpSpPr>
        <p:grpSpPr>
          <a:xfrm>
            <a:off x="1219200" y="2133600"/>
            <a:ext cx="5834063" cy="1524000"/>
            <a:chOff x="1219200" y="2133600"/>
            <a:chExt cx="5834063" cy="1524000"/>
          </a:xfrm>
        </p:grpSpPr>
        <p:sp>
          <p:nvSpPr>
            <p:cNvPr id="9222" name="Oval 20">
              <a:extLst>
                <a:ext uri="{FF2B5EF4-FFF2-40B4-BE49-F238E27FC236}">
                  <a16:creationId xmlns:a16="http://schemas.microsoft.com/office/drawing/2014/main" id="{6DEF2BE8-E9B9-45C9-BBFD-ABE5402ED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18</a:t>
              </a:r>
            </a:p>
          </p:txBody>
        </p:sp>
        <p:sp>
          <p:nvSpPr>
            <p:cNvPr id="9223" name="Oval 21">
              <a:extLst>
                <a:ext uri="{FF2B5EF4-FFF2-40B4-BE49-F238E27FC236}">
                  <a16:creationId xmlns:a16="http://schemas.microsoft.com/office/drawing/2014/main" id="{1A2FDAB2-9EB1-4666-A6C3-B155705C2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20</a:t>
              </a:r>
            </a:p>
          </p:txBody>
        </p:sp>
        <p:sp>
          <p:nvSpPr>
            <p:cNvPr id="9224" name="Oval 22">
              <a:extLst>
                <a:ext uri="{FF2B5EF4-FFF2-40B4-BE49-F238E27FC236}">
                  <a16:creationId xmlns:a16="http://schemas.microsoft.com/office/drawing/2014/main" id="{6924B271-5790-4519-A45E-83B152C5B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21</a:t>
              </a:r>
            </a:p>
          </p:txBody>
        </p:sp>
        <p:sp>
          <p:nvSpPr>
            <p:cNvPr id="9225" name="Oval 23">
              <a:extLst>
                <a:ext uri="{FF2B5EF4-FFF2-40B4-BE49-F238E27FC236}">
                  <a16:creationId xmlns:a16="http://schemas.microsoft.com/office/drawing/2014/main" id="{230A692C-1025-4260-ACA3-04BFA69AC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23</a:t>
              </a:r>
            </a:p>
          </p:txBody>
        </p:sp>
        <p:sp>
          <p:nvSpPr>
            <p:cNvPr id="9226" name="Oval 24">
              <a:extLst>
                <a:ext uri="{FF2B5EF4-FFF2-40B4-BE49-F238E27FC236}">
                  <a16:creationId xmlns:a16="http://schemas.microsoft.com/office/drawing/2014/main" id="{165FD51E-8ECA-4B7D-8059-2A345445D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200" y="32004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25</a:t>
              </a:r>
            </a:p>
          </p:txBody>
        </p:sp>
        <p:sp>
          <p:nvSpPr>
            <p:cNvPr id="9227" name="Oval 28">
              <a:extLst>
                <a:ext uri="{FF2B5EF4-FFF2-40B4-BE49-F238E27FC236}">
                  <a16:creationId xmlns:a16="http://schemas.microsoft.com/office/drawing/2014/main" id="{9D22314A-B560-466F-B452-DEB030A09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9228" name="Line 29">
              <a:extLst>
                <a:ext uri="{FF2B5EF4-FFF2-40B4-BE49-F238E27FC236}">
                  <a16:creationId xmlns:a16="http://schemas.microsoft.com/office/drawing/2014/main" id="{E16653E3-BFC8-4B50-BAA6-244ACECC8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9400" y="2438400"/>
              <a:ext cx="13716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9" name="Line 30">
              <a:extLst>
                <a:ext uri="{FF2B5EF4-FFF2-40B4-BE49-F238E27FC236}">
                  <a16:creationId xmlns:a16="http://schemas.microsoft.com/office/drawing/2014/main" id="{59DF05AB-DA0C-46E5-98D4-ADFCB35F5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9200" y="2438400"/>
              <a:ext cx="12192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0" name="Line 31">
              <a:extLst>
                <a:ext uri="{FF2B5EF4-FFF2-40B4-BE49-F238E27FC236}">
                  <a16:creationId xmlns:a16="http://schemas.microsoft.com/office/drawing/2014/main" id="{CCAE417B-FB32-47AB-B831-94ACAFFAC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05000" y="30480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1" name="Line 32">
              <a:extLst>
                <a:ext uri="{FF2B5EF4-FFF2-40B4-BE49-F238E27FC236}">
                  <a16:creationId xmlns:a16="http://schemas.microsoft.com/office/drawing/2014/main" id="{AB1666AD-BEA0-49EE-A175-3A287577B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96000" y="30480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2" name="Line 33">
              <a:extLst>
                <a:ext uri="{FF2B5EF4-FFF2-40B4-BE49-F238E27FC236}">
                  <a16:creationId xmlns:a16="http://schemas.microsoft.com/office/drawing/2014/main" id="{10CC1D37-CAC8-49C2-8293-8D0B7F29A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30480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88B70949-74B1-4008-901C-D0BC11E78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WordArt 18">
            <a:extLst>
              <a:ext uri="{FF2B5EF4-FFF2-40B4-BE49-F238E27FC236}">
                <a16:creationId xmlns:a16="http://schemas.microsoft.com/office/drawing/2014/main" id="{0CB84B1E-BDBE-4F32-B1DE-922646A3640C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heap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AE8A51B1-FBDA-F08E-29E1-D09DFCC18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5181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Because a heap will always be a </a:t>
            </a:r>
            <a:r>
              <a:rPr lang="en-US" altLang="en-US" sz="2800" u="sng" dirty="0">
                <a:latin typeface="Tahoma" panose="020B0604030504040204" pitchFamily="34" charset="0"/>
              </a:rPr>
              <a:t>complete tree</a:t>
            </a:r>
            <a:r>
              <a:rPr lang="en-US" altLang="en-US" sz="2800" dirty="0">
                <a:latin typeface="Tahoma" panose="020B0604030504040204" pitchFamily="34" charset="0"/>
              </a:rPr>
              <a:t>, it makes sense to use an array to store the values.	</a:t>
            </a:r>
          </a:p>
        </p:txBody>
      </p:sp>
      <p:grpSp>
        <p:nvGrpSpPr>
          <p:cNvPr id="3" name="Group 2" descr="The same complete tree again:&#10;Level order:&#10;15 | 11 10 | 7 8 9&#10;Row-by-row description:&#10;Row 0: 15&#10;Row 1: 11, 10&#10;Row 2: 7, 8, 9">
            <a:extLst>
              <a:ext uri="{FF2B5EF4-FFF2-40B4-BE49-F238E27FC236}">
                <a16:creationId xmlns:a16="http://schemas.microsoft.com/office/drawing/2014/main" id="{977427C7-7297-9A63-3741-648ABAF6E59A}"/>
              </a:ext>
            </a:extLst>
          </p:cNvPr>
          <p:cNvGrpSpPr/>
          <p:nvPr/>
        </p:nvGrpSpPr>
        <p:grpSpPr>
          <a:xfrm>
            <a:off x="5638800" y="1905000"/>
            <a:ext cx="2667000" cy="2057400"/>
            <a:chOff x="5638800" y="1905000"/>
            <a:chExt cx="2667000" cy="2057400"/>
          </a:xfrm>
        </p:grpSpPr>
        <p:sp>
          <p:nvSpPr>
            <p:cNvPr id="11267" name="Oval 3">
              <a:extLst>
                <a:ext uri="{FF2B5EF4-FFF2-40B4-BE49-F238E27FC236}">
                  <a16:creationId xmlns:a16="http://schemas.microsoft.com/office/drawing/2014/main" id="{D5D7034F-1B65-4204-9D0D-280002BB3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438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1268" name="Oval 4">
              <a:extLst>
                <a:ext uri="{FF2B5EF4-FFF2-40B4-BE49-F238E27FC236}">
                  <a16:creationId xmlns:a16="http://schemas.microsoft.com/office/drawing/2014/main" id="{87D2B4F3-2264-4F09-9D98-58BAFE470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2971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1269" name="Oval 5">
              <a:extLst>
                <a:ext uri="{FF2B5EF4-FFF2-40B4-BE49-F238E27FC236}">
                  <a16:creationId xmlns:a16="http://schemas.microsoft.com/office/drawing/2014/main" id="{D66976BC-2112-43D5-87C2-654793002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3505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1270" name="Oval 6">
              <a:extLst>
                <a:ext uri="{FF2B5EF4-FFF2-40B4-BE49-F238E27FC236}">
                  <a16:creationId xmlns:a16="http://schemas.microsoft.com/office/drawing/2014/main" id="{C5211BDA-185B-42CC-859F-C5022F63B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3505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1271" name="Oval 7">
              <a:extLst>
                <a:ext uri="{FF2B5EF4-FFF2-40B4-BE49-F238E27FC236}">
                  <a16:creationId xmlns:a16="http://schemas.microsoft.com/office/drawing/2014/main" id="{E9120756-8CE8-45CF-9076-BEEA457A7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2895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1272" name="Oval 8">
              <a:extLst>
                <a:ext uri="{FF2B5EF4-FFF2-40B4-BE49-F238E27FC236}">
                  <a16:creationId xmlns:a16="http://schemas.microsoft.com/office/drawing/2014/main" id="{8B2B2AB2-A63C-41A1-ACE5-49E64E17E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505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1274" name="Text Box 17">
              <a:extLst>
                <a:ext uri="{FF2B5EF4-FFF2-40B4-BE49-F238E27FC236}">
                  <a16:creationId xmlns:a16="http://schemas.microsoft.com/office/drawing/2014/main" id="{F4AFC753-6101-40B4-AE27-ABCC51AC5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0" y="19050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11273" name="Text Box 16">
            <a:extLst>
              <a:ext uri="{FF2B5EF4-FFF2-40B4-BE49-F238E27FC236}">
                <a16:creationId xmlns:a16="http://schemas.microsoft.com/office/drawing/2014/main" id="{2DA5CA1E-E0C4-4FFF-BFC4-1B639D2E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72000"/>
            <a:ext cx="487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1476" name="Group 36">
            <a:extLst>
              <a:ext uri="{FF2B5EF4-FFF2-40B4-BE49-F238E27FC236}">
                <a16:creationId xmlns:a16="http://schemas.microsoft.com/office/drawing/2014/main" id="{A2DD67B3-4BB5-46FD-A24C-F2BAA6349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912239"/>
              </p:ext>
            </p:extLst>
          </p:nvPr>
        </p:nvGraphicFramePr>
        <p:xfrm>
          <a:off x="1752600" y="5029200"/>
          <a:ext cx="60198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48BC4439-46E0-4526-846E-92DD0D5A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WordArt 13">
            <a:extLst>
              <a:ext uri="{FF2B5EF4-FFF2-40B4-BE49-F238E27FC236}">
                <a16:creationId xmlns:a16="http://schemas.microsoft.com/office/drawing/2014/main" id="{8FC0B0A8-334E-4C99-A5E8-6580CE580BC5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A9E9CB5C-833E-1FC8-6496-2E454B12B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46482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What formula would give the location of the left child of a node? </a:t>
            </a:r>
          </a:p>
        </p:txBody>
      </p:sp>
      <p:grpSp>
        <p:nvGrpSpPr>
          <p:cNvPr id="10" name="Group 9" descr="The same complete tree again:&#10;Level order:&#10;15 | 11 10 | 7 8 9&#10;Row-by-row description:&#10;Row 0: 15&#10;Row 1: 11, 10&#10;Row 2: 7, 8, 9">
            <a:extLst>
              <a:ext uri="{FF2B5EF4-FFF2-40B4-BE49-F238E27FC236}">
                <a16:creationId xmlns:a16="http://schemas.microsoft.com/office/drawing/2014/main" id="{A689A493-4867-6DD4-9857-8741225A2E1D}"/>
              </a:ext>
            </a:extLst>
          </p:cNvPr>
          <p:cNvGrpSpPr/>
          <p:nvPr/>
        </p:nvGrpSpPr>
        <p:grpSpPr>
          <a:xfrm>
            <a:off x="5715000" y="1752600"/>
            <a:ext cx="2667000" cy="2057400"/>
            <a:chOff x="5715000" y="1752600"/>
            <a:chExt cx="2667000" cy="2057400"/>
          </a:xfrm>
        </p:grpSpPr>
        <p:sp>
          <p:nvSpPr>
            <p:cNvPr id="2" name="Oval 3">
              <a:extLst>
                <a:ext uri="{FF2B5EF4-FFF2-40B4-BE49-F238E27FC236}">
                  <a16:creationId xmlns:a16="http://schemas.microsoft.com/office/drawing/2014/main" id="{160357CF-A330-1CBC-A93C-4D6F8A2D6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2286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3" name="Oval 4">
              <a:extLst>
                <a:ext uri="{FF2B5EF4-FFF2-40B4-BE49-F238E27FC236}">
                  <a16:creationId xmlns:a16="http://schemas.microsoft.com/office/drawing/2014/main" id="{A49515C6-ED33-EEF1-A74A-2B94DD4FF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2819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6">
                      <a:lumMod val="75000"/>
                    </a:schemeClr>
                  </a:solidFill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F4AF231E-277C-0E06-5748-846AD1495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C1E7B078-183C-51D7-77AF-374FBD565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7A06ECE1-6F9D-0272-8CC2-7B18E605D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743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chemeClr val="accent6">
                      <a:lumMod val="75000"/>
                    </a:schemeClr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4F466385-48E5-7518-3CAC-805A5C64E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38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17FB23E2-1B4D-40B1-141C-37EE4A500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1752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12294" name="Text Box 14">
            <a:extLst>
              <a:ext uri="{FF2B5EF4-FFF2-40B4-BE49-F238E27FC236}">
                <a16:creationId xmlns:a16="http://schemas.microsoft.com/office/drawing/2014/main" id="{494354C1-420C-437C-9016-9441B3AEB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9624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28687" name="Group 15">
            <a:extLst>
              <a:ext uri="{FF2B5EF4-FFF2-40B4-BE49-F238E27FC236}">
                <a16:creationId xmlns:a16="http://schemas.microsoft.com/office/drawing/2014/main" id="{42865627-43DC-4CCF-9750-5E367E5C7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724538"/>
              </p:ext>
            </p:extLst>
          </p:nvPr>
        </p:nvGraphicFramePr>
        <p:xfrm>
          <a:off x="1447800" y="44196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Freeform: Shape 11" descr="An arrow pointing from the 1 to the 3, which is the location of the 11 node's left child.">
            <a:extLst>
              <a:ext uri="{FF2B5EF4-FFF2-40B4-BE49-F238E27FC236}">
                <a16:creationId xmlns:a16="http://schemas.microsoft.com/office/drawing/2014/main" id="{4CDFE2C8-2B3D-E5D8-835A-836C90DC215E}"/>
              </a:ext>
            </a:extLst>
          </p:cNvPr>
          <p:cNvSpPr/>
          <p:nvPr/>
        </p:nvSpPr>
        <p:spPr bwMode="auto">
          <a:xfrm>
            <a:off x="3034145" y="4152768"/>
            <a:ext cx="1884219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" name="Freeform: Shape 12" descr="An arrow pointing from the 2 to the 5, which is the location of the 10 node's left child.">
            <a:extLst>
              <a:ext uri="{FF2B5EF4-FFF2-40B4-BE49-F238E27FC236}">
                <a16:creationId xmlns:a16="http://schemas.microsoft.com/office/drawing/2014/main" id="{B65BD53E-F372-2FA8-9E55-A60E07E7E3B5}"/>
              </a:ext>
            </a:extLst>
          </p:cNvPr>
          <p:cNvSpPr/>
          <p:nvPr/>
        </p:nvSpPr>
        <p:spPr bwMode="auto">
          <a:xfrm>
            <a:off x="3983181" y="4141351"/>
            <a:ext cx="2874819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639E4277-861A-4435-AD04-10F7082EA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6000" y="6260405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WordArt 6">
            <a:extLst>
              <a:ext uri="{FF2B5EF4-FFF2-40B4-BE49-F238E27FC236}">
                <a16:creationId xmlns:a16="http://schemas.microsoft.com/office/drawing/2014/main" id="{CF01B528-738C-4FE4-9D07-BEAC91B065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2A0C5DC9-F78C-49D6-BA7B-72BF5E29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38588"/>
            <a:ext cx="7467600" cy="175432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rPr>
              <a:t>left = 2*x + 1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left child of 11 node = 2*1 + 1 = 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left child of 10 node = 2*2 + 1 = 5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BB61C4C9-E786-15F6-6ECF-CBE7E8F47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3" name="Group 15">
            <a:extLst>
              <a:ext uri="{FF2B5EF4-FFF2-40B4-BE49-F238E27FC236}">
                <a16:creationId xmlns:a16="http://schemas.microsoft.com/office/drawing/2014/main" id="{5BDD8606-8EDC-8DF0-C335-0FA3DEB1F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831835"/>
              </p:ext>
            </p:extLst>
          </p:nvPr>
        </p:nvGraphicFramePr>
        <p:xfrm>
          <a:off x="1447800" y="22098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Freeform: Shape 3" descr="An arrow pointing from the 1 to the 3, which is the location of the 11 node's left child.">
            <a:extLst>
              <a:ext uri="{FF2B5EF4-FFF2-40B4-BE49-F238E27FC236}">
                <a16:creationId xmlns:a16="http://schemas.microsoft.com/office/drawing/2014/main" id="{5A52E3AD-ABE3-071A-FA32-5C829CCD507B}"/>
              </a:ext>
            </a:extLst>
          </p:cNvPr>
          <p:cNvSpPr/>
          <p:nvPr/>
        </p:nvSpPr>
        <p:spPr bwMode="auto">
          <a:xfrm>
            <a:off x="3034145" y="1916417"/>
            <a:ext cx="1884219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reeform: Shape 4" descr="An arrow pointing from the 2 to the 5, which is the location of the 10 node's left child.">
            <a:extLst>
              <a:ext uri="{FF2B5EF4-FFF2-40B4-BE49-F238E27FC236}">
                <a16:creationId xmlns:a16="http://schemas.microsoft.com/office/drawing/2014/main" id="{3DDFEF83-A313-EF48-DE62-42D8735EE140}"/>
              </a:ext>
            </a:extLst>
          </p:cNvPr>
          <p:cNvSpPr/>
          <p:nvPr/>
        </p:nvSpPr>
        <p:spPr bwMode="auto">
          <a:xfrm>
            <a:off x="3983181" y="1905000"/>
            <a:ext cx="2874819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60D5BFC9-301A-46D6-83BC-25246043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WordArt 6">
            <a:extLst>
              <a:ext uri="{FF2B5EF4-FFF2-40B4-BE49-F238E27FC236}">
                <a16:creationId xmlns:a16="http://schemas.microsoft.com/office/drawing/2014/main" id="{CF01B528-738C-4FE4-9D07-BEAC91B065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2A0C5DC9-F78C-49D6-BA7B-72BF5E29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38588"/>
            <a:ext cx="7467600" cy="175432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highlight>
                  <a:srgbClr val="FFFF00"/>
                </a:highlight>
                <a:latin typeface="Tahoma" panose="020B0604030504040204" pitchFamily="34" charset="0"/>
              </a:rPr>
              <a:t>right</a:t>
            </a:r>
            <a:r>
              <a: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rPr>
              <a:t> = 2*x + 2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right child of 11 node = 2*1 + 2 = 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right child of 10 node = 2*2 + 2 = 6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BB61C4C9-E786-15F6-6ECF-CBE7E8F47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3" name="Group 15">
            <a:extLst>
              <a:ext uri="{FF2B5EF4-FFF2-40B4-BE49-F238E27FC236}">
                <a16:creationId xmlns:a16="http://schemas.microsoft.com/office/drawing/2014/main" id="{5BDD8606-8EDC-8DF0-C335-0FA3DEB1FB3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2098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Freeform: Shape 3" descr="An arrow pointing from the 1 to the 4, which is the location of the 11 node's right child.">
            <a:extLst>
              <a:ext uri="{FF2B5EF4-FFF2-40B4-BE49-F238E27FC236}">
                <a16:creationId xmlns:a16="http://schemas.microsoft.com/office/drawing/2014/main" id="{5A52E3AD-ABE3-071A-FA32-5C829CCD507B}"/>
              </a:ext>
            </a:extLst>
          </p:cNvPr>
          <p:cNvSpPr/>
          <p:nvPr/>
        </p:nvSpPr>
        <p:spPr bwMode="auto">
          <a:xfrm>
            <a:off x="3048000" y="1916417"/>
            <a:ext cx="2819400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reeform: Shape 4" descr="An arrow pointing from the 2 to the spot after spot 5, which is out of bounds but would be the location of the 10 node's right child if it had one.">
            <a:extLst>
              <a:ext uri="{FF2B5EF4-FFF2-40B4-BE49-F238E27FC236}">
                <a16:creationId xmlns:a16="http://schemas.microsoft.com/office/drawing/2014/main" id="{3DDFEF83-A313-EF48-DE62-42D8735EE140}"/>
              </a:ext>
            </a:extLst>
          </p:cNvPr>
          <p:cNvSpPr/>
          <p:nvPr/>
        </p:nvSpPr>
        <p:spPr bwMode="auto">
          <a:xfrm>
            <a:off x="3997036" y="1905000"/>
            <a:ext cx="3699164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60D5BFC9-301A-46D6-83BC-25246043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19951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WordArt 6">
            <a:extLst>
              <a:ext uri="{FF2B5EF4-FFF2-40B4-BE49-F238E27FC236}">
                <a16:creationId xmlns:a16="http://schemas.microsoft.com/office/drawing/2014/main" id="{CF01B528-738C-4FE4-9D07-BEAC91B065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2A0C5DC9-F78C-49D6-BA7B-72BF5E29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38588"/>
            <a:ext cx="7924800" cy="175432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highlight>
                  <a:srgbClr val="FFFF00"/>
                </a:highlight>
                <a:latin typeface="Tahoma" panose="020B0604030504040204" pitchFamily="34" charset="0"/>
              </a:rPr>
              <a:t>parent</a:t>
            </a:r>
            <a:r>
              <a: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rPr>
              <a:t> = </a:t>
            </a:r>
            <a:r>
              <a:rPr lang="en-US" altLang="en-US" sz="2400" dirty="0">
                <a:solidFill>
                  <a:srgbClr val="FF0000"/>
                </a:solidFill>
                <a:latin typeface="Tahoma" panose="020B0604030504040204" pitchFamily="34" charset="0"/>
              </a:rPr>
              <a:t>1/2 x - 1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Parent of 7 node = 1/2 (3) – 1 = </a:t>
            </a:r>
            <a:r>
              <a:rPr lang="en-US" altLang="en-US" sz="2800" dirty="0">
                <a:solidFill>
                  <a:srgbClr val="FF0000"/>
                </a:solidFill>
                <a:latin typeface="Tahoma" panose="020B0604030504040204" pitchFamily="34" charset="0"/>
              </a:rPr>
              <a:t>0  wrong!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Parent of 8 node = 1/2 (4) – 1 = 1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BB61C4C9-E786-15F6-6ECF-CBE7E8F47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3" name="Group 15">
            <a:extLst>
              <a:ext uri="{FF2B5EF4-FFF2-40B4-BE49-F238E27FC236}">
                <a16:creationId xmlns:a16="http://schemas.microsoft.com/office/drawing/2014/main" id="{5BDD8606-8EDC-8DF0-C335-0FA3DEB1FB3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2098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Freeform: Shape 3" descr="An arrow pointing from the 3 to the 1, which is the location of the 7 node's parent, 11.">
            <a:extLst>
              <a:ext uri="{FF2B5EF4-FFF2-40B4-BE49-F238E27FC236}">
                <a16:creationId xmlns:a16="http://schemas.microsoft.com/office/drawing/2014/main" id="{5A52E3AD-ABE3-071A-FA32-5C829CCD507B}"/>
              </a:ext>
            </a:extLst>
          </p:cNvPr>
          <p:cNvSpPr/>
          <p:nvPr/>
        </p:nvSpPr>
        <p:spPr bwMode="auto">
          <a:xfrm flipH="1">
            <a:off x="3048000" y="1916417"/>
            <a:ext cx="1870364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reeform: Shape 4" descr="An arrow pointing from the 4 to the 1, which is the location of the 8 node's parent, 11.">
            <a:extLst>
              <a:ext uri="{FF2B5EF4-FFF2-40B4-BE49-F238E27FC236}">
                <a16:creationId xmlns:a16="http://schemas.microsoft.com/office/drawing/2014/main" id="{3DDFEF83-A313-EF48-DE62-42D8735EE140}"/>
              </a:ext>
            </a:extLst>
          </p:cNvPr>
          <p:cNvSpPr/>
          <p:nvPr/>
        </p:nvSpPr>
        <p:spPr bwMode="auto">
          <a:xfrm flipH="1">
            <a:off x="3048000" y="1905000"/>
            <a:ext cx="2819400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60D5BFC9-301A-46D6-83BC-25246043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76830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WordArt 6">
            <a:extLst>
              <a:ext uri="{FF2B5EF4-FFF2-40B4-BE49-F238E27FC236}">
                <a16:creationId xmlns:a16="http://schemas.microsoft.com/office/drawing/2014/main" id="{CF01B528-738C-4FE4-9D07-BEAC91B065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371600" y="533400"/>
            <a:ext cx="62484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array-based tree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2A0C5DC9-F78C-49D6-BA7B-72BF5E299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938588"/>
            <a:ext cx="7467600" cy="175432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highlight>
                  <a:srgbClr val="FFFF00"/>
                </a:highlight>
                <a:latin typeface="Tahoma" panose="020B0604030504040204" pitchFamily="34" charset="0"/>
              </a:rPr>
              <a:t>parent</a:t>
            </a:r>
            <a:r>
              <a: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rPr>
              <a:t>  =  1/2 (x – 1)      or      (x – 1) / 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solidFill>
                <a:schemeClr val="accent2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Parent of 7 node = 1/2 (3 – 1) = 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Parent of 8 node = 1/2 (4 – 1) = 1</a:t>
            </a:r>
          </a:p>
        </p:txBody>
      </p:sp>
      <p:sp>
        <p:nvSpPr>
          <p:cNvPr id="2" name="Text Box 14">
            <a:extLst>
              <a:ext uri="{FF2B5EF4-FFF2-40B4-BE49-F238E27FC236}">
                <a16:creationId xmlns:a16="http://schemas.microsoft.com/office/drawing/2014/main" id="{BB61C4C9-E786-15F6-6ECF-CBE7E8F47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7526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3" name="Group 15">
            <a:extLst>
              <a:ext uri="{FF2B5EF4-FFF2-40B4-BE49-F238E27FC236}">
                <a16:creationId xmlns:a16="http://schemas.microsoft.com/office/drawing/2014/main" id="{5BDD8606-8EDC-8DF0-C335-0FA3DEB1FB3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2209800"/>
          <a:ext cx="6019800" cy="11684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4554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Freeform: Shape 3" descr="An arrow pointing from the 3 to the 1, which is the location of the 7 node's parent, 11.">
            <a:extLst>
              <a:ext uri="{FF2B5EF4-FFF2-40B4-BE49-F238E27FC236}">
                <a16:creationId xmlns:a16="http://schemas.microsoft.com/office/drawing/2014/main" id="{5A52E3AD-ABE3-071A-FA32-5C829CCD507B}"/>
              </a:ext>
            </a:extLst>
          </p:cNvPr>
          <p:cNvSpPr/>
          <p:nvPr/>
        </p:nvSpPr>
        <p:spPr bwMode="auto">
          <a:xfrm flipH="1">
            <a:off x="3048000" y="1916417"/>
            <a:ext cx="1870364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reeform: Shape 4" descr="An arrow pointing from the 4 to the 1, which is the location of the 8 node's parent, 11.">
            <a:extLst>
              <a:ext uri="{FF2B5EF4-FFF2-40B4-BE49-F238E27FC236}">
                <a16:creationId xmlns:a16="http://schemas.microsoft.com/office/drawing/2014/main" id="{3DDFEF83-A313-EF48-DE62-42D8735EE140}"/>
              </a:ext>
            </a:extLst>
          </p:cNvPr>
          <p:cNvSpPr/>
          <p:nvPr/>
        </p:nvSpPr>
        <p:spPr bwMode="auto">
          <a:xfrm flipH="1">
            <a:off x="3048000" y="1905000"/>
            <a:ext cx="2819400" cy="419231"/>
          </a:xfrm>
          <a:custGeom>
            <a:avLst/>
            <a:gdLst>
              <a:gd name="connsiteX0" fmla="*/ 0 w 1939637"/>
              <a:gd name="connsiteY0" fmla="*/ 251286 h 389831"/>
              <a:gd name="connsiteX1" fmla="*/ 547255 w 1939637"/>
              <a:gd name="connsiteY1" fmla="*/ 57322 h 389831"/>
              <a:gd name="connsiteX2" fmla="*/ 1239982 w 1939637"/>
              <a:gd name="connsiteY2" fmla="*/ 8831 h 389831"/>
              <a:gd name="connsiteX3" fmla="*/ 1759528 w 1939637"/>
              <a:gd name="connsiteY3" fmla="*/ 209722 h 389831"/>
              <a:gd name="connsiteX4" fmla="*/ 1939637 w 1939637"/>
              <a:gd name="connsiteY4" fmla="*/ 389831 h 389831"/>
              <a:gd name="connsiteX0" fmla="*/ 0 w 1884219"/>
              <a:gd name="connsiteY0" fmla="*/ 365159 h 392868"/>
              <a:gd name="connsiteX1" fmla="*/ 491837 w 1884219"/>
              <a:gd name="connsiteY1" fmla="*/ 60359 h 392868"/>
              <a:gd name="connsiteX2" fmla="*/ 1184564 w 1884219"/>
              <a:gd name="connsiteY2" fmla="*/ 11868 h 392868"/>
              <a:gd name="connsiteX3" fmla="*/ 1704110 w 1884219"/>
              <a:gd name="connsiteY3" fmla="*/ 212759 h 392868"/>
              <a:gd name="connsiteX4" fmla="*/ 1884219 w 1884219"/>
              <a:gd name="connsiteY4" fmla="*/ 392868 h 392868"/>
              <a:gd name="connsiteX0" fmla="*/ 0 w 1884219"/>
              <a:gd name="connsiteY0" fmla="*/ 354658 h 382367"/>
              <a:gd name="connsiteX1" fmla="*/ 339437 w 1884219"/>
              <a:gd name="connsiteY1" fmla="*/ 126058 h 382367"/>
              <a:gd name="connsiteX2" fmla="*/ 1184564 w 1884219"/>
              <a:gd name="connsiteY2" fmla="*/ 1367 h 382367"/>
              <a:gd name="connsiteX3" fmla="*/ 1704110 w 1884219"/>
              <a:gd name="connsiteY3" fmla="*/ 202258 h 382367"/>
              <a:gd name="connsiteX4" fmla="*/ 1884219 w 1884219"/>
              <a:gd name="connsiteY4" fmla="*/ 382367 h 382367"/>
              <a:gd name="connsiteX0" fmla="*/ 0 w 1884219"/>
              <a:gd name="connsiteY0" fmla="*/ 360029 h 387738"/>
              <a:gd name="connsiteX1" fmla="*/ 339437 w 1884219"/>
              <a:gd name="connsiteY1" fmla="*/ 131429 h 387738"/>
              <a:gd name="connsiteX2" fmla="*/ 706582 w 1884219"/>
              <a:gd name="connsiteY2" fmla="*/ 55229 h 387738"/>
              <a:gd name="connsiteX3" fmla="*/ 1184564 w 1884219"/>
              <a:gd name="connsiteY3" fmla="*/ 6738 h 387738"/>
              <a:gd name="connsiteX4" fmla="*/ 1704110 w 1884219"/>
              <a:gd name="connsiteY4" fmla="*/ 207629 h 387738"/>
              <a:gd name="connsiteX5" fmla="*/ 1884219 w 1884219"/>
              <a:gd name="connsiteY5" fmla="*/ 387738 h 387738"/>
              <a:gd name="connsiteX0" fmla="*/ 0 w 1884219"/>
              <a:gd name="connsiteY0" fmla="*/ 391522 h 419231"/>
              <a:gd name="connsiteX1" fmla="*/ 339437 w 1884219"/>
              <a:gd name="connsiteY1" fmla="*/ 162922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256310 w 1884219"/>
              <a:gd name="connsiteY1" fmla="*/ 176777 h 419231"/>
              <a:gd name="connsiteX2" fmla="*/ 692728 w 1884219"/>
              <a:gd name="connsiteY2" fmla="*/ 10522 h 419231"/>
              <a:gd name="connsiteX3" fmla="*/ 1184564 w 1884219"/>
              <a:gd name="connsiteY3" fmla="*/ 38231 h 419231"/>
              <a:gd name="connsiteX4" fmla="*/ 1704110 w 1884219"/>
              <a:gd name="connsiteY4" fmla="*/ 239122 h 419231"/>
              <a:gd name="connsiteX5" fmla="*/ 1884219 w 1884219"/>
              <a:gd name="connsiteY5" fmla="*/ 419231 h 419231"/>
              <a:gd name="connsiteX0" fmla="*/ 0 w 1884219"/>
              <a:gd name="connsiteY0" fmla="*/ 391522 h 419231"/>
              <a:gd name="connsiteX1" fmla="*/ 96982 w 1884219"/>
              <a:gd name="connsiteY1" fmla="*/ 308396 h 419231"/>
              <a:gd name="connsiteX2" fmla="*/ 256310 w 1884219"/>
              <a:gd name="connsiteY2" fmla="*/ 176777 h 419231"/>
              <a:gd name="connsiteX3" fmla="*/ 692728 w 1884219"/>
              <a:gd name="connsiteY3" fmla="*/ 10522 h 419231"/>
              <a:gd name="connsiteX4" fmla="*/ 1184564 w 1884219"/>
              <a:gd name="connsiteY4" fmla="*/ 38231 h 419231"/>
              <a:gd name="connsiteX5" fmla="*/ 1704110 w 1884219"/>
              <a:gd name="connsiteY5" fmla="*/ 239122 h 419231"/>
              <a:gd name="connsiteX6" fmla="*/ 1884219 w 1884219"/>
              <a:gd name="connsiteY6" fmla="*/ 419231 h 419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4219" h="419231">
                <a:moveTo>
                  <a:pt x="0" y="391522"/>
                </a:moveTo>
                <a:cubicBezTo>
                  <a:pt x="20782" y="377668"/>
                  <a:pt x="54264" y="344187"/>
                  <a:pt x="96982" y="308396"/>
                </a:cubicBezTo>
                <a:cubicBezTo>
                  <a:pt x="139700" y="272605"/>
                  <a:pt x="157019" y="226423"/>
                  <a:pt x="256310" y="176777"/>
                </a:cubicBezTo>
                <a:cubicBezTo>
                  <a:pt x="355601" y="127131"/>
                  <a:pt x="551874" y="31304"/>
                  <a:pt x="692728" y="10522"/>
                </a:cubicBezTo>
                <a:cubicBezTo>
                  <a:pt x="833582" y="-10260"/>
                  <a:pt x="1016000" y="131"/>
                  <a:pt x="1184564" y="38231"/>
                </a:cubicBezTo>
                <a:cubicBezTo>
                  <a:pt x="1353128" y="76331"/>
                  <a:pt x="1587501" y="175622"/>
                  <a:pt x="1704110" y="239122"/>
                </a:cubicBezTo>
                <a:cubicBezTo>
                  <a:pt x="1820719" y="302622"/>
                  <a:pt x="1852469" y="360926"/>
                  <a:pt x="1884219" y="419231"/>
                </a:cubicBezTo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314" name="Footer Placeholder 3">
            <a:extLst>
              <a:ext uri="{FF2B5EF4-FFF2-40B4-BE49-F238E27FC236}">
                <a16:creationId xmlns:a16="http://schemas.microsoft.com/office/drawing/2014/main" id="{60D5BFC9-301A-46D6-83BC-252460439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23492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WordArt 3">
            <a:extLst>
              <a:ext uri="{FF2B5EF4-FFF2-40B4-BE49-F238E27FC236}">
                <a16:creationId xmlns:a16="http://schemas.microsoft.com/office/drawing/2014/main" id="{09F05F84-2BB8-459F-8C0A-19C2D8363047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add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E0FE57FF-D88F-433F-9D72-0F0ED0B86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75803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easiest way to add a new item to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heap implemented with an array is to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add the new value at the end of the array</a:t>
            </a:r>
            <a:br>
              <a:rPr lang="en-US" altLang="en-US" sz="2800">
                <a:latin typeface="Tahoma" panose="020B0604030504040204" pitchFamily="34" charset="0"/>
              </a:rPr>
            </a:br>
            <a:r>
              <a:rPr lang="en-US" altLang="en-US" sz="2800">
                <a:latin typeface="Tahoma" panose="020B0604030504040204" pitchFamily="34" charset="0"/>
              </a:rPr>
              <a:t>and then move the new item up the tree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as far as it needs to go.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add will use swapUp to restructure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tree so that it remains a heap.</a:t>
            </a:r>
          </a:p>
        </p:txBody>
      </p:sp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9E9CB33-3ECA-4F1C-9830-53FB6AE18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3">
            <a:extLst>
              <a:ext uri="{FF2B5EF4-FFF2-40B4-BE49-F238E27FC236}">
                <a16:creationId xmlns:a16="http://schemas.microsoft.com/office/drawing/2014/main" id="{A91E414A-B9EA-BE4F-E81B-1A1C5ADA5B92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47756-D9C7-AEE5-76CC-079AA6C4C247}"/>
              </a:ext>
            </a:extLst>
          </p:cNvPr>
          <p:cNvSpPr txBox="1"/>
          <p:nvPr/>
        </p:nvSpPr>
        <p:spPr>
          <a:xfrm>
            <a:off x="533400" y="1577109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ahoma" pitchFamily="34" charset="0"/>
              </a:rPr>
              <a:t>Let’s add 12 to this heap:</a:t>
            </a:r>
          </a:p>
        </p:txBody>
      </p:sp>
      <p:grpSp>
        <p:nvGrpSpPr>
          <p:cNvPr id="3" name="Group 2" descr="Level order:&#10;15 | 11 10 | 7 8 9">
            <a:extLst>
              <a:ext uri="{FF2B5EF4-FFF2-40B4-BE49-F238E27FC236}">
                <a16:creationId xmlns:a16="http://schemas.microsoft.com/office/drawing/2014/main" id="{04AAF73E-9B6A-FFA2-9BCA-BC8D037A2F62}"/>
              </a:ext>
            </a:extLst>
          </p:cNvPr>
          <p:cNvGrpSpPr/>
          <p:nvPr/>
        </p:nvGrpSpPr>
        <p:grpSpPr>
          <a:xfrm>
            <a:off x="2514600" y="2387600"/>
            <a:ext cx="2667000" cy="2057400"/>
            <a:chOff x="2514600" y="2387600"/>
            <a:chExt cx="2667000" cy="2057400"/>
          </a:xfrm>
        </p:grpSpPr>
        <p:sp>
          <p:nvSpPr>
            <p:cNvPr id="15363" name="Oval 4">
              <a:extLst>
                <a:ext uri="{FF2B5EF4-FFF2-40B4-BE49-F238E27FC236}">
                  <a16:creationId xmlns:a16="http://schemas.microsoft.com/office/drawing/2014/main" id="{C666959C-B082-4041-8EF7-83DAFAB6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921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5364" name="Oval 5">
              <a:extLst>
                <a:ext uri="{FF2B5EF4-FFF2-40B4-BE49-F238E27FC236}">
                  <a16:creationId xmlns:a16="http://schemas.microsoft.com/office/drawing/2014/main" id="{1DCF00EF-6114-4903-90D2-28FD173F4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454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5365" name="Oval 6">
              <a:extLst>
                <a:ext uri="{FF2B5EF4-FFF2-40B4-BE49-F238E27FC236}">
                  <a16:creationId xmlns:a16="http://schemas.microsoft.com/office/drawing/2014/main" id="{C5DA303B-C82B-4347-BF89-F0BEC9978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987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5366" name="Oval 7">
              <a:extLst>
                <a:ext uri="{FF2B5EF4-FFF2-40B4-BE49-F238E27FC236}">
                  <a16:creationId xmlns:a16="http://schemas.microsoft.com/office/drawing/2014/main" id="{A154C241-AA57-4518-8693-F71A03313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987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5367" name="Oval 8">
              <a:extLst>
                <a:ext uri="{FF2B5EF4-FFF2-40B4-BE49-F238E27FC236}">
                  <a16:creationId xmlns:a16="http://schemas.microsoft.com/office/drawing/2014/main" id="{03A0F057-217A-4883-8B88-9D61AAF67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378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5368" name="Oval 9">
              <a:extLst>
                <a:ext uri="{FF2B5EF4-FFF2-40B4-BE49-F238E27FC236}">
                  <a16:creationId xmlns:a16="http://schemas.microsoft.com/office/drawing/2014/main" id="{4A51E9D9-32B0-4035-AF72-DE0F818A3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987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5369" name="Text Box 10">
              <a:extLst>
                <a:ext uri="{FF2B5EF4-FFF2-40B4-BE49-F238E27FC236}">
                  <a16:creationId xmlns:a16="http://schemas.microsoft.com/office/drawing/2014/main" id="{CE0D10A6-976C-4915-9D4E-737678FC5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387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15372" name="Text Box 15">
            <a:extLst>
              <a:ext uri="{FF2B5EF4-FFF2-40B4-BE49-F238E27FC236}">
                <a16:creationId xmlns:a16="http://schemas.microsoft.com/office/drawing/2014/main" id="{10B16E40-274A-46EC-8992-7FB8A6A83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02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2498" name="Group 34">
            <a:extLst>
              <a:ext uri="{FF2B5EF4-FFF2-40B4-BE49-F238E27FC236}">
                <a16:creationId xmlns:a16="http://schemas.microsoft.com/office/drawing/2014/main" id="{4EBDA24C-B63E-40A7-9C47-55F2DCCAA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647094"/>
              </p:ext>
            </p:extLst>
          </p:nvPr>
        </p:nvGraphicFramePr>
        <p:xfrm>
          <a:off x="914400" y="53594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27C47EF3-6BBD-4243-9AAC-70AA61E7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75294" y="6323106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3">
            <a:extLst>
              <a:ext uri="{FF2B5EF4-FFF2-40B4-BE49-F238E27FC236}">
                <a16:creationId xmlns:a16="http://schemas.microsoft.com/office/drawing/2014/main" id="{14CFB23F-151B-0E32-C39C-EC621A48DB64}"/>
              </a:ext>
            </a:extLst>
          </p:cNvPr>
          <p:cNvSpPr txBox="1"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add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47756-D9C7-AEE5-76CC-079AA6C4C247}"/>
              </a:ext>
            </a:extLst>
          </p:cNvPr>
          <p:cNvSpPr txBox="1"/>
          <p:nvPr/>
        </p:nvSpPr>
        <p:spPr>
          <a:xfrm>
            <a:off x="914400" y="14478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7030A0"/>
                </a:solidFill>
              </a:rPr>
              <a:t>a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Tahoma" pitchFamily="34" charset="0"/>
              </a:rPr>
              <a:t>dd(12) – Step 1: add 12 at the next spot</a:t>
            </a:r>
          </a:p>
        </p:txBody>
      </p:sp>
      <p:grpSp>
        <p:nvGrpSpPr>
          <p:cNvPr id="3" name="Group 2" descr="Level order:&#10;15 | 11 10 | 7 8 9 12">
            <a:extLst>
              <a:ext uri="{FF2B5EF4-FFF2-40B4-BE49-F238E27FC236}">
                <a16:creationId xmlns:a16="http://schemas.microsoft.com/office/drawing/2014/main" id="{8F87BB2E-482E-BC40-3764-8B5D72B71075}"/>
              </a:ext>
            </a:extLst>
          </p:cNvPr>
          <p:cNvGrpSpPr/>
          <p:nvPr/>
        </p:nvGrpSpPr>
        <p:grpSpPr>
          <a:xfrm>
            <a:off x="2514600" y="2260600"/>
            <a:ext cx="3124200" cy="2159000"/>
            <a:chOff x="2514600" y="2133600"/>
            <a:chExt cx="3124200" cy="2159000"/>
          </a:xfrm>
        </p:grpSpPr>
        <p:sp>
          <p:nvSpPr>
            <p:cNvPr id="15363" name="Oval 4">
              <a:extLst>
                <a:ext uri="{FF2B5EF4-FFF2-40B4-BE49-F238E27FC236}">
                  <a16:creationId xmlns:a16="http://schemas.microsoft.com/office/drawing/2014/main" id="{C666959C-B082-4041-8EF7-83DAFAB6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768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5364" name="Oval 5">
              <a:extLst>
                <a:ext uri="{FF2B5EF4-FFF2-40B4-BE49-F238E27FC236}">
                  <a16:creationId xmlns:a16="http://schemas.microsoft.com/office/drawing/2014/main" id="{1DCF00EF-6114-4903-90D2-28FD173F4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302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5365" name="Oval 6">
              <a:extLst>
                <a:ext uri="{FF2B5EF4-FFF2-40B4-BE49-F238E27FC236}">
                  <a16:creationId xmlns:a16="http://schemas.microsoft.com/office/drawing/2014/main" id="{C5DA303B-C82B-4347-BF89-F0BEC9978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835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5366" name="Oval 7">
              <a:extLst>
                <a:ext uri="{FF2B5EF4-FFF2-40B4-BE49-F238E27FC236}">
                  <a16:creationId xmlns:a16="http://schemas.microsoft.com/office/drawing/2014/main" id="{A154C241-AA57-4518-8693-F71A03313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835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5367" name="Oval 8">
              <a:extLst>
                <a:ext uri="{FF2B5EF4-FFF2-40B4-BE49-F238E27FC236}">
                  <a16:creationId xmlns:a16="http://schemas.microsoft.com/office/drawing/2014/main" id="{03A0F057-217A-4883-8B88-9D61AAF67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225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B050"/>
                  </a:solidFill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15368" name="Oval 9">
              <a:extLst>
                <a:ext uri="{FF2B5EF4-FFF2-40B4-BE49-F238E27FC236}">
                  <a16:creationId xmlns:a16="http://schemas.microsoft.com/office/drawing/2014/main" id="{4A51E9D9-32B0-4035-AF72-DE0F818A3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835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5369" name="Text Box 10">
              <a:extLst>
                <a:ext uri="{FF2B5EF4-FFF2-40B4-BE49-F238E27FC236}">
                  <a16:creationId xmlns:a16="http://schemas.microsoft.com/office/drawing/2014/main" id="{CE0D10A6-976C-4915-9D4E-737678FC5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133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root</a:t>
              </a:r>
            </a:p>
          </p:txBody>
        </p:sp>
        <p:sp>
          <p:nvSpPr>
            <p:cNvPr id="15370" name="Oval 11">
              <a:extLst>
                <a:ext uri="{FF2B5EF4-FFF2-40B4-BE49-F238E27FC236}">
                  <a16:creationId xmlns:a16="http://schemas.microsoft.com/office/drawing/2014/main" id="{AA614C30-783B-4D20-B831-22061704C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835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</p:grpSp>
      <p:sp>
        <p:nvSpPr>
          <p:cNvPr id="15372" name="Text Box 15">
            <a:extLst>
              <a:ext uri="{FF2B5EF4-FFF2-40B4-BE49-F238E27FC236}">
                <a16:creationId xmlns:a16="http://schemas.microsoft.com/office/drawing/2014/main" id="{10B16E40-274A-46EC-8992-7FB8A6A83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7498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2498" name="Group 34">
            <a:extLst>
              <a:ext uri="{FF2B5EF4-FFF2-40B4-BE49-F238E27FC236}">
                <a16:creationId xmlns:a16="http://schemas.microsoft.com/office/drawing/2014/main" id="{4EBDA24C-B63E-40A7-9C47-55F2DCCAAD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421890"/>
              </p:ext>
            </p:extLst>
          </p:nvPr>
        </p:nvGraphicFramePr>
        <p:xfrm>
          <a:off x="914400" y="52070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27C47EF3-6BBD-4243-9AAC-70AA61E7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62011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WordArt 14">
            <a:extLst>
              <a:ext uri="{FF2B5EF4-FFF2-40B4-BE49-F238E27FC236}">
                <a16:creationId xmlns:a16="http://schemas.microsoft.com/office/drawing/2014/main" id="{51DC4F83-F02D-494F-B1A5-135EC413E3E8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33FDD0-FDB1-BD04-7146-8AB88837E98F}"/>
              </a:ext>
            </a:extLst>
          </p:cNvPr>
          <p:cNvSpPr txBox="1"/>
          <p:nvPr/>
        </p:nvSpPr>
        <p:spPr>
          <a:xfrm>
            <a:off x="533400" y="1577109"/>
            <a:ext cx="754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99"/>
                </a:solidFill>
              </a:rPr>
              <a:t>add(12) – Step 2:  </a:t>
            </a:r>
            <a:r>
              <a:rPr lang="en-US" dirty="0" err="1">
                <a:solidFill>
                  <a:srgbClr val="000099"/>
                </a:solidFill>
              </a:rPr>
              <a:t>reheapify</a:t>
            </a:r>
            <a:r>
              <a:rPr lang="en-US" dirty="0">
                <a:solidFill>
                  <a:srgbClr val="000099"/>
                </a:solidFill>
              </a:rPr>
              <a:t> by swapping up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99"/>
              </a:solidFill>
              <a:effectLst/>
              <a:latin typeface="Tahoma" pitchFamily="34" charset="0"/>
            </a:endParaRPr>
          </a:p>
        </p:txBody>
      </p:sp>
      <p:grpSp>
        <p:nvGrpSpPr>
          <p:cNvPr id="3" name="Group 2" descr="Level order:&#10;15 | 11 12 | 7 8 9 10">
            <a:extLst>
              <a:ext uri="{FF2B5EF4-FFF2-40B4-BE49-F238E27FC236}">
                <a16:creationId xmlns:a16="http://schemas.microsoft.com/office/drawing/2014/main" id="{D5157444-B14C-FF7C-CFE5-364C3D6C5DEC}"/>
              </a:ext>
            </a:extLst>
          </p:cNvPr>
          <p:cNvGrpSpPr/>
          <p:nvPr/>
        </p:nvGrpSpPr>
        <p:grpSpPr>
          <a:xfrm>
            <a:off x="2514600" y="2362200"/>
            <a:ext cx="3124200" cy="2057400"/>
            <a:chOff x="2514600" y="2082800"/>
            <a:chExt cx="3124200" cy="2057400"/>
          </a:xfrm>
        </p:grpSpPr>
        <p:sp>
          <p:nvSpPr>
            <p:cNvPr id="16387" name="Oval 3">
              <a:extLst>
                <a:ext uri="{FF2B5EF4-FFF2-40B4-BE49-F238E27FC236}">
                  <a16:creationId xmlns:a16="http://schemas.microsoft.com/office/drawing/2014/main" id="{04B08345-9EE5-4552-B29E-8D045FD67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616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00B050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16388" name="Oval 4">
              <a:extLst>
                <a:ext uri="{FF2B5EF4-FFF2-40B4-BE49-F238E27FC236}">
                  <a16:creationId xmlns:a16="http://schemas.microsoft.com/office/drawing/2014/main" id="{EF026D5E-3566-4791-A94E-1C853573D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1496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16389" name="Oval 5">
              <a:extLst>
                <a:ext uri="{FF2B5EF4-FFF2-40B4-BE49-F238E27FC236}">
                  <a16:creationId xmlns:a16="http://schemas.microsoft.com/office/drawing/2014/main" id="{93EB0E0F-DC6F-4A8E-873E-924379C7B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683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16390" name="Oval 6">
              <a:extLst>
                <a:ext uri="{FF2B5EF4-FFF2-40B4-BE49-F238E27FC236}">
                  <a16:creationId xmlns:a16="http://schemas.microsoft.com/office/drawing/2014/main" id="{DF744C43-0428-460F-8F4E-3EBA301E6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683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16391" name="Oval 7">
              <a:extLst>
                <a:ext uri="{FF2B5EF4-FFF2-40B4-BE49-F238E27FC236}">
                  <a16:creationId xmlns:a16="http://schemas.microsoft.com/office/drawing/2014/main" id="{9DB1E140-87CD-4312-8639-1E0FE75BC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3073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7030A0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16392" name="Oval 8">
              <a:extLst>
                <a:ext uri="{FF2B5EF4-FFF2-40B4-BE49-F238E27FC236}">
                  <a16:creationId xmlns:a16="http://schemas.microsoft.com/office/drawing/2014/main" id="{EBB20D89-AB44-4377-B625-898CEE7FC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683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16393" name="Text Box 9">
              <a:extLst>
                <a:ext uri="{FF2B5EF4-FFF2-40B4-BE49-F238E27FC236}">
                  <a16:creationId xmlns:a16="http://schemas.microsoft.com/office/drawing/2014/main" id="{B6FCF144-9ADE-433D-99CF-A7BBBAE24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0828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  <p:sp>
          <p:nvSpPr>
            <p:cNvPr id="16394" name="Oval 10">
              <a:extLst>
                <a:ext uri="{FF2B5EF4-FFF2-40B4-BE49-F238E27FC236}">
                  <a16:creationId xmlns:a16="http://schemas.microsoft.com/office/drawing/2014/main" id="{53A83D33-82FD-4EB9-9579-76195BED7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683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10</a:t>
              </a:r>
            </a:p>
          </p:txBody>
        </p:sp>
      </p:grpSp>
      <p:sp>
        <p:nvSpPr>
          <p:cNvPr id="16396" name="Text Box 32">
            <a:extLst>
              <a:ext uri="{FF2B5EF4-FFF2-40B4-BE49-F238E27FC236}">
                <a16:creationId xmlns:a16="http://schemas.microsoft.com/office/drawing/2014/main" id="{6D56320F-0A8A-48EC-9239-0E2FDB07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5974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3521" name="Group 33">
            <a:extLst>
              <a:ext uri="{FF2B5EF4-FFF2-40B4-BE49-F238E27FC236}">
                <a16:creationId xmlns:a16="http://schemas.microsoft.com/office/drawing/2014/main" id="{0D709862-4132-464C-863D-D965FB59A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477161"/>
              </p:ext>
            </p:extLst>
          </p:nvPr>
        </p:nvGraphicFramePr>
        <p:xfrm>
          <a:off x="914400" y="50546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C7086906-D50D-44D1-8291-67E5AB9061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853762-519A-4C4F-A55A-9D27B07ED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90B3ED-5B96-43BE-9976-D786A3B040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0" y="685800"/>
            <a:ext cx="7239000" cy="64633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small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Swapping Elements in an Array:</a:t>
            </a:r>
            <a:endParaRPr kumimoji="0" lang="en-US" sz="36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96BF00-4D35-4AC6-A66C-1EBE55B8B7A3}"/>
              </a:ext>
            </a:extLst>
          </p:cNvPr>
          <p:cNvSpPr txBox="1"/>
          <p:nvPr/>
        </p:nvSpPr>
        <p:spPr>
          <a:xfrm>
            <a:off x="990600" y="1993880"/>
            <a:ext cx="7391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swap(int[] ray, int start, int stop)</a:t>
            </a:r>
            <a:b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</a:t>
            </a:r>
            <a:endParaRPr lang="en-US" sz="3600" dirty="0">
              <a:effectLst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int temp = ray[start];</a:t>
            </a:r>
            <a:endParaRPr lang="en-US" sz="3600" dirty="0">
              <a:effectLst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ray[start] = ray[stop];</a:t>
            </a:r>
            <a:endParaRPr lang="en-US" sz="3600" dirty="0">
              <a:effectLst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   ray[stop] = temp;</a:t>
            </a:r>
            <a:endParaRPr lang="en-US" sz="3600" dirty="0">
              <a:effectLst/>
            </a:endParaRPr>
          </a:p>
          <a:p>
            <a:r>
              <a:rPr lang="en-US" sz="3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02571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WordArt 40">
            <a:extLst>
              <a:ext uri="{FF2B5EF4-FFF2-40B4-BE49-F238E27FC236}">
                <a16:creationId xmlns:a16="http://schemas.microsoft.com/office/drawing/2014/main" id="{3FB77FDE-95A7-4EFF-9EF2-8E601B1A1894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A94F099D-DFAC-44F2-8937-27A3DB8BB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7772400" cy="311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swapUp starts access at the bottom of tree</a:t>
            </a:r>
            <a:endParaRPr lang="en-US" altLang="en-US" sz="18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swapUp checks to see that the bottom index has not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gone past the root of tree.   The root is at index position 0.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Next, locate bottom’s parent = (bot–1) / 2.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Check if bottom is larger than its parent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If it is  </a:t>
            </a:r>
            <a:r>
              <a:rPr lang="en-US" altLang="en-US" sz="1800"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1800">
                <a:latin typeface="Tahoma" panose="020B0604030504040204" pitchFamily="34" charset="0"/>
              </a:rPr>
              <a:t>     swap bottom and parent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Finally, set bottom to parent and start the process over.</a:t>
            </a:r>
          </a:p>
        </p:txBody>
      </p:sp>
      <p:sp>
        <p:nvSpPr>
          <p:cNvPr id="18437" name="Text Box 42">
            <a:extLst>
              <a:ext uri="{FF2B5EF4-FFF2-40B4-BE49-F238E27FC236}">
                <a16:creationId xmlns:a16="http://schemas.microsoft.com/office/drawing/2014/main" id="{42F1A3A0-5B85-4CC7-AFC2-C66FEF6BA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81600"/>
            <a:ext cx="7620000" cy="101566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000" dirty="0">
                <a:solidFill>
                  <a:schemeClr val="accent2"/>
                </a:solidFill>
                <a:latin typeface="Tahoma" panose="020B0604030504040204" pitchFamily="34" charset="0"/>
              </a:rPr>
              <a:t>This method can be written recursively but should be written iteratively since the recursive version isn’t more elegant.</a:t>
            </a:r>
          </a:p>
        </p:txBody>
      </p:sp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7E062428-28CB-4A5B-9389-D1CC16CA4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WordArt 14">
            <a:extLst>
              <a:ext uri="{FF2B5EF4-FFF2-40B4-BE49-F238E27FC236}">
                <a16:creationId xmlns:a16="http://schemas.microsoft.com/office/drawing/2014/main" id="{1977562D-6DE4-4D5B-8F73-353F51587BE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7411" name="Text Box 11">
            <a:extLst>
              <a:ext uri="{FF2B5EF4-FFF2-40B4-BE49-F238E27FC236}">
                <a16:creationId xmlns:a16="http://schemas.microsoft.com/office/drawing/2014/main" id="{2306292D-E868-4EC1-A1BD-4FC3043E3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998577"/>
            <a:ext cx="670560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bot = length-1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while( bot&gt;0 )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    int parent = (bot-1)/2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if list[</a:t>
            </a: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parent</a:t>
            </a:r>
            <a:r>
              <a:rPr lang="en-US" altLang="en-US" sz="2800" dirty="0">
                <a:latin typeface="Tahoma" panose="020B0604030504040204" pitchFamily="34" charset="0"/>
              </a:rPr>
              <a:t>] &lt; list[bot]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  swap list[</a:t>
            </a: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parent</a:t>
            </a:r>
            <a:r>
              <a:rPr lang="en-US" altLang="en-US" sz="2800" dirty="0">
                <a:latin typeface="Tahoma" panose="020B0604030504040204" pitchFamily="34" charset="0"/>
              </a:rPr>
              <a:t>] and list[bot]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  bot = </a:t>
            </a: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parent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else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   stop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This version breaks to end the loop.</a:t>
            </a: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FEC12786-53A5-450F-B27E-EDA83FD2C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86500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WordArt 14">
            <a:extLst>
              <a:ext uri="{FF2B5EF4-FFF2-40B4-BE49-F238E27FC236}">
                <a16:creationId xmlns:a16="http://schemas.microsoft.com/office/drawing/2014/main" id="{1977562D-6DE4-4D5B-8F73-353F51587BE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7411" name="Text Box 11">
            <a:extLst>
              <a:ext uri="{FF2B5EF4-FFF2-40B4-BE49-F238E27FC236}">
                <a16:creationId xmlns:a16="http://schemas.microsoft.com/office/drawing/2014/main" id="{2306292D-E868-4EC1-A1BD-4FC3043E3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68708"/>
            <a:ext cx="79248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bot = length-1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int parent = (bot-1)/2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while(bot&gt;0 and list[</a:t>
            </a: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parent</a:t>
            </a:r>
            <a:r>
              <a:rPr lang="en-US" altLang="en-US" sz="2800" dirty="0">
                <a:latin typeface="Tahoma" panose="020B0604030504040204" pitchFamily="34" charset="0"/>
              </a:rPr>
              <a:t>] &lt; list[bot])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swap list[</a:t>
            </a: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parent</a:t>
            </a:r>
            <a:r>
              <a:rPr lang="en-US" altLang="en-US" sz="2800" dirty="0">
                <a:latin typeface="Tahoma" panose="020B0604030504040204" pitchFamily="34" charset="0"/>
              </a:rPr>
              <a:t>] and list[bot]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bot = </a:t>
            </a: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parent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    parent = (bot-1)/2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This version has both stopping conditions in the loop condition, which I prefer.</a:t>
            </a: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FEC12786-53A5-450F-B27E-EDA83FD2C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21802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WordArt 14">
            <a:extLst>
              <a:ext uri="{FF2B5EF4-FFF2-40B4-BE49-F238E27FC236}">
                <a16:creationId xmlns:a16="http://schemas.microsoft.com/office/drawing/2014/main" id="{1977562D-6DE4-4D5B-8F73-353F51587BE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7411" name="Text Box 11">
            <a:extLst>
              <a:ext uri="{FF2B5EF4-FFF2-40B4-BE49-F238E27FC236}">
                <a16:creationId xmlns:a16="http://schemas.microsoft.com/office/drawing/2014/main" id="{2306292D-E868-4EC1-A1BD-4FC3043E3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63682"/>
            <a:ext cx="8534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bot = length-1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while(bot&gt;0 and list[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parent(bot)</a:t>
            </a:r>
            <a:r>
              <a:rPr lang="en-US" altLang="en-US" sz="2800" dirty="0">
                <a:latin typeface="Tahoma" panose="020B0604030504040204" pitchFamily="34" charset="0"/>
              </a:rPr>
              <a:t>] &lt; list[bot])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swap list[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parent(bot)</a:t>
            </a:r>
            <a:r>
              <a:rPr lang="en-US" altLang="en-US" sz="2800" dirty="0">
                <a:latin typeface="Tahoma" panose="020B0604030504040204" pitchFamily="34" charset="0"/>
              </a:rPr>
              <a:t>] and list[bot]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bot =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parent(bot)</a:t>
            </a:r>
            <a:r>
              <a:rPr lang="en-US" altLang="en-US" sz="2800" dirty="0">
                <a:latin typeface="Tahoma" panose="020B0604030504040204" pitchFamily="34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AE772-106E-F3DE-473B-5BFE50A4ACD6}"/>
              </a:ext>
            </a:extLst>
          </p:cNvPr>
          <p:cNvSpPr txBox="1"/>
          <p:nvPr/>
        </p:nvSpPr>
        <p:spPr>
          <a:xfrm>
            <a:off x="1524000" y="3886200"/>
            <a:ext cx="6858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private int parent(int pos) { 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     return (pos - 1) / 2; </a:t>
            </a:r>
            <a:br>
              <a:rPr lang="en-US" sz="28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800" dirty="0">
                <a:solidFill>
                  <a:schemeClr val="accent6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23117-FCFF-3A1E-D0B7-9718B9051F50}"/>
              </a:ext>
            </a:extLst>
          </p:cNvPr>
          <p:cNvSpPr txBox="1"/>
          <p:nvPr/>
        </p:nvSpPr>
        <p:spPr>
          <a:xfrm>
            <a:off x="381000" y="5446693"/>
            <a:ext cx="8458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This version uses a helper function to calculate the parent’s location.</a:t>
            </a:r>
            <a:endParaRPr lang="en-US" altLang="en-US" sz="2800" dirty="0">
              <a:latin typeface="Tahoma" panose="020B0604030504040204" pitchFamily="34" charset="0"/>
            </a:endParaRP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FEC12786-53A5-450F-B27E-EDA83FD2C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19825" y="63246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027151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WordArt 14">
            <a:extLst>
              <a:ext uri="{FF2B5EF4-FFF2-40B4-BE49-F238E27FC236}">
                <a16:creationId xmlns:a16="http://schemas.microsoft.com/office/drawing/2014/main" id="{1977562D-6DE4-4D5B-8F73-353F51587BE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swapUp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17411" name="Text Box 11">
            <a:extLst>
              <a:ext uri="{FF2B5EF4-FFF2-40B4-BE49-F238E27FC236}">
                <a16:creationId xmlns:a16="http://schemas.microsoft.com/office/drawing/2014/main" id="{2306292D-E868-4EC1-A1BD-4FC3043E3A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229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int bot = length-1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while(bot&gt;0 and list[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(bot-1)/2</a:t>
            </a:r>
            <a:r>
              <a:rPr lang="en-US" altLang="en-US" sz="2800" dirty="0">
                <a:latin typeface="Tahoma" panose="020B0604030504040204" pitchFamily="34" charset="0"/>
              </a:rPr>
              <a:t>] &lt; list[bot])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swap list[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(bot-1)/2</a:t>
            </a:r>
            <a:r>
              <a:rPr lang="en-US" altLang="en-US" sz="2800" dirty="0">
                <a:latin typeface="Tahoma" panose="020B0604030504040204" pitchFamily="34" charset="0"/>
              </a:rPr>
              <a:t>] and list[bot]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   bot = </a:t>
            </a:r>
            <a:r>
              <a:rPr lang="en-US" altLang="en-US" sz="2800" dirty="0">
                <a:solidFill>
                  <a:schemeClr val="accent6">
                    <a:lumMod val="75000"/>
                  </a:schemeClr>
                </a:solidFill>
                <a:latin typeface="Tahoma" panose="020B0604030504040204" pitchFamily="34" charset="0"/>
              </a:rPr>
              <a:t>(bot-1)/2</a:t>
            </a:r>
            <a:r>
              <a:rPr lang="en-US" altLang="en-US" sz="2800" dirty="0">
                <a:latin typeface="Tahoma" panose="020B0604030504040204" pitchFamily="34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99"/>
                </a:solidFill>
                <a:latin typeface="Tahoma" panose="020B0604030504040204" pitchFamily="34" charset="0"/>
              </a:rPr>
              <a:t>This version embeds the formula everywhere, which isn’t ideal.</a:t>
            </a: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FEC12786-53A5-450F-B27E-EDA83FD2C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85655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WordArt 2">
            <a:extLst>
              <a:ext uri="{FF2B5EF4-FFF2-40B4-BE49-F238E27FC236}">
                <a16:creationId xmlns:a16="http://schemas.microsoft.com/office/drawing/2014/main" id="{A0949C4E-995F-42BF-9697-201C4AAD96FB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447800" y="457200"/>
            <a:ext cx="53340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remove max</a:t>
            </a:r>
          </a:p>
        </p:txBody>
      </p:sp>
      <p:sp>
        <p:nvSpPr>
          <p:cNvPr id="19460" name="Text Box 3">
            <a:extLst>
              <a:ext uri="{FF2B5EF4-FFF2-40B4-BE49-F238E27FC236}">
                <a16:creationId xmlns:a16="http://schemas.microsoft.com/office/drawing/2014/main" id="{7F112E06-8875-443B-97E0-CD56DA6C5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81200"/>
            <a:ext cx="8001000" cy="447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When you remove from a Heap, you are taking off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the largest value or value with the highest priority.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You just take the top value off and save it.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2400">
                <a:latin typeface="Tahoma" panose="020B0604030504040204" pitchFamily="34" charset="0"/>
              </a:rPr>
            </a:br>
            <a:r>
              <a:rPr lang="en-US" altLang="en-US" sz="2400">
                <a:latin typeface="Tahoma" panose="020B0604030504040204" pitchFamily="34" charset="0"/>
              </a:rPr>
              <a:t>Next, you move the last item in the tree to the root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and move the new root down the tree as far as it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can go.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remove will use swapDown to restructure the tree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so it remains a heap.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22828E46-2891-4AB0-9207-5EFD201E3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WordArt 14">
            <a:extLst>
              <a:ext uri="{FF2B5EF4-FFF2-40B4-BE49-F238E27FC236}">
                <a16:creationId xmlns:a16="http://schemas.microsoft.com/office/drawing/2014/main" id="{9EE04C0C-D36F-46E4-8DC1-AC12AF27DF79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Remove 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BD0A9-89FC-3073-60C0-3D0A2DA45826}"/>
              </a:ext>
            </a:extLst>
          </p:cNvPr>
          <p:cNvSpPr txBox="1"/>
          <p:nvPr/>
        </p:nvSpPr>
        <p:spPr>
          <a:xfrm>
            <a:off x="533400" y="1577109"/>
            <a:ext cx="7848600" cy="1037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99"/>
                </a:solidFill>
              </a:rPr>
              <a:t>remove() – Step 1:  save the root to return later</a:t>
            </a: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lang="en-US" dirty="0">
                <a:solidFill>
                  <a:srgbClr val="000099"/>
                </a:solidFill>
              </a:rPr>
              <a:t>int value = heap[0];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99"/>
              </a:solidFill>
              <a:effectLst/>
              <a:latin typeface="Tahoma" pitchFamily="34" charset="0"/>
            </a:endParaRPr>
          </a:p>
        </p:txBody>
      </p:sp>
      <p:grpSp>
        <p:nvGrpSpPr>
          <p:cNvPr id="2" name="Group 1" descr="A max heap&#10;Level order:&#10;15 | 11 12 | 7 8 9 10">
            <a:extLst>
              <a:ext uri="{FF2B5EF4-FFF2-40B4-BE49-F238E27FC236}">
                <a16:creationId xmlns:a16="http://schemas.microsoft.com/office/drawing/2014/main" id="{09F2FE94-D552-4D99-9A13-0C27D2F7757C}"/>
              </a:ext>
            </a:extLst>
          </p:cNvPr>
          <p:cNvGrpSpPr/>
          <p:nvPr/>
        </p:nvGrpSpPr>
        <p:grpSpPr>
          <a:xfrm>
            <a:off x="2514600" y="2458328"/>
            <a:ext cx="3124200" cy="2057400"/>
            <a:chOff x="2514600" y="1752600"/>
            <a:chExt cx="3124200" cy="2057400"/>
          </a:xfrm>
        </p:grpSpPr>
        <p:sp>
          <p:nvSpPr>
            <p:cNvPr id="14339" name="Oval 3">
              <a:extLst>
                <a:ext uri="{FF2B5EF4-FFF2-40B4-BE49-F238E27FC236}">
                  <a16:creationId xmlns:a16="http://schemas.microsoft.com/office/drawing/2014/main" id="{445FDC42-9204-4B86-84A3-1BEF411A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286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Tahoma" panose="020B0604030504040204" pitchFamily="34" charset="0"/>
                </a:rPr>
                <a:t>15</a:t>
              </a:r>
            </a:p>
          </p:txBody>
        </p:sp>
        <p:sp>
          <p:nvSpPr>
            <p:cNvPr id="20484" name="Oval 4">
              <a:extLst>
                <a:ext uri="{FF2B5EF4-FFF2-40B4-BE49-F238E27FC236}">
                  <a16:creationId xmlns:a16="http://schemas.microsoft.com/office/drawing/2014/main" id="{1D0136D5-1C5C-4EBB-8D3A-A3FB92F7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19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20485" name="Oval 5">
              <a:extLst>
                <a:ext uri="{FF2B5EF4-FFF2-40B4-BE49-F238E27FC236}">
                  <a16:creationId xmlns:a16="http://schemas.microsoft.com/office/drawing/2014/main" id="{26BF09F4-7208-42C6-A033-894C5EE9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0486" name="Oval 6">
              <a:extLst>
                <a:ext uri="{FF2B5EF4-FFF2-40B4-BE49-F238E27FC236}">
                  <a16:creationId xmlns:a16="http://schemas.microsoft.com/office/drawing/2014/main" id="{F762E51D-133F-42DB-BAB0-7E29C9E9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20487" name="Oval 7">
              <a:extLst>
                <a:ext uri="{FF2B5EF4-FFF2-40B4-BE49-F238E27FC236}">
                  <a16:creationId xmlns:a16="http://schemas.microsoft.com/office/drawing/2014/main" id="{F82FE0BC-7C3F-4AAE-9DEC-D09E9D1A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743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0488" name="Oval 8">
              <a:extLst>
                <a:ext uri="{FF2B5EF4-FFF2-40B4-BE49-F238E27FC236}">
                  <a16:creationId xmlns:a16="http://schemas.microsoft.com/office/drawing/2014/main" id="{85A29DCB-F00F-4FB0-86BE-1473D98D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0489" name="Text Box 9">
              <a:extLst>
                <a:ext uri="{FF2B5EF4-FFF2-40B4-BE49-F238E27FC236}">
                  <a16:creationId xmlns:a16="http://schemas.microsoft.com/office/drawing/2014/main" id="{59BC939E-5C28-44F9-B50A-54A248061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1752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  <p:sp>
          <p:nvSpPr>
            <p:cNvPr id="14346" name="Oval 10">
              <a:extLst>
                <a:ext uri="{FF2B5EF4-FFF2-40B4-BE49-F238E27FC236}">
                  <a16:creationId xmlns:a16="http://schemas.microsoft.com/office/drawing/2014/main" id="{4730851D-44B5-45C5-89C2-52F14EBC2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10</a:t>
              </a:r>
            </a:p>
          </p:txBody>
        </p:sp>
      </p:grpSp>
      <p:sp>
        <p:nvSpPr>
          <p:cNvPr id="20492" name="Text Box 32">
            <a:extLst>
              <a:ext uri="{FF2B5EF4-FFF2-40B4-BE49-F238E27FC236}">
                <a16:creationId xmlns:a16="http://schemas.microsoft.com/office/drawing/2014/main" id="{2ED1F31D-1339-4203-BE8F-0EB6D60A7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02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3521" name="Group 33">
            <a:extLst>
              <a:ext uri="{FF2B5EF4-FFF2-40B4-BE49-F238E27FC236}">
                <a16:creationId xmlns:a16="http://schemas.microsoft.com/office/drawing/2014/main" id="{9C0082FD-8C2B-4870-AE8E-ACDC23FB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439365"/>
              </p:ext>
            </p:extLst>
          </p:nvPr>
        </p:nvGraphicFramePr>
        <p:xfrm>
          <a:off x="914400" y="53594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A0C23FF2-D673-4048-AEA6-5A39D10D3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WordArt 14">
            <a:extLst>
              <a:ext uri="{FF2B5EF4-FFF2-40B4-BE49-F238E27FC236}">
                <a16:creationId xmlns:a16="http://schemas.microsoft.com/office/drawing/2014/main" id="{9EE04C0C-D36F-46E4-8DC1-AC12AF27DF79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Remove 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BD0A9-89FC-3073-60C0-3D0A2DA45826}"/>
              </a:ext>
            </a:extLst>
          </p:cNvPr>
          <p:cNvSpPr txBox="1"/>
          <p:nvPr/>
        </p:nvSpPr>
        <p:spPr>
          <a:xfrm>
            <a:off x="304800" y="1588357"/>
            <a:ext cx="7848600" cy="157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99"/>
                </a:solidFill>
              </a:rPr>
              <a:t>remove() – Step 2:  move last value to root</a:t>
            </a: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lang="en-US" dirty="0">
                <a:solidFill>
                  <a:srgbClr val="000099"/>
                </a:solidFill>
              </a:rPr>
              <a:t>heap[0] = heap[len-1];</a:t>
            </a:r>
          </a:p>
          <a:p>
            <a:pPr algn="r">
              <a:lnSpc>
                <a:spcPct val="125000"/>
              </a:lnSpc>
              <a:spcBef>
                <a:spcPct val="20000"/>
              </a:spcBef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Tahoma" pitchFamily="34" charset="0"/>
              </a:rPr>
              <a:t>heap[len-1] = null;</a:t>
            </a:r>
          </a:p>
        </p:txBody>
      </p:sp>
      <p:grpSp>
        <p:nvGrpSpPr>
          <p:cNvPr id="2" name="Group 1" descr="A max heap&#10;Level order:&#10;10 | 11 12 | 7 8 9">
            <a:extLst>
              <a:ext uri="{FF2B5EF4-FFF2-40B4-BE49-F238E27FC236}">
                <a16:creationId xmlns:a16="http://schemas.microsoft.com/office/drawing/2014/main" id="{09F2FE94-D552-4D99-9A13-0C27D2F7757C}"/>
              </a:ext>
            </a:extLst>
          </p:cNvPr>
          <p:cNvGrpSpPr/>
          <p:nvPr/>
        </p:nvGrpSpPr>
        <p:grpSpPr>
          <a:xfrm>
            <a:off x="1752600" y="2540000"/>
            <a:ext cx="2667000" cy="2057400"/>
            <a:chOff x="2514600" y="1752600"/>
            <a:chExt cx="2667000" cy="2057400"/>
          </a:xfrm>
        </p:grpSpPr>
        <p:sp>
          <p:nvSpPr>
            <p:cNvPr id="14339" name="Oval 3">
              <a:extLst>
                <a:ext uri="{FF2B5EF4-FFF2-40B4-BE49-F238E27FC236}">
                  <a16:creationId xmlns:a16="http://schemas.microsoft.com/office/drawing/2014/main" id="{445FDC42-9204-4B86-84A3-1BEF411A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286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10</a:t>
              </a:r>
              <a:endParaRPr lang="en-US" altLang="en-US" sz="2400" dirty="0">
                <a:solidFill>
                  <a:srgbClr val="000099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484" name="Oval 4">
              <a:extLst>
                <a:ext uri="{FF2B5EF4-FFF2-40B4-BE49-F238E27FC236}">
                  <a16:creationId xmlns:a16="http://schemas.microsoft.com/office/drawing/2014/main" id="{1D0136D5-1C5C-4EBB-8D3A-A3FB92F7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19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20485" name="Oval 5">
              <a:extLst>
                <a:ext uri="{FF2B5EF4-FFF2-40B4-BE49-F238E27FC236}">
                  <a16:creationId xmlns:a16="http://schemas.microsoft.com/office/drawing/2014/main" id="{26BF09F4-7208-42C6-A033-894C5EE9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0486" name="Oval 6">
              <a:extLst>
                <a:ext uri="{FF2B5EF4-FFF2-40B4-BE49-F238E27FC236}">
                  <a16:creationId xmlns:a16="http://schemas.microsoft.com/office/drawing/2014/main" id="{F762E51D-133F-42DB-BAB0-7E29C9E9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20487" name="Oval 7">
              <a:extLst>
                <a:ext uri="{FF2B5EF4-FFF2-40B4-BE49-F238E27FC236}">
                  <a16:creationId xmlns:a16="http://schemas.microsoft.com/office/drawing/2014/main" id="{F82FE0BC-7C3F-4AAE-9DEC-D09E9D1A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743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0488" name="Oval 8">
              <a:extLst>
                <a:ext uri="{FF2B5EF4-FFF2-40B4-BE49-F238E27FC236}">
                  <a16:creationId xmlns:a16="http://schemas.microsoft.com/office/drawing/2014/main" id="{85A29DCB-F00F-4FB0-86BE-1473D98D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0489" name="Text Box 9">
              <a:extLst>
                <a:ext uri="{FF2B5EF4-FFF2-40B4-BE49-F238E27FC236}">
                  <a16:creationId xmlns:a16="http://schemas.microsoft.com/office/drawing/2014/main" id="{59BC939E-5C28-44F9-B50A-54A248061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1752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20492" name="Text Box 32">
            <a:extLst>
              <a:ext uri="{FF2B5EF4-FFF2-40B4-BE49-F238E27FC236}">
                <a16:creationId xmlns:a16="http://schemas.microsoft.com/office/drawing/2014/main" id="{2ED1F31D-1339-4203-BE8F-0EB6D60A7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02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3521" name="Group 33">
            <a:extLst>
              <a:ext uri="{FF2B5EF4-FFF2-40B4-BE49-F238E27FC236}">
                <a16:creationId xmlns:a16="http://schemas.microsoft.com/office/drawing/2014/main" id="{9C0082FD-8C2B-4870-AE8E-ACDC23FB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20766"/>
              </p:ext>
            </p:extLst>
          </p:nvPr>
        </p:nvGraphicFramePr>
        <p:xfrm>
          <a:off x="914400" y="53594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A0C23FF2-D673-4048-AEA6-5A39D10D3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22339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1" name="WordArt 14">
            <a:extLst>
              <a:ext uri="{FF2B5EF4-FFF2-40B4-BE49-F238E27FC236}">
                <a16:creationId xmlns:a16="http://schemas.microsoft.com/office/drawing/2014/main" id="{9EE04C0C-D36F-46E4-8DC1-AC12AF27DF79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981200" y="457200"/>
            <a:ext cx="4876800" cy="609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Remove Max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BD0A9-89FC-3073-60C0-3D0A2DA45826}"/>
              </a:ext>
            </a:extLst>
          </p:cNvPr>
          <p:cNvSpPr txBox="1"/>
          <p:nvPr/>
        </p:nvSpPr>
        <p:spPr>
          <a:xfrm>
            <a:off x="304800" y="1588357"/>
            <a:ext cx="7848600" cy="50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000099"/>
                </a:solidFill>
              </a:rPr>
              <a:t>remove() – Step 3:  </a:t>
            </a:r>
            <a:r>
              <a:rPr lang="en-US" dirty="0" err="1">
                <a:solidFill>
                  <a:srgbClr val="000099"/>
                </a:solidFill>
              </a:rPr>
              <a:t>reheapify</a:t>
            </a:r>
            <a:r>
              <a:rPr lang="en-US" dirty="0">
                <a:solidFill>
                  <a:srgbClr val="000099"/>
                </a:solidFill>
              </a:rPr>
              <a:t> by swapping down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000099"/>
              </a:solidFill>
              <a:effectLst/>
              <a:latin typeface="Tahoma" pitchFamily="34" charset="0"/>
            </a:endParaRPr>
          </a:p>
        </p:txBody>
      </p:sp>
      <p:grpSp>
        <p:nvGrpSpPr>
          <p:cNvPr id="2" name="Group 1" descr="A max heap&#10;Level order:&#10;12 | 11 10 | 7 8 9">
            <a:extLst>
              <a:ext uri="{FF2B5EF4-FFF2-40B4-BE49-F238E27FC236}">
                <a16:creationId xmlns:a16="http://schemas.microsoft.com/office/drawing/2014/main" id="{09F2FE94-D552-4D99-9A13-0C27D2F7757C}"/>
              </a:ext>
            </a:extLst>
          </p:cNvPr>
          <p:cNvGrpSpPr/>
          <p:nvPr/>
        </p:nvGrpSpPr>
        <p:grpSpPr>
          <a:xfrm>
            <a:off x="2438400" y="2540000"/>
            <a:ext cx="2667000" cy="2057400"/>
            <a:chOff x="2514600" y="1752600"/>
            <a:chExt cx="2667000" cy="2057400"/>
          </a:xfrm>
        </p:grpSpPr>
        <p:sp>
          <p:nvSpPr>
            <p:cNvPr id="14339" name="Oval 3">
              <a:extLst>
                <a:ext uri="{FF2B5EF4-FFF2-40B4-BE49-F238E27FC236}">
                  <a16:creationId xmlns:a16="http://schemas.microsoft.com/office/drawing/2014/main" id="{445FDC42-9204-4B86-84A3-1BEF411A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22860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solidFill>
                    <a:srgbClr val="000099"/>
                  </a:solidFill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20484" name="Oval 4">
              <a:extLst>
                <a:ext uri="{FF2B5EF4-FFF2-40B4-BE49-F238E27FC236}">
                  <a16:creationId xmlns:a16="http://schemas.microsoft.com/office/drawing/2014/main" id="{1D0136D5-1C5C-4EBB-8D3A-A3FB92F73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194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20485" name="Oval 5">
              <a:extLst>
                <a:ext uri="{FF2B5EF4-FFF2-40B4-BE49-F238E27FC236}">
                  <a16:creationId xmlns:a16="http://schemas.microsoft.com/office/drawing/2014/main" id="{26BF09F4-7208-42C6-A033-894C5EE96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20486" name="Oval 6">
              <a:extLst>
                <a:ext uri="{FF2B5EF4-FFF2-40B4-BE49-F238E27FC236}">
                  <a16:creationId xmlns:a16="http://schemas.microsoft.com/office/drawing/2014/main" id="{F762E51D-133F-42DB-BAB0-7E29C9E96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20487" name="Oval 7">
              <a:extLst>
                <a:ext uri="{FF2B5EF4-FFF2-40B4-BE49-F238E27FC236}">
                  <a16:creationId xmlns:a16="http://schemas.microsoft.com/office/drawing/2014/main" id="{F82FE0BC-7C3F-4AAE-9DEC-D09E9D1A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27432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 dirty="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20488" name="Oval 8">
              <a:extLst>
                <a:ext uri="{FF2B5EF4-FFF2-40B4-BE49-F238E27FC236}">
                  <a16:creationId xmlns:a16="http://schemas.microsoft.com/office/drawing/2014/main" id="{85A29DCB-F00F-4FB0-86BE-1473D98D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352800"/>
              <a:ext cx="533400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20489" name="Text Box 9">
              <a:extLst>
                <a:ext uri="{FF2B5EF4-FFF2-40B4-BE49-F238E27FC236}">
                  <a16:creationId xmlns:a16="http://schemas.microsoft.com/office/drawing/2014/main" id="{59BC939E-5C28-44F9-B50A-54A248061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17526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root</a:t>
              </a:r>
            </a:p>
          </p:txBody>
        </p:sp>
      </p:grpSp>
      <p:sp>
        <p:nvSpPr>
          <p:cNvPr id="20492" name="Text Box 32">
            <a:extLst>
              <a:ext uri="{FF2B5EF4-FFF2-40B4-BE49-F238E27FC236}">
                <a16:creationId xmlns:a16="http://schemas.microsoft.com/office/drawing/2014/main" id="{2ED1F31D-1339-4203-BE8F-0EB6D60A7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9022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Tahoma" panose="020B0604030504040204" pitchFamily="34" charset="0"/>
              </a:rPr>
              <a:t>root</a:t>
            </a:r>
          </a:p>
        </p:txBody>
      </p:sp>
      <p:graphicFrame>
        <p:nvGraphicFramePr>
          <p:cNvPr id="63521" name="Group 33">
            <a:extLst>
              <a:ext uri="{FF2B5EF4-FFF2-40B4-BE49-F238E27FC236}">
                <a16:creationId xmlns:a16="http://schemas.microsoft.com/office/drawing/2014/main" id="{9C0082FD-8C2B-4870-AE8E-ACDC23FB6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042545"/>
              </p:ext>
            </p:extLst>
          </p:nvPr>
        </p:nvGraphicFramePr>
        <p:xfrm>
          <a:off x="914400" y="5359400"/>
          <a:ext cx="7023100" cy="584200"/>
        </p:xfrm>
        <a:graphic>
          <a:graphicData uri="http://schemas.openxmlformats.org/drawingml/2006/table">
            <a:tbl>
              <a:tblPr/>
              <a:tblGrid>
                <a:gridCol w="100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A0C23FF2-D673-4048-AEA6-5A39D10D3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24859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WordArt 11">
            <a:extLst>
              <a:ext uri="{FF2B5EF4-FFF2-40B4-BE49-F238E27FC236}">
                <a16:creationId xmlns:a16="http://schemas.microsoft.com/office/drawing/2014/main" id="{977A7560-D10B-40CF-8AFE-C969D2E58E1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447800" y="457200"/>
            <a:ext cx="53340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swapDown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4899B1CA-D5B1-4692-B70D-1F5B3AF70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7800"/>
            <a:ext cx="6943725" cy="366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swapDown starts access at the root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swapDown first generates the index values of the root’s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children.         </a:t>
            </a:r>
            <a:r>
              <a:rPr lang="en-US" altLang="en-US" sz="1800">
                <a:solidFill>
                  <a:srgbClr val="FF3300"/>
                </a:solidFill>
                <a:latin typeface="Tahoma" panose="020B0604030504040204" pitchFamily="34" charset="0"/>
              </a:rPr>
              <a:t>root * 2 + 1        root * 2 + 2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FF33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Make sure root is less than bottom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Find the largest child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Determine if largest child is larger than root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    If it is  </a:t>
            </a:r>
            <a:r>
              <a:rPr lang="en-US" altLang="en-US" sz="1800"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1800">
                <a:latin typeface="Tahoma" panose="020B0604030504040204" pitchFamily="34" charset="0"/>
              </a:rPr>
              <a:t>     swap largest child and root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Root is set to the index of the largest child and the process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starts over again.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22533" name="Text Box 12">
            <a:extLst>
              <a:ext uri="{FF2B5EF4-FFF2-40B4-BE49-F238E27FC236}">
                <a16:creationId xmlns:a16="http://schemas.microsoft.com/office/drawing/2014/main" id="{E14701DC-2DA2-4E7D-9D5A-202B755CE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86400"/>
            <a:ext cx="7620000" cy="4064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  <a:latin typeface="Tahoma" panose="020B0604030504040204" pitchFamily="34" charset="0"/>
              </a:rPr>
              <a:t>This method can be written iteratively or recursively.</a:t>
            </a:r>
          </a:p>
        </p:txBody>
      </p:sp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7CAD0032-120B-42B9-BE7A-7A628EAD0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WordArt 8">
            <a:extLst>
              <a:ext uri="{FF2B5EF4-FFF2-40B4-BE49-F238E27FC236}">
                <a16:creationId xmlns:a16="http://schemas.microsoft.com/office/drawing/2014/main" id="{BF0095C2-DD32-4CFC-AF8D-8875C1D3A6DA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447800" y="457200"/>
            <a:ext cx="5334000" cy="8382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 err="1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swapDown</a:t>
            </a:r>
            <a:endParaRPr kumimoji="0" lang="en-US" sz="3600" b="1" i="0" u="none" strike="noStrike" kern="10" cap="none" spc="0" normalizeH="0" baseline="0" noProof="0" dirty="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uLnTx/>
              <a:uFillTx/>
              <a:latin typeface="Impact" panose="020B0806030902050204" pitchFamily="34" charset="0"/>
              <a:ea typeface="+mn-ea"/>
              <a:cs typeface="+mn-cs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6F7AF38A-3533-4DFD-92FA-FEEF8F258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447800"/>
            <a:ext cx="70104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int root=0;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while(root&lt;list.size())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define max and left and right indexes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if left child exists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if right child exists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     find max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else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     max is left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else   stop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if max &gt; root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	swap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        root = max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ahoma" panose="020B0604030504040204" pitchFamily="34" charset="0"/>
              </a:rPr>
              <a:t>    else  stop</a:t>
            </a:r>
          </a:p>
        </p:txBody>
      </p:sp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0CC5503A-82D4-49A3-9B59-69C25B990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6A3EDF-C89B-27F1-6E8D-C6D2BC739B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79780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DAD7-CC08-BAEF-5C35-2271D046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en-US" sz="4800" b="1" dirty="0">
                <a:latin typeface="Abadi" panose="020B0604020104020204" pitchFamily="34" charset="0"/>
              </a:rPr>
              <a:t>Heaps that start at index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16B1D-1125-7024-F5E1-8233B3373E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107333" y="6218847"/>
            <a:ext cx="2895600" cy="457200"/>
          </a:xfrm>
        </p:spPr>
        <p:txBody>
          <a:bodyPr/>
          <a:lstStyle/>
          <a:p>
            <a:pPr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endParaRPr lang="en-US" b="0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© A+ Computer Science  -  www.apluscompsci.com</a:t>
            </a:r>
          </a:p>
        </p:txBody>
      </p:sp>
      <p:pic>
        <p:nvPicPr>
          <p:cNvPr id="6" name="Picture 5" descr="An array:&#10;[null,10,50,20,70,60,44,90,80,9,65,null,null,...]&#10;Note that spot zero doesn't count. The root of the tree, 10, is stored at spot one.">
            <a:extLst>
              <a:ext uri="{FF2B5EF4-FFF2-40B4-BE49-F238E27FC236}">
                <a16:creationId xmlns:a16="http://schemas.microsoft.com/office/drawing/2014/main" id="{03CDEF98-12E7-5990-9A22-25434827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67" y="2057400"/>
            <a:ext cx="8861866" cy="1676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B83A0B-2ADA-A30B-24B0-EC4E4CD3E568}"/>
              </a:ext>
            </a:extLst>
          </p:cNvPr>
          <p:cNvSpPr txBox="1"/>
          <p:nvPr/>
        </p:nvSpPr>
        <p:spPr>
          <a:xfrm>
            <a:off x="3124200" y="4343400"/>
            <a:ext cx="263084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parent = </a:t>
            </a:r>
            <a:r>
              <a:rPr lang="en-US" sz="2800" dirty="0" err="1"/>
              <a:t>i</a:t>
            </a:r>
            <a:r>
              <a:rPr lang="en-US" sz="2800" dirty="0"/>
              <a:t>/2</a:t>
            </a:r>
          </a:p>
          <a:p>
            <a:endParaRPr lang="en-US" sz="2800" dirty="0"/>
          </a:p>
          <a:p>
            <a:r>
              <a:rPr lang="en-US" sz="2800" dirty="0"/>
              <a:t> </a:t>
            </a:r>
            <a:r>
              <a:rPr lang="en-US" sz="2000" dirty="0"/>
              <a:t>  </a:t>
            </a:r>
            <a:r>
              <a:rPr lang="en-US" sz="2800" dirty="0"/>
              <a:t>left = 2i</a:t>
            </a:r>
          </a:p>
          <a:p>
            <a:r>
              <a:rPr lang="en-US" sz="2800" dirty="0"/>
              <a:t>right = 2i + 1</a:t>
            </a:r>
          </a:p>
        </p:txBody>
      </p:sp>
    </p:spTree>
    <p:extLst>
      <p:ext uri="{BB962C8B-B14F-4D97-AF65-F5344CB8AC3E}">
        <p14:creationId xmlns:p14="http://schemas.microsoft.com/office/powerpoint/2010/main" val="3830205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271EB884-01DD-4080-8AEF-3AB9A895D3C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3555" name="WordArt 2">
            <a:extLst>
              <a:ext uri="{FF2B5EF4-FFF2-40B4-BE49-F238E27FC236}">
                <a16:creationId xmlns:a16="http://schemas.microsoft.com/office/drawing/2014/main" id="{DF1EE058-28A7-4752-84D1-55BB8A3F1AFE}"/>
              </a:ext>
            </a:extLst>
          </p:cNvPr>
          <p:cNvSpPr>
            <a:spLocks noGrp="1" noChangeArrowheads="1" noChangeShapeType="1" noTextEdit="1"/>
          </p:cNvSpPr>
          <p:nvPr>
            <p:ph type="title" idx="4294967295"/>
          </p:nvPr>
        </p:nvSpPr>
        <p:spPr bwMode="auto">
          <a:xfrm>
            <a:off x="1143000" y="1295400"/>
            <a:ext cx="6934200" cy="36576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1" anchor="t" anchorCtr="0" forceAA="0" compatLnSpc="1">
            <a:prstTxWarp prst="textPlain">
              <a:avLst>
                <a:gd name="adj" fmla="val 50000"/>
              </a:avLst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Start work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 dirty="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on Lab 18a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1374</TotalTime>
  <Words>1747</Words>
  <Application>Microsoft Office PowerPoint</Application>
  <PresentationFormat>On-screen Show (4:3)</PresentationFormat>
  <Paragraphs>527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Abadi</vt:lpstr>
      <vt:lpstr>Arial</vt:lpstr>
      <vt:lpstr>Impact</vt:lpstr>
      <vt:lpstr>Tahoma</vt:lpstr>
      <vt:lpstr>Times New Roman</vt:lpstr>
      <vt:lpstr>Blank Presentation</vt:lpstr>
      <vt:lpstr>THE HEAP</vt:lpstr>
      <vt:lpstr>heap</vt:lpstr>
      <vt:lpstr>The Shape Rule</vt:lpstr>
      <vt:lpstr>The Heap Rule</vt:lpstr>
      <vt:lpstr>Max Heap vs Min Heap</vt:lpstr>
      <vt:lpstr>heap</vt:lpstr>
      <vt:lpstr>max heap</vt:lpstr>
      <vt:lpstr>min heap</vt:lpstr>
      <vt:lpstr>heap</vt:lpstr>
      <vt:lpstr>array-based tree</vt:lpstr>
      <vt:lpstr>array-based tree</vt:lpstr>
      <vt:lpstr>array-based tree</vt:lpstr>
      <vt:lpstr>array-based tree</vt:lpstr>
      <vt:lpstr>array-based tree</vt:lpstr>
      <vt:lpstr>add</vt:lpstr>
      <vt:lpstr>add</vt:lpstr>
      <vt:lpstr>add</vt:lpstr>
      <vt:lpstr>swapUp</vt:lpstr>
      <vt:lpstr>Swapping Elements in an Array:</vt:lpstr>
      <vt:lpstr>swapUp</vt:lpstr>
      <vt:lpstr>swapUp</vt:lpstr>
      <vt:lpstr>swapUp</vt:lpstr>
      <vt:lpstr>swapUp</vt:lpstr>
      <vt:lpstr>swapUp</vt:lpstr>
      <vt:lpstr>remove max</vt:lpstr>
      <vt:lpstr>Remove Max</vt:lpstr>
      <vt:lpstr>Remove Max</vt:lpstr>
      <vt:lpstr>Remove Max</vt:lpstr>
      <vt:lpstr>swapDown</vt:lpstr>
      <vt:lpstr>swapDown</vt:lpstr>
      <vt:lpstr>PowerPoint Presentation</vt:lpstr>
      <vt:lpstr>Heaps that start at index 1</vt:lpstr>
      <vt:lpstr>Start work on Lab 18a</vt:lpstr>
    </vt:vector>
  </TitlesOfParts>
  <Manager>www.apluscompsci.com</Manager>
  <Company>www.apluscompsci.com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Heaps</dc:title>
  <dc:subject>Heaps</dc:subject>
  <dc:creator>A+ Computer Science</dc:creator>
  <cp:keywords>www.apluscompsci.com</cp:keywords>
  <dc:description>Heaps_x000d_
©A+ Computer Science_x000d_
www.apluscompsci.com</dc:description>
  <cp:lastModifiedBy>Weldon Jasik</cp:lastModifiedBy>
  <cp:revision>244</cp:revision>
  <dcterms:created xsi:type="dcterms:W3CDTF">1999-09-27T16:27:24Z</dcterms:created>
  <dcterms:modified xsi:type="dcterms:W3CDTF">2025-03-05T19:06:26Z</dcterms:modified>
  <cp:category>www.apluscompsci.com</cp:category>
</cp:coreProperties>
</file>
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4"/>
  </p:notesMasterIdLst>
  <p:handoutMasterIdLst>
    <p:handoutMasterId r:id="rId15"/>
  </p:handoutMasterIdLst>
  <p:sldIdLst>
    <p:sldId id="293" r:id="rId2"/>
    <p:sldId id="299" r:id="rId3"/>
    <p:sldId id="302" r:id="rId4"/>
    <p:sldId id="294" r:id="rId5"/>
    <p:sldId id="295" r:id="rId6"/>
    <p:sldId id="303" r:id="rId7"/>
    <p:sldId id="296" r:id="rId8"/>
    <p:sldId id="301" r:id="rId9"/>
    <p:sldId id="297" r:id="rId10"/>
    <p:sldId id="298" r:id="rId11"/>
    <p:sldId id="300" r:id="rId12"/>
    <p:sldId id="304" r:id="rId13"/>
  </p:sldIdLst>
  <p:sldSz cx="9144000" cy="6858000" type="screen4x3"/>
  <p:notesSz cx="6858000" cy="9144000"/>
  <p:defaultTextStyle>
    <a:defPPr>
      <a:defRPr lang="en-US"/>
    </a:defPPr>
    <a:lvl1pPr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5pPr>
    <a:lvl6pPr marL="2286000" algn="l" defTabSz="914400" rtl="0" eaLnBrk="1" latinLnBrk="0" hangingPunct="1">
      <a:defRPr sz="2400" b="1" kern="1200">
        <a:solidFill>
          <a:schemeClr val="tx1"/>
        </a:solidFill>
        <a:latin typeface="Tahoma" panose="020B0604030504040204" pitchFamily="34" charset="0"/>
        <a:ea typeface="+mn-ea"/>
        <a:cs typeface="+mn-cs"/>
      </a:defRPr>
    </a:lvl6pPr>
    <a:lvl7pPr marL="2743200" algn="l" defTabSz="914400" rtl="0" eaLnBrk="1" latinLnBrk="0" hangingPunct="1">
      <a:defRPr sz="2400" b="1" kern="1200">
        <a:solidFill>
          <a:schemeClr val="tx1"/>
        </a:solidFill>
        <a:latin typeface="Tahoma" panose="020B0604030504040204" pitchFamily="34" charset="0"/>
        <a:ea typeface="+mn-ea"/>
        <a:cs typeface="+mn-cs"/>
      </a:defRPr>
    </a:lvl7pPr>
    <a:lvl8pPr marL="3200400" algn="l" defTabSz="914400" rtl="0" eaLnBrk="1" latinLnBrk="0" hangingPunct="1">
      <a:defRPr sz="2400" b="1" kern="1200">
        <a:solidFill>
          <a:schemeClr val="tx1"/>
        </a:solidFill>
        <a:latin typeface="Tahoma" panose="020B0604030504040204" pitchFamily="34" charset="0"/>
        <a:ea typeface="+mn-ea"/>
        <a:cs typeface="+mn-cs"/>
      </a:defRPr>
    </a:lvl8pPr>
    <a:lvl9pPr marL="3657600" algn="l" defTabSz="914400" rtl="0" eaLnBrk="1" latinLnBrk="0" hangingPunct="1">
      <a:defRPr sz="2400"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FFFFCC"/>
    <a:srgbClr val="000066"/>
    <a:srgbClr val="FF33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88" autoAdjust="0"/>
    <p:restoredTop sz="90929"/>
  </p:normalViewPr>
  <p:slideViewPr>
    <p:cSldViewPr>
      <p:cViewPr varScale="1">
        <p:scale>
          <a:sx n="144" d="100"/>
          <a:sy n="144" d="100"/>
        </p:scale>
        <p:origin x="2094"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3E787E3A-2678-4577-ABFA-319C9779C14C}"/>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43011" name="Rectangle 3">
            <a:extLst>
              <a:ext uri="{FF2B5EF4-FFF2-40B4-BE49-F238E27FC236}">
                <a16:creationId xmlns:a16="http://schemas.microsoft.com/office/drawing/2014/main" id="{B19A59E8-6C96-45C9-99F9-58D0FAD1191C}"/>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43012" name="Rectangle 4">
            <a:extLst>
              <a:ext uri="{FF2B5EF4-FFF2-40B4-BE49-F238E27FC236}">
                <a16:creationId xmlns:a16="http://schemas.microsoft.com/office/drawing/2014/main" id="{23A015C2-0006-4E40-9C9A-8AB74B35E790}"/>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43013" name="Rectangle 5">
            <a:extLst>
              <a:ext uri="{FF2B5EF4-FFF2-40B4-BE49-F238E27FC236}">
                <a16:creationId xmlns:a16="http://schemas.microsoft.com/office/drawing/2014/main" id="{AA010D30-6226-43F6-8F12-4E2AB0EB8A84}"/>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5D1121A7-D080-41D1-B8B5-78EA8EEF4732}"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F38B320F-EB59-49D2-92A7-E3D34634C2D1}"/>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9939" name="Rectangle 3">
            <a:extLst>
              <a:ext uri="{FF2B5EF4-FFF2-40B4-BE49-F238E27FC236}">
                <a16:creationId xmlns:a16="http://schemas.microsoft.com/office/drawing/2014/main" id="{271E4F78-0492-44E7-9F7C-BCCB4D1932E3}"/>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052" name="Rectangle 4">
            <a:extLst>
              <a:ext uri="{FF2B5EF4-FFF2-40B4-BE49-F238E27FC236}">
                <a16:creationId xmlns:a16="http://schemas.microsoft.com/office/drawing/2014/main" id="{42B581B6-A43D-4D51-82FA-4F1A4D2FDBD2}"/>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9941" name="Rectangle 5">
            <a:extLst>
              <a:ext uri="{FF2B5EF4-FFF2-40B4-BE49-F238E27FC236}">
                <a16:creationId xmlns:a16="http://schemas.microsoft.com/office/drawing/2014/main" id="{C19A6713-0946-4E42-8EA7-0B61912895AF}"/>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9942" name="Rectangle 6">
            <a:extLst>
              <a:ext uri="{FF2B5EF4-FFF2-40B4-BE49-F238E27FC236}">
                <a16:creationId xmlns:a16="http://schemas.microsoft.com/office/drawing/2014/main" id="{4E928079-CA57-4D58-8A79-DC85C934BD9D}"/>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9943" name="Rectangle 7">
            <a:extLst>
              <a:ext uri="{FF2B5EF4-FFF2-40B4-BE49-F238E27FC236}">
                <a16:creationId xmlns:a16="http://schemas.microsoft.com/office/drawing/2014/main" id="{D3CFDF83-44A1-40F6-93E4-A05E148E99CE}"/>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2C1F36E8-83CA-4BB7-BAC4-7A103E1B4A8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this true: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a:t>
            </a:r>
            <a:r>
              <a:rPr lang="en-US" sz="1200" b="0" i="0" dirty="0">
                <a:solidFill>
                  <a:srgbClr val="273239"/>
                </a:solidFill>
                <a:effectLst/>
                <a:latin typeface="urw-din"/>
              </a:rPr>
              <a:t>The primary advantage of delegation is run-time flexibility – the delegate can easily be changed at run-time.”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i="0" dirty="0">
              <a:solidFill>
                <a:srgbClr val="273239"/>
              </a:solidFill>
              <a:effectLst/>
              <a:latin typeface="urw-din"/>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dirty="0">
                <a:solidFill>
                  <a:srgbClr val="273239"/>
                </a:solidFill>
                <a:effectLst/>
                <a:latin typeface="urw-din"/>
              </a:rPr>
              <a:t>Unlike inheritance, delegation is not directly supported by most popular object-oriented languages, and it doesn’t facilitate </a:t>
            </a:r>
            <a:r>
              <a:rPr lang="en-US" sz="1200" b="0" i="0" u="sng" dirty="0">
                <a:solidFill>
                  <a:srgbClr val="273239"/>
                </a:solidFill>
                <a:effectLst/>
                <a:latin typeface="urw-din"/>
              </a:rPr>
              <a:t>dynamic polymorphism</a:t>
            </a:r>
            <a:r>
              <a:rPr lang="en-US" sz="1200" b="0" i="0" dirty="0">
                <a:solidFill>
                  <a:srgbClr val="273239"/>
                </a:solidFill>
                <a:effectLst/>
                <a:latin typeface="urw-din"/>
              </a:rPr>
              <a:t>.”</a:t>
            </a:r>
          </a:p>
        </p:txBody>
      </p:sp>
      <p:sp>
        <p:nvSpPr>
          <p:cNvPr id="4" name="Slide Number Placeholder 3"/>
          <p:cNvSpPr>
            <a:spLocks noGrp="1"/>
          </p:cNvSpPr>
          <p:nvPr>
            <p:ph type="sldNum" sz="quarter" idx="5"/>
          </p:nvPr>
        </p:nvSpPr>
        <p:spPr/>
        <p:txBody>
          <a:bodyPr/>
          <a:lstStyle/>
          <a:p>
            <a:fld id="{2C1F36E8-83CA-4BB7-BAC4-7A103E1B4A88}" type="slidenum">
              <a:rPr lang="en-US" altLang="en-US" smtClean="0"/>
              <a:pPr/>
              <a:t>2</a:t>
            </a:fld>
            <a:endParaRPr lang="en-US" altLang="en-US"/>
          </a:p>
        </p:txBody>
      </p:sp>
    </p:spTree>
    <p:extLst>
      <p:ext uri="{BB962C8B-B14F-4D97-AF65-F5344CB8AC3E}">
        <p14:creationId xmlns:p14="http://schemas.microsoft.com/office/powerpoint/2010/main" val="1845332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2F777012-5685-44D5-93F1-5ACB83D16FA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E155CD7B-80BD-4F53-87A8-23EE05AF5AE7}"/>
              </a:ext>
            </a:extLst>
          </p:cNvPr>
          <p:cNvSpPr>
            <a:spLocks noGrp="1" noChangeArrowheads="1"/>
          </p:cNvSpPr>
          <p:nvPr>
            <p:ph type="sldNum" sz="quarter" idx="11"/>
          </p:nvPr>
        </p:nvSpPr>
        <p:spPr>
          <a:ln/>
        </p:spPr>
        <p:txBody>
          <a:bodyPr/>
          <a:lstStyle>
            <a:lvl1pPr>
              <a:defRPr/>
            </a:lvl1pPr>
          </a:lstStyle>
          <a:p>
            <a:fld id="{C799CA82-704D-4C4F-B55C-75AAEE4BE933}" type="slidenum">
              <a:rPr lang="en-US" altLang="en-US"/>
              <a:pPr/>
              <a:t>‹#›</a:t>
            </a:fld>
            <a:endParaRPr lang="en-US" altLang="en-US"/>
          </a:p>
        </p:txBody>
      </p:sp>
      <p:sp>
        <p:nvSpPr>
          <p:cNvPr id="6" name="Rectangle 7">
            <a:extLst>
              <a:ext uri="{FF2B5EF4-FFF2-40B4-BE49-F238E27FC236}">
                <a16:creationId xmlns:a16="http://schemas.microsoft.com/office/drawing/2014/main" id="{C1D13138-E247-47CE-9F67-63B60D8FC47B}"/>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1898968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3D0686A-01C5-42CB-91CC-5C03DEA45D3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9306AE4-C9E3-47D1-9807-00EF83B185B9}"/>
              </a:ext>
            </a:extLst>
          </p:cNvPr>
          <p:cNvSpPr>
            <a:spLocks noGrp="1" noChangeArrowheads="1"/>
          </p:cNvSpPr>
          <p:nvPr>
            <p:ph type="sldNum" sz="quarter" idx="11"/>
          </p:nvPr>
        </p:nvSpPr>
        <p:spPr>
          <a:ln/>
        </p:spPr>
        <p:txBody>
          <a:bodyPr/>
          <a:lstStyle>
            <a:lvl1pPr>
              <a:defRPr/>
            </a:lvl1pPr>
          </a:lstStyle>
          <a:p>
            <a:fld id="{7061E2AE-8443-4031-A641-170D8D98F1FC}" type="slidenum">
              <a:rPr lang="en-US" altLang="en-US"/>
              <a:pPr/>
              <a:t>‹#›</a:t>
            </a:fld>
            <a:endParaRPr lang="en-US" altLang="en-US"/>
          </a:p>
        </p:txBody>
      </p:sp>
      <p:sp>
        <p:nvSpPr>
          <p:cNvPr id="6" name="Rectangle 7">
            <a:extLst>
              <a:ext uri="{FF2B5EF4-FFF2-40B4-BE49-F238E27FC236}">
                <a16:creationId xmlns:a16="http://schemas.microsoft.com/office/drawing/2014/main" id="{5F2D6479-14AB-43F7-B961-E6D32C199BF5}"/>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805777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7F71F65D-9E7D-456E-B0F4-2E89D6DEF91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CC6EBDE4-9990-42B5-BE35-7352A3A53A0D}"/>
              </a:ext>
            </a:extLst>
          </p:cNvPr>
          <p:cNvSpPr>
            <a:spLocks noGrp="1" noChangeArrowheads="1"/>
          </p:cNvSpPr>
          <p:nvPr>
            <p:ph type="sldNum" sz="quarter" idx="11"/>
          </p:nvPr>
        </p:nvSpPr>
        <p:spPr>
          <a:ln/>
        </p:spPr>
        <p:txBody>
          <a:bodyPr/>
          <a:lstStyle>
            <a:lvl1pPr>
              <a:defRPr/>
            </a:lvl1pPr>
          </a:lstStyle>
          <a:p>
            <a:fld id="{B29A16D3-0611-4122-B9EB-4D1C54B622B5}" type="slidenum">
              <a:rPr lang="en-US" altLang="en-US"/>
              <a:pPr/>
              <a:t>‹#›</a:t>
            </a:fld>
            <a:endParaRPr lang="en-US" altLang="en-US"/>
          </a:p>
        </p:txBody>
      </p:sp>
      <p:sp>
        <p:nvSpPr>
          <p:cNvPr id="6" name="Rectangle 7">
            <a:extLst>
              <a:ext uri="{FF2B5EF4-FFF2-40B4-BE49-F238E27FC236}">
                <a16:creationId xmlns:a16="http://schemas.microsoft.com/office/drawing/2014/main" id="{FB72A7E1-B0D8-415A-886B-36E513C854E3}"/>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3710505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149D5B6-7717-4E65-B39B-B43AB34E09D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0E2B494-7F0A-4BEE-AD89-09633A51ABF9}"/>
              </a:ext>
            </a:extLst>
          </p:cNvPr>
          <p:cNvSpPr>
            <a:spLocks noGrp="1" noChangeArrowheads="1"/>
          </p:cNvSpPr>
          <p:nvPr>
            <p:ph type="sldNum" sz="quarter" idx="11"/>
          </p:nvPr>
        </p:nvSpPr>
        <p:spPr>
          <a:ln/>
        </p:spPr>
        <p:txBody>
          <a:bodyPr/>
          <a:lstStyle>
            <a:lvl1pPr>
              <a:defRPr/>
            </a:lvl1pPr>
          </a:lstStyle>
          <a:p>
            <a:fld id="{8836E494-A1E4-4858-8CDA-3BA2D25B0FE9}" type="slidenum">
              <a:rPr lang="en-US" altLang="en-US"/>
              <a:pPr/>
              <a:t>‹#›</a:t>
            </a:fld>
            <a:endParaRPr lang="en-US" altLang="en-US"/>
          </a:p>
        </p:txBody>
      </p:sp>
      <p:sp>
        <p:nvSpPr>
          <p:cNvPr id="7" name="Rectangle 7">
            <a:extLst>
              <a:ext uri="{FF2B5EF4-FFF2-40B4-BE49-F238E27FC236}">
                <a16:creationId xmlns:a16="http://schemas.microsoft.com/office/drawing/2014/main" id="{2E264C05-6591-43B1-B99A-FD596B7FEFBC}"/>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3989581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5CB0696D-9D7B-4C72-A419-5019CDC3E74E}"/>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144E2185-DA3E-4242-9CB4-05FDBCD016FB}"/>
              </a:ext>
            </a:extLst>
          </p:cNvPr>
          <p:cNvSpPr>
            <a:spLocks noGrp="1" noChangeArrowheads="1"/>
          </p:cNvSpPr>
          <p:nvPr>
            <p:ph type="sldNum" sz="quarter" idx="11"/>
          </p:nvPr>
        </p:nvSpPr>
        <p:spPr>
          <a:ln/>
        </p:spPr>
        <p:txBody>
          <a:bodyPr/>
          <a:lstStyle>
            <a:lvl1pPr>
              <a:defRPr/>
            </a:lvl1pPr>
          </a:lstStyle>
          <a:p>
            <a:fld id="{F70361F8-4EFC-4A09-B8A4-7C100EADBDD0}" type="slidenum">
              <a:rPr lang="en-US" altLang="en-US"/>
              <a:pPr/>
              <a:t>‹#›</a:t>
            </a:fld>
            <a:endParaRPr lang="en-US" altLang="en-US"/>
          </a:p>
        </p:txBody>
      </p:sp>
      <p:sp>
        <p:nvSpPr>
          <p:cNvPr id="9" name="Rectangle 7">
            <a:extLst>
              <a:ext uri="{FF2B5EF4-FFF2-40B4-BE49-F238E27FC236}">
                <a16:creationId xmlns:a16="http://schemas.microsoft.com/office/drawing/2014/main" id="{15C18E93-D05B-4B61-9D83-60A46A27551E}"/>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1381231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C934A74A-EEB6-4F3E-AF49-68E239029673}"/>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F2B8A3A1-A882-4052-8F04-F4ADAA3EC0F7}"/>
              </a:ext>
            </a:extLst>
          </p:cNvPr>
          <p:cNvSpPr>
            <a:spLocks noGrp="1" noChangeArrowheads="1"/>
          </p:cNvSpPr>
          <p:nvPr>
            <p:ph type="sldNum" sz="quarter" idx="11"/>
          </p:nvPr>
        </p:nvSpPr>
        <p:spPr>
          <a:ln/>
        </p:spPr>
        <p:txBody>
          <a:bodyPr/>
          <a:lstStyle>
            <a:lvl1pPr>
              <a:defRPr/>
            </a:lvl1pPr>
          </a:lstStyle>
          <a:p>
            <a:fld id="{830D7129-7A0F-40B6-998A-DA881FC45EBA}" type="slidenum">
              <a:rPr lang="en-US" altLang="en-US"/>
              <a:pPr/>
              <a:t>‹#›</a:t>
            </a:fld>
            <a:endParaRPr lang="en-US" altLang="en-US"/>
          </a:p>
        </p:txBody>
      </p:sp>
      <p:sp>
        <p:nvSpPr>
          <p:cNvPr id="5" name="Rectangle 7">
            <a:extLst>
              <a:ext uri="{FF2B5EF4-FFF2-40B4-BE49-F238E27FC236}">
                <a16:creationId xmlns:a16="http://schemas.microsoft.com/office/drawing/2014/main" id="{104FADE5-6418-40B7-8C96-05FE6CC74D96}"/>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2349220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D71E960-1F7C-48F2-A906-53052A0A1C23}"/>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E1793381-7AAE-42F8-BB06-D35EC66D5305}"/>
              </a:ext>
            </a:extLst>
          </p:cNvPr>
          <p:cNvSpPr>
            <a:spLocks noGrp="1" noChangeArrowheads="1"/>
          </p:cNvSpPr>
          <p:nvPr>
            <p:ph type="sldNum" sz="quarter" idx="11"/>
          </p:nvPr>
        </p:nvSpPr>
        <p:spPr>
          <a:ln/>
        </p:spPr>
        <p:txBody>
          <a:bodyPr/>
          <a:lstStyle>
            <a:lvl1pPr>
              <a:defRPr/>
            </a:lvl1pPr>
          </a:lstStyle>
          <a:p>
            <a:fld id="{B93B28DA-06E3-417D-A049-890046F7DD59}" type="slidenum">
              <a:rPr lang="en-US" altLang="en-US"/>
              <a:pPr/>
              <a:t>‹#›</a:t>
            </a:fld>
            <a:endParaRPr lang="en-US" altLang="en-US"/>
          </a:p>
        </p:txBody>
      </p:sp>
      <p:sp>
        <p:nvSpPr>
          <p:cNvPr id="4" name="Rectangle 7">
            <a:extLst>
              <a:ext uri="{FF2B5EF4-FFF2-40B4-BE49-F238E27FC236}">
                <a16:creationId xmlns:a16="http://schemas.microsoft.com/office/drawing/2014/main" id="{EC64A8D6-4166-4B35-8E10-84D6D2248747}"/>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47520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C292CDE-355E-4BAC-A0EF-0324097EEC0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ECCF19E-F13E-4A01-A138-E777DFAA4444}"/>
              </a:ext>
            </a:extLst>
          </p:cNvPr>
          <p:cNvSpPr>
            <a:spLocks noGrp="1" noChangeArrowheads="1"/>
          </p:cNvSpPr>
          <p:nvPr>
            <p:ph type="sldNum" sz="quarter" idx="11"/>
          </p:nvPr>
        </p:nvSpPr>
        <p:spPr>
          <a:ln/>
        </p:spPr>
        <p:txBody>
          <a:bodyPr/>
          <a:lstStyle>
            <a:lvl1pPr>
              <a:defRPr/>
            </a:lvl1pPr>
          </a:lstStyle>
          <a:p>
            <a:fld id="{F4DAE185-FBFB-495B-B3B7-6A7731688D9D}" type="slidenum">
              <a:rPr lang="en-US" altLang="en-US"/>
              <a:pPr/>
              <a:t>‹#›</a:t>
            </a:fld>
            <a:endParaRPr lang="en-US" altLang="en-US"/>
          </a:p>
        </p:txBody>
      </p:sp>
      <p:sp>
        <p:nvSpPr>
          <p:cNvPr id="7" name="Rectangle 7">
            <a:extLst>
              <a:ext uri="{FF2B5EF4-FFF2-40B4-BE49-F238E27FC236}">
                <a16:creationId xmlns:a16="http://schemas.microsoft.com/office/drawing/2014/main" id="{546A3AE4-D271-419F-B9AD-FE28BC4A1855}"/>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3331412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4687450-A6D2-4229-908B-AAA4F8A2BC8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CB8FE77-BACA-442D-BF88-70155D603DFE}"/>
              </a:ext>
            </a:extLst>
          </p:cNvPr>
          <p:cNvSpPr>
            <a:spLocks noGrp="1" noChangeArrowheads="1"/>
          </p:cNvSpPr>
          <p:nvPr>
            <p:ph type="sldNum" sz="quarter" idx="11"/>
          </p:nvPr>
        </p:nvSpPr>
        <p:spPr>
          <a:ln/>
        </p:spPr>
        <p:txBody>
          <a:bodyPr/>
          <a:lstStyle>
            <a:lvl1pPr>
              <a:defRPr/>
            </a:lvl1pPr>
          </a:lstStyle>
          <a:p>
            <a:fld id="{A703623E-8352-434D-9284-89389FEB99FC}" type="slidenum">
              <a:rPr lang="en-US" altLang="en-US"/>
              <a:pPr/>
              <a:t>‹#›</a:t>
            </a:fld>
            <a:endParaRPr lang="en-US" altLang="en-US"/>
          </a:p>
        </p:txBody>
      </p:sp>
      <p:sp>
        <p:nvSpPr>
          <p:cNvPr id="7" name="Rectangle 7">
            <a:extLst>
              <a:ext uri="{FF2B5EF4-FFF2-40B4-BE49-F238E27FC236}">
                <a16:creationId xmlns:a16="http://schemas.microsoft.com/office/drawing/2014/main" id="{2D039EF2-0155-4B51-A3D9-8D305CF5C45A}"/>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1578376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3189942-3CA6-4F33-B79F-74D2F612AB2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A00F7460-01F4-4393-8E64-7492341DFFE3}"/>
              </a:ext>
            </a:extLst>
          </p:cNvPr>
          <p:cNvSpPr>
            <a:spLocks noGrp="1" noChangeArrowheads="1"/>
          </p:cNvSpPr>
          <p:nvPr>
            <p:ph type="sldNum" sz="quarter" idx="11"/>
          </p:nvPr>
        </p:nvSpPr>
        <p:spPr>
          <a:ln/>
        </p:spPr>
        <p:txBody>
          <a:bodyPr/>
          <a:lstStyle>
            <a:lvl1pPr>
              <a:defRPr/>
            </a:lvl1pPr>
          </a:lstStyle>
          <a:p>
            <a:fld id="{F2DF0824-8456-496E-9EE3-E97F5A4C4C73}" type="slidenum">
              <a:rPr lang="en-US" altLang="en-US"/>
              <a:pPr/>
              <a:t>‹#›</a:t>
            </a:fld>
            <a:endParaRPr lang="en-US" altLang="en-US"/>
          </a:p>
        </p:txBody>
      </p:sp>
      <p:sp>
        <p:nvSpPr>
          <p:cNvPr id="6" name="Rectangle 7">
            <a:extLst>
              <a:ext uri="{FF2B5EF4-FFF2-40B4-BE49-F238E27FC236}">
                <a16:creationId xmlns:a16="http://schemas.microsoft.com/office/drawing/2014/main" id="{0121E832-4FBF-431C-8BD9-B84D3CAF021C}"/>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2421906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6DC2309-358B-480C-B23A-61B62BB414E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D5621681-91ED-4C31-B8B8-F22530F9597A}"/>
              </a:ext>
            </a:extLst>
          </p:cNvPr>
          <p:cNvSpPr>
            <a:spLocks noGrp="1" noChangeArrowheads="1"/>
          </p:cNvSpPr>
          <p:nvPr>
            <p:ph type="sldNum" sz="quarter" idx="11"/>
          </p:nvPr>
        </p:nvSpPr>
        <p:spPr>
          <a:ln/>
        </p:spPr>
        <p:txBody>
          <a:bodyPr/>
          <a:lstStyle>
            <a:lvl1pPr>
              <a:defRPr/>
            </a:lvl1pPr>
          </a:lstStyle>
          <a:p>
            <a:fld id="{29EB2A89-97ED-48F5-8B97-AE5F241B8BFD}" type="slidenum">
              <a:rPr lang="en-US" altLang="en-US"/>
              <a:pPr/>
              <a:t>‹#›</a:t>
            </a:fld>
            <a:endParaRPr lang="en-US" altLang="en-US"/>
          </a:p>
        </p:txBody>
      </p:sp>
      <p:sp>
        <p:nvSpPr>
          <p:cNvPr id="6" name="Rectangle 7">
            <a:extLst>
              <a:ext uri="{FF2B5EF4-FFF2-40B4-BE49-F238E27FC236}">
                <a16:creationId xmlns:a16="http://schemas.microsoft.com/office/drawing/2014/main" id="{18748E4F-3F04-4E45-BDBE-051C4BAD99CC}"/>
              </a:ext>
            </a:extLst>
          </p:cNvPr>
          <p:cNvSpPr>
            <a:spLocks noGrp="1" noChangeArrowheads="1"/>
          </p:cNvSpPr>
          <p:nvPr>
            <p:ph type="ftr" sz="quarter" idx="12"/>
          </p:nvPr>
        </p:nvSpPr>
        <p:spPr>
          <a:ln/>
        </p:spPr>
        <p:txBody>
          <a:bodyPr/>
          <a:lstStyle>
            <a:lvl1pPr>
              <a:defRPr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extLst>
      <p:ext uri="{BB962C8B-B14F-4D97-AF65-F5344CB8AC3E}">
        <p14:creationId xmlns:p14="http://schemas.microsoft.com/office/powerpoint/2010/main" val="48452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01230C9-6ADA-4679-9774-C2CC04FF6028}"/>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8020374D-2CFB-48C6-8398-1654853055C7}"/>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C598F991-C6D3-40DF-A1EC-FBC1DA6FB136}"/>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AB350C6C-3EB9-47F2-AAD5-A49ADEB841FE}"/>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atin typeface="Times New Roman" panose="02020603050405020304" pitchFamily="18" charset="0"/>
              </a:defRPr>
            </a:lvl1pPr>
          </a:lstStyle>
          <a:p>
            <a:fld id="{0A56945D-2815-4570-86EA-671C2FE821BA}" type="slidenum">
              <a:rPr lang="en-US" altLang="en-US"/>
              <a:pPr/>
              <a:t>‹#›</a:t>
            </a:fld>
            <a:endParaRPr lang="en-US" altLang="en-US"/>
          </a:p>
        </p:txBody>
      </p:sp>
      <p:sp>
        <p:nvSpPr>
          <p:cNvPr id="1031" name="Rectangle 7">
            <a:extLst>
              <a:ext uri="{FF2B5EF4-FFF2-40B4-BE49-F238E27FC236}">
                <a16:creationId xmlns:a16="http://schemas.microsoft.com/office/drawing/2014/main" id="{759ABDF6-69EA-45DD-BDA4-C43C16B42966}"/>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800"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2">
            <a:extLst>
              <a:ext uri="{FF2B5EF4-FFF2-40B4-BE49-F238E27FC236}">
                <a16:creationId xmlns:a16="http://schemas.microsoft.com/office/drawing/2014/main" id="{9D880B3D-5F36-44C1-A15E-07D5CE27BA54}"/>
              </a:ext>
            </a:extLst>
          </p:cNvPr>
          <p:cNvSpPr txBox="1">
            <a:spLocks noChangeArrowheads="1"/>
          </p:cNvSpPr>
          <p:nvPr/>
        </p:nvSpPr>
        <p:spPr bwMode="auto">
          <a:xfrm>
            <a:off x="609600" y="2209800"/>
            <a:ext cx="7772400" cy="3145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fontAlgn="base">
              <a:buNone/>
            </a:pPr>
            <a:r>
              <a:rPr lang="en-US" b="1" i="0" dirty="0">
                <a:solidFill>
                  <a:srgbClr val="273239"/>
                </a:solidFill>
                <a:effectLst/>
                <a:latin typeface="urw-din"/>
              </a:rPr>
              <a:t>Inheritance</a:t>
            </a:r>
            <a:r>
              <a:rPr lang="en-US" b="0" i="0" dirty="0">
                <a:solidFill>
                  <a:srgbClr val="273239"/>
                </a:solidFill>
                <a:effectLst/>
                <a:latin typeface="urw-din"/>
              </a:rPr>
              <a:t> is the process by which the child class(es) take on the attributes and behavior of the parent class.</a:t>
            </a:r>
          </a:p>
          <a:p>
            <a:pPr algn="l" fontAlgn="base">
              <a:buNone/>
            </a:pPr>
            <a:br>
              <a:rPr lang="en-US" b="0" i="0" dirty="0">
                <a:solidFill>
                  <a:srgbClr val="273239"/>
                </a:solidFill>
                <a:effectLst/>
                <a:latin typeface="urw-din"/>
              </a:rPr>
            </a:br>
            <a:r>
              <a:rPr lang="en-US" b="1" i="0" dirty="0">
                <a:solidFill>
                  <a:srgbClr val="273239"/>
                </a:solidFill>
                <a:effectLst/>
                <a:latin typeface="urw-din"/>
              </a:rPr>
              <a:t>Delegation</a:t>
            </a:r>
            <a:r>
              <a:rPr lang="en-US" b="0" i="0" dirty="0">
                <a:solidFill>
                  <a:srgbClr val="273239"/>
                </a:solidFill>
                <a:effectLst/>
                <a:latin typeface="urw-din"/>
              </a:rPr>
              <a:t> is simply passing a duty off to someone/something else. </a:t>
            </a:r>
          </a:p>
        </p:txBody>
      </p:sp>
      <p:sp>
        <p:nvSpPr>
          <p:cNvPr id="4100" name="WordArt 3">
            <a:extLst>
              <a:ext uri="{FF2B5EF4-FFF2-40B4-BE49-F238E27FC236}">
                <a16:creationId xmlns:a16="http://schemas.microsoft.com/office/drawing/2014/main" id="{8867C702-0860-4A78-8612-304E06941790}"/>
              </a:ext>
            </a:extLst>
          </p:cNvPr>
          <p:cNvSpPr>
            <a:spLocks noChangeArrowheads="1" noChangeShapeType="1" noTextEdit="1"/>
          </p:cNvSpPr>
          <p:nvPr/>
        </p:nvSpPr>
        <p:spPr bwMode="auto">
          <a:xfrm>
            <a:off x="1143000" y="381000"/>
            <a:ext cx="6858000" cy="8382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a:tailEnd/>
                </a:ln>
                <a:solidFill>
                  <a:srgbClr val="000099"/>
                </a:solidFill>
                <a:effectLst>
                  <a:outerShdw dist="35921" dir="2700000" sy="50000" kx="2115830" algn="bl" rotWithShape="0">
                    <a:srgbClr val="C0C0C0">
                      <a:alpha val="79999"/>
                    </a:srgbClr>
                  </a:outerShdw>
                </a:effectLst>
                <a:latin typeface="Arial Black" panose="020B0A04020102020204" pitchFamily="34" charset="0"/>
              </a:rPr>
              <a:t>Delegation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2">
            <a:extLst>
              <a:ext uri="{FF2B5EF4-FFF2-40B4-BE49-F238E27FC236}">
                <a16:creationId xmlns:a16="http://schemas.microsoft.com/office/drawing/2014/main" id="{9D880B3D-5F36-44C1-A15E-07D5CE27BA54}"/>
              </a:ext>
            </a:extLst>
          </p:cNvPr>
          <p:cNvSpPr txBox="1">
            <a:spLocks noChangeArrowheads="1"/>
          </p:cNvSpPr>
          <p:nvPr/>
        </p:nvSpPr>
        <p:spPr bwMode="auto">
          <a:xfrm>
            <a:off x="763657" y="1905000"/>
            <a:ext cx="7200900" cy="319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227013" indent="-227013" algn="l" fontAlgn="base">
              <a:buFont typeface="Arial" panose="020B0604020202020204" pitchFamily="34" charset="0"/>
              <a:buChar char="•"/>
            </a:pPr>
            <a:r>
              <a:rPr lang="en-US" sz="2400" b="0" i="0" dirty="0">
                <a:solidFill>
                  <a:srgbClr val="273239"/>
                </a:solidFill>
                <a:effectLst/>
                <a:latin typeface="urw-din"/>
              </a:rPr>
              <a:t>Delegation:  An object of another class as an instance variable AND at least some of your methods simply call the other class’s methods.</a:t>
            </a:r>
          </a:p>
          <a:p>
            <a:pPr marL="227013" indent="-227013" algn="l" fontAlgn="base">
              <a:buFont typeface="Arial" panose="020B0604020202020204" pitchFamily="34" charset="0"/>
              <a:buChar char="•"/>
            </a:pPr>
            <a:r>
              <a:rPr lang="en-US" sz="2400" b="0" i="0" dirty="0">
                <a:solidFill>
                  <a:srgbClr val="273239"/>
                </a:solidFill>
                <a:effectLst/>
                <a:latin typeface="urw-din"/>
              </a:rPr>
              <a:t>Better than inheritance when you only want </a:t>
            </a:r>
            <a:r>
              <a:rPr lang="en-US" sz="2400" b="0" i="0" u="sng" dirty="0">
                <a:solidFill>
                  <a:srgbClr val="273239"/>
                </a:solidFill>
                <a:effectLst/>
                <a:latin typeface="urw-din"/>
              </a:rPr>
              <a:t>some</a:t>
            </a:r>
            <a:r>
              <a:rPr lang="en-US" sz="2400" b="0" i="0" dirty="0">
                <a:solidFill>
                  <a:srgbClr val="273239"/>
                </a:solidFill>
                <a:effectLst/>
                <a:latin typeface="urw-din"/>
              </a:rPr>
              <a:t> of the methods of the other class</a:t>
            </a:r>
            <a:r>
              <a:rPr lang="en-US" sz="2400" b="0" dirty="0">
                <a:solidFill>
                  <a:srgbClr val="273239"/>
                </a:solidFill>
                <a:latin typeface="urw-din"/>
              </a:rPr>
              <a:t>.</a:t>
            </a:r>
          </a:p>
          <a:p>
            <a:pPr marL="227013" indent="-227013">
              <a:buFont typeface="Arial" panose="020B0604020202020204" pitchFamily="34" charset="0"/>
              <a:buChar char="•"/>
            </a:pPr>
            <a:r>
              <a:rPr lang="en-US" sz="2400" b="0" i="0" dirty="0">
                <a:solidFill>
                  <a:srgbClr val="273239"/>
                </a:solidFill>
                <a:effectLst/>
                <a:latin typeface="urw-din"/>
              </a:rPr>
              <a:t>Unlike inheritance, delegation is not directly supported by most popular object-oriented languages, and it doesn’t facilitate </a:t>
            </a:r>
            <a:r>
              <a:rPr lang="en-US" sz="2400" b="0" i="0" u="sng" dirty="0">
                <a:solidFill>
                  <a:srgbClr val="273239"/>
                </a:solidFill>
                <a:effectLst/>
                <a:latin typeface="urw-din"/>
              </a:rPr>
              <a:t>dynamic polymorphism</a:t>
            </a:r>
            <a:r>
              <a:rPr lang="en-US" sz="2400" b="0" i="0" dirty="0">
                <a:solidFill>
                  <a:srgbClr val="273239"/>
                </a:solidFill>
                <a:effectLst/>
                <a:latin typeface="urw-din"/>
              </a:rPr>
              <a:t>.”</a:t>
            </a:r>
          </a:p>
        </p:txBody>
      </p:sp>
      <p:sp>
        <p:nvSpPr>
          <p:cNvPr id="4100" name="WordArt 3">
            <a:extLst>
              <a:ext uri="{FF2B5EF4-FFF2-40B4-BE49-F238E27FC236}">
                <a16:creationId xmlns:a16="http://schemas.microsoft.com/office/drawing/2014/main" id="{8867C702-0860-4A78-8612-304E06941790}"/>
              </a:ext>
            </a:extLst>
          </p:cNvPr>
          <p:cNvSpPr>
            <a:spLocks noChangeArrowheads="1" noChangeShapeType="1" noTextEdit="1"/>
          </p:cNvSpPr>
          <p:nvPr/>
        </p:nvSpPr>
        <p:spPr bwMode="auto">
          <a:xfrm>
            <a:off x="1143000" y="381000"/>
            <a:ext cx="6858000" cy="8382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a:tailEnd/>
                </a:ln>
                <a:solidFill>
                  <a:srgbClr val="000099"/>
                </a:solidFill>
                <a:effectLst>
                  <a:outerShdw dist="35921" dir="2700000" sy="50000" kx="2115830" algn="bl" rotWithShape="0">
                    <a:srgbClr val="C0C0C0">
                      <a:alpha val="79999"/>
                    </a:srgbClr>
                  </a:outerShdw>
                </a:effectLst>
                <a:latin typeface="Arial Black" panose="020B0A04020102020204" pitchFamily="34" charset="0"/>
              </a:rPr>
              <a:t>Delegation</a:t>
            </a:r>
          </a:p>
        </p:txBody>
      </p:sp>
    </p:spTree>
    <p:extLst>
      <p:ext uri="{BB962C8B-B14F-4D97-AF65-F5344CB8AC3E}">
        <p14:creationId xmlns:p14="http://schemas.microsoft.com/office/powerpoint/2010/main" val="354682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22F0433-B01A-4336-A0A6-A00D89F7AA57}"/>
              </a:ext>
            </a:extLst>
          </p:cNvPr>
          <p:cNvSpPr txBox="1"/>
          <p:nvPr/>
        </p:nvSpPr>
        <p:spPr>
          <a:xfrm>
            <a:off x="685800" y="151179"/>
            <a:ext cx="7239000" cy="6124754"/>
          </a:xfrm>
          <a:prstGeom prst="rect">
            <a:avLst/>
          </a:prstGeom>
          <a:noFill/>
        </p:spPr>
        <p:txBody>
          <a:bodyPr wrap="square">
            <a:spAutoFit/>
          </a:bodyPr>
          <a:lstStyle/>
          <a:p>
            <a:r>
              <a:rPr lang="en-US" sz="1400" dirty="0">
                <a:solidFill>
                  <a:srgbClr val="941EDF"/>
                </a:solidFill>
                <a:latin typeface="Courier New" panose="02070309020205020404" pitchFamily="49" charset="0"/>
              </a:rPr>
              <a:t>public</a:t>
            </a:r>
            <a:r>
              <a:rPr lang="en-US" sz="1400" dirty="0">
                <a:solidFill>
                  <a:srgbClr val="000000"/>
                </a:solidFill>
                <a:latin typeface="Courier New" panose="02070309020205020404" pitchFamily="49" charset="0"/>
              </a:rPr>
              <a:t> </a:t>
            </a:r>
            <a:r>
              <a:rPr lang="en-US" sz="1400" dirty="0">
                <a:solidFill>
                  <a:srgbClr val="941EDF"/>
                </a:solidFill>
                <a:latin typeface="Courier New" panose="02070309020205020404" pitchFamily="49" charset="0"/>
              </a:rPr>
              <a:t>interface</a:t>
            </a:r>
            <a:r>
              <a:rPr lang="en-US" sz="1400" dirty="0">
                <a:solidFill>
                  <a:srgbClr val="000000"/>
                </a:solidFill>
                <a:latin typeface="Courier New" panose="02070309020205020404" pitchFamily="49" charset="0"/>
              </a:rPr>
              <a:t> Worker {</a:t>
            </a: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  </a:t>
            </a:r>
            <a:r>
              <a:rPr lang="en-US" sz="1400" dirty="0">
                <a:solidFill>
                  <a:srgbClr val="941EDF"/>
                </a:solidFill>
                <a:latin typeface="Courier New" panose="02070309020205020404" pitchFamily="49" charset="0"/>
              </a:rPr>
              <a:t>public</a:t>
            </a:r>
            <a:r>
              <a:rPr lang="en-US" sz="1400" dirty="0">
                <a:solidFill>
                  <a:srgbClr val="000000"/>
                </a:solidFill>
                <a:latin typeface="Courier New" panose="02070309020205020404" pitchFamily="49" charset="0"/>
              </a:rPr>
              <a:t> Result work();</a:t>
            </a: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a:t>
            </a:r>
            <a:br>
              <a:rPr lang="en-US" sz="1400" dirty="0">
                <a:solidFill>
                  <a:srgbClr val="000000"/>
                </a:solidFill>
                <a:latin typeface="Courier New" panose="02070309020205020404" pitchFamily="49" charset="0"/>
              </a:rPr>
            </a:br>
            <a:br>
              <a:rPr lang="en-US" sz="1400" dirty="0">
                <a:solidFill>
                  <a:srgbClr val="000000"/>
                </a:solidFill>
                <a:latin typeface="Courier New" panose="02070309020205020404" pitchFamily="49" charset="0"/>
              </a:rPr>
            </a:br>
            <a:r>
              <a:rPr lang="en-US" sz="1400" dirty="0">
                <a:solidFill>
                  <a:srgbClr val="941EDF"/>
                </a:solidFill>
                <a:latin typeface="Courier New" panose="02070309020205020404" pitchFamily="49" charset="0"/>
              </a:rPr>
              <a:t>class</a:t>
            </a:r>
            <a:r>
              <a:rPr lang="en-US" sz="1400" dirty="0">
                <a:solidFill>
                  <a:srgbClr val="000000"/>
                </a:solidFill>
                <a:latin typeface="Courier New" panose="02070309020205020404" pitchFamily="49" charset="0"/>
              </a:rPr>
              <a:t> Secretary </a:t>
            </a:r>
            <a:r>
              <a:rPr lang="en-US" sz="1400" dirty="0">
                <a:solidFill>
                  <a:srgbClr val="941EDF"/>
                </a:solidFill>
                <a:latin typeface="Courier New" panose="02070309020205020404" pitchFamily="49" charset="0"/>
              </a:rPr>
              <a:t>implements</a:t>
            </a:r>
            <a:r>
              <a:rPr lang="en-US" sz="1400" dirty="0">
                <a:solidFill>
                  <a:srgbClr val="000000"/>
                </a:solidFill>
                <a:latin typeface="Courier New" panose="02070309020205020404" pitchFamily="49" charset="0"/>
              </a:rPr>
              <a:t> Worker {</a:t>
            </a:r>
            <a:br>
              <a:rPr lang="en-US" sz="1400" dirty="0">
                <a:solidFill>
                  <a:srgbClr val="000000"/>
                </a:solidFill>
                <a:latin typeface="Courier New" panose="02070309020205020404" pitchFamily="49" charset="0"/>
              </a:rPr>
            </a:b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   </a:t>
            </a:r>
            <a:r>
              <a:rPr lang="en-US" sz="1400" dirty="0">
                <a:solidFill>
                  <a:srgbClr val="941EDF"/>
                </a:solidFill>
                <a:latin typeface="Courier New" panose="02070309020205020404" pitchFamily="49" charset="0"/>
              </a:rPr>
              <a:t>public</a:t>
            </a:r>
            <a:r>
              <a:rPr lang="en-US" sz="1400" dirty="0">
                <a:solidFill>
                  <a:srgbClr val="000000"/>
                </a:solidFill>
                <a:latin typeface="Courier New" panose="02070309020205020404" pitchFamily="49" charset="0"/>
              </a:rPr>
              <a:t> Result work() {</a:t>
            </a: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     Result </a:t>
            </a:r>
            <a:r>
              <a:rPr lang="en-US" sz="1400" dirty="0" err="1">
                <a:solidFill>
                  <a:srgbClr val="000000"/>
                </a:solidFill>
                <a:latin typeface="Courier New" panose="02070309020205020404" pitchFamily="49" charset="0"/>
              </a:rPr>
              <a:t>myResult</a:t>
            </a:r>
            <a:r>
              <a:rPr lang="en-US" sz="1400" dirty="0">
                <a:solidFill>
                  <a:srgbClr val="000000"/>
                </a:solidFill>
                <a:latin typeface="Courier New" panose="02070309020205020404" pitchFamily="49" charset="0"/>
              </a:rPr>
              <a:t> = </a:t>
            </a:r>
            <a:r>
              <a:rPr lang="en-US" sz="1400" dirty="0">
                <a:solidFill>
                  <a:srgbClr val="941EDF"/>
                </a:solidFill>
                <a:latin typeface="Courier New" panose="02070309020205020404" pitchFamily="49" charset="0"/>
              </a:rPr>
              <a:t>new</a:t>
            </a:r>
            <a:r>
              <a:rPr lang="en-US" sz="1400" dirty="0">
                <a:solidFill>
                  <a:srgbClr val="000000"/>
                </a:solidFill>
                <a:latin typeface="Courier New" panose="02070309020205020404" pitchFamily="49" charset="0"/>
              </a:rPr>
              <a:t> Result();</a:t>
            </a: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     </a:t>
            </a:r>
            <a:r>
              <a:rPr lang="en-US" sz="1400" dirty="0">
                <a:solidFill>
                  <a:srgbClr val="941EDF"/>
                </a:solidFill>
                <a:latin typeface="Courier New" panose="02070309020205020404" pitchFamily="49" charset="0"/>
              </a:rPr>
              <a:t>return</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myResult</a:t>
            </a:r>
            <a:r>
              <a:rPr lang="en-US" sz="1400" dirty="0">
                <a:solidFill>
                  <a:srgbClr val="000000"/>
                </a:solidFill>
                <a:latin typeface="Courier New" panose="02070309020205020404" pitchFamily="49" charset="0"/>
              </a:rPr>
              <a:t>;</a:t>
            </a: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   }    </a:t>
            </a: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a:t>
            </a:r>
            <a:br>
              <a:rPr lang="en-US" sz="1400" dirty="0">
                <a:solidFill>
                  <a:srgbClr val="000000"/>
                </a:solidFill>
                <a:latin typeface="Courier New" panose="02070309020205020404" pitchFamily="49" charset="0"/>
              </a:rPr>
            </a:br>
            <a:br>
              <a:rPr lang="en-US" sz="1400" dirty="0">
                <a:solidFill>
                  <a:srgbClr val="000000"/>
                </a:solidFill>
                <a:latin typeface="Courier New" panose="02070309020205020404" pitchFamily="49" charset="0"/>
              </a:rPr>
            </a:br>
            <a:r>
              <a:rPr lang="en-US" sz="1400" dirty="0">
                <a:solidFill>
                  <a:srgbClr val="941EDF"/>
                </a:solidFill>
                <a:latin typeface="Courier New" panose="02070309020205020404" pitchFamily="49" charset="0"/>
              </a:rPr>
              <a:t>class</a:t>
            </a:r>
            <a:r>
              <a:rPr lang="en-US" sz="1400" dirty="0">
                <a:solidFill>
                  <a:srgbClr val="000000"/>
                </a:solidFill>
                <a:latin typeface="Courier New" panose="02070309020205020404" pitchFamily="49" charset="0"/>
              </a:rPr>
              <a:t> Boss </a:t>
            </a:r>
            <a:r>
              <a:rPr lang="en-US" sz="1400" dirty="0">
                <a:solidFill>
                  <a:srgbClr val="941EDF"/>
                </a:solidFill>
                <a:latin typeface="Courier New" panose="02070309020205020404" pitchFamily="49" charset="0"/>
              </a:rPr>
              <a:t>implements</a:t>
            </a:r>
            <a:r>
              <a:rPr lang="en-US" sz="1400" dirty="0">
                <a:solidFill>
                  <a:srgbClr val="000000"/>
                </a:solidFill>
                <a:latin typeface="Courier New" panose="02070309020205020404" pitchFamily="49" charset="0"/>
              </a:rPr>
              <a:t> Worker {</a:t>
            </a:r>
            <a:br>
              <a:rPr lang="en-US" sz="1400" dirty="0">
                <a:solidFill>
                  <a:srgbClr val="000000"/>
                </a:solidFill>
                <a:latin typeface="Courier New" panose="02070309020205020404" pitchFamily="49" charset="0"/>
              </a:rPr>
            </a:b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   </a:t>
            </a:r>
            <a:r>
              <a:rPr lang="en-US" sz="1400" dirty="0">
                <a:solidFill>
                  <a:srgbClr val="941EDF"/>
                </a:solidFill>
                <a:latin typeface="Courier New" panose="02070309020205020404" pitchFamily="49" charset="0"/>
              </a:rPr>
              <a:t>private</a:t>
            </a:r>
            <a:r>
              <a:rPr lang="en-US" sz="1400" dirty="0">
                <a:solidFill>
                  <a:srgbClr val="000000"/>
                </a:solidFill>
                <a:latin typeface="Courier New" panose="02070309020205020404" pitchFamily="49" charset="0"/>
              </a:rPr>
              <a:t> Secretary </a:t>
            </a:r>
            <a:r>
              <a:rPr lang="en-US" sz="1400" dirty="0" err="1">
                <a:solidFill>
                  <a:srgbClr val="000000"/>
                </a:solidFill>
                <a:latin typeface="Courier New" panose="02070309020205020404" pitchFamily="49" charset="0"/>
              </a:rPr>
              <a:t>secretary</a:t>
            </a:r>
            <a:r>
              <a:rPr lang="en-US" sz="1400" dirty="0">
                <a:solidFill>
                  <a:srgbClr val="000000"/>
                </a:solidFill>
                <a:latin typeface="Courier New" panose="02070309020205020404" pitchFamily="49" charset="0"/>
              </a:rPr>
              <a:t>;</a:t>
            </a:r>
            <a:br>
              <a:rPr lang="en-US" sz="1400" dirty="0">
                <a:solidFill>
                  <a:srgbClr val="000000"/>
                </a:solidFill>
                <a:latin typeface="Courier New" panose="02070309020205020404" pitchFamily="49" charset="0"/>
              </a:rPr>
            </a:b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   </a:t>
            </a:r>
            <a:r>
              <a:rPr lang="en-US" sz="1400" dirty="0">
                <a:solidFill>
                  <a:srgbClr val="941EDF"/>
                </a:solidFill>
                <a:latin typeface="Courier New" panose="02070309020205020404" pitchFamily="49" charset="0"/>
              </a:rPr>
              <a:t>public</a:t>
            </a:r>
            <a:r>
              <a:rPr lang="en-US" sz="1400" dirty="0">
                <a:solidFill>
                  <a:srgbClr val="000000"/>
                </a:solidFill>
                <a:latin typeface="Courier New" panose="02070309020205020404" pitchFamily="49" charset="0"/>
              </a:rPr>
              <a:t> Result work() {</a:t>
            </a: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     </a:t>
            </a:r>
            <a:r>
              <a:rPr lang="en-US" sz="1400" dirty="0">
                <a:solidFill>
                  <a:srgbClr val="941EDF"/>
                </a:solidFill>
                <a:latin typeface="Courier New" panose="02070309020205020404" pitchFamily="49" charset="0"/>
              </a:rPr>
              <a:t>if</a:t>
            </a:r>
            <a:r>
              <a:rPr lang="en-US" sz="1400" dirty="0">
                <a:solidFill>
                  <a:srgbClr val="000000"/>
                </a:solidFill>
                <a:latin typeface="Courier New" panose="02070309020205020404" pitchFamily="49" charset="0"/>
              </a:rPr>
              <a:t> (secretary == </a:t>
            </a:r>
            <a:r>
              <a:rPr lang="en-US" sz="1400" dirty="0">
                <a:solidFill>
                  <a:srgbClr val="941EDF"/>
                </a:solidFill>
                <a:latin typeface="Courier New" panose="02070309020205020404" pitchFamily="49" charset="0"/>
              </a:rPr>
              <a:t>null</a:t>
            </a:r>
            <a:r>
              <a:rPr lang="en-US" sz="1400" dirty="0">
                <a:solidFill>
                  <a:srgbClr val="000000"/>
                </a:solidFill>
                <a:latin typeface="Courier New" panose="02070309020205020404" pitchFamily="49" charset="0"/>
              </a:rPr>
              <a:t>) {</a:t>
            </a: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        </a:t>
            </a:r>
            <a:r>
              <a:rPr lang="en-US" sz="1400" dirty="0">
                <a:solidFill>
                  <a:srgbClr val="FA6400"/>
                </a:solidFill>
                <a:latin typeface="Courier New" panose="02070309020205020404" pitchFamily="49" charset="0"/>
              </a:rPr>
              <a:t>// no secretary - nothing get's done</a:t>
            </a:r>
            <a:br>
              <a:rPr lang="en-US" sz="1400" dirty="0">
                <a:solidFill>
                  <a:srgbClr val="FA6400"/>
                </a:solidFill>
                <a:latin typeface="Courier New" panose="02070309020205020404" pitchFamily="49" charset="0"/>
              </a:rPr>
            </a:br>
            <a:r>
              <a:rPr lang="en-US" sz="1400" dirty="0">
                <a:solidFill>
                  <a:srgbClr val="000000"/>
                </a:solidFill>
                <a:latin typeface="Courier New" panose="02070309020205020404" pitchFamily="49" charset="0"/>
              </a:rPr>
              <a:t>        </a:t>
            </a:r>
            <a:r>
              <a:rPr lang="en-US" sz="1400" dirty="0">
                <a:solidFill>
                  <a:srgbClr val="941EDF"/>
                </a:solidFill>
                <a:latin typeface="Courier New" panose="02070309020205020404" pitchFamily="49" charset="0"/>
              </a:rPr>
              <a:t>return</a:t>
            </a:r>
            <a:r>
              <a:rPr lang="en-US" sz="1400" dirty="0">
                <a:solidFill>
                  <a:srgbClr val="000000"/>
                </a:solidFill>
                <a:latin typeface="Courier New" panose="02070309020205020404" pitchFamily="49" charset="0"/>
              </a:rPr>
              <a:t> </a:t>
            </a:r>
            <a:r>
              <a:rPr lang="en-US" sz="1400" dirty="0">
                <a:solidFill>
                  <a:srgbClr val="941EDF"/>
                </a:solidFill>
                <a:latin typeface="Courier New" panose="02070309020205020404" pitchFamily="49" charset="0"/>
              </a:rPr>
              <a:t>null</a:t>
            </a:r>
            <a:r>
              <a:rPr lang="en-US" sz="1400" dirty="0">
                <a:solidFill>
                  <a:srgbClr val="000000"/>
                </a:solidFill>
                <a:latin typeface="Courier New" panose="02070309020205020404" pitchFamily="49" charset="0"/>
              </a:rPr>
              <a:t>;</a:t>
            </a: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     }</a:t>
            </a: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     </a:t>
            </a:r>
            <a:r>
              <a:rPr lang="en-US" sz="1400" dirty="0">
                <a:solidFill>
                  <a:srgbClr val="941EDF"/>
                </a:solidFill>
                <a:latin typeface="Courier New" panose="02070309020205020404" pitchFamily="49" charset="0"/>
              </a:rPr>
              <a:t>return</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secretary.work</a:t>
            </a:r>
            <a:r>
              <a:rPr lang="en-US" sz="1400" dirty="0">
                <a:solidFill>
                  <a:srgbClr val="000000"/>
                </a:solidFill>
                <a:latin typeface="Courier New" panose="02070309020205020404" pitchFamily="49" charset="0"/>
              </a:rPr>
              <a:t>();</a:t>
            </a: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   }</a:t>
            </a:r>
            <a:br>
              <a:rPr lang="en-US" sz="1400" dirty="0">
                <a:solidFill>
                  <a:srgbClr val="000000"/>
                </a:solidFill>
                <a:latin typeface="Courier New" panose="02070309020205020404" pitchFamily="49" charset="0"/>
              </a:rPr>
            </a:b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   </a:t>
            </a:r>
            <a:r>
              <a:rPr lang="en-US" sz="1400" dirty="0">
                <a:solidFill>
                  <a:srgbClr val="941EDF"/>
                </a:solidFill>
                <a:latin typeface="Courier New" panose="02070309020205020404" pitchFamily="49" charset="0"/>
              </a:rPr>
              <a:t>public</a:t>
            </a:r>
            <a:r>
              <a:rPr lang="en-US" sz="1400" dirty="0">
                <a:solidFill>
                  <a:srgbClr val="000000"/>
                </a:solidFill>
                <a:latin typeface="Courier New" panose="02070309020205020404" pitchFamily="49" charset="0"/>
              </a:rPr>
              <a:t> </a:t>
            </a:r>
            <a:r>
              <a:rPr lang="en-US" sz="1400" dirty="0">
                <a:solidFill>
                  <a:srgbClr val="941EDF"/>
                </a:solidFill>
                <a:latin typeface="Courier New" panose="02070309020205020404" pitchFamily="49" charset="0"/>
              </a:rPr>
              <a:t>void</a:t>
            </a:r>
            <a:r>
              <a:rPr lang="en-US" sz="1400" dirty="0">
                <a:solidFill>
                  <a:srgbClr val="000000"/>
                </a:solidFill>
                <a:latin typeface="Courier New" panose="02070309020205020404" pitchFamily="49" charset="0"/>
              </a:rPr>
              <a:t> </a:t>
            </a:r>
            <a:r>
              <a:rPr lang="en-US" sz="1400" dirty="0" err="1">
                <a:solidFill>
                  <a:srgbClr val="000000"/>
                </a:solidFill>
                <a:latin typeface="Courier New" panose="02070309020205020404" pitchFamily="49" charset="0"/>
              </a:rPr>
              <a:t>setSecretary</a:t>
            </a:r>
            <a:r>
              <a:rPr lang="en-US" sz="1400" dirty="0">
                <a:solidFill>
                  <a:srgbClr val="000000"/>
                </a:solidFill>
                <a:latin typeface="Courier New" panose="02070309020205020404" pitchFamily="49" charset="0"/>
              </a:rPr>
              <a:t>(Secretary secretary) {</a:t>
            </a: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       </a:t>
            </a:r>
            <a:r>
              <a:rPr lang="en-US" sz="1400" dirty="0" err="1">
                <a:solidFill>
                  <a:srgbClr val="941EDF"/>
                </a:solidFill>
                <a:latin typeface="Courier New" panose="02070309020205020404" pitchFamily="49" charset="0"/>
              </a:rPr>
              <a:t>this</a:t>
            </a:r>
            <a:r>
              <a:rPr lang="en-US" sz="1400" dirty="0" err="1">
                <a:solidFill>
                  <a:srgbClr val="000000"/>
                </a:solidFill>
                <a:latin typeface="Courier New" panose="02070309020205020404" pitchFamily="49" charset="0"/>
              </a:rPr>
              <a:t>.secretary</a:t>
            </a:r>
            <a:r>
              <a:rPr lang="en-US" sz="1400" dirty="0">
                <a:solidFill>
                  <a:srgbClr val="000000"/>
                </a:solidFill>
                <a:latin typeface="Courier New" panose="02070309020205020404" pitchFamily="49" charset="0"/>
              </a:rPr>
              <a:t> = secretary;</a:t>
            </a: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   }</a:t>
            </a:r>
            <a:br>
              <a:rPr lang="en-US" sz="1400" dirty="0">
                <a:solidFill>
                  <a:srgbClr val="000000"/>
                </a:solidFill>
                <a:latin typeface="Courier New" panose="02070309020205020404" pitchFamily="49" charset="0"/>
              </a:rPr>
            </a:br>
            <a:r>
              <a:rPr lang="en-US" sz="1400" dirty="0">
                <a:solidFill>
                  <a:srgbClr val="000000"/>
                </a:solidFill>
                <a:latin typeface="Courier New" panose="02070309020205020404" pitchFamily="49" charset="0"/>
              </a:rPr>
              <a:t>}</a:t>
            </a:r>
            <a:endParaRPr lang="en-US" sz="1400" dirty="0"/>
          </a:p>
        </p:txBody>
      </p:sp>
    </p:spTree>
    <p:extLst>
      <p:ext uri="{BB962C8B-B14F-4D97-AF65-F5344CB8AC3E}">
        <p14:creationId xmlns:p14="http://schemas.microsoft.com/office/powerpoint/2010/main" val="3120172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77F894D-2627-49F3-917B-540365A3F80D}"/>
              </a:ext>
            </a:extLst>
          </p:cNvPr>
          <p:cNvSpPr txBox="1"/>
          <p:nvPr/>
        </p:nvSpPr>
        <p:spPr>
          <a:xfrm>
            <a:off x="990600" y="304800"/>
            <a:ext cx="7620000" cy="1938992"/>
          </a:xfrm>
          <a:prstGeom prst="rect">
            <a:avLst/>
          </a:prstGeom>
          <a:noFill/>
        </p:spPr>
        <p:txBody>
          <a:bodyPr wrap="square">
            <a:spAutoFit/>
          </a:bodyPr>
          <a:lstStyle/>
          <a:p>
            <a:pPr algn="ctr"/>
            <a:r>
              <a:rPr lang="en-US" sz="3200" b="0" i="0" u="none" strike="noStrike" baseline="0" dirty="0">
                <a:solidFill>
                  <a:srgbClr val="24292E"/>
                </a:solidFill>
                <a:latin typeface="OpenSans-Regular"/>
              </a:rPr>
              <a:t>Problem</a:t>
            </a:r>
          </a:p>
          <a:p>
            <a:pPr algn="ctr"/>
            <a:endParaRPr lang="en-US" sz="3200" b="0" i="0" u="none" strike="noStrike" baseline="0" dirty="0">
              <a:solidFill>
                <a:srgbClr val="24292E"/>
              </a:solidFill>
              <a:latin typeface="OpenSans-Regular"/>
            </a:endParaRPr>
          </a:p>
          <a:p>
            <a:pPr algn="l"/>
            <a:r>
              <a:rPr lang="en-US" sz="2800" b="0" i="0" u="none" strike="noStrike" baseline="0" dirty="0">
                <a:solidFill>
                  <a:srgbClr val="222222"/>
                </a:solidFill>
                <a:latin typeface="OpenSans-Regular"/>
              </a:rPr>
              <a:t>A class contains many simple methods that delegate to all methods of another class.</a:t>
            </a:r>
            <a:endParaRPr lang="en-US" sz="2800" dirty="0"/>
          </a:p>
        </p:txBody>
      </p:sp>
      <p:pic>
        <p:nvPicPr>
          <p:cNvPr id="8" name="Picture 7">
            <a:extLst>
              <a:ext uri="{FF2B5EF4-FFF2-40B4-BE49-F238E27FC236}">
                <a16:creationId xmlns:a16="http://schemas.microsoft.com/office/drawing/2014/main" id="{11F3DE91-9E03-4376-871E-C0299A5FF4BE}"/>
              </a:ext>
            </a:extLst>
          </p:cNvPr>
          <p:cNvPicPr>
            <a:picLocks noChangeAspect="1"/>
          </p:cNvPicPr>
          <p:nvPr/>
        </p:nvPicPr>
        <p:blipFill>
          <a:blip r:embed="rId2"/>
          <a:stretch>
            <a:fillRect/>
          </a:stretch>
        </p:blipFill>
        <p:spPr>
          <a:xfrm>
            <a:off x="1219200" y="2743200"/>
            <a:ext cx="6553200" cy="3226367"/>
          </a:xfrm>
          <a:prstGeom prst="rect">
            <a:avLst/>
          </a:prstGeom>
        </p:spPr>
      </p:pic>
    </p:spTree>
    <p:extLst>
      <p:ext uri="{BB962C8B-B14F-4D97-AF65-F5344CB8AC3E}">
        <p14:creationId xmlns:p14="http://schemas.microsoft.com/office/powerpoint/2010/main" val="3689839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7C3D21F-4640-4544-93AC-9ED658DF96E2}"/>
              </a:ext>
            </a:extLst>
          </p:cNvPr>
          <p:cNvSpPr txBox="1"/>
          <p:nvPr/>
        </p:nvSpPr>
        <p:spPr>
          <a:xfrm>
            <a:off x="1066800" y="304800"/>
            <a:ext cx="6553200" cy="1815882"/>
          </a:xfrm>
          <a:prstGeom prst="rect">
            <a:avLst/>
          </a:prstGeom>
          <a:noFill/>
        </p:spPr>
        <p:txBody>
          <a:bodyPr wrap="square">
            <a:spAutoFit/>
          </a:bodyPr>
          <a:lstStyle/>
          <a:p>
            <a:pPr algn="ctr"/>
            <a:r>
              <a:rPr lang="en-US" sz="3200" b="0" i="0" u="none" strike="noStrike" baseline="0" dirty="0">
                <a:solidFill>
                  <a:srgbClr val="24292E"/>
                </a:solidFill>
                <a:latin typeface="OpenSans-Regular"/>
              </a:rPr>
              <a:t>Solution</a:t>
            </a:r>
          </a:p>
          <a:p>
            <a:pPr algn="ctr"/>
            <a:endParaRPr lang="en-US" sz="3200" b="0" i="0" u="none" strike="noStrike" baseline="0" dirty="0">
              <a:solidFill>
                <a:srgbClr val="24292E"/>
              </a:solidFill>
              <a:latin typeface="OpenSans-Regular"/>
            </a:endParaRPr>
          </a:p>
          <a:p>
            <a:pPr algn="l"/>
            <a:r>
              <a:rPr lang="en-US" sz="2400" b="0" i="0" u="none" strike="noStrike" baseline="0" dirty="0">
                <a:solidFill>
                  <a:srgbClr val="222222"/>
                </a:solidFill>
                <a:latin typeface="OpenSans-Regular"/>
              </a:rPr>
              <a:t>Make the class a delegate inheritor, which makes the delegating methods unnecessary.</a:t>
            </a:r>
            <a:endParaRPr lang="en-US" dirty="0"/>
          </a:p>
        </p:txBody>
      </p:sp>
      <p:pic>
        <p:nvPicPr>
          <p:cNvPr id="3" name="Picture 2">
            <a:extLst>
              <a:ext uri="{FF2B5EF4-FFF2-40B4-BE49-F238E27FC236}">
                <a16:creationId xmlns:a16="http://schemas.microsoft.com/office/drawing/2014/main" id="{04B61952-AD70-410E-AFC9-6309BB1A3BCB}"/>
              </a:ext>
            </a:extLst>
          </p:cNvPr>
          <p:cNvPicPr>
            <a:picLocks noChangeAspect="1"/>
          </p:cNvPicPr>
          <p:nvPr/>
        </p:nvPicPr>
        <p:blipFill>
          <a:blip r:embed="rId2"/>
          <a:stretch>
            <a:fillRect/>
          </a:stretch>
        </p:blipFill>
        <p:spPr>
          <a:xfrm>
            <a:off x="3200400" y="2438400"/>
            <a:ext cx="2209800" cy="3173682"/>
          </a:xfrm>
          <a:prstGeom prst="rect">
            <a:avLst/>
          </a:prstGeom>
        </p:spPr>
      </p:pic>
    </p:spTree>
    <p:extLst>
      <p:ext uri="{BB962C8B-B14F-4D97-AF65-F5344CB8AC3E}">
        <p14:creationId xmlns:p14="http://schemas.microsoft.com/office/powerpoint/2010/main" val="1153888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7C3D21F-4640-4544-93AC-9ED658DF96E2}"/>
              </a:ext>
            </a:extLst>
          </p:cNvPr>
          <p:cNvSpPr txBox="1"/>
          <p:nvPr/>
        </p:nvSpPr>
        <p:spPr>
          <a:xfrm>
            <a:off x="1066800" y="304800"/>
            <a:ext cx="7086600" cy="5693866"/>
          </a:xfrm>
          <a:prstGeom prst="rect">
            <a:avLst/>
          </a:prstGeom>
          <a:noFill/>
        </p:spPr>
        <p:txBody>
          <a:bodyPr wrap="square">
            <a:spAutoFit/>
          </a:bodyPr>
          <a:lstStyle/>
          <a:p>
            <a:pPr algn="ctr"/>
            <a:r>
              <a:rPr lang="en-US" sz="2800" b="0" i="0" u="none" strike="noStrike" baseline="0" dirty="0">
                <a:solidFill>
                  <a:srgbClr val="222222"/>
                </a:solidFill>
                <a:latin typeface="OpenSans-Regular"/>
              </a:rPr>
              <a:t>Why Refactor</a:t>
            </a:r>
            <a:endParaRPr lang="en-US" sz="2800" b="0" i="0" u="none" strike="noStrike" baseline="0" dirty="0">
              <a:solidFill>
                <a:srgbClr val="24292E"/>
              </a:solidFill>
              <a:latin typeface="OpenSans-Regular"/>
            </a:endParaRPr>
          </a:p>
          <a:p>
            <a:pPr algn="ctr"/>
            <a:endParaRPr lang="en-US" sz="2800" b="0" i="0" u="none" strike="noStrike" baseline="0" dirty="0">
              <a:solidFill>
                <a:srgbClr val="24292E"/>
              </a:solidFill>
              <a:latin typeface="OpenSans-Regular"/>
            </a:endParaRPr>
          </a:p>
          <a:p>
            <a:pPr algn="l"/>
            <a:r>
              <a:rPr lang="en-US" sz="2800" b="0" i="0" u="none" strike="noStrike" baseline="0" dirty="0">
                <a:solidFill>
                  <a:srgbClr val="222222"/>
                </a:solidFill>
                <a:latin typeface="OpenSans-Regular"/>
              </a:rPr>
              <a:t>Delegation is a more flexible approach than inheritance, since it allows changing how delegation is implemented and placing other classes there as well. Nonetheless, delegation stop being beneficial if you delegate actions to only one class and all of its public methods. In such a case, if you replace delegation with inheritance, you cleanse the class of a large</a:t>
            </a:r>
          </a:p>
          <a:p>
            <a:pPr algn="l"/>
            <a:r>
              <a:rPr lang="en-US" sz="2800" b="0" i="0" u="none" strike="noStrike" baseline="0" dirty="0">
                <a:solidFill>
                  <a:srgbClr val="222222"/>
                </a:solidFill>
                <a:latin typeface="OpenSans-Regular"/>
              </a:rPr>
              <a:t>number of delegating methods and spare yourself from needing to create them for each new delegate class method.</a:t>
            </a:r>
            <a:endParaRPr lang="en-US" sz="2800" dirty="0"/>
          </a:p>
        </p:txBody>
      </p:sp>
    </p:spTree>
    <p:extLst>
      <p:ext uri="{BB962C8B-B14F-4D97-AF65-F5344CB8AC3E}">
        <p14:creationId xmlns:p14="http://schemas.microsoft.com/office/powerpoint/2010/main" val="1280213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77F894D-2627-49F3-917B-540365A3F80D}"/>
              </a:ext>
            </a:extLst>
          </p:cNvPr>
          <p:cNvSpPr txBox="1"/>
          <p:nvPr/>
        </p:nvSpPr>
        <p:spPr>
          <a:xfrm>
            <a:off x="609600" y="304800"/>
            <a:ext cx="8001000" cy="1815882"/>
          </a:xfrm>
          <a:prstGeom prst="rect">
            <a:avLst/>
          </a:prstGeom>
          <a:noFill/>
        </p:spPr>
        <p:txBody>
          <a:bodyPr wrap="square">
            <a:spAutoFit/>
          </a:bodyPr>
          <a:lstStyle/>
          <a:p>
            <a:pPr algn="ctr"/>
            <a:r>
              <a:rPr lang="en-US" sz="3200" b="0" i="0" u="none" strike="noStrike" baseline="0" dirty="0">
                <a:solidFill>
                  <a:srgbClr val="24292E"/>
                </a:solidFill>
                <a:latin typeface="OpenSans-Regular"/>
              </a:rPr>
              <a:t>Problem</a:t>
            </a:r>
          </a:p>
          <a:p>
            <a:pPr algn="ctr"/>
            <a:endParaRPr lang="en-US" sz="3200" b="0" i="0" u="none" strike="noStrike" baseline="0" dirty="0">
              <a:solidFill>
                <a:srgbClr val="24292E"/>
              </a:solidFill>
              <a:latin typeface="OpenSans-Regular"/>
            </a:endParaRPr>
          </a:p>
          <a:p>
            <a:pPr algn="l"/>
            <a:r>
              <a:rPr lang="en-US" b="0" dirty="0">
                <a:solidFill>
                  <a:srgbClr val="222222"/>
                </a:solidFill>
                <a:latin typeface="OpenSans-Regular"/>
              </a:rPr>
              <a:t>You have a subclass that uses only a portion of the methods of its superclass (or it’s not possible to inherit superclass data).</a:t>
            </a:r>
          </a:p>
        </p:txBody>
      </p:sp>
      <p:pic>
        <p:nvPicPr>
          <p:cNvPr id="3" name="Picture 2">
            <a:extLst>
              <a:ext uri="{FF2B5EF4-FFF2-40B4-BE49-F238E27FC236}">
                <a16:creationId xmlns:a16="http://schemas.microsoft.com/office/drawing/2014/main" id="{6EAFCBF4-6F61-40AD-91DD-60AF208A06B6}"/>
              </a:ext>
            </a:extLst>
          </p:cNvPr>
          <p:cNvPicPr>
            <a:picLocks noChangeAspect="1"/>
          </p:cNvPicPr>
          <p:nvPr/>
        </p:nvPicPr>
        <p:blipFill>
          <a:blip r:embed="rId2"/>
          <a:stretch>
            <a:fillRect/>
          </a:stretch>
        </p:blipFill>
        <p:spPr>
          <a:xfrm>
            <a:off x="3218154" y="2389056"/>
            <a:ext cx="2707692" cy="3934523"/>
          </a:xfrm>
          <a:prstGeom prst="rect">
            <a:avLst/>
          </a:prstGeom>
        </p:spPr>
      </p:pic>
    </p:spTree>
    <p:extLst>
      <p:ext uri="{BB962C8B-B14F-4D97-AF65-F5344CB8AC3E}">
        <p14:creationId xmlns:p14="http://schemas.microsoft.com/office/powerpoint/2010/main" val="3543911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2BF9B3-3C73-4D07-B1A1-E001D87F6A42}"/>
              </a:ext>
            </a:extLst>
          </p:cNvPr>
          <p:cNvSpPr txBox="1"/>
          <p:nvPr/>
        </p:nvSpPr>
        <p:spPr>
          <a:xfrm>
            <a:off x="381000" y="76200"/>
            <a:ext cx="7772400" cy="6817251"/>
          </a:xfrm>
          <a:prstGeom prst="rect">
            <a:avLst/>
          </a:prstGeom>
          <a:noFill/>
        </p:spPr>
        <p:txBody>
          <a:bodyPr wrap="square">
            <a:spAutoFit/>
          </a:bodyPr>
          <a:lstStyle/>
          <a:p>
            <a:r>
              <a:rPr lang="en-US" sz="2300" dirty="0">
                <a:latin typeface="Consolas" panose="020B0609020204030204" pitchFamily="49" charset="0"/>
              </a:rPr>
              <a:t>public class </a:t>
            </a:r>
            <a:r>
              <a:rPr lang="en-US" sz="2300" dirty="0" err="1">
                <a:latin typeface="Consolas" panose="020B0609020204030204" pitchFamily="49" charset="0"/>
              </a:rPr>
              <a:t>MyStack</a:t>
            </a:r>
            <a:r>
              <a:rPr lang="en-US" sz="2300" dirty="0">
                <a:latin typeface="Consolas" panose="020B0609020204030204" pitchFamily="49" charset="0"/>
              </a:rPr>
              <a:t> { </a:t>
            </a:r>
          </a:p>
          <a:p>
            <a:r>
              <a:rPr lang="en-US" sz="2300" dirty="0">
                <a:latin typeface="Consolas" panose="020B0609020204030204" pitchFamily="49" charset="0"/>
              </a:rPr>
              <a:t>   private </a:t>
            </a:r>
            <a:r>
              <a:rPr lang="en-US" sz="2300" dirty="0" err="1">
                <a:latin typeface="Consolas" panose="020B0609020204030204" pitchFamily="49" charset="0"/>
              </a:rPr>
              <a:t>java.util.Stack</a:t>
            </a:r>
            <a:r>
              <a:rPr lang="en-US" sz="2300" dirty="0">
                <a:latin typeface="Consolas" panose="020B0609020204030204" pitchFamily="49" charset="0"/>
              </a:rPr>
              <a:t> stack; </a:t>
            </a:r>
          </a:p>
          <a:p>
            <a:endParaRPr lang="en-US" sz="2300" dirty="0">
              <a:latin typeface="Consolas" panose="020B0609020204030204" pitchFamily="49" charset="0"/>
            </a:endParaRPr>
          </a:p>
          <a:p>
            <a:r>
              <a:rPr lang="en-US" sz="2300" dirty="0">
                <a:latin typeface="Consolas" panose="020B0609020204030204" pitchFamily="49" charset="0"/>
              </a:rPr>
              <a:t>   public </a:t>
            </a:r>
            <a:r>
              <a:rPr lang="en-US" sz="2300" dirty="0" err="1">
                <a:latin typeface="Consolas" panose="020B0609020204030204" pitchFamily="49" charset="0"/>
              </a:rPr>
              <a:t>MyStack</a:t>
            </a:r>
            <a:r>
              <a:rPr lang="en-US" sz="2300" dirty="0">
                <a:latin typeface="Consolas" panose="020B0609020204030204" pitchFamily="49" charset="0"/>
              </a:rPr>
              <a:t>(){</a:t>
            </a:r>
          </a:p>
          <a:p>
            <a:r>
              <a:rPr lang="en-US" sz="2300" dirty="0">
                <a:latin typeface="Consolas" panose="020B0609020204030204" pitchFamily="49" charset="0"/>
              </a:rPr>
              <a:t>      stack = new </a:t>
            </a:r>
            <a:r>
              <a:rPr lang="en-US" sz="2300" dirty="0" err="1">
                <a:latin typeface="Consolas" panose="020B0609020204030204" pitchFamily="49" charset="0"/>
              </a:rPr>
              <a:t>java.util.Stack</a:t>
            </a:r>
            <a:r>
              <a:rPr lang="en-US" sz="2300" dirty="0">
                <a:latin typeface="Consolas" panose="020B0609020204030204" pitchFamily="49" charset="0"/>
              </a:rPr>
              <a:t>();</a:t>
            </a:r>
          </a:p>
          <a:p>
            <a:r>
              <a:rPr lang="en-US" sz="2300" dirty="0">
                <a:latin typeface="Consolas" panose="020B0609020204030204" pitchFamily="49" charset="0"/>
              </a:rPr>
              <a:t>   }</a:t>
            </a:r>
          </a:p>
          <a:p>
            <a:r>
              <a:rPr lang="en-US" sz="2300" dirty="0">
                <a:latin typeface="Consolas" panose="020B0609020204030204" pitchFamily="49" charset="0"/>
              </a:rPr>
              <a:t>   public void push(Object o) {   </a:t>
            </a:r>
          </a:p>
          <a:p>
            <a:r>
              <a:rPr lang="en-US" sz="2300" dirty="0">
                <a:latin typeface="Consolas" panose="020B0609020204030204" pitchFamily="49" charset="0"/>
              </a:rPr>
              <a:t>      </a:t>
            </a:r>
            <a:r>
              <a:rPr lang="en-US" sz="2300" dirty="0" err="1">
                <a:latin typeface="Consolas" panose="020B0609020204030204" pitchFamily="49" charset="0"/>
              </a:rPr>
              <a:t>stack.push</a:t>
            </a:r>
            <a:r>
              <a:rPr lang="en-US" sz="2300" dirty="0">
                <a:latin typeface="Consolas" panose="020B0609020204030204" pitchFamily="49" charset="0"/>
              </a:rPr>
              <a:t>(o); </a:t>
            </a:r>
          </a:p>
          <a:p>
            <a:r>
              <a:rPr lang="en-US" sz="2300" dirty="0">
                <a:latin typeface="Consolas" panose="020B0609020204030204" pitchFamily="49" charset="0"/>
              </a:rPr>
              <a:t>   } </a:t>
            </a:r>
          </a:p>
          <a:p>
            <a:r>
              <a:rPr lang="en-US" sz="2300" dirty="0">
                <a:latin typeface="Consolas" panose="020B0609020204030204" pitchFamily="49" charset="0"/>
              </a:rPr>
              <a:t>   public Object pop() { </a:t>
            </a:r>
          </a:p>
          <a:p>
            <a:r>
              <a:rPr lang="en-US" sz="2300" dirty="0">
                <a:latin typeface="Consolas" panose="020B0609020204030204" pitchFamily="49" charset="0"/>
              </a:rPr>
              <a:t>      return </a:t>
            </a:r>
            <a:r>
              <a:rPr lang="en-US" sz="2300" dirty="0" err="1">
                <a:latin typeface="Consolas" panose="020B0609020204030204" pitchFamily="49" charset="0"/>
              </a:rPr>
              <a:t>stack.pop</a:t>
            </a:r>
            <a:r>
              <a:rPr lang="en-US" sz="2300" dirty="0">
                <a:latin typeface="Consolas" panose="020B0609020204030204" pitchFamily="49" charset="0"/>
              </a:rPr>
              <a:t>(); </a:t>
            </a:r>
          </a:p>
          <a:p>
            <a:r>
              <a:rPr lang="en-US" sz="2300" dirty="0">
                <a:latin typeface="Consolas" panose="020B0609020204030204" pitchFamily="49" charset="0"/>
              </a:rPr>
              <a:t>   } </a:t>
            </a:r>
          </a:p>
          <a:p>
            <a:r>
              <a:rPr lang="en-US" sz="2300" dirty="0">
                <a:latin typeface="Consolas" panose="020B0609020204030204" pitchFamily="49" charset="0"/>
              </a:rPr>
              <a:t>   public object peek() { </a:t>
            </a:r>
          </a:p>
          <a:p>
            <a:r>
              <a:rPr lang="en-US" sz="2300" dirty="0">
                <a:latin typeface="Consolas" panose="020B0609020204030204" pitchFamily="49" charset="0"/>
              </a:rPr>
              <a:t>      return </a:t>
            </a:r>
            <a:r>
              <a:rPr lang="en-US" sz="2300" dirty="0" err="1">
                <a:latin typeface="Consolas" panose="020B0609020204030204" pitchFamily="49" charset="0"/>
              </a:rPr>
              <a:t>stack.peek</a:t>
            </a:r>
            <a:r>
              <a:rPr lang="en-US" sz="2300" dirty="0">
                <a:latin typeface="Consolas" panose="020B0609020204030204" pitchFamily="49" charset="0"/>
              </a:rPr>
              <a:t>(); </a:t>
            </a:r>
          </a:p>
          <a:p>
            <a:r>
              <a:rPr lang="en-US" sz="2300" dirty="0">
                <a:latin typeface="Consolas" panose="020B0609020204030204" pitchFamily="49" charset="0"/>
              </a:rPr>
              <a:t>   } </a:t>
            </a:r>
          </a:p>
          <a:p>
            <a:r>
              <a:rPr lang="en-US" sz="2300" dirty="0">
                <a:latin typeface="Consolas" panose="020B0609020204030204" pitchFamily="49" charset="0"/>
              </a:rPr>
              <a:t>   public </a:t>
            </a:r>
            <a:r>
              <a:rPr lang="en-US" sz="2300" dirty="0" err="1">
                <a:latin typeface="Consolas" panose="020B0609020204030204" pitchFamily="49" charset="0"/>
              </a:rPr>
              <a:t>boolean</a:t>
            </a:r>
            <a:r>
              <a:rPr lang="en-US" sz="2300" dirty="0">
                <a:latin typeface="Consolas" panose="020B0609020204030204" pitchFamily="49" charset="0"/>
              </a:rPr>
              <a:t> </a:t>
            </a:r>
            <a:r>
              <a:rPr lang="en-US" sz="2300" dirty="0" err="1">
                <a:latin typeface="Consolas" panose="020B0609020204030204" pitchFamily="49" charset="0"/>
              </a:rPr>
              <a:t>isEmpty</a:t>
            </a:r>
            <a:r>
              <a:rPr lang="en-US" sz="2300" dirty="0">
                <a:latin typeface="Consolas" panose="020B0609020204030204" pitchFamily="49" charset="0"/>
              </a:rPr>
              <a:t>(){</a:t>
            </a:r>
          </a:p>
          <a:p>
            <a:r>
              <a:rPr lang="en-US" sz="2300" dirty="0">
                <a:latin typeface="Consolas" panose="020B0609020204030204" pitchFamily="49" charset="0"/>
              </a:rPr>
              <a:t>      return </a:t>
            </a:r>
            <a:r>
              <a:rPr lang="en-US" sz="2300" dirty="0" err="1">
                <a:latin typeface="Consolas" panose="020B0609020204030204" pitchFamily="49" charset="0"/>
              </a:rPr>
              <a:t>stack.empty</a:t>
            </a:r>
            <a:r>
              <a:rPr lang="en-US" sz="2300" dirty="0">
                <a:latin typeface="Consolas" panose="020B0609020204030204" pitchFamily="49" charset="0"/>
              </a:rPr>
              <a:t>();</a:t>
            </a:r>
          </a:p>
          <a:p>
            <a:r>
              <a:rPr lang="en-US" sz="2300" dirty="0">
                <a:latin typeface="Consolas" panose="020B0609020204030204" pitchFamily="49" charset="0"/>
              </a:rPr>
              <a:t>   }</a:t>
            </a:r>
            <a:br>
              <a:rPr lang="en-US" sz="2300" dirty="0">
                <a:latin typeface="Consolas" panose="020B0609020204030204" pitchFamily="49" charset="0"/>
              </a:rPr>
            </a:br>
            <a:r>
              <a:rPr lang="en-US" sz="2300" dirty="0">
                <a:latin typeface="Consolas" panose="020B0609020204030204" pitchFamily="49" charset="0"/>
              </a:rPr>
              <a:t>} </a:t>
            </a:r>
          </a:p>
        </p:txBody>
      </p:sp>
    </p:spTree>
    <p:extLst>
      <p:ext uri="{BB962C8B-B14F-4D97-AF65-F5344CB8AC3E}">
        <p14:creationId xmlns:p14="http://schemas.microsoft.com/office/powerpoint/2010/main" val="121424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7C3D21F-4640-4544-93AC-9ED658DF96E2}"/>
              </a:ext>
            </a:extLst>
          </p:cNvPr>
          <p:cNvSpPr txBox="1"/>
          <p:nvPr/>
        </p:nvSpPr>
        <p:spPr>
          <a:xfrm>
            <a:off x="595658" y="304800"/>
            <a:ext cx="7633942" cy="1815882"/>
          </a:xfrm>
          <a:prstGeom prst="rect">
            <a:avLst/>
          </a:prstGeom>
          <a:noFill/>
        </p:spPr>
        <p:txBody>
          <a:bodyPr wrap="square">
            <a:spAutoFit/>
          </a:bodyPr>
          <a:lstStyle/>
          <a:p>
            <a:pPr algn="ctr"/>
            <a:r>
              <a:rPr lang="en-US" sz="3200" b="0" i="0" u="none" strike="noStrike" baseline="0" dirty="0">
                <a:solidFill>
                  <a:srgbClr val="24292E"/>
                </a:solidFill>
                <a:latin typeface="OpenSans-Regular"/>
              </a:rPr>
              <a:t>Solution</a:t>
            </a:r>
          </a:p>
          <a:p>
            <a:pPr algn="ctr"/>
            <a:endParaRPr lang="en-US" sz="3200" b="0" i="0" u="none" strike="noStrike" baseline="0" dirty="0">
              <a:solidFill>
                <a:srgbClr val="24292E"/>
              </a:solidFill>
              <a:latin typeface="OpenSans-Regular"/>
            </a:endParaRPr>
          </a:p>
          <a:p>
            <a:pPr algn="l"/>
            <a:r>
              <a:rPr lang="en-US" sz="2400" b="0" i="0" u="none" strike="noStrike" baseline="0" dirty="0">
                <a:solidFill>
                  <a:srgbClr val="222222"/>
                </a:solidFill>
                <a:latin typeface="OpenSans-Regular"/>
              </a:rPr>
              <a:t>Create a field and put a superclass object in it, delegate methods to the superclass object, and get rid of inheritance.</a:t>
            </a:r>
            <a:endParaRPr lang="en-US" dirty="0"/>
          </a:p>
        </p:txBody>
      </p:sp>
      <p:pic>
        <p:nvPicPr>
          <p:cNvPr id="4" name="Picture 3">
            <a:extLst>
              <a:ext uri="{FF2B5EF4-FFF2-40B4-BE49-F238E27FC236}">
                <a16:creationId xmlns:a16="http://schemas.microsoft.com/office/drawing/2014/main" id="{C9CB7E88-FF85-4F65-8B91-1D82130D18C1}"/>
              </a:ext>
            </a:extLst>
          </p:cNvPr>
          <p:cNvPicPr>
            <a:picLocks noChangeAspect="1"/>
          </p:cNvPicPr>
          <p:nvPr/>
        </p:nvPicPr>
        <p:blipFill>
          <a:blip r:embed="rId2"/>
          <a:stretch>
            <a:fillRect/>
          </a:stretch>
        </p:blipFill>
        <p:spPr>
          <a:xfrm>
            <a:off x="595658" y="2743200"/>
            <a:ext cx="7495483" cy="3711997"/>
          </a:xfrm>
          <a:prstGeom prst="rect">
            <a:avLst/>
          </a:prstGeom>
        </p:spPr>
      </p:pic>
    </p:spTree>
    <p:extLst>
      <p:ext uri="{BB962C8B-B14F-4D97-AF65-F5344CB8AC3E}">
        <p14:creationId xmlns:p14="http://schemas.microsoft.com/office/powerpoint/2010/main" val="3572852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23F9FE6-120C-46A8-8554-A8CE0AD37052}"/>
              </a:ext>
            </a:extLst>
          </p:cNvPr>
          <p:cNvSpPr txBox="1"/>
          <p:nvPr/>
        </p:nvSpPr>
        <p:spPr>
          <a:xfrm>
            <a:off x="457200" y="304800"/>
            <a:ext cx="8305800" cy="4770537"/>
          </a:xfrm>
          <a:prstGeom prst="rect">
            <a:avLst/>
          </a:prstGeom>
          <a:noFill/>
        </p:spPr>
        <p:txBody>
          <a:bodyPr wrap="square">
            <a:spAutoFit/>
          </a:bodyPr>
          <a:lstStyle/>
          <a:p>
            <a:pPr algn="l"/>
            <a:r>
              <a:rPr lang="en-US" sz="3200" b="0" i="0" u="none" strike="noStrike" baseline="0" dirty="0">
                <a:solidFill>
                  <a:srgbClr val="24292E"/>
                </a:solidFill>
                <a:latin typeface="OpenSans-Regular"/>
              </a:rPr>
              <a:t>Why Refactor</a:t>
            </a:r>
          </a:p>
          <a:p>
            <a:pPr algn="l"/>
            <a:endParaRPr lang="en-US" sz="3200" b="0" i="0" u="none" strike="noStrike" baseline="0" dirty="0">
              <a:solidFill>
                <a:srgbClr val="24292E"/>
              </a:solidFill>
              <a:latin typeface="OpenSans-Regular"/>
            </a:endParaRPr>
          </a:p>
          <a:p>
            <a:pPr algn="l"/>
            <a:r>
              <a:rPr lang="en-US" sz="2400" b="0" i="0" u="none" strike="noStrike" baseline="0" dirty="0">
                <a:solidFill>
                  <a:srgbClr val="222222"/>
                </a:solidFill>
                <a:latin typeface="OpenSans-Regular"/>
              </a:rPr>
              <a:t>Replacing inheritance with composition can substantially improve class design if:</a:t>
            </a:r>
          </a:p>
          <a:p>
            <a:pPr algn="l"/>
            <a:endParaRPr lang="en-US" sz="2400" b="0" i="0" u="none" strike="noStrike" baseline="0" dirty="0">
              <a:solidFill>
                <a:srgbClr val="222222"/>
              </a:solidFill>
              <a:latin typeface="OpenSans-Regular"/>
            </a:endParaRPr>
          </a:p>
          <a:p>
            <a:pPr marL="342900" indent="-342900" algn="l">
              <a:buFont typeface="Arial" panose="020B0604020202020204" pitchFamily="34" charset="0"/>
              <a:buChar char="•"/>
            </a:pPr>
            <a:r>
              <a:rPr lang="en-US" sz="2400" b="0" i="0" u="none" strike="noStrike" baseline="0" dirty="0">
                <a:solidFill>
                  <a:srgbClr val="222222"/>
                </a:solidFill>
                <a:latin typeface="OpenSans-Regular"/>
              </a:rPr>
              <a:t>Your subclass violates the </a:t>
            </a:r>
            <a:r>
              <a:rPr lang="en-US" sz="2400" b="0" i="1" u="none" strike="noStrike" baseline="0" dirty="0" err="1">
                <a:solidFill>
                  <a:srgbClr val="222222"/>
                </a:solidFill>
                <a:latin typeface="OpenSans-Italic"/>
              </a:rPr>
              <a:t>Liskov</a:t>
            </a:r>
            <a:r>
              <a:rPr lang="en-US" sz="2400" b="0" i="1" u="none" strike="noStrike" baseline="0" dirty="0">
                <a:solidFill>
                  <a:srgbClr val="222222"/>
                </a:solidFill>
                <a:latin typeface="OpenSans-Italic"/>
              </a:rPr>
              <a:t> substitution principle</a:t>
            </a:r>
            <a:r>
              <a:rPr lang="en-US" sz="2400" b="0" i="0" u="none" strike="noStrike" baseline="0" dirty="0">
                <a:solidFill>
                  <a:srgbClr val="222222"/>
                </a:solidFill>
                <a:latin typeface="OpenSans-Regular"/>
              </a:rPr>
              <a:t>, i.e., if inheritance was implemented only to combine common code but not because the subclass is an extension of the superclass.</a:t>
            </a:r>
          </a:p>
          <a:p>
            <a:pPr marL="342900" indent="-342900" algn="l">
              <a:buFont typeface="Arial" panose="020B0604020202020204" pitchFamily="34" charset="0"/>
              <a:buChar char="•"/>
            </a:pPr>
            <a:r>
              <a:rPr lang="en-US" b="0" dirty="0"/>
              <a:t>The subclass uses only a portion of the methods of the superclass. In this case, it’s only a matter of time before someone calls a superclass method that he or she wasn’t supposed to call.</a:t>
            </a:r>
          </a:p>
        </p:txBody>
      </p:sp>
    </p:spTree>
    <p:extLst>
      <p:ext uri="{BB962C8B-B14F-4D97-AF65-F5344CB8AC3E}">
        <p14:creationId xmlns:p14="http://schemas.microsoft.com/office/powerpoint/2010/main" val="637175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9A68E4B-B22E-4BD4-94BF-418246C0C0AB}"/>
              </a:ext>
            </a:extLst>
          </p:cNvPr>
          <p:cNvSpPr txBox="1"/>
          <p:nvPr/>
        </p:nvSpPr>
        <p:spPr>
          <a:xfrm>
            <a:off x="762000" y="838200"/>
            <a:ext cx="8153400" cy="3236142"/>
          </a:xfrm>
          <a:prstGeom prst="rect">
            <a:avLst/>
          </a:prstGeom>
          <a:noFill/>
        </p:spPr>
        <p:txBody>
          <a:bodyPr wrap="square">
            <a:spAutoFit/>
          </a:bodyPr>
          <a:lstStyle/>
          <a:p>
            <a:pPr>
              <a:lnSpc>
                <a:spcPct val="150000"/>
              </a:lnSpc>
            </a:pPr>
            <a:r>
              <a:rPr lang="en-US" sz="2800" dirty="0"/>
              <a:t>Inheritance and Delegation compared </a:t>
            </a:r>
            <a:r>
              <a:rPr lang="en-US" sz="2800" i="1" dirty="0"/>
              <a:t>in re </a:t>
            </a:r>
            <a:r>
              <a:rPr lang="en-US" sz="2800" dirty="0"/>
              <a:t>:</a:t>
            </a:r>
          </a:p>
          <a:p>
            <a:pPr marL="342900" indent="-342900">
              <a:lnSpc>
                <a:spcPct val="150000"/>
              </a:lnSpc>
              <a:buFont typeface="Arial" panose="020B0604020202020204" pitchFamily="34" charset="0"/>
              <a:buChar char="•"/>
            </a:pPr>
            <a:r>
              <a:rPr lang="en-US" sz="2800" dirty="0"/>
              <a:t>Polymorphism</a:t>
            </a:r>
          </a:p>
          <a:p>
            <a:pPr marL="342900" indent="-342900">
              <a:lnSpc>
                <a:spcPct val="150000"/>
              </a:lnSpc>
              <a:buFont typeface="Arial" panose="020B0604020202020204" pitchFamily="34" charset="0"/>
              <a:buChar char="•"/>
            </a:pPr>
            <a:r>
              <a:rPr lang="en-US" sz="2800" dirty="0"/>
              <a:t>Interface</a:t>
            </a:r>
          </a:p>
          <a:p>
            <a:pPr marL="342900" indent="-342900">
              <a:lnSpc>
                <a:spcPct val="150000"/>
              </a:lnSpc>
              <a:buFont typeface="Arial" panose="020B0604020202020204" pitchFamily="34" charset="0"/>
              <a:buChar char="•"/>
            </a:pPr>
            <a:r>
              <a:rPr lang="en-US" sz="2800" dirty="0"/>
              <a:t>Efficiency</a:t>
            </a:r>
          </a:p>
          <a:p>
            <a:pPr marL="342900" indent="-342900">
              <a:lnSpc>
                <a:spcPct val="150000"/>
              </a:lnSpc>
              <a:buFont typeface="Arial" panose="020B0604020202020204" pitchFamily="34" charset="0"/>
              <a:buChar char="•"/>
            </a:pPr>
            <a:r>
              <a:rPr lang="en-US" sz="2800" dirty="0"/>
              <a:t>Amount of code.</a:t>
            </a:r>
          </a:p>
        </p:txBody>
      </p:sp>
    </p:spTree>
    <p:extLst>
      <p:ext uri="{BB962C8B-B14F-4D97-AF65-F5344CB8AC3E}">
        <p14:creationId xmlns:p14="http://schemas.microsoft.com/office/powerpoint/2010/main" val="3779497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B913BCD-BD0C-4982-8B8F-5675F683E218}"/>
              </a:ext>
            </a:extLst>
          </p:cNvPr>
          <p:cNvSpPr>
            <a:spLocks noGrp="1"/>
          </p:cNvSpPr>
          <p:nvPr>
            <p:ph type="ftr" sz="quarter" idx="12"/>
          </p:nvPr>
        </p:nvSpPr>
        <p:spPr/>
        <p:txBody>
          <a:body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
        <p:nvSpPr>
          <p:cNvPr id="3" name="TextBox 2">
            <a:extLst>
              <a:ext uri="{FF2B5EF4-FFF2-40B4-BE49-F238E27FC236}">
                <a16:creationId xmlns:a16="http://schemas.microsoft.com/office/drawing/2014/main" id="{85F9B81C-DF3D-48AC-8601-3BD96D4DA942}"/>
              </a:ext>
            </a:extLst>
          </p:cNvPr>
          <p:cNvSpPr txBox="1"/>
          <p:nvPr/>
        </p:nvSpPr>
        <p:spPr>
          <a:xfrm>
            <a:off x="838200" y="990600"/>
            <a:ext cx="7010400" cy="4832092"/>
          </a:xfrm>
          <a:prstGeom prst="rect">
            <a:avLst/>
          </a:prstGeom>
          <a:noFill/>
        </p:spPr>
        <p:txBody>
          <a:bodyPr wrap="square" rtlCol="0">
            <a:spAutoFit/>
          </a:bodyPr>
          <a:lstStyle/>
          <a:p>
            <a:pPr algn="ctr"/>
            <a:r>
              <a:rPr lang="en-US" sz="2800" dirty="0"/>
              <a:t>When to use:</a:t>
            </a:r>
          </a:p>
          <a:p>
            <a:endParaRPr lang="en-US" sz="2800" dirty="0"/>
          </a:p>
          <a:p>
            <a:r>
              <a:rPr lang="en-US" sz="2800" b="0" dirty="0"/>
              <a:t>Use </a:t>
            </a:r>
            <a:r>
              <a:rPr lang="en-US" sz="2800" dirty="0"/>
              <a:t>Inheritance</a:t>
            </a:r>
            <a:r>
              <a:rPr lang="en-US" sz="2800" b="0" dirty="0"/>
              <a:t> when you want all the methods plus more.</a:t>
            </a:r>
          </a:p>
          <a:p>
            <a:endParaRPr lang="en-US" sz="2800" b="0" dirty="0"/>
          </a:p>
          <a:p>
            <a:r>
              <a:rPr lang="en-US" sz="2800" b="0" dirty="0"/>
              <a:t>Use </a:t>
            </a:r>
            <a:r>
              <a:rPr lang="en-US" sz="2800" dirty="0"/>
              <a:t>Delegation</a:t>
            </a:r>
            <a:r>
              <a:rPr lang="en-US" sz="2800" b="0" dirty="0"/>
              <a:t> when you want some of the original methods plus more.</a:t>
            </a:r>
          </a:p>
          <a:p>
            <a:endParaRPr lang="en-US" sz="2800" b="0" dirty="0"/>
          </a:p>
          <a:p>
            <a:r>
              <a:rPr lang="en-US" sz="2800" b="0" dirty="0"/>
              <a:t>Use an </a:t>
            </a:r>
            <a:r>
              <a:rPr lang="en-US" sz="2800" dirty="0"/>
              <a:t>Interface</a:t>
            </a:r>
            <a:r>
              <a:rPr lang="en-US" sz="2800" b="0" dirty="0"/>
              <a:t> when you just want some of the original methods, but no new ones.</a:t>
            </a:r>
          </a:p>
        </p:txBody>
      </p:sp>
    </p:spTree>
    <p:extLst>
      <p:ext uri="{BB962C8B-B14F-4D97-AF65-F5344CB8AC3E}">
        <p14:creationId xmlns:p14="http://schemas.microsoft.com/office/powerpoint/2010/main" val="3057457719"/>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977</TotalTime>
  <Words>686</Words>
  <Application>Microsoft Office PowerPoint</Application>
  <PresentationFormat>On-screen Show (4:3)</PresentationFormat>
  <Paragraphs>69</Paragraphs>
  <Slides>12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Arial</vt:lpstr>
      <vt:lpstr>Arial Black</vt:lpstr>
      <vt:lpstr>Consolas</vt:lpstr>
      <vt:lpstr>Courier New</vt:lpstr>
      <vt:lpstr>OpenSans-Italic</vt:lpstr>
      <vt:lpstr>OpenSans-Regular</vt:lpstr>
      <vt:lpstr>Tahoma</vt:lpstr>
      <vt:lpstr>Times New Roman</vt:lpstr>
      <vt:lpstr>urw-din</vt:lpstr>
      <vt:lpstr>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www.apluscompsci.com</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Heaps</dc:title>
  <dc:subject>Heaps</dc:subject>
  <dc:creator>A+ Computer Science</dc:creator>
  <cp:keywords>www.apluscompsci.com</cp:keywords>
  <dc:description>Heaps_x000d_
©A+ Computer Science_x000d_
www.apluscompsci.com</dc:description>
  <cp:lastModifiedBy>Weldon Jasik</cp:lastModifiedBy>
  <cp:revision>225</cp:revision>
  <dcterms:created xsi:type="dcterms:W3CDTF">1999-09-27T16:27:24Z</dcterms:created>
  <dcterms:modified xsi:type="dcterms:W3CDTF">2022-03-04T17:34:19Z</dcterms:modified>
  <cp:category>www.apluscompsci.com</cp:category>
</cp:coreProperties>
</file>
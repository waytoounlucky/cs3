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491" r:id="rId2"/>
    <p:sldId id="496" r:id="rId3"/>
    <p:sldId id="497" r:id="rId4"/>
    <p:sldId id="418" r:id="rId5"/>
    <p:sldId id="505" r:id="rId6"/>
    <p:sldId id="509" r:id="rId7"/>
    <p:sldId id="510" r:id="rId8"/>
    <p:sldId id="511" r:id="rId9"/>
    <p:sldId id="489" r:id="rId10"/>
    <p:sldId id="490" r:id="rId11"/>
    <p:sldId id="446" r:id="rId12"/>
    <p:sldId id="523" r:id="rId13"/>
    <p:sldId id="506" r:id="rId14"/>
    <p:sldId id="479" r:id="rId15"/>
    <p:sldId id="522" r:id="rId16"/>
    <p:sldId id="482" r:id="rId17"/>
    <p:sldId id="451" r:id="rId18"/>
    <p:sldId id="524" r:id="rId19"/>
    <p:sldId id="481" r:id="rId20"/>
    <p:sldId id="514" r:id="rId21"/>
    <p:sldId id="517" r:id="rId22"/>
    <p:sldId id="516" r:id="rId23"/>
    <p:sldId id="518" r:id="rId24"/>
    <p:sldId id="519" r:id="rId25"/>
    <p:sldId id="501" r:id="rId26"/>
    <p:sldId id="502" r:id="rId27"/>
    <p:sldId id="520" r:id="rId28"/>
    <p:sldId id="512" r:id="rId29"/>
    <p:sldId id="513" r:id="rId30"/>
    <p:sldId id="504" r:id="rId31"/>
    <p:sldId id="521" r:id="rId32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6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660033"/>
    <a:srgbClr val="006600"/>
    <a:srgbClr val="0000CC"/>
    <a:srgbClr val="3333FF"/>
    <a:srgbClr val="3333CC"/>
    <a:srgbClr val="99CCFF"/>
    <a:srgbClr val="FFFFCC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75" d="100"/>
          <a:sy n="75" d="100"/>
        </p:scale>
        <p:origin x="27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08" y="-90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3162D8F-6614-4BB4-8711-3748822C1D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5220039-EDA8-482D-A9E1-2A438C691DC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4837452-2F41-4834-A311-1524F3270E4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294D18C-A86E-4C04-8FE0-5D713CB7C8F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7F382BD-787B-47EA-BDD0-933E04E935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D3F3836-1C0E-4F84-872E-822864A224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83751BF-929F-437F-B44F-03EA1B83FD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521C5C4-EE55-4A40-8D48-19DAFF689CF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6488" y="698500"/>
            <a:ext cx="4645025" cy="34829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D51AAAF-AB95-4293-B2D7-5A4576203EB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75761F15-D7DC-4730-9071-A28B527044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5C41C271-5F46-4EE2-9C50-EBEB5C4CF2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3E8614-B0D0-4486-99C4-EC561B2B41E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E03D25AA-DED0-4AAA-A556-A2518D2247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839E93D-85DF-4051-AF58-1A0192F274BE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6219688B-E0E3-48E7-B5E9-562BC09AB4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ABDE956-347A-4D22-89D8-B5B016711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2A1A84BB-BE7E-4CF3-9F1E-10D61D7E03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2621F55-CEEE-4D68-A723-16D877D20A41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5B1AE56E-FEC3-4265-A5DE-ED40828ED2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ADF7206-C056-465F-A593-6C9A2DD820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A19B8352-9FB3-452B-A0CB-FCD825DC59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1D08E3B-7143-4F34-B92C-5CC354FAC28E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5E9BDD-5945-42E1-89C5-7924C1BF2E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98B4FFBD-082D-4027-8660-5B5E43415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416425"/>
            <a:ext cx="5486400" cy="4183063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FD94C64D-08D2-4711-9160-2C3F10C992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0208493-979E-485E-BDF6-2D7F10F1D81B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4FE99EB-8309-4B9B-AD06-74B32358B0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B2823DCD-816D-4620-858F-6C7D3E86C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F8133C5C-6CD4-4799-ABD3-1C4019E2E1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8A56B02-D56C-4E3A-85B0-B48E1D381305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58DAF1FA-3AFD-4997-A559-388654E6FF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887AB7B-EF1A-49AE-B8B1-855DF42E2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4BC4826F-F671-4C95-BD49-1D1465C937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2118C7E-BE4C-4134-9229-81064AF63663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FDF7E48-3828-4B9E-9BC1-6F3E3B1300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3F512768-9F79-4A1B-98C3-16523BD47E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600"/>
              <a:t>Map is an interface; thus, it cannot be instantiated.  </a:t>
            </a:r>
          </a:p>
          <a:p>
            <a:pPr eaLnBrk="1" hangingPunct="1"/>
            <a:r>
              <a:rPr lang="en-US" altLang="en-US" sz="1600">
                <a:latin typeface="Courier New" panose="02070309020205020404" pitchFamily="49" charset="0"/>
              </a:rPr>
              <a:t>Map bad = new Map();</a:t>
            </a:r>
            <a:r>
              <a:rPr lang="en-US" altLang="en-US" sz="1600"/>
              <a:t>	//illegal</a:t>
            </a:r>
          </a:p>
          <a:p>
            <a:pPr eaLnBrk="1" hangingPunct="1"/>
            <a:r>
              <a:rPr lang="en-US" altLang="en-US" sz="1600"/>
              <a:t>HashMap and TreeMap are children of Map.  Map can be used as a reference to any of its children.</a:t>
            </a:r>
          </a:p>
          <a:p>
            <a:pPr eaLnBrk="1" hangingPunct="1"/>
            <a:r>
              <a:rPr lang="en-US" altLang="en-US" sz="1600">
                <a:latin typeface="Courier New" panose="02070309020205020404" pitchFamily="49" charset="0"/>
              </a:rPr>
              <a:t>Map hash = new HashMap();</a:t>
            </a:r>
          </a:p>
          <a:p>
            <a:pPr eaLnBrk="1" hangingPunct="1"/>
            <a:r>
              <a:rPr lang="en-US" altLang="en-US" sz="1600">
                <a:latin typeface="Courier New" panose="02070309020205020404" pitchFamily="49" charset="0"/>
              </a:rPr>
              <a:t>Map tree = new TreeMap();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A546A59D-29E8-44E0-90A3-5F83703C62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767021F-6216-43C0-B92B-0F28EEF804A4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ABE3258-3545-440E-9D6E-5808DB45D3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C87287C-ABEA-4A84-9689-2F59406CD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DC55405B-4EBF-4EDA-BE04-4E7C66CC5C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78078F9-A80D-482F-897F-CDCB6CAE6208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A7EF43B-B9BE-4B81-B70E-4C71DFD6FC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BA00FAD-E6B2-432F-9BDD-E3A105BC1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038FFD6C-629A-4B71-BBA8-8BEEC93279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CD7F988-B44C-4956-A72A-20DF4B504171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4E1C518-A243-4DBF-BF4C-77B6E05313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493A968-1B0A-49DE-BBA5-35BD0BDB3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CB01574-D0E0-45F6-ACFB-3FF324AF2F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E9C6CEB-9987-4631-95D7-10E5E2976412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DD34D2A9-06A0-49A9-8BA5-65B01BC53D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71E84B9C-92DB-4C8D-94BC-914EFAEAF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7AC4235-3912-4586-ADE7-4138C46782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BF0027F-75DE-4394-BDCF-1AFA1F237710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865E346-B9F7-41BF-9EA7-0A2D01F5E4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90C1F70E-8314-4076-8AFC-AD19A18F56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600"/>
              <a:t>The </a:t>
            </a:r>
            <a:r>
              <a:rPr lang="en-US" altLang="en-US" sz="1600">
                <a:latin typeface="Courier New" panose="02070309020205020404" pitchFamily="49" charset="0"/>
              </a:rPr>
              <a:t>put()</a:t>
            </a:r>
            <a:r>
              <a:rPr lang="en-US" altLang="en-US" sz="1600"/>
              <a:t> method is used to put a key,value pair into the map.   The </a:t>
            </a:r>
            <a:r>
              <a:rPr lang="en-US" altLang="en-US" sz="1600">
                <a:latin typeface="Courier New" panose="02070309020205020404" pitchFamily="49" charset="0"/>
              </a:rPr>
              <a:t>put()</a:t>
            </a:r>
            <a:r>
              <a:rPr lang="en-US" altLang="en-US" sz="1600"/>
              <a:t> returns a reference to the key that is being replaced.</a:t>
            </a:r>
          </a:p>
          <a:p>
            <a:pPr eaLnBrk="1" hangingPunct="1"/>
            <a:r>
              <a:rPr lang="en-US" altLang="en-US" sz="1600"/>
              <a:t>The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method returns a reference to the value associated with the specified key.  If the key specified is not present, the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method returns null.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7AC4235-3912-4586-ADE7-4138C46782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BF0027F-75DE-4394-BDCF-1AFA1F237710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865E346-B9F7-41BF-9EA7-0A2D01F5E4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90C1F70E-8314-4076-8AFC-AD19A18F56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600"/>
              <a:t>The </a:t>
            </a:r>
            <a:r>
              <a:rPr lang="en-US" altLang="en-US" sz="1600">
                <a:latin typeface="Courier New" panose="02070309020205020404" pitchFamily="49" charset="0"/>
              </a:rPr>
              <a:t>put()</a:t>
            </a:r>
            <a:r>
              <a:rPr lang="en-US" altLang="en-US" sz="1600"/>
              <a:t> method is used to put a key,value pair into the map.   The </a:t>
            </a:r>
            <a:r>
              <a:rPr lang="en-US" altLang="en-US" sz="1600">
                <a:latin typeface="Courier New" panose="02070309020205020404" pitchFamily="49" charset="0"/>
              </a:rPr>
              <a:t>put()</a:t>
            </a:r>
            <a:r>
              <a:rPr lang="en-US" altLang="en-US" sz="1600"/>
              <a:t> returns a reference to the key that is being replaced.</a:t>
            </a:r>
          </a:p>
          <a:p>
            <a:pPr eaLnBrk="1" hangingPunct="1"/>
            <a:r>
              <a:rPr lang="en-US" altLang="en-US" sz="1600"/>
              <a:t>The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method returns a reference to the value associated with the specified key.  If the key specified is not present, the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method returns null.</a:t>
            </a:r>
          </a:p>
        </p:txBody>
      </p:sp>
    </p:spTree>
    <p:extLst>
      <p:ext uri="{BB962C8B-B14F-4D97-AF65-F5344CB8AC3E}">
        <p14:creationId xmlns:p14="http://schemas.microsoft.com/office/powerpoint/2010/main" val="2166353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C557A920-0D16-4E23-84B5-1492755A27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761275F-9E4F-4FBD-AEA3-4F7EFEBBE913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C146C2E-3210-4BB5-934A-23D69B49C7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1AF0EE5-C3E7-4587-9169-B2D50A88A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600"/>
              <a:t>The </a:t>
            </a:r>
            <a:r>
              <a:rPr lang="en-US" altLang="en-US" sz="1600">
                <a:latin typeface="Courier New" panose="02070309020205020404" pitchFamily="49" charset="0"/>
              </a:rPr>
              <a:t>put()</a:t>
            </a:r>
            <a:r>
              <a:rPr lang="en-US" altLang="en-US" sz="1600"/>
              <a:t> method is used to put a key,value pair into the map.   The </a:t>
            </a:r>
            <a:r>
              <a:rPr lang="en-US" altLang="en-US" sz="1600">
                <a:latin typeface="Courier New" panose="02070309020205020404" pitchFamily="49" charset="0"/>
              </a:rPr>
              <a:t>put()</a:t>
            </a:r>
            <a:r>
              <a:rPr lang="en-US" altLang="en-US" sz="1600"/>
              <a:t> returns a reference to the key that is being replaced.  If the key, value pair was not present, </a:t>
            </a:r>
            <a:r>
              <a:rPr lang="en-US" altLang="en-US" sz="1600">
                <a:latin typeface="Courier New" panose="02070309020205020404" pitchFamily="49" charset="0"/>
              </a:rPr>
              <a:t>null </a:t>
            </a:r>
            <a:r>
              <a:rPr lang="en-US" altLang="en-US" sz="1600"/>
              <a:t>is returned.</a:t>
            </a:r>
          </a:p>
          <a:p>
            <a:pPr eaLnBrk="1" hangingPunct="1"/>
            <a:r>
              <a:rPr lang="en-US" altLang="en-US" sz="1600"/>
              <a:t>The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method returns a reference to the value associated with the specified key.  If the key specified is not present, the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method returns null.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004995DA-7BB1-4D1F-AF99-E564CD537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999F54D-60A9-4770-9C7C-AB0183829F5A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4D44A53-5BBD-4708-B3DF-566AE4B51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011C9B6-80E2-4C50-ACEF-B04B55A9D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600"/>
              <a:t>In the code above, the loop iterates over the String s one character at a time.   The if checks to see if the current character c is present.  If the char is present, the count value is increased by one.   If char is not present, the char is put in the map with the value 1.</a:t>
            </a:r>
          </a:p>
          <a:p>
            <a:pPr eaLnBrk="1" hangingPunct="1"/>
            <a:r>
              <a:rPr lang="en-US" altLang="en-US" sz="1600"/>
              <a:t>Because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returns </a:t>
            </a:r>
            <a:r>
              <a:rPr lang="en-US" altLang="en-US" sz="1600">
                <a:latin typeface="Courier New" panose="02070309020205020404" pitchFamily="49" charset="0"/>
              </a:rPr>
              <a:t>null </a:t>
            </a:r>
            <a:r>
              <a:rPr lang="en-US" altLang="en-US" sz="1600"/>
              <a:t>for a key that is not present, the return value for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can be used to determine if a key is present.   A </a:t>
            </a:r>
            <a:r>
              <a:rPr lang="en-US" altLang="en-US" sz="1600">
                <a:latin typeface="Courier New" panose="02070309020205020404" pitchFamily="49" charset="0"/>
              </a:rPr>
              <a:t>null</a:t>
            </a:r>
            <a:r>
              <a:rPr lang="en-US" altLang="en-US" sz="1600"/>
              <a:t> return for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indicates that the map does not contain that key.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004995DA-7BB1-4D1F-AF99-E564CD537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999F54D-60A9-4770-9C7C-AB0183829F5A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4D44A53-5BBD-4708-B3DF-566AE4B51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011C9B6-80E2-4C50-ACEF-B04B55A9D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600"/>
              <a:t>In the code above, the loop iterates over the String s one character at a time.   The if checks to see if the current character c is present.  If the char is present, the count value is increased by one.   If char is not present, the char is put in the map with the value 1.</a:t>
            </a:r>
          </a:p>
          <a:p>
            <a:pPr eaLnBrk="1" hangingPunct="1"/>
            <a:r>
              <a:rPr lang="en-US" altLang="en-US" sz="1600"/>
              <a:t>Because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returns </a:t>
            </a:r>
            <a:r>
              <a:rPr lang="en-US" altLang="en-US" sz="1600">
                <a:latin typeface="Courier New" panose="02070309020205020404" pitchFamily="49" charset="0"/>
              </a:rPr>
              <a:t>null </a:t>
            </a:r>
            <a:r>
              <a:rPr lang="en-US" altLang="en-US" sz="1600"/>
              <a:t>for a key that is not present, the return value for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can be used to determine if a key is present.   A </a:t>
            </a:r>
            <a:r>
              <a:rPr lang="en-US" altLang="en-US" sz="1600">
                <a:latin typeface="Courier New" panose="02070309020205020404" pitchFamily="49" charset="0"/>
              </a:rPr>
              <a:t>null</a:t>
            </a:r>
            <a:r>
              <a:rPr lang="en-US" altLang="en-US" sz="1600"/>
              <a:t> return for </a:t>
            </a:r>
            <a:r>
              <a:rPr lang="en-US" altLang="en-US" sz="1600">
                <a:latin typeface="Courier New" panose="02070309020205020404" pitchFamily="49" charset="0"/>
              </a:rPr>
              <a:t>get()</a:t>
            </a:r>
            <a:r>
              <a:rPr lang="en-US" altLang="en-US" sz="1600"/>
              <a:t> indicates that the map does not contain that key.</a:t>
            </a:r>
          </a:p>
        </p:txBody>
      </p:sp>
    </p:spTree>
    <p:extLst>
      <p:ext uri="{BB962C8B-B14F-4D97-AF65-F5344CB8AC3E}">
        <p14:creationId xmlns:p14="http://schemas.microsoft.com/office/powerpoint/2010/main" val="1833112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739AB1C-9B0E-4F3A-94C0-E01B807D61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C8A4B6E-A979-4839-A76B-110F4FDB832C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FD9DF9D5-D226-4486-B345-A9351F948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23A3FAFE-77DD-40ED-828F-181540212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600"/>
              <a:t>In the code above, the loop iterates over the String s one character at a time.   The if checks to see if the current character c is present.  If the char is present, the count value is increased by one.   If char is not present, the char is put in the map with the value 1.</a:t>
            </a:r>
          </a:p>
          <a:p>
            <a:pPr eaLnBrk="1" hangingPunct="1"/>
            <a:r>
              <a:rPr lang="en-US" altLang="en-US" sz="1600"/>
              <a:t>Because </a:t>
            </a:r>
            <a:r>
              <a:rPr lang="en-US" altLang="en-US" sz="1600">
                <a:latin typeface="Courier New" panose="02070309020205020404" pitchFamily="49" charset="0"/>
              </a:rPr>
              <a:t>containsKey()</a:t>
            </a:r>
            <a:r>
              <a:rPr lang="en-US" altLang="en-US" sz="1600"/>
              <a:t> returns </a:t>
            </a:r>
            <a:r>
              <a:rPr lang="en-US" altLang="en-US" sz="1600">
                <a:latin typeface="Courier New" panose="02070309020205020404" pitchFamily="49" charset="0"/>
              </a:rPr>
              <a:t>false </a:t>
            </a:r>
            <a:r>
              <a:rPr lang="en-US" altLang="en-US" sz="1600"/>
              <a:t>for a key that is not present, the return value for </a:t>
            </a:r>
            <a:r>
              <a:rPr lang="en-US" altLang="en-US" sz="1600">
                <a:latin typeface="Courier New" panose="02070309020205020404" pitchFamily="49" charset="0"/>
              </a:rPr>
              <a:t>containsKey()</a:t>
            </a:r>
            <a:r>
              <a:rPr lang="en-US" altLang="en-US" sz="1600"/>
              <a:t> can be used to determine if a key is present.   A </a:t>
            </a:r>
            <a:r>
              <a:rPr lang="en-US" altLang="en-US" sz="1600">
                <a:latin typeface="Courier New" panose="02070309020205020404" pitchFamily="49" charset="0"/>
              </a:rPr>
              <a:t>false</a:t>
            </a:r>
            <a:r>
              <a:rPr lang="en-US" altLang="en-US" sz="1600"/>
              <a:t> return for </a:t>
            </a:r>
            <a:r>
              <a:rPr lang="en-US" altLang="en-US" sz="1600">
                <a:latin typeface="Courier New" panose="02070309020205020404" pitchFamily="49" charset="0"/>
              </a:rPr>
              <a:t>containsKey()</a:t>
            </a:r>
            <a:r>
              <a:rPr lang="en-US" altLang="en-US" sz="1600"/>
              <a:t> indicates that the map does not contain that key.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166BC120-8E4E-4162-BB56-8BE7708EC5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7D2F9E2-44D7-4E83-8C85-DD8BF1497DF2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3EC0C6CE-957D-4218-9F45-860058850E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448649A-BF5C-448F-89A8-55CBD3E93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166BC120-8E4E-4162-BB56-8BE7708EC5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7D2F9E2-44D7-4E83-8C85-DD8BF1497DF2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3EC0C6CE-957D-4218-9F45-860058850E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448649A-BF5C-448F-89A8-55CBD3E93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0699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031199A1-4492-49A2-8D22-40356F4ABC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46B570E-7973-4D52-9595-4E6EA93B3D5F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F19CD64-9F9D-45A1-840B-A3C327B24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73E9C80-6E5E-406D-B807-40F0EF22E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AF6EE9A7-8B88-413F-8813-785F495A83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5B838EA-71C6-4F4B-9A0E-EA893327ECEA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37A3E79-D1FE-42CB-8780-3F469E997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E900BA4E-8C02-48D7-BE17-FD5B0D455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031199A1-4492-49A2-8D22-40356F4ABC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46B570E-7973-4D52-9595-4E6EA93B3D5F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F19CD64-9F9D-45A1-840B-A3C327B24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73E9C80-6E5E-406D-B807-40F0EF22E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09167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AF6EE9A7-8B88-413F-8813-785F495A83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5B838EA-71C6-4F4B-9A0E-EA893327ECEA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37A3E79-D1FE-42CB-8780-3F469E997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E900BA4E-8C02-48D7-BE17-FD5B0D455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2611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031199A1-4492-49A2-8D22-40356F4ABC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46B570E-7973-4D52-9595-4E6EA93B3D5F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F19CD64-9F9D-45A1-840B-A3C327B24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73E9C80-6E5E-406D-B807-40F0EF22E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05783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031199A1-4492-49A2-8D22-40356F4ABC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46B570E-7973-4D52-9595-4E6EA93B3D5F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F19CD64-9F9D-45A1-840B-A3C327B24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73E9C80-6E5E-406D-B807-40F0EF22E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5126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76492E2E-06CA-4C52-8E2E-A8914C68B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8183113-94C9-4CC1-9AE4-0F5071438175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729108D8-5D24-4E0E-8692-B972BFC316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D59DB754-9F21-460A-8691-E89BC5952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BE7810B0-8711-45A4-913F-8911282A3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AA9CDC6-97DF-4BC9-9003-424393095084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44100490-D42F-4BE0-9417-384674DA9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E19E699E-7B4F-48CD-98E7-EAB7E255F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86F9ADFE-9DA8-471C-BA6A-B8DE109AC6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A53E5EE-8138-4DD2-9528-EF0E0D24FFC2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9D99B99-9C71-4388-A324-11EA2AD02A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821A168-D965-4C96-9A2F-CDFC2ECE9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26083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D85EE10F-1A48-43D2-977B-A17A6D195F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5C55EB3-583E-49A1-865E-090308982E91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1060869-F036-4ACF-95F9-94138C209E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0F9B37B2-3AED-4008-8B71-9AB90B064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86C428A0-37CD-496B-AE8E-595E34C547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7F9888-AB4F-4EEA-A8FC-AEE6F77C893D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B21DD32E-44B0-4E7C-BBEA-790B3E7EAB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191FA3A-5407-4CEB-A50E-93A05E84E5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86F9ADFE-9DA8-471C-BA6A-B8DE109AC6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A53E5EE-8138-4DD2-9528-EF0E0D24FFC2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9D99B99-9C71-4388-A324-11EA2AD02A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821A168-D965-4C96-9A2F-CDFC2ECE9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BE7810B0-8711-45A4-913F-8911282A3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AA9CDC6-97DF-4BC9-9003-424393095084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44100490-D42F-4BE0-9417-384674DA9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E19E699E-7B4F-48CD-98E7-EAB7E255F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850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052F-B819-49BA-B0AA-65D8653DF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C2F09-CB8E-467B-9C09-D866E2005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A902B7-31FD-45F0-BD27-ABD523C85E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1ABABBF-2E86-40BB-9A8B-78E7A5B7C0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79A9FE-EA74-4A84-A9B0-AF1E926B06F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BC07295-49B0-4756-81F3-7551A040CB0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5651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3FB8-1931-461E-B104-F5E86C12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0FCF5-D60D-4307-B73E-595972D00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387D2A-AD64-4C81-9F50-E5BF460703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F874DD-993B-4442-8050-FB89829B64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8ABCF0-FC38-430E-B590-130BE21E4CB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29EC69F-F037-4DAC-AF24-CF955249B76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29399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4C86-C5FA-40A3-BBBE-ED8F7334D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C944D-E825-43AF-A971-72C8B5EC9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BC9EE5-13CA-49EC-89F7-41F4207920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6D0B8B-C654-4BC2-B0A2-FD9EEFC80C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0FB240-B028-4D01-BAD3-73966191368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E6A1BB3-965A-4DC2-BF86-A0470920429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5035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13E2C-E3C0-46AC-910E-E8620BE6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83A39-2984-48D8-A45B-8B767B14B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1AF2A-3446-41B1-8694-26FE24759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421ED9-B583-4B75-B5AA-4A9D921415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4E1739-3BEF-4375-ABB1-1DB164C959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5982AA-01EA-44F3-9923-C7B9DBC9A6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2EBF7BE-84DC-4DC4-A1C0-A347AC8EAF3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329312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0D637-E1E8-433A-97E7-0062BA6C7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A5201-B687-43FF-A948-1B5EC46F0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05F0C3-3CB6-4873-B72E-15EDF5AFF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33949-7551-4172-B6F3-CECA749DC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4F4DE-E79F-44FD-8752-56707D7D8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05A2916-DDE8-429E-9FFC-9EA689183E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8B1E56C-FCA6-43B3-A45B-2622CD64217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7BAC2-0C9F-477F-9624-BB523310FAC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AC728EC-C1CD-4C9E-9158-8DEDC9ED86A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1921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7AA8-4281-4BC0-A8A0-680C30FE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775C5D3-0D37-4F5A-AD8E-94798EBF02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B13D22-906F-444C-AE7D-DA8E0EF8886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49EF9-B290-440C-AEF0-659BF9D79F1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9962184-CA48-4C3F-8F0C-60F5165F850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9310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ED66DCC-73C7-493B-920E-E8EFD1CD86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B725661-10CD-4AA5-BBC5-3C65A17F5C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B083F3-C287-4DC8-A4D6-54CBFE31379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682DD70-5874-4A69-A749-D5F79209754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67736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96A4-6788-4C32-99FF-15313628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A2C7B-EFA0-48B0-9C37-B29D21312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2BD2C-FCBD-4008-8ADC-7B94664B1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8A71C-8652-49A6-9244-51DE7D6BAA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39FD62-FB8C-41A8-A093-2E73F12F5C5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788139-B6C2-45B0-91A4-F36D53DAC8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798871D-9692-4B57-9120-761EC5BBFBB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9874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B3541-F5A0-41AC-91A7-F69AEA8A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A8F405-38A4-45D6-B7E7-B32362DE5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062AE-373A-4779-8AAE-D87D2525D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44FC36-0BED-4CD4-8FBF-A5E2F996AA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114AC5-2785-4085-B4A0-925613FB86B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2B71B7-FCE2-4B05-A85D-B0A867BF764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1141257-BABA-49DB-9BD1-FDF6B88A157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322151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D0C5-BE64-4DF3-829E-502CCB4D5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25C48-65F6-4260-8AFA-F07A55871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9F331D-D7A1-4F96-9F6E-CB6A6B3211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6267F24-84D9-41E3-AD9C-3F12C105035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6006BE-84E0-4B6D-A4BE-B66E7488156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54713FB-1C08-4061-A045-A25AF08C0D2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83485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0E808E-9584-46FA-9318-2B8386167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203F9-D226-4AD6-89CE-7D8BB4E17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35AEDF-96C2-4674-BF7A-948F616BBF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D63814-CC0F-48C2-8A2A-CEC03400FC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C307BB-3651-452A-94CC-B51FFF909EB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A978886-AFF5-4DC8-89A0-37F5EEAB6F3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>
              <a:latin typeface="+mn-lt"/>
            </a:endParaRPr>
          </a:p>
          <a:p>
            <a:pPr>
              <a:defRPr/>
            </a:pPr>
            <a:endParaRPr lang="en-US" altLang="en-US" b="0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07413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B116B5-2AA4-4ED3-AA1D-5C1A9CB583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5E834D4-70E6-4FD0-8793-3DEEC09743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CBD6E84-D947-47B2-A28F-7CBDC415D2C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8D3D07-68B4-4AA1-8FF3-257335931F2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52A524E7-E38A-4C19-8CD3-1DD2A0FC0F9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37892742-337F-4955-B80A-5EB0240CA89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altLang="en-US" b="1"/>
          </a:p>
          <a:p>
            <a:pPr>
              <a:defRPr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defRPr/>
            </a:pPr>
            <a:endParaRPr lang="en-US" altLang="en-US" b="1">
              <a:latin typeface="Tahoma" panose="020B0604030504040204" pitchFamily="34" charset="0"/>
            </a:endParaRPr>
          </a:p>
          <a:p>
            <a:pPr>
              <a:defRPr/>
            </a:pPr>
            <a:r>
              <a:rPr lang="en-US" altLang="en-US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B1C98957-9D8E-4C8F-9C14-E47DEB1A82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9" name="WordArt 2">
            <a:extLst>
              <a:ext uri="{FF2B5EF4-FFF2-40B4-BE49-F238E27FC236}">
                <a16:creationId xmlns:a16="http://schemas.microsoft.com/office/drawing/2014/main" id="{58CF6652-8C91-451D-A12D-B3C4B6F6574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1219200"/>
            <a:ext cx="7924800" cy="2209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Maps</a:t>
            </a:r>
          </a:p>
        </p:txBody>
      </p:sp>
      <p:pic>
        <p:nvPicPr>
          <p:cNvPr id="4100" name="Picture 3">
            <a:extLst>
              <a:ext uri="{FF2B5EF4-FFF2-40B4-BE49-F238E27FC236}">
                <a16:creationId xmlns:a16="http://schemas.microsoft.com/office/drawing/2014/main" id="{AD487559-1A66-4D08-8DE8-A6C7EF5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181600"/>
            <a:ext cx="114300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4" descr="j0290709[1]">
            <a:extLst>
              <a:ext uri="{FF2B5EF4-FFF2-40B4-BE49-F238E27FC236}">
                <a16:creationId xmlns:a16="http://schemas.microsoft.com/office/drawing/2014/main" id="{DBFA3D03-65BA-4D97-8607-D8D3DDDA6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962400"/>
            <a:ext cx="2032000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WordArt 6">
            <a:extLst>
              <a:ext uri="{FF2B5EF4-FFF2-40B4-BE49-F238E27FC236}">
                <a16:creationId xmlns:a16="http://schemas.microsoft.com/office/drawing/2014/main" id="{3FD643A5-C7FE-4B4E-AA2A-CEF2FEE9B14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00800" y="6324600"/>
            <a:ext cx="2438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8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Lab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B036367E-C826-4C22-8BB5-FCCA0686D3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17920" y="62484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147" name="WordArt 2">
            <a:extLst>
              <a:ext uri="{FF2B5EF4-FFF2-40B4-BE49-F238E27FC236}">
                <a16:creationId xmlns:a16="http://schemas.microsoft.com/office/drawing/2014/main" id="{F15DC354-3A45-4B41-9D5C-8DCE1A859C0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05000" y="152400"/>
            <a:ext cx="2895600" cy="6858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Java Collections</a:t>
            </a:r>
          </a:p>
        </p:txBody>
      </p:sp>
      <p:grpSp>
        <p:nvGrpSpPr>
          <p:cNvPr id="2" name="Group 1" descr="Map interface is the root of the map hierarchy&#10;HashMap class implements Map interface&#10;SortedMap interface extends Map interface&#10;TreeMap class implements SortMap interface">
            <a:extLst>
              <a:ext uri="{FF2B5EF4-FFF2-40B4-BE49-F238E27FC236}">
                <a16:creationId xmlns:a16="http://schemas.microsoft.com/office/drawing/2014/main" id="{2001CD82-171C-E52A-EE44-B8360E34F644}"/>
              </a:ext>
            </a:extLst>
          </p:cNvPr>
          <p:cNvGrpSpPr/>
          <p:nvPr/>
        </p:nvGrpSpPr>
        <p:grpSpPr>
          <a:xfrm>
            <a:off x="4114800" y="152400"/>
            <a:ext cx="4821238" cy="3657600"/>
            <a:chOff x="4114800" y="152400"/>
            <a:chExt cx="4821238" cy="3657600"/>
          </a:xfrm>
        </p:grpSpPr>
        <p:sp>
          <p:nvSpPr>
            <p:cNvPr id="6150" name="Text Box 5">
              <a:extLst>
                <a:ext uri="{FF2B5EF4-FFF2-40B4-BE49-F238E27FC236}">
                  <a16:creationId xmlns:a16="http://schemas.microsoft.com/office/drawing/2014/main" id="{E1ABC79E-04CE-48B7-9253-707AA5842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152400"/>
              <a:ext cx="8302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Map</a:t>
              </a:r>
            </a:p>
          </p:txBody>
        </p:sp>
        <p:sp>
          <p:nvSpPr>
            <p:cNvPr id="6166" name="Line 21">
              <a:extLst>
                <a:ext uri="{FF2B5EF4-FFF2-40B4-BE49-F238E27FC236}">
                  <a16:creationId xmlns:a16="http://schemas.microsoft.com/office/drawing/2014/main" id="{95AF547C-870E-4C0A-95F6-DD7A7443B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609600"/>
              <a:ext cx="381000" cy="45720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Line 22">
              <a:extLst>
                <a:ext uri="{FF2B5EF4-FFF2-40B4-BE49-F238E27FC236}">
                  <a16:creationId xmlns:a16="http://schemas.microsoft.com/office/drawing/2014/main" id="{7BA86A14-A1EF-43EF-B0A0-3E51E3DD88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15000" y="609600"/>
              <a:ext cx="0" cy="152400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Text Box 23">
              <a:extLst>
                <a:ext uri="{FF2B5EF4-FFF2-40B4-BE49-F238E27FC236}">
                  <a16:creationId xmlns:a16="http://schemas.microsoft.com/office/drawing/2014/main" id="{9128C6CC-8F41-4F7C-8FAB-3D884A77E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3352800"/>
              <a:ext cx="15113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TreeMap</a:t>
              </a:r>
            </a:p>
          </p:txBody>
        </p:sp>
        <p:sp>
          <p:nvSpPr>
            <p:cNvPr id="6169" name="Text Box 24">
              <a:extLst>
                <a:ext uri="{FF2B5EF4-FFF2-40B4-BE49-F238E27FC236}">
                  <a16:creationId xmlns:a16="http://schemas.microsoft.com/office/drawing/2014/main" id="{12B7DBA0-DA70-4F72-850E-5D897461C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1066800"/>
              <a:ext cx="18446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SortedMap</a:t>
              </a:r>
            </a:p>
          </p:txBody>
        </p:sp>
        <p:sp>
          <p:nvSpPr>
            <p:cNvPr id="6170" name="Text Box 25">
              <a:extLst>
                <a:ext uri="{FF2B5EF4-FFF2-40B4-BE49-F238E27FC236}">
                  <a16:creationId xmlns:a16="http://schemas.microsoft.com/office/drawing/2014/main" id="{23489C98-9B9A-45EE-8EB7-AD5945C1E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28600"/>
              <a:ext cx="1239838" cy="825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Sub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Interfaces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-extends</a:t>
              </a:r>
            </a:p>
          </p:txBody>
        </p:sp>
        <p:sp>
          <p:nvSpPr>
            <p:cNvPr id="6171" name="Text Box 26">
              <a:extLst>
                <a:ext uri="{FF2B5EF4-FFF2-40B4-BE49-F238E27FC236}">
                  <a16:creationId xmlns:a16="http://schemas.microsoft.com/office/drawing/2014/main" id="{C7A8E839-5069-4359-94D4-70A63EF4E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133600"/>
              <a:ext cx="1697038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Implementing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Classes</a:t>
              </a:r>
            </a:p>
          </p:txBody>
        </p:sp>
        <p:sp>
          <p:nvSpPr>
            <p:cNvPr id="6172" name="Text Box 27">
              <a:extLst>
                <a:ext uri="{FF2B5EF4-FFF2-40B4-BE49-F238E27FC236}">
                  <a16:creationId xmlns:a16="http://schemas.microsoft.com/office/drawing/2014/main" id="{CFE45332-5876-4FD9-B01A-0F7AC69A9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1143000"/>
              <a:ext cx="1697038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Implementing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Classes</a:t>
              </a:r>
            </a:p>
          </p:txBody>
        </p:sp>
        <p:sp>
          <p:nvSpPr>
            <p:cNvPr id="6173" name="Line 28">
              <a:extLst>
                <a:ext uri="{FF2B5EF4-FFF2-40B4-BE49-F238E27FC236}">
                  <a16:creationId xmlns:a16="http://schemas.microsoft.com/office/drawing/2014/main" id="{27471AC3-A183-4806-B43E-EF229EDBB4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2800" y="1524000"/>
              <a:ext cx="0" cy="182880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4" name="Text Box 29">
              <a:extLst>
                <a:ext uri="{FF2B5EF4-FFF2-40B4-BE49-F238E27FC236}">
                  <a16:creationId xmlns:a16="http://schemas.microsoft.com/office/drawing/2014/main" id="{4AC7EAD1-1A35-4DB8-8FB8-8B291FEEC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2057400"/>
              <a:ext cx="1787525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HashMap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dirty="0" err="1">
                  <a:latin typeface="Tahoma" panose="020B0604030504040204" pitchFamily="34" charset="0"/>
                </a:rPr>
                <a:t>HashTable</a:t>
              </a:r>
              <a:endParaRPr lang="en-US" altLang="en-US" sz="2400" dirty="0">
                <a:latin typeface="Tahoma" panose="020B0604030504040204" pitchFamily="34" charset="0"/>
              </a:endParaRPr>
            </a:p>
          </p:txBody>
        </p:sp>
      </p:grpSp>
      <p:sp>
        <p:nvSpPr>
          <p:cNvPr id="6175" name="Line 30">
            <a:extLst>
              <a:ext uri="{FF2B5EF4-FFF2-40B4-BE49-F238E27FC236}">
                <a16:creationId xmlns:a16="http://schemas.microsoft.com/office/drawing/2014/main" id="{0BB495DB-8B0A-4C22-9262-BA1C9CBCB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295400"/>
            <a:ext cx="3429000" cy="419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6" name="Text Box 31">
            <a:extLst>
              <a:ext uri="{FF2B5EF4-FFF2-40B4-BE49-F238E27FC236}">
                <a16:creationId xmlns:a16="http://schemas.microsoft.com/office/drawing/2014/main" id="{3CF29FE0-EB95-4E02-9F86-043A26DDF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7315200"/>
            <a:ext cx="419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1400">
              <a:latin typeface="Courier New" panose="02070309020205020404" pitchFamily="49" charset="0"/>
            </a:endParaRPr>
          </a:p>
        </p:txBody>
      </p:sp>
      <p:grpSp>
        <p:nvGrpSpPr>
          <p:cNvPr id="3" name="Group 2" descr="Java Collections Hierarchy Relationships Enumerated&#10;&#10;Collections&#10;Collection interface extends Iterable Interface and is the root of the collections hierarchy.&#10;List and Set interfaces extend Collection interface&#10;ArrayList class implements List and RandomAccess interfaces&#10;LinkedList class implements List interface&#10;HashSet class implements Set interface&#10;SortedSet interface extends Set interface&#10;TreeSet class implements SortedSet class">
            <a:extLst>
              <a:ext uri="{FF2B5EF4-FFF2-40B4-BE49-F238E27FC236}">
                <a16:creationId xmlns:a16="http://schemas.microsoft.com/office/drawing/2014/main" id="{B2D18274-FA83-EAFA-4396-4B8101FCE933}"/>
              </a:ext>
            </a:extLst>
          </p:cNvPr>
          <p:cNvGrpSpPr/>
          <p:nvPr/>
        </p:nvGrpSpPr>
        <p:grpSpPr>
          <a:xfrm>
            <a:off x="121637" y="152400"/>
            <a:ext cx="4623401" cy="6521450"/>
            <a:chOff x="121637" y="152400"/>
            <a:chExt cx="4623401" cy="6521450"/>
          </a:xfrm>
        </p:grpSpPr>
        <p:sp>
          <p:nvSpPr>
            <p:cNvPr id="6148" name="Text Box 3">
              <a:extLst>
                <a:ext uri="{FF2B5EF4-FFF2-40B4-BE49-F238E27FC236}">
                  <a16:creationId xmlns:a16="http://schemas.microsoft.com/office/drawing/2014/main" id="{ADFB821D-AD86-4E50-B9AA-7833BDF7C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914400"/>
              <a:ext cx="1524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en-US" altLang="en-US" sz="2400" b="0"/>
            </a:p>
          </p:txBody>
        </p:sp>
        <p:sp>
          <p:nvSpPr>
            <p:cNvPr id="6149" name="Text Box 4">
              <a:extLst>
                <a:ext uri="{FF2B5EF4-FFF2-40B4-BE49-F238E27FC236}">
                  <a16:creationId xmlns:a16="http://schemas.microsoft.com/office/drawing/2014/main" id="{2249B4FB-41D8-4A1B-BF5B-A0746C61D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914400"/>
              <a:ext cx="17049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Collection</a:t>
              </a:r>
            </a:p>
          </p:txBody>
        </p:sp>
        <p:sp>
          <p:nvSpPr>
            <p:cNvPr id="6151" name="Line 6">
              <a:extLst>
                <a:ext uri="{FF2B5EF4-FFF2-40B4-BE49-F238E27FC236}">
                  <a16:creationId xmlns:a16="http://schemas.microsoft.com/office/drawing/2014/main" id="{FD2FFAA8-7072-40EB-9787-D43E82D150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9600" y="1371600"/>
              <a:ext cx="0" cy="144780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2" name="Line 7">
              <a:extLst>
                <a:ext uri="{FF2B5EF4-FFF2-40B4-BE49-F238E27FC236}">
                  <a16:creationId xmlns:a16="http://schemas.microsoft.com/office/drawing/2014/main" id="{7E4BB75D-2662-4957-B056-461AC04EB8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1371600"/>
              <a:ext cx="0" cy="137160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3" name="Line 8">
              <a:extLst>
                <a:ext uri="{FF2B5EF4-FFF2-40B4-BE49-F238E27FC236}">
                  <a16:creationId xmlns:a16="http://schemas.microsoft.com/office/drawing/2014/main" id="{87A26772-CB32-4F8C-BF63-622A730C4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6000" y="3124200"/>
              <a:ext cx="457200" cy="609600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" name="Text Box 9">
              <a:extLst>
                <a:ext uri="{FF2B5EF4-FFF2-40B4-BE49-F238E27FC236}">
                  <a16:creationId xmlns:a16="http://schemas.microsoft.com/office/drawing/2014/main" id="{6ED88F78-3FD9-415E-A2A0-11A3183FF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2743200"/>
              <a:ext cx="19478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List        Set</a:t>
              </a:r>
            </a:p>
          </p:txBody>
        </p:sp>
        <p:sp>
          <p:nvSpPr>
            <p:cNvPr id="6155" name="Text Box 10">
              <a:extLst>
                <a:ext uri="{FF2B5EF4-FFF2-40B4-BE49-F238E27FC236}">
                  <a16:creationId xmlns:a16="http://schemas.microsoft.com/office/drawing/2014/main" id="{58148015-2BE9-45F0-A14F-919F828E8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1600200"/>
              <a:ext cx="1239838" cy="825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Sub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Interfaces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-extends</a:t>
              </a:r>
            </a:p>
          </p:txBody>
        </p:sp>
        <p:sp>
          <p:nvSpPr>
            <p:cNvPr id="6156" name="Text Box 11">
              <a:extLst>
                <a:ext uri="{FF2B5EF4-FFF2-40B4-BE49-F238E27FC236}">
                  <a16:creationId xmlns:a16="http://schemas.microsoft.com/office/drawing/2014/main" id="{1C9B9FFE-5656-44B8-9781-316411134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429000"/>
              <a:ext cx="1697038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Implementing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Classes</a:t>
              </a:r>
            </a:p>
          </p:txBody>
        </p:sp>
        <p:sp>
          <p:nvSpPr>
            <p:cNvPr id="6157" name="Line 12">
              <a:extLst>
                <a:ext uri="{FF2B5EF4-FFF2-40B4-BE49-F238E27FC236}">
                  <a16:creationId xmlns:a16="http://schemas.microsoft.com/office/drawing/2014/main" id="{92B1E68B-CD46-4711-A302-1D5830D86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3200400"/>
              <a:ext cx="0" cy="236220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8" name="Line 13">
              <a:extLst>
                <a:ext uri="{FF2B5EF4-FFF2-40B4-BE49-F238E27FC236}">
                  <a16:creationId xmlns:a16="http://schemas.microsoft.com/office/drawing/2014/main" id="{38520D27-22FA-4883-9EE6-F6767E7046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1800" y="4191000"/>
              <a:ext cx="0" cy="83820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9" name="Line 14">
              <a:extLst>
                <a:ext uri="{FF2B5EF4-FFF2-40B4-BE49-F238E27FC236}">
                  <a16:creationId xmlns:a16="http://schemas.microsoft.com/office/drawing/2014/main" id="{A1247D85-DBE4-4B0B-9FFD-609C128D7D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3400" y="3200400"/>
              <a:ext cx="0" cy="137160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0" name="Text Box 15">
              <a:extLst>
                <a:ext uri="{FF2B5EF4-FFF2-40B4-BE49-F238E27FC236}">
                  <a16:creationId xmlns:a16="http://schemas.microsoft.com/office/drawing/2014/main" id="{801B7555-F076-47F7-95F0-BB7986738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4495800"/>
              <a:ext cx="1754188" cy="1187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ArrayList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LinkedList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Vector</a:t>
              </a:r>
            </a:p>
          </p:txBody>
        </p:sp>
        <p:sp>
          <p:nvSpPr>
            <p:cNvPr id="6161" name="Text Box 16">
              <a:extLst>
                <a:ext uri="{FF2B5EF4-FFF2-40B4-BE49-F238E27FC236}">
                  <a16:creationId xmlns:a16="http://schemas.microsoft.com/office/drawing/2014/main" id="{E9FCCF9A-DBA2-4CC6-B073-1BE9C9FB7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5486400"/>
              <a:ext cx="2473325" cy="1187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AbstractSet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HashSet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LinkedHashSet</a:t>
              </a:r>
            </a:p>
          </p:txBody>
        </p:sp>
        <p:sp>
          <p:nvSpPr>
            <p:cNvPr id="6162" name="Text Box 17">
              <a:extLst>
                <a:ext uri="{FF2B5EF4-FFF2-40B4-BE49-F238E27FC236}">
                  <a16:creationId xmlns:a16="http://schemas.microsoft.com/office/drawing/2014/main" id="{BCAC1AD0-5389-46DB-B232-EFF2B0529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400" y="4953000"/>
              <a:ext cx="13668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TreeSet</a:t>
              </a:r>
            </a:p>
          </p:txBody>
        </p:sp>
        <p:sp>
          <p:nvSpPr>
            <p:cNvPr id="6163" name="Text Box 18">
              <a:extLst>
                <a:ext uri="{FF2B5EF4-FFF2-40B4-BE49-F238E27FC236}">
                  <a16:creationId xmlns:a16="http://schemas.microsoft.com/office/drawing/2014/main" id="{AFEEEB08-4893-466E-81B1-84D248C57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3733800"/>
              <a:ext cx="17002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SortedSet</a:t>
              </a:r>
            </a:p>
          </p:txBody>
        </p:sp>
        <p:sp>
          <p:nvSpPr>
            <p:cNvPr id="6164" name="Text Box 19">
              <a:extLst>
                <a:ext uri="{FF2B5EF4-FFF2-40B4-BE49-F238E27FC236}">
                  <a16:creationId xmlns:a16="http://schemas.microsoft.com/office/drawing/2014/main" id="{6B5EBAD7-4663-471B-90EB-6400D20A8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2971800"/>
              <a:ext cx="1239838" cy="825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Sub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Interfaces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-extends</a:t>
              </a:r>
            </a:p>
          </p:txBody>
        </p:sp>
        <p:sp>
          <p:nvSpPr>
            <p:cNvPr id="6165" name="Text Box 20">
              <a:extLst>
                <a:ext uri="{FF2B5EF4-FFF2-40B4-BE49-F238E27FC236}">
                  <a16:creationId xmlns:a16="http://schemas.microsoft.com/office/drawing/2014/main" id="{70E1D0D8-64CD-459F-A6BB-2F34249D31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4343400"/>
              <a:ext cx="1697038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Implementing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Classes</a:t>
              </a:r>
            </a:p>
          </p:txBody>
        </p:sp>
        <p:sp>
          <p:nvSpPr>
            <p:cNvPr id="33" name="Text Box 4">
              <a:extLst>
                <a:ext uri="{FF2B5EF4-FFF2-40B4-BE49-F238E27FC236}">
                  <a16:creationId xmlns:a16="http://schemas.microsoft.com/office/drawing/2014/main" id="{CF4AE710-3D70-449E-B346-91E02DBE0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637" y="152400"/>
              <a:ext cx="143180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dirty="0" err="1">
                  <a:latin typeface="Tahoma" panose="020B0604030504040204" pitchFamily="34" charset="0"/>
                </a:rPr>
                <a:t>Iterable</a:t>
              </a:r>
              <a:endParaRPr lang="en-US" altLang="en-US" sz="2400" dirty="0">
                <a:latin typeface="Tahoma" panose="020B0604030504040204" pitchFamily="34" charset="0"/>
              </a:endParaRPr>
            </a:p>
          </p:txBody>
        </p:sp>
        <p:sp>
          <p:nvSpPr>
            <p:cNvPr id="34" name="Line 7">
              <a:extLst>
                <a:ext uri="{FF2B5EF4-FFF2-40B4-BE49-F238E27FC236}">
                  <a16:creationId xmlns:a16="http://schemas.microsoft.com/office/drawing/2014/main" id="{6CF38CE6-4531-455A-B0BC-E296955EF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562" y="609600"/>
              <a:ext cx="249238" cy="32196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E4F536F2-F11A-4D7E-9C84-E9FCD9BC62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1E2A7E4D-287E-4F09-BF88-EA5AA9F09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447800"/>
            <a:ext cx="6324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The Map interface does not extend any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other interface.</a:t>
            </a:r>
          </a:p>
        </p:txBody>
      </p:sp>
      <p:grpSp>
        <p:nvGrpSpPr>
          <p:cNvPr id="2" name="Group 1" descr="The Map interface is extended by the SortedMap interface.&#10;HashMap implements the Map interface and TreeMap implements the SortedMap interface.">
            <a:extLst>
              <a:ext uri="{FF2B5EF4-FFF2-40B4-BE49-F238E27FC236}">
                <a16:creationId xmlns:a16="http://schemas.microsoft.com/office/drawing/2014/main" id="{801054B8-966D-9E23-3C88-12ED7E1E869D}"/>
              </a:ext>
            </a:extLst>
          </p:cNvPr>
          <p:cNvGrpSpPr/>
          <p:nvPr/>
        </p:nvGrpSpPr>
        <p:grpSpPr>
          <a:xfrm>
            <a:off x="1295400" y="2819400"/>
            <a:ext cx="6553200" cy="2743200"/>
            <a:chOff x="1295400" y="2819400"/>
            <a:chExt cx="6553200" cy="2743200"/>
          </a:xfrm>
        </p:grpSpPr>
        <p:sp>
          <p:nvSpPr>
            <p:cNvPr id="8196" name="Rectangle 4">
              <a:extLst>
                <a:ext uri="{FF2B5EF4-FFF2-40B4-BE49-F238E27FC236}">
                  <a16:creationId xmlns:a16="http://schemas.microsoft.com/office/drawing/2014/main" id="{B7F5ACB2-9A05-434B-9156-4D1D58B6B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2819400"/>
              <a:ext cx="1447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ahoma" panose="020B0604030504040204" pitchFamily="34" charset="0"/>
                </a:rPr>
                <a:t>Map</a:t>
              </a:r>
            </a:p>
          </p:txBody>
        </p:sp>
        <p:sp>
          <p:nvSpPr>
            <p:cNvPr id="8197" name="Line 5">
              <a:extLst>
                <a:ext uri="{FF2B5EF4-FFF2-40B4-BE49-F238E27FC236}">
                  <a16:creationId xmlns:a16="http://schemas.microsoft.com/office/drawing/2014/main" id="{8CF35929-B0E3-4D66-BD47-39C9EB6997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6000" y="3428999"/>
              <a:ext cx="685800" cy="457201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8" name="Line 6">
              <a:extLst>
                <a:ext uri="{FF2B5EF4-FFF2-40B4-BE49-F238E27FC236}">
                  <a16:creationId xmlns:a16="http://schemas.microsoft.com/office/drawing/2014/main" id="{9931EC0D-F782-41E3-B1BB-6F0D9A4F2C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19600" y="3428996"/>
              <a:ext cx="1066800" cy="457202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9" name="Rectangle 7">
              <a:extLst>
                <a:ext uri="{FF2B5EF4-FFF2-40B4-BE49-F238E27FC236}">
                  <a16:creationId xmlns:a16="http://schemas.microsoft.com/office/drawing/2014/main" id="{9A6A10E8-D85D-43C4-B92D-875BF9580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3886200"/>
              <a:ext cx="1828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ahoma" panose="020B0604030504040204" pitchFamily="34" charset="0"/>
                </a:rPr>
                <a:t>HashMap</a:t>
              </a:r>
            </a:p>
          </p:txBody>
        </p:sp>
        <p:sp>
          <p:nvSpPr>
            <p:cNvPr id="8200" name="Rectangle 8">
              <a:extLst>
                <a:ext uri="{FF2B5EF4-FFF2-40B4-BE49-F238E27FC236}">
                  <a16:creationId xmlns:a16="http://schemas.microsoft.com/office/drawing/2014/main" id="{62933A03-142C-4259-8394-10E06F00D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3886200"/>
              <a:ext cx="23622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ahoma" panose="020B0604030504040204" pitchFamily="34" charset="0"/>
                </a:rPr>
                <a:t>SortedMap</a:t>
              </a:r>
            </a:p>
          </p:txBody>
        </p:sp>
        <p:sp>
          <p:nvSpPr>
            <p:cNvPr id="8201" name="Line 9">
              <a:extLst>
                <a:ext uri="{FF2B5EF4-FFF2-40B4-BE49-F238E27FC236}">
                  <a16:creationId xmlns:a16="http://schemas.microsoft.com/office/drawing/2014/main" id="{B89D0BE3-0244-48F4-93CB-37779508A5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48400" y="4495800"/>
              <a:ext cx="533400" cy="4572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2" name="Rectangle 10">
              <a:extLst>
                <a:ext uri="{FF2B5EF4-FFF2-40B4-BE49-F238E27FC236}">
                  <a16:creationId xmlns:a16="http://schemas.microsoft.com/office/drawing/2014/main" id="{0E404336-DE87-462C-B4AD-933708F93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953000"/>
              <a:ext cx="23622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ahoma" panose="020B0604030504040204" pitchFamily="34" charset="0"/>
                </a:rPr>
                <a:t>TreeMap</a:t>
              </a:r>
            </a:p>
          </p:txBody>
        </p:sp>
      </p:grpSp>
      <p:sp>
        <p:nvSpPr>
          <p:cNvPr id="8203" name="WordArt 11">
            <a:extLst>
              <a:ext uri="{FF2B5EF4-FFF2-40B4-BE49-F238E27FC236}">
                <a16:creationId xmlns:a16="http://schemas.microsoft.com/office/drawing/2014/main" id="{B0275848-FE33-4B5E-B925-02C2425A9D8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381000"/>
            <a:ext cx="52578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CBCB8541-3FEA-4E35-83A1-167E041CD9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WordArt 2">
            <a:extLst>
              <a:ext uri="{FF2B5EF4-FFF2-40B4-BE49-F238E27FC236}">
                <a16:creationId xmlns:a16="http://schemas.microsoft.com/office/drawing/2014/main" id="{22EEA3C1-B660-4381-8DFA-97B2586334A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381000"/>
            <a:ext cx="52578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MAPS</a:t>
            </a: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DBB07584-8992-494B-94A2-96C3B859A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802816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A Map stores pairs of keys and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Each key – value pair is unique.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A translation program could be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written using a map.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Maps cannot store duplicate keys.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6A7F9696-4120-4189-A6C6-D9F20DD8C05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aphicFrame>
        <p:nvGraphicFramePr>
          <p:cNvPr id="338977" name="Group 33">
            <a:extLst>
              <a:ext uri="{FF2B5EF4-FFF2-40B4-BE49-F238E27FC236}">
                <a16:creationId xmlns:a16="http://schemas.microsoft.com/office/drawing/2014/main" id="{CE2447FA-46FD-4FD2-A624-C720B1DF73BD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1828800"/>
          <a:ext cx="4191000" cy="386874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129285543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1419436897"/>
                    </a:ext>
                  </a:extLst>
                </a:gridCol>
              </a:tblGrid>
              <a:tr h="547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410394"/>
                  </a:ext>
                </a:extLst>
              </a:tr>
              <a:tr h="547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restroom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bano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133546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cat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gato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086331"/>
                  </a:ext>
                </a:extLst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boy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muchacho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656765"/>
                  </a:ext>
                </a:extLst>
              </a:tr>
              <a:tr h="547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house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casa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37583"/>
                  </a:ext>
                </a:extLst>
              </a:tr>
              <a:tr h="547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toad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sapo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266021"/>
                  </a:ext>
                </a:extLst>
              </a:tr>
              <a:tr h="547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water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ahoma" panose="020B0604030504040204" pitchFamily="34" charset="0"/>
                        </a:rPr>
                        <a:t>agua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820960"/>
                  </a:ext>
                </a:extLst>
              </a:tr>
            </a:tbl>
          </a:graphicData>
        </a:graphic>
      </p:graphicFrame>
      <p:sp>
        <p:nvSpPr>
          <p:cNvPr id="12317" name="WordArt 34">
            <a:extLst>
              <a:ext uri="{FF2B5EF4-FFF2-40B4-BE49-F238E27FC236}">
                <a16:creationId xmlns:a16="http://schemas.microsoft.com/office/drawing/2014/main" id="{D600494F-DEBD-4515-9F51-A211A1043EA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381000"/>
            <a:ext cx="52578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7E5BFD95-A9E0-41FB-87D8-EEA195FE4E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FDB5BB9F-38FF-452C-B0C6-0FEFDB13F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76400"/>
            <a:ext cx="853440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Because Map is an interface, you cannot instantiate it.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Map bad = new Map();		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//illegal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Map hash = new HashMap();   	</a:t>
            </a:r>
            <a:r>
              <a:rPr lang="en-US" altLang="en-US">
                <a:solidFill>
                  <a:srgbClr val="009900"/>
                </a:solidFill>
                <a:latin typeface="Tahoma" panose="020B0604030504040204" pitchFamily="34" charset="0"/>
              </a:rPr>
              <a:t>//legal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Map tree = new TreeMap();    	</a:t>
            </a:r>
            <a:r>
              <a:rPr lang="en-US" altLang="en-US">
                <a:solidFill>
                  <a:srgbClr val="009900"/>
                </a:solidFill>
                <a:latin typeface="Tahoma" panose="020B0604030504040204" pitchFamily="34" charset="0"/>
              </a:rPr>
              <a:t>//legal</a:t>
            </a:r>
            <a:endParaRPr lang="en-US" altLang="en-US">
              <a:solidFill>
                <a:srgbClr val="3333CC"/>
              </a:solidFill>
              <a:latin typeface="Tahoma" panose="020B0604030504040204" pitchFamily="34" charset="0"/>
            </a:endParaRPr>
          </a:p>
        </p:txBody>
      </p:sp>
      <p:sp>
        <p:nvSpPr>
          <p:cNvPr id="14340" name="WordArt 3">
            <a:extLst>
              <a:ext uri="{FF2B5EF4-FFF2-40B4-BE49-F238E27FC236}">
                <a16:creationId xmlns:a16="http://schemas.microsoft.com/office/drawing/2014/main" id="{ED771BC9-608C-4AD4-8A40-0A34107C5C0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381000"/>
            <a:ext cx="52578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MAPS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8AD95376-F79F-4F33-BC8B-D429AD2F0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791200"/>
            <a:ext cx="7086600" cy="531813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  <a:latin typeface="Tahoma" panose="020B0604030504040204" pitchFamily="34" charset="0"/>
              </a:rPr>
              <a:t>hash and tree store Object references.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BE337C51-572D-414A-B47E-7B81C93904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A0FB1105-088F-470E-8539-C73BD205A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76400"/>
            <a:ext cx="8991600" cy="437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With Java 5, you can now specify which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type of references you want to store in </a:t>
            </a:r>
            <a:b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</a:b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the TreeMap or HashMap.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tx2"/>
                </a:solidFill>
                <a:latin typeface="Tahoma" panose="020B0604030504040204" pitchFamily="34" charset="0"/>
              </a:rPr>
              <a:t>Map&lt;</a:t>
            </a:r>
            <a:r>
              <a:rPr lang="en-US" altLang="en-US" sz="3000">
                <a:solidFill>
                  <a:srgbClr val="009900"/>
                </a:solidFill>
                <a:latin typeface="Tahoma" panose="020B0604030504040204" pitchFamily="34" charset="0"/>
              </a:rPr>
              <a:t>String, Integer</a:t>
            </a:r>
            <a:r>
              <a:rPr lang="en-US" altLang="en-US" sz="3000">
                <a:solidFill>
                  <a:schemeClr val="tx2"/>
                </a:solidFill>
                <a:latin typeface="Tahoma" panose="020B0604030504040204" pitchFamily="34" charset="0"/>
              </a:rPr>
              <a:t>&gt; hash;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tx2"/>
                </a:solidFill>
                <a:latin typeface="Tahoma" panose="020B0604030504040204" pitchFamily="34" charset="0"/>
              </a:rPr>
              <a:t>hash = new HashMap&lt;</a:t>
            </a:r>
            <a:r>
              <a:rPr lang="en-US" altLang="en-US" sz="3000">
                <a:solidFill>
                  <a:srgbClr val="009900"/>
                </a:solidFill>
                <a:latin typeface="Tahoma" panose="020B0604030504040204" pitchFamily="34" charset="0"/>
              </a:rPr>
              <a:t>String, Integer</a:t>
            </a:r>
            <a:r>
              <a:rPr lang="en-US" altLang="en-US" sz="3000">
                <a:solidFill>
                  <a:schemeClr val="tx2"/>
                </a:solidFill>
                <a:latin typeface="Tahoma" panose="020B0604030504040204" pitchFamily="34" charset="0"/>
              </a:rPr>
              <a:t>&gt;();</a:t>
            </a:r>
            <a:br>
              <a:rPr lang="en-US" altLang="en-US" sz="3000">
                <a:solidFill>
                  <a:schemeClr val="tx2"/>
                </a:solidFill>
                <a:latin typeface="Tahoma" panose="020B0604030504040204" pitchFamily="34" charset="0"/>
              </a:rPr>
            </a:br>
            <a:endParaRPr lang="en-US" altLang="en-US" sz="30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tx2"/>
                </a:solidFill>
                <a:latin typeface="Tahoma" panose="020B0604030504040204" pitchFamily="34" charset="0"/>
              </a:rPr>
              <a:t>Map&lt;</a:t>
            </a:r>
            <a:r>
              <a:rPr lang="en-US" altLang="en-US" sz="3000">
                <a:solidFill>
                  <a:srgbClr val="009900"/>
                </a:solidFill>
                <a:latin typeface="Tahoma" panose="020B0604030504040204" pitchFamily="34" charset="0"/>
              </a:rPr>
              <a:t>String, Set</a:t>
            </a:r>
            <a:r>
              <a:rPr lang="en-US" altLang="en-US" sz="3000">
                <a:solidFill>
                  <a:schemeClr val="tx2"/>
                </a:solidFill>
                <a:latin typeface="Tahoma" panose="020B0604030504040204" pitchFamily="34" charset="0"/>
              </a:rPr>
              <a:t>&gt; tree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tx2"/>
                </a:solidFill>
                <a:latin typeface="Tahoma" panose="020B0604030504040204" pitchFamily="34" charset="0"/>
              </a:rPr>
              <a:t>= new TreeMap&lt;</a:t>
            </a:r>
            <a:r>
              <a:rPr lang="en-US" altLang="en-US" sz="3000">
                <a:solidFill>
                  <a:srgbClr val="009900"/>
                </a:solidFill>
                <a:latin typeface="Tahoma" panose="020B0604030504040204" pitchFamily="34" charset="0"/>
              </a:rPr>
              <a:t>String, TreeSet&lt;String&gt;</a:t>
            </a:r>
            <a:r>
              <a:rPr lang="en-US" altLang="en-US" sz="3000">
                <a:solidFill>
                  <a:schemeClr val="tx2"/>
                </a:solidFill>
                <a:latin typeface="Tahoma" panose="020B0604030504040204" pitchFamily="34" charset="0"/>
              </a:rPr>
              <a:t>&gt;();</a:t>
            </a:r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6388" name="WordArt 3">
            <a:extLst>
              <a:ext uri="{FF2B5EF4-FFF2-40B4-BE49-F238E27FC236}">
                <a16:creationId xmlns:a16="http://schemas.microsoft.com/office/drawing/2014/main" id="{84295AE6-7BFF-4EDA-9DE0-5E5003939E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381000"/>
            <a:ext cx="52578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7FE5B0D5-AEBB-4362-B048-7596F49481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ABDD90A0-A7EB-4851-80A2-0A7746A8B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828800"/>
            <a:ext cx="754380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HashMap – a map ordered by each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item’s hashCode that is extremely time efficient.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TreeMap – a naturally ordered map </a:t>
            </a:r>
            <a:br>
              <a:rPr lang="en-US" altLang="en-US">
                <a:latin typeface="Tahoma" panose="020B0604030504040204" pitchFamily="34" charset="0"/>
              </a:rPr>
            </a:br>
            <a:r>
              <a:rPr lang="en-US" altLang="en-US">
                <a:latin typeface="Tahoma" panose="020B0604030504040204" pitchFamily="34" charset="0"/>
              </a:rPr>
              <a:t>that is very efficient, but not as </a:t>
            </a:r>
            <a:br>
              <a:rPr lang="en-US" altLang="en-US">
                <a:latin typeface="Tahoma" panose="020B0604030504040204" pitchFamily="34" charset="0"/>
              </a:rPr>
            </a:br>
            <a:r>
              <a:rPr lang="en-US" altLang="en-US">
                <a:latin typeface="Tahoma" panose="020B0604030504040204" pitchFamily="34" charset="0"/>
              </a:rPr>
              <a:t>efficient as HashMap.</a:t>
            </a:r>
          </a:p>
        </p:txBody>
      </p:sp>
      <p:sp>
        <p:nvSpPr>
          <p:cNvPr id="18436" name="WordArt 3">
            <a:extLst>
              <a:ext uri="{FF2B5EF4-FFF2-40B4-BE49-F238E27FC236}">
                <a16:creationId xmlns:a16="http://schemas.microsoft.com/office/drawing/2014/main" id="{D4E8F33B-5E5F-4EF8-8927-A1B591E52AD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381000"/>
            <a:ext cx="52578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63E6350F-982E-4DA7-80BC-F333960B31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4579" name="WordArt 2">
            <a:extLst>
              <a:ext uri="{FF2B5EF4-FFF2-40B4-BE49-F238E27FC236}">
                <a16:creationId xmlns:a16="http://schemas.microsoft.com/office/drawing/2014/main" id="{EC21B785-D264-4672-BFA9-EC2424DC05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47800" y="990600"/>
            <a:ext cx="5715000" cy="3810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Methods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A232CCBE-84FC-4EE8-AE43-6B261E9D42A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aphicFrame>
        <p:nvGraphicFramePr>
          <p:cNvPr id="322593" name="Group 33">
            <a:extLst>
              <a:ext uri="{FF2B5EF4-FFF2-40B4-BE49-F238E27FC236}">
                <a16:creationId xmlns:a16="http://schemas.microsoft.com/office/drawing/2014/main" id="{DBC4B41B-ADD5-49C1-988A-8E7ACFADA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923640"/>
              </p:ext>
            </p:extLst>
          </p:nvPr>
        </p:nvGraphicFramePr>
        <p:xfrm>
          <a:off x="609600" y="533400"/>
          <a:ext cx="8077200" cy="5573712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41916641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3076428113"/>
                    </a:ext>
                  </a:extLst>
                </a:gridCol>
              </a:tblGrid>
              <a:tr h="147654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</a:rPr>
                        <a:t>Map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panose="020B0604030504040204" pitchFamily="34" charset="0"/>
                        </a:rPr>
                        <a:t>frequently used methods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531565"/>
                  </a:ext>
                </a:extLst>
              </a:tr>
              <a:tr h="6842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anose="020B0604030504040204" pitchFamily="34" charset="0"/>
                        </a:rPr>
                        <a:t>Use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737518"/>
                  </a:ext>
                </a:extLst>
              </a:tr>
              <a:tr h="4699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put(</a:t>
                      </a:r>
                      <a:r>
                        <a:rPr kumimoji="0" lang="en-US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x,y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)</a:t>
                      </a: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adds the &lt;x,y&gt; pair to the map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944674"/>
                  </a:ext>
                </a:extLst>
              </a:tr>
              <a:tr h="438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get(x)</a:t>
                      </a: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gets the value for key x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441643"/>
                  </a:ext>
                </a:extLst>
              </a:tr>
              <a:tr h="4509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containsKey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(x)</a:t>
                      </a: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checks if key x is in the map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09592"/>
                  </a:ext>
                </a:extLst>
              </a:tr>
              <a:tr h="4509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clear()</a:t>
                      </a: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removes all items from the set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187071"/>
                  </a:ext>
                </a:extLst>
              </a:tr>
              <a:tr h="4509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size()</a:t>
                      </a: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returns the # of items in the set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556127"/>
                  </a:ext>
                </a:extLst>
              </a:tr>
              <a:tr h="4509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keySet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()</a:t>
                      </a: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returns a set of all keys in the map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264669"/>
                  </a:ext>
                </a:extLst>
              </a:tr>
              <a:tr h="701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values()</a:t>
                      </a: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returns a collection view of the values contained in this map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0267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E3A5A1D9-53AF-45F2-A3FD-F11C9C10E5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99E693E4-3F66-46B0-A42E-2861D04F8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90600"/>
            <a:ext cx="8101013" cy="525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Map&lt;Integer,String&gt; map;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 = new TreeMap&lt;Integer,String&gt;();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map.put(1, "one");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map.put(2, "two");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map.put(3, "three");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map.put(4, "four");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map.put(5, "five");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map.put(6, "six");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map.put(7, "seven");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System.out.println(map.get(1));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System.out.println(map.get(13));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System.out.println(map.get(7));	</a:t>
            </a:r>
          </a:p>
        </p:txBody>
      </p:sp>
      <p:sp>
        <p:nvSpPr>
          <p:cNvPr id="28676" name="WordArt 3">
            <a:extLst>
              <a:ext uri="{FF2B5EF4-FFF2-40B4-BE49-F238E27FC236}">
                <a16:creationId xmlns:a16="http://schemas.microsoft.com/office/drawing/2014/main" id="{A1C62A49-3352-469D-8D82-F0F48602B5F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81200" y="304800"/>
            <a:ext cx="51054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TreeMap basics</a:t>
            </a:r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84B35E85-3D9C-4841-9A5A-101CD00E2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819400"/>
            <a:ext cx="1905000" cy="187325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b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one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null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seven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E3A5A1D9-53AF-45F2-A3FD-F11C9C10E5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99E693E4-3F66-46B0-A42E-2861D04F8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90600"/>
            <a:ext cx="8101013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Tahoma" panose="020B0604030504040204" pitchFamily="34" charset="0"/>
              </a:rPr>
              <a:t>Maps are NOT index based!!!!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6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>
                <a:solidFill>
                  <a:srgbClr val="FF0000"/>
                </a:solidFill>
                <a:latin typeface="Tahoma" panose="020B0604030504040204" pitchFamily="34" charset="0"/>
              </a:rPr>
              <a:t>There is no spot zero!!!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>
                <a:latin typeface="Tahoma" panose="020B0604030504040204" pitchFamily="34" charset="0"/>
              </a:rPr>
              <a:t>Map&lt;</a:t>
            </a:r>
            <a:r>
              <a:rPr lang="en-US" altLang="en-US" sz="2600" dirty="0" err="1">
                <a:latin typeface="Tahoma" panose="020B0604030504040204" pitchFamily="34" charset="0"/>
              </a:rPr>
              <a:t>Integer,String</a:t>
            </a:r>
            <a:r>
              <a:rPr lang="en-US" altLang="en-US" sz="2600" dirty="0">
                <a:latin typeface="Tahoma" panose="020B0604030504040204" pitchFamily="34" charset="0"/>
              </a:rPr>
              <a:t>&gt; map;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>
                <a:latin typeface="Tahoma" panose="020B0604030504040204" pitchFamily="34" charset="0"/>
              </a:rPr>
              <a:t>map = new </a:t>
            </a:r>
            <a:r>
              <a:rPr lang="en-US" altLang="en-US" sz="2600" dirty="0" err="1">
                <a:latin typeface="Tahoma" panose="020B0604030504040204" pitchFamily="34" charset="0"/>
              </a:rPr>
              <a:t>TreeMap</a:t>
            </a:r>
            <a:r>
              <a:rPr lang="en-US" altLang="en-US" sz="2600" dirty="0">
                <a:latin typeface="Tahoma" panose="020B0604030504040204" pitchFamily="34" charset="0"/>
              </a:rPr>
              <a:t>&lt;</a:t>
            </a:r>
            <a:r>
              <a:rPr lang="en-US" altLang="en-US" sz="2600" dirty="0" err="1">
                <a:latin typeface="Tahoma" panose="020B0604030504040204" pitchFamily="34" charset="0"/>
              </a:rPr>
              <a:t>Integer,String</a:t>
            </a:r>
            <a:r>
              <a:rPr lang="en-US" altLang="en-US" sz="2600" dirty="0">
                <a:latin typeface="Tahoma" panose="020B0604030504040204" pitchFamily="34" charset="0"/>
              </a:rPr>
              <a:t>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 err="1">
                <a:latin typeface="Tahoma" panose="020B0604030504040204" pitchFamily="34" charset="0"/>
              </a:rPr>
              <a:t>map.put</a:t>
            </a:r>
            <a:r>
              <a:rPr lang="en-US" altLang="en-US" sz="2600" dirty="0">
                <a:latin typeface="Tahoma" panose="020B0604030504040204" pitchFamily="34" charset="0"/>
              </a:rPr>
              <a:t>(1, "one");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 err="1">
                <a:latin typeface="Tahoma" panose="020B0604030504040204" pitchFamily="34" charset="0"/>
              </a:rPr>
              <a:t>map.put</a:t>
            </a:r>
            <a:r>
              <a:rPr lang="en-US" altLang="en-US" sz="2600" dirty="0">
                <a:latin typeface="Tahoma" panose="020B0604030504040204" pitchFamily="34" charset="0"/>
              </a:rPr>
              <a:t>(2, "two");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 err="1">
                <a:latin typeface="Tahoma" panose="020B0604030504040204" pitchFamily="34" charset="0"/>
              </a:rPr>
              <a:t>map.put</a:t>
            </a:r>
            <a:r>
              <a:rPr lang="en-US" altLang="en-US" sz="2600" dirty="0">
                <a:latin typeface="Tahoma" panose="020B0604030504040204" pitchFamily="34" charset="0"/>
              </a:rPr>
              <a:t>(3, "three");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 err="1">
                <a:latin typeface="Tahoma" panose="020B0604030504040204" pitchFamily="34" charset="0"/>
              </a:rPr>
              <a:t>map.put</a:t>
            </a:r>
            <a:r>
              <a:rPr lang="en-US" altLang="en-US" sz="2600" dirty="0">
                <a:latin typeface="Tahoma" panose="020B0604030504040204" pitchFamily="34" charset="0"/>
              </a:rPr>
              <a:t>(4, "four");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 err="1">
                <a:latin typeface="Tahoma" panose="020B0604030504040204" pitchFamily="34" charset="0"/>
              </a:rPr>
              <a:t>map.put</a:t>
            </a:r>
            <a:r>
              <a:rPr lang="en-US" altLang="en-US" sz="2600" dirty="0">
                <a:latin typeface="Tahoma" panose="020B0604030504040204" pitchFamily="34" charset="0"/>
              </a:rPr>
              <a:t>(5, "five");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 err="1">
                <a:latin typeface="Tahoma" panose="020B0604030504040204" pitchFamily="34" charset="0"/>
              </a:rPr>
              <a:t>map.put</a:t>
            </a:r>
            <a:r>
              <a:rPr lang="en-US" altLang="en-US" sz="2600" dirty="0">
                <a:latin typeface="Tahoma" panose="020B0604030504040204" pitchFamily="34" charset="0"/>
              </a:rPr>
              <a:t>(6, "six");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 err="1">
                <a:latin typeface="Tahoma" panose="020B0604030504040204" pitchFamily="34" charset="0"/>
              </a:rPr>
              <a:t>map.put</a:t>
            </a:r>
            <a:r>
              <a:rPr lang="en-US" altLang="en-US" sz="2600" dirty="0">
                <a:latin typeface="Tahoma" panose="020B0604030504040204" pitchFamily="34" charset="0"/>
              </a:rPr>
              <a:t>(7, "seven");</a:t>
            </a:r>
          </a:p>
        </p:txBody>
      </p:sp>
      <p:sp>
        <p:nvSpPr>
          <p:cNvPr id="28676" name="WordArt 3">
            <a:extLst>
              <a:ext uri="{FF2B5EF4-FFF2-40B4-BE49-F238E27FC236}">
                <a16:creationId xmlns:a16="http://schemas.microsoft.com/office/drawing/2014/main" id="{A1C62A49-3352-469D-8D82-F0F48602B5F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81200" y="304800"/>
            <a:ext cx="51054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TreeMap basics</a:t>
            </a:r>
          </a:p>
        </p:txBody>
      </p:sp>
    </p:spTree>
    <p:extLst>
      <p:ext uri="{BB962C8B-B14F-4D97-AF65-F5344CB8AC3E}">
        <p14:creationId xmlns:p14="http://schemas.microsoft.com/office/powerpoint/2010/main" val="1478423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48C3E655-5164-410A-B469-F25C6544F99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8A95391E-46D9-40A2-B340-E7F5C6FAC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90600"/>
            <a:ext cx="8101013" cy="529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Map&lt;Integer,Double&gt; map;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 = new TreeMap&lt;Integer,Double&gt;();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solidFill>
                  <a:srgbClr val="7030A0"/>
                </a:solidFill>
                <a:latin typeface="Tahoma" panose="020B0604030504040204" pitchFamily="34" charset="0"/>
              </a:rPr>
              <a:t>map.put(1, 3.5);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solidFill>
                  <a:srgbClr val="3333FF"/>
                </a:solidFill>
                <a:latin typeface="Tahoma" panose="020B0604030504040204" pitchFamily="34" charset="0"/>
              </a:rPr>
              <a:t>map.put(2, 7.7);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solidFill>
                  <a:srgbClr val="7030A0"/>
                </a:solidFill>
                <a:latin typeface="Tahoma" panose="020B0604030504040204" pitchFamily="34" charset="0"/>
              </a:rPr>
              <a:t>map.put(1, 8.9);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map.put(4, 3.2);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System.out.println(</a:t>
            </a:r>
            <a:r>
              <a:rPr lang="en-US" altLang="en-US" sz="2600">
                <a:solidFill>
                  <a:srgbClr val="7030A0"/>
                </a:solidFill>
                <a:latin typeface="Tahoma" panose="020B0604030504040204" pitchFamily="34" charset="0"/>
              </a:rPr>
              <a:t>map.put(1, 9.5)</a:t>
            </a:r>
            <a:r>
              <a:rPr lang="en-US" altLang="en-US" sz="2600">
                <a:latin typeface="Tahoma" panose="020B0604030504040204" pitchFamily="34" charset="0"/>
              </a:rPr>
              <a:t>);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System.out.println(</a:t>
            </a:r>
            <a:r>
              <a:rPr lang="en-US" altLang="en-US" sz="2600">
                <a:solidFill>
                  <a:srgbClr val="3333FF"/>
                </a:solidFill>
                <a:latin typeface="Tahoma" panose="020B0604030504040204" pitchFamily="34" charset="0"/>
              </a:rPr>
              <a:t>map.put(2, 6.6));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System.out.println (map.put(5, 5.5));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System.out.println(map.get(1));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System.out.println(map.get(2));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System.out.println(map.get(7));</a:t>
            </a:r>
          </a:p>
        </p:txBody>
      </p:sp>
      <p:sp>
        <p:nvSpPr>
          <p:cNvPr id="30724" name="WordArt 3">
            <a:extLst>
              <a:ext uri="{FF2B5EF4-FFF2-40B4-BE49-F238E27FC236}">
                <a16:creationId xmlns:a16="http://schemas.microsoft.com/office/drawing/2014/main" id="{49DD6E5A-A1D8-49F8-B9EC-FCC556A61FC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81200" y="304800"/>
            <a:ext cx="51054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TreeMap basics</a:t>
            </a:r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75FB18A4-861B-494F-9630-6F150BAEB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819400"/>
            <a:ext cx="1905000" cy="338613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b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</a:br>
            <a:r>
              <a:rPr lang="en-US" altLang="en-US" sz="2600">
                <a:solidFill>
                  <a:srgbClr val="7030A0"/>
                </a:solidFill>
                <a:latin typeface="Tahoma" panose="020B0604030504040204" pitchFamily="34" charset="0"/>
              </a:rPr>
              <a:t>8.9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solidFill>
                  <a:srgbClr val="3333FF"/>
                </a:solidFill>
                <a:latin typeface="Tahoma" panose="020B0604030504040204" pitchFamily="34" charset="0"/>
              </a:rPr>
              <a:t>7.7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null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9.5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6.6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F862A300-4889-42B2-A942-5507A0D136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5163390B-7A2D-4A02-965E-ACA5BBC17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99" y="1371600"/>
            <a:ext cx="6477001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Map&lt;</a:t>
            </a:r>
            <a:r>
              <a:rPr lang="en-US" altLang="en-US" sz="2000" dirty="0" err="1">
                <a:latin typeface="Tahoma" panose="020B0604030504040204" pitchFamily="34" charset="0"/>
              </a:rPr>
              <a:t>Character,Integer</a:t>
            </a:r>
            <a:r>
              <a:rPr lang="en-US" altLang="en-US" sz="2000" dirty="0">
                <a:latin typeface="Tahoma" panose="020B0604030504040204" pitchFamily="34" charset="0"/>
              </a:rPr>
              <a:t>&gt; map;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map = new </a:t>
            </a:r>
            <a:r>
              <a:rPr lang="en-US" altLang="en-US" sz="2000" dirty="0" err="1">
                <a:latin typeface="Tahoma" panose="020B0604030504040204" pitchFamily="34" charset="0"/>
              </a:rPr>
              <a:t>TreeMap</a:t>
            </a:r>
            <a:r>
              <a:rPr lang="en-US" altLang="en-US" sz="2000" dirty="0">
                <a:latin typeface="Tahoma" panose="020B0604030504040204" pitchFamily="34" charset="0"/>
              </a:rPr>
              <a:t>&lt;</a:t>
            </a:r>
            <a:r>
              <a:rPr lang="en-US" altLang="en-US" sz="2000" dirty="0" err="1">
                <a:latin typeface="Tahoma" panose="020B0604030504040204" pitchFamily="34" charset="0"/>
              </a:rPr>
              <a:t>Character,Integer</a:t>
            </a:r>
            <a:r>
              <a:rPr lang="en-US" altLang="en-US" sz="2000" dirty="0">
                <a:latin typeface="Tahoma" panose="020B0604030504040204" pitchFamily="34" charset="0"/>
              </a:rPr>
              <a:t>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String s = "</a:t>
            </a:r>
            <a:r>
              <a:rPr lang="en-US" altLang="en-US" sz="2000" dirty="0" err="1">
                <a:latin typeface="Tahoma" panose="020B0604030504040204" pitchFamily="34" charset="0"/>
              </a:rPr>
              <a:t>cabcdefghihabcdc</a:t>
            </a:r>
            <a:r>
              <a:rPr lang="en-US" altLang="en-US" sz="2000" dirty="0">
                <a:latin typeface="Tahoma" panose="020B0604030504040204" pitchFamily="34" charset="0"/>
              </a:rPr>
              <a:t>";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for(char c : </a:t>
            </a:r>
            <a:r>
              <a:rPr lang="en-US" altLang="en-US" sz="2000" dirty="0" err="1">
                <a:latin typeface="Tahoma" panose="020B0604030504040204" pitchFamily="34" charset="0"/>
              </a:rPr>
              <a:t>s.toCharArray</a:t>
            </a:r>
            <a:r>
              <a:rPr lang="en-US" altLang="en-US" sz="2000" dirty="0">
                <a:latin typeface="Tahoma" panose="020B0604030504040204" pitchFamily="34" charset="0"/>
              </a:rPr>
              <a:t>())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if( </a:t>
            </a:r>
            <a:r>
              <a:rPr lang="en-US" altLang="en-US" sz="2000" dirty="0">
                <a:solidFill>
                  <a:srgbClr val="660033"/>
                </a:solidFill>
                <a:latin typeface="Tahoma" panose="020B0604030504040204" pitchFamily="34" charset="0"/>
              </a:rPr>
              <a:t>! </a:t>
            </a:r>
            <a:r>
              <a:rPr lang="en-US" altLang="en-US" sz="2000" dirty="0" err="1">
                <a:solidFill>
                  <a:srgbClr val="660033"/>
                </a:solidFill>
                <a:latin typeface="Tahoma" panose="020B0604030504040204" pitchFamily="34" charset="0"/>
              </a:rPr>
              <a:t>map.containsKey</a:t>
            </a:r>
            <a:r>
              <a:rPr lang="en-US" altLang="en-US" sz="2000" dirty="0">
                <a:solidFill>
                  <a:srgbClr val="660033"/>
                </a:solidFill>
                <a:latin typeface="Tahoma" panose="020B0604030504040204" pitchFamily="34" charset="0"/>
              </a:rPr>
              <a:t>(c) </a:t>
            </a:r>
            <a:r>
              <a:rPr lang="en-US" altLang="en-US" sz="20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   </a:t>
            </a:r>
            <a:r>
              <a:rPr lang="en-US" altLang="en-US" sz="2000" dirty="0" err="1">
                <a:solidFill>
                  <a:srgbClr val="00B050"/>
                </a:solidFill>
                <a:latin typeface="Tahoma" panose="020B0604030504040204" pitchFamily="34" charset="0"/>
              </a:rPr>
              <a:t>map.put</a:t>
            </a:r>
            <a:r>
              <a:rPr lang="en-US" altLang="en-US" sz="2000" dirty="0">
                <a:solidFill>
                  <a:srgbClr val="00B050"/>
                </a:solidFill>
                <a:latin typeface="Tahoma" panose="020B0604030504040204" pitchFamily="34" charset="0"/>
              </a:rPr>
              <a:t>(c, 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CC"/>
                </a:solidFill>
                <a:latin typeface="Tahoma" panose="020B0604030504040204" pitchFamily="34" charset="0"/>
              </a:rPr>
              <a:t>      </a:t>
            </a:r>
            <a:r>
              <a:rPr lang="en-US" altLang="en-US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map.put</a:t>
            </a:r>
            <a:r>
              <a:rPr lang="en-US" altLang="en-US" sz="2000" dirty="0">
                <a:solidFill>
                  <a:srgbClr val="0000CC"/>
                </a:solidFill>
                <a:latin typeface="Tahoma" panose="020B0604030504040204" pitchFamily="34" charset="0"/>
              </a:rPr>
              <a:t>(c, </a:t>
            </a:r>
            <a:r>
              <a:rPr lang="en-US" altLang="en-US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solidFill>
                  <a:srgbClr val="0000CC"/>
                </a:solidFill>
                <a:latin typeface="Tahoma" panose="020B0604030504040204" pitchFamily="34" charset="0"/>
              </a:rPr>
              <a:t>(c) + 1);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000" dirty="0"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latin typeface="Tahoma" panose="020B0604030504040204" pitchFamily="34" charset="0"/>
              </a:rPr>
              <a:t>('a'));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000" dirty="0"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latin typeface="Tahoma" panose="020B0604030504040204" pitchFamily="34" charset="0"/>
              </a:rPr>
              <a:t>('x'));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000" dirty="0"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latin typeface="Tahoma" panose="020B0604030504040204" pitchFamily="34" charset="0"/>
              </a:rPr>
              <a:t>('c'));</a:t>
            </a:r>
          </a:p>
        </p:txBody>
      </p:sp>
      <p:sp>
        <p:nvSpPr>
          <p:cNvPr id="34820" name="WordArt 3">
            <a:extLst>
              <a:ext uri="{FF2B5EF4-FFF2-40B4-BE49-F238E27FC236}">
                <a16:creationId xmlns:a16="http://schemas.microsoft.com/office/drawing/2014/main" id="{9D77638B-8F0B-4D71-A7E8-FE9871CCAED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304800"/>
            <a:ext cx="8001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 put one</a:t>
            </a:r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32EE4EF9-9CBB-4FCE-9E36-AB0CED5AF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980709"/>
            <a:ext cx="1905000" cy="187325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b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2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null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34822" name="Text Box 5">
            <a:extLst>
              <a:ext uri="{FF2B5EF4-FFF2-40B4-BE49-F238E27FC236}">
                <a16:creationId xmlns:a16="http://schemas.microsoft.com/office/drawing/2014/main" id="{75555B5C-1C30-4CE6-ABE8-BF775AA0E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140869"/>
            <a:ext cx="3352800" cy="707886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000" dirty="0">
                <a:solidFill>
                  <a:srgbClr val="333399"/>
                </a:solidFill>
                <a:latin typeface="Tahoma" panose="020B0604030504040204" pitchFamily="34" charset="0"/>
              </a:rPr>
              <a:t>c is not in the map,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000" dirty="0">
                <a:solidFill>
                  <a:srgbClr val="333399"/>
                </a:solidFill>
                <a:latin typeface="Tahoma" panose="020B0604030504040204" pitchFamily="34" charset="0"/>
              </a:rPr>
              <a:t>so set count to 1</a:t>
            </a:r>
          </a:p>
        </p:txBody>
      </p:sp>
      <p:sp>
        <p:nvSpPr>
          <p:cNvPr id="34823" name="Text Box 6">
            <a:extLst>
              <a:ext uri="{FF2B5EF4-FFF2-40B4-BE49-F238E27FC236}">
                <a16:creationId xmlns:a16="http://schemas.microsoft.com/office/drawing/2014/main" id="{0A32863A-E8C4-424B-AFE1-01813A0BA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028281"/>
            <a:ext cx="3657600" cy="707886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dirty="0">
                <a:solidFill>
                  <a:srgbClr val="333399"/>
                </a:solidFill>
                <a:latin typeface="Tahoma" panose="020B0604030504040204" pitchFamily="34" charset="0"/>
              </a:rPr>
              <a:t>c is already in the map, so just bump up the count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C90592A-8F66-C9A5-E91B-679A941260BD}"/>
              </a:ext>
            </a:extLst>
          </p:cNvPr>
          <p:cNvCxnSpPr>
            <a:stCxn id="34822" idx="1"/>
          </p:cNvCxnSpPr>
          <p:nvPr/>
        </p:nvCxnSpPr>
        <p:spPr bwMode="auto">
          <a:xfrm flipH="1" flipV="1">
            <a:off x="4038600" y="3429000"/>
            <a:ext cx="762000" cy="6581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91AD57-62F7-B1F5-83D6-39D604CA81DE}"/>
              </a:ext>
            </a:extLst>
          </p:cNvPr>
          <p:cNvCxnSpPr>
            <a:stCxn id="34823" idx="1"/>
          </p:cNvCxnSpPr>
          <p:nvPr/>
        </p:nvCxnSpPr>
        <p:spPr bwMode="auto">
          <a:xfrm flipH="1" flipV="1">
            <a:off x="4572000" y="4343400"/>
            <a:ext cx="609600" cy="3882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F862A300-4889-42B2-A942-5507A0D136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5163390B-7A2D-4A02-965E-ACA5BBC17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99" y="1371600"/>
            <a:ext cx="6477001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Map&lt;</a:t>
            </a:r>
            <a:r>
              <a:rPr lang="en-US" altLang="en-US" sz="2000" dirty="0" err="1">
                <a:latin typeface="Tahoma" panose="020B0604030504040204" pitchFamily="34" charset="0"/>
              </a:rPr>
              <a:t>Character,Integer</a:t>
            </a:r>
            <a:r>
              <a:rPr lang="en-US" altLang="en-US" sz="2000" dirty="0">
                <a:latin typeface="Tahoma" panose="020B0604030504040204" pitchFamily="34" charset="0"/>
              </a:rPr>
              <a:t>&gt; map;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map = new </a:t>
            </a:r>
            <a:r>
              <a:rPr lang="en-US" altLang="en-US" sz="2000" dirty="0" err="1">
                <a:latin typeface="Tahoma" panose="020B0604030504040204" pitchFamily="34" charset="0"/>
              </a:rPr>
              <a:t>TreeMap</a:t>
            </a:r>
            <a:r>
              <a:rPr lang="en-US" altLang="en-US" sz="2000" dirty="0">
                <a:latin typeface="Tahoma" panose="020B0604030504040204" pitchFamily="34" charset="0"/>
              </a:rPr>
              <a:t>&lt;</a:t>
            </a:r>
            <a:r>
              <a:rPr lang="en-US" altLang="en-US" sz="2000" dirty="0" err="1">
                <a:latin typeface="Tahoma" panose="020B0604030504040204" pitchFamily="34" charset="0"/>
              </a:rPr>
              <a:t>Character,Integer</a:t>
            </a:r>
            <a:r>
              <a:rPr lang="en-US" altLang="en-US" sz="2000" dirty="0">
                <a:latin typeface="Tahoma" panose="020B0604030504040204" pitchFamily="34" charset="0"/>
              </a:rPr>
              <a:t>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String s = "</a:t>
            </a:r>
            <a:r>
              <a:rPr lang="en-US" altLang="en-US" sz="2000" dirty="0" err="1">
                <a:latin typeface="Tahoma" panose="020B0604030504040204" pitchFamily="34" charset="0"/>
              </a:rPr>
              <a:t>cabcdefghihabcdc</a:t>
            </a:r>
            <a:r>
              <a:rPr lang="en-US" altLang="en-US" sz="2000" dirty="0">
                <a:latin typeface="Tahoma" panose="020B0604030504040204" pitchFamily="34" charset="0"/>
              </a:rPr>
              <a:t>";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for(char c : </a:t>
            </a:r>
            <a:r>
              <a:rPr lang="en-US" altLang="en-US" sz="2000" dirty="0" err="1">
                <a:latin typeface="Tahoma" panose="020B0604030504040204" pitchFamily="34" charset="0"/>
              </a:rPr>
              <a:t>s.toCharArray</a:t>
            </a:r>
            <a:r>
              <a:rPr lang="en-US" altLang="en-US" sz="2000" dirty="0">
                <a:latin typeface="Tahoma" panose="020B0604030504040204" pitchFamily="34" charset="0"/>
              </a:rPr>
              <a:t>())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if( </a:t>
            </a:r>
            <a:r>
              <a:rPr lang="en-US" altLang="en-US" sz="2000" dirty="0" err="1">
                <a:solidFill>
                  <a:srgbClr val="FF0000"/>
                </a:solidFill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solidFill>
                  <a:srgbClr val="FF0000"/>
                </a:solidFill>
                <a:latin typeface="Tahoma" panose="020B0604030504040204" pitchFamily="34" charset="0"/>
              </a:rPr>
              <a:t>(c) != null </a:t>
            </a:r>
            <a:r>
              <a:rPr lang="en-US" altLang="en-US" sz="20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   </a:t>
            </a:r>
            <a:r>
              <a:rPr lang="en-US" altLang="en-US" sz="2000" dirty="0" err="1">
                <a:latin typeface="Tahoma" panose="020B0604030504040204" pitchFamily="34" charset="0"/>
              </a:rPr>
              <a:t>map.put</a:t>
            </a:r>
            <a:r>
              <a:rPr lang="en-US" altLang="en-US" sz="2000" dirty="0">
                <a:latin typeface="Tahoma" panose="020B0604030504040204" pitchFamily="34" charset="0"/>
              </a:rPr>
              <a:t>(c, 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   </a:t>
            </a:r>
            <a:r>
              <a:rPr lang="en-US" altLang="en-US" sz="2000" dirty="0" err="1">
                <a:latin typeface="Tahoma" panose="020B0604030504040204" pitchFamily="34" charset="0"/>
              </a:rPr>
              <a:t>map.put</a:t>
            </a:r>
            <a:r>
              <a:rPr lang="en-US" altLang="en-US" sz="2000" dirty="0">
                <a:latin typeface="Tahoma" panose="020B0604030504040204" pitchFamily="34" charset="0"/>
              </a:rPr>
              <a:t>(c, </a:t>
            </a:r>
            <a:r>
              <a:rPr lang="en-US" altLang="en-US" sz="2000" dirty="0" err="1"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latin typeface="Tahoma" panose="020B0604030504040204" pitchFamily="34" charset="0"/>
              </a:rPr>
              <a:t>(c) + 1);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000" dirty="0"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latin typeface="Tahoma" panose="020B0604030504040204" pitchFamily="34" charset="0"/>
              </a:rPr>
              <a:t>('a'));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000" dirty="0"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latin typeface="Tahoma" panose="020B0604030504040204" pitchFamily="34" charset="0"/>
              </a:rPr>
              <a:t>('x'));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000" dirty="0"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latin typeface="Tahoma" panose="020B0604030504040204" pitchFamily="34" charset="0"/>
              </a:rPr>
              <a:t>('c'));</a:t>
            </a:r>
          </a:p>
        </p:txBody>
      </p:sp>
      <p:sp>
        <p:nvSpPr>
          <p:cNvPr id="34820" name="WordArt 3">
            <a:extLst>
              <a:ext uri="{FF2B5EF4-FFF2-40B4-BE49-F238E27FC236}">
                <a16:creationId xmlns:a16="http://schemas.microsoft.com/office/drawing/2014/main" id="{9D77638B-8F0B-4D71-A7E8-FE9871CCAED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304800"/>
            <a:ext cx="8001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 put one</a:t>
            </a:r>
          </a:p>
        </p:txBody>
      </p:sp>
      <p:sp>
        <p:nvSpPr>
          <p:cNvPr id="34822" name="Text Box 5">
            <a:extLst>
              <a:ext uri="{FF2B5EF4-FFF2-40B4-BE49-F238E27FC236}">
                <a16:creationId xmlns:a16="http://schemas.microsoft.com/office/drawing/2014/main" id="{75555B5C-1C30-4CE6-ABE8-BF775AA0E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362200"/>
            <a:ext cx="3810000" cy="255454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>
                <a:solidFill>
                  <a:srgbClr val="333399"/>
                </a:solidFill>
                <a:latin typeface="Tahoma" panose="020B0604030504040204" pitchFamily="34" charset="0"/>
              </a:rPr>
              <a:t>Prefer: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>
                <a:solidFill>
                  <a:srgbClr val="006600"/>
                </a:solidFill>
                <a:latin typeface="Tahoma" panose="020B0604030504040204" pitchFamily="34" charset="0"/>
              </a:rPr>
              <a:t>! </a:t>
            </a:r>
            <a:r>
              <a:rPr lang="en-US" altLang="en-US" sz="2000" dirty="0" err="1">
                <a:solidFill>
                  <a:srgbClr val="006600"/>
                </a:solidFill>
                <a:latin typeface="Tahoma" panose="020B0604030504040204" pitchFamily="34" charset="0"/>
              </a:rPr>
              <a:t>map.containsKey</a:t>
            </a:r>
            <a:r>
              <a:rPr lang="en-US" altLang="en-US" sz="2000" dirty="0">
                <a:solidFill>
                  <a:srgbClr val="006600"/>
                </a:solidFill>
                <a:latin typeface="Tahoma" panose="020B0604030504040204" pitchFamily="34" charset="0"/>
              </a:rPr>
              <a:t>(c)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>
                <a:solidFill>
                  <a:srgbClr val="333399"/>
                </a:solidFill>
                <a:latin typeface="Tahoma" panose="020B0604030504040204" pitchFamily="34" charset="0"/>
              </a:rPr>
              <a:t>over: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 err="1">
                <a:solidFill>
                  <a:srgbClr val="FF0000"/>
                </a:solidFill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solidFill>
                  <a:srgbClr val="FF0000"/>
                </a:solidFill>
                <a:latin typeface="Tahoma" panose="020B0604030504040204" pitchFamily="34" charset="0"/>
              </a:rPr>
              <a:t>(c) != null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000" dirty="0">
                <a:solidFill>
                  <a:srgbClr val="333399"/>
                </a:solidFill>
                <a:latin typeface="Tahoma" panose="020B0604030504040204" pitchFamily="34" charset="0"/>
              </a:rPr>
              <a:t>since maps can store null values.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C90592A-8F66-C9A5-E91B-679A941260BD}"/>
              </a:ext>
            </a:extLst>
          </p:cNvPr>
          <p:cNvCxnSpPr>
            <a:stCxn id="34822" idx="1"/>
          </p:cNvCxnSpPr>
          <p:nvPr/>
        </p:nvCxnSpPr>
        <p:spPr bwMode="auto">
          <a:xfrm flipH="1" flipV="1">
            <a:off x="3657600" y="3429000"/>
            <a:ext cx="1524000" cy="21047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54185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9D4B7BBD-EC05-41D3-A61C-4F6A921D7C8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8916" name="WordArt 3">
            <a:extLst>
              <a:ext uri="{FF2B5EF4-FFF2-40B4-BE49-F238E27FC236}">
                <a16:creationId xmlns:a16="http://schemas.microsoft.com/office/drawing/2014/main" id="{09EA0344-1203-4AB0-96AC-530F292AD64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733800" y="228600"/>
            <a:ext cx="51054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 put two</a:t>
            </a:r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B2CFCD5E-04B6-47CE-8344-000AB821F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514600"/>
            <a:ext cx="1905000" cy="187325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b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2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null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C32A611E-3B7F-4448-A30B-E7E96C839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800"/>
            <a:ext cx="83820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Map&lt;</a:t>
            </a:r>
            <a:r>
              <a:rPr lang="en-US" altLang="en-US" sz="2000" dirty="0" err="1">
                <a:latin typeface="Tahoma" panose="020B0604030504040204" pitchFamily="34" charset="0"/>
              </a:rPr>
              <a:t>Character,Integer</a:t>
            </a:r>
            <a:r>
              <a:rPr lang="en-US" altLang="en-US" sz="2000" dirty="0">
                <a:latin typeface="Tahoma" panose="020B0604030504040204" pitchFamily="34" charset="0"/>
              </a:rPr>
              <a:t>&gt; map;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map = new </a:t>
            </a:r>
            <a:r>
              <a:rPr lang="en-US" altLang="en-US" sz="2000" dirty="0" err="1">
                <a:latin typeface="Tahoma" panose="020B0604030504040204" pitchFamily="34" charset="0"/>
              </a:rPr>
              <a:t>TreeMap</a:t>
            </a:r>
            <a:r>
              <a:rPr lang="en-US" altLang="en-US" sz="2000" dirty="0">
                <a:latin typeface="Tahoma" panose="020B0604030504040204" pitchFamily="34" charset="0"/>
              </a:rPr>
              <a:t>&lt;</a:t>
            </a:r>
            <a:r>
              <a:rPr lang="en-US" altLang="en-US" sz="2000" dirty="0" err="1">
                <a:latin typeface="Tahoma" panose="020B0604030504040204" pitchFamily="34" charset="0"/>
              </a:rPr>
              <a:t>Character,Integer</a:t>
            </a:r>
            <a:r>
              <a:rPr lang="en-US" altLang="en-US" sz="2000" dirty="0">
                <a:latin typeface="Tahoma" panose="020B0604030504040204" pitchFamily="34" charset="0"/>
              </a:rPr>
              <a:t>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String s = "</a:t>
            </a:r>
            <a:r>
              <a:rPr lang="en-US" altLang="en-US" sz="2000" dirty="0" err="1">
                <a:latin typeface="Tahoma" panose="020B0604030504040204" pitchFamily="34" charset="0"/>
              </a:rPr>
              <a:t>cabcdefghihabcdc</a:t>
            </a:r>
            <a:r>
              <a:rPr lang="en-US" altLang="en-US" sz="2000" dirty="0">
                <a:latin typeface="Tahoma" panose="020B0604030504040204" pitchFamily="34" charset="0"/>
              </a:rPr>
              <a:t>";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for(char c : </a:t>
            </a:r>
            <a:r>
              <a:rPr lang="en-US" altLang="en-US" sz="2000" dirty="0" err="1">
                <a:latin typeface="Tahoma" panose="020B0604030504040204" pitchFamily="34" charset="0"/>
              </a:rPr>
              <a:t>s.toCharArray</a:t>
            </a:r>
            <a:r>
              <a:rPr lang="en-US" altLang="en-US" sz="2000" dirty="0">
                <a:latin typeface="Tahoma" panose="020B0604030504040204" pitchFamily="34" charset="0"/>
              </a:rPr>
              <a:t>())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if( </a:t>
            </a:r>
            <a:r>
              <a:rPr lang="en-US" altLang="en-US" sz="2000" dirty="0">
                <a:solidFill>
                  <a:srgbClr val="660033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000" dirty="0" err="1">
                <a:solidFill>
                  <a:srgbClr val="660033"/>
                </a:solidFill>
                <a:latin typeface="Tahoma" panose="020B0604030504040204" pitchFamily="34" charset="0"/>
              </a:rPr>
              <a:t>map.containsKey</a:t>
            </a:r>
            <a:r>
              <a:rPr lang="en-US" altLang="en-US" sz="2000" dirty="0">
                <a:solidFill>
                  <a:srgbClr val="660033"/>
                </a:solidFill>
                <a:latin typeface="Tahoma" panose="020B0604030504040204" pitchFamily="34" charset="0"/>
              </a:rPr>
              <a:t>(c) </a:t>
            </a:r>
            <a:r>
              <a:rPr lang="en-US" altLang="en-US" sz="20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   </a:t>
            </a:r>
            <a:r>
              <a:rPr lang="en-US" altLang="en-US" sz="2000" dirty="0" err="1">
                <a:solidFill>
                  <a:srgbClr val="00B050"/>
                </a:solidFill>
                <a:latin typeface="Tahoma" panose="020B0604030504040204" pitchFamily="34" charset="0"/>
              </a:rPr>
              <a:t>map.put</a:t>
            </a:r>
            <a:r>
              <a:rPr lang="en-US" altLang="en-US" sz="2000" dirty="0">
                <a:solidFill>
                  <a:srgbClr val="00B050"/>
                </a:solidFill>
                <a:latin typeface="Tahoma" panose="020B0604030504040204" pitchFamily="34" charset="0"/>
              </a:rPr>
              <a:t>(c, </a:t>
            </a:r>
            <a:r>
              <a:rPr lang="en-US" altLang="en-US" sz="2000" dirty="0">
                <a:solidFill>
                  <a:srgbClr val="00B050"/>
                </a:solidFill>
                <a:highlight>
                  <a:srgbClr val="FFFF00"/>
                </a:highlight>
                <a:latin typeface="Tahoma" panose="020B0604030504040204" pitchFamily="34" charset="0"/>
              </a:rPr>
              <a:t>0</a:t>
            </a:r>
            <a:r>
              <a:rPr lang="en-US" altLang="en-US" sz="2000" dirty="0">
                <a:solidFill>
                  <a:srgbClr val="00B050"/>
                </a:solidFill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</a:t>
            </a:r>
            <a:r>
              <a:rPr lang="en-US" altLang="en-US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map.put</a:t>
            </a:r>
            <a:r>
              <a:rPr lang="en-US" altLang="en-US" sz="2000" dirty="0">
                <a:solidFill>
                  <a:srgbClr val="0000CC"/>
                </a:solidFill>
                <a:latin typeface="Tahoma" panose="020B0604030504040204" pitchFamily="34" charset="0"/>
              </a:rPr>
              <a:t>(c, </a:t>
            </a:r>
            <a:r>
              <a:rPr lang="en-US" altLang="en-US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solidFill>
                  <a:srgbClr val="0000CC"/>
                </a:solidFill>
                <a:latin typeface="Tahoma" panose="020B0604030504040204" pitchFamily="34" charset="0"/>
              </a:rPr>
              <a:t>(c) + 1);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000" dirty="0"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latin typeface="Tahoma" panose="020B0604030504040204" pitchFamily="34" charset="0"/>
              </a:rPr>
              <a:t>('a'));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000" dirty="0"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latin typeface="Tahoma" panose="020B0604030504040204" pitchFamily="34" charset="0"/>
              </a:rPr>
              <a:t>('x'));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000" dirty="0"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latin typeface="Tahoma" panose="020B0604030504040204" pitchFamily="34" charset="0"/>
              </a:rPr>
              <a:t>map.get</a:t>
            </a:r>
            <a:r>
              <a:rPr lang="en-US" altLang="en-US" sz="2000" dirty="0">
                <a:latin typeface="Tahoma" panose="020B0604030504040204" pitchFamily="34" charset="0"/>
              </a:rPr>
              <a:t>('c'));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6E4BF2-3AF6-E004-800F-75C86C968B1F}"/>
              </a:ext>
            </a:extLst>
          </p:cNvPr>
          <p:cNvSpPr txBox="1"/>
          <p:nvPr/>
        </p:nvSpPr>
        <p:spPr>
          <a:xfrm>
            <a:off x="838200" y="5791200"/>
            <a:ext cx="713208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can lose the ELSE if you start at zero.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0E7CE6AA-12E5-4BE5-9AD4-319E9F3C78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20691" y="6380018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3011" name="WordArt 3">
            <a:extLst>
              <a:ext uri="{FF2B5EF4-FFF2-40B4-BE49-F238E27FC236}">
                <a16:creationId xmlns:a16="http://schemas.microsoft.com/office/drawing/2014/main" id="{650805B6-1501-4121-9992-4A14FB3EDBC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236390"/>
            <a:ext cx="5918472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 </a:t>
            </a:r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toString</a:t>
            </a:r>
            <a:endParaRPr lang="en-US" sz="3600" kern="10" dirty="0">
              <a:ln w="9525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3012" name="Rectangle 1">
            <a:extLst>
              <a:ext uri="{FF2B5EF4-FFF2-40B4-BE49-F238E27FC236}">
                <a16:creationId xmlns:a16="http://schemas.microsoft.com/office/drawing/2014/main" id="{F7F2E903-6A69-4C45-9A1E-DE7DDCB13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66800"/>
            <a:ext cx="75438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Map&lt;</a:t>
            </a:r>
            <a:r>
              <a:rPr lang="en-US" altLang="en-US" sz="2400" dirty="0" err="1">
                <a:latin typeface="Tahoma" panose="020B0604030504040204" pitchFamily="34" charset="0"/>
              </a:rPr>
              <a:t>Integer,Double</a:t>
            </a:r>
            <a:r>
              <a:rPr lang="en-US" altLang="en-US" sz="2400" dirty="0">
                <a:latin typeface="Tahoma" panose="020B0604030504040204" pitchFamily="34" charset="0"/>
              </a:rPr>
              <a:t>&gt; map;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map = new </a:t>
            </a:r>
            <a:r>
              <a:rPr lang="en-US" altLang="en-US" sz="2400" dirty="0" err="1">
                <a:solidFill>
                  <a:srgbClr val="00B0F0"/>
                </a:solidFill>
                <a:latin typeface="Tahoma" panose="020B0604030504040204" pitchFamily="34" charset="0"/>
              </a:rPr>
              <a:t>TreeMap</a:t>
            </a:r>
            <a:r>
              <a:rPr lang="en-US" altLang="en-US" sz="2400" dirty="0">
                <a:latin typeface="Tahoma" panose="020B0604030504040204" pitchFamily="34" charset="0"/>
              </a:rPr>
              <a:t>&lt;</a:t>
            </a:r>
            <a:r>
              <a:rPr lang="en-US" altLang="en-US" sz="2400" dirty="0" err="1">
                <a:latin typeface="Tahoma" panose="020B0604030504040204" pitchFamily="34" charset="0"/>
              </a:rPr>
              <a:t>Integer,Double</a:t>
            </a:r>
            <a:r>
              <a:rPr lang="en-US" altLang="en-US" sz="2400" dirty="0">
                <a:latin typeface="Tahoma" panose="020B0604030504040204" pitchFamily="34" charset="0"/>
              </a:rPr>
              <a:t>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map.put</a:t>
            </a:r>
            <a:r>
              <a:rPr lang="en-US" altLang="en-US" sz="2400" dirty="0">
                <a:latin typeface="Tahoma" panose="020B0604030504040204" pitchFamily="34" charset="0"/>
              </a:rPr>
              <a:t>(4, 3.2);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map.put</a:t>
            </a:r>
            <a:r>
              <a:rPr lang="en-US" altLang="en-US" sz="2400" dirty="0">
                <a:latin typeface="Tahoma" panose="020B0604030504040204" pitchFamily="34" charset="0"/>
              </a:rPr>
              <a:t>(1, 6.5);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map.put</a:t>
            </a:r>
            <a:r>
              <a:rPr lang="en-US" altLang="en-US" sz="2400" dirty="0">
                <a:latin typeface="Tahoma" panose="020B0604030504040204" pitchFamily="34" charset="0"/>
              </a:rPr>
              <a:t>(2, 7.7);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map.put</a:t>
            </a:r>
            <a:r>
              <a:rPr lang="en-US" altLang="en-US" sz="2400" dirty="0">
                <a:latin typeface="Tahoma" panose="020B0604030504040204" pitchFamily="34" charset="0"/>
              </a:rPr>
              <a:t>(3, 6.5);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out.println</a:t>
            </a:r>
            <a:r>
              <a:rPr lang="en-US" altLang="en-US" sz="2400" dirty="0">
                <a:latin typeface="Tahoma" panose="020B0604030504040204" pitchFamily="34" charset="0"/>
              </a:rPr>
              <a:t>(</a:t>
            </a:r>
            <a:r>
              <a:rPr lang="en-US" altLang="en-US" sz="2400" dirty="0">
                <a:solidFill>
                  <a:srgbClr val="7030A0"/>
                </a:solidFill>
                <a:latin typeface="Tahoma" panose="020B0604030504040204" pitchFamily="34" charset="0"/>
              </a:rPr>
              <a:t>map</a:t>
            </a:r>
            <a:r>
              <a:rPr lang="en-US" altLang="en-US" sz="2400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out.println</a:t>
            </a:r>
            <a:r>
              <a:rPr lang="en-US" altLang="en-US" sz="2400" dirty="0">
                <a:latin typeface="Tahoma" panose="020B0604030504040204" pitchFamily="34" charset="0"/>
              </a:rPr>
              <a:t>(</a:t>
            </a:r>
            <a:r>
              <a:rPr lang="en-US" altLang="en-US" sz="2400" dirty="0" err="1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map.keySet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400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out.println</a:t>
            </a:r>
            <a:r>
              <a:rPr lang="en-US" altLang="en-US" sz="2400" dirty="0">
                <a:latin typeface="Tahoma" panose="020B0604030504040204" pitchFamily="34" charset="0"/>
              </a:rPr>
              <a:t>(</a:t>
            </a:r>
            <a:r>
              <a:rPr lang="en-US" altLang="en-US" sz="2400" dirty="0" err="1">
                <a:solidFill>
                  <a:srgbClr val="006666"/>
                </a:solidFill>
                <a:latin typeface="Tahoma" panose="020B0604030504040204" pitchFamily="34" charset="0"/>
              </a:rPr>
              <a:t>map.values</a:t>
            </a:r>
            <a:r>
              <a:rPr lang="en-US" altLang="en-US" sz="2400" dirty="0">
                <a:solidFill>
                  <a:srgbClr val="006666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400" dirty="0"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43013" name="Rectangle 6">
            <a:extLst>
              <a:ext uri="{FF2B5EF4-FFF2-40B4-BE49-F238E27FC236}">
                <a16:creationId xmlns:a16="http://schemas.microsoft.com/office/drawing/2014/main" id="{AED8DE17-CEFF-4B22-A51E-2718B7DE7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876800"/>
            <a:ext cx="61722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{1=6.5,  2=7.7,  3=6.5, 4=3.2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[1, 2, 3, 4]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6666"/>
                </a:solidFill>
                <a:latin typeface="Tahoma" panose="020B0604030504040204" pitchFamily="34" charset="0"/>
              </a:rPr>
              <a:t>[6.5, 7.7, 6.5, 3.2]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0E7CE6AA-12E5-4BE5-9AD4-319E9F3C78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20691" y="6380018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3011" name="WordArt 3">
            <a:extLst>
              <a:ext uri="{FF2B5EF4-FFF2-40B4-BE49-F238E27FC236}">
                <a16:creationId xmlns:a16="http://schemas.microsoft.com/office/drawing/2014/main" id="{650805B6-1501-4121-9992-4A14FB3EDBC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236390"/>
            <a:ext cx="5918472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map </a:t>
            </a:r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toString</a:t>
            </a:r>
            <a:endParaRPr lang="en-US" sz="3600" kern="10" dirty="0">
              <a:ln w="9525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3012" name="Rectangle 1">
            <a:extLst>
              <a:ext uri="{FF2B5EF4-FFF2-40B4-BE49-F238E27FC236}">
                <a16:creationId xmlns:a16="http://schemas.microsoft.com/office/drawing/2014/main" id="{F7F2E903-6A69-4C45-9A1E-DE7DDCB13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66800"/>
            <a:ext cx="75438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Map&lt;</a:t>
            </a:r>
            <a:r>
              <a:rPr lang="en-US" altLang="en-US" sz="2400" dirty="0" err="1">
                <a:latin typeface="Tahoma" panose="020B0604030504040204" pitchFamily="34" charset="0"/>
              </a:rPr>
              <a:t>String,Double</a:t>
            </a:r>
            <a:r>
              <a:rPr lang="en-US" altLang="en-US" sz="2400" dirty="0">
                <a:latin typeface="Tahoma" panose="020B0604030504040204" pitchFamily="34" charset="0"/>
              </a:rPr>
              <a:t>&gt; map;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map = new </a:t>
            </a:r>
            <a:r>
              <a:rPr lang="en-US" altLang="en-US" sz="2400" dirty="0">
                <a:solidFill>
                  <a:srgbClr val="00B050"/>
                </a:solidFill>
                <a:latin typeface="Tahoma" panose="020B0604030504040204" pitchFamily="34" charset="0"/>
              </a:rPr>
              <a:t>HashMap</a:t>
            </a:r>
            <a:r>
              <a:rPr lang="en-US" altLang="en-US" sz="2400" dirty="0">
                <a:latin typeface="Tahoma" panose="020B0604030504040204" pitchFamily="34" charset="0"/>
              </a:rPr>
              <a:t>&lt;</a:t>
            </a:r>
            <a:r>
              <a:rPr lang="en-US" altLang="en-US" sz="2400" dirty="0" err="1">
                <a:latin typeface="Tahoma" panose="020B0604030504040204" pitchFamily="34" charset="0"/>
              </a:rPr>
              <a:t>String,Double</a:t>
            </a:r>
            <a:r>
              <a:rPr lang="en-US" altLang="en-US" sz="2400" dirty="0">
                <a:latin typeface="Tahoma" panose="020B0604030504040204" pitchFamily="34" charset="0"/>
              </a:rPr>
              <a:t>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map.put</a:t>
            </a:r>
            <a:r>
              <a:rPr lang="en-US" altLang="en-US" sz="2400" dirty="0">
                <a:latin typeface="Tahoma" panose="020B0604030504040204" pitchFamily="34" charset="0"/>
              </a:rPr>
              <a:t>(“why”, 3.2);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map.put</a:t>
            </a:r>
            <a:r>
              <a:rPr lang="en-US" altLang="en-US" sz="2400" dirty="0">
                <a:latin typeface="Tahoma" panose="020B0604030504040204" pitchFamily="34" charset="0"/>
              </a:rPr>
              <a:t>(“an”, 6.5);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map.put</a:t>
            </a:r>
            <a:r>
              <a:rPr lang="en-US" altLang="en-US" sz="2400" dirty="0">
                <a:latin typeface="Tahoma" panose="020B0604030504040204" pitchFamily="34" charset="0"/>
              </a:rPr>
              <a:t>(“by”, 7.7);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map.put</a:t>
            </a:r>
            <a:r>
              <a:rPr lang="en-US" altLang="en-US" sz="2400" dirty="0">
                <a:latin typeface="Tahoma" panose="020B0604030504040204" pitchFamily="34" charset="0"/>
              </a:rPr>
              <a:t>(“42”, 6.5);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out.println</a:t>
            </a:r>
            <a:r>
              <a:rPr lang="en-US" altLang="en-US" sz="2400" dirty="0">
                <a:latin typeface="Tahoma" panose="020B0604030504040204" pitchFamily="34" charset="0"/>
              </a:rPr>
              <a:t>(</a:t>
            </a:r>
            <a:r>
              <a:rPr lang="en-US" altLang="en-US" sz="2400" dirty="0">
                <a:solidFill>
                  <a:srgbClr val="7030A0"/>
                </a:solidFill>
                <a:latin typeface="Tahoma" panose="020B0604030504040204" pitchFamily="34" charset="0"/>
              </a:rPr>
              <a:t>map</a:t>
            </a:r>
            <a:r>
              <a:rPr lang="en-US" altLang="en-US" sz="2400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out.println</a:t>
            </a:r>
            <a:r>
              <a:rPr lang="en-US" altLang="en-US" sz="2400" dirty="0">
                <a:latin typeface="Tahoma" panose="020B0604030504040204" pitchFamily="34" charset="0"/>
              </a:rPr>
              <a:t>(</a:t>
            </a:r>
            <a:r>
              <a:rPr lang="en-US" altLang="en-US" sz="2400" dirty="0" err="1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map.keySet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400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out.println</a:t>
            </a:r>
            <a:r>
              <a:rPr lang="en-US" altLang="en-US" sz="2400" dirty="0">
                <a:latin typeface="Tahoma" panose="020B0604030504040204" pitchFamily="34" charset="0"/>
              </a:rPr>
              <a:t>(</a:t>
            </a:r>
            <a:r>
              <a:rPr lang="en-US" altLang="en-US" sz="2400" dirty="0" err="1">
                <a:solidFill>
                  <a:srgbClr val="006666"/>
                </a:solidFill>
                <a:latin typeface="Tahoma" panose="020B0604030504040204" pitchFamily="34" charset="0"/>
              </a:rPr>
              <a:t>map.values</a:t>
            </a:r>
            <a:r>
              <a:rPr lang="en-US" altLang="en-US" sz="2400" dirty="0">
                <a:solidFill>
                  <a:srgbClr val="006666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400" dirty="0"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43013" name="Rectangle 6">
            <a:extLst>
              <a:ext uri="{FF2B5EF4-FFF2-40B4-BE49-F238E27FC236}">
                <a16:creationId xmlns:a16="http://schemas.microsoft.com/office/drawing/2014/main" id="{AED8DE17-CEFF-4B22-A51E-2718B7DE7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876800"/>
            <a:ext cx="75438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{by=7.7, why=3.2, an=6.5, 42=6.5}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[by, why, an, 42]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6666"/>
                </a:solidFill>
                <a:latin typeface="Tahoma" panose="020B0604030504040204" pitchFamily="34" charset="0"/>
              </a:rPr>
              <a:t>[7.7, 3.2, 6.5, 6.5]</a:t>
            </a:r>
          </a:p>
        </p:txBody>
      </p:sp>
    </p:spTree>
    <p:extLst>
      <p:ext uri="{BB962C8B-B14F-4D97-AF65-F5344CB8AC3E}">
        <p14:creationId xmlns:p14="http://schemas.microsoft.com/office/powerpoint/2010/main" val="3194092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351B55EA-ABA5-42F9-8088-C2E04EE0FA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7107" name="Text Box 2">
            <a:extLst>
              <a:ext uri="{FF2B5EF4-FFF2-40B4-BE49-F238E27FC236}">
                <a16:creationId xmlns:a16="http://schemas.microsoft.com/office/drawing/2014/main" id="{3F38BBF5-894E-4415-8A35-6518F25E5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09800"/>
            <a:ext cx="722665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for(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Integer n</a:t>
            </a:r>
            <a:r>
              <a:rPr lang="en-US" altLang="en-US" sz="2800" dirty="0">
                <a:latin typeface="Tahoma" panose="020B0604030504040204" pitchFamily="34" charset="0"/>
              </a:rPr>
              <a:t> : </a:t>
            </a:r>
            <a:r>
              <a:rPr lang="en-US" altLang="en-US" sz="2800" dirty="0" err="1">
                <a:solidFill>
                  <a:srgbClr val="00B0F0"/>
                </a:solidFill>
                <a:latin typeface="Tahoma" panose="020B0604030504040204" pitchFamily="34" charset="0"/>
              </a:rPr>
              <a:t>map.keySet</a:t>
            </a:r>
            <a:r>
              <a:rPr lang="en-US" altLang="en-US" sz="2800" dirty="0">
                <a:solidFill>
                  <a:srgbClr val="00B0F0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8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n</a:t>
            </a:r>
            <a:r>
              <a:rPr lang="en-US" altLang="en-US" sz="2800" dirty="0">
                <a:latin typeface="Tahoma" panose="020B0604030504040204" pitchFamily="34" charset="0"/>
              </a:rPr>
              <a:t> + " = " + </a:t>
            </a:r>
            <a:r>
              <a:rPr lang="en-US" altLang="en-US" sz="2800" dirty="0" err="1">
                <a:solidFill>
                  <a:srgbClr val="7030A0"/>
                </a:solidFill>
                <a:latin typeface="Tahoma" panose="020B0604030504040204" pitchFamily="34" charset="0"/>
              </a:rPr>
              <a:t>map.get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(n)</a:t>
            </a: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  <a:r>
              <a:rPr lang="en-US" altLang="en-US" sz="2400" dirty="0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903890A7-2179-4148-B7CE-2619E1529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357688"/>
            <a:ext cx="1752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ahoma" panose="020B0604030504040204" pitchFamily="34" charset="0"/>
              </a:rPr>
              <a:t>1 = 6.5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ahoma" panose="020B0604030504040204" pitchFamily="34" charset="0"/>
              </a:rPr>
              <a:t>2 = 7.7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ahoma" panose="020B0604030504040204" pitchFamily="34" charset="0"/>
              </a:rPr>
              <a:t>4 = 3.2</a:t>
            </a:r>
            <a:endParaRPr lang="en-US" altLang="en-US" sz="2800">
              <a:solidFill>
                <a:srgbClr val="7030A0"/>
              </a:solidFill>
              <a:latin typeface="Tahoma" panose="020B0604030504040204" pitchFamily="34" charset="0"/>
            </a:endParaRPr>
          </a:p>
        </p:txBody>
      </p:sp>
      <p:sp>
        <p:nvSpPr>
          <p:cNvPr id="6" name="WordArt 3">
            <a:extLst>
              <a:ext uri="{FF2B5EF4-FFF2-40B4-BE49-F238E27FC236}">
                <a16:creationId xmlns:a16="http://schemas.microsoft.com/office/drawing/2014/main" id="{C7E1561A-7F95-436D-9B90-F6D7A3699BD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245460"/>
            <a:ext cx="74676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Iterating over a Map using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B0F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keyset() 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and for-each loop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id="{ACE2B12E-25F9-4C54-8866-5E3BE49B0B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EAB347BE-6113-4B5F-A7C2-7E2AF7A66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52600"/>
            <a:ext cx="709521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Iterator&lt;Integer&gt; it;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it = </a:t>
            </a:r>
            <a:r>
              <a:rPr lang="en-US" altLang="en-US" sz="2800" dirty="0" err="1">
                <a:solidFill>
                  <a:srgbClr val="00B0F0"/>
                </a:solidFill>
                <a:latin typeface="Tahoma" panose="020B0604030504040204" pitchFamily="34" charset="0"/>
              </a:rPr>
              <a:t>map.keySet</a:t>
            </a:r>
            <a:r>
              <a:rPr lang="en-US" altLang="en-US" sz="2800" dirty="0">
                <a:solidFill>
                  <a:srgbClr val="00B0F0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800" dirty="0">
                <a:latin typeface="Tahoma" panose="020B0604030504040204" pitchFamily="34" charset="0"/>
              </a:rPr>
              <a:t>.iterator();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while(</a:t>
            </a:r>
            <a:r>
              <a:rPr lang="en-US" altLang="en-US" sz="2800" dirty="0" err="1">
                <a:latin typeface="Tahoma" panose="020B0604030504040204" pitchFamily="34" charset="0"/>
              </a:rPr>
              <a:t>it.hasNext</a:t>
            </a:r>
            <a:r>
              <a:rPr lang="en-US" altLang="en-US" sz="2800" dirty="0">
                <a:latin typeface="Tahoma" panose="020B0604030504040204" pitchFamily="34" charset="0"/>
              </a:rPr>
              <a:t>())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int n</a:t>
            </a:r>
            <a:r>
              <a:rPr lang="en-US" altLang="en-US" sz="2800" dirty="0">
                <a:latin typeface="Tahoma" panose="020B0604030504040204" pitchFamily="34" charset="0"/>
              </a:rPr>
              <a:t> = </a:t>
            </a:r>
            <a:r>
              <a:rPr lang="en-US" altLang="en-US" sz="2800" dirty="0" err="1">
                <a:latin typeface="Tahoma" panose="020B0604030504040204" pitchFamily="34" charset="0"/>
              </a:rPr>
              <a:t>it.next</a:t>
            </a:r>
            <a:r>
              <a:rPr lang="en-US" altLang="en-US" sz="2800" dirty="0"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n</a:t>
            </a:r>
            <a:r>
              <a:rPr lang="en-US" altLang="en-US" sz="2800" dirty="0">
                <a:latin typeface="Tahoma" panose="020B0604030504040204" pitchFamily="34" charset="0"/>
              </a:rPr>
              <a:t> + " - " + </a:t>
            </a:r>
            <a:r>
              <a:rPr lang="en-US" altLang="en-US" sz="2800" dirty="0" err="1">
                <a:solidFill>
                  <a:srgbClr val="7030A0"/>
                </a:solidFill>
                <a:latin typeface="Tahoma" panose="020B0604030504040204" pitchFamily="34" charset="0"/>
              </a:rPr>
              <a:t>map.get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(n)</a:t>
            </a: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  <a:r>
              <a:rPr lang="en-US" altLang="en-US" sz="2400" dirty="0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45060" name="WordArt 3">
            <a:extLst>
              <a:ext uri="{FF2B5EF4-FFF2-40B4-BE49-F238E27FC236}">
                <a16:creationId xmlns:a16="http://schemas.microsoft.com/office/drawing/2014/main" id="{D10302C5-9F0B-4875-BC6D-BB8AB2ED285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245460"/>
            <a:ext cx="74676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Iterating over a Map using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B0F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keyset() 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and an Iterator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C80777F1-36B7-4026-A582-3D3A19ABF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057400"/>
            <a:ext cx="1752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ahoma" panose="020B0604030504040204" pitchFamily="34" charset="0"/>
              </a:rPr>
              <a:t>1 - 6.5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ahoma" panose="020B0604030504040204" pitchFamily="34" charset="0"/>
              </a:rPr>
              <a:t>2 - 7.7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ahoma" panose="020B0604030504040204" pitchFamily="34" charset="0"/>
              </a:rPr>
              <a:t>4 - 3.2</a:t>
            </a:r>
            <a:endParaRPr lang="en-US" altLang="en-US" sz="2800">
              <a:solidFill>
                <a:srgbClr val="7030A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351B55EA-ABA5-42F9-8088-C2E04EE0FA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7107" name="Text Box 2">
            <a:extLst>
              <a:ext uri="{FF2B5EF4-FFF2-40B4-BE49-F238E27FC236}">
                <a16:creationId xmlns:a16="http://schemas.microsoft.com/office/drawing/2014/main" id="{3F38BBF5-894E-4415-8A35-6518F25E5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472613"/>
            <a:ext cx="878317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for(</a:t>
            </a:r>
            <a:r>
              <a:rPr lang="en-US" sz="2400" dirty="0" err="1">
                <a:solidFill>
                  <a:srgbClr val="7030A0"/>
                </a:solidFill>
                <a:latin typeface="Tahoma" panose="020B0604030504040204" pitchFamily="34" charset="0"/>
              </a:rPr>
              <a:t>Map.Entry</a:t>
            </a:r>
            <a:r>
              <a:rPr lang="en-US" sz="2400" dirty="0">
                <a:solidFill>
                  <a:srgbClr val="7030A0"/>
                </a:solidFill>
                <a:latin typeface="Tahoma" panose="020B0604030504040204" pitchFamily="34" charset="0"/>
              </a:rPr>
              <a:t>&lt;Integer, Double&gt; pair </a:t>
            </a:r>
            <a:r>
              <a:rPr lang="en-US" altLang="en-US" sz="2400" dirty="0">
                <a:latin typeface="Tahoma" panose="020B0604030504040204" pitchFamily="34" charset="0"/>
              </a:rPr>
              <a:t>: </a:t>
            </a:r>
            <a:r>
              <a:rPr lang="en-US" altLang="en-US" sz="2400" dirty="0" err="1">
                <a:solidFill>
                  <a:srgbClr val="00B050"/>
                </a:solidFill>
                <a:latin typeface="Tahoma" panose="020B0604030504040204" pitchFamily="34" charset="0"/>
              </a:rPr>
              <a:t>map.entrySet</a:t>
            </a:r>
            <a:r>
              <a:rPr lang="en-US" altLang="en-US" sz="2400" dirty="0">
                <a:solidFill>
                  <a:srgbClr val="00B050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4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  </a:t>
            </a:r>
            <a:r>
              <a:rPr lang="en-US" altLang="en-US" sz="2400" dirty="0" err="1">
                <a:latin typeface="Tahoma" panose="020B0604030504040204" pitchFamily="34" charset="0"/>
              </a:rPr>
              <a:t>out.println</a:t>
            </a:r>
            <a:r>
              <a:rPr lang="en-US" altLang="en-US" sz="2400" dirty="0">
                <a:latin typeface="Tahoma" panose="020B0604030504040204" pitchFamily="34" charset="0"/>
              </a:rPr>
              <a:t>(</a:t>
            </a:r>
            <a:r>
              <a:rPr lang="en-US" altLang="en-US" sz="2400" dirty="0" err="1">
                <a:solidFill>
                  <a:srgbClr val="7030A0"/>
                </a:solidFill>
                <a:latin typeface="Tahoma" panose="020B0604030504040204" pitchFamily="34" charset="0"/>
              </a:rPr>
              <a:t>pair.getKey</a:t>
            </a:r>
            <a:r>
              <a:rPr lang="en-US" altLang="en-US" sz="2400" dirty="0">
                <a:solidFill>
                  <a:srgbClr val="7030A0"/>
                </a:solidFill>
                <a:latin typeface="Tahoma" panose="020B0604030504040204" pitchFamily="34" charset="0"/>
              </a:rPr>
              <a:t>() </a:t>
            </a:r>
            <a:r>
              <a:rPr lang="en-US" altLang="en-US" sz="2400" dirty="0">
                <a:latin typeface="Tahoma" panose="020B0604030504040204" pitchFamily="34" charset="0"/>
              </a:rPr>
              <a:t>+ " = "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                                                + </a:t>
            </a:r>
            <a:r>
              <a:rPr lang="en-US" altLang="en-US" sz="2400" dirty="0" err="1">
                <a:solidFill>
                  <a:srgbClr val="7030A0"/>
                </a:solidFill>
                <a:latin typeface="Tahoma" panose="020B0604030504040204" pitchFamily="34" charset="0"/>
              </a:rPr>
              <a:t>pair.getValue</a:t>
            </a:r>
            <a:r>
              <a:rPr lang="en-US" altLang="en-US" sz="2400" dirty="0">
                <a:solidFill>
                  <a:srgbClr val="7030A0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400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}</a:t>
            </a:r>
            <a:r>
              <a:rPr lang="en-US" altLang="en-US" sz="2000" dirty="0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903890A7-2179-4148-B7CE-2619E1529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357688"/>
            <a:ext cx="1752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ahoma" panose="020B0604030504040204" pitchFamily="34" charset="0"/>
              </a:rPr>
              <a:t>1 = 6.5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ahoma" panose="020B0604030504040204" pitchFamily="34" charset="0"/>
              </a:rPr>
              <a:t>2 = 7.7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ahoma" panose="020B0604030504040204" pitchFamily="34" charset="0"/>
              </a:rPr>
              <a:t>4 = 3.2</a:t>
            </a:r>
            <a:endParaRPr lang="en-US" altLang="en-US" sz="2800">
              <a:solidFill>
                <a:srgbClr val="7030A0"/>
              </a:solidFill>
              <a:latin typeface="Tahoma" panose="020B0604030504040204" pitchFamily="34" charset="0"/>
            </a:endParaRPr>
          </a:p>
        </p:txBody>
      </p:sp>
      <p:sp>
        <p:nvSpPr>
          <p:cNvPr id="6" name="WordArt 3">
            <a:extLst>
              <a:ext uri="{FF2B5EF4-FFF2-40B4-BE49-F238E27FC236}">
                <a16:creationId xmlns:a16="http://schemas.microsoft.com/office/drawing/2014/main" id="{C7E1561A-7F95-436D-9B90-F6D7A3699BD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245460"/>
            <a:ext cx="74676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Iterating over a Map using</a:t>
            </a:r>
          </a:p>
          <a:p>
            <a:pPr algn="ctr"/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B05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entrySet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B05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() 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and for-each loop</a:t>
            </a:r>
          </a:p>
        </p:txBody>
      </p:sp>
    </p:spTree>
    <p:extLst>
      <p:ext uri="{BB962C8B-B14F-4D97-AF65-F5344CB8AC3E}">
        <p14:creationId xmlns:p14="http://schemas.microsoft.com/office/powerpoint/2010/main" val="2618135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Text Box 2">
            <a:extLst>
              <a:ext uri="{FF2B5EF4-FFF2-40B4-BE49-F238E27FC236}">
                <a16:creationId xmlns:a16="http://schemas.microsoft.com/office/drawing/2014/main" id="{EAB347BE-6113-4B5F-A7C2-7E2AF7A66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88" y="2023170"/>
            <a:ext cx="901400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Iterator&lt;</a:t>
            </a:r>
            <a:r>
              <a:rPr lang="en-US" sz="2800" dirty="0" err="1">
                <a:solidFill>
                  <a:srgbClr val="7030A0"/>
                </a:solidFill>
                <a:latin typeface="Tahoma" panose="020B0604030504040204" pitchFamily="34" charset="0"/>
              </a:rPr>
              <a:t>Map.Entry</a:t>
            </a:r>
            <a:r>
              <a:rPr 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&lt;Integer, Double&gt;</a:t>
            </a:r>
            <a:r>
              <a:rPr lang="en-US" altLang="en-US" sz="2800" dirty="0">
                <a:latin typeface="Tahoma" panose="020B0604030504040204" pitchFamily="34" charset="0"/>
              </a:rPr>
              <a:t>&gt; it;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it = </a:t>
            </a:r>
            <a:r>
              <a:rPr lang="en-US" altLang="en-US" sz="2800" dirty="0" err="1">
                <a:solidFill>
                  <a:srgbClr val="00B050"/>
                </a:solidFill>
                <a:latin typeface="Tahoma" panose="020B0604030504040204" pitchFamily="34" charset="0"/>
              </a:rPr>
              <a:t>map.entrySet</a:t>
            </a:r>
            <a:r>
              <a:rPr lang="en-US" altLang="en-US" sz="2800" dirty="0">
                <a:solidFill>
                  <a:srgbClr val="00B050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800" dirty="0">
                <a:latin typeface="Tahoma" panose="020B0604030504040204" pitchFamily="34" charset="0"/>
              </a:rPr>
              <a:t>.iterator();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while(</a:t>
            </a:r>
            <a:r>
              <a:rPr lang="en-US" altLang="en-US" sz="2800" dirty="0" err="1">
                <a:latin typeface="Tahoma" panose="020B0604030504040204" pitchFamily="34" charset="0"/>
              </a:rPr>
              <a:t>it.hasNext</a:t>
            </a:r>
            <a:r>
              <a:rPr lang="en-US" altLang="en-US" sz="2800" dirty="0">
                <a:latin typeface="Tahoma" panose="020B0604030504040204" pitchFamily="34" charset="0"/>
              </a:rPr>
              <a:t>())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</a:t>
            </a:r>
            <a:r>
              <a:rPr lang="en-US" sz="2800" dirty="0" err="1">
                <a:solidFill>
                  <a:srgbClr val="7030A0"/>
                </a:solidFill>
                <a:latin typeface="Tahoma" panose="020B0604030504040204" pitchFamily="34" charset="0"/>
              </a:rPr>
              <a:t>Map.Entry</a:t>
            </a:r>
            <a:r>
              <a:rPr 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&lt;Integer, Double&gt; pair </a:t>
            </a:r>
            <a:r>
              <a:rPr lang="en-US" sz="2800" dirty="0">
                <a:latin typeface="Tahoma" panose="020B0604030504040204" pitchFamily="34" charset="0"/>
              </a:rPr>
              <a:t>= </a:t>
            </a:r>
            <a:r>
              <a:rPr lang="en-US" sz="2800" dirty="0" err="1">
                <a:latin typeface="Tahoma" panose="020B0604030504040204" pitchFamily="34" charset="0"/>
              </a:rPr>
              <a:t>it.next</a:t>
            </a:r>
            <a:r>
              <a:rPr lang="en-US" sz="2800" dirty="0">
                <a:latin typeface="Tahoma" panose="020B0604030504040204" pitchFamily="34" charset="0"/>
              </a:rPr>
              <a:t>();</a:t>
            </a: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solidFill>
                  <a:srgbClr val="7030A0"/>
                </a:solidFill>
                <a:latin typeface="Tahoma" panose="020B0604030504040204" pitchFamily="34" charset="0"/>
              </a:rPr>
              <a:t>pair.getKey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() </a:t>
            </a:r>
            <a:r>
              <a:rPr lang="en-US" altLang="en-US" sz="2800" dirty="0">
                <a:latin typeface="Tahoma" panose="020B0604030504040204" pitchFamily="34" charset="0"/>
              </a:rPr>
              <a:t>+ " - "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                                              + </a:t>
            </a:r>
            <a:r>
              <a:rPr lang="en-US" altLang="en-US" sz="2800" dirty="0" err="1">
                <a:solidFill>
                  <a:srgbClr val="7030A0"/>
                </a:solidFill>
                <a:latin typeface="Tahoma" panose="020B0604030504040204" pitchFamily="34" charset="0"/>
              </a:rPr>
              <a:t>pair.getValue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	</a:t>
            </a:r>
          </a:p>
        </p:txBody>
      </p:sp>
      <p:sp>
        <p:nvSpPr>
          <p:cNvPr id="45060" name="WordArt 3">
            <a:extLst>
              <a:ext uri="{FF2B5EF4-FFF2-40B4-BE49-F238E27FC236}">
                <a16:creationId xmlns:a16="http://schemas.microsoft.com/office/drawing/2014/main" id="{D10302C5-9F0B-4875-BC6D-BB8AB2ED285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304800"/>
            <a:ext cx="74676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Iterating over a Map using</a:t>
            </a:r>
          </a:p>
          <a:p>
            <a:pPr algn="ctr"/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B05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entrySet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B05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()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and an Iterator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C80777F1-36B7-4026-A582-3D3A19ABF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135562"/>
            <a:ext cx="1752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ahoma" panose="020B0604030504040204" pitchFamily="34" charset="0"/>
              </a:rPr>
              <a:t>1 - 6.5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ahoma" panose="020B0604030504040204" pitchFamily="34" charset="0"/>
              </a:rPr>
              <a:t>2 - 7.7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ahoma" panose="020B0604030504040204" pitchFamily="34" charset="0"/>
              </a:rPr>
              <a:t>4 - 3.2</a:t>
            </a:r>
            <a:endParaRPr lang="en-US" altLang="en-US" sz="2800" dirty="0">
              <a:solidFill>
                <a:srgbClr val="7030A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48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2">
            <a:extLst>
              <a:ext uri="{FF2B5EF4-FFF2-40B4-BE49-F238E27FC236}">
                <a16:creationId xmlns:a16="http://schemas.microsoft.com/office/drawing/2014/main" id="{3F38BBF5-894E-4415-8A35-6518F25E5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008836"/>
            <a:ext cx="883126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map.forEach</a:t>
            </a:r>
            <a:r>
              <a:rPr lang="en-US" altLang="en-US" sz="2800" dirty="0">
                <a:latin typeface="Tahoma" panose="020B0604030504040204" pitchFamily="34" charset="0"/>
              </a:rPr>
              <a:t>(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(key, value) -&gt;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(key + "=" + value)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903890A7-2179-4148-B7CE-2619E1529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024918"/>
            <a:ext cx="1752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ahoma" panose="020B0604030504040204" pitchFamily="34" charset="0"/>
              </a:rPr>
              <a:t>1 = 6.5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ahoma" panose="020B0604030504040204" pitchFamily="34" charset="0"/>
              </a:rPr>
              <a:t>2 = 7.7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ahoma" panose="020B0604030504040204" pitchFamily="34" charset="0"/>
              </a:rPr>
              <a:t>4 = 3.2</a:t>
            </a:r>
            <a:endParaRPr lang="en-US" altLang="en-US" sz="2800" dirty="0">
              <a:solidFill>
                <a:srgbClr val="7030A0"/>
              </a:solidFill>
              <a:latin typeface="Tahoma" panose="020B0604030504040204" pitchFamily="34" charset="0"/>
            </a:endParaRPr>
          </a:p>
        </p:txBody>
      </p:sp>
      <p:sp>
        <p:nvSpPr>
          <p:cNvPr id="6" name="WordArt 3">
            <a:extLst>
              <a:ext uri="{FF2B5EF4-FFF2-40B4-BE49-F238E27FC236}">
                <a16:creationId xmlns:a16="http://schemas.microsoft.com/office/drawing/2014/main" id="{C7E1561A-7F95-436D-9B90-F6D7A3699BD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245460"/>
            <a:ext cx="74676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Iterating over a Map using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B05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Lambda expressions</a:t>
            </a:r>
            <a:endParaRPr lang="en-US" sz="3600" kern="10" dirty="0">
              <a:ln w="9525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55A4028-5001-4D0A-8FC6-6A0DECE88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810000"/>
            <a:ext cx="878477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map.keyset</a:t>
            </a:r>
            <a:r>
              <a:rPr lang="en-US" altLang="en-US" sz="2800" dirty="0">
                <a:latin typeface="Tahoma" panose="020B0604030504040204" pitchFamily="34" charset="0"/>
              </a:rPr>
              <a:t>().</a:t>
            </a:r>
            <a:r>
              <a:rPr lang="en-US" altLang="en-US" sz="2800" dirty="0" err="1">
                <a:latin typeface="Tahoma" panose="020B0604030504040204" pitchFamily="34" charset="0"/>
              </a:rPr>
              <a:t>forEach</a:t>
            </a:r>
            <a:r>
              <a:rPr lang="en-US" altLang="en-US" sz="2800" dirty="0">
                <a:latin typeface="Tahoma" panose="020B0604030504040204" pitchFamily="34" charset="0"/>
              </a:rPr>
              <a:t>(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key -&gt;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(key + "=" + </a:t>
            </a:r>
            <a:r>
              <a:rPr lang="en-US" altLang="en-US" sz="2800" dirty="0" err="1">
                <a:latin typeface="Tahoma" panose="020B0604030504040204" pitchFamily="34" charset="0"/>
              </a:rPr>
              <a:t>map.get</a:t>
            </a:r>
            <a:r>
              <a:rPr lang="en-US" altLang="en-US" sz="2800" dirty="0">
                <a:latin typeface="Tahoma" panose="020B0604030504040204" pitchFamily="34" charset="0"/>
              </a:rPr>
              <a:t>(key))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7087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2">
            <a:extLst>
              <a:ext uri="{FF2B5EF4-FFF2-40B4-BE49-F238E27FC236}">
                <a16:creationId xmlns:a16="http://schemas.microsoft.com/office/drawing/2014/main" id="{3F38BBF5-894E-4415-8A35-6518F25E5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4" y="1922820"/>
            <a:ext cx="901561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map.entrySet</a:t>
            </a:r>
            <a:r>
              <a:rPr lang="en-US" altLang="en-US" sz="2800" dirty="0">
                <a:latin typeface="Tahoma" panose="020B0604030504040204" pitchFamily="34" charset="0"/>
              </a:rPr>
              <a:t>().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stream()</a:t>
            </a:r>
            <a:r>
              <a:rPr lang="en-US" altLang="en-US" sz="2800" dirty="0">
                <a:latin typeface="Tahoma" panose="020B0604030504040204" pitchFamily="34" charset="0"/>
              </a:rPr>
              <a:t>.</a:t>
            </a:r>
            <a:r>
              <a:rPr lang="en-US" altLang="en-US" sz="2800" dirty="0" err="1">
                <a:latin typeface="Tahoma" panose="020B0604030504040204" pitchFamily="34" charset="0"/>
              </a:rPr>
              <a:t>forEach</a:t>
            </a:r>
            <a:r>
              <a:rPr lang="en-US" altLang="en-US" sz="2800" dirty="0">
                <a:latin typeface="Tahoma" panose="020B0604030504040204" pitchFamily="34" charset="0"/>
              </a:rPr>
              <a:t>(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entry -&gt;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latin typeface="Tahoma" panose="020B0604030504040204" pitchFamily="34" charset="0"/>
              </a:rPr>
              <a:t>entry.getKey</a:t>
            </a:r>
            <a:r>
              <a:rPr lang="en-US" altLang="en-US" sz="2800" dirty="0">
                <a:latin typeface="Tahoma" panose="020B0604030504040204" pitchFamily="34" charset="0"/>
              </a:rPr>
              <a:t>() + "="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                                             + </a:t>
            </a:r>
            <a:r>
              <a:rPr lang="en-US" altLang="en-US" sz="2800" dirty="0" err="1">
                <a:latin typeface="Tahoma" panose="020B0604030504040204" pitchFamily="34" charset="0"/>
              </a:rPr>
              <a:t>entry.getValue</a:t>
            </a:r>
            <a:r>
              <a:rPr lang="en-US" altLang="en-US" sz="2800" dirty="0">
                <a:latin typeface="Tahoma" panose="020B0604030504040204" pitchFamily="34" charset="0"/>
              </a:rPr>
              <a:t>())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903890A7-2179-4148-B7CE-2619E1529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135563"/>
            <a:ext cx="1752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ahoma" panose="020B0604030504040204" pitchFamily="34" charset="0"/>
              </a:rPr>
              <a:t>1 = 6.5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ahoma" panose="020B0604030504040204" pitchFamily="34" charset="0"/>
              </a:rPr>
              <a:t>2 = 7.7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ahoma" panose="020B0604030504040204" pitchFamily="34" charset="0"/>
              </a:rPr>
              <a:t>4 = 3.2</a:t>
            </a:r>
            <a:endParaRPr lang="en-US" altLang="en-US" sz="2800" dirty="0">
              <a:solidFill>
                <a:srgbClr val="7030A0"/>
              </a:solidFill>
              <a:latin typeface="Tahoma" panose="020B0604030504040204" pitchFamily="34" charset="0"/>
            </a:endParaRPr>
          </a:p>
        </p:txBody>
      </p:sp>
      <p:sp>
        <p:nvSpPr>
          <p:cNvPr id="6" name="WordArt 3">
            <a:extLst>
              <a:ext uri="{FF2B5EF4-FFF2-40B4-BE49-F238E27FC236}">
                <a16:creationId xmlns:a16="http://schemas.microsoft.com/office/drawing/2014/main" id="{C7E1561A-7F95-436D-9B90-F6D7A3699BD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245460"/>
            <a:ext cx="74676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Iterating over a Map using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B05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Streams</a:t>
            </a:r>
            <a:endParaRPr lang="en-US" sz="3600" kern="10" dirty="0">
              <a:ln w="9525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0BC884D-6E2B-49D0-8D0F-1F2EABB1F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4" y="3810000"/>
            <a:ext cx="910217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map.keySet</a:t>
            </a:r>
            <a:r>
              <a:rPr lang="en-US" altLang="en-US" sz="2800" dirty="0">
                <a:latin typeface="Tahoma" panose="020B0604030504040204" pitchFamily="34" charset="0"/>
              </a:rPr>
              <a:t>().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stream()</a:t>
            </a:r>
            <a:r>
              <a:rPr lang="en-US" altLang="en-US" sz="2800" dirty="0">
                <a:latin typeface="Tahoma" panose="020B0604030504040204" pitchFamily="34" charset="0"/>
              </a:rPr>
              <a:t>.</a:t>
            </a:r>
            <a:r>
              <a:rPr lang="en-US" altLang="en-US" sz="2800" dirty="0" err="1">
                <a:latin typeface="Tahoma" panose="020B0604030504040204" pitchFamily="34" charset="0"/>
              </a:rPr>
              <a:t>forEach</a:t>
            </a:r>
            <a:r>
              <a:rPr lang="en-US" altLang="en-US" sz="2800" dirty="0">
                <a:latin typeface="Tahoma" panose="020B0604030504040204" pitchFamily="34" charset="0"/>
              </a:rPr>
              <a:t>(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key -&gt;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(key + "=" + </a:t>
            </a:r>
            <a:r>
              <a:rPr lang="en-US" altLang="en-US" sz="2800" dirty="0" err="1">
                <a:latin typeface="Tahoma" panose="020B0604030504040204" pitchFamily="34" charset="0"/>
              </a:rPr>
              <a:t>map.get</a:t>
            </a:r>
            <a:r>
              <a:rPr lang="en-US" altLang="en-US" sz="2800" dirty="0">
                <a:latin typeface="Tahoma" panose="020B0604030504040204" pitchFamily="34" charset="0"/>
              </a:rPr>
              <a:t>(key))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04684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85987430-BC33-42BD-B659-9CB99B9D9C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WordArt 2">
            <a:extLst>
              <a:ext uri="{FF2B5EF4-FFF2-40B4-BE49-F238E27FC236}">
                <a16:creationId xmlns:a16="http://schemas.microsoft.com/office/drawing/2014/main" id="{F2E4FF24-1163-4185-A04A-F073B208AC6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BigO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>
            <a:extLst>
              <a:ext uri="{FF2B5EF4-FFF2-40B4-BE49-F238E27FC236}">
                <a16:creationId xmlns:a16="http://schemas.microsoft.com/office/drawing/2014/main" id="{BE06D033-C0BB-4103-9770-F1BD26367F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5DF7EF98-17EF-4456-B9AF-7576A72A2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447800"/>
            <a:ext cx="6934200" cy="4155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b="0" dirty="0">
                <a:latin typeface="Tahoma" panose="020B0604030504040204" pitchFamily="34" charset="0"/>
              </a:rPr>
              <a:t>Common Big O Notations: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44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en-US" sz="4400" dirty="0">
                <a:latin typeface="Tahoma" panose="020B0604030504040204" pitchFamily="34" charset="0"/>
              </a:rPr>
              <a:t>O(1)	O(N</a:t>
            </a:r>
            <a:r>
              <a:rPr lang="en-US" altLang="en-US" sz="4400" baseline="30000" dirty="0">
                <a:latin typeface="Tahoma" panose="020B0604030504040204" pitchFamily="34" charset="0"/>
              </a:rPr>
              <a:t>2</a:t>
            </a:r>
            <a:r>
              <a:rPr lang="en-US" altLang="en-US" sz="4400" dirty="0"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en-US" sz="4400" dirty="0">
                <a:latin typeface="Tahoma" panose="020B0604030504040204" pitchFamily="34" charset="0"/>
              </a:rPr>
              <a:t>O(Log</a:t>
            </a:r>
            <a:r>
              <a:rPr lang="en-US" altLang="en-US" sz="4400" baseline="-25000" dirty="0">
                <a:latin typeface="Tahoma" panose="020B0604030504040204" pitchFamily="34" charset="0"/>
              </a:rPr>
              <a:t>2</a:t>
            </a:r>
            <a:r>
              <a:rPr lang="en-US" altLang="en-US" sz="4400" dirty="0">
                <a:latin typeface="Tahoma" panose="020B0604030504040204" pitchFamily="34" charset="0"/>
              </a:rPr>
              <a:t>N) 	O(N</a:t>
            </a:r>
            <a:r>
              <a:rPr lang="en-US" altLang="en-US" sz="4400" baseline="30000" dirty="0">
                <a:latin typeface="Tahoma" panose="020B0604030504040204" pitchFamily="34" charset="0"/>
              </a:rPr>
              <a:t>3</a:t>
            </a:r>
            <a:r>
              <a:rPr lang="en-US" altLang="en-US" sz="4400" dirty="0">
                <a:latin typeface="Tahoma" panose="020B0604030504040204" pitchFamily="34" charset="0"/>
              </a:rPr>
              <a:t>) 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en-US" sz="4400" dirty="0">
                <a:latin typeface="Tahoma" panose="020B0604030504040204" pitchFamily="34" charset="0"/>
              </a:rPr>
              <a:t>O(N)	O(2</a:t>
            </a:r>
            <a:r>
              <a:rPr lang="en-US" altLang="en-US" sz="4400" baseline="30000" dirty="0">
                <a:latin typeface="Tahoma" panose="020B0604030504040204" pitchFamily="34" charset="0"/>
              </a:rPr>
              <a:t>N</a:t>
            </a:r>
            <a:r>
              <a:rPr lang="en-US" altLang="en-US" sz="4400" dirty="0">
                <a:latin typeface="Tahoma" panose="020B0604030504040204" pitchFamily="34" charset="0"/>
              </a:rPr>
              <a:t>) 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en-US" sz="4400" dirty="0">
                <a:latin typeface="Tahoma" panose="020B0604030504040204" pitchFamily="34" charset="0"/>
              </a:rPr>
              <a:t>O(N Log</a:t>
            </a:r>
            <a:r>
              <a:rPr lang="en-US" altLang="en-US" sz="4400" baseline="-25000" dirty="0">
                <a:latin typeface="Tahoma" panose="020B0604030504040204" pitchFamily="34" charset="0"/>
              </a:rPr>
              <a:t>2</a:t>
            </a:r>
            <a:r>
              <a:rPr lang="en-US" altLang="en-US" sz="4400" dirty="0">
                <a:latin typeface="Tahoma" panose="020B0604030504040204" pitchFamily="34" charset="0"/>
              </a:rPr>
              <a:t>N)</a:t>
            </a:r>
            <a:r>
              <a:rPr lang="en-US" altLang="en-US" sz="4000" b="0" dirty="0">
                <a:latin typeface="Arial" panose="020B0604020202020204" pitchFamily="34" charset="0"/>
              </a:rPr>
              <a:t> 	</a:t>
            </a:r>
            <a:r>
              <a:rPr lang="en-US" altLang="en-US" sz="4400" dirty="0">
                <a:latin typeface="Tahoma" panose="020B0604030504040204" pitchFamily="34" charset="0"/>
              </a:rPr>
              <a:t>O(N!)</a:t>
            </a:r>
          </a:p>
        </p:txBody>
      </p:sp>
      <p:sp>
        <p:nvSpPr>
          <p:cNvPr id="55300" name="WordArt 3">
            <a:extLst>
              <a:ext uri="{FF2B5EF4-FFF2-40B4-BE49-F238E27FC236}">
                <a16:creationId xmlns:a16="http://schemas.microsoft.com/office/drawing/2014/main" id="{CCD75C9D-1471-424C-8D78-BB993E936A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 O  Notation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>
            <a:extLst>
              <a:ext uri="{FF2B5EF4-FFF2-40B4-BE49-F238E27FC236}">
                <a16:creationId xmlns:a16="http://schemas.microsoft.com/office/drawing/2014/main" id="{2D206F57-A92D-41A7-BE43-268BA05C1C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7348" name="WordArt 3">
            <a:extLst>
              <a:ext uri="{FF2B5EF4-FFF2-40B4-BE49-F238E27FC236}">
                <a16:creationId xmlns:a16="http://schemas.microsoft.com/office/drawing/2014/main" id="{06F16663-32E7-4C7F-9E5F-03710CACDF9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05000" y="533400"/>
            <a:ext cx="5410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Big O of Java Maps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3147A-D45D-463E-8885-8CE362140B1E}"/>
              </a:ext>
            </a:extLst>
          </p:cNvPr>
          <p:cNvSpPr txBox="1"/>
          <p:nvPr/>
        </p:nvSpPr>
        <p:spPr>
          <a:xfrm>
            <a:off x="1447800" y="1905000"/>
            <a:ext cx="62484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200" dirty="0" err="1">
                <a:solidFill>
                  <a:schemeClr val="accent2"/>
                </a:solidFill>
                <a:latin typeface="Tahoma" panose="020B0604030504040204" pitchFamily="34" charset="0"/>
              </a:rPr>
              <a:t>TreeMaps</a:t>
            </a:r>
            <a:r>
              <a:rPr lang="en-US" altLang="en-US" sz="3200" dirty="0">
                <a:solidFill>
                  <a:schemeClr val="accent2"/>
                </a:solidFill>
                <a:latin typeface="Tahoma" panose="020B0604030504040204" pitchFamily="34" charset="0"/>
              </a:rPr>
              <a:t> are implemented with balanced binary trees </a:t>
            </a:r>
            <a:br>
              <a:rPr lang="en-US" altLang="en-US" sz="3200" dirty="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3200" dirty="0">
                <a:solidFill>
                  <a:schemeClr val="accent2"/>
                </a:solidFill>
                <a:latin typeface="Tahoma" panose="020B0604030504040204" pitchFamily="34" charset="0"/>
              </a:rPr>
              <a:t>(red/black trees ).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200" dirty="0" err="1">
                <a:solidFill>
                  <a:schemeClr val="accent2"/>
                </a:solidFill>
                <a:latin typeface="Tahoma" panose="020B0604030504040204" pitchFamily="34" charset="0"/>
              </a:rPr>
              <a:t>HashMaps</a:t>
            </a:r>
            <a:r>
              <a:rPr lang="en-US" altLang="en-US" sz="3200" dirty="0">
                <a:solidFill>
                  <a:schemeClr val="accent2"/>
                </a:solidFill>
                <a:latin typeface="Tahoma" panose="020B0604030504040204" pitchFamily="34" charset="0"/>
              </a:rPr>
              <a:t> are implemented with</a:t>
            </a:r>
            <a:r>
              <a:rPr lang="en-US" altLang="en-US" sz="3200" b="0" dirty="0">
                <a:solidFill>
                  <a:schemeClr val="accent2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3200" dirty="0">
                <a:solidFill>
                  <a:schemeClr val="accent2"/>
                </a:solidFill>
                <a:latin typeface="Tahoma" panose="020B0604030504040204" pitchFamily="34" charset="0"/>
              </a:rPr>
              <a:t>hash tables.</a:t>
            </a:r>
          </a:p>
        </p:txBody>
      </p:sp>
    </p:spTree>
    <p:extLst>
      <p:ext uri="{BB962C8B-B14F-4D97-AF65-F5344CB8AC3E}">
        <p14:creationId xmlns:p14="http://schemas.microsoft.com/office/powerpoint/2010/main" val="911903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18A3E61B-8FCA-4956-A66C-270B7A383D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0483" name="WordArt 2">
            <a:extLst>
              <a:ext uri="{FF2B5EF4-FFF2-40B4-BE49-F238E27FC236}">
                <a16:creationId xmlns:a16="http://schemas.microsoft.com/office/drawing/2014/main" id="{8657A6E4-1355-4E21-B987-FBC403A775B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00200" y="304800"/>
            <a:ext cx="51816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HashTable</a:t>
            </a:r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0F9F4A81-43EF-4D53-B52F-8A7330277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828800"/>
            <a:ext cx="6442075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HashSet and HashMap were both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created around hash tables.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 hash table is a giant array.  Each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item is inserted into the array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according to a hash formula.</a:t>
            </a:r>
          </a:p>
        </p:txBody>
      </p:sp>
      <p:graphicFrame>
        <p:nvGraphicFramePr>
          <p:cNvPr id="346116" name="Group 4">
            <a:extLst>
              <a:ext uri="{FF2B5EF4-FFF2-40B4-BE49-F238E27FC236}">
                <a16:creationId xmlns:a16="http://schemas.microsoft.com/office/drawing/2014/main" id="{DBC6A24E-4F25-429A-A7E0-73B8D8764505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5257800"/>
          <a:ext cx="7162800" cy="517956"/>
        </p:xfrm>
        <a:graphic>
          <a:graphicData uri="http://schemas.openxmlformats.org/drawingml/2006/table">
            <a:tbl>
              <a:tblPr/>
              <a:tblGrid>
                <a:gridCol w="1431925">
                  <a:extLst>
                    <a:ext uri="{9D8B030D-6E8A-4147-A177-3AD203B41FA5}">
                      <a16:colId xmlns:a16="http://schemas.microsoft.com/office/drawing/2014/main" val="3141977775"/>
                    </a:ext>
                  </a:extLst>
                </a:gridCol>
                <a:gridCol w="1433513">
                  <a:extLst>
                    <a:ext uri="{9D8B030D-6E8A-4147-A177-3AD203B41FA5}">
                      <a16:colId xmlns:a16="http://schemas.microsoft.com/office/drawing/2014/main" val="1910232811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3428023114"/>
                    </a:ext>
                  </a:extLst>
                </a:gridCol>
                <a:gridCol w="1433512">
                  <a:extLst>
                    <a:ext uri="{9D8B030D-6E8A-4147-A177-3AD203B41FA5}">
                      <a16:colId xmlns:a16="http://schemas.microsoft.com/office/drawing/2014/main" val="687001665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3169121232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618" marB="45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474388"/>
                  </a:ext>
                </a:extLst>
              </a:tr>
            </a:tbl>
          </a:graphicData>
        </a:graphic>
      </p:graphicFrame>
      <p:sp>
        <p:nvSpPr>
          <p:cNvPr id="20499" name="Text Box 18">
            <a:extLst>
              <a:ext uri="{FF2B5EF4-FFF2-40B4-BE49-F238E27FC236}">
                <a16:creationId xmlns:a16="http://schemas.microsoft.com/office/drawing/2014/main" id="{ECF74D46-21B4-4F78-B79B-BD79C05F6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724400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   0	       1	    2		3	    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F6DD9851-134B-4F87-AA61-6AFCEE2451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2531" name="WordArt 2">
            <a:extLst>
              <a:ext uri="{FF2B5EF4-FFF2-40B4-BE49-F238E27FC236}">
                <a16:creationId xmlns:a16="http://schemas.microsoft.com/office/drawing/2014/main" id="{7AA2B548-744A-46F6-A086-77E5613DB6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00200" y="304800"/>
            <a:ext cx="51816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Binary Tree</a:t>
            </a:r>
          </a:p>
        </p:txBody>
      </p:sp>
      <p:sp>
        <p:nvSpPr>
          <p:cNvPr id="22532" name="Text Box 3">
            <a:extLst>
              <a:ext uri="{FF2B5EF4-FFF2-40B4-BE49-F238E27FC236}">
                <a16:creationId xmlns:a16="http://schemas.microsoft.com/office/drawing/2014/main" id="{3FC99D00-2EFB-4E81-95B0-D2A2CED36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676400"/>
            <a:ext cx="7000875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TreeSet and TreeMap were built 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around balanced binary trees.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 Binary Tree is a group of nodes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that contain left and right references.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Each item is inserted into the tree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according to its relationship to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other nodes.</a:t>
            </a:r>
          </a:p>
        </p:txBody>
      </p:sp>
      <p:sp>
        <p:nvSpPr>
          <p:cNvPr id="22533" name="Line 4">
            <a:extLst>
              <a:ext uri="{FF2B5EF4-FFF2-40B4-BE49-F238E27FC236}">
                <a16:creationId xmlns:a16="http://schemas.microsoft.com/office/drawing/2014/main" id="{FC543690-E16C-4EFE-9D77-9BBA563E7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638800"/>
            <a:ext cx="304800" cy="2286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4" name="Oval 5">
            <a:extLst>
              <a:ext uri="{FF2B5EF4-FFF2-40B4-BE49-F238E27FC236}">
                <a16:creationId xmlns:a16="http://schemas.microsoft.com/office/drawing/2014/main" id="{6F3411A8-EE3D-4971-AFC2-E80B59E83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257800"/>
            <a:ext cx="533400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2535" name="Oval 6">
            <a:extLst>
              <a:ext uri="{FF2B5EF4-FFF2-40B4-BE49-F238E27FC236}">
                <a16:creationId xmlns:a16="http://schemas.microsoft.com/office/drawing/2014/main" id="{7D075722-2A56-4505-863E-0C7F6F81F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791200"/>
            <a:ext cx="533400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2536" name="Oval 7">
            <a:extLst>
              <a:ext uri="{FF2B5EF4-FFF2-40B4-BE49-F238E27FC236}">
                <a16:creationId xmlns:a16="http://schemas.microsoft.com/office/drawing/2014/main" id="{AC9415F6-AB85-4507-AF42-C5FC3CCB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791200"/>
            <a:ext cx="533400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22537" name="Line 8">
            <a:extLst>
              <a:ext uri="{FF2B5EF4-FFF2-40B4-BE49-F238E27FC236}">
                <a16:creationId xmlns:a16="http://schemas.microsoft.com/office/drawing/2014/main" id="{4133DF34-7AE8-423A-BDA1-AD2B8535BB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5638800"/>
            <a:ext cx="304800" cy="2286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>
            <a:extLst>
              <a:ext uri="{FF2B5EF4-FFF2-40B4-BE49-F238E27FC236}">
                <a16:creationId xmlns:a16="http://schemas.microsoft.com/office/drawing/2014/main" id="{2D206F57-A92D-41A7-BE43-268BA05C1C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A67322-BDB4-4A3F-90C8-A0621A00D7CE}"/>
              </a:ext>
            </a:extLst>
          </p:cNvPr>
          <p:cNvGrpSpPr/>
          <p:nvPr/>
        </p:nvGrpSpPr>
        <p:grpSpPr>
          <a:xfrm>
            <a:off x="762000" y="381000"/>
            <a:ext cx="7696200" cy="5944314"/>
            <a:chOff x="914400" y="341277"/>
            <a:chExt cx="7696200" cy="5944314"/>
          </a:xfrm>
        </p:grpSpPr>
        <p:sp>
          <p:nvSpPr>
            <p:cNvPr id="57347" name="Text Box 2">
              <a:extLst>
                <a:ext uri="{FF2B5EF4-FFF2-40B4-BE49-F238E27FC236}">
                  <a16:creationId xmlns:a16="http://schemas.microsoft.com/office/drawing/2014/main" id="{AA8C6C77-35F6-42B1-8099-FD36C7F56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1484277"/>
              <a:ext cx="7696200" cy="4801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tabLst>
                  <a:tab pos="3200400" algn="ctr"/>
                  <a:tab pos="5548313" algn="ctr"/>
                </a:tabLst>
              </a:pPr>
              <a:r>
                <a:rPr lang="en-US" altLang="en-US" sz="2400" dirty="0">
                  <a:latin typeface="Tahoma" panose="020B0604030504040204" pitchFamily="34" charset="0"/>
                </a:rPr>
                <a:t>	Tree Map	Hash Map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  <a:tabLst>
                  <a:tab pos="3200400" algn="ctr"/>
                  <a:tab pos="5548313" algn="ctr"/>
                </a:tabLst>
              </a:pPr>
              <a:r>
                <a:rPr lang="en-US" altLang="en-US" sz="1800" dirty="0">
                  <a:latin typeface="Tahoma" panose="020B0604030504040204" pitchFamily="34" charset="0"/>
                </a:rPr>
                <a:t>put</a:t>
              </a:r>
              <a:r>
                <a:rPr lang="en-US" altLang="en-US" sz="2400" dirty="0">
                  <a:latin typeface="Tahoma" panose="020B0604030504040204" pitchFamily="34" charset="0"/>
                </a:rPr>
                <a:t>      	O(Log</a:t>
              </a:r>
              <a:r>
                <a:rPr lang="en-US" altLang="en-US" sz="2400" baseline="-25000" dirty="0">
                  <a:latin typeface="Tahoma" panose="020B0604030504040204" pitchFamily="34" charset="0"/>
                </a:rPr>
                <a:t>2</a:t>
              </a:r>
              <a:r>
                <a:rPr lang="en-US" altLang="en-US" sz="2400" dirty="0">
                  <a:latin typeface="Tahoma" panose="020B0604030504040204" pitchFamily="34" charset="0"/>
                </a:rPr>
                <a:t>N)</a:t>
              </a:r>
              <a:r>
                <a:rPr lang="en-US" altLang="en-US" sz="2800" b="0" dirty="0">
                  <a:latin typeface="Tahoma" panose="020B0604030504040204" pitchFamily="34" charset="0"/>
                </a:rPr>
                <a:t> </a:t>
              </a:r>
              <a:r>
                <a:rPr lang="en-US" altLang="en-US" sz="2400" dirty="0">
                  <a:latin typeface="Tahoma" panose="020B0604030504040204" pitchFamily="34" charset="0"/>
                </a:rPr>
                <a:t>	O(1)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  <a:tabLst>
                  <a:tab pos="3200400" algn="ctr"/>
                  <a:tab pos="5548313" algn="ctr"/>
                </a:tabLst>
              </a:pPr>
              <a:r>
                <a:rPr lang="en-US" altLang="en-US" sz="1800" dirty="0">
                  <a:latin typeface="Tahoma" panose="020B0604030504040204" pitchFamily="34" charset="0"/>
                </a:rPr>
                <a:t>get </a:t>
              </a:r>
              <a:r>
                <a:rPr lang="en-US" altLang="en-US" sz="2400" dirty="0">
                  <a:latin typeface="Tahoma" panose="020B0604030504040204" pitchFamily="34" charset="0"/>
                </a:rPr>
                <a:t>      	O(Log</a:t>
              </a:r>
              <a:r>
                <a:rPr lang="en-US" altLang="en-US" sz="2400" baseline="-25000" dirty="0">
                  <a:latin typeface="Tahoma" panose="020B0604030504040204" pitchFamily="34" charset="0"/>
                </a:rPr>
                <a:t>2</a:t>
              </a:r>
              <a:r>
                <a:rPr lang="en-US" altLang="en-US" sz="2400" dirty="0">
                  <a:latin typeface="Tahoma" panose="020B0604030504040204" pitchFamily="34" charset="0"/>
                </a:rPr>
                <a:t>N)</a:t>
              </a:r>
              <a:r>
                <a:rPr lang="en-US" altLang="en-US" sz="2800" b="0" dirty="0">
                  <a:latin typeface="Tahoma" panose="020B0604030504040204" pitchFamily="34" charset="0"/>
                </a:rPr>
                <a:t> </a:t>
              </a:r>
              <a:r>
                <a:rPr lang="en-US" altLang="en-US" sz="2400" dirty="0">
                  <a:latin typeface="Tahoma" panose="020B0604030504040204" pitchFamily="34" charset="0"/>
                </a:rPr>
                <a:t>	O(1)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  <a:tabLst>
                  <a:tab pos="3200400" algn="ctr"/>
                  <a:tab pos="5548313" algn="ctr"/>
                </a:tabLst>
              </a:pPr>
              <a:r>
                <a:rPr lang="en-US" altLang="en-US" sz="1800" dirty="0" err="1">
                  <a:latin typeface="Tahoma" panose="020B0604030504040204" pitchFamily="34" charset="0"/>
                </a:rPr>
                <a:t>containsKey</a:t>
              </a:r>
              <a:r>
                <a:rPr lang="en-US" altLang="en-US" sz="2800" dirty="0">
                  <a:latin typeface="Tahoma" panose="020B0604030504040204" pitchFamily="34" charset="0"/>
                </a:rPr>
                <a:t>    	</a:t>
              </a:r>
              <a:r>
                <a:rPr lang="en-US" altLang="en-US" sz="2400" dirty="0">
                  <a:latin typeface="Tahoma" panose="020B0604030504040204" pitchFamily="34" charset="0"/>
                </a:rPr>
                <a:t>O(Log</a:t>
              </a:r>
              <a:r>
                <a:rPr lang="en-US" altLang="en-US" sz="2400" baseline="-25000" dirty="0">
                  <a:latin typeface="Tahoma" panose="020B0604030504040204" pitchFamily="34" charset="0"/>
                </a:rPr>
                <a:t>2</a:t>
              </a:r>
              <a:r>
                <a:rPr lang="en-US" altLang="en-US" sz="2400" dirty="0">
                  <a:latin typeface="Tahoma" panose="020B0604030504040204" pitchFamily="34" charset="0"/>
                </a:rPr>
                <a:t>N)</a:t>
              </a:r>
              <a:r>
                <a:rPr lang="en-US" altLang="en-US" sz="2800" b="0" dirty="0">
                  <a:latin typeface="Tahoma" panose="020B0604030504040204" pitchFamily="34" charset="0"/>
                </a:rPr>
                <a:t> </a:t>
              </a:r>
              <a:r>
                <a:rPr lang="en-US" altLang="en-US" sz="2800" dirty="0">
                  <a:latin typeface="Tahoma" panose="020B0604030504040204" pitchFamily="34" charset="0"/>
                </a:rPr>
                <a:t>	</a:t>
              </a:r>
              <a:r>
                <a:rPr lang="en-US" altLang="en-US" sz="2400" dirty="0">
                  <a:latin typeface="Tahoma" panose="020B0604030504040204" pitchFamily="34" charset="0"/>
                </a:rPr>
                <a:t>O(1)</a:t>
              </a:r>
            </a:p>
            <a:p>
              <a:pPr eaLnBrk="1" hangingPunct="1">
                <a:spcBef>
                  <a:spcPct val="50000"/>
                </a:spcBef>
                <a:buNone/>
                <a:tabLst>
                  <a:tab pos="3200400" algn="ctr"/>
                  <a:tab pos="5548313" algn="ctr"/>
                </a:tabLst>
              </a:pPr>
              <a:r>
                <a:rPr lang="en-US" altLang="en-US" sz="1800" dirty="0">
                  <a:solidFill>
                    <a:srgbClr val="7030A0"/>
                  </a:solidFill>
                  <a:latin typeface="Tahoma" panose="020B0604030504040204" pitchFamily="34" charset="0"/>
                </a:rPr>
                <a:t>size</a:t>
              </a:r>
              <a:r>
                <a:rPr lang="en-US" altLang="en-US" sz="2800" dirty="0">
                  <a:solidFill>
                    <a:srgbClr val="7030A0"/>
                  </a:solidFill>
                  <a:latin typeface="Tahoma" panose="020B0604030504040204" pitchFamily="34" charset="0"/>
                </a:rPr>
                <a:t>     	</a:t>
              </a: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O(1)</a:t>
              </a:r>
              <a:r>
                <a:rPr lang="en-US" altLang="en-US" sz="2800" b="0" dirty="0">
                  <a:solidFill>
                    <a:srgbClr val="7030A0"/>
                  </a:solidFill>
                  <a:latin typeface="Tahoma" panose="020B0604030504040204" pitchFamily="34" charset="0"/>
                </a:rPr>
                <a:t> </a:t>
              </a:r>
              <a:r>
                <a:rPr lang="en-US" altLang="en-US" sz="2800" dirty="0">
                  <a:solidFill>
                    <a:srgbClr val="7030A0"/>
                  </a:solidFill>
                  <a:latin typeface="Tahoma" panose="020B0604030504040204" pitchFamily="34" charset="0"/>
                </a:rPr>
                <a:t>	</a:t>
              </a: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O(1)</a:t>
              </a:r>
            </a:p>
            <a:p>
              <a:pPr eaLnBrk="1" hangingPunct="1">
                <a:spcBef>
                  <a:spcPct val="50000"/>
                </a:spcBef>
                <a:buNone/>
                <a:tabLst>
                  <a:tab pos="3200400" algn="ctr"/>
                  <a:tab pos="5548313" algn="ctr"/>
                </a:tabLst>
              </a:pPr>
              <a:r>
                <a:rPr lang="en-US" altLang="en-US" sz="1800" dirty="0">
                  <a:solidFill>
                    <a:srgbClr val="7030A0"/>
                  </a:solidFill>
                  <a:latin typeface="Tahoma" panose="020B0604030504040204" pitchFamily="34" charset="0"/>
                </a:rPr>
                <a:t>iterate over all</a:t>
              </a:r>
              <a:r>
                <a:rPr lang="en-US" altLang="en-US" sz="2800" dirty="0">
                  <a:solidFill>
                    <a:srgbClr val="7030A0"/>
                  </a:solidFill>
                  <a:latin typeface="Tahoma" panose="020B0604030504040204" pitchFamily="34" charset="0"/>
                </a:rPr>
                <a:t> 	</a:t>
              </a: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O(N)</a:t>
              </a:r>
              <a:r>
                <a:rPr lang="en-US" altLang="en-US" sz="2800" b="0" dirty="0">
                  <a:solidFill>
                    <a:srgbClr val="7030A0"/>
                  </a:solidFill>
                  <a:latin typeface="Tahoma" panose="020B0604030504040204" pitchFamily="34" charset="0"/>
                </a:rPr>
                <a:t> </a:t>
              </a:r>
              <a:r>
                <a:rPr lang="en-US" altLang="en-US" sz="2800" dirty="0">
                  <a:solidFill>
                    <a:srgbClr val="7030A0"/>
                  </a:solidFill>
                  <a:latin typeface="Tahoma" panose="020B0604030504040204" pitchFamily="34" charset="0"/>
                </a:rPr>
                <a:t>	</a:t>
              </a: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O(N)</a:t>
              </a:r>
            </a:p>
            <a:p>
              <a:pPr eaLnBrk="1" hangingPunct="1">
                <a:spcBef>
                  <a:spcPct val="50000"/>
                </a:spcBef>
                <a:buNone/>
                <a:tabLst>
                  <a:tab pos="3200400" algn="ctr"/>
                  <a:tab pos="5548313" algn="ctr"/>
                </a:tabLst>
              </a:pPr>
              <a:endParaRPr lang="en-US" altLang="en-US" sz="2400" dirty="0">
                <a:latin typeface="Tahoma" panose="020B0604030504040204" pitchFamily="34" charset="0"/>
              </a:endParaRPr>
            </a:p>
            <a:p>
              <a:pPr algn="ctr" eaLnBrk="1" hangingPunct="1">
                <a:spcBef>
                  <a:spcPts val="0"/>
                </a:spcBef>
                <a:buNone/>
                <a:tabLst>
                  <a:tab pos="3200400" algn="ctr"/>
                  <a:tab pos="5548313" algn="ctr"/>
                </a:tabLst>
              </a:pPr>
              <a:r>
                <a:rPr lang="en-US" altLang="en-US" sz="3600" dirty="0">
                  <a:solidFill>
                    <a:schemeClr val="accent2"/>
                  </a:solidFill>
                  <a:latin typeface="Tahoma" panose="020B0604030504040204" pitchFamily="34" charset="0"/>
                </a:rPr>
                <a:t>TREE ~ LOG</a:t>
              </a:r>
            </a:p>
          </p:txBody>
        </p:sp>
        <p:sp>
          <p:nvSpPr>
            <p:cNvPr id="57348" name="WordArt 3">
              <a:extLst>
                <a:ext uri="{FF2B5EF4-FFF2-40B4-BE49-F238E27FC236}">
                  <a16:creationId xmlns:a16="http://schemas.microsoft.com/office/drawing/2014/main" id="{06F16663-32E7-4C7F-9E5F-03710CACDF9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057400" y="341277"/>
              <a:ext cx="5410200" cy="7620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1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79999"/>
                      </a:srgbClr>
                    </a:outerShdw>
                  </a:effectLst>
                  <a:latin typeface="Arial Black" panose="020B0A04020102020204" pitchFamily="34" charset="0"/>
                </a:rPr>
                <a:t>Big O of Java Maps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WordArt 3">
            <a:extLst>
              <a:ext uri="{FF2B5EF4-FFF2-40B4-BE49-F238E27FC236}">
                <a16:creationId xmlns:a16="http://schemas.microsoft.com/office/drawing/2014/main" id="{CCD75C9D-1471-424C-8D78-BB993E936A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14600" y="27709"/>
            <a:ext cx="3429000" cy="428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SortedMaps</a:t>
            </a:r>
            <a:endParaRPr lang="en-US" sz="3600" kern="10" dirty="0">
              <a:ln w="9525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 panose="020B080603090205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43779C-FC26-40F0-939E-CDE56C696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447293"/>
              </p:ext>
            </p:extLst>
          </p:nvPr>
        </p:nvGraphicFramePr>
        <p:xfrm>
          <a:off x="0" y="510072"/>
          <a:ext cx="9144000" cy="6286968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29172933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213317476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367149947"/>
                    </a:ext>
                  </a:extLst>
                </a:gridCol>
              </a:tblGrid>
              <a:tr h="53184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Comparator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&lt;? super 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marL="32657" marR="13996" marT="13996" marB="13996" anchor="ctr">
                    <a:lnL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comparator()</a:t>
                      </a:r>
                    </a:p>
                  </a:txBody>
                  <a:tcPr marL="32657" marR="13996" marT="13996" marB="13996" anchor="ctr">
                    <a:lnL>
                      <a:noFill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comparator used to order the keys in this map, or null if this map uses the natural ordering of its keys.</a:t>
                      </a:r>
                    </a:p>
                  </a:txBody>
                  <a:tcPr marL="32657" marR="13996" marT="13996" marB="13996">
                    <a:lnL>
                      <a:noFill/>
                    </a:lnL>
                    <a:lnR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800814"/>
                  </a:ext>
                </a:extLst>
              </a:tr>
              <a:tr h="36389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Map.Entry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&gt;&gt;</a:t>
                      </a:r>
                    </a:p>
                  </a:txBody>
                  <a:tcPr marL="32657" marR="13996" marT="13996" marB="13996" anchor="ctr">
                    <a:lnL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entrySet</a:t>
                      </a:r>
                      <a:r>
                        <a:rPr lang="en-US" sz="1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32657" marR="13996" marT="13996" marB="13996" anchor="ctr">
                    <a:lnL>
                      <a:noFill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 Set view of the mappings contained in this map.</a:t>
                      </a:r>
                    </a:p>
                  </a:txBody>
                  <a:tcPr marL="32657" marR="13996" marT="13996" marB="13996">
                    <a:lnL>
                      <a:noFill/>
                    </a:lnL>
                    <a:lnR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92223"/>
                  </a:ext>
                </a:extLst>
              </a:tr>
              <a:tr h="36389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657" marR="13996" marT="13996" marB="13996" anchor="ctr">
                    <a:lnL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u="none" strike="noStrike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firstKey</a:t>
                      </a:r>
                      <a:r>
                        <a:rPr lang="en-US" sz="1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32657" marR="13996" marT="13996" marB="13996" anchor="ctr">
                    <a:lnL>
                      <a:noFill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first (lowest) key currently in this map.</a:t>
                      </a:r>
                    </a:p>
                  </a:txBody>
                  <a:tcPr marL="32657" marR="13996" marT="13996" marB="13996">
                    <a:lnL>
                      <a:noFill/>
                    </a:lnL>
                    <a:lnR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179038"/>
                  </a:ext>
                </a:extLst>
              </a:tr>
              <a:tr h="53184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SortedMap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marL="32657" marR="13996" marT="13996" marB="13996" anchor="ctr">
                    <a:lnL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u="none" strike="noStrike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headMap</a:t>
                      </a:r>
                      <a:r>
                        <a:rPr lang="en-US" sz="1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(K </a:t>
                      </a:r>
                      <a:r>
                        <a:rPr lang="en-US" sz="1800" b="1" u="none" strike="noStrike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toKey</a:t>
                      </a:r>
                      <a:r>
                        <a:rPr lang="en-US" sz="1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2657" marR="13996" marT="13996" marB="13996" anchor="ctr">
                    <a:lnL>
                      <a:noFill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view of the portion of this map whose keys are strictly less than 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2657" marR="13996" marT="13996" marB="13996">
                    <a:lnL>
                      <a:noFill/>
                    </a:lnL>
                    <a:lnR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62242"/>
                  </a:ext>
                </a:extLst>
              </a:tr>
              <a:tr h="36389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marL="32657" marR="13996" marT="13996" marB="13996" anchor="ctr">
                    <a:lnL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keySet</a:t>
                      </a:r>
                      <a:r>
                        <a:rPr lang="en-US" sz="1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32657" marR="13996" marT="13996" marB="13996" anchor="ctr">
                    <a:lnL>
                      <a:noFill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 Set view of the keys contained in this map.</a:t>
                      </a:r>
                    </a:p>
                  </a:txBody>
                  <a:tcPr marL="32657" marR="13996" marT="13996" marB="13996">
                    <a:lnL>
                      <a:noFill/>
                    </a:lnL>
                    <a:lnR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438140"/>
                  </a:ext>
                </a:extLst>
              </a:tr>
              <a:tr h="36389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657" marR="13996" marT="13996" marB="13996" anchor="ctr">
                    <a:lnL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u="none" strike="noStrike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lastKey</a:t>
                      </a:r>
                      <a:r>
                        <a:rPr lang="en-US" sz="1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32657" marR="13996" marT="13996" marB="13996" anchor="ctr">
                    <a:lnL>
                      <a:noFill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last (highest) key currently in this map.</a:t>
                      </a:r>
                    </a:p>
                  </a:txBody>
                  <a:tcPr marL="32657" marR="13996" marT="13996" marB="13996">
                    <a:lnL>
                      <a:noFill/>
                    </a:lnL>
                    <a:lnR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383954"/>
                  </a:ext>
                </a:extLst>
              </a:tr>
              <a:tr h="69979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SortedMap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marL="32657" marR="13996" marT="13996" marB="13996" anchor="ctr">
                    <a:lnL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u="none" strike="noStrike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subMap</a:t>
                      </a:r>
                      <a:r>
                        <a:rPr lang="en-US" sz="1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(K </a:t>
                      </a:r>
                      <a:r>
                        <a:rPr lang="en-US" sz="1800" b="1" u="none" strike="noStrike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fromKey</a:t>
                      </a:r>
                      <a:r>
                        <a:rPr lang="en-US" sz="1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 K </a:t>
                      </a:r>
                      <a:r>
                        <a:rPr lang="en-US" sz="1800" b="1" u="none" strike="noStrike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toKey</a:t>
                      </a:r>
                      <a:r>
                        <a:rPr lang="en-US" sz="1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2657" marR="13996" marT="13996" marB="13996" anchor="ctr">
                    <a:lnL>
                      <a:noFill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view of the portion of this map whose keys range from 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inclusive, to 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exclusive.</a:t>
                      </a:r>
                    </a:p>
                  </a:txBody>
                  <a:tcPr marL="32657" marR="13996" marT="13996" marB="13996">
                    <a:lnL>
                      <a:noFill/>
                    </a:lnL>
                    <a:lnR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802780"/>
                  </a:ext>
                </a:extLst>
              </a:tr>
              <a:tr h="53184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SortedMap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marL="32657" marR="13996" marT="13996" marB="13996" anchor="ctr">
                    <a:lnL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u="none" strike="noStrike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tailMap</a:t>
                      </a:r>
                      <a:r>
                        <a:rPr lang="en-US" sz="1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(K </a:t>
                      </a:r>
                      <a:r>
                        <a:rPr lang="en-US" sz="1800" b="1" u="none" strike="noStrike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fromKey</a:t>
                      </a:r>
                      <a:r>
                        <a:rPr lang="en-US" sz="1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2657" marR="13996" marT="13996" marB="13996" anchor="ctr">
                    <a:lnL>
                      <a:noFill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view of the portion of this map whose keys are greater than or equal to 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2657" marR="13996" marT="13996" marB="13996">
                    <a:lnL>
                      <a:noFill/>
                    </a:lnL>
                    <a:lnR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490772"/>
                  </a:ext>
                </a:extLst>
              </a:tr>
              <a:tr h="36389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Collection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marL="32657" marR="13996" marT="13996" marB="13996" anchor="ctr">
                    <a:lnL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values()</a:t>
                      </a:r>
                    </a:p>
                  </a:txBody>
                  <a:tcPr marL="32657" marR="13996" marT="13996" marB="13996" anchor="ctr">
                    <a:lnL>
                      <a:noFill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 Collection view of the values contained in this map sorted according to the keys.</a:t>
                      </a:r>
                    </a:p>
                  </a:txBody>
                  <a:tcPr marL="32657" marR="13996" marT="13996" marB="13996">
                    <a:lnL>
                      <a:noFill/>
                    </a:lnL>
                    <a:lnR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A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36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75232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2951</TotalTime>
  <Words>3062</Words>
  <Application>Microsoft Office PowerPoint</Application>
  <PresentationFormat>On-screen Show (4:3)</PresentationFormat>
  <Paragraphs>530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Black</vt:lpstr>
      <vt:lpstr>Courier New</vt:lpstr>
      <vt:lpstr>Impact</vt:lpstr>
      <vt:lpstr>Tahoma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maps</dc:title>
  <dc:subject>Maps</dc:subject>
  <dc:creator>A+ Computer Science</dc:creator>
  <cp:keywords>www.apluscompsci.com</cp:keywords>
  <dc:description>Maps_x000d_
©A+ Computer Science_x000d_
www.apluscompsci.com</dc:description>
  <cp:lastModifiedBy>Weldon Jasik</cp:lastModifiedBy>
  <cp:revision>421</cp:revision>
  <cp:lastPrinted>2000-05-16T18:55:37Z</cp:lastPrinted>
  <dcterms:created xsi:type="dcterms:W3CDTF">1997-11-19T18:53:48Z</dcterms:created>
  <dcterms:modified xsi:type="dcterms:W3CDTF">2024-10-22T20:08:55Z</dcterms:modified>
  <cp:category>www.apluscompsci.com</cp:category>
</cp:coreProperties>
</file>
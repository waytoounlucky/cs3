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56" r:id="rId2"/>
    <p:sldId id="289" r:id="rId3"/>
    <p:sldId id="258" r:id="rId4"/>
    <p:sldId id="257" r:id="rId5"/>
    <p:sldId id="288" r:id="rId6"/>
    <p:sldId id="260" r:id="rId7"/>
    <p:sldId id="261" r:id="rId8"/>
    <p:sldId id="262" r:id="rId9"/>
    <p:sldId id="300" r:id="rId10"/>
    <p:sldId id="263" r:id="rId11"/>
    <p:sldId id="271" r:id="rId12"/>
    <p:sldId id="297" r:id="rId13"/>
    <p:sldId id="292" r:id="rId14"/>
    <p:sldId id="294" r:id="rId15"/>
    <p:sldId id="295" r:id="rId16"/>
    <p:sldId id="281" r:id="rId17"/>
    <p:sldId id="301" r:id="rId18"/>
    <p:sldId id="290" r:id="rId19"/>
    <p:sldId id="282" r:id="rId20"/>
    <p:sldId id="283" r:id="rId21"/>
    <p:sldId id="298" r:id="rId22"/>
    <p:sldId id="284" r:id="rId23"/>
    <p:sldId id="299" r:id="rId24"/>
    <p:sldId id="287" r:id="rId25"/>
    <p:sldId id="296" r:id="rId2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66"/>
    <a:srgbClr val="336600"/>
    <a:srgbClr val="663300"/>
    <a:srgbClr val="000066"/>
    <a:srgbClr val="0000FF"/>
    <a:srgbClr val="CDDCF7"/>
    <a:srgbClr val="CC3300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>
      <p:cViewPr varScale="1">
        <p:scale>
          <a:sx n="78" d="100"/>
          <a:sy n="78" d="100"/>
        </p:scale>
        <p:origin x="642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036B39AC-68F3-466A-B14B-59CC7588504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A3EDE8E4-447B-49B3-85EA-C656897DBFE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04" name="Rectangle 4">
            <a:extLst>
              <a:ext uri="{FF2B5EF4-FFF2-40B4-BE49-F238E27FC236}">
                <a16:creationId xmlns:a16="http://schemas.microsoft.com/office/drawing/2014/main" id="{A29097B0-C84B-48D5-A3A2-371A3F4D3208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05" name="Rectangle 5">
            <a:extLst>
              <a:ext uri="{FF2B5EF4-FFF2-40B4-BE49-F238E27FC236}">
                <a16:creationId xmlns:a16="http://schemas.microsoft.com/office/drawing/2014/main" id="{1AEF55BC-C86B-4FBF-B4AB-EDC7033E0A67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anose="02020603050405020304" pitchFamily="18" charset="0"/>
              </a:defRPr>
            </a:lvl1pPr>
          </a:lstStyle>
          <a:p>
            <a:fld id="{38C813EF-1890-4EFA-936E-3622EFD8B304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4E045552-86BB-4A00-B386-1685F39706C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CF654500-0CC2-4797-A9F4-3EB2DC5D1D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AD77EF35-B323-4FF2-92A7-2EFE54715AE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68F91A26-CA08-43B8-92D4-203F1FC7F3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A7851226-5231-4974-980C-12D4AC6A5B7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028A1D01-897D-4A08-8A1E-09B90D0578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9E7658F1-2DB9-4132-98DF-0BDB474C3CE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D678F95F-A9D1-47C7-BEC8-94C362EF74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EEAEFF2C-A22D-4D2F-8FF7-037A95BABF5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F0B164D4-2AEE-4C5A-BC15-17BF68FF4E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6DA91F43-738F-45BF-AD28-74FBE16385E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DF84A885-38A0-4F53-AADB-47BB982395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1C41E944-D47E-4707-8B04-D76D3ACC09C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DC049CFD-D319-4434-AFEC-51CB5D036D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4757485A-B5D2-4DDB-A132-20091662C1B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36D7B77A-D149-408F-9C7A-93BD4C9B62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957974DD-9316-4A42-96A3-E4A16D83359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E25545B9-A2C0-4F13-BC9C-8298F0D842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BCDD2FD7-2781-48BF-98C3-D6EB9B44E2C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25AF3A54-584B-4DCF-96D0-EDCEA446A7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FF5DABBA-8779-4ED9-AFCC-EE74D19D0F3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4149631F-7D60-4F0A-A99A-306C2BFB30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9D4B8F0D-0CE0-4923-AFCB-806E702357B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E9F90EC9-ED53-4D7A-B064-D2B4FC729C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20EAE1BC-2932-4BFD-84B1-E421C4C6FD8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8965ED38-7EC8-4DBD-B989-611AB725D1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864E770D-BBB5-4DEE-A493-F1607F839E2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9AB48655-0816-4558-9F81-5B59BF6CDD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D806053D-4643-4217-8D48-26F1C3CD3B5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B824F5D4-C30F-43B5-86C0-126BE8BFCE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CCDE959B-AAC4-4EDE-A1E2-80BF59770D5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31857A5B-2A63-4EB9-ADDC-C38DCD481F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BAA58B24-7380-41BB-8EEA-74D14A0E024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579C940F-7444-418B-BAEA-512582D885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8B38111D-9436-411C-91FF-43F15F70B7F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8423B854-3D7E-4B4D-B3AC-0481D53AAE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070F809A-1EDD-4DBE-9F79-E24A025408A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AED97E37-2DFF-477F-B575-B730E38EA0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FEFC7AEC-A5D9-4642-B471-9DE7727C954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1E321384-739F-4CAF-8D61-BA4E250F89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50A1C1E4-1276-49B9-A462-BB817A96BB4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AE6FE24D-7B22-4E2C-998D-1824D89294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9C9E9DD1-5E03-4000-8554-729C3AAFF60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DDC44C3E-E7B3-47A8-BAB8-A132F411F6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6C55B702-E9FE-48C0-B74E-310D2FA1656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3E0105D9-E850-4A5C-A3DA-681409D1F9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6B2F6EA-DC36-4831-9C8A-436FED2A5B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A2AEB46-63C2-4D1D-9CFF-29B9888DB6F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9C53A12-679B-4CD7-8880-D6F817D2A81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4D078FAC-0CBA-4582-8023-BBE6882EC261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+mn-lt"/>
              </a:defRPr>
            </a:lvl1pPr>
          </a:lstStyle>
          <a:p>
            <a:pPr>
              <a:defRPr/>
            </a:pPr>
            <a:endParaRPr lang="en-US" b="1"/>
          </a:p>
          <a:p>
            <a:pPr>
              <a:defRPr/>
            </a:pPr>
            <a:endParaRPr lang="en-US">
              <a:latin typeface="Tahoma" pitchFamily="34" charset="0"/>
            </a:endParaRPr>
          </a:p>
          <a:p>
            <a:pPr>
              <a:defRPr/>
            </a:pPr>
            <a:endParaRPr lang="en-US" b="1">
              <a:latin typeface="Tahoma" pitchFamily="34" charset="0"/>
            </a:endParaRPr>
          </a:p>
          <a:p>
            <a:pPr>
              <a:defRPr/>
            </a:pPr>
            <a:r>
              <a:rPr lang="en-US" b="1">
                <a:latin typeface="Tahoma" pitchFamily="34" charset="0"/>
              </a:rPr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4082544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93DD801-490A-47D2-AE28-ADB5FC4CBEE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E4311BA-BC61-4B8F-9787-C3C84E24251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A021435-7883-408B-98F9-738C48FF0968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D6AE5C3F-49EB-4EB7-9B05-388ED412B3A0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+mn-lt"/>
              </a:defRPr>
            </a:lvl1pPr>
          </a:lstStyle>
          <a:p>
            <a:pPr>
              <a:defRPr/>
            </a:pPr>
            <a:endParaRPr lang="en-US" b="1"/>
          </a:p>
          <a:p>
            <a:pPr>
              <a:defRPr/>
            </a:pPr>
            <a:endParaRPr lang="en-US">
              <a:latin typeface="Tahoma" pitchFamily="34" charset="0"/>
            </a:endParaRPr>
          </a:p>
          <a:p>
            <a:pPr>
              <a:defRPr/>
            </a:pPr>
            <a:endParaRPr lang="en-US" b="1">
              <a:latin typeface="Tahoma" pitchFamily="34" charset="0"/>
            </a:endParaRPr>
          </a:p>
          <a:p>
            <a:pPr>
              <a:defRPr/>
            </a:pPr>
            <a:r>
              <a:rPr lang="en-US" b="1">
                <a:latin typeface="Tahoma" pitchFamily="34" charset="0"/>
              </a:rPr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548098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0EB8B2E-FF8C-4FB0-9380-46609236555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7014015-D204-441D-AFCD-77185ABD6A3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2959AD-380F-40AB-9C57-716B52D2ED4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A623BC82-BF2E-425F-B2E7-C396BFE7EA3B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+mn-lt"/>
              </a:defRPr>
            </a:lvl1pPr>
          </a:lstStyle>
          <a:p>
            <a:pPr>
              <a:defRPr/>
            </a:pPr>
            <a:endParaRPr lang="en-US" b="1"/>
          </a:p>
          <a:p>
            <a:pPr>
              <a:defRPr/>
            </a:pPr>
            <a:endParaRPr lang="en-US">
              <a:latin typeface="Tahoma" pitchFamily="34" charset="0"/>
            </a:endParaRPr>
          </a:p>
          <a:p>
            <a:pPr>
              <a:defRPr/>
            </a:pPr>
            <a:endParaRPr lang="en-US" b="1">
              <a:latin typeface="Tahoma" pitchFamily="34" charset="0"/>
            </a:endParaRPr>
          </a:p>
          <a:p>
            <a:pPr>
              <a:defRPr/>
            </a:pPr>
            <a:r>
              <a:rPr lang="en-US" b="1">
                <a:latin typeface="Tahoma" pitchFamily="34" charset="0"/>
              </a:rPr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262587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0BB67E-7A69-4B10-A068-43E920C49E0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7DEBEFF-A02C-406D-B21E-B8B12FBE7E5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CFD0F3-3526-4CEA-BBDC-13C4E88C2C1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0A65412B-0579-483F-8B59-1D4A9F8D1EF3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+mn-lt"/>
              </a:defRPr>
            </a:lvl1pPr>
          </a:lstStyle>
          <a:p>
            <a:pPr>
              <a:defRPr/>
            </a:pPr>
            <a:endParaRPr lang="en-US" b="1"/>
          </a:p>
          <a:p>
            <a:pPr>
              <a:defRPr/>
            </a:pPr>
            <a:endParaRPr lang="en-US">
              <a:latin typeface="Tahoma" pitchFamily="34" charset="0"/>
            </a:endParaRPr>
          </a:p>
          <a:p>
            <a:pPr>
              <a:defRPr/>
            </a:pPr>
            <a:endParaRPr lang="en-US" b="1">
              <a:latin typeface="Tahoma" pitchFamily="34" charset="0"/>
            </a:endParaRPr>
          </a:p>
          <a:p>
            <a:pPr>
              <a:defRPr/>
            </a:pPr>
            <a:r>
              <a:rPr lang="en-US" b="1">
                <a:latin typeface="Tahoma" pitchFamily="34" charset="0"/>
              </a:rPr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743478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C084240-78CF-461A-B153-AFEE7C3FDB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AA99A4CB-8DBB-48D4-B5B1-847A6869829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BB3502-CEF2-4F51-88A3-825ED806C04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A108DB-9669-45CC-91A8-C8382AA4BE24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+mn-lt"/>
              </a:defRPr>
            </a:lvl1pPr>
          </a:lstStyle>
          <a:p>
            <a:pPr>
              <a:defRPr/>
            </a:pPr>
            <a:endParaRPr lang="en-US" b="1"/>
          </a:p>
          <a:p>
            <a:pPr>
              <a:defRPr/>
            </a:pPr>
            <a:endParaRPr lang="en-US">
              <a:latin typeface="Tahoma" pitchFamily="34" charset="0"/>
            </a:endParaRPr>
          </a:p>
          <a:p>
            <a:pPr>
              <a:defRPr/>
            </a:pPr>
            <a:endParaRPr lang="en-US" b="1">
              <a:latin typeface="Tahoma" pitchFamily="34" charset="0"/>
            </a:endParaRPr>
          </a:p>
          <a:p>
            <a:pPr>
              <a:defRPr/>
            </a:pPr>
            <a:r>
              <a:rPr lang="en-US" b="1">
                <a:latin typeface="Tahoma" pitchFamily="34" charset="0"/>
              </a:rPr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665979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B5E2DBB-E65A-4105-88B1-EDB3A32C5F0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6954736-42CC-4CDE-BB4E-F87EEC52A02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617947-1294-4869-BBA2-79074255CDD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4053FB64-B25C-4C35-85DF-D1DD7C3CFD8C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+mn-lt"/>
              </a:defRPr>
            </a:lvl1pPr>
          </a:lstStyle>
          <a:p>
            <a:pPr>
              <a:defRPr/>
            </a:pPr>
            <a:endParaRPr lang="en-US" b="1"/>
          </a:p>
          <a:p>
            <a:pPr>
              <a:defRPr/>
            </a:pPr>
            <a:endParaRPr lang="en-US">
              <a:latin typeface="Tahoma" pitchFamily="34" charset="0"/>
            </a:endParaRPr>
          </a:p>
          <a:p>
            <a:pPr>
              <a:defRPr/>
            </a:pPr>
            <a:endParaRPr lang="en-US" b="1">
              <a:latin typeface="Tahoma" pitchFamily="34" charset="0"/>
            </a:endParaRPr>
          </a:p>
          <a:p>
            <a:pPr>
              <a:defRPr/>
            </a:pPr>
            <a:r>
              <a:rPr lang="en-US" b="1">
                <a:latin typeface="Tahoma" pitchFamily="34" charset="0"/>
              </a:rPr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581108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29AE2CE9-3251-44F7-8D48-97E2D25A9F1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0AC66B2F-93E4-45E6-A10F-EF4CBB1FA39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8F0D7DD-1D03-4392-8911-760AC4CA2B4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3C051EB7-B3AC-4508-9A80-1D50A31165CC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+mn-lt"/>
              </a:defRPr>
            </a:lvl1pPr>
          </a:lstStyle>
          <a:p>
            <a:pPr>
              <a:defRPr/>
            </a:pPr>
            <a:endParaRPr lang="en-US" b="1"/>
          </a:p>
          <a:p>
            <a:pPr>
              <a:defRPr/>
            </a:pPr>
            <a:endParaRPr lang="en-US">
              <a:latin typeface="Tahoma" pitchFamily="34" charset="0"/>
            </a:endParaRPr>
          </a:p>
          <a:p>
            <a:pPr>
              <a:defRPr/>
            </a:pPr>
            <a:endParaRPr lang="en-US" b="1">
              <a:latin typeface="Tahoma" pitchFamily="34" charset="0"/>
            </a:endParaRPr>
          </a:p>
          <a:p>
            <a:pPr>
              <a:defRPr/>
            </a:pPr>
            <a:r>
              <a:rPr lang="en-US" b="1">
                <a:latin typeface="Tahoma" pitchFamily="34" charset="0"/>
              </a:rPr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520012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96E0B5-00A2-40E3-9A90-17EC769E939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0DBB4D1-580C-4876-9F05-814E1ED4E8A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AA5F9E8-FC44-4640-9D19-35BE494A91B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E707832A-D7AA-4C85-930B-872E87E6E6BA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+mn-lt"/>
              </a:defRPr>
            </a:lvl1pPr>
          </a:lstStyle>
          <a:p>
            <a:pPr>
              <a:defRPr/>
            </a:pPr>
            <a:endParaRPr lang="en-US" b="1"/>
          </a:p>
          <a:p>
            <a:pPr>
              <a:defRPr/>
            </a:pPr>
            <a:endParaRPr lang="en-US">
              <a:latin typeface="Tahoma" pitchFamily="34" charset="0"/>
            </a:endParaRPr>
          </a:p>
          <a:p>
            <a:pPr>
              <a:defRPr/>
            </a:pPr>
            <a:endParaRPr lang="en-US" b="1">
              <a:latin typeface="Tahoma" pitchFamily="34" charset="0"/>
            </a:endParaRPr>
          </a:p>
          <a:p>
            <a:pPr>
              <a:defRPr/>
            </a:pPr>
            <a:r>
              <a:rPr lang="en-US" b="1">
                <a:latin typeface="Tahoma" pitchFamily="34" charset="0"/>
              </a:rPr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216691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F9A3FE-0913-415E-B4E7-DE5D7CCC67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A7938E0-3340-47AD-BDB7-8E1222A1F02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A9A406-AC48-4DDC-A970-FE70B954302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9F9CA307-4004-4134-950E-B95FA0407421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+mn-lt"/>
              </a:defRPr>
            </a:lvl1pPr>
          </a:lstStyle>
          <a:p>
            <a:pPr>
              <a:defRPr/>
            </a:pPr>
            <a:endParaRPr lang="en-US" b="1"/>
          </a:p>
          <a:p>
            <a:pPr>
              <a:defRPr/>
            </a:pPr>
            <a:endParaRPr lang="en-US">
              <a:latin typeface="Tahoma" pitchFamily="34" charset="0"/>
            </a:endParaRPr>
          </a:p>
          <a:p>
            <a:pPr>
              <a:defRPr/>
            </a:pPr>
            <a:endParaRPr lang="en-US" b="1">
              <a:latin typeface="Tahoma" pitchFamily="34" charset="0"/>
            </a:endParaRPr>
          </a:p>
          <a:p>
            <a:pPr>
              <a:defRPr/>
            </a:pPr>
            <a:r>
              <a:rPr lang="en-US" b="1">
                <a:latin typeface="Tahoma" pitchFamily="34" charset="0"/>
              </a:rPr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612717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7EDD6D3-2B0A-441B-B2E0-7C92685EF58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8C4F088-105F-4AC0-B0DC-C2BF18875C7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D321026-199E-4832-8279-E7B01793221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ACB01A16-DA4D-4B1B-B031-CDCBD684C295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+mn-lt"/>
              </a:defRPr>
            </a:lvl1pPr>
          </a:lstStyle>
          <a:p>
            <a:pPr>
              <a:defRPr/>
            </a:pPr>
            <a:endParaRPr lang="en-US" b="1"/>
          </a:p>
          <a:p>
            <a:pPr>
              <a:defRPr/>
            </a:pPr>
            <a:endParaRPr lang="en-US">
              <a:latin typeface="Tahoma" pitchFamily="34" charset="0"/>
            </a:endParaRPr>
          </a:p>
          <a:p>
            <a:pPr>
              <a:defRPr/>
            </a:pPr>
            <a:endParaRPr lang="en-US" b="1">
              <a:latin typeface="Tahoma" pitchFamily="34" charset="0"/>
            </a:endParaRPr>
          </a:p>
          <a:p>
            <a:pPr>
              <a:defRPr/>
            </a:pPr>
            <a:r>
              <a:rPr lang="en-US" b="1">
                <a:latin typeface="Tahoma" pitchFamily="34" charset="0"/>
              </a:rPr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23716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C62E2D8-1705-4AE4-A24D-E1DFDED831A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3BC829B-C3B0-4214-B1FE-CBB40F34D72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A26FA1A-0B4F-4D5C-9CC2-7DC5BF5600D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984064AD-45A7-4936-BA4A-5F735013424B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+mn-lt"/>
              </a:defRPr>
            </a:lvl1pPr>
          </a:lstStyle>
          <a:p>
            <a:pPr>
              <a:defRPr/>
            </a:pPr>
            <a:endParaRPr lang="en-US" b="1"/>
          </a:p>
          <a:p>
            <a:pPr>
              <a:defRPr/>
            </a:pPr>
            <a:endParaRPr lang="en-US">
              <a:latin typeface="Tahoma" pitchFamily="34" charset="0"/>
            </a:endParaRPr>
          </a:p>
          <a:p>
            <a:pPr>
              <a:defRPr/>
            </a:pPr>
            <a:endParaRPr lang="en-US" b="1">
              <a:latin typeface="Tahoma" pitchFamily="34" charset="0"/>
            </a:endParaRPr>
          </a:p>
          <a:p>
            <a:pPr>
              <a:defRPr/>
            </a:pPr>
            <a:r>
              <a:rPr lang="en-US" b="1">
                <a:latin typeface="Tahoma" pitchFamily="34" charset="0"/>
              </a:rPr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969670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F71EFE5-B403-47BF-AA2E-60880A0F30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8B7B0AD-CC17-4119-8EE2-9C09F21770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112F3A4-6221-4ADD-A082-2A990682268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1400" b="0" smtClean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222C702-4F26-431A-B0CE-4E0F6C4CF70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anose="02020603050405020304" pitchFamily="18" charset="0"/>
              </a:defRPr>
            </a:lvl1pPr>
          </a:lstStyle>
          <a:p>
            <a:fld id="{67C2089A-5331-49E3-BEC7-950481451D1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8BC57F20-3CDB-4288-A296-6F95A8CBFEF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800" b="1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2.bin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Footer Placeholder 3">
            <a:extLst>
              <a:ext uri="{FF2B5EF4-FFF2-40B4-BE49-F238E27FC236}">
                <a16:creationId xmlns:a16="http://schemas.microsoft.com/office/drawing/2014/main" id="{83E1CB20-53DC-435D-80B6-E4D10D43937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 sz="800">
              <a:latin typeface="Times New Roman" panose="02020603050405020304" pitchFamily="18" charset="0"/>
            </a:endParaRPr>
          </a:p>
          <a:p>
            <a:endParaRPr lang="en-US" altLang="en-US" sz="800" b="0"/>
          </a:p>
          <a:p>
            <a:endParaRPr lang="en-US" altLang="en-US" sz="800"/>
          </a:p>
          <a:p>
            <a:r>
              <a:rPr lang="en-US" altLang="en-US" sz="800"/>
              <a:t>© A+ Computer Science  -  www.apluscompsci.com</a:t>
            </a:r>
          </a:p>
        </p:txBody>
      </p:sp>
      <p:sp>
        <p:nvSpPr>
          <p:cNvPr id="2051" name="Rectangle 4">
            <a:extLst>
              <a:ext uri="{FF2B5EF4-FFF2-40B4-BE49-F238E27FC236}">
                <a16:creationId xmlns:a16="http://schemas.microsoft.com/office/drawing/2014/main" id="{1EBA88FC-F893-476A-9560-37CCC58409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057400"/>
            <a:ext cx="678815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3200">
                <a:solidFill>
                  <a:srgbClr val="A50021"/>
                </a:solidFill>
              </a:rPr>
              <a:t>What is the Standard Base we </a:t>
            </a:r>
          </a:p>
          <a:p>
            <a:r>
              <a:rPr lang="en-US" altLang="en-US" sz="3200">
                <a:solidFill>
                  <a:srgbClr val="A50021"/>
                </a:solidFill>
              </a:rPr>
              <a:t>work with in our everyday lives</a:t>
            </a:r>
            <a:r>
              <a:rPr lang="en-US" altLang="en-US" sz="3200">
                <a:solidFill>
                  <a:srgbClr val="A50021"/>
                </a:solidFill>
                <a:latin typeface="Times New Roman" panose="02020603050405020304" pitchFamily="18" charset="0"/>
              </a:rPr>
              <a:t>?</a:t>
            </a:r>
          </a:p>
        </p:txBody>
      </p:sp>
      <p:sp>
        <p:nvSpPr>
          <p:cNvPr id="2052" name="WordArt 6">
            <a:extLst>
              <a:ext uri="{FF2B5EF4-FFF2-40B4-BE49-F238E27FC236}">
                <a16:creationId xmlns:a16="http://schemas.microsoft.com/office/drawing/2014/main" id="{8F160802-2CD3-45E0-89AE-CFD5D0BD3B5A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09600" y="685800"/>
            <a:ext cx="7620000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Number Systems</a:t>
            </a:r>
          </a:p>
        </p:txBody>
      </p:sp>
      <p:sp>
        <p:nvSpPr>
          <p:cNvPr id="2053" name="Rectangle 7">
            <a:extLst>
              <a:ext uri="{FF2B5EF4-FFF2-40B4-BE49-F238E27FC236}">
                <a16:creationId xmlns:a16="http://schemas.microsoft.com/office/drawing/2014/main" id="{A195EF2F-F5F7-435E-B7C1-25FCE8C312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3733800"/>
            <a:ext cx="6356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3200">
                <a:solidFill>
                  <a:srgbClr val="A50021"/>
                </a:solidFill>
              </a:rPr>
              <a:t>Why do we work in that base?</a:t>
            </a:r>
            <a:endParaRPr lang="en-US" altLang="en-US" sz="3200">
              <a:solidFill>
                <a:srgbClr val="A5002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054" name="Picture 8" descr="j0297935[1]">
            <a:extLst>
              <a:ext uri="{FF2B5EF4-FFF2-40B4-BE49-F238E27FC236}">
                <a16:creationId xmlns:a16="http://schemas.microsoft.com/office/drawing/2014/main" id="{CE3AF3B5-175E-4619-A1BC-EC9136F4BB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4572000"/>
            <a:ext cx="1201738" cy="170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5" name="Picture 9" descr="j0297935[1]">
            <a:extLst>
              <a:ext uri="{FF2B5EF4-FFF2-40B4-BE49-F238E27FC236}">
                <a16:creationId xmlns:a16="http://schemas.microsoft.com/office/drawing/2014/main" id="{E0175098-2867-4566-8FDE-294DF59737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200400" y="4572000"/>
            <a:ext cx="1182688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6" name="WordArt 12">
            <a:extLst>
              <a:ext uri="{FF2B5EF4-FFF2-40B4-BE49-F238E27FC236}">
                <a16:creationId xmlns:a16="http://schemas.microsoft.com/office/drawing/2014/main" id="{4551D990-FE34-47DB-AEF7-663064CB605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400800" y="6324600"/>
            <a:ext cx="2438400" cy="304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8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Lab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Footer Placeholder 3">
            <a:extLst>
              <a:ext uri="{FF2B5EF4-FFF2-40B4-BE49-F238E27FC236}">
                <a16:creationId xmlns:a16="http://schemas.microsoft.com/office/drawing/2014/main" id="{E509C777-C9C7-4A28-B177-40B28BEC014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 sz="800">
              <a:latin typeface="Times New Roman" panose="02020603050405020304" pitchFamily="18" charset="0"/>
            </a:endParaRPr>
          </a:p>
          <a:p>
            <a:endParaRPr lang="en-US" altLang="en-US" sz="800" b="0"/>
          </a:p>
          <a:p>
            <a:endParaRPr lang="en-US" altLang="en-US" sz="800"/>
          </a:p>
          <a:p>
            <a:r>
              <a:rPr lang="en-US" altLang="en-US" sz="800"/>
              <a:t>© A+ Computer Science  -  www.apluscompsci.com</a:t>
            </a:r>
          </a:p>
        </p:txBody>
      </p:sp>
      <p:sp>
        <p:nvSpPr>
          <p:cNvPr id="3075" name="WordArt 1026">
            <a:extLst>
              <a:ext uri="{FF2B5EF4-FFF2-40B4-BE49-F238E27FC236}">
                <a16:creationId xmlns:a16="http://schemas.microsoft.com/office/drawing/2014/main" id="{1F144212-B327-44DC-A8B8-D3D0C779C7A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85800" y="304800"/>
            <a:ext cx="74676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Common Bases</a:t>
            </a:r>
          </a:p>
        </p:txBody>
      </p:sp>
      <p:sp>
        <p:nvSpPr>
          <p:cNvPr id="3076" name="Text Box 1027">
            <a:extLst>
              <a:ext uri="{FF2B5EF4-FFF2-40B4-BE49-F238E27FC236}">
                <a16:creationId xmlns:a16="http://schemas.microsoft.com/office/drawing/2014/main" id="{A051854E-CD77-4B13-810D-94C896A513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371600"/>
            <a:ext cx="3290888" cy="3868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3200"/>
              <a:t>2 – 1010 0100</a:t>
            </a:r>
          </a:p>
          <a:p>
            <a:endParaRPr lang="en-US" altLang="en-US" sz="3200"/>
          </a:p>
          <a:p>
            <a:r>
              <a:rPr lang="en-US" altLang="en-US" sz="3200"/>
              <a:t>8 -  5672  </a:t>
            </a:r>
          </a:p>
          <a:p>
            <a:endParaRPr lang="en-US" altLang="en-US" sz="3200"/>
          </a:p>
          <a:p>
            <a:r>
              <a:rPr lang="en-US" altLang="en-US" sz="3200"/>
              <a:t>10 – 78645</a:t>
            </a:r>
          </a:p>
          <a:p>
            <a:endParaRPr lang="en-US" altLang="en-US" sz="3200"/>
          </a:p>
          <a:p>
            <a:r>
              <a:rPr lang="en-US" altLang="en-US" sz="3200"/>
              <a:t>16 – ABC983EF</a:t>
            </a:r>
          </a:p>
          <a:p>
            <a:endParaRPr lang="en-US" altLang="en-US"/>
          </a:p>
        </p:txBody>
      </p:sp>
      <p:sp>
        <p:nvSpPr>
          <p:cNvPr id="3077" name="WordArt 1028">
            <a:extLst>
              <a:ext uri="{FF2B5EF4-FFF2-40B4-BE49-F238E27FC236}">
                <a16:creationId xmlns:a16="http://schemas.microsoft.com/office/drawing/2014/main" id="{CB007092-3014-4238-BC84-9CA5641D85D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953000" y="3810000"/>
            <a:ext cx="3886200" cy="2590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Open  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bases.java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3">
            <a:extLst>
              <a:ext uri="{FF2B5EF4-FFF2-40B4-BE49-F238E27FC236}">
                <a16:creationId xmlns:a16="http://schemas.microsoft.com/office/drawing/2014/main" id="{EACF8833-4745-4D4F-83EB-8702A179A01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 sz="800">
              <a:latin typeface="Times New Roman" panose="02020603050405020304" pitchFamily="18" charset="0"/>
            </a:endParaRPr>
          </a:p>
          <a:p>
            <a:endParaRPr lang="en-US" altLang="en-US" sz="800" b="0"/>
          </a:p>
          <a:p>
            <a:endParaRPr lang="en-US" altLang="en-US" sz="800"/>
          </a:p>
          <a:p>
            <a:r>
              <a:rPr lang="en-US" altLang="en-US" sz="800"/>
              <a:t>© A+ Computer Science  -  www.apluscompsci.com</a:t>
            </a:r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F67E3E79-FEA1-46AF-AFE0-A9B0AC50A5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125" y="395288"/>
            <a:ext cx="7531100" cy="564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 sz="2800">
              <a:solidFill>
                <a:srgbClr val="330099"/>
              </a:solidFill>
            </a:endParaRPr>
          </a:p>
          <a:p>
            <a:endParaRPr lang="en-US" altLang="en-US" sz="2800">
              <a:solidFill>
                <a:srgbClr val="330099"/>
              </a:solidFill>
            </a:endParaRPr>
          </a:p>
          <a:p>
            <a:r>
              <a:rPr lang="en-US" altLang="en-US" sz="2800">
                <a:solidFill>
                  <a:srgbClr val="990033"/>
                </a:solidFill>
              </a:rPr>
              <a:t>What is 235 really?</a:t>
            </a:r>
            <a:endParaRPr lang="en-US" altLang="en-US" sz="2800">
              <a:solidFill>
                <a:srgbClr val="330099"/>
              </a:solidFill>
            </a:endParaRPr>
          </a:p>
          <a:p>
            <a:endParaRPr lang="en-US" altLang="en-US" sz="2800">
              <a:solidFill>
                <a:srgbClr val="330099"/>
              </a:solidFill>
            </a:endParaRPr>
          </a:p>
          <a:p>
            <a:r>
              <a:rPr lang="en-US" altLang="en-US" sz="2800">
                <a:solidFill>
                  <a:srgbClr val="3333FF"/>
                </a:solidFill>
              </a:rPr>
              <a:t>Is it 235 or is there more to it?</a:t>
            </a:r>
            <a:endParaRPr lang="en-US" altLang="en-US" sz="2800">
              <a:solidFill>
                <a:srgbClr val="990033"/>
              </a:solidFill>
            </a:endParaRPr>
          </a:p>
          <a:p>
            <a:endParaRPr lang="en-US" altLang="en-US" sz="2800">
              <a:solidFill>
                <a:srgbClr val="330099"/>
              </a:solidFill>
            </a:endParaRPr>
          </a:p>
          <a:p>
            <a:r>
              <a:rPr lang="en-US" altLang="en-US" sz="2800">
                <a:solidFill>
                  <a:srgbClr val="330099"/>
                </a:solidFill>
              </a:rPr>
              <a:t>In actuality, 235 is</a:t>
            </a:r>
          </a:p>
          <a:p>
            <a:endParaRPr lang="en-US" altLang="en-US" sz="2800">
              <a:solidFill>
                <a:srgbClr val="330099"/>
              </a:solidFill>
            </a:endParaRPr>
          </a:p>
          <a:p>
            <a:r>
              <a:rPr lang="en-US" altLang="en-US" sz="2800">
                <a:solidFill>
                  <a:srgbClr val="330099"/>
                </a:solidFill>
              </a:rPr>
              <a:t>  </a:t>
            </a:r>
            <a:r>
              <a:rPr lang="en-US" altLang="en-US" sz="2800">
                <a:solidFill>
                  <a:srgbClr val="006600"/>
                </a:solidFill>
              </a:rPr>
              <a:t>2    *    10  to  the  2nd power (100)    +</a:t>
            </a:r>
          </a:p>
          <a:p>
            <a:r>
              <a:rPr lang="en-US" altLang="en-US" sz="2800">
                <a:solidFill>
                  <a:srgbClr val="006600"/>
                </a:solidFill>
              </a:rPr>
              <a:t>  3    *    10  to  the  1st  power    (10)   +</a:t>
            </a:r>
          </a:p>
          <a:p>
            <a:r>
              <a:rPr lang="en-US" altLang="en-US" sz="2800">
                <a:solidFill>
                  <a:srgbClr val="006600"/>
                </a:solidFill>
              </a:rPr>
              <a:t>  5    *    10  to  the  0th  power      (1).</a:t>
            </a:r>
          </a:p>
          <a:p>
            <a:endParaRPr lang="en-US" altLang="en-US" sz="2800">
              <a:solidFill>
                <a:srgbClr val="330099"/>
              </a:solidFill>
            </a:endParaRPr>
          </a:p>
          <a:p>
            <a:r>
              <a:rPr lang="en-US" altLang="en-US" sz="2800">
                <a:solidFill>
                  <a:srgbClr val="330099"/>
                </a:solidFill>
              </a:rPr>
              <a:t>If you add these up you end up with 235.</a:t>
            </a:r>
          </a:p>
        </p:txBody>
      </p:sp>
      <p:graphicFrame>
        <p:nvGraphicFramePr>
          <p:cNvPr id="4100" name="Object 3">
            <a:extLst>
              <a:ext uri="{FF2B5EF4-FFF2-40B4-BE49-F238E27FC236}">
                <a16:creationId xmlns:a16="http://schemas.microsoft.com/office/drawing/2014/main" id="{40D70FA6-8F66-4C54-8998-39E57143CE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34188" y="990600"/>
          <a:ext cx="2309812" cy="3176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Clip" r:id="rId4" imgW="2309813" imgH="3176588" progId="MS_ClipArt_Gallery.2">
                  <p:embed/>
                </p:oleObj>
              </mc:Choice>
              <mc:Fallback>
                <p:oleObj name="Clip" r:id="rId4" imgW="2309813" imgH="3176588" progId="MS_ClipArt_Gallery.2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4188" y="990600"/>
                        <a:ext cx="2309812" cy="3176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1" name="WordArt 4">
            <a:extLst>
              <a:ext uri="{FF2B5EF4-FFF2-40B4-BE49-F238E27FC236}">
                <a16:creationId xmlns:a16="http://schemas.microsoft.com/office/drawing/2014/main" id="{0B43BC57-71E3-47BA-AAB0-A03B5588076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09600" y="228600"/>
            <a:ext cx="76962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base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Footer Placeholder 3">
            <a:extLst>
              <a:ext uri="{FF2B5EF4-FFF2-40B4-BE49-F238E27FC236}">
                <a16:creationId xmlns:a16="http://schemas.microsoft.com/office/drawing/2014/main" id="{868FA8DE-8060-4926-96BA-8979673B22B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 sz="800">
              <a:latin typeface="Times New Roman" panose="02020603050405020304" pitchFamily="18" charset="0"/>
            </a:endParaRPr>
          </a:p>
          <a:p>
            <a:endParaRPr lang="en-US" altLang="en-US" sz="800" b="0"/>
          </a:p>
          <a:p>
            <a:endParaRPr lang="en-US" altLang="en-US" sz="800"/>
          </a:p>
          <a:p>
            <a:r>
              <a:rPr lang="en-US" altLang="en-US" sz="800"/>
              <a:t>© A+ Computer Science  -  www.apluscompsci.com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03840B6E-07E6-48AD-AA64-75088FCD8B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3946525"/>
            <a:ext cx="78486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3200">
                <a:solidFill>
                  <a:srgbClr val="003366"/>
                </a:solidFill>
              </a:rPr>
              <a:t>You can convert any base to base 10 by following the power system.</a:t>
            </a:r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3DDDA7EA-6738-4D8B-9EA5-55C227F4C7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3325" y="2576513"/>
            <a:ext cx="1250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0">
                <a:latin typeface="Times New Roman" panose="02020603050405020304" pitchFamily="18" charset="0"/>
              </a:rPr>
              <a:t>	  </a:t>
            </a:r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2E396CF2-5508-4358-BB4F-0D0608D40E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888" y="1951038"/>
            <a:ext cx="8342312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3200">
                <a:solidFill>
                  <a:srgbClr val="660066"/>
                </a:solidFill>
              </a:rPr>
              <a:t>All number systems regardless of the base work off of the same principles.</a:t>
            </a:r>
          </a:p>
        </p:txBody>
      </p:sp>
      <p:sp>
        <p:nvSpPr>
          <p:cNvPr id="5126" name="WordArt 7">
            <a:extLst>
              <a:ext uri="{FF2B5EF4-FFF2-40B4-BE49-F238E27FC236}">
                <a16:creationId xmlns:a16="http://schemas.microsoft.com/office/drawing/2014/main" id="{15C37D66-93FC-4B85-BCE2-C8E3626F751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09600" y="228600"/>
            <a:ext cx="76962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Any base to base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ooter Placeholder 3">
            <a:extLst>
              <a:ext uri="{FF2B5EF4-FFF2-40B4-BE49-F238E27FC236}">
                <a16:creationId xmlns:a16="http://schemas.microsoft.com/office/drawing/2014/main" id="{8D1CAB0C-3FFD-4FA2-B1D9-E80274EF049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 sz="800">
              <a:latin typeface="Times New Roman" panose="02020603050405020304" pitchFamily="18" charset="0"/>
            </a:endParaRPr>
          </a:p>
          <a:p>
            <a:endParaRPr lang="en-US" altLang="en-US" sz="800" b="0"/>
          </a:p>
          <a:p>
            <a:endParaRPr lang="en-US" altLang="en-US" sz="800"/>
          </a:p>
          <a:p>
            <a:r>
              <a:rPr lang="en-US" altLang="en-US" sz="800"/>
              <a:t>© A+ Computer Science  -  www.apluscompsci.com</a:t>
            </a:r>
          </a:p>
        </p:txBody>
      </p:sp>
      <p:sp>
        <p:nvSpPr>
          <p:cNvPr id="43011" name="Text Box 3">
            <a:extLst>
              <a:ext uri="{FF2B5EF4-FFF2-40B4-BE49-F238E27FC236}">
                <a16:creationId xmlns:a16="http://schemas.microsoft.com/office/drawing/2014/main" id="{B9059303-1F4E-4573-951C-DC193055E4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371600"/>
            <a:ext cx="8205788" cy="460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800">
                <a:solidFill>
                  <a:srgbClr val="006666"/>
                </a:solidFill>
              </a:rPr>
              <a:t>Given 32 in base 4, you could convert it by</a:t>
            </a:r>
          </a:p>
          <a:p>
            <a:pPr>
              <a:defRPr/>
            </a:pPr>
            <a:endParaRPr lang="en-US" sz="2800">
              <a:solidFill>
                <a:srgbClr val="006666"/>
              </a:solidFill>
            </a:endParaRPr>
          </a:p>
          <a:p>
            <a:pPr>
              <a:defRPr/>
            </a:pPr>
            <a:r>
              <a:rPr lang="en-US" sz="2800">
                <a:solidFill>
                  <a:srgbClr val="006666"/>
                </a:solidFill>
              </a:rPr>
              <a:t>  	4</a:t>
            </a:r>
            <a:r>
              <a:rPr lang="en-US" sz="2800" baseline="30000">
                <a:solidFill>
                  <a:srgbClr val="006666"/>
                </a:solidFill>
              </a:rPr>
              <a:t>3</a:t>
            </a:r>
            <a:r>
              <a:rPr lang="en-US" sz="2800">
                <a:solidFill>
                  <a:srgbClr val="006666"/>
                </a:solidFill>
              </a:rPr>
              <a:t>       4</a:t>
            </a:r>
            <a:r>
              <a:rPr lang="en-US" sz="2800" baseline="30000">
                <a:solidFill>
                  <a:srgbClr val="006666"/>
                </a:solidFill>
              </a:rPr>
              <a:t>2</a:t>
            </a:r>
            <a:r>
              <a:rPr lang="en-US" sz="2800">
                <a:solidFill>
                  <a:srgbClr val="006666"/>
                </a:solidFill>
              </a:rPr>
              <a:t>       4</a:t>
            </a:r>
            <a:r>
              <a:rPr lang="en-US" sz="2800" baseline="30000">
                <a:solidFill>
                  <a:srgbClr val="006666"/>
                </a:solidFill>
              </a:rPr>
              <a:t>1</a:t>
            </a:r>
            <a:r>
              <a:rPr lang="en-US" sz="2800">
                <a:solidFill>
                  <a:srgbClr val="006666"/>
                </a:solidFill>
              </a:rPr>
              <a:t>      4</a:t>
            </a:r>
            <a:r>
              <a:rPr lang="en-US" sz="2800" baseline="30000">
                <a:solidFill>
                  <a:srgbClr val="006666"/>
                </a:solidFill>
              </a:rPr>
              <a:t>0</a:t>
            </a:r>
          </a:p>
          <a:p>
            <a:pPr>
              <a:defRPr/>
            </a:pPr>
            <a:r>
              <a:rPr lang="en-US" sz="28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</a:rPr>
              <a:t>   	</a:t>
            </a:r>
            <a:r>
              <a:rPr lang="en-US" sz="28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*        *        *        *</a:t>
            </a:r>
          </a:p>
          <a:p>
            <a:pPr>
              <a:defRPr/>
            </a:pPr>
            <a:r>
              <a:rPr lang="en-US" sz="28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	0  +   0  +   3    +  2</a:t>
            </a:r>
          </a:p>
          <a:p>
            <a:pPr>
              <a:defRPr/>
            </a:pPr>
            <a:endParaRPr lang="en-US" sz="280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defRPr/>
            </a:pPr>
            <a:r>
              <a:rPr lang="en-US" sz="2800">
                <a:solidFill>
                  <a:srgbClr val="006666"/>
                </a:solidFill>
              </a:rPr>
              <a:t>   0 * 64  +   0 * 16  +   3 * 4    +  2 * 1</a:t>
            </a:r>
          </a:p>
          <a:p>
            <a:pPr>
              <a:defRPr/>
            </a:pPr>
            <a:endParaRPr lang="en-US" sz="2800">
              <a:solidFill>
                <a:srgbClr val="006666"/>
              </a:solidFill>
            </a:endParaRPr>
          </a:p>
          <a:p>
            <a:pPr>
              <a:defRPr/>
            </a:pPr>
            <a:endParaRPr lang="en-US" sz="2800">
              <a:solidFill>
                <a:srgbClr val="006666"/>
              </a:solidFill>
            </a:endParaRPr>
          </a:p>
          <a:p>
            <a:pPr>
              <a:defRPr/>
            </a:pPr>
            <a:r>
              <a:rPr lang="en-US" sz="4400">
                <a:solidFill>
                  <a:srgbClr val="006666"/>
                </a:solidFill>
              </a:rPr>
              <a:t>32 in base 4 is 14 in base 10</a:t>
            </a:r>
            <a:r>
              <a:rPr lang="en-US" sz="2800">
                <a:solidFill>
                  <a:srgbClr val="006666"/>
                </a:solidFill>
              </a:rPr>
              <a:t> </a:t>
            </a:r>
          </a:p>
        </p:txBody>
      </p:sp>
      <p:sp>
        <p:nvSpPr>
          <p:cNvPr id="6148" name="WordArt 4">
            <a:extLst>
              <a:ext uri="{FF2B5EF4-FFF2-40B4-BE49-F238E27FC236}">
                <a16:creationId xmlns:a16="http://schemas.microsoft.com/office/drawing/2014/main" id="{74B31E1C-0FD9-4E28-BDA4-280262BDFED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09600" y="228600"/>
            <a:ext cx="76962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Any base to base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ooter Placeholder 3">
            <a:extLst>
              <a:ext uri="{FF2B5EF4-FFF2-40B4-BE49-F238E27FC236}">
                <a16:creationId xmlns:a16="http://schemas.microsoft.com/office/drawing/2014/main" id="{BB651C29-E8D8-4EBD-A1CF-865E19A7512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 sz="800">
              <a:latin typeface="Times New Roman" panose="02020603050405020304" pitchFamily="18" charset="0"/>
            </a:endParaRPr>
          </a:p>
          <a:p>
            <a:endParaRPr lang="en-US" altLang="en-US" sz="800" b="0"/>
          </a:p>
          <a:p>
            <a:endParaRPr lang="en-US" altLang="en-US" sz="800"/>
          </a:p>
          <a:p>
            <a:r>
              <a:rPr lang="en-US" altLang="en-US" sz="800"/>
              <a:t>© A+ Computer Science  -  www.apluscompsci.com</a:t>
            </a:r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BA89816D-6F5A-4136-B169-36964F9DBA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600200"/>
            <a:ext cx="8037513" cy="410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defRPr/>
            </a:pPr>
            <a:r>
              <a:rPr lang="en-US">
                <a:solidFill>
                  <a:srgbClr val="336633"/>
                </a:solidFill>
              </a:rPr>
              <a:t>Given the base 10 number 70, you could convert</a:t>
            </a:r>
          </a:p>
          <a:p>
            <a:pPr>
              <a:defRPr/>
            </a:pPr>
            <a:r>
              <a:rPr lang="en-US">
                <a:solidFill>
                  <a:srgbClr val="336633"/>
                </a:solidFill>
              </a:rPr>
              <a:t>it to base 5 following these easy steps :</a:t>
            </a:r>
          </a:p>
          <a:p>
            <a:pPr>
              <a:defRPr/>
            </a:pPr>
            <a:endParaRPr lang="en-US">
              <a:solidFill>
                <a:srgbClr val="336633"/>
              </a:solidFill>
            </a:endParaRPr>
          </a:p>
          <a:p>
            <a:pPr>
              <a:defRPr/>
            </a:pPr>
            <a:r>
              <a:rPr lang="en-US">
                <a:solidFill>
                  <a:srgbClr val="336633"/>
                </a:solidFill>
              </a:rPr>
              <a:t>                                       base to   </a:t>
            </a:r>
            <a:r>
              <a:rPr lang="en-US" u="sng">
                <a:solidFill>
                  <a:srgbClr val="336633"/>
                </a:solidFill>
              </a:rPr>
              <a:t> num10</a:t>
            </a:r>
            <a:r>
              <a:rPr lang="en-US">
                <a:solidFill>
                  <a:srgbClr val="336633"/>
                </a:solidFill>
              </a:rPr>
              <a:t>   remainder</a:t>
            </a:r>
          </a:p>
          <a:p>
            <a:pPr>
              <a:defRPr/>
            </a:pPr>
            <a:r>
              <a:rPr lang="en-US">
                <a:solidFill>
                  <a:srgbClr val="336633"/>
                </a:solidFill>
              </a:rPr>
              <a:t>1st    divide   </a:t>
            </a:r>
            <a:r>
              <a:rPr lang="en-US">
                <a:solidFill>
                  <a:srgbClr val="CC3300"/>
                </a:solidFill>
              </a:rPr>
              <a:t>70</a:t>
            </a:r>
            <a:r>
              <a:rPr lang="en-US">
                <a:solidFill>
                  <a:srgbClr val="336633"/>
                </a:solidFill>
              </a:rPr>
              <a:t> by 5            5    |      </a:t>
            </a:r>
            <a:r>
              <a:rPr lang="en-US">
                <a:solidFill>
                  <a:srgbClr val="CC3300"/>
                </a:solidFill>
              </a:rPr>
              <a:t>70</a:t>
            </a:r>
            <a:r>
              <a:rPr lang="en-US">
                <a:solidFill>
                  <a:srgbClr val="336633"/>
                </a:solidFill>
              </a:rPr>
              <a:t>          </a:t>
            </a:r>
            <a:r>
              <a:rPr lang="en-US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</a:p>
          <a:p>
            <a:pPr>
              <a:defRPr/>
            </a:pPr>
            <a:r>
              <a:rPr lang="en-US">
                <a:solidFill>
                  <a:srgbClr val="336633"/>
                </a:solidFill>
              </a:rPr>
              <a:t>2nd   divide   </a:t>
            </a:r>
            <a:r>
              <a:rPr lang="en-US">
                <a:solidFill>
                  <a:srgbClr val="CC3300"/>
                </a:solidFill>
              </a:rPr>
              <a:t>14</a:t>
            </a:r>
            <a:r>
              <a:rPr lang="en-US">
                <a:solidFill>
                  <a:srgbClr val="336633"/>
                </a:solidFill>
              </a:rPr>
              <a:t> by 5            5    |      </a:t>
            </a:r>
            <a:r>
              <a:rPr lang="en-US">
                <a:solidFill>
                  <a:srgbClr val="CC3300"/>
                </a:solidFill>
              </a:rPr>
              <a:t>14</a:t>
            </a:r>
            <a:r>
              <a:rPr lang="en-US">
                <a:solidFill>
                  <a:srgbClr val="336633"/>
                </a:solidFill>
              </a:rPr>
              <a:t>           </a:t>
            </a:r>
            <a:r>
              <a:rPr lang="en-US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4</a:t>
            </a:r>
          </a:p>
          <a:p>
            <a:pPr>
              <a:defRPr/>
            </a:pPr>
            <a:r>
              <a:rPr lang="en-US">
                <a:solidFill>
                  <a:srgbClr val="336633"/>
                </a:solidFill>
              </a:rPr>
              <a:t>3rd    divide     </a:t>
            </a:r>
            <a:r>
              <a:rPr lang="en-US">
                <a:solidFill>
                  <a:srgbClr val="CC3300"/>
                </a:solidFill>
              </a:rPr>
              <a:t>2</a:t>
            </a:r>
            <a:r>
              <a:rPr lang="en-US">
                <a:solidFill>
                  <a:srgbClr val="336633"/>
                </a:solidFill>
              </a:rPr>
              <a:t> by 5            5    |        </a:t>
            </a:r>
            <a:r>
              <a:rPr lang="en-US">
                <a:solidFill>
                  <a:srgbClr val="CC3300"/>
                </a:solidFill>
              </a:rPr>
              <a:t>2</a:t>
            </a:r>
            <a:r>
              <a:rPr lang="en-US">
                <a:solidFill>
                  <a:srgbClr val="336633"/>
                </a:solidFill>
              </a:rPr>
              <a:t>           </a:t>
            </a:r>
            <a:r>
              <a:rPr lang="en-US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</a:p>
          <a:p>
            <a:pPr>
              <a:defRPr/>
            </a:pPr>
            <a:r>
              <a:rPr lang="en-US">
                <a:solidFill>
                  <a:srgbClr val="336633"/>
                </a:solidFill>
              </a:rPr>
              <a:t>                                                                </a:t>
            </a:r>
            <a:r>
              <a:rPr lang="en-US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r>
              <a:rPr lang="en-US">
                <a:solidFill>
                  <a:srgbClr val="336633"/>
                </a:solidFill>
              </a:rPr>
              <a:t>  </a:t>
            </a:r>
          </a:p>
          <a:p>
            <a:pPr>
              <a:defRPr/>
            </a:pPr>
            <a:endParaRPr lang="en-US">
              <a:solidFill>
                <a:srgbClr val="336633"/>
              </a:solidFill>
            </a:endParaRPr>
          </a:p>
          <a:p>
            <a:pPr>
              <a:defRPr/>
            </a:pPr>
            <a:r>
              <a:rPr lang="en-US">
                <a:solidFill>
                  <a:srgbClr val="336633"/>
                </a:solidFill>
              </a:rPr>
              <a:t>The number </a:t>
            </a:r>
            <a:r>
              <a:rPr lang="en-US">
                <a:solidFill>
                  <a:srgbClr val="CC3300"/>
                </a:solidFill>
              </a:rPr>
              <a:t>70</a:t>
            </a:r>
            <a:r>
              <a:rPr lang="en-US">
                <a:solidFill>
                  <a:srgbClr val="336633"/>
                </a:solidFill>
              </a:rPr>
              <a:t> base 10   =   </a:t>
            </a:r>
            <a:r>
              <a:rPr lang="en-US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240</a:t>
            </a:r>
            <a:r>
              <a:rPr lang="en-US">
                <a:solidFill>
                  <a:srgbClr val="336633"/>
                </a:solidFill>
              </a:rPr>
              <a:t> in base 5.</a:t>
            </a:r>
          </a:p>
          <a:p>
            <a:pPr>
              <a:defRPr/>
            </a:pPr>
            <a:r>
              <a:rPr lang="en-US">
                <a:latin typeface="Bookman Old Style" pitchFamily="18" charset="0"/>
              </a:rPr>
              <a:t>                                   </a:t>
            </a:r>
          </a:p>
        </p:txBody>
      </p:sp>
      <p:sp>
        <p:nvSpPr>
          <p:cNvPr id="2" name="WordArt 5">
            <a:extLst>
              <a:ext uri="{FF2B5EF4-FFF2-40B4-BE49-F238E27FC236}">
                <a16:creationId xmlns:a16="http://schemas.microsoft.com/office/drawing/2014/main" id="{7D726979-7A9F-45CC-958A-A1517A5A6EE1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09600" y="228600"/>
            <a:ext cx="76962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Base 10  to any base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Footer Placeholder 3">
            <a:extLst>
              <a:ext uri="{FF2B5EF4-FFF2-40B4-BE49-F238E27FC236}">
                <a16:creationId xmlns:a16="http://schemas.microsoft.com/office/drawing/2014/main" id="{46DE79AC-4EAD-4A09-B94D-1F3BC1C1AD6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 sz="800">
              <a:latin typeface="Times New Roman" panose="02020603050405020304" pitchFamily="18" charset="0"/>
            </a:endParaRPr>
          </a:p>
          <a:p>
            <a:endParaRPr lang="en-US" altLang="en-US" sz="800" b="0"/>
          </a:p>
          <a:p>
            <a:endParaRPr lang="en-US" altLang="en-US" sz="800"/>
          </a:p>
          <a:p>
            <a:r>
              <a:rPr lang="en-US" altLang="en-US" sz="800"/>
              <a:t>© A+ Computer Science  -  www.apluscompsci.com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A9F5DAC5-23B3-491C-B4E1-B14338892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905000"/>
            <a:ext cx="7235825" cy="2227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800"/>
              <a:t>1st  -  Convert the number you want</a:t>
            </a:r>
          </a:p>
          <a:p>
            <a:r>
              <a:rPr lang="en-US" altLang="en-US" sz="2800"/>
              <a:t>             to convert to Base 10.</a:t>
            </a:r>
          </a:p>
          <a:p>
            <a:endParaRPr lang="en-US" altLang="en-US" sz="2800"/>
          </a:p>
          <a:p>
            <a:r>
              <a:rPr lang="en-US" altLang="en-US" sz="2800"/>
              <a:t>2nd -  Convert the Base 10 result to the</a:t>
            </a:r>
          </a:p>
          <a:p>
            <a:r>
              <a:rPr lang="en-US" altLang="en-US" sz="2800"/>
              <a:t>                  new base you want.</a:t>
            </a:r>
          </a:p>
        </p:txBody>
      </p:sp>
      <p:sp>
        <p:nvSpPr>
          <p:cNvPr id="8196" name="WordArt 5">
            <a:extLst>
              <a:ext uri="{FF2B5EF4-FFF2-40B4-BE49-F238E27FC236}">
                <a16:creationId xmlns:a16="http://schemas.microsoft.com/office/drawing/2014/main" id="{22BAB4BF-D028-4807-8B05-9900324B493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09600" y="228600"/>
            <a:ext cx="76962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Any base to any base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Footer Placeholder 3">
            <a:extLst>
              <a:ext uri="{FF2B5EF4-FFF2-40B4-BE49-F238E27FC236}">
                <a16:creationId xmlns:a16="http://schemas.microsoft.com/office/drawing/2014/main" id="{ED61FB5D-5E8D-4FF3-B258-D3F29B70F66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 sz="800">
              <a:latin typeface="Times New Roman" panose="02020603050405020304" pitchFamily="18" charset="0"/>
            </a:endParaRPr>
          </a:p>
          <a:p>
            <a:endParaRPr lang="en-US" altLang="en-US" sz="800" b="0"/>
          </a:p>
          <a:p>
            <a:endParaRPr lang="en-US" altLang="en-US" sz="800"/>
          </a:p>
          <a:p>
            <a:r>
              <a:rPr lang="en-US" altLang="en-US" sz="800"/>
              <a:t>© A+ Computer Science  -  www.apluscompsci.com</a:t>
            </a:r>
          </a:p>
        </p:txBody>
      </p:sp>
      <p:sp>
        <p:nvSpPr>
          <p:cNvPr id="9219" name="WordArt 5">
            <a:extLst>
              <a:ext uri="{FF2B5EF4-FFF2-40B4-BE49-F238E27FC236}">
                <a16:creationId xmlns:a16="http://schemas.microsoft.com/office/drawing/2014/main" id="{B67F249B-E909-491A-A385-E4C129F0C0A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09600" y="228600"/>
            <a:ext cx="76962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binary - base 2</a:t>
            </a:r>
          </a:p>
        </p:txBody>
      </p:sp>
      <p:graphicFrame>
        <p:nvGraphicFramePr>
          <p:cNvPr id="9304" name="Group 88">
            <a:extLst>
              <a:ext uri="{FF2B5EF4-FFF2-40B4-BE49-F238E27FC236}">
                <a16:creationId xmlns:a16="http://schemas.microsoft.com/office/drawing/2014/main" id="{96FC827A-1978-4FAA-B550-D1CAC73D25D3}"/>
              </a:ext>
            </a:extLst>
          </p:cNvPr>
          <p:cNvGraphicFramePr>
            <a:graphicFrameLocks noGrp="1"/>
          </p:cNvGraphicFramePr>
          <p:nvPr/>
        </p:nvGraphicFramePr>
        <p:xfrm>
          <a:off x="1905000" y="1447800"/>
          <a:ext cx="5410200" cy="4578350"/>
        </p:xfrm>
        <a:graphic>
          <a:graphicData uri="http://schemas.openxmlformats.org/drawingml/2006/table">
            <a:tbl>
              <a:tblPr/>
              <a:tblGrid>
                <a:gridCol w="1630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4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6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45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45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663300"/>
                          </a:solidFill>
                          <a:effectLst/>
                          <a:latin typeface="Tahoma" pitchFamily="34" charset="0"/>
                        </a:rPr>
                        <a:t>Binary digits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ahoma" pitchFamily="34" charset="0"/>
                        </a:rPr>
                        <a:t>Base 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ahoma" pitchFamily="34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ahoma" pitchFamily="34" charset="0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ahoma" pitchFamily="34" charset="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ahoma" pitchFamily="34" charset="0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ooter Placeholder 3">
            <a:extLst>
              <a:ext uri="{FF2B5EF4-FFF2-40B4-BE49-F238E27FC236}">
                <a16:creationId xmlns:a16="http://schemas.microsoft.com/office/drawing/2014/main" id="{7D2220BC-BE58-4BFF-BD9B-417FF200DF8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 sz="800">
              <a:latin typeface="Times New Roman" panose="02020603050405020304" pitchFamily="18" charset="0"/>
            </a:endParaRPr>
          </a:p>
          <a:p>
            <a:endParaRPr lang="en-US" altLang="en-US" sz="800" b="0"/>
          </a:p>
          <a:p>
            <a:endParaRPr lang="en-US" altLang="en-US" sz="800"/>
          </a:p>
          <a:p>
            <a:r>
              <a:rPr lang="en-US" altLang="en-US" sz="800"/>
              <a:t>© A+ Computer Science  -  www.apluscompsci.com</a:t>
            </a: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055213AC-0C94-4CE2-931A-F1ADB72C8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905000"/>
            <a:ext cx="7874000" cy="2227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800"/>
              <a:t>There is a direct conversion from base 2</a:t>
            </a:r>
          </a:p>
          <a:p>
            <a:r>
              <a:rPr lang="en-US" altLang="en-US" sz="2800"/>
              <a:t>to base 8 &amp; base 16 without using base 10.</a:t>
            </a:r>
          </a:p>
          <a:p>
            <a:endParaRPr lang="en-US" altLang="en-US" sz="2800"/>
          </a:p>
          <a:p>
            <a:r>
              <a:rPr lang="en-US" altLang="en-US" sz="2800"/>
              <a:t>8 and 16 are powers of  2 so they convert</a:t>
            </a:r>
          </a:p>
          <a:p>
            <a:r>
              <a:rPr lang="en-US" altLang="en-US" sz="2800"/>
              <a:t>directly.</a:t>
            </a:r>
          </a:p>
        </p:txBody>
      </p:sp>
      <p:sp>
        <p:nvSpPr>
          <p:cNvPr id="10244" name="WordArt 3">
            <a:extLst>
              <a:ext uri="{FF2B5EF4-FFF2-40B4-BE49-F238E27FC236}">
                <a16:creationId xmlns:a16="http://schemas.microsoft.com/office/drawing/2014/main" id="{FC7D28A1-5A75-43D4-93B6-58D545A26F4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09600" y="228600"/>
            <a:ext cx="76962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base 2 to base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ooter Placeholder 3">
            <a:extLst>
              <a:ext uri="{FF2B5EF4-FFF2-40B4-BE49-F238E27FC236}">
                <a16:creationId xmlns:a16="http://schemas.microsoft.com/office/drawing/2014/main" id="{F814D682-B004-4002-9B76-4CC2FBAD39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 sz="800">
              <a:latin typeface="Times New Roman" panose="02020603050405020304" pitchFamily="18" charset="0"/>
            </a:endParaRPr>
          </a:p>
          <a:p>
            <a:endParaRPr lang="en-US" altLang="en-US" sz="800" b="0"/>
          </a:p>
          <a:p>
            <a:endParaRPr lang="en-US" altLang="en-US" sz="800"/>
          </a:p>
          <a:p>
            <a:r>
              <a:rPr lang="en-US" altLang="en-US" sz="800"/>
              <a:t>© A+ Computer Science  -  www.apluscompsci.com</a:t>
            </a: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5520253F-2912-46E1-96A2-354BCD134B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447800"/>
            <a:ext cx="7253288" cy="483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/>
              <a:t>Base 2 converts directly to base 16 as each </a:t>
            </a:r>
          </a:p>
          <a:p>
            <a:r>
              <a:rPr lang="en-US" altLang="en-US"/>
              <a:t>4 bit section of base 2 equals one base 16</a:t>
            </a:r>
          </a:p>
          <a:p>
            <a:r>
              <a:rPr lang="en-US" altLang="en-US"/>
              <a:t>digit.</a:t>
            </a:r>
          </a:p>
          <a:p>
            <a:endParaRPr lang="en-US" altLang="en-US"/>
          </a:p>
          <a:p>
            <a:r>
              <a:rPr lang="en-US" altLang="en-US"/>
              <a:t>1111 = 15   15 is maximum single digit for 16 </a:t>
            </a:r>
          </a:p>
          <a:p>
            <a:endParaRPr lang="en-US" altLang="en-US"/>
          </a:p>
          <a:p>
            <a:r>
              <a:rPr lang="en-US" altLang="en-US"/>
              <a:t>  </a:t>
            </a:r>
            <a:r>
              <a:rPr lang="en-US" altLang="en-US">
                <a:solidFill>
                  <a:srgbClr val="FF3300"/>
                </a:solidFill>
              </a:rPr>
              <a:t>10      11</a:t>
            </a:r>
          </a:p>
          <a:p>
            <a:r>
              <a:rPr lang="en-US" altLang="en-US"/>
              <a:t>1010 1011 = </a:t>
            </a:r>
            <a:r>
              <a:rPr lang="en-US" altLang="en-US">
                <a:solidFill>
                  <a:schemeClr val="accent2"/>
                </a:solidFill>
              </a:rPr>
              <a:t>AB</a:t>
            </a:r>
            <a:r>
              <a:rPr lang="en-US" altLang="en-US"/>
              <a:t> in base 16</a:t>
            </a:r>
          </a:p>
          <a:p>
            <a:endParaRPr lang="en-US" altLang="en-US"/>
          </a:p>
          <a:p>
            <a:r>
              <a:rPr lang="en-US" altLang="en-US"/>
              <a:t>   </a:t>
            </a:r>
            <a:r>
              <a:rPr lang="en-US" altLang="en-US">
                <a:solidFill>
                  <a:srgbClr val="FF3300"/>
                </a:solidFill>
              </a:rPr>
              <a:t>1         4      10</a:t>
            </a:r>
          </a:p>
          <a:p>
            <a:r>
              <a:rPr lang="en-US" altLang="en-US"/>
              <a:t>0001 0100 1010 = </a:t>
            </a:r>
            <a:r>
              <a:rPr lang="en-US" altLang="en-US">
                <a:solidFill>
                  <a:schemeClr val="accent2"/>
                </a:solidFill>
              </a:rPr>
              <a:t>14A</a:t>
            </a:r>
            <a:r>
              <a:rPr lang="en-US" altLang="en-US"/>
              <a:t> in base 16</a:t>
            </a:r>
          </a:p>
          <a:p>
            <a:endParaRPr lang="en-US" altLang="en-US"/>
          </a:p>
          <a:p>
            <a:endParaRPr lang="en-US" altLang="en-US">
              <a:latin typeface="Courier New" panose="02070309020205020404" pitchFamily="49" charset="0"/>
            </a:endParaRPr>
          </a:p>
        </p:txBody>
      </p:sp>
      <p:sp>
        <p:nvSpPr>
          <p:cNvPr id="11268" name="WordArt 5">
            <a:extLst>
              <a:ext uri="{FF2B5EF4-FFF2-40B4-BE49-F238E27FC236}">
                <a16:creationId xmlns:a16="http://schemas.microsoft.com/office/drawing/2014/main" id="{94DC1D38-33BB-46D1-B929-A86C967B1CD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09600" y="228600"/>
            <a:ext cx="76962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base 2 to base 16</a:t>
            </a:r>
          </a:p>
        </p:txBody>
      </p:sp>
      <p:sp>
        <p:nvSpPr>
          <p:cNvPr id="11269" name="Text Box 6">
            <a:extLst>
              <a:ext uri="{FF2B5EF4-FFF2-40B4-BE49-F238E27FC236}">
                <a16:creationId xmlns:a16="http://schemas.microsoft.com/office/drawing/2014/main" id="{97F769A6-4D94-4DF1-BB97-E6769FCA8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3581400"/>
            <a:ext cx="1219200" cy="2187575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3200" u="sng">
                <a:solidFill>
                  <a:srgbClr val="FF0000"/>
                </a:solidFill>
              </a:rPr>
              <a:t>HEX</a:t>
            </a:r>
          </a:p>
          <a:p>
            <a:pPr>
              <a:spcBef>
                <a:spcPct val="50000"/>
              </a:spcBef>
            </a:pPr>
            <a:r>
              <a:rPr lang="en-US" altLang="en-US" sz="1400"/>
              <a:t>A – 10</a:t>
            </a:r>
          </a:p>
          <a:p>
            <a:r>
              <a:rPr lang="en-US" altLang="en-US" sz="1400"/>
              <a:t>B – 11</a:t>
            </a:r>
          </a:p>
          <a:p>
            <a:r>
              <a:rPr lang="en-US" altLang="en-US" sz="1400"/>
              <a:t>C – 12</a:t>
            </a:r>
          </a:p>
          <a:p>
            <a:r>
              <a:rPr lang="en-US" altLang="en-US" sz="1400"/>
              <a:t>D – 13</a:t>
            </a:r>
          </a:p>
          <a:p>
            <a:r>
              <a:rPr lang="en-US" altLang="en-US" sz="1400"/>
              <a:t>E – 14</a:t>
            </a:r>
          </a:p>
          <a:p>
            <a:r>
              <a:rPr lang="en-US" altLang="en-US" sz="1400"/>
              <a:t>F – 15</a:t>
            </a:r>
          </a:p>
          <a:p>
            <a:endParaRPr lang="en-US" altLang="en-US"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ooter Placeholder 3">
            <a:extLst>
              <a:ext uri="{FF2B5EF4-FFF2-40B4-BE49-F238E27FC236}">
                <a16:creationId xmlns:a16="http://schemas.microsoft.com/office/drawing/2014/main" id="{BA8B07E2-26A6-422F-8876-6D35758A4BF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 sz="800">
              <a:latin typeface="Times New Roman" panose="02020603050405020304" pitchFamily="18" charset="0"/>
            </a:endParaRPr>
          </a:p>
          <a:p>
            <a:endParaRPr lang="en-US" altLang="en-US" sz="800" b="0"/>
          </a:p>
          <a:p>
            <a:endParaRPr lang="en-US" altLang="en-US" sz="800"/>
          </a:p>
          <a:p>
            <a:r>
              <a:rPr lang="en-US" altLang="en-US" sz="800"/>
              <a:t>© A+ Computer Science  -  www.apluscompsci.com</a:t>
            </a: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57E59A4A-360A-487F-870B-C4E2E9457A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600200"/>
            <a:ext cx="8413750" cy="545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/>
              <a:t>Base 2 converts directly to base 16 as each </a:t>
            </a:r>
          </a:p>
          <a:p>
            <a:r>
              <a:rPr lang="en-US" altLang="en-US"/>
              <a:t>3 bit section of base 2 equals one base 8</a:t>
            </a:r>
          </a:p>
          <a:p>
            <a:r>
              <a:rPr lang="en-US" altLang="en-US"/>
              <a:t>digit.</a:t>
            </a:r>
          </a:p>
          <a:p>
            <a:endParaRPr lang="en-US" altLang="en-US" sz="2800"/>
          </a:p>
          <a:p>
            <a:r>
              <a:rPr lang="en-US" altLang="en-US"/>
              <a:t>111 = 7   7 is maximum single digit for base 8</a:t>
            </a:r>
            <a:r>
              <a:rPr lang="en-US" altLang="en-US" sz="2800"/>
              <a:t>		</a:t>
            </a:r>
          </a:p>
          <a:p>
            <a:endParaRPr lang="en-US" altLang="en-US" sz="2800"/>
          </a:p>
          <a:p>
            <a:r>
              <a:rPr lang="en-US" altLang="en-US">
                <a:solidFill>
                  <a:srgbClr val="FF3300"/>
                </a:solidFill>
              </a:rPr>
              <a:t>  5      3</a:t>
            </a:r>
          </a:p>
          <a:p>
            <a:r>
              <a:rPr lang="en-US" altLang="en-US"/>
              <a:t>101 011 = </a:t>
            </a:r>
            <a:r>
              <a:rPr lang="en-US" altLang="en-US">
                <a:solidFill>
                  <a:schemeClr val="accent2"/>
                </a:solidFill>
              </a:rPr>
              <a:t>53</a:t>
            </a:r>
            <a:r>
              <a:rPr lang="en-US" altLang="en-US"/>
              <a:t> in base 8</a:t>
            </a:r>
          </a:p>
          <a:p>
            <a:endParaRPr lang="en-US" altLang="en-US"/>
          </a:p>
          <a:p>
            <a:r>
              <a:rPr lang="en-US" altLang="en-US"/>
              <a:t>   </a:t>
            </a:r>
            <a:r>
              <a:rPr lang="en-US" altLang="en-US">
                <a:solidFill>
                  <a:srgbClr val="FF3300"/>
                </a:solidFill>
              </a:rPr>
              <a:t>1     2     7     </a:t>
            </a:r>
          </a:p>
          <a:p>
            <a:r>
              <a:rPr lang="en-US" altLang="en-US"/>
              <a:t>001 010 111 = </a:t>
            </a:r>
            <a:r>
              <a:rPr lang="en-US" altLang="en-US">
                <a:solidFill>
                  <a:schemeClr val="accent2"/>
                </a:solidFill>
              </a:rPr>
              <a:t>127</a:t>
            </a:r>
            <a:r>
              <a:rPr lang="en-US" altLang="en-US"/>
              <a:t> in base 8</a:t>
            </a:r>
          </a:p>
          <a:p>
            <a:endParaRPr lang="en-US" altLang="en-US"/>
          </a:p>
          <a:p>
            <a:r>
              <a:rPr lang="en-US" altLang="en-US" sz="2800"/>
              <a:t>     </a:t>
            </a:r>
          </a:p>
          <a:p>
            <a:endParaRPr lang="en-US" altLang="en-US">
              <a:latin typeface="Courier New" panose="02070309020205020404" pitchFamily="49" charset="0"/>
            </a:endParaRPr>
          </a:p>
        </p:txBody>
      </p:sp>
      <p:sp>
        <p:nvSpPr>
          <p:cNvPr id="12292" name="WordArt 4" descr="Narrow vertical">
            <a:extLst>
              <a:ext uri="{FF2B5EF4-FFF2-40B4-BE49-F238E27FC236}">
                <a16:creationId xmlns:a16="http://schemas.microsoft.com/office/drawing/2014/main" id="{89CBEEB5-7EA4-4BBB-B113-CA62649E91B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086600" y="3657600"/>
            <a:ext cx="1524000" cy="2209800"/>
          </a:xfrm>
          <a:prstGeom prst="rect">
            <a:avLst/>
          </a:prstGeom>
        </p:spPr>
        <p:txBody>
          <a:bodyPr wrap="none" fromWordArt="1">
            <a:prstTxWarp prst="textCurveUp">
              <a:avLst>
                <a:gd name="adj" fmla="val 40356"/>
              </a:avLst>
            </a:prstTxWarp>
          </a:bodyPr>
          <a:lstStyle/>
          <a:p>
            <a:pPr algn="ctr"/>
            <a:r>
              <a:rPr lang="en-US" sz="3600" kern="10"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pattFill prst="dashHorz">
                  <a:fgClr>
                    <a:srgbClr val="808080"/>
                  </a:fgClr>
                  <a:bgClr>
                    <a:srgbClr val="FFFF00"/>
                  </a:bgClr>
                </a:pattFill>
                <a:effectLst>
                  <a:outerShdw dist="45791" dir="2021404" algn="ctr" rotWithShape="0">
                    <a:srgbClr val="808080"/>
                  </a:outerShdw>
                </a:effectLst>
                <a:latin typeface="Arial Black" panose="020B0A04020102020204" pitchFamily="34" charset="0"/>
              </a:rPr>
              <a:t>8</a:t>
            </a:r>
          </a:p>
        </p:txBody>
      </p:sp>
      <p:sp>
        <p:nvSpPr>
          <p:cNvPr id="12293" name="WordArt 5">
            <a:extLst>
              <a:ext uri="{FF2B5EF4-FFF2-40B4-BE49-F238E27FC236}">
                <a16:creationId xmlns:a16="http://schemas.microsoft.com/office/drawing/2014/main" id="{1A5550B5-332C-4703-9EB3-1067A6AAB60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09600" y="228600"/>
            <a:ext cx="76962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base 2 to base 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oter Placeholder 3">
            <a:extLst>
              <a:ext uri="{FF2B5EF4-FFF2-40B4-BE49-F238E27FC236}">
                <a16:creationId xmlns:a16="http://schemas.microsoft.com/office/drawing/2014/main" id="{FC36334A-FFDA-4853-BF3D-B17FC5648A4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 sz="800">
              <a:latin typeface="Times New Roman" panose="02020603050405020304" pitchFamily="18" charset="0"/>
            </a:endParaRPr>
          </a:p>
          <a:p>
            <a:endParaRPr lang="en-US" altLang="en-US" sz="800" b="0"/>
          </a:p>
          <a:p>
            <a:endParaRPr lang="en-US" altLang="en-US" sz="800"/>
          </a:p>
          <a:p>
            <a:r>
              <a:rPr lang="en-US" altLang="en-US" sz="800"/>
              <a:t>© A+ Computer Science  -  www.apluscompsci.com</a:t>
            </a:r>
          </a:p>
        </p:txBody>
      </p:sp>
      <p:sp>
        <p:nvSpPr>
          <p:cNvPr id="13315" name="WordArt 4">
            <a:extLst>
              <a:ext uri="{FF2B5EF4-FFF2-40B4-BE49-F238E27FC236}">
                <a16:creationId xmlns:a16="http://schemas.microsoft.com/office/drawing/2014/main" id="{C260A38F-4DAF-4067-B135-A37E8B5078FA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09600" y="228600"/>
            <a:ext cx="76962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java base conversion</a:t>
            </a:r>
          </a:p>
        </p:txBody>
      </p:sp>
      <p:sp>
        <p:nvSpPr>
          <p:cNvPr id="13316" name="Text Box 5">
            <a:extLst>
              <a:ext uri="{FF2B5EF4-FFF2-40B4-BE49-F238E27FC236}">
                <a16:creationId xmlns:a16="http://schemas.microsoft.com/office/drawing/2014/main" id="{DB7C2D94-B1CE-48D3-AEDD-D77D56CF72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905000"/>
            <a:ext cx="8534400" cy="3441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200"/>
              <a:t>int base10 = Integer.parseInt("324",6);</a:t>
            </a:r>
          </a:p>
          <a:p>
            <a:r>
              <a:rPr lang="en-US" altLang="en-US" sz="2200"/>
              <a:t>out.print("324 base 6 == ");</a:t>
            </a:r>
          </a:p>
          <a:p>
            <a:r>
              <a:rPr lang="en-US" altLang="en-US" sz="2200"/>
              <a:t>out.println(base10 + " base10");</a:t>
            </a:r>
          </a:p>
          <a:p>
            <a:endParaRPr lang="en-US" altLang="en-US" sz="2200"/>
          </a:p>
          <a:p>
            <a:r>
              <a:rPr lang="en-US" altLang="en-US" sz="2200"/>
              <a:t>out.print("124 base10 == "); out.println(Integer.toString(base10,16)+" base16\n\n");</a:t>
            </a:r>
          </a:p>
          <a:p>
            <a:endParaRPr lang="en-US" altLang="en-US" sz="2200"/>
          </a:p>
          <a:p>
            <a:r>
              <a:rPr lang="en-US" altLang="en-US" sz="2200"/>
              <a:t>out.println(Integer.toBinaryString(90));</a:t>
            </a:r>
          </a:p>
          <a:p>
            <a:r>
              <a:rPr lang="en-US" altLang="en-US" sz="2200"/>
              <a:t>out.println(Integer.toOctalString(90));</a:t>
            </a:r>
          </a:p>
          <a:p>
            <a:r>
              <a:rPr lang="en-US" altLang="en-US" sz="2200"/>
              <a:t>out.println(Integer.toHexString(90).toUpperCase());</a:t>
            </a:r>
          </a:p>
        </p:txBody>
      </p:sp>
      <p:sp>
        <p:nvSpPr>
          <p:cNvPr id="13317" name="Text Box 6">
            <a:extLst>
              <a:ext uri="{FF2B5EF4-FFF2-40B4-BE49-F238E27FC236}">
                <a16:creationId xmlns:a16="http://schemas.microsoft.com/office/drawing/2014/main" id="{9AC34C7D-C0F1-44B5-8B3A-971C9D8057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1371600"/>
            <a:ext cx="2743200" cy="2081213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3200" u="sng">
                <a:solidFill>
                  <a:srgbClr val="FF0000"/>
                </a:solidFill>
              </a:rPr>
              <a:t>OUTPUT</a:t>
            </a:r>
          </a:p>
          <a:p>
            <a:r>
              <a:rPr lang="en-US" altLang="en-US" sz="1400"/>
              <a:t>324 base 6 == 124 base10</a:t>
            </a:r>
          </a:p>
          <a:p>
            <a:r>
              <a:rPr lang="en-US" altLang="en-US" sz="1400"/>
              <a:t>124 base10 == 7c base16</a:t>
            </a:r>
          </a:p>
          <a:p>
            <a:endParaRPr lang="en-US" altLang="en-US" sz="1400"/>
          </a:p>
          <a:p>
            <a:endParaRPr lang="en-US" altLang="en-US" sz="1400"/>
          </a:p>
          <a:p>
            <a:r>
              <a:rPr lang="en-US" altLang="en-US" sz="1400"/>
              <a:t>1011010</a:t>
            </a:r>
          </a:p>
          <a:p>
            <a:r>
              <a:rPr lang="en-US" altLang="en-US" sz="1400"/>
              <a:t>132</a:t>
            </a:r>
          </a:p>
          <a:p>
            <a:r>
              <a:rPr lang="en-US" altLang="en-US" sz="1400"/>
              <a:t>5A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3">
            <a:extLst>
              <a:ext uri="{FF2B5EF4-FFF2-40B4-BE49-F238E27FC236}">
                <a16:creationId xmlns:a16="http://schemas.microsoft.com/office/drawing/2014/main" id="{5D9D1BB1-EB76-4501-A83E-299624A94E3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 sz="800">
              <a:latin typeface="Times New Roman" panose="02020603050405020304" pitchFamily="18" charset="0"/>
            </a:endParaRPr>
          </a:p>
          <a:p>
            <a:endParaRPr lang="en-US" altLang="en-US" sz="800" b="0"/>
          </a:p>
          <a:p>
            <a:endParaRPr lang="en-US" altLang="en-US" sz="800"/>
          </a:p>
          <a:p>
            <a:r>
              <a:rPr lang="en-US" altLang="en-US" sz="800"/>
              <a:t>© A+ Computer Science  -  www.apluscompsci.com</a:t>
            </a:r>
          </a:p>
        </p:txBody>
      </p:sp>
      <p:sp>
        <p:nvSpPr>
          <p:cNvPr id="14339" name="WordArt 3">
            <a:extLst>
              <a:ext uri="{FF2B5EF4-FFF2-40B4-BE49-F238E27FC236}">
                <a16:creationId xmlns:a16="http://schemas.microsoft.com/office/drawing/2014/main" id="{A07CCD53-A3D4-497F-89A2-113B00E9561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09600" y="2362200"/>
            <a:ext cx="7467600" cy="2743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Open 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   javabase.java</a:t>
            </a:r>
          </a:p>
        </p:txBody>
      </p:sp>
      <p:sp>
        <p:nvSpPr>
          <p:cNvPr id="14340" name="WordArt 4">
            <a:extLst>
              <a:ext uri="{FF2B5EF4-FFF2-40B4-BE49-F238E27FC236}">
                <a16:creationId xmlns:a16="http://schemas.microsoft.com/office/drawing/2014/main" id="{735A7074-2A0E-437C-841B-23D33546B30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09600" y="228600"/>
            <a:ext cx="76962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java base conversion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ooter Placeholder 3">
            <a:extLst>
              <a:ext uri="{FF2B5EF4-FFF2-40B4-BE49-F238E27FC236}">
                <a16:creationId xmlns:a16="http://schemas.microsoft.com/office/drawing/2014/main" id="{BA80C7EE-FCAE-47DA-B730-B31F6316D30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 sz="800">
              <a:latin typeface="Times New Roman" panose="02020603050405020304" pitchFamily="18" charset="0"/>
            </a:endParaRPr>
          </a:p>
          <a:p>
            <a:endParaRPr lang="en-US" altLang="en-US" sz="800" b="0"/>
          </a:p>
          <a:p>
            <a:endParaRPr lang="en-US" altLang="en-US" sz="800"/>
          </a:p>
          <a:p>
            <a:r>
              <a:rPr lang="en-US" altLang="en-US" sz="800"/>
              <a:t>© A+ Computer Science  -  www.apluscompsci.com</a:t>
            </a:r>
          </a:p>
        </p:txBody>
      </p:sp>
      <p:sp>
        <p:nvSpPr>
          <p:cNvPr id="15363" name="WordArt 2">
            <a:extLst>
              <a:ext uri="{FF2B5EF4-FFF2-40B4-BE49-F238E27FC236}">
                <a16:creationId xmlns:a16="http://schemas.microsoft.com/office/drawing/2014/main" id="{62E3A2FB-65AD-48E1-8E64-729361EB325D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90600" y="1295400"/>
            <a:ext cx="6934200" cy="3657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Adding and Subtracting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in any Base!!!!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3">
            <a:extLst>
              <a:ext uri="{FF2B5EF4-FFF2-40B4-BE49-F238E27FC236}">
                <a16:creationId xmlns:a16="http://schemas.microsoft.com/office/drawing/2014/main" id="{D8ECE898-4700-4A38-AC37-ECB4952209C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 sz="800">
              <a:latin typeface="Times New Roman" panose="02020603050405020304" pitchFamily="18" charset="0"/>
            </a:endParaRPr>
          </a:p>
          <a:p>
            <a:endParaRPr lang="en-US" altLang="en-US" sz="800" b="0"/>
          </a:p>
          <a:p>
            <a:endParaRPr lang="en-US" altLang="en-US" sz="800"/>
          </a:p>
          <a:p>
            <a:r>
              <a:rPr lang="en-US" altLang="en-US" sz="800"/>
              <a:t>© A+ Computer Science  -  www.apluscompsci.com</a:t>
            </a:r>
          </a:p>
        </p:txBody>
      </p:sp>
      <p:graphicFrame>
        <p:nvGraphicFramePr>
          <p:cNvPr id="16387" name="Object 3">
            <a:extLst>
              <a:ext uri="{FF2B5EF4-FFF2-40B4-BE49-F238E27FC236}">
                <a16:creationId xmlns:a16="http://schemas.microsoft.com/office/drawing/2014/main" id="{04E4D459-E5C8-4CDF-BBAD-39F0F2F9FA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05400" y="3810000"/>
          <a:ext cx="2438400" cy="194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2" name="Clip" r:id="rId4" imgW="3709988" imgH="2963863" progId="MS_ClipArt_Gallery.2">
                  <p:embed/>
                </p:oleObj>
              </mc:Choice>
              <mc:Fallback>
                <p:oleObj name="Clip" r:id="rId4" imgW="3709988" imgH="2963863" progId="MS_ClipArt_Gallery.2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3810000"/>
                        <a:ext cx="2438400" cy="1947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8" name="WordArt 5">
            <a:extLst>
              <a:ext uri="{FF2B5EF4-FFF2-40B4-BE49-F238E27FC236}">
                <a16:creationId xmlns:a16="http://schemas.microsoft.com/office/drawing/2014/main" id="{330672E4-565B-47ED-8C02-0C48325AE60D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143000" y="304800"/>
            <a:ext cx="6934200" cy="1066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Adding and Subtracting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in any Base!!!!</a:t>
            </a:r>
          </a:p>
        </p:txBody>
      </p:sp>
      <p:sp>
        <p:nvSpPr>
          <p:cNvPr id="16389" name="Text Box 6">
            <a:extLst>
              <a:ext uri="{FF2B5EF4-FFF2-40B4-BE49-F238E27FC236}">
                <a16:creationId xmlns:a16="http://schemas.microsoft.com/office/drawing/2014/main" id="{AE437FCB-712E-4B8A-946C-612D8478D1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057400"/>
            <a:ext cx="3200400" cy="1200150"/>
          </a:xfrm>
          <a:prstGeom prst="rect">
            <a:avLst/>
          </a:prstGeom>
          <a:noFill/>
          <a:ln w="12700">
            <a:solidFill>
              <a:schemeClr val="accent2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tabLst>
                <a:tab pos="1600200" algn="l"/>
              </a:tabLs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tabLst>
                <a:tab pos="1600200" algn="l"/>
              </a:tabLs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tabLst>
                <a:tab pos="1600200" algn="l"/>
              </a:tabLs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tabLst>
                <a:tab pos="1600200" algn="l"/>
              </a:tabLs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tabLst>
                <a:tab pos="1600200" algn="l"/>
              </a:tabLs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600200" algn="l"/>
              </a:tabLs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600200" algn="l"/>
              </a:tabLs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600200" algn="l"/>
              </a:tabLs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600200" algn="l"/>
              </a:tabLs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accent2"/>
                </a:solidFill>
              </a:rPr>
              <a:t>      145</a:t>
            </a:r>
          </a:p>
          <a:p>
            <a:r>
              <a:rPr lang="en-US" altLang="en-US" u="sng">
                <a:solidFill>
                  <a:schemeClr val="accent2"/>
                </a:solidFill>
              </a:rPr>
              <a:t>+   345</a:t>
            </a:r>
            <a:r>
              <a:rPr lang="en-US" altLang="en-US">
                <a:solidFill>
                  <a:schemeClr val="accent2"/>
                </a:solidFill>
              </a:rPr>
              <a:t>    	base  8</a:t>
            </a:r>
          </a:p>
          <a:p>
            <a:r>
              <a:rPr lang="en-US" altLang="en-US">
                <a:solidFill>
                  <a:schemeClr val="accent2"/>
                </a:solidFill>
              </a:rPr>
              <a:t>      512    	base  8</a:t>
            </a:r>
          </a:p>
        </p:txBody>
      </p:sp>
      <p:sp>
        <p:nvSpPr>
          <p:cNvPr id="16390" name="Text Box 7">
            <a:extLst>
              <a:ext uri="{FF2B5EF4-FFF2-40B4-BE49-F238E27FC236}">
                <a16:creationId xmlns:a16="http://schemas.microsoft.com/office/drawing/2014/main" id="{7B5FA4AC-3F86-46CD-903E-31AF048670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2057400"/>
            <a:ext cx="3200400" cy="1200150"/>
          </a:xfrm>
          <a:prstGeom prst="rect">
            <a:avLst/>
          </a:prstGeom>
          <a:noFill/>
          <a:ln w="12700">
            <a:solidFill>
              <a:schemeClr val="accent2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tabLst>
                <a:tab pos="1600200" algn="l"/>
              </a:tabLs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tabLst>
                <a:tab pos="1600200" algn="l"/>
              </a:tabLs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tabLst>
                <a:tab pos="1600200" algn="l"/>
              </a:tabLs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tabLst>
                <a:tab pos="1600200" algn="l"/>
              </a:tabLs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tabLst>
                <a:tab pos="1600200" algn="l"/>
              </a:tabLs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600200" algn="l"/>
              </a:tabLs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600200" algn="l"/>
              </a:tabLs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600200" algn="l"/>
              </a:tabLs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600200" algn="l"/>
              </a:tabLs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accent2"/>
                </a:solidFill>
              </a:rPr>
              <a:t>      149</a:t>
            </a:r>
          </a:p>
          <a:p>
            <a:r>
              <a:rPr lang="en-US" altLang="en-US" u="sng">
                <a:solidFill>
                  <a:schemeClr val="accent2"/>
                </a:solidFill>
              </a:rPr>
              <a:t>+   345</a:t>
            </a:r>
            <a:r>
              <a:rPr lang="en-US" altLang="en-US">
                <a:solidFill>
                  <a:schemeClr val="accent2"/>
                </a:solidFill>
              </a:rPr>
              <a:t>   	base  12</a:t>
            </a:r>
          </a:p>
          <a:p>
            <a:r>
              <a:rPr lang="en-US" altLang="en-US">
                <a:solidFill>
                  <a:schemeClr val="accent2"/>
                </a:solidFill>
              </a:rPr>
              <a:t>      492   	base  12</a:t>
            </a:r>
          </a:p>
        </p:txBody>
      </p:sp>
      <p:sp>
        <p:nvSpPr>
          <p:cNvPr id="16391" name="Text Box 8">
            <a:extLst>
              <a:ext uri="{FF2B5EF4-FFF2-40B4-BE49-F238E27FC236}">
                <a16:creationId xmlns:a16="http://schemas.microsoft.com/office/drawing/2014/main" id="{C4AF651B-9E77-4283-9CF8-E0A91A7CC9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114800"/>
            <a:ext cx="3200400" cy="1200150"/>
          </a:xfrm>
          <a:prstGeom prst="rect">
            <a:avLst/>
          </a:prstGeom>
          <a:noFill/>
          <a:ln w="12700">
            <a:solidFill>
              <a:schemeClr val="accent2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tabLst>
                <a:tab pos="1600200" algn="l"/>
              </a:tabLs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tabLst>
                <a:tab pos="1600200" algn="l"/>
              </a:tabLs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tabLst>
                <a:tab pos="1600200" algn="l"/>
              </a:tabLs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tabLst>
                <a:tab pos="1600200" algn="l"/>
              </a:tabLs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tabLst>
                <a:tab pos="1600200" algn="l"/>
              </a:tabLs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600200" algn="l"/>
              </a:tabLs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600200" algn="l"/>
              </a:tabLs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600200" algn="l"/>
              </a:tabLs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600200" algn="l"/>
              </a:tabLs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accent2"/>
                </a:solidFill>
              </a:rPr>
              <a:t>      427</a:t>
            </a:r>
          </a:p>
          <a:p>
            <a:pPr>
              <a:buFontTx/>
              <a:buChar char="-"/>
            </a:pPr>
            <a:r>
              <a:rPr lang="en-US" altLang="en-US" u="sng">
                <a:solidFill>
                  <a:schemeClr val="accent2"/>
                </a:solidFill>
              </a:rPr>
              <a:t>     345</a:t>
            </a:r>
            <a:r>
              <a:rPr lang="en-US" altLang="en-US">
                <a:solidFill>
                  <a:schemeClr val="accent2"/>
                </a:solidFill>
              </a:rPr>
              <a:t>    	base  9</a:t>
            </a:r>
          </a:p>
          <a:p>
            <a:r>
              <a:rPr lang="en-US" altLang="en-US">
                <a:solidFill>
                  <a:schemeClr val="accent2"/>
                </a:solidFill>
              </a:rPr>
              <a:t>        72    	base  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3">
            <a:extLst>
              <a:ext uri="{FF2B5EF4-FFF2-40B4-BE49-F238E27FC236}">
                <a16:creationId xmlns:a16="http://schemas.microsoft.com/office/drawing/2014/main" id="{676EC5CF-560D-47A3-8354-6C94CB7284D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 sz="800">
              <a:latin typeface="Times New Roman" panose="02020603050405020304" pitchFamily="18" charset="0"/>
            </a:endParaRPr>
          </a:p>
          <a:p>
            <a:endParaRPr lang="en-US" altLang="en-US" sz="800" b="0"/>
          </a:p>
          <a:p>
            <a:endParaRPr lang="en-US" altLang="en-US" sz="800"/>
          </a:p>
          <a:p>
            <a:r>
              <a:rPr lang="en-US" altLang="en-US" sz="800"/>
              <a:t>© A+ Computer Science  -  www.apluscompsci.com</a:t>
            </a:r>
          </a:p>
        </p:txBody>
      </p:sp>
      <p:sp>
        <p:nvSpPr>
          <p:cNvPr id="17411" name="WordArt 2">
            <a:extLst>
              <a:ext uri="{FF2B5EF4-FFF2-40B4-BE49-F238E27FC236}">
                <a16:creationId xmlns:a16="http://schemas.microsoft.com/office/drawing/2014/main" id="{60A4502A-BD26-41A8-A5DC-25AEE8C4CFA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066800" y="609600"/>
            <a:ext cx="6324600" cy="914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Binary Operators</a:t>
            </a:r>
          </a:p>
        </p:txBody>
      </p:sp>
      <p:sp>
        <p:nvSpPr>
          <p:cNvPr id="17412" name="WordArt 3">
            <a:extLst>
              <a:ext uri="{FF2B5EF4-FFF2-40B4-BE49-F238E27FC236}">
                <a16:creationId xmlns:a16="http://schemas.microsoft.com/office/drawing/2014/main" id="{AA83D892-E975-4D56-8F47-0D48B76E831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514600" y="1905000"/>
            <a:ext cx="4133850" cy="5715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AKA Bitwise Operators</a:t>
            </a:r>
          </a:p>
        </p:txBody>
      </p:sp>
      <p:sp>
        <p:nvSpPr>
          <p:cNvPr id="17413" name="Text Box 4">
            <a:extLst>
              <a:ext uri="{FF2B5EF4-FFF2-40B4-BE49-F238E27FC236}">
                <a16:creationId xmlns:a16="http://schemas.microsoft.com/office/drawing/2014/main" id="{346A99EA-D086-4C57-917E-E6089A3E48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3124200"/>
            <a:ext cx="48387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3600"/>
              <a:t>&amp;     |    ^   &lt;&lt;    &gt;&gt;</a:t>
            </a:r>
            <a:endParaRPr lang="en-US" altLang="en-US"/>
          </a:p>
        </p:txBody>
      </p:sp>
      <p:sp>
        <p:nvSpPr>
          <p:cNvPr id="17414" name="Text Box 6">
            <a:extLst>
              <a:ext uri="{FF2B5EF4-FFF2-40B4-BE49-F238E27FC236}">
                <a16:creationId xmlns:a16="http://schemas.microsoft.com/office/drawing/2014/main" id="{780CDD2F-D912-492D-950A-FCD8505BCB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800600"/>
            <a:ext cx="70675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/>
              <a:t>These operators manipulate the binary digits</a:t>
            </a:r>
          </a:p>
          <a:p>
            <a:r>
              <a:rPr lang="en-US" altLang="en-US"/>
              <a:t>of variables.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3">
            <a:extLst>
              <a:ext uri="{FF2B5EF4-FFF2-40B4-BE49-F238E27FC236}">
                <a16:creationId xmlns:a16="http://schemas.microsoft.com/office/drawing/2014/main" id="{F07FC4D9-BE60-455C-A608-13736E70F20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 sz="800">
              <a:latin typeface="Times New Roman" panose="02020603050405020304" pitchFamily="18" charset="0"/>
            </a:endParaRPr>
          </a:p>
          <a:p>
            <a:endParaRPr lang="en-US" altLang="en-US" sz="800" b="0"/>
          </a:p>
          <a:p>
            <a:endParaRPr lang="en-US" altLang="en-US" sz="800"/>
          </a:p>
          <a:p>
            <a:r>
              <a:rPr lang="en-US" altLang="en-US" sz="800"/>
              <a:t>© A+ Computer Science  -  www.apluscompsci.com</a:t>
            </a:r>
          </a:p>
        </p:txBody>
      </p:sp>
      <p:sp>
        <p:nvSpPr>
          <p:cNvPr id="18435" name="WordArt 2">
            <a:extLst>
              <a:ext uri="{FF2B5EF4-FFF2-40B4-BE49-F238E27FC236}">
                <a16:creationId xmlns:a16="http://schemas.microsoft.com/office/drawing/2014/main" id="{27CC4314-8E36-480F-A048-CF367270D4FA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62000" y="381000"/>
            <a:ext cx="74676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12700">
                  <a:solidFill>
                    <a:srgbClr val="EAEAEA"/>
                  </a:solidFill>
                  <a:round/>
                  <a:headEnd type="none" w="sm" len="sm"/>
                  <a:tailEnd type="none" w="sm" len="sm"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/>
                  </a:outerShdw>
                </a:effectLst>
                <a:latin typeface="Arial Black" panose="020B0A04020102020204" pitchFamily="34" charset="0"/>
              </a:rPr>
              <a:t>Operator Precedence</a:t>
            </a:r>
          </a:p>
        </p:txBody>
      </p:sp>
      <p:graphicFrame>
        <p:nvGraphicFramePr>
          <p:cNvPr id="90115" name="Group 3">
            <a:extLst>
              <a:ext uri="{FF2B5EF4-FFF2-40B4-BE49-F238E27FC236}">
                <a16:creationId xmlns:a16="http://schemas.microsoft.com/office/drawing/2014/main" id="{47947311-F1E0-4A1C-9190-B475A100D970}"/>
              </a:ext>
            </a:extLst>
          </p:cNvPr>
          <p:cNvGraphicFramePr>
            <a:graphicFrameLocks noGrp="1"/>
          </p:cNvGraphicFramePr>
          <p:nvPr/>
        </p:nvGraphicFramePr>
        <p:xfrm>
          <a:off x="1905000" y="1447800"/>
          <a:ext cx="4876800" cy="4694238"/>
        </p:xfrm>
        <a:graphic>
          <a:graphicData uri="http://schemas.openxmlformats.org/drawingml/2006/table">
            <a:tbl>
              <a:tblPr/>
              <a:tblGrid>
                <a:gridCol w="3805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1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0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()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HIGH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0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!   ++   --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0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*   /   %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0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+   -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0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&lt;&lt;   &gt;&gt;  (bitwise shifts)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0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&lt;   &lt;=   &gt;   &gt;=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0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==   !=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0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&amp; (bitwise and )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0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^ (bitwise xor )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30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|  (bitwise or )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30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&amp;&amp;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30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||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30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=   +=   -=   *=   /=   %=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530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,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LOW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8483" name="Line 50">
            <a:extLst>
              <a:ext uri="{FF2B5EF4-FFF2-40B4-BE49-F238E27FC236}">
                <a16:creationId xmlns:a16="http://schemas.microsoft.com/office/drawing/2014/main" id="{4B9E21F8-CCE1-4A50-9ED5-C7DAC9688B05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2200" y="1981200"/>
            <a:ext cx="0" cy="365760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3">
            <a:extLst>
              <a:ext uri="{FF2B5EF4-FFF2-40B4-BE49-F238E27FC236}">
                <a16:creationId xmlns:a16="http://schemas.microsoft.com/office/drawing/2014/main" id="{439BD9F0-00E2-4B91-92D9-46627402220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 sz="800">
              <a:latin typeface="Times New Roman" panose="02020603050405020304" pitchFamily="18" charset="0"/>
            </a:endParaRPr>
          </a:p>
          <a:p>
            <a:endParaRPr lang="en-US" altLang="en-US" sz="800" b="0"/>
          </a:p>
          <a:p>
            <a:endParaRPr lang="en-US" altLang="en-US" sz="800"/>
          </a:p>
          <a:p>
            <a:r>
              <a:rPr lang="en-US" altLang="en-US" sz="800"/>
              <a:t>© A+ Computer Science  -  www.apluscompsci.com</a:t>
            </a:r>
          </a:p>
        </p:txBody>
      </p:sp>
      <p:sp>
        <p:nvSpPr>
          <p:cNvPr id="19459" name="WordArt 2">
            <a:extLst>
              <a:ext uri="{FF2B5EF4-FFF2-40B4-BE49-F238E27FC236}">
                <a16:creationId xmlns:a16="http://schemas.microsoft.com/office/drawing/2014/main" id="{2744A224-A942-4739-9478-BA8440A62D5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533400"/>
            <a:ext cx="7239000" cy="914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Bitwise AND &amp;</a:t>
            </a:r>
          </a:p>
        </p:txBody>
      </p:sp>
      <p:sp>
        <p:nvSpPr>
          <p:cNvPr id="19460" name="Text Box 3">
            <a:extLst>
              <a:ext uri="{FF2B5EF4-FFF2-40B4-BE49-F238E27FC236}">
                <a16:creationId xmlns:a16="http://schemas.microsoft.com/office/drawing/2014/main" id="{078DAF8B-AC93-4A1F-9D1B-D89FEEFB6C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905000"/>
            <a:ext cx="8115300" cy="304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 sz="3200"/>
          </a:p>
          <a:p>
            <a:r>
              <a:rPr lang="en-US" altLang="en-US" sz="3200"/>
              <a:t>int one=9;    </a:t>
            </a:r>
            <a:endParaRPr lang="en-US" altLang="en-US" sz="2000">
              <a:solidFill>
                <a:srgbClr val="669900"/>
              </a:solidFill>
            </a:endParaRPr>
          </a:p>
          <a:p>
            <a:r>
              <a:rPr lang="en-US" altLang="en-US" sz="3200"/>
              <a:t>int two=7;    </a:t>
            </a:r>
          </a:p>
          <a:p>
            <a:endParaRPr lang="en-US" altLang="en-US" sz="3200"/>
          </a:p>
          <a:p>
            <a:r>
              <a:rPr lang="en-US" altLang="en-US" sz="3200"/>
              <a:t>out.println(“9 &amp; 7 == " + (one&amp;two));</a:t>
            </a:r>
          </a:p>
          <a:p>
            <a:endParaRPr lang="en-US" altLang="en-US" sz="3200"/>
          </a:p>
        </p:txBody>
      </p:sp>
      <p:sp>
        <p:nvSpPr>
          <p:cNvPr id="19461" name="Text Box 4">
            <a:extLst>
              <a:ext uri="{FF2B5EF4-FFF2-40B4-BE49-F238E27FC236}">
                <a16:creationId xmlns:a16="http://schemas.microsoft.com/office/drawing/2014/main" id="{32E39893-376B-411F-878D-D152C0DFBA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4724400"/>
            <a:ext cx="2514600" cy="1660525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3200" u="sng">
                <a:solidFill>
                  <a:srgbClr val="FF0000"/>
                </a:solidFill>
              </a:rPr>
              <a:t>OUTPUT</a:t>
            </a:r>
          </a:p>
          <a:p>
            <a:pPr>
              <a:spcBef>
                <a:spcPct val="50000"/>
              </a:spcBef>
            </a:pPr>
            <a:r>
              <a:rPr lang="en-US" altLang="en-US" sz="2800"/>
              <a:t>9 &amp; 7 == 1</a:t>
            </a:r>
            <a:br>
              <a:rPr lang="en-US" altLang="en-US" sz="2800"/>
            </a:br>
            <a:endParaRPr lang="en-US" altLang="en-US" sz="2800"/>
          </a:p>
        </p:txBody>
      </p:sp>
      <p:graphicFrame>
        <p:nvGraphicFramePr>
          <p:cNvPr id="45228" name="Group 172">
            <a:extLst>
              <a:ext uri="{FF2B5EF4-FFF2-40B4-BE49-F238E27FC236}">
                <a16:creationId xmlns:a16="http://schemas.microsoft.com/office/drawing/2014/main" id="{DEB4A51D-F7D7-4403-A775-CE8F81A1DB2D}"/>
              </a:ext>
            </a:extLst>
          </p:cNvPr>
          <p:cNvGraphicFramePr>
            <a:graphicFrameLocks noGrp="1"/>
          </p:cNvGraphicFramePr>
          <p:nvPr/>
        </p:nvGraphicFramePr>
        <p:xfrm>
          <a:off x="3886200" y="1828800"/>
          <a:ext cx="2952750" cy="1828800"/>
        </p:xfrm>
        <a:graphic>
          <a:graphicData uri="http://schemas.openxmlformats.org/drawingml/2006/table">
            <a:tbl>
              <a:tblPr/>
              <a:tblGrid>
                <a:gridCol w="962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3213">
                <a:tc gridSpan="5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ahoma" pitchFamily="34" charset="0"/>
                        </a:rPr>
                        <a:t>binary representation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one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two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ahoma" pitchFamily="34" charset="0"/>
                        </a:rPr>
                        <a:t>result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oter Placeholder 3">
            <a:extLst>
              <a:ext uri="{FF2B5EF4-FFF2-40B4-BE49-F238E27FC236}">
                <a16:creationId xmlns:a16="http://schemas.microsoft.com/office/drawing/2014/main" id="{FAA0B27D-5AE9-431B-9AD5-0F8E45AC02C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 sz="800">
              <a:latin typeface="Times New Roman" panose="02020603050405020304" pitchFamily="18" charset="0"/>
            </a:endParaRPr>
          </a:p>
          <a:p>
            <a:endParaRPr lang="en-US" altLang="en-US" sz="800" b="0"/>
          </a:p>
          <a:p>
            <a:endParaRPr lang="en-US" altLang="en-US" sz="800"/>
          </a:p>
          <a:p>
            <a:r>
              <a:rPr lang="en-US" altLang="en-US" sz="800"/>
              <a:t>© A+ Computer Science  -  www.apluscompsci.com</a:t>
            </a:r>
          </a:p>
        </p:txBody>
      </p:sp>
      <p:sp>
        <p:nvSpPr>
          <p:cNvPr id="20483" name="Text Box 4">
            <a:extLst>
              <a:ext uri="{FF2B5EF4-FFF2-40B4-BE49-F238E27FC236}">
                <a16:creationId xmlns:a16="http://schemas.microsoft.com/office/drawing/2014/main" id="{28664790-E4FC-4423-B40A-F2F52C49C0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362200"/>
            <a:ext cx="7996238" cy="2554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3200"/>
              <a:t>int one=9;     </a:t>
            </a:r>
            <a:endParaRPr lang="en-US" altLang="en-US" sz="3200">
              <a:solidFill>
                <a:srgbClr val="669900"/>
              </a:solidFill>
            </a:endParaRPr>
          </a:p>
          <a:p>
            <a:r>
              <a:rPr lang="en-US" altLang="en-US" sz="3200"/>
              <a:t>int two=7;     </a:t>
            </a:r>
          </a:p>
          <a:p>
            <a:endParaRPr lang="en-US" altLang="en-US" sz="3200"/>
          </a:p>
          <a:p>
            <a:r>
              <a:rPr lang="en-US" altLang="en-US" sz="3200"/>
              <a:t>out.println(“9 | 7 == " + (one|two));</a:t>
            </a:r>
          </a:p>
          <a:p>
            <a:endParaRPr lang="en-US" altLang="en-US" sz="3200"/>
          </a:p>
        </p:txBody>
      </p:sp>
      <p:sp>
        <p:nvSpPr>
          <p:cNvPr id="20484" name="Text Box 5">
            <a:extLst>
              <a:ext uri="{FF2B5EF4-FFF2-40B4-BE49-F238E27FC236}">
                <a16:creationId xmlns:a16="http://schemas.microsoft.com/office/drawing/2014/main" id="{92EE3CA3-7116-4126-A118-2AD4BD8F56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4648200"/>
            <a:ext cx="2514600" cy="1660525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3200" u="sng">
                <a:solidFill>
                  <a:srgbClr val="FF0000"/>
                </a:solidFill>
              </a:rPr>
              <a:t>OUTPUT</a:t>
            </a:r>
          </a:p>
          <a:p>
            <a:pPr>
              <a:spcBef>
                <a:spcPct val="50000"/>
              </a:spcBef>
            </a:pPr>
            <a:r>
              <a:rPr lang="en-US" altLang="en-US" sz="2800"/>
              <a:t>9 | 7 == 15</a:t>
            </a:r>
            <a:br>
              <a:rPr lang="en-US" altLang="en-US" sz="2800"/>
            </a:br>
            <a:endParaRPr lang="en-US" altLang="en-US" sz="2800"/>
          </a:p>
        </p:txBody>
      </p:sp>
      <p:sp>
        <p:nvSpPr>
          <p:cNvPr id="20485" name="WordArt 35">
            <a:extLst>
              <a:ext uri="{FF2B5EF4-FFF2-40B4-BE49-F238E27FC236}">
                <a16:creationId xmlns:a16="http://schemas.microsoft.com/office/drawing/2014/main" id="{FD9ED39E-BB7A-405A-902B-D9AACCFBFFE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533400"/>
            <a:ext cx="7239000" cy="914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Bitwise OR |</a:t>
            </a:r>
          </a:p>
        </p:txBody>
      </p:sp>
      <p:graphicFrame>
        <p:nvGraphicFramePr>
          <p:cNvPr id="36995" name="Group 131">
            <a:extLst>
              <a:ext uri="{FF2B5EF4-FFF2-40B4-BE49-F238E27FC236}">
                <a16:creationId xmlns:a16="http://schemas.microsoft.com/office/drawing/2014/main" id="{07C07938-51C9-469A-80AA-188FB61DB9CA}"/>
              </a:ext>
            </a:extLst>
          </p:cNvPr>
          <p:cNvGraphicFramePr>
            <a:graphicFrameLocks noGrp="1"/>
          </p:cNvGraphicFramePr>
          <p:nvPr/>
        </p:nvGraphicFramePr>
        <p:xfrm>
          <a:off x="3886200" y="1828800"/>
          <a:ext cx="2952750" cy="1828800"/>
        </p:xfrm>
        <a:graphic>
          <a:graphicData uri="http://schemas.openxmlformats.org/drawingml/2006/table">
            <a:tbl>
              <a:tblPr/>
              <a:tblGrid>
                <a:gridCol w="962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3213">
                <a:tc gridSpan="5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ahoma" pitchFamily="34" charset="0"/>
                        </a:rPr>
                        <a:t>binary representation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one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two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ahoma" pitchFamily="34" charset="0"/>
                        </a:rPr>
                        <a:t>result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Footer Placeholder 3">
            <a:extLst>
              <a:ext uri="{FF2B5EF4-FFF2-40B4-BE49-F238E27FC236}">
                <a16:creationId xmlns:a16="http://schemas.microsoft.com/office/drawing/2014/main" id="{914CD01C-8BC1-4EE4-B26C-D102EAD2209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 sz="800">
              <a:latin typeface="Times New Roman" panose="02020603050405020304" pitchFamily="18" charset="0"/>
            </a:endParaRPr>
          </a:p>
          <a:p>
            <a:endParaRPr lang="en-US" altLang="en-US" sz="800" b="0"/>
          </a:p>
          <a:p>
            <a:endParaRPr lang="en-US" altLang="en-US" sz="800"/>
          </a:p>
          <a:p>
            <a:r>
              <a:rPr lang="en-US" altLang="en-US" sz="800"/>
              <a:t>© A+ Computer Science  -  www.apluscompsci.com</a:t>
            </a:r>
          </a:p>
        </p:txBody>
      </p:sp>
      <p:sp>
        <p:nvSpPr>
          <p:cNvPr id="21507" name="Text Box 4">
            <a:extLst>
              <a:ext uri="{FF2B5EF4-FFF2-40B4-BE49-F238E27FC236}">
                <a16:creationId xmlns:a16="http://schemas.microsoft.com/office/drawing/2014/main" id="{E3C419E0-8DAB-48E8-AB41-B518F17816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362200"/>
            <a:ext cx="8147050" cy="2554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3200"/>
              <a:t>int one=9;     </a:t>
            </a:r>
            <a:endParaRPr lang="en-US" altLang="en-US" sz="3200">
              <a:solidFill>
                <a:srgbClr val="669900"/>
              </a:solidFill>
            </a:endParaRPr>
          </a:p>
          <a:p>
            <a:r>
              <a:rPr lang="en-US" altLang="en-US" sz="3200"/>
              <a:t>int two=7;     </a:t>
            </a:r>
          </a:p>
          <a:p>
            <a:endParaRPr lang="en-US" altLang="en-US" sz="3200"/>
          </a:p>
          <a:p>
            <a:r>
              <a:rPr lang="en-US" altLang="en-US" sz="3200"/>
              <a:t>out.println(“9 ^ 7 == " + (one^two));</a:t>
            </a:r>
          </a:p>
          <a:p>
            <a:endParaRPr lang="en-US" altLang="en-US" sz="3200"/>
          </a:p>
        </p:txBody>
      </p:sp>
      <p:sp>
        <p:nvSpPr>
          <p:cNvPr id="21508" name="Text Box 5">
            <a:extLst>
              <a:ext uri="{FF2B5EF4-FFF2-40B4-BE49-F238E27FC236}">
                <a16:creationId xmlns:a16="http://schemas.microsoft.com/office/drawing/2014/main" id="{F1BB1001-92FC-441B-8671-EC0A0F5A96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4648200"/>
            <a:ext cx="2514600" cy="1660525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3200" u="sng">
                <a:solidFill>
                  <a:srgbClr val="FF0000"/>
                </a:solidFill>
              </a:rPr>
              <a:t>OUTPUT</a:t>
            </a:r>
          </a:p>
          <a:p>
            <a:pPr>
              <a:spcBef>
                <a:spcPct val="50000"/>
              </a:spcBef>
            </a:pPr>
            <a:r>
              <a:rPr lang="en-US" altLang="en-US" sz="2800"/>
              <a:t>9 ^ 7 == 14</a:t>
            </a:r>
            <a:br>
              <a:rPr lang="en-US" altLang="en-US" sz="2800"/>
            </a:br>
            <a:endParaRPr lang="en-US" altLang="en-US" sz="2800"/>
          </a:p>
        </p:txBody>
      </p:sp>
      <p:sp>
        <p:nvSpPr>
          <p:cNvPr id="21509" name="WordArt 35">
            <a:extLst>
              <a:ext uri="{FF2B5EF4-FFF2-40B4-BE49-F238E27FC236}">
                <a16:creationId xmlns:a16="http://schemas.microsoft.com/office/drawing/2014/main" id="{7B2E2065-A725-4A40-89FC-322DD20B3BB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533400"/>
            <a:ext cx="7239000" cy="914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Bitwise XOR ^</a:t>
            </a:r>
          </a:p>
        </p:txBody>
      </p:sp>
      <p:graphicFrame>
        <p:nvGraphicFramePr>
          <p:cNvPr id="38039" name="Group 151">
            <a:extLst>
              <a:ext uri="{FF2B5EF4-FFF2-40B4-BE49-F238E27FC236}">
                <a16:creationId xmlns:a16="http://schemas.microsoft.com/office/drawing/2014/main" id="{472B3750-92CA-46E7-AB85-C980D2F87C3B}"/>
              </a:ext>
            </a:extLst>
          </p:cNvPr>
          <p:cNvGraphicFramePr>
            <a:graphicFrameLocks noGrp="1"/>
          </p:cNvGraphicFramePr>
          <p:nvPr/>
        </p:nvGraphicFramePr>
        <p:xfrm>
          <a:off x="3886200" y="1828800"/>
          <a:ext cx="2952750" cy="1828800"/>
        </p:xfrm>
        <a:graphic>
          <a:graphicData uri="http://schemas.openxmlformats.org/drawingml/2006/table">
            <a:tbl>
              <a:tblPr/>
              <a:tblGrid>
                <a:gridCol w="962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3213">
                <a:tc gridSpan="5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ahoma" pitchFamily="34" charset="0"/>
                        </a:rPr>
                        <a:t>binary representation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one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two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ahoma" pitchFamily="34" charset="0"/>
                        </a:rPr>
                        <a:t>result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Footer Placeholder 3">
            <a:extLst>
              <a:ext uri="{FF2B5EF4-FFF2-40B4-BE49-F238E27FC236}">
                <a16:creationId xmlns:a16="http://schemas.microsoft.com/office/drawing/2014/main" id="{AA58C3C1-19C4-49DE-BA8C-1F8A95376E3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 sz="800">
              <a:latin typeface="Times New Roman" panose="02020603050405020304" pitchFamily="18" charset="0"/>
            </a:endParaRPr>
          </a:p>
          <a:p>
            <a:endParaRPr lang="en-US" altLang="en-US" sz="800" b="0"/>
          </a:p>
          <a:p>
            <a:endParaRPr lang="en-US" altLang="en-US" sz="800"/>
          </a:p>
          <a:p>
            <a:r>
              <a:rPr lang="en-US" altLang="en-US" sz="800"/>
              <a:t>© A+ Computer Science  -  www.apluscompsci.com</a:t>
            </a:r>
          </a:p>
        </p:txBody>
      </p:sp>
      <p:sp>
        <p:nvSpPr>
          <p:cNvPr id="22531" name="WordArt 2">
            <a:extLst>
              <a:ext uri="{FF2B5EF4-FFF2-40B4-BE49-F238E27FC236}">
                <a16:creationId xmlns:a16="http://schemas.microsoft.com/office/drawing/2014/main" id="{A92EB2C9-03D5-46DA-B6CA-47F0E523D04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14400" y="762000"/>
            <a:ext cx="7315200" cy="4876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open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 bitwiseand.java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 bitwiseor.java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 bitwisexor.java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Footer Placeholder 3">
            <a:extLst>
              <a:ext uri="{FF2B5EF4-FFF2-40B4-BE49-F238E27FC236}">
                <a16:creationId xmlns:a16="http://schemas.microsoft.com/office/drawing/2014/main" id="{F92DE01C-2775-4839-8A5B-B10A9C22E8A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 sz="800">
              <a:latin typeface="Times New Roman" panose="02020603050405020304" pitchFamily="18" charset="0"/>
            </a:endParaRPr>
          </a:p>
          <a:p>
            <a:endParaRPr lang="en-US" altLang="en-US" sz="800" b="0"/>
          </a:p>
          <a:p>
            <a:endParaRPr lang="en-US" altLang="en-US" sz="800"/>
          </a:p>
          <a:p>
            <a:r>
              <a:rPr lang="en-US" altLang="en-US" sz="800"/>
              <a:t>© A+ Computer Science  -  www.apluscompsci.com</a:t>
            </a:r>
          </a:p>
        </p:txBody>
      </p:sp>
      <p:sp>
        <p:nvSpPr>
          <p:cNvPr id="23555" name="WordArt 2">
            <a:extLst>
              <a:ext uri="{FF2B5EF4-FFF2-40B4-BE49-F238E27FC236}">
                <a16:creationId xmlns:a16="http://schemas.microsoft.com/office/drawing/2014/main" id="{B738471F-EEB4-47E6-9462-CBB4F58FD45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62000" y="457200"/>
            <a:ext cx="7543800" cy="914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Bitwise Shift Left &lt;&lt;</a:t>
            </a:r>
          </a:p>
        </p:txBody>
      </p:sp>
      <p:sp>
        <p:nvSpPr>
          <p:cNvPr id="23556" name="Text Box 3">
            <a:extLst>
              <a:ext uri="{FF2B5EF4-FFF2-40B4-BE49-F238E27FC236}">
                <a16:creationId xmlns:a16="http://schemas.microsoft.com/office/drawing/2014/main" id="{A5A9FCD5-6880-470A-B880-5EE3DDDFEE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286000"/>
            <a:ext cx="8382000" cy="204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3200"/>
              <a:t>int one=8;</a:t>
            </a:r>
          </a:p>
          <a:p>
            <a:endParaRPr lang="en-US" altLang="en-US" sz="3200"/>
          </a:p>
          <a:p>
            <a:endParaRPr lang="en-US" altLang="en-US" sz="3200"/>
          </a:p>
          <a:p>
            <a:r>
              <a:rPr lang="en-US" altLang="en-US" sz="3200"/>
              <a:t>out.println("8 &lt;&lt; 1 == " + (one&lt;&lt;1));</a:t>
            </a:r>
          </a:p>
        </p:txBody>
      </p:sp>
      <p:sp>
        <p:nvSpPr>
          <p:cNvPr id="23557" name="Text Box 4">
            <a:extLst>
              <a:ext uri="{FF2B5EF4-FFF2-40B4-BE49-F238E27FC236}">
                <a16:creationId xmlns:a16="http://schemas.microsoft.com/office/drawing/2014/main" id="{1F56B49A-104B-499D-8EEA-81E6AB4C1A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4724400"/>
            <a:ext cx="3352800" cy="1233488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3200" u="sng">
                <a:solidFill>
                  <a:srgbClr val="FF0000"/>
                </a:solidFill>
              </a:rPr>
              <a:t>OUTPUT</a:t>
            </a:r>
          </a:p>
          <a:p>
            <a:pPr>
              <a:spcBef>
                <a:spcPct val="50000"/>
              </a:spcBef>
            </a:pPr>
            <a:r>
              <a:rPr lang="en-US" altLang="en-US" sz="2800"/>
              <a:t>8 &lt;&lt; 1 == 16</a:t>
            </a:r>
          </a:p>
        </p:txBody>
      </p:sp>
      <p:sp>
        <p:nvSpPr>
          <p:cNvPr id="23558" name="Text Box 5">
            <a:extLst>
              <a:ext uri="{FF2B5EF4-FFF2-40B4-BE49-F238E27FC236}">
                <a16:creationId xmlns:a16="http://schemas.microsoft.com/office/drawing/2014/main" id="{529EB834-9463-4493-B835-6CDB5E8269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724400"/>
            <a:ext cx="4191000" cy="1233488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3200" u="sng">
                <a:solidFill>
                  <a:srgbClr val="006600"/>
                </a:solidFill>
              </a:rPr>
              <a:t>SHORTCUT</a:t>
            </a:r>
          </a:p>
          <a:p>
            <a:pPr>
              <a:spcBef>
                <a:spcPct val="50000"/>
              </a:spcBef>
            </a:pPr>
            <a:r>
              <a:rPr lang="en-US" altLang="en-US" sz="2800"/>
              <a:t>&lt;&lt; 1   multiplies by 2</a:t>
            </a:r>
          </a:p>
        </p:txBody>
      </p:sp>
      <p:graphicFrame>
        <p:nvGraphicFramePr>
          <p:cNvPr id="38997" name="Group 85">
            <a:extLst>
              <a:ext uri="{FF2B5EF4-FFF2-40B4-BE49-F238E27FC236}">
                <a16:creationId xmlns:a16="http://schemas.microsoft.com/office/drawing/2014/main" id="{9F0AE7C3-870D-4C09-A34E-05447E8552A7}"/>
              </a:ext>
            </a:extLst>
          </p:cNvPr>
          <p:cNvGraphicFramePr>
            <a:graphicFrameLocks noGrp="1"/>
          </p:cNvGraphicFramePr>
          <p:nvPr/>
        </p:nvGraphicFramePr>
        <p:xfrm>
          <a:off x="4343400" y="2057400"/>
          <a:ext cx="2762250" cy="1096963"/>
        </p:xfrm>
        <a:graphic>
          <a:graphicData uri="http://schemas.openxmlformats.org/drawingml/2006/table">
            <a:tbl>
              <a:tblPr/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16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8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3">
            <a:extLst>
              <a:ext uri="{FF2B5EF4-FFF2-40B4-BE49-F238E27FC236}">
                <a16:creationId xmlns:a16="http://schemas.microsoft.com/office/drawing/2014/main" id="{CE235AED-4E6E-4AD7-9142-533FDFEE0AD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 sz="800">
              <a:latin typeface="Times New Roman" panose="02020603050405020304" pitchFamily="18" charset="0"/>
            </a:endParaRPr>
          </a:p>
          <a:p>
            <a:endParaRPr lang="en-US" altLang="en-US" sz="800" b="0"/>
          </a:p>
          <a:p>
            <a:endParaRPr lang="en-US" altLang="en-US" sz="800"/>
          </a:p>
          <a:p>
            <a:r>
              <a:rPr lang="en-US" altLang="en-US" sz="800"/>
              <a:t>© A+ Computer Science  -  www.apluscompsci.com</a:t>
            </a:r>
          </a:p>
        </p:txBody>
      </p:sp>
      <p:sp>
        <p:nvSpPr>
          <p:cNvPr id="24579" name="WordArt 2">
            <a:extLst>
              <a:ext uri="{FF2B5EF4-FFF2-40B4-BE49-F238E27FC236}">
                <a16:creationId xmlns:a16="http://schemas.microsoft.com/office/drawing/2014/main" id="{29BEC873-3160-4F5F-B1B5-ED5DE35FA6DA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62000" y="457200"/>
            <a:ext cx="7543800" cy="914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Bitwise Shift Right &gt;&gt;</a:t>
            </a:r>
          </a:p>
        </p:txBody>
      </p:sp>
      <p:sp>
        <p:nvSpPr>
          <p:cNvPr id="24580" name="Text Box 3">
            <a:extLst>
              <a:ext uri="{FF2B5EF4-FFF2-40B4-BE49-F238E27FC236}">
                <a16:creationId xmlns:a16="http://schemas.microsoft.com/office/drawing/2014/main" id="{1CD80F16-B5CB-4B58-A02D-ECDB54D4EE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286000"/>
            <a:ext cx="8382000" cy="204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3200"/>
              <a:t>int one=8;</a:t>
            </a:r>
          </a:p>
          <a:p>
            <a:endParaRPr lang="en-US" altLang="en-US" sz="3200"/>
          </a:p>
          <a:p>
            <a:endParaRPr lang="en-US" altLang="en-US" sz="3200"/>
          </a:p>
          <a:p>
            <a:r>
              <a:rPr lang="en-US" altLang="en-US" sz="3200"/>
              <a:t>out.println("8 &gt;&gt; 1 == " + (one&gt;&gt;1));</a:t>
            </a:r>
          </a:p>
        </p:txBody>
      </p:sp>
      <p:sp>
        <p:nvSpPr>
          <p:cNvPr id="24581" name="Text Box 4">
            <a:extLst>
              <a:ext uri="{FF2B5EF4-FFF2-40B4-BE49-F238E27FC236}">
                <a16:creationId xmlns:a16="http://schemas.microsoft.com/office/drawing/2014/main" id="{782DE52E-A0C9-47E5-AD26-50F53BDF57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4724400"/>
            <a:ext cx="3352800" cy="1233488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3200" u="sng">
                <a:solidFill>
                  <a:srgbClr val="FF0000"/>
                </a:solidFill>
              </a:rPr>
              <a:t>OUTPUT</a:t>
            </a:r>
          </a:p>
          <a:p>
            <a:pPr>
              <a:spcBef>
                <a:spcPct val="50000"/>
              </a:spcBef>
            </a:pPr>
            <a:r>
              <a:rPr lang="en-US" altLang="en-US" sz="2800"/>
              <a:t>8 &gt;&gt; 1 == 4</a:t>
            </a:r>
          </a:p>
        </p:txBody>
      </p:sp>
      <p:sp>
        <p:nvSpPr>
          <p:cNvPr id="24582" name="Text Box 5">
            <a:extLst>
              <a:ext uri="{FF2B5EF4-FFF2-40B4-BE49-F238E27FC236}">
                <a16:creationId xmlns:a16="http://schemas.microsoft.com/office/drawing/2014/main" id="{5293E6CB-9237-454A-A21F-5CBED03F91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724400"/>
            <a:ext cx="3886200" cy="1233488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3200" u="sng">
                <a:solidFill>
                  <a:srgbClr val="006600"/>
                </a:solidFill>
              </a:rPr>
              <a:t>SHORTCUT</a:t>
            </a:r>
          </a:p>
          <a:p>
            <a:pPr>
              <a:spcBef>
                <a:spcPct val="50000"/>
              </a:spcBef>
            </a:pPr>
            <a:r>
              <a:rPr lang="en-US" altLang="en-US" sz="2800"/>
              <a:t>&gt;&gt; 1   divides by 2</a:t>
            </a:r>
          </a:p>
        </p:txBody>
      </p:sp>
      <p:graphicFrame>
        <p:nvGraphicFramePr>
          <p:cNvPr id="86078" name="Group 62">
            <a:extLst>
              <a:ext uri="{FF2B5EF4-FFF2-40B4-BE49-F238E27FC236}">
                <a16:creationId xmlns:a16="http://schemas.microsoft.com/office/drawing/2014/main" id="{FDE4C5DF-BBA7-4807-AF87-3C55F591AF7E}"/>
              </a:ext>
            </a:extLst>
          </p:cNvPr>
          <p:cNvGraphicFramePr>
            <a:graphicFrameLocks noGrp="1"/>
          </p:cNvGraphicFramePr>
          <p:nvPr/>
        </p:nvGraphicFramePr>
        <p:xfrm>
          <a:off x="4343400" y="2057400"/>
          <a:ext cx="2762250" cy="1096963"/>
        </p:xfrm>
        <a:graphic>
          <a:graphicData uri="http://schemas.openxmlformats.org/drawingml/2006/table">
            <a:tbl>
              <a:tblPr/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16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8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Footer Placeholder 3">
            <a:extLst>
              <a:ext uri="{FF2B5EF4-FFF2-40B4-BE49-F238E27FC236}">
                <a16:creationId xmlns:a16="http://schemas.microsoft.com/office/drawing/2014/main" id="{16637D50-ECA6-4CE3-B52C-9C7E84960D4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 sz="800">
              <a:latin typeface="Times New Roman" panose="02020603050405020304" pitchFamily="18" charset="0"/>
            </a:endParaRPr>
          </a:p>
          <a:p>
            <a:endParaRPr lang="en-US" altLang="en-US" sz="800" b="0"/>
          </a:p>
          <a:p>
            <a:endParaRPr lang="en-US" altLang="en-US" sz="800"/>
          </a:p>
          <a:p>
            <a:r>
              <a:rPr lang="en-US" altLang="en-US" sz="800"/>
              <a:t>© A+ Computer Science  -  www.apluscompsci.com</a:t>
            </a:r>
          </a:p>
        </p:txBody>
      </p:sp>
      <p:sp>
        <p:nvSpPr>
          <p:cNvPr id="25603" name="WordArt 2">
            <a:extLst>
              <a:ext uri="{FF2B5EF4-FFF2-40B4-BE49-F238E27FC236}">
                <a16:creationId xmlns:a16="http://schemas.microsoft.com/office/drawing/2014/main" id="{B8D5E940-9322-48E3-812A-3C83DAC868E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14400" y="1371600"/>
            <a:ext cx="7315200" cy="3657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open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 shiftleft.java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 shiftright.java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Footer Placeholder 3">
            <a:extLst>
              <a:ext uri="{FF2B5EF4-FFF2-40B4-BE49-F238E27FC236}">
                <a16:creationId xmlns:a16="http://schemas.microsoft.com/office/drawing/2014/main" id="{9B20CFDF-3712-49A8-B8ED-BFC40CAB30C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 sz="800">
              <a:latin typeface="Times New Roman" panose="02020603050405020304" pitchFamily="18" charset="0"/>
            </a:endParaRPr>
          </a:p>
          <a:p>
            <a:endParaRPr lang="en-US" altLang="en-US" sz="800" b="0"/>
          </a:p>
          <a:p>
            <a:endParaRPr lang="en-US" altLang="en-US" sz="800"/>
          </a:p>
          <a:p>
            <a:r>
              <a:rPr lang="en-US" altLang="en-US" sz="800"/>
              <a:t>© A+ Computer Science  -  www.apluscompsci.com</a:t>
            </a:r>
          </a:p>
        </p:txBody>
      </p:sp>
      <p:sp>
        <p:nvSpPr>
          <p:cNvPr id="26627" name="WordArt 2">
            <a:extLst>
              <a:ext uri="{FF2B5EF4-FFF2-40B4-BE49-F238E27FC236}">
                <a16:creationId xmlns:a16="http://schemas.microsoft.com/office/drawing/2014/main" id="{E2321524-2C3B-4E63-8EF6-60947C300F6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143000" y="1295400"/>
            <a:ext cx="6934200" cy="3657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333399"/>
                  </a:solidFill>
                  <a:round/>
                  <a:headEnd type="none" w="sm" len="sm"/>
                  <a:tailEnd type="none" w="sm" len="sm"/>
                </a:ln>
                <a:solidFill>
                  <a:srgbClr val="00FF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Start work</a:t>
            </a:r>
          </a:p>
          <a:p>
            <a:pPr algn="ctr"/>
            <a:r>
              <a:rPr lang="en-US" sz="3600" kern="10">
                <a:ln w="9525">
                  <a:solidFill>
                    <a:srgbClr val="333399"/>
                  </a:solidFill>
                  <a:round/>
                  <a:headEnd type="none" w="sm" len="sm"/>
                  <a:tailEnd type="none" w="sm" len="sm"/>
                </a:ln>
                <a:solidFill>
                  <a:srgbClr val="00FF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on Lab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umsysboo">
  <a:themeElements>
    <a:clrScheme name="numsysboo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numsysboo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numsysboo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umsysboo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umsysboo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umsysboo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umsysboo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umsysboo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umsysboo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A:\numsysboo.ppt</Template>
  <TotalTime>529</TotalTime>
  <Words>1342</Words>
  <Application>Microsoft Office PowerPoint</Application>
  <PresentationFormat>On-screen Show (4:3)</PresentationFormat>
  <Paragraphs>444</Paragraphs>
  <Slides>25</Slides>
  <Notes>23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Tahoma</vt:lpstr>
      <vt:lpstr>Arial</vt:lpstr>
      <vt:lpstr>Times New Roman</vt:lpstr>
      <vt:lpstr>Bookman Old Style</vt:lpstr>
      <vt:lpstr>Courier New</vt:lpstr>
      <vt:lpstr>numsysboo</vt:lpstr>
      <vt:lpstr>Microsoft Clip 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www.apluscompsci.com</Manager>
  <Company>A+ Computer Science</Company>
  <LinksUpToDate>false</LinksUpToDate>
  <SharedDoc>false</SharedDoc>
  <HyperlinkBase>www.apluscompsci.com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numbersystems</dc:title>
  <dc:subject>Number Systems</dc:subject>
  <dc:creator>A+ Computer Science</dc:creator>
  <cp:keywords>www.apluscompsci.com </cp:keywords>
  <dc:description>Number Systems_x000d_
©A+ Computer Science_x000d_
www.apluscompsci.com</dc:description>
  <cp:lastModifiedBy>WELDON JASIK</cp:lastModifiedBy>
  <cp:revision>163</cp:revision>
  <dcterms:created xsi:type="dcterms:W3CDTF">1995-06-17T23:31:02Z</dcterms:created>
  <dcterms:modified xsi:type="dcterms:W3CDTF">2021-01-14T19:14:08Z</dcterms:modified>
  <cp:category>www.apluscompsci.com</cp:category>
</cp:coreProperties>
</file>
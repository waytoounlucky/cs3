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  <p:sldMasterId id="2147483672" r:id="rId3"/>
  </p:sldMasterIdLst>
  <p:notesMasterIdLst>
    <p:notesMasterId r:id="rId33"/>
  </p:notesMasterIdLst>
  <p:handoutMasterIdLst>
    <p:handoutMasterId r:id="rId34"/>
  </p:handoutMasterIdLst>
  <p:sldIdLst>
    <p:sldId id="364" r:id="rId4"/>
    <p:sldId id="419" r:id="rId5"/>
    <p:sldId id="405" r:id="rId6"/>
    <p:sldId id="366" r:id="rId7"/>
    <p:sldId id="367" r:id="rId8"/>
    <p:sldId id="368" r:id="rId9"/>
    <p:sldId id="369" r:id="rId10"/>
    <p:sldId id="370" r:id="rId11"/>
    <p:sldId id="371" r:id="rId12"/>
    <p:sldId id="420" r:id="rId13"/>
    <p:sldId id="280" r:id="rId14"/>
    <p:sldId id="372" r:id="rId15"/>
    <p:sldId id="410" r:id="rId16"/>
    <p:sldId id="373" r:id="rId17"/>
    <p:sldId id="374" r:id="rId18"/>
    <p:sldId id="376" r:id="rId19"/>
    <p:sldId id="377" r:id="rId20"/>
    <p:sldId id="418" r:id="rId21"/>
    <p:sldId id="378" r:id="rId22"/>
    <p:sldId id="381" r:id="rId23"/>
    <p:sldId id="382" r:id="rId24"/>
    <p:sldId id="383" r:id="rId25"/>
    <p:sldId id="417" r:id="rId26"/>
    <p:sldId id="416" r:id="rId27"/>
    <p:sldId id="281" r:id="rId28"/>
    <p:sldId id="384" r:id="rId29"/>
    <p:sldId id="415" r:id="rId30"/>
    <p:sldId id="412" r:id="rId31"/>
    <p:sldId id="411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66FF"/>
    <a:srgbClr val="CAC9CE"/>
    <a:srgbClr val="FFE5FF"/>
    <a:srgbClr val="FFFF00"/>
    <a:srgbClr val="000099"/>
    <a:srgbClr val="FF6600"/>
    <a:srgbClr val="CCECFF"/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77778" autoAdjust="0"/>
  </p:normalViewPr>
  <p:slideViewPr>
    <p:cSldViewPr snapToGrid="0">
      <p:cViewPr varScale="1">
        <p:scale>
          <a:sx n="61" d="100"/>
          <a:sy n="61" d="100"/>
        </p:scale>
        <p:origin x="201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7F0023C-DD17-43BC-A537-C45C5C8F78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7585E47-D52F-4C2C-A970-A4A930F738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266F075-3AF8-4D8B-9835-6BD8F62056F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7CFB4E2-3347-4CA5-B69E-CB077DDCEAB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648B7F2C-8AF7-4CB3-A348-BE942545A9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9364EB4-7341-477E-9A32-63DB49AEDD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F99A1AC-51C8-44EF-B5C0-0DB09EF4B3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F3D2AC9-18A8-4214-989C-245A809A040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8159DF8-9B83-42D9-964A-F0D4D0ECBE7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A0DE462-A38B-4495-A46E-0A0368AEF2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97D81B5-896C-4B2C-A6D5-67CA1D58E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F5888543-F783-4CDD-8E9B-E513FF49708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also double-ended queues.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88543-F783-4CDD-8E9B-E513FF49708B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2019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88543-F783-4CDD-8E9B-E513FF49708B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845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1A350529-E36F-4889-B163-18B3FE6D93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B068287B-7129-4C36-ADCF-96C1F7C09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DEC3EE18-88C6-433D-BB6D-188C19768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5814832-7AD3-4C5E-ABEB-536F3923124F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First-In, First-Out (FIFO) means that the first item added to the queue is the first one to be processed or removed.</a:t>
            </a:r>
          </a:p>
          <a:p>
            <a:pPr>
              <a:buNone/>
            </a:pPr>
            <a:b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88543-F783-4CDD-8E9B-E513FF49708B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634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E8EDCA-78F9-405D-814F-ED7AD4715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C76663-FBE6-4268-8F9E-3B9B9FEF0B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CE2305-2473-4D44-BC7A-DC8E2267CF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0F0EF47-8830-4A23-810A-5F463C6C01A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1752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61EC45-6F81-489A-884F-81F6F15EEE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002DF1-649C-4AF9-A0E8-99E82BB14D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E996E2-DA97-4790-AAEF-94085BB434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93E6F90-A979-4BB9-B78C-D9EF2946C5B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1418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86952F-06F2-4739-8C27-2098F2A42B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95B228-EED5-4F46-98F4-9F7BD62FFE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0859C8-CBCF-4A57-8010-CE7AC0A4980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751163D-1CEE-48A2-BA58-086B3715793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0944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7195F8-A4B8-4FFD-8579-E14A306016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EA7300-3BFD-4239-A15A-6417B35F2A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C444EA-7AC1-4C76-8ADD-0537E2AD2EE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6B596A2-70F0-4DD9-BD33-C4C32314A7B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62291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39F307-FAB5-47EC-9148-FC8C284398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0621FFA-81D8-492F-A0ED-F9413C54B4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6A5197-7D62-4E6A-8B6E-57E32E64F66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05BD67D-26A0-4843-8457-F450A04A30E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8113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3333CB0-E587-4F4B-96E9-72B5767BF9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7E69E1-A4B3-4656-B5C5-51CCDB07C9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0830ED-D44D-4796-BF36-CAF1670B0D5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C4EB65E-DCFA-43C3-A67E-9D84AD22C03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8352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1D8887B-8326-43E2-9945-B46F21086C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1687200-764B-40B2-8210-A91A8433B6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F9CBE0-C2D4-4BFC-A642-AC59504831F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38AEE51-0C61-498C-9D14-C63E029090B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672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6A972-15B3-4DD1-BD13-1B9D1AD1CF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7CBBF-94D3-4BBC-B71F-51C9777B40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5676A1-E3F1-4AF5-84AB-9A16D0C09C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41F24CB-8943-4E18-8EBB-7E7C1AAB078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23787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3413D-00FD-49C8-AF66-2A25B03988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A8D843-C0CB-4FE8-8802-796EC2803F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3A97D4-980D-421D-A46A-805AD22EADA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EA94D61-1066-4036-A4F8-4BC619D21C4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9273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279E1F-EA29-462A-902A-A22D9DFD30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5CEA71-5720-4ADE-BC34-B8B79C4EF9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699C1A-9276-42E3-A8B6-657C4F78701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5B2595C-BB50-47A6-8C40-49F19C0B45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023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0F2B1B-AC9E-493C-BE72-C3CEC7D0C7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42B409-1851-4EF4-9D1B-253B225021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2FD969-704C-434E-A078-97B418F1D4C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BDE1442-A7B1-4636-B6B1-5FF84084144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04056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47F437-6EAC-50D3-0502-ED3AF5B4F6BB}"/>
              </a:ext>
            </a:extLst>
          </p:cNvPr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6FF5E-3D99-B0BF-7958-F32FC051502C}"/>
              </a:ext>
            </a:extLst>
          </p:cNvPr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BAA3BE-AC8E-2EEC-052A-82FA87809364}"/>
              </a:ext>
            </a:extLst>
          </p:cNvPr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C2183-12B3-75C3-6B29-07BA6FEEAFAC}"/>
              </a:ext>
            </a:extLst>
          </p:cNvPr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27">
            <a:extLst>
              <a:ext uri="{FF2B5EF4-FFF2-40B4-BE49-F238E27FC236}">
                <a16:creationId xmlns:a16="http://schemas.microsoft.com/office/drawing/2014/main" id="{34F88D48-BD0F-CA31-379E-18B48EF546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fld id="{225BB752-5555-4AC8-BA7D-9ABEF2F1A86D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A88FA8C8-A7E5-FC1A-5913-539C0F67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28">
            <a:extLst>
              <a:ext uri="{FF2B5EF4-FFF2-40B4-BE49-F238E27FC236}">
                <a16:creationId xmlns:a16="http://schemas.microsoft.com/office/drawing/2014/main" id="{1542F9C8-1F0D-AF9E-6976-5B6E3E87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fld id="{E37D5DEA-7B63-48D5-808D-4F2CD8A069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2976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E4598CAC-383A-9EDD-0A76-A76BC851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C22075-2258-4585-98EC-37BA22CBDB83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4D49FB5-A843-13BD-45DD-147BF36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42168E8C-EFC0-C500-8821-6CFE34A5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63FABD-DC0C-41A2-9E3B-22BD8FEFCB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318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0538BD-ED54-FD8A-617D-B12C71A3F1FB}"/>
              </a:ext>
            </a:extLst>
          </p:cNvPr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2993E5-398D-E9F6-7E9C-A02FCC2B09BD}"/>
              </a:ext>
            </a:extLst>
          </p:cNvPr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82FF3BF-6082-8F2C-F6E6-4B6D72CD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fld id="{A6C78630-5898-462C-9F38-9943EA89C0F4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4ABCF5C-B082-A480-2A1C-E49CF9AC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250929-EA57-029B-1069-785F8BA5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/>
            </a:lvl1pPr>
          </a:lstStyle>
          <a:p>
            <a:fld id="{F562FDFC-90FF-4C5F-9295-4F716B2A56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928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B8B3348-1CB9-3F0D-8100-0622B384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8B10E0-20E2-4A73-AD26-43D19F632903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7DBA969-B6D3-D926-39FD-7C3DF3D6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271C6BDE-1065-3648-6CB9-EE849480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E2F83D-7519-47C5-9307-95544A8EC6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022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7C4A9CC3-F560-E73A-447A-CB538DE0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0348925-512E-4F86-99F8-4C8D2038E18A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0385249-9FF7-FA81-DEB0-04E6F702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7E3177FB-C83F-2065-71F0-61CF5A30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F812C-652B-4930-9589-CD258DCEEC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897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72F201E-7468-5BBA-E3A8-B7049EC1B9B0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F98DCEFB-0A25-5F3F-D700-4EB05D35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A9A943-7773-40E8-A1E6-ED78BE098ED0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4344710-2936-3E0F-8E66-D2F66292C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F359D1B-D231-EDE7-21D3-801E28A9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D0058-72CD-4B66-9298-A823FAEF9D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3508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A029B2A-AEE2-4B54-36DF-E2A6938010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DA9E375-D17E-864A-CF16-B9E5406908A2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CA75773-1E0E-2310-2DBA-084F77CE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D5B239-EE7A-4CD8-ABC8-32776AFF009C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7463049-AA61-EDE3-54F1-81F6FCF1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23A94AD-18AD-1F83-C68C-917B46E8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841C4-6FD4-4500-BC11-1D5B1781E9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7795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0E4FC81-6C21-AB49-3BCD-245E6F631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A5B4656-6B57-25F7-0034-D84737E2D27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AD76617-1BD3-4B68-4ACB-8AFD39602B5F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19A3C47-4530-9EAC-3D45-9E9D4BB35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1E4A41-1FBE-40CB-85A4-BA19BC8FE08F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6B4B2F9-6379-45C2-D1A5-B69C127EE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E62B3DA-7DC7-5891-CD96-7A7F32DF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35AB8D-3455-4BD5-B846-C7E487426E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3167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1BE6182-4784-F136-2A40-48ACCD6C2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337F0DC-1924-EA50-C780-1D0442BC4089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D50E23-78F4-85AD-8BB6-37ACA1898572}"/>
              </a:ext>
            </a:extLst>
          </p:cNvPr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C2D7C3E4-83CC-EFD7-C9AF-F8E67F63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E02DED-B932-4856-9769-596211D30DF0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51D5B9-827B-0BD1-6052-AB56D68A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89CCC60-427F-619C-6AEB-C967473E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DDA592-192B-41AF-BFAB-F02D9B0818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40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562E8DFE-D38E-123D-7431-3C43030C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32BF1C-0FE7-4422-9E48-F96339057159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CA10AD1-CF32-5A17-C141-A95FA8B9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5226B95C-2693-16FC-0CD8-EA41BE78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482A10-747F-4533-AF23-2A5331265D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769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F0D6CD2-42EE-B236-CEDA-7E00155FB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A1D2B5F-A955-D357-D05F-EECFCB3EF9AB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868FCAE-4763-9166-3B06-E943C92E695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5E24C36-C32A-10B2-C8AE-93D6D49F5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456794-3851-46AA-823E-9C214C3546C7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15A649-07A1-7DFB-B887-B4D6AB21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18E4CAF-B9D2-18B5-F81F-0070CEF9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C074F6-C3EB-4E6F-8750-32BEBE6F4C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68855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5D8315-9B23-86AF-6C69-FC1CA2EAD85B}"/>
              </a:ext>
            </a:extLst>
          </p:cNvPr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C1D22C-7222-BF7C-BE55-973B2387628D}"/>
              </a:ext>
            </a:extLst>
          </p:cNvPr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3A8273-1690-96EC-6A50-4994BFD1EA1B}"/>
              </a:ext>
            </a:extLst>
          </p:cNvPr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9EE2CC-5DF6-707A-3752-25C02515B9DD}"/>
              </a:ext>
            </a:extLst>
          </p:cNvPr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27">
            <a:extLst>
              <a:ext uri="{FF2B5EF4-FFF2-40B4-BE49-F238E27FC236}">
                <a16:creationId xmlns:a16="http://schemas.microsoft.com/office/drawing/2014/main" id="{DF6BB4A3-6269-840D-C1F6-2F152BEB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fld id="{3FCB5B12-A290-40A6-8ACE-0E4117A284D2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07C7B8C4-95DF-81E2-12D3-F812060C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28">
            <a:extLst>
              <a:ext uri="{FF2B5EF4-FFF2-40B4-BE49-F238E27FC236}">
                <a16:creationId xmlns:a16="http://schemas.microsoft.com/office/drawing/2014/main" id="{76E59220-26AA-8330-0699-07BA2413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fld id="{0296FD18-7733-4AB3-AD35-CDF4095F0E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94560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6EB82E66-1511-DA6D-1539-98002B645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1C30FB-A307-4C9B-81A1-AE7358D96550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F2BC9A8-2118-2AFD-4307-FC1462E8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3B5DC7DE-845C-AC77-4087-2333F068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018614-E6C2-4ED2-BB99-CFE0588303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011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FC465E-CF89-C1DE-2002-F6C523379099}"/>
              </a:ext>
            </a:extLst>
          </p:cNvPr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BA19A-1C26-DFFF-4707-CE4C3D9C5391}"/>
              </a:ext>
            </a:extLst>
          </p:cNvPr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ABCE3E7-BC33-1C02-748A-E2AC6AA6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fld id="{0E963D90-3888-40A3-826E-D7E9A6DB150F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EED354-DB66-E19F-86DF-5055CE31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E6DAE7-B043-CF1B-09B0-876F3E8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/>
            </a:lvl1pPr>
          </a:lstStyle>
          <a:p>
            <a:fld id="{7864ACD9-E83C-4592-8633-1687D63D46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1880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5FB76996-7DA5-047B-EFDD-A8DC19DD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683801-14FA-4781-B9E6-DC002CBF9FDE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46255BC-5452-E3D7-5B6E-AB35BB5E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2A519798-E918-72D2-799E-E0785161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F8E08D-EB0E-4636-8610-3CD5818C7B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92781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CF71F582-CBC2-8E3E-A12C-2E15D63E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EBA726-AD99-490C-B6FA-0784DC830068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434C87A-E2CC-B532-3078-7ECB9AEA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D3E6B80-4299-214E-0486-9C853919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9DFE3-2297-4CBA-90E2-21D35AFD22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3491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0C99233-8D76-D193-0995-821659FC5424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3E540620-0CC0-09AF-3661-4470937E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A937ED-B143-4E69-8ECF-67B95BDFD094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5D79B49-6A8C-233E-83DD-C341CE1D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621EE76-0F49-7A76-E4C5-AF05817B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3A0E6D-53BF-49E4-A4F9-5F191BDA03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1894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8AA91C9-3251-B5E7-8CBF-3662FA9E0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06A3C83-C9A5-1388-DFB5-D2075F50624C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27B05D30-B200-FB1C-A5FD-0BC69656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A83335-62F1-4DA7-BD65-974C2D46797F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E1DFE15-F599-C34B-7124-A9F10D03B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286CFB0-DDD6-329A-0081-3C150203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CD7A6-3BE8-46B5-B446-D8933587BA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377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87B2001-036A-C6AF-078D-66ED80DE8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F19A732-0E13-AC1A-AB4B-D923A14F1A9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DBBBE15-9094-9208-4A5D-E783BCE2DD07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179EF4C-6C84-44AD-CB65-9097F810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E22620-5986-42B9-AD18-3101735E763A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63FB55C-7515-41CF-EFA4-D6B9EFC0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2EB17F-1B94-84F0-AE7A-F2AF1C89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0928F1-99D6-4663-8E06-AF7350A268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7013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38E2342-DEAC-17DF-6C73-EAC3772C42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BFF34631-53E9-48A1-F402-9928282915F7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B6654-ECF6-070B-5FF1-70A066006AD5}"/>
              </a:ext>
            </a:extLst>
          </p:cNvPr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1F54E45F-F231-2B37-09CB-65514543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4ACA17-E9A8-4A71-B388-1AA6FF20C7DF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99305B1-CDC7-046D-E8CB-15E9BCB2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2EF17BD-3B7F-6896-79D2-F48837F7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FB47BB-5A08-4078-8B36-D23D505FE7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239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D27A253-AD51-C4A2-6EDA-15E8AC5F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C9C1F0F-2EFB-4411-B2B7-ADDCCA4D12BB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95281F3-52CF-11A2-ED5F-3B27C07F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E1CC996-D0A2-CC49-0101-F0EC8D85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38745-3386-4785-9C80-7219627E18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0432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8FE6EF1-3AAB-76B6-5B1B-FD995CF52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F9E9679-875D-97DD-819D-B807A98D9D42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C11C4CE-1200-A712-D051-D119717832D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54758A-9298-9DAA-2715-791CA145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6CA457-D711-4BA7-BBEC-5C9F2F21C631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D9000A-A37B-D02B-D522-4679E95D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3AC7DF4-31F8-9ADB-5CBA-CC54686C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F58B8-368C-47A9-BA7A-48FB884D07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115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3EB82A-6DC2-4827-B743-AA386BDA4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51452A0-70F4-47B4-BE7B-D574B0A80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C60A7E-6CEE-48B9-9786-D727999634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AEF19E-37F5-4800-AB42-6E6744AFF7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D2A36EDD-B2A2-426B-8D93-27441939471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7CF6C42-FFB0-412D-BE59-82F06AA83A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FCAEAE55-2D1D-AB34-66F4-D111D4292D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9B7E59B4-9447-0B8C-584B-9329516113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21C7491-7AFD-735F-99E9-5A652D1E8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F127FCB8-9F60-4B67-A623-90F2131FC5AC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86C89-AA7B-69F3-02C7-6AE206FEB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30140B9-33F8-2865-1C00-B57C0AA2F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879CC6B4-1BE3-4D72-8C4B-D1DC3282987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9BB57178-5041-E61C-ECD3-2040D002E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483C99D7-49C8-D8B5-32DB-24767EF47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B834652-64F2-E02E-27D3-5930CE91B73E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0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-1" charset="-128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BAD06873-1BFF-8B13-7328-2105A935864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492D9651-641B-8DDD-3D8D-F1EDCB7456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248CB86-DAE2-F9B9-0F53-EA17255C7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674B90B2-BBF1-4057-AA9D-DE265354F4DF}" type="datetime1">
              <a:rPr lang="en-US" altLang="en-US"/>
              <a:pPr/>
              <a:t>11/14/2025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10319-7D26-1D32-04B2-9976DFCF8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834EFC8-340A-4813-FD5E-3203532B0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2DDA3E8E-8FCC-4C41-A56A-6108D0B17DD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5E6C256F-B220-6D17-4261-FA49BD8E9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261D2C22-9AE7-65EB-071E-D93921DA7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461149E-5CCB-91E1-FFF2-AAD76020B232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6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-1" charset="-128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60E3A6B3-55FA-4893-BF76-EA5A6D9543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9" name="WordArt 2">
            <a:extLst>
              <a:ext uri="{FF2B5EF4-FFF2-40B4-BE49-F238E27FC236}">
                <a16:creationId xmlns:a16="http://schemas.microsoft.com/office/drawing/2014/main" id="{59D1E48C-C9FD-4E34-A6A8-A001B755EEE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1600200"/>
            <a:ext cx="8229600" cy="2286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9CF6-A3EE-A366-1CF7-0573997B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6D1B77C6-C669-ACD5-FBB0-B44B5F6572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66B2E528-A01C-0401-7E4D-00634BC0C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370" y="2667000"/>
            <a:ext cx="77724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ahoma" panose="020B0604030504040204" pitchFamily="34" charset="0"/>
              </a:rPr>
              <a:t>Stacks and Queues allow insertion and removal at the ends only, not in the middle.</a:t>
            </a:r>
          </a:p>
        </p:txBody>
      </p:sp>
      <p:sp>
        <p:nvSpPr>
          <p:cNvPr id="5124" name="WordArt 3">
            <a:extLst>
              <a:ext uri="{FF2B5EF4-FFF2-40B4-BE49-F238E27FC236}">
                <a16:creationId xmlns:a16="http://schemas.microsoft.com/office/drawing/2014/main" id="{1ECFF2C1-9766-68FE-8C97-D414D280A4D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08970" y="563880"/>
            <a:ext cx="65532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99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Stacks &amp; Queues</a:t>
            </a:r>
          </a:p>
        </p:txBody>
      </p:sp>
    </p:spTree>
    <p:extLst>
      <p:ext uri="{BB962C8B-B14F-4D97-AF65-F5344CB8AC3E}">
        <p14:creationId xmlns:p14="http://schemas.microsoft.com/office/powerpoint/2010/main" val="8037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CAA7A9E6-B6F9-4AF6-AA49-7765CCFCE4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7" name="WordArt 3">
            <a:extLst>
              <a:ext uri="{FF2B5EF4-FFF2-40B4-BE49-F238E27FC236}">
                <a16:creationId xmlns:a16="http://schemas.microsoft.com/office/drawing/2014/main" id="{E1C1DA02-57DB-4CEE-90E5-278C730697E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533400"/>
            <a:ext cx="65532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A910672C-370F-4361-B227-C3E61C1ED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667000"/>
            <a:ext cx="7772400" cy="224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en-US" dirty="0"/>
              <a:t>A stack is a group of items all of the same type where items are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added to the top </a:t>
            </a:r>
            <a:r>
              <a:rPr lang="en-US" altLang="en-US" dirty="0"/>
              <a:t>of the stack and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removed from the top</a:t>
            </a:r>
            <a:r>
              <a:rPr lang="en-US" altLang="en-US" dirty="0"/>
              <a:t>. 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Stacks work in a LIFO manner.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D572AE44-DDC5-44C1-9DDC-0F1B4B7AA7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09C9FC7F-0D9B-4367-8903-1815D78A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440" y="2206713"/>
            <a:ext cx="769112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Stack&lt;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 dirty="0">
                <a:latin typeface="Tahoma" panose="020B0604030504040204" pitchFamily="34" charset="0"/>
              </a:rPr>
              <a:t>&gt; stack = new Stack&lt;&gt;();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</p:txBody>
      </p:sp>
      <p:pic>
        <p:nvPicPr>
          <p:cNvPr id="7172" name="Picture 3">
            <a:extLst>
              <a:ext uri="{FF2B5EF4-FFF2-40B4-BE49-F238E27FC236}">
                <a16:creationId xmlns:a16="http://schemas.microsoft.com/office/drawing/2014/main" id="{D7F167D0-5C75-495C-9FEB-9BB73D2F3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953000"/>
            <a:ext cx="14478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3" name="WordArt 4">
            <a:extLst>
              <a:ext uri="{FF2B5EF4-FFF2-40B4-BE49-F238E27FC236}">
                <a16:creationId xmlns:a16="http://schemas.microsoft.com/office/drawing/2014/main" id="{B2B98D60-1C5C-46EC-A6AE-20D8FEB107F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  <p:sp>
        <p:nvSpPr>
          <p:cNvPr id="7174" name="Text Box 5">
            <a:extLst>
              <a:ext uri="{FF2B5EF4-FFF2-40B4-BE49-F238E27FC236}">
                <a16:creationId xmlns:a16="http://schemas.microsoft.com/office/drawing/2014/main" id="{E435BFA3-0A32-4BF0-AC78-07E39BAEA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640" y="4022595"/>
            <a:ext cx="5877560" cy="46166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Tahoma" panose="020B0604030504040204" pitchFamily="34" charset="0"/>
              </a:rPr>
              <a:t>stack will only store Integer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0F57A7F8-A826-4304-A8B7-AAA0686D035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58201FFD-E26E-4C35-BBD4-1630A5951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43200"/>
            <a:ext cx="3006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stack.push(15);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A0994F46-2C65-4701-82CF-D2955C2E7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push adds an item</a:t>
            </a:r>
            <a:b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to the stack.</a:t>
            </a:r>
          </a:p>
        </p:txBody>
      </p:sp>
      <p:graphicFrame>
        <p:nvGraphicFramePr>
          <p:cNvPr id="139268" name="Group 4">
            <a:extLst>
              <a:ext uri="{FF2B5EF4-FFF2-40B4-BE49-F238E27FC236}">
                <a16:creationId xmlns:a16="http://schemas.microsoft.com/office/drawing/2014/main" id="{1CE7CEEA-178D-480C-9137-97BEDC342A85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4343400"/>
          <a:ext cx="1905000" cy="11303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03" name="WordArt 10">
            <a:extLst>
              <a:ext uri="{FF2B5EF4-FFF2-40B4-BE49-F238E27FC236}">
                <a16:creationId xmlns:a16="http://schemas.microsoft.com/office/drawing/2014/main" id="{3C26903F-BF6C-4B24-9F72-35C0B618170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1E39EF93-EF65-44DA-9888-45201844B1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1442CB8F-FD96-403A-89AD-33ECF5A90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3006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stack.push(47);</a:t>
            </a:r>
          </a:p>
        </p:txBody>
      </p:sp>
      <p:sp>
        <p:nvSpPr>
          <p:cNvPr id="9220" name="Text Box 3">
            <a:extLst>
              <a:ext uri="{FF2B5EF4-FFF2-40B4-BE49-F238E27FC236}">
                <a16:creationId xmlns:a16="http://schemas.microsoft.com/office/drawing/2014/main" id="{7EFA22F7-508B-4078-A9D7-879F7A7FA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push adds an item</a:t>
            </a:r>
            <a:b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to the stack.</a:t>
            </a:r>
          </a:p>
        </p:txBody>
      </p:sp>
      <p:graphicFrame>
        <p:nvGraphicFramePr>
          <p:cNvPr id="140292" name="Group 4">
            <a:extLst>
              <a:ext uri="{FF2B5EF4-FFF2-40B4-BE49-F238E27FC236}">
                <a16:creationId xmlns:a16="http://schemas.microsoft.com/office/drawing/2014/main" id="{F6E189B6-73E3-4F32-BC5F-B5BC4A4D0995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3200400"/>
          <a:ext cx="1905000" cy="22637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29" name="WordArt 12">
            <a:extLst>
              <a:ext uri="{FF2B5EF4-FFF2-40B4-BE49-F238E27FC236}">
                <a16:creationId xmlns:a16="http://schemas.microsoft.com/office/drawing/2014/main" id="{1FDE3F0B-C291-420F-BC22-AD1C87802C3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0CC29B82-4B52-4E0E-B38A-59C78860C8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0CAB3E0E-BB64-46C3-B7C9-286396C6A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3006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stack.push(11);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9E72D19B-C780-4DFE-B851-94F5ECBE5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push adds an item</a:t>
            </a:r>
            <a:b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to the stack.</a:t>
            </a:r>
          </a:p>
        </p:txBody>
      </p:sp>
      <p:graphicFrame>
        <p:nvGraphicFramePr>
          <p:cNvPr id="141316" name="Group 4">
            <a:extLst>
              <a:ext uri="{FF2B5EF4-FFF2-40B4-BE49-F238E27FC236}">
                <a16:creationId xmlns:a16="http://schemas.microsoft.com/office/drawing/2014/main" id="{E3EA0E67-C330-4273-96CB-48D664956D80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2133600"/>
          <a:ext cx="1905000" cy="33274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63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55" name="WordArt 14">
            <a:extLst>
              <a:ext uri="{FF2B5EF4-FFF2-40B4-BE49-F238E27FC236}">
                <a16:creationId xmlns:a16="http://schemas.microsoft.com/office/drawing/2014/main" id="{9B9EBF3D-43DC-4C2F-B840-25A90B4E93D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27D24B4F-751E-4DC5-BC71-5BAAD6119C7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5284FB4D-2321-4256-BC4E-679A9D940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23590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stack.pop();</a:t>
            </a:r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id="{506A1289-CED8-41F8-A9E5-98460392F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1196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pop removes an item from the stack.</a:t>
            </a:r>
          </a:p>
        </p:txBody>
      </p:sp>
      <p:graphicFrame>
        <p:nvGraphicFramePr>
          <p:cNvPr id="142340" name="Group 4">
            <a:extLst>
              <a:ext uri="{FF2B5EF4-FFF2-40B4-BE49-F238E27FC236}">
                <a16:creationId xmlns:a16="http://schemas.microsoft.com/office/drawing/2014/main" id="{A08A5E8E-30A4-4520-88F9-413493C045F5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3200400"/>
          <a:ext cx="1905000" cy="22637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277" name="WordArt 12">
            <a:extLst>
              <a:ext uri="{FF2B5EF4-FFF2-40B4-BE49-F238E27FC236}">
                <a16:creationId xmlns:a16="http://schemas.microsoft.com/office/drawing/2014/main" id="{AD28769B-C92F-4429-A42E-5A4D218997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136C3C54-91F7-4335-A21C-71C13068E6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DB477874-A6DB-4826-8A10-55A80C744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23590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stack.pop();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4F2E58D4-6A68-4584-8205-097A5F221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1196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pop removes an item from the stack.</a:t>
            </a:r>
          </a:p>
        </p:txBody>
      </p:sp>
      <p:graphicFrame>
        <p:nvGraphicFramePr>
          <p:cNvPr id="143364" name="Group 4">
            <a:extLst>
              <a:ext uri="{FF2B5EF4-FFF2-40B4-BE49-F238E27FC236}">
                <a16:creationId xmlns:a16="http://schemas.microsoft.com/office/drawing/2014/main" id="{B4FB6CAB-D4BD-4AC1-8AD2-ADB745CFF592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4343400"/>
          <a:ext cx="1905000" cy="11303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99" name="WordArt 10">
            <a:extLst>
              <a:ext uri="{FF2B5EF4-FFF2-40B4-BE49-F238E27FC236}">
                <a16:creationId xmlns:a16="http://schemas.microsoft.com/office/drawing/2014/main" id="{3CAF414C-E041-476A-90A7-24657F1DA8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8F06-B7D7-C385-8D4B-33756370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>
            <a:extLst>
              <a:ext uri="{FF2B5EF4-FFF2-40B4-BE49-F238E27FC236}">
                <a16:creationId xmlns:a16="http://schemas.microsoft.com/office/drawing/2014/main" id="{00D4AEE4-9555-6401-68DD-7D23FB549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35" y="238438"/>
            <a:ext cx="8828364" cy="89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9900"/>
                </a:solidFill>
                <a:latin typeface="Tahoma" panose="020B0604030504040204" pitchFamily="34" charset="0"/>
              </a:rPr>
              <a:t>Stack (LIFO)          Queue (FIFO)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86002A-6BF7-DCCE-9B66-7D7B8DEB76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5" t="10617" r="58715"/>
          <a:stretch>
            <a:fillRect/>
          </a:stretch>
        </p:blipFill>
        <p:spPr bwMode="auto">
          <a:xfrm>
            <a:off x="157819" y="1640734"/>
            <a:ext cx="3750671" cy="409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8E4D6DF-817F-CE60-E13D-BDEF601AFF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86" t="10617"/>
          <a:stretch>
            <a:fillRect/>
          </a:stretch>
        </p:blipFill>
        <p:spPr bwMode="auto">
          <a:xfrm>
            <a:off x="4807791" y="1333341"/>
            <a:ext cx="4048678" cy="409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238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8429338B-85E3-ED7C-A47A-7AAA63444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Applications of 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31E50-F12F-7059-873F-46799A80E1A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Programming languages: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method calls are placed onto a stack </a:t>
            </a:r>
            <a:r>
              <a:rPr lang="en-US" altLang="en-US" i="1"/>
              <a:t>(call=push, return=pop)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Matching up related pairs of things: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find out whether a string is a palindrome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examine a file to see if its braces </a:t>
            </a:r>
            <a:r>
              <a:rPr lang="en-US" altLang="en-US">
                <a:latin typeface="Courier New" panose="02070309020205020404" pitchFamily="49" charset="0"/>
              </a:rPr>
              <a:t>{</a:t>
            </a:r>
            <a:r>
              <a:rPr lang="en-US" altLang="en-US"/>
              <a:t> </a:t>
            </a:r>
            <a:r>
              <a:rPr lang="en-US" altLang="en-US">
                <a:latin typeface="Courier New" panose="02070309020205020404" pitchFamily="49" charset="0"/>
              </a:rPr>
              <a:t>}</a:t>
            </a:r>
            <a:r>
              <a:rPr lang="en-US" altLang="en-US"/>
              <a:t> and other operators match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Sophisticated algorithms: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searching through a maze with "backtracking"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many programs use an "undo stack" of previous operations</a:t>
            </a:r>
          </a:p>
        </p:txBody>
      </p:sp>
      <p:graphicFrame>
        <p:nvGraphicFramePr>
          <p:cNvPr id="5" name="Group 33">
            <a:extLst>
              <a:ext uri="{FF2B5EF4-FFF2-40B4-BE49-F238E27FC236}">
                <a16:creationId xmlns:a16="http://schemas.microsoft.com/office/drawing/2014/main" id="{E53B8ADF-88DE-DA72-F266-22FF302C0888}"/>
              </a:ext>
            </a:extLst>
          </p:cNvPr>
          <p:cNvGraphicFramePr>
            <a:graphicFrameLocks noGrp="1"/>
          </p:cNvGraphicFramePr>
          <p:nvPr/>
        </p:nvGraphicFramePr>
        <p:xfrm>
          <a:off x="6399213" y="2095500"/>
          <a:ext cx="2092325" cy="1539876"/>
        </p:xfrm>
        <a:graphic>
          <a:graphicData uri="http://schemas.openxmlformats.org/drawingml/2006/table">
            <a:tbl>
              <a:tblPr/>
              <a:tblGrid>
                <a:gridCol w="107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ahoma" charset="0"/>
                        </a:rPr>
                        <a:t>method3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return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var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local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vars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parameters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ahoma" charset="0"/>
                        </a:rPr>
                        <a:t>method2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return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var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local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vars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parameters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ahoma" charset="0"/>
                        </a:rPr>
                        <a:t>method1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return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var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local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vars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parameters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F008A4C7-C9D3-4408-8016-739CD44D7D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3315" name="WordArt 2">
            <a:extLst>
              <a:ext uri="{FF2B5EF4-FFF2-40B4-BE49-F238E27FC236}">
                <a16:creationId xmlns:a16="http://schemas.microsoft.com/office/drawing/2014/main" id="{3C595269-60BE-44AC-AC07-4645D1C566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1066800"/>
            <a:ext cx="6553200" cy="3733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Stack</a:t>
            </a:r>
          </a:p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Methods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 Vector class extends AbstractList and implements the RandomAccess interface just like ArrayList does. &#10;The Stack class extends the Vector class.">
            <a:extLst>
              <a:ext uri="{FF2B5EF4-FFF2-40B4-BE49-F238E27FC236}">
                <a16:creationId xmlns:a16="http://schemas.microsoft.com/office/drawing/2014/main" id="{118B60EC-9170-493B-A82C-DA3E296E2D6A}"/>
              </a:ext>
            </a:extLst>
          </p:cNvPr>
          <p:cNvGrpSpPr/>
          <p:nvPr/>
        </p:nvGrpSpPr>
        <p:grpSpPr>
          <a:xfrm>
            <a:off x="76200" y="304800"/>
            <a:ext cx="8979294" cy="6400800"/>
            <a:chOff x="76200" y="304800"/>
            <a:chExt cx="8979294" cy="6400800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2EEEA872-1AD6-4D8A-BA9E-56215F411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" y="304800"/>
              <a:ext cx="8979294" cy="64008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BD94DB-AF8C-4271-8AAF-5FEBE64545F0}"/>
                </a:ext>
              </a:extLst>
            </p:cNvPr>
            <p:cNvSpPr txBox="1"/>
            <p:nvPr/>
          </p:nvSpPr>
          <p:spPr>
            <a:xfrm>
              <a:off x="1828800" y="838200"/>
              <a:ext cx="9906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 err="1">
                  <a:latin typeface="Trebuchet MS" panose="020B0603020202020204" pitchFamily="34" charset="0"/>
                </a:rPr>
                <a:t>Iterable</a:t>
              </a:r>
              <a:endParaRPr lang="en-US" sz="1800" b="0" dirty="0">
                <a:latin typeface="Trebuchet MS" panose="020B060302020202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93A14E-A7F9-4DAE-9F96-047493831E96}"/>
                </a:ext>
              </a:extLst>
            </p:cNvPr>
            <p:cNvCxnSpPr/>
            <p:nvPr/>
          </p:nvCxnSpPr>
          <p:spPr bwMode="auto">
            <a:xfrm flipV="1">
              <a:off x="2362200" y="1115199"/>
              <a:ext cx="0" cy="40880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1E45EF-741A-4360-9E9B-907DFDA7AB3B}"/>
                </a:ext>
              </a:extLst>
            </p:cNvPr>
            <p:cNvSpPr txBox="1"/>
            <p:nvPr/>
          </p:nvSpPr>
          <p:spPr>
            <a:xfrm>
              <a:off x="990600" y="5562600"/>
              <a:ext cx="990600" cy="276999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Vector</a:t>
              </a:r>
              <a:endParaRPr lang="en-US" sz="1800" b="0" dirty="0">
                <a:solidFill>
                  <a:srgbClr val="7030A0"/>
                </a:solidFill>
                <a:latin typeface="Trebuchet MS" panose="020B0603020202020204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D4EC805-A914-4D32-9271-9732374B1E35}"/>
                </a:ext>
              </a:extLst>
            </p:cNvPr>
            <p:cNvCxnSpPr/>
            <p:nvPr/>
          </p:nvCxnSpPr>
          <p:spPr bwMode="auto">
            <a:xfrm flipV="1">
              <a:off x="1514797" y="5137219"/>
              <a:ext cx="588323" cy="438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BB8A78-8837-49C7-BC04-01670246786D}"/>
                </a:ext>
              </a:extLst>
            </p:cNvPr>
            <p:cNvSpPr txBox="1"/>
            <p:nvPr/>
          </p:nvSpPr>
          <p:spPr>
            <a:xfrm>
              <a:off x="990600" y="6259286"/>
              <a:ext cx="990600" cy="276999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Stack</a:t>
              </a:r>
              <a:endParaRPr lang="en-US" sz="1800" dirty="0">
                <a:solidFill>
                  <a:srgbClr val="7030A0"/>
                </a:solidFill>
                <a:latin typeface="Trebuchet MS" panose="020B0603020202020204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FA7A10-55D4-4623-8384-D4ED774C0CF7}"/>
                </a:ext>
              </a:extLst>
            </p:cNvPr>
            <p:cNvCxnSpPr/>
            <p:nvPr/>
          </p:nvCxnSpPr>
          <p:spPr bwMode="auto">
            <a:xfrm flipH="1">
              <a:off x="336550" y="5701100"/>
              <a:ext cx="65405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2F84C63-F68E-4853-B548-037FE5987323}"/>
                </a:ext>
              </a:extLst>
            </p:cNvPr>
            <p:cNvSpPr/>
            <p:nvPr/>
          </p:nvSpPr>
          <p:spPr bwMode="auto">
            <a:xfrm>
              <a:off x="1460665" y="5854535"/>
              <a:ext cx="88425" cy="391886"/>
            </a:xfrm>
            <a:custGeom>
              <a:avLst/>
              <a:gdLst>
                <a:gd name="connsiteX0" fmla="*/ 0 w 88425"/>
                <a:gd name="connsiteY0" fmla="*/ 391886 h 391886"/>
                <a:gd name="connsiteX1" fmla="*/ 71252 w 88425"/>
                <a:gd name="connsiteY1" fmla="*/ 308759 h 391886"/>
                <a:gd name="connsiteX2" fmla="*/ 83127 w 88425"/>
                <a:gd name="connsiteY2" fmla="*/ 142504 h 391886"/>
                <a:gd name="connsiteX3" fmla="*/ 0 w 88425"/>
                <a:gd name="connsiteY3" fmla="*/ 0 h 391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25" h="391886">
                  <a:moveTo>
                    <a:pt x="0" y="391886"/>
                  </a:moveTo>
                  <a:cubicBezTo>
                    <a:pt x="28699" y="371104"/>
                    <a:pt x="57398" y="350323"/>
                    <a:pt x="71252" y="308759"/>
                  </a:cubicBezTo>
                  <a:cubicBezTo>
                    <a:pt x="85107" y="267195"/>
                    <a:pt x="95002" y="193964"/>
                    <a:pt x="83127" y="142504"/>
                  </a:cubicBezTo>
                  <a:cubicBezTo>
                    <a:pt x="71252" y="91044"/>
                    <a:pt x="35626" y="45522"/>
                    <a:pt x="0" y="0"/>
                  </a:cubicBezTo>
                </a:path>
              </a:pathLst>
            </a:custGeom>
            <a:noFill/>
            <a:ln w="2857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1962F6F-D33F-49C8-907E-FA6EC295A0C6}"/>
                </a:ext>
              </a:extLst>
            </p:cNvPr>
            <p:cNvSpPr/>
            <p:nvPr/>
          </p:nvSpPr>
          <p:spPr bwMode="auto">
            <a:xfrm>
              <a:off x="1514065" y="3213463"/>
              <a:ext cx="1473075" cy="2351314"/>
            </a:xfrm>
            <a:custGeom>
              <a:avLst/>
              <a:gdLst>
                <a:gd name="connsiteX0" fmla="*/ 14289 w 1473075"/>
                <a:gd name="connsiteY0" fmla="*/ 2351314 h 2351314"/>
                <a:gd name="connsiteX1" fmla="*/ 27352 w 1473075"/>
                <a:gd name="connsiteY1" fmla="*/ 2090057 h 2351314"/>
                <a:gd name="connsiteX2" fmla="*/ 262484 w 1473075"/>
                <a:gd name="connsiteY2" fmla="*/ 1867988 h 2351314"/>
                <a:gd name="connsiteX3" fmla="*/ 484552 w 1473075"/>
                <a:gd name="connsiteY3" fmla="*/ 1685108 h 2351314"/>
                <a:gd name="connsiteX4" fmla="*/ 628244 w 1473075"/>
                <a:gd name="connsiteY4" fmla="*/ 1371600 h 2351314"/>
                <a:gd name="connsiteX5" fmla="*/ 1046255 w 1473075"/>
                <a:gd name="connsiteY5" fmla="*/ 1240971 h 2351314"/>
                <a:gd name="connsiteX6" fmla="*/ 1398952 w 1473075"/>
                <a:gd name="connsiteY6" fmla="*/ 1018903 h 2351314"/>
                <a:gd name="connsiteX7" fmla="*/ 1464266 w 1473075"/>
                <a:gd name="connsiteY7" fmla="*/ 535577 h 2351314"/>
                <a:gd name="connsiteX8" fmla="*/ 1268324 w 1473075"/>
                <a:gd name="connsiteY8" fmla="*/ 261257 h 2351314"/>
                <a:gd name="connsiteX9" fmla="*/ 863375 w 1473075"/>
                <a:gd name="connsiteY9" fmla="*/ 0 h 235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3075" h="2351314">
                  <a:moveTo>
                    <a:pt x="14289" y="2351314"/>
                  </a:moveTo>
                  <a:cubicBezTo>
                    <a:pt x="137" y="2260962"/>
                    <a:pt x="-14014" y="2170611"/>
                    <a:pt x="27352" y="2090057"/>
                  </a:cubicBezTo>
                  <a:cubicBezTo>
                    <a:pt x="68718" y="2009503"/>
                    <a:pt x="186284" y="1935480"/>
                    <a:pt x="262484" y="1867988"/>
                  </a:cubicBezTo>
                  <a:cubicBezTo>
                    <a:pt x="338684" y="1800496"/>
                    <a:pt x="423592" y="1767839"/>
                    <a:pt x="484552" y="1685108"/>
                  </a:cubicBezTo>
                  <a:cubicBezTo>
                    <a:pt x="545512" y="1602377"/>
                    <a:pt x="534627" y="1445623"/>
                    <a:pt x="628244" y="1371600"/>
                  </a:cubicBezTo>
                  <a:cubicBezTo>
                    <a:pt x="721861" y="1297577"/>
                    <a:pt x="917804" y="1299754"/>
                    <a:pt x="1046255" y="1240971"/>
                  </a:cubicBezTo>
                  <a:cubicBezTo>
                    <a:pt x="1174706" y="1182188"/>
                    <a:pt x="1329284" y="1136469"/>
                    <a:pt x="1398952" y="1018903"/>
                  </a:cubicBezTo>
                  <a:cubicBezTo>
                    <a:pt x="1468621" y="901337"/>
                    <a:pt x="1486037" y="661851"/>
                    <a:pt x="1464266" y="535577"/>
                  </a:cubicBezTo>
                  <a:cubicBezTo>
                    <a:pt x="1442495" y="409303"/>
                    <a:pt x="1368472" y="350520"/>
                    <a:pt x="1268324" y="261257"/>
                  </a:cubicBezTo>
                  <a:cubicBezTo>
                    <a:pt x="1168176" y="171994"/>
                    <a:pt x="1015775" y="85997"/>
                    <a:pt x="863375" y="0"/>
                  </a:cubicBezTo>
                </a:path>
              </a:pathLst>
            </a:cu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331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DB2DA0C3-933E-474A-A4CD-5446A926FB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145410" name="Group 2">
            <a:extLst>
              <a:ext uri="{FF2B5EF4-FFF2-40B4-BE49-F238E27FC236}">
                <a16:creationId xmlns:a16="http://schemas.microsoft.com/office/drawing/2014/main" id="{96691509-27D6-47C0-A3B2-417AB0D52BE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533400"/>
          <a:ext cx="8077200" cy="5121276"/>
        </p:xfrm>
        <a:graphic>
          <a:graphicData uri="http://schemas.openxmlformats.org/drawingml/2006/table">
            <a:tbl>
              <a:tblPr/>
              <a:tblGrid>
                <a:gridCol w="27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55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Stack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itchFamily="34" charset="0"/>
                        </a:rPr>
                        <a:t>frequently used methods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Use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push(x)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adds item x to the stack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add(x)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add() is inherited from the Vector class.  Use push() instead.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pop()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and returns an item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peek()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top item with no remove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9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size()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# of items in the stack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2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isEmpty()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checks to see if the stack is empty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367" name="Text Box 30">
            <a:extLst>
              <a:ext uri="{FF2B5EF4-FFF2-40B4-BE49-F238E27FC236}">
                <a16:creationId xmlns:a16="http://schemas.microsoft.com/office/drawing/2014/main" id="{26D96A34-8FE1-4401-97C4-C817333F5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715000"/>
            <a:ext cx="449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import  java.util.Stack;</a:t>
            </a:r>
            <a:endParaRPr lang="en-US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BBB943C8-523D-4EAC-952D-6E75C1F04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85933626-B210-4A03-A924-118DA2F80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Stack&lt;</a:t>
            </a:r>
            <a:r>
              <a:rPr lang="en-US" altLang="en-US" sz="280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>
                <a:latin typeface="Tahoma" panose="020B0604030504040204" pitchFamily="34" charset="0"/>
              </a:rPr>
              <a:t>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 = new Stack&lt;</a:t>
            </a:r>
            <a:r>
              <a:rPr lang="en-US" altLang="en-US" sz="280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>
                <a:latin typeface="Tahoma" panose="020B0604030504040204" pitchFamily="34" charset="0"/>
              </a:rPr>
              <a:t>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out.println(s);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6388" name="WordArt 3">
            <a:extLst>
              <a:ext uri="{FF2B5EF4-FFF2-40B4-BE49-F238E27FC236}">
                <a16:creationId xmlns:a16="http://schemas.microsoft.com/office/drawing/2014/main" id="{C8C69C8A-E150-4C25-908F-C1C3BCF78EA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6400800" cy="1028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push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18FBA09D-5CE7-4909-962D-0D18E3C18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429000"/>
            <a:ext cx="26670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[88, 23, 11]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8CF2C05E-1AA3-48EA-9ADA-00ABBBCBDA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7411" name="WordArt 2">
            <a:extLst>
              <a:ext uri="{FF2B5EF4-FFF2-40B4-BE49-F238E27FC236}">
                <a16:creationId xmlns:a16="http://schemas.microsoft.com/office/drawing/2014/main" id="{2FAEA240-1C4D-4C16-9BE9-8FC51B6D6BC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762000"/>
            <a:ext cx="7620000" cy="502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   stackpush.java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85CEB825-FD4F-423B-9EA4-B03FA48D05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B53FE5A7-D877-4DE2-8C83-A07B6B824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5280"/>
            <a:ext cx="6477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Stack&lt;Integer&gt;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Stack&lt;Integer&gt;();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</p:txBody>
      </p:sp>
      <p:sp>
        <p:nvSpPr>
          <p:cNvPr id="18436" name="WordArt 3">
            <a:extLst>
              <a:ext uri="{FF2B5EF4-FFF2-40B4-BE49-F238E27FC236}">
                <a16:creationId xmlns:a16="http://schemas.microsoft.com/office/drawing/2014/main" id="{3DC5C8F3-52D0-40A0-8FB2-50EFF3F864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48840" y="332550"/>
            <a:ext cx="4627880" cy="74376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pop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6133EBDA-34A5-4956-B05F-CB7E8F0B9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8020" y="3051830"/>
            <a:ext cx="2057400" cy="252376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11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[88, 23]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23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[88]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9432FBC0-EF42-59EC-0908-141A493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40" y="5903893"/>
            <a:ext cx="821182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How many more times can we call pop()?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2B60-0A05-5AC7-8178-7276FBA5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F4988E7D-6295-B258-CF79-67F4BE1B42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85F6AC03-3EC3-3088-7268-40CE3F509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20" y="680720"/>
            <a:ext cx="6477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Stack&lt;Integer&gt;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Stack&lt;Integer&gt;();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FF00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FF0000"/>
                </a:solidFill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solidFill>
                  <a:srgbClr val="FF0000"/>
                </a:solidFill>
                <a:latin typeface="Tahoma" panose="020B0604030504040204" pitchFamily="34" charset="0"/>
              </a:rPr>
              <a:t>());</a:t>
            </a:r>
          </a:p>
        </p:txBody>
      </p:sp>
      <p:sp>
        <p:nvSpPr>
          <p:cNvPr id="18436" name="WordArt 3">
            <a:extLst>
              <a:ext uri="{FF2B5EF4-FFF2-40B4-BE49-F238E27FC236}">
                <a16:creationId xmlns:a16="http://schemas.microsoft.com/office/drawing/2014/main" id="{0D1B0ECC-BC34-A887-8439-529DFD6B8F3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98720" y="402173"/>
            <a:ext cx="3550920" cy="60452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pop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1F65FC0B-83C9-33C0-2E7D-527174DD0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480" y="2194560"/>
            <a:ext cx="4267200" cy="3754874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11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[88, 23]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23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[88]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88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[]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Tahoma" panose="020B0604030504040204" pitchFamily="34" charset="0"/>
              </a:rPr>
              <a:t>EmptyStackException</a:t>
            </a:r>
            <a:endParaRPr lang="en-US" altLang="en-US" sz="2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89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F83B6A9F-516C-42E0-B6AC-36A4930628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9459" name="WordArt 2">
            <a:extLst>
              <a:ext uri="{FF2B5EF4-FFF2-40B4-BE49-F238E27FC236}">
                <a16:creationId xmlns:a16="http://schemas.microsoft.com/office/drawing/2014/main" id="{ACAFCDF3-D9D7-46E7-9E58-F28CA723C3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1371600"/>
            <a:ext cx="7696200" cy="3505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   stackpop.java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E27C4120-4CFB-4175-AB30-53DBDCD5FB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D941F008-E326-4D86-9F50-D4A6DB8B1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Stack&lt;Integer&gt;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Stack&lt;Integer&gt;();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s.peek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</p:txBody>
      </p:sp>
      <p:sp>
        <p:nvSpPr>
          <p:cNvPr id="22532" name="WordArt 3">
            <a:extLst>
              <a:ext uri="{FF2B5EF4-FFF2-40B4-BE49-F238E27FC236}">
                <a16:creationId xmlns:a16="http://schemas.microsoft.com/office/drawing/2014/main" id="{D40FD359-E163-4D86-A17D-7F0772E4A13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400800" cy="952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peek</a:t>
            </a: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A0052C96-0491-4107-A4A2-A2337A9F7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429000"/>
            <a:ext cx="2743200" cy="181133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66FF"/>
                </a:solidFill>
                <a:latin typeface="Tahoma" panose="020B0604030504040204" pitchFamily="34" charset="0"/>
              </a:rPr>
              <a:t>11</a:t>
            </a:r>
            <a:br>
              <a:rPr lang="en-US" altLang="en-US" dirty="0">
                <a:latin typeface="Tahoma" panose="020B0604030504040204" pitchFamily="34" charset="0"/>
              </a:rPr>
            </a:br>
            <a:r>
              <a:rPr lang="en-US" altLang="en-US" dirty="0">
                <a:latin typeface="Tahoma" panose="020B0604030504040204" pitchFamily="34" charset="0"/>
              </a:rPr>
              <a:t>[88, 23, 11]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69091321-4F68-4E88-9F40-E18792DB25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3555" name="WordArt 2">
            <a:extLst>
              <a:ext uri="{FF2B5EF4-FFF2-40B4-BE49-F238E27FC236}">
                <a16:creationId xmlns:a16="http://schemas.microsoft.com/office/drawing/2014/main" id="{4B0822B2-7230-432C-8D75-5DFAB1B8BD1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1219200"/>
            <a:ext cx="7772400" cy="3733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   stackpeek.java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1B5074CA-1752-418C-BDBD-5DAC7B3631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9A5E7C-14B0-25A2-7073-DEE0295313FE}"/>
              </a:ext>
            </a:extLst>
          </p:cNvPr>
          <p:cNvSpPr/>
          <p:nvPr/>
        </p:nvSpPr>
        <p:spPr>
          <a:xfrm>
            <a:off x="505822" y="1266141"/>
            <a:ext cx="8132355" cy="29322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600" b="1" strike="sng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Looping thru a</a:t>
            </a:r>
          </a:p>
          <a:p>
            <a:pPr algn="ctr">
              <a:lnSpc>
                <a:spcPct val="150000"/>
              </a:lnSpc>
            </a:pPr>
            <a:r>
              <a:rPr lang="en-US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Processing a Stack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C60E1-FD80-4F46-DDF1-2AC1C28F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1B40368C-580F-E814-3AAA-240211F9C6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992CA-9CBA-DE39-B069-024ACF56F401}"/>
              </a:ext>
            </a:extLst>
          </p:cNvPr>
          <p:cNvSpPr/>
          <p:nvPr/>
        </p:nvSpPr>
        <p:spPr>
          <a:xfrm>
            <a:off x="868101" y="0"/>
            <a:ext cx="7407797" cy="128907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Processing a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2FFDB-F5AD-1D8D-3312-324188E81ADB}"/>
              </a:ext>
            </a:extLst>
          </p:cNvPr>
          <p:cNvSpPr txBox="1"/>
          <p:nvPr/>
        </p:nvSpPr>
        <p:spPr>
          <a:xfrm>
            <a:off x="842191" y="2069103"/>
            <a:ext cx="7459617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sz="3600" b="0" i="0" dirty="0">
                <a:solidFill>
                  <a:srgbClr val="0A0A0A"/>
                </a:solidFill>
                <a:effectLst/>
                <a:latin typeface="Google Sans"/>
              </a:rPr>
              <a:t>A stack is a type of queue. </a:t>
            </a:r>
          </a:p>
          <a:p>
            <a:pPr>
              <a:spcAft>
                <a:spcPts val="750"/>
              </a:spcAft>
            </a:pPr>
            <a:r>
              <a:rPr lang="en-US" sz="3600" b="0" i="0" dirty="0">
                <a:solidFill>
                  <a:srgbClr val="0A0A0A"/>
                </a:solidFill>
                <a:effectLst/>
                <a:latin typeface="Google Sans"/>
              </a:rPr>
              <a:t>The primary purpose of a queue in is to process data or tasks in a specific, ordered sequence, typically following the</a:t>
            </a:r>
            <a:r>
              <a:rPr lang="en-US" sz="3600" b="0" dirty="0">
                <a:solidFill>
                  <a:srgbClr val="0A0A0A"/>
                </a:solidFill>
                <a:latin typeface="Google Sans"/>
              </a:rPr>
              <a:t> First-In, First-Out (FIFO) principle. 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33261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9A9F-F111-DB6A-AD28-36F6DC94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2BD3DB83-5524-2993-6D28-0B5E1E3203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EEF81B5E-714B-27C3-EE34-314EB801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69367"/>
            <a:ext cx="64770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Stack&lt;Integer&gt;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Stack&lt;Integer&gt;();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(11);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while(!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s.isEmpty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   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0066FF"/>
                </a:solidFill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66FF"/>
                </a:solidFill>
                <a:latin typeface="Tahoma" panose="020B0604030504040204" pitchFamily="34" charset="0"/>
              </a:rPr>
              <a:t>}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 err="1">
                <a:solidFill>
                  <a:srgbClr val="7030A0"/>
                </a:solidFill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(s);</a:t>
            </a:r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F4F68DB6-8BCE-35E4-5D16-1C672CAB9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475" y="2227867"/>
            <a:ext cx="2615377" cy="3785652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[88, 23, 11]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66FF"/>
                </a:solidFill>
                <a:latin typeface="Tahoma" panose="020B0604030504040204" pitchFamily="34" charset="0"/>
              </a:rPr>
              <a:t>11</a:t>
            </a:r>
            <a:br>
              <a:rPr lang="en-US" altLang="en-US" dirty="0">
                <a:solidFill>
                  <a:srgbClr val="0066FF"/>
                </a:solidFill>
                <a:latin typeface="Tahoma" panose="020B0604030504040204" pitchFamily="34" charset="0"/>
              </a:rPr>
            </a:br>
            <a:r>
              <a:rPr lang="en-US" altLang="en-US" dirty="0">
                <a:solidFill>
                  <a:srgbClr val="0066FF"/>
                </a:solidFill>
                <a:latin typeface="Tahoma" panose="020B0604030504040204" pitchFamily="34" charset="0"/>
              </a:rPr>
              <a:t>23</a:t>
            </a:r>
            <a:br>
              <a:rPr lang="en-US" altLang="en-US" dirty="0">
                <a:solidFill>
                  <a:srgbClr val="0066FF"/>
                </a:solidFill>
                <a:latin typeface="Tahoma" panose="020B0604030504040204" pitchFamily="34" charset="0"/>
              </a:rPr>
            </a:br>
            <a:r>
              <a:rPr lang="en-US" altLang="en-US" dirty="0">
                <a:solidFill>
                  <a:srgbClr val="0066FF"/>
                </a:solidFill>
                <a:latin typeface="Tahoma" panose="020B0604030504040204" pitchFamily="34" charset="0"/>
              </a:rPr>
              <a:t>88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[]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D73B1-04A2-294C-7E2D-FADA63868902}"/>
              </a:ext>
            </a:extLst>
          </p:cNvPr>
          <p:cNvSpPr/>
          <p:nvPr/>
        </p:nvSpPr>
        <p:spPr>
          <a:xfrm>
            <a:off x="1225571" y="321261"/>
            <a:ext cx="66928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Processing a Stack</a:t>
            </a:r>
          </a:p>
        </p:txBody>
      </p:sp>
    </p:spTree>
    <p:extLst>
      <p:ext uri="{BB962C8B-B14F-4D97-AF65-F5344CB8AC3E}">
        <p14:creationId xmlns:p14="http://schemas.microsoft.com/office/powerpoint/2010/main" val="3329232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BD0E922E-5B1E-D42F-1B46-6EF7272F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 limitations/idioms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99564-4E78-AF3B-6C3C-EEDA43ED616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Remember:  You can’t loop over a stack like you do a list.</a:t>
            </a: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Stack&lt;Integer&gt; s = new Stack&lt;Integer&gt;();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/>
              <a:t>...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for (int i = 0; i &lt; s.size(); i++) {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    </a:t>
            </a:r>
            <a:r>
              <a:rPr lang="en-US" altLang="en-US" b="1"/>
              <a:t>do something with </a:t>
            </a:r>
            <a:r>
              <a:rPr lang="en-US" altLang="en-US">
                <a:latin typeface="Courier New" panose="02070309020205020404" pitchFamily="49" charset="0"/>
              </a:rPr>
              <a:t>s.get(i);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Instead, you pull contents out of the stack to view them.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Idiom: Remove each element until the stack is empty.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while (!s.isEmpty()) {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    </a:t>
            </a:r>
            <a:r>
              <a:rPr lang="en-US" altLang="en-US" b="1"/>
              <a:t>do something with</a:t>
            </a:r>
            <a:r>
              <a:rPr lang="en-US" altLang="en-US">
                <a:latin typeface="Courier New" panose="02070309020205020404" pitchFamily="49" charset="0"/>
              </a:rPr>
              <a:t> s.pop();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194066A5-0F3A-059F-CF03-7F3985CC2DBA}"/>
              </a:ext>
            </a:extLst>
          </p:cNvPr>
          <p:cNvGrpSpPr>
            <a:grpSpLocks/>
          </p:cNvGrpSpPr>
          <p:nvPr/>
        </p:nvGrpSpPr>
        <p:grpSpPr bwMode="auto">
          <a:xfrm>
            <a:off x="1181100" y="2593975"/>
            <a:ext cx="5410200" cy="990600"/>
            <a:chOff x="576" y="1488"/>
            <a:chExt cx="3744" cy="624"/>
          </a:xfrm>
        </p:grpSpPr>
        <p:sp>
          <p:nvSpPr>
            <p:cNvPr id="23558" name="Line 4">
              <a:extLst>
                <a:ext uri="{FF2B5EF4-FFF2-40B4-BE49-F238E27FC236}">
                  <a16:creationId xmlns:a16="http://schemas.microsoft.com/office/drawing/2014/main" id="{D15B1A59-5557-D163-F535-64FAD5BE9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536"/>
              <a:ext cx="3744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559" name="Line 5">
              <a:extLst>
                <a:ext uri="{FF2B5EF4-FFF2-40B4-BE49-F238E27FC236}">
                  <a16:creationId xmlns:a16="http://schemas.microsoft.com/office/drawing/2014/main" id="{06DE2FE2-EE52-DA80-737A-530A4A815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1488"/>
              <a:ext cx="3744" cy="6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45C9F722-CE63-4217-B572-C0F3403B6D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5603" name="WordArt 2">
            <a:extLst>
              <a:ext uri="{FF2B5EF4-FFF2-40B4-BE49-F238E27FC236}">
                <a16:creationId xmlns:a16="http://schemas.microsoft.com/office/drawing/2014/main" id="{F9B3CA34-4AC3-4ED3-B8C5-46D6B5451F4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143000"/>
            <a:ext cx="7543800" cy="419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stackisempty.java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E054F22-EC08-1097-7BC3-E41910FE3A6A}"/>
              </a:ext>
            </a:extLst>
          </p:cNvPr>
          <p:cNvGrpSpPr/>
          <p:nvPr/>
        </p:nvGrpSpPr>
        <p:grpSpPr>
          <a:xfrm>
            <a:off x="89212" y="82399"/>
            <a:ext cx="9054788" cy="6413246"/>
            <a:chOff x="89212" y="82399"/>
            <a:chExt cx="9054788" cy="6413246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2EEEA872-1AD6-4D8A-BA9E-56215F411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72" r="28207" b="5715"/>
            <a:stretch>
              <a:fillRect/>
            </a:stretch>
          </p:blipFill>
          <p:spPr>
            <a:xfrm>
              <a:off x="2392680" y="1241695"/>
              <a:ext cx="6446520" cy="505750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BD94DB-AF8C-4271-8AAF-5FEBE64545F0}"/>
                </a:ext>
              </a:extLst>
            </p:cNvPr>
            <p:cNvSpPr txBox="1"/>
            <p:nvPr/>
          </p:nvSpPr>
          <p:spPr>
            <a:xfrm>
              <a:off x="4145280" y="797560"/>
              <a:ext cx="9906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 err="1">
                  <a:latin typeface="Trebuchet MS" panose="020B0603020202020204" pitchFamily="34" charset="0"/>
                </a:rPr>
                <a:t>Iterable</a:t>
              </a:r>
              <a:endParaRPr lang="en-US" sz="1800" b="0" dirty="0">
                <a:latin typeface="Trebuchet MS" panose="020B060302020202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93A14E-A7F9-4DAE-9F96-047493831E96}"/>
                </a:ext>
              </a:extLst>
            </p:cNvPr>
            <p:cNvCxnSpPr/>
            <p:nvPr/>
          </p:nvCxnSpPr>
          <p:spPr bwMode="auto">
            <a:xfrm flipV="1">
              <a:off x="4678680" y="1074559"/>
              <a:ext cx="0" cy="40880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1E45EF-741A-4360-9E9B-907DFDA7AB3B}"/>
                </a:ext>
              </a:extLst>
            </p:cNvPr>
            <p:cNvSpPr txBox="1"/>
            <p:nvPr/>
          </p:nvSpPr>
          <p:spPr>
            <a:xfrm>
              <a:off x="3307080" y="5521960"/>
              <a:ext cx="9906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>
                  <a:latin typeface="Trebuchet MS" panose="020B0603020202020204" pitchFamily="34" charset="0"/>
                </a:rPr>
                <a:t>Vector</a:t>
              </a:r>
              <a:endParaRPr lang="en-US" sz="1800" b="0" dirty="0">
                <a:latin typeface="Trebuchet MS" panose="020B0603020202020204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D4EC805-A914-4D32-9271-9732374B1E35}"/>
                </a:ext>
              </a:extLst>
            </p:cNvPr>
            <p:cNvCxnSpPr/>
            <p:nvPr/>
          </p:nvCxnSpPr>
          <p:spPr bwMode="auto">
            <a:xfrm flipV="1">
              <a:off x="3831277" y="5096579"/>
              <a:ext cx="588323" cy="438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BB8A78-8837-49C7-BC04-01670246786D}"/>
                </a:ext>
              </a:extLst>
            </p:cNvPr>
            <p:cNvSpPr txBox="1"/>
            <p:nvPr/>
          </p:nvSpPr>
          <p:spPr>
            <a:xfrm>
              <a:off x="3307080" y="6218646"/>
              <a:ext cx="990600" cy="276999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Stack</a:t>
              </a:r>
              <a:endParaRPr lang="en-US" sz="1800" dirty="0">
                <a:solidFill>
                  <a:srgbClr val="7030A0"/>
                </a:solidFill>
                <a:latin typeface="Trebuchet MS" panose="020B0603020202020204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FA7A10-55D4-4623-8384-D4ED774C0CF7}"/>
                </a:ext>
              </a:extLst>
            </p:cNvPr>
            <p:cNvCxnSpPr/>
            <p:nvPr/>
          </p:nvCxnSpPr>
          <p:spPr bwMode="auto">
            <a:xfrm flipH="1">
              <a:off x="2653030" y="5660460"/>
              <a:ext cx="65405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2F84C63-F68E-4853-B548-037FE5987323}"/>
                </a:ext>
              </a:extLst>
            </p:cNvPr>
            <p:cNvSpPr/>
            <p:nvPr/>
          </p:nvSpPr>
          <p:spPr bwMode="auto">
            <a:xfrm>
              <a:off x="3777145" y="5813895"/>
              <a:ext cx="88425" cy="391886"/>
            </a:xfrm>
            <a:custGeom>
              <a:avLst/>
              <a:gdLst>
                <a:gd name="connsiteX0" fmla="*/ 0 w 88425"/>
                <a:gd name="connsiteY0" fmla="*/ 391886 h 391886"/>
                <a:gd name="connsiteX1" fmla="*/ 71252 w 88425"/>
                <a:gd name="connsiteY1" fmla="*/ 308759 h 391886"/>
                <a:gd name="connsiteX2" fmla="*/ 83127 w 88425"/>
                <a:gd name="connsiteY2" fmla="*/ 142504 h 391886"/>
                <a:gd name="connsiteX3" fmla="*/ 0 w 88425"/>
                <a:gd name="connsiteY3" fmla="*/ 0 h 391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25" h="391886">
                  <a:moveTo>
                    <a:pt x="0" y="391886"/>
                  </a:moveTo>
                  <a:cubicBezTo>
                    <a:pt x="28699" y="371104"/>
                    <a:pt x="57398" y="350323"/>
                    <a:pt x="71252" y="308759"/>
                  </a:cubicBezTo>
                  <a:cubicBezTo>
                    <a:pt x="85107" y="267195"/>
                    <a:pt x="95002" y="193964"/>
                    <a:pt x="83127" y="142504"/>
                  </a:cubicBezTo>
                  <a:cubicBezTo>
                    <a:pt x="71252" y="91044"/>
                    <a:pt x="35626" y="45522"/>
                    <a:pt x="0" y="0"/>
                  </a:cubicBezTo>
                </a:path>
              </a:pathLst>
            </a:custGeom>
            <a:noFill/>
            <a:ln w="2857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1962F6F-D33F-49C8-907E-FA6EC295A0C6}"/>
                </a:ext>
              </a:extLst>
            </p:cNvPr>
            <p:cNvSpPr/>
            <p:nvPr/>
          </p:nvSpPr>
          <p:spPr bwMode="auto">
            <a:xfrm>
              <a:off x="3830545" y="3172823"/>
              <a:ext cx="1473075" cy="2351314"/>
            </a:xfrm>
            <a:custGeom>
              <a:avLst/>
              <a:gdLst>
                <a:gd name="connsiteX0" fmla="*/ 14289 w 1473075"/>
                <a:gd name="connsiteY0" fmla="*/ 2351314 h 2351314"/>
                <a:gd name="connsiteX1" fmla="*/ 27352 w 1473075"/>
                <a:gd name="connsiteY1" fmla="*/ 2090057 h 2351314"/>
                <a:gd name="connsiteX2" fmla="*/ 262484 w 1473075"/>
                <a:gd name="connsiteY2" fmla="*/ 1867988 h 2351314"/>
                <a:gd name="connsiteX3" fmla="*/ 484552 w 1473075"/>
                <a:gd name="connsiteY3" fmla="*/ 1685108 h 2351314"/>
                <a:gd name="connsiteX4" fmla="*/ 628244 w 1473075"/>
                <a:gd name="connsiteY4" fmla="*/ 1371600 h 2351314"/>
                <a:gd name="connsiteX5" fmla="*/ 1046255 w 1473075"/>
                <a:gd name="connsiteY5" fmla="*/ 1240971 h 2351314"/>
                <a:gd name="connsiteX6" fmla="*/ 1398952 w 1473075"/>
                <a:gd name="connsiteY6" fmla="*/ 1018903 h 2351314"/>
                <a:gd name="connsiteX7" fmla="*/ 1464266 w 1473075"/>
                <a:gd name="connsiteY7" fmla="*/ 535577 h 2351314"/>
                <a:gd name="connsiteX8" fmla="*/ 1268324 w 1473075"/>
                <a:gd name="connsiteY8" fmla="*/ 261257 h 2351314"/>
                <a:gd name="connsiteX9" fmla="*/ 863375 w 1473075"/>
                <a:gd name="connsiteY9" fmla="*/ 0 h 235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3075" h="2351314">
                  <a:moveTo>
                    <a:pt x="14289" y="2351314"/>
                  </a:moveTo>
                  <a:cubicBezTo>
                    <a:pt x="137" y="2260962"/>
                    <a:pt x="-14014" y="2170611"/>
                    <a:pt x="27352" y="2090057"/>
                  </a:cubicBezTo>
                  <a:cubicBezTo>
                    <a:pt x="68718" y="2009503"/>
                    <a:pt x="186284" y="1935480"/>
                    <a:pt x="262484" y="1867988"/>
                  </a:cubicBezTo>
                  <a:cubicBezTo>
                    <a:pt x="338684" y="1800496"/>
                    <a:pt x="423592" y="1767839"/>
                    <a:pt x="484552" y="1685108"/>
                  </a:cubicBezTo>
                  <a:cubicBezTo>
                    <a:pt x="545512" y="1602377"/>
                    <a:pt x="534627" y="1445623"/>
                    <a:pt x="628244" y="1371600"/>
                  </a:cubicBezTo>
                  <a:cubicBezTo>
                    <a:pt x="721861" y="1297577"/>
                    <a:pt x="917804" y="1299754"/>
                    <a:pt x="1046255" y="1240971"/>
                  </a:cubicBezTo>
                  <a:cubicBezTo>
                    <a:pt x="1174706" y="1182188"/>
                    <a:pt x="1329284" y="1136469"/>
                    <a:pt x="1398952" y="1018903"/>
                  </a:cubicBezTo>
                  <a:cubicBezTo>
                    <a:pt x="1468621" y="901337"/>
                    <a:pt x="1486037" y="661851"/>
                    <a:pt x="1464266" y="535577"/>
                  </a:cubicBezTo>
                  <a:cubicBezTo>
                    <a:pt x="1442495" y="409303"/>
                    <a:pt x="1368472" y="350520"/>
                    <a:pt x="1268324" y="261257"/>
                  </a:cubicBezTo>
                  <a:cubicBezTo>
                    <a:pt x="1168176" y="171994"/>
                    <a:pt x="1015775" y="85997"/>
                    <a:pt x="863375" y="0"/>
                  </a:cubicBez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C50F5E6-EAAA-C4E6-486A-010BF615568B}"/>
                </a:ext>
              </a:extLst>
            </p:cNvPr>
            <p:cNvSpPr/>
            <p:nvPr/>
          </p:nvSpPr>
          <p:spPr bwMode="auto">
            <a:xfrm>
              <a:off x="6766560" y="5974080"/>
              <a:ext cx="2377440" cy="52156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C6B8E5-9C83-F456-26A9-FEAB696B8F94}"/>
                </a:ext>
              </a:extLst>
            </p:cNvPr>
            <p:cNvSpPr txBox="1"/>
            <p:nvPr/>
          </p:nvSpPr>
          <p:spPr>
            <a:xfrm>
              <a:off x="772160" y="1351280"/>
              <a:ext cx="883896" cy="4924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lIns="182880" tIns="137160" rIns="182880" bIns="137160" rtlCol="0">
              <a:spAutoFit/>
            </a:bodyPr>
            <a:lstStyle/>
            <a:p>
              <a:r>
                <a:rPr lang="en-US" sz="1400" b="0" dirty="0">
                  <a:ea typeface="Tahoma" panose="020B0604030504040204" pitchFamily="34" charset="0"/>
                  <a:cs typeface="Tahoma" panose="020B0604030504040204" pitchFamily="34" charset="0"/>
                </a:rPr>
                <a:t>Queue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ED2C27E-E26D-636F-86BE-3C5FD7F41E14}"/>
                </a:ext>
              </a:extLst>
            </p:cNvPr>
            <p:cNvCxnSpPr>
              <a:stCxn id="11" idx="3"/>
            </p:cNvCxnSpPr>
            <p:nvPr/>
          </p:nvCxnSpPr>
          <p:spPr bwMode="auto">
            <a:xfrm flipV="1">
              <a:off x="1656056" y="1597501"/>
              <a:ext cx="2459222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8B30C9-B6C4-B8D9-D542-922D5EEA4B01}"/>
                </a:ext>
              </a:extLst>
            </p:cNvPr>
            <p:cNvSpPr txBox="1"/>
            <p:nvPr/>
          </p:nvSpPr>
          <p:spPr>
            <a:xfrm>
              <a:off x="1208793" y="2283562"/>
              <a:ext cx="879087" cy="4924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lIns="182880" tIns="137160" rIns="182880" bIns="137160" rtlCol="0">
              <a:spAutoFit/>
            </a:bodyPr>
            <a:lstStyle/>
            <a:p>
              <a:r>
                <a:rPr lang="en-US" sz="1400" b="0" dirty="0">
                  <a:ea typeface="Tahoma" panose="020B0604030504040204" pitchFamily="34" charset="0"/>
                  <a:cs typeface="Tahoma" panose="020B0604030504040204" pitchFamily="34" charset="0"/>
                </a:rPr>
                <a:t>Deque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821786-0D4D-9D38-D823-FD74AD9EB2A5}"/>
                </a:ext>
              </a:extLst>
            </p:cNvPr>
            <p:cNvSpPr txBox="1"/>
            <p:nvPr/>
          </p:nvSpPr>
          <p:spPr>
            <a:xfrm>
              <a:off x="89212" y="3027997"/>
              <a:ext cx="1584536" cy="492443"/>
            </a:xfrm>
            <a:prstGeom prst="rect">
              <a:avLst/>
            </a:prstGeom>
            <a:solidFill>
              <a:srgbClr val="CAC9CE"/>
            </a:solidFill>
            <a:ln>
              <a:solidFill>
                <a:schemeClr val="tx1"/>
              </a:solidFill>
            </a:ln>
          </p:spPr>
          <p:txBody>
            <a:bodyPr wrap="none" lIns="182880" tIns="137160" rIns="182880" bIns="137160" rtlCol="0">
              <a:spAutoFit/>
            </a:bodyPr>
            <a:lstStyle/>
            <a:p>
              <a:r>
                <a:rPr lang="en-US" sz="1400" b="0" dirty="0">
                  <a:ea typeface="Tahoma" panose="020B0604030504040204" pitchFamily="34" charset="0"/>
                  <a:cs typeface="Tahoma" panose="020B0604030504040204" pitchFamily="34" charset="0"/>
                </a:rPr>
                <a:t>Abstract Queue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2578E66-3A83-E43E-9F6D-0BF467E2117A}"/>
                </a:ext>
              </a:extLst>
            </p:cNvPr>
            <p:cNvCxnSpPr>
              <a:stCxn id="15" idx="0"/>
              <a:endCxn id="11" idx="2"/>
            </p:cNvCxnSpPr>
            <p:nvPr/>
          </p:nvCxnSpPr>
          <p:spPr bwMode="auto">
            <a:xfrm flipH="1" flipV="1">
              <a:off x="1214108" y="1843723"/>
              <a:ext cx="434229" cy="43983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D780EB9-B7E5-6DBF-4CF0-1A415145C980}"/>
                </a:ext>
              </a:extLst>
            </p:cNvPr>
            <p:cNvCxnSpPr>
              <a:stCxn id="16" idx="0"/>
            </p:cNvCxnSpPr>
            <p:nvPr/>
          </p:nvCxnSpPr>
          <p:spPr bwMode="auto">
            <a:xfrm flipV="1">
              <a:off x="881480" y="1843723"/>
              <a:ext cx="269996" cy="11842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E5D698-30F2-034E-D828-B8B2CCE3FCD8}"/>
                </a:ext>
              </a:extLst>
            </p:cNvPr>
            <p:cNvSpPr txBox="1"/>
            <p:nvPr/>
          </p:nvSpPr>
          <p:spPr>
            <a:xfrm>
              <a:off x="133262" y="4264875"/>
              <a:ext cx="1496435" cy="4924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lIns="182880" tIns="137160" rIns="182880" bIns="137160" rtlCol="0">
              <a:spAutoFit/>
            </a:bodyPr>
            <a:lstStyle/>
            <a:p>
              <a:r>
                <a:rPr lang="en-US" sz="1400" b="0" dirty="0">
                  <a:ea typeface="Tahoma" panose="020B0604030504040204" pitchFamily="34" charset="0"/>
                  <a:cs typeface="Tahoma" panose="020B0604030504040204" pitchFamily="34" charset="0"/>
                </a:rPr>
                <a:t>Priority Queue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B25EB27-1738-7382-A918-67720E3E9F1A}"/>
                </a:ext>
              </a:extLst>
            </p:cNvPr>
            <p:cNvCxnSpPr>
              <a:stCxn id="25" idx="0"/>
              <a:endCxn id="16" idx="2"/>
            </p:cNvCxnSpPr>
            <p:nvPr/>
          </p:nvCxnSpPr>
          <p:spPr bwMode="auto">
            <a:xfrm flipV="1">
              <a:off x="881480" y="3520440"/>
              <a:ext cx="0" cy="74443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892A140-3251-07A1-D97F-50190CDFAAEE}"/>
                </a:ext>
              </a:extLst>
            </p:cNvPr>
            <p:cNvCxnSpPr/>
            <p:nvPr/>
          </p:nvCxnSpPr>
          <p:spPr bwMode="auto">
            <a:xfrm flipH="1" flipV="1">
              <a:off x="2087880" y="2776005"/>
              <a:ext cx="1346200" cy="99444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80FD6F5-68A0-FE2E-3B65-9B8C6669A53C}"/>
                </a:ext>
              </a:extLst>
            </p:cNvPr>
            <p:cNvSpPr txBox="1"/>
            <p:nvPr/>
          </p:nvSpPr>
          <p:spPr>
            <a:xfrm>
              <a:off x="2108716" y="82399"/>
              <a:ext cx="4916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The Java Collections Hierarchy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6991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BBB943C8-523D-4EAC-952D-6E75C1F04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85933626-B210-4A03-A924-118DA2F80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Stack&lt;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 dirty="0">
                <a:latin typeface="Tahoma" panose="020B0604030504040204" pitchFamily="34" charset="0"/>
              </a:rPr>
              <a:t>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Stack&lt;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 dirty="0">
                <a:latin typeface="Tahoma" panose="020B0604030504040204" pitchFamily="34" charset="0"/>
              </a:rPr>
              <a:t>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18FBA09D-5CE7-4909-962D-0D18E3C18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429000"/>
            <a:ext cx="2667000" cy="2308324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[88, 23, </a:t>
            </a:r>
            <a:r>
              <a:rPr lang="en-US" altLang="en-US" dirty="0">
                <a:highlight>
                  <a:srgbClr val="FFFF00"/>
                </a:highlight>
                <a:latin typeface="Tahoma" panose="020B0604030504040204" pitchFamily="34" charset="0"/>
              </a:rPr>
              <a:t>11</a:t>
            </a:r>
            <a:r>
              <a:rPr lang="en-US" altLang="en-US" dirty="0">
                <a:latin typeface="Tahoma" panose="020B0604030504040204" pitchFamily="34" charset="0"/>
              </a:rPr>
              <a:t>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[88, 23]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FD71F-A232-08FB-7CE9-A59F44C9C012}"/>
              </a:ext>
            </a:extLst>
          </p:cNvPr>
          <p:cNvSpPr/>
          <p:nvPr/>
        </p:nvSpPr>
        <p:spPr>
          <a:xfrm>
            <a:off x="508027" y="450234"/>
            <a:ext cx="840326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Array-based Stacks</a:t>
            </a:r>
            <a:endParaRPr lang="en-US" sz="66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5548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2">
            <a:extLst>
              <a:ext uri="{FF2B5EF4-FFF2-40B4-BE49-F238E27FC236}">
                <a16:creationId xmlns:a16="http://schemas.microsoft.com/office/drawing/2014/main" id="{85933626-B210-4A03-A924-118DA2F80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359736"/>
            <a:ext cx="64770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LinkedList</a:t>
            </a:r>
            <a:r>
              <a:rPr lang="en-US" altLang="en-US" sz="2800" dirty="0">
                <a:latin typeface="Tahoma" panose="020B0604030504040204" pitchFamily="34" charset="0"/>
              </a:rPr>
              <a:t>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</a:t>
            </a: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LinkedList</a:t>
            </a:r>
            <a:r>
              <a:rPr lang="en-US" altLang="en-US" sz="2800" dirty="0">
                <a:latin typeface="Tahoma" panose="020B0604030504040204" pitchFamily="34" charset="0"/>
              </a:rPr>
              <a:t>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>
                <a:highlight>
                  <a:srgbClr val="FFFF00"/>
                </a:highlight>
                <a:latin typeface="Tahoma" panose="020B0604030504040204" pitchFamily="34" charset="0"/>
              </a:rPr>
              <a:t>11</a:t>
            </a: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latin typeface="Tahoma" panose="020B0604030504040204" pitchFamily="34" charset="0"/>
              </a:rPr>
              <a:t>());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18FBA09D-5CE7-4909-962D-0D18E3C18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655136"/>
            <a:ext cx="2667000" cy="2308324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</a:t>
            </a:r>
            <a:r>
              <a:rPr lang="en-US" altLang="en-US" dirty="0">
                <a:highlight>
                  <a:srgbClr val="FFFF00"/>
                </a:highlight>
                <a:latin typeface="Tahoma" panose="020B0604030504040204" pitchFamily="34" charset="0"/>
              </a:rPr>
              <a:t>11</a:t>
            </a:r>
            <a:r>
              <a:rPr lang="en-US" altLang="en-US" dirty="0">
                <a:latin typeface="Tahoma" panose="020B0604030504040204" pitchFamily="34" charset="0"/>
              </a:rPr>
              <a:t>, 23, 88]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[23, 88]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3CC222-9644-1495-22EB-9FDE367D597E}"/>
              </a:ext>
            </a:extLst>
          </p:cNvPr>
          <p:cNvSpPr/>
          <p:nvPr/>
        </p:nvSpPr>
        <p:spPr>
          <a:xfrm>
            <a:off x="144868" y="134236"/>
            <a:ext cx="8576345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LinkedList-based Stacks</a:t>
            </a:r>
            <a:endParaRPr lang="en-US" sz="60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439626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3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4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2042</TotalTime>
  <Words>1325</Words>
  <Application>Microsoft Office PowerPoint</Application>
  <PresentationFormat>On-screen Show (4:3)</PresentationFormat>
  <Paragraphs>318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Arial</vt:lpstr>
      <vt:lpstr>Arial Black</vt:lpstr>
      <vt:lpstr>Bookman Old Style</vt:lpstr>
      <vt:lpstr>Courier New</vt:lpstr>
      <vt:lpstr>Gill Sans MT</vt:lpstr>
      <vt:lpstr>Google Sans</vt:lpstr>
      <vt:lpstr>Impact</vt:lpstr>
      <vt:lpstr>Tahoma</vt:lpstr>
      <vt:lpstr>Times New Roman</vt:lpstr>
      <vt:lpstr>Trebuchet MS</vt:lpstr>
      <vt:lpstr>Wingdings</vt:lpstr>
      <vt:lpstr>Wingdings 3</vt:lpstr>
      <vt:lpstr>Blank Presentation</vt:lpstr>
      <vt:lpstr>Origin</vt:lpstr>
      <vt:lpstr>1_Origin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Stacks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Stack limitations/idioms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subject>Stacks</dc:subject>
  <dc:creator>A+ Computer Science</dc:creator>
  <cp:keywords>www.apluscompsci.com</cp:keywords>
  <dc:description>Stacks_x000d_
©A+ Computer Science_x000d_
www.apluscompsci.com</dc:description>
  <cp:lastModifiedBy>Weldon Jasik</cp:lastModifiedBy>
  <cp:revision>279</cp:revision>
  <cp:lastPrinted>1999-11-08T17:20:25Z</cp:lastPrinted>
  <dcterms:created xsi:type="dcterms:W3CDTF">1997-11-03T14:43:20Z</dcterms:created>
  <dcterms:modified xsi:type="dcterms:W3CDTF">2025-11-14T20:01:27Z</dcterms:modified>
  <cp:category>www.apluscompsci.com</cp:category>
</cp:coreProperties>
</file>
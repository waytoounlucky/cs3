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0"/>
  </p:notesMasterIdLst>
  <p:handoutMasterIdLst>
    <p:handoutMasterId r:id="rId41"/>
  </p:handoutMasterIdLst>
  <p:sldIdLst>
    <p:sldId id="258" r:id="rId2"/>
    <p:sldId id="502" r:id="rId3"/>
    <p:sldId id="503" r:id="rId4"/>
    <p:sldId id="504" r:id="rId5"/>
    <p:sldId id="528" r:id="rId6"/>
    <p:sldId id="505" r:id="rId7"/>
    <p:sldId id="507" r:id="rId8"/>
    <p:sldId id="529" r:id="rId9"/>
    <p:sldId id="508" r:id="rId10"/>
    <p:sldId id="509" r:id="rId11"/>
    <p:sldId id="510" r:id="rId12"/>
    <p:sldId id="512" r:id="rId13"/>
    <p:sldId id="513" r:id="rId14"/>
    <p:sldId id="433" r:id="rId15"/>
    <p:sldId id="440" r:id="rId16"/>
    <p:sldId id="530" r:id="rId17"/>
    <p:sldId id="413" r:id="rId18"/>
    <p:sldId id="416" r:id="rId19"/>
    <p:sldId id="448" r:id="rId20"/>
    <p:sldId id="447" r:id="rId21"/>
    <p:sldId id="432" r:id="rId22"/>
    <p:sldId id="446" r:id="rId23"/>
    <p:sldId id="409" r:id="rId24"/>
    <p:sldId id="436" r:id="rId25"/>
    <p:sldId id="481" r:id="rId26"/>
    <p:sldId id="523" r:id="rId27"/>
    <p:sldId id="518" r:id="rId28"/>
    <p:sldId id="519" r:id="rId29"/>
    <p:sldId id="520" r:id="rId30"/>
    <p:sldId id="521" r:id="rId31"/>
    <p:sldId id="522" r:id="rId32"/>
    <p:sldId id="486" r:id="rId33"/>
    <p:sldId id="487" r:id="rId34"/>
    <p:sldId id="524" r:id="rId35"/>
    <p:sldId id="488" r:id="rId36"/>
    <p:sldId id="489" r:id="rId37"/>
    <p:sldId id="525" r:id="rId38"/>
    <p:sldId id="437" r:id="rId39"/>
  </p:sldIdLst>
  <p:sldSz cx="9144000" cy="6858000" type="screen4x3"/>
  <p:notesSz cx="6858000" cy="9144000"/>
  <p:custDataLst>
    <p:tags r:id="rId42"/>
  </p:custDataLst>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3333CC"/>
    <a:srgbClr val="3333FF"/>
    <a:srgbClr val="660033"/>
    <a:srgbClr val="006666"/>
    <a:srgbClr val="0000CC"/>
    <a:srgbClr val="FFFF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4833" autoAdjust="0"/>
    <p:restoredTop sz="80195" autoAdjust="0"/>
  </p:normalViewPr>
  <p:slideViewPr>
    <p:cSldViewPr>
      <p:cViewPr varScale="1">
        <p:scale>
          <a:sx n="82" d="100"/>
          <a:sy n="82" d="100"/>
        </p:scale>
        <p:origin x="821"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66" d="100"/>
          <a:sy n="66" d="100"/>
        </p:scale>
        <p:origin x="-2376"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44E791A-19F8-731B-A172-D36F1EA4EE0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eaLnBrk="0" hangingPunct="0">
              <a:defRPr sz="1200"/>
            </a:lvl1pPr>
          </a:lstStyle>
          <a:p>
            <a:pPr>
              <a:defRPr/>
            </a:pPr>
            <a:endParaRPr lang="en-US"/>
          </a:p>
        </p:txBody>
      </p:sp>
      <p:sp>
        <p:nvSpPr>
          <p:cNvPr id="3075" name="Rectangle 3">
            <a:extLst>
              <a:ext uri="{FF2B5EF4-FFF2-40B4-BE49-F238E27FC236}">
                <a16:creationId xmlns:a16="http://schemas.microsoft.com/office/drawing/2014/main" id="{B4629DA5-EEE2-F92B-C994-B1355CBFDB7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r" eaLnBrk="0" hangingPunct="0">
              <a:defRPr sz="1200"/>
            </a:lvl1pPr>
          </a:lstStyle>
          <a:p>
            <a:pPr>
              <a:defRPr/>
            </a:pPr>
            <a:endParaRPr lang="en-US"/>
          </a:p>
        </p:txBody>
      </p:sp>
      <p:sp>
        <p:nvSpPr>
          <p:cNvPr id="3076" name="Rectangle 4">
            <a:extLst>
              <a:ext uri="{FF2B5EF4-FFF2-40B4-BE49-F238E27FC236}">
                <a16:creationId xmlns:a16="http://schemas.microsoft.com/office/drawing/2014/main" id="{783B99D6-ADAD-5D8F-03A5-C61C38BF5E05}"/>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eaLnBrk="0" hangingPunct="0">
              <a:defRPr sz="1200"/>
            </a:lvl1pPr>
          </a:lstStyle>
          <a:p>
            <a:pPr>
              <a:defRPr/>
            </a:pPr>
            <a:endParaRPr lang="en-US"/>
          </a:p>
        </p:txBody>
      </p:sp>
      <p:sp>
        <p:nvSpPr>
          <p:cNvPr id="3077" name="Rectangle 5">
            <a:extLst>
              <a:ext uri="{FF2B5EF4-FFF2-40B4-BE49-F238E27FC236}">
                <a16:creationId xmlns:a16="http://schemas.microsoft.com/office/drawing/2014/main" id="{BEEC290F-D0DA-3C84-63F2-880C78C7D0F7}"/>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2075" tIns="46038" rIns="92075" bIns="46038" numCol="1" anchor="b" anchorCtr="0" compatLnSpc="1">
            <a:prstTxWarp prst="textNoShape">
              <a:avLst/>
            </a:prstTxWarp>
          </a:bodyPr>
          <a:lstStyle>
            <a:lvl1pPr algn="r">
              <a:defRPr sz="1200"/>
            </a:lvl1pPr>
          </a:lstStyle>
          <a:p>
            <a:fld id="{BDF75C04-4353-443E-9DAE-7033D80EBBCC}"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0DC43BF-9B0C-8E4E-0AB5-16542D884C1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eaLnBrk="0" hangingPunct="0">
              <a:defRPr sz="1200"/>
            </a:lvl1pPr>
          </a:lstStyle>
          <a:p>
            <a:pPr>
              <a:defRPr/>
            </a:pPr>
            <a:endParaRPr lang="en-US"/>
          </a:p>
        </p:txBody>
      </p:sp>
      <p:sp>
        <p:nvSpPr>
          <p:cNvPr id="2051" name="Rectangle 3">
            <a:extLst>
              <a:ext uri="{FF2B5EF4-FFF2-40B4-BE49-F238E27FC236}">
                <a16:creationId xmlns:a16="http://schemas.microsoft.com/office/drawing/2014/main" id="{A78FB6D6-F511-A6A1-7798-952AB60F7E98}"/>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r" eaLnBrk="0" hangingPunct="0">
              <a:defRPr sz="1200"/>
            </a:lvl1pPr>
          </a:lstStyle>
          <a:p>
            <a:pPr>
              <a:defRPr/>
            </a:pPr>
            <a:endParaRPr lang="en-US"/>
          </a:p>
        </p:txBody>
      </p:sp>
      <p:sp>
        <p:nvSpPr>
          <p:cNvPr id="13316" name="Rectangle 4">
            <a:extLst>
              <a:ext uri="{FF2B5EF4-FFF2-40B4-BE49-F238E27FC236}">
                <a16:creationId xmlns:a16="http://schemas.microsoft.com/office/drawing/2014/main" id="{E6155123-ED14-540E-7FED-B92E9C884974}"/>
              </a:ext>
            </a:extLst>
          </p:cNvPr>
          <p:cNvSpPr>
            <a:spLocks noGrp="1" noRot="1" noChangeAspect="1" noChangeArrowheads="1" noTextEdit="1"/>
          </p:cNvSpPr>
          <p:nvPr>
            <p:ph type="sldImg" idx="2"/>
          </p:nvPr>
        </p:nvSpPr>
        <p:spPr bwMode="auto">
          <a:xfrm>
            <a:off x="1144588" y="687388"/>
            <a:ext cx="4568825" cy="3425825"/>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a:extLst>
              <a:ext uri="{FF2B5EF4-FFF2-40B4-BE49-F238E27FC236}">
                <a16:creationId xmlns:a16="http://schemas.microsoft.com/office/drawing/2014/main" id="{8E3EEF90-FD02-8868-A97B-77CCA989453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7046" name="Rectangle 8">
            <a:extLst>
              <a:ext uri="{FF2B5EF4-FFF2-40B4-BE49-F238E27FC236}">
                <a16:creationId xmlns:a16="http://schemas.microsoft.com/office/drawing/2014/main" id="{34C44FC0-221A-CBFA-1A35-47796A8462D5}"/>
              </a:ext>
            </a:extLst>
          </p:cNvPr>
          <p:cNvSpPr>
            <a:spLocks noChangeArrowheads="1"/>
          </p:cNvSpPr>
          <p:nvPr/>
        </p:nvSpPr>
        <p:spPr bwMode="auto">
          <a:xfrm>
            <a:off x="1371600" y="86868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pPr algn="r" eaLnBrk="1" hangingPunct="1"/>
            <a:r>
              <a:rPr lang="en-US" altLang="en-US" sz="1200"/>
              <a:t>©A+ Computer Science     www.apluscompsci.com                 </a:t>
            </a:r>
            <a:fld id="{C487C75E-347D-4F2F-9A9B-4092876318F7}" type="slidenum">
              <a:rPr lang="en-US" altLang="en-US" sz="1200"/>
              <a:pPr algn="r" eaLnBrk="1" hangingPunct="1"/>
              <a:t>‹#›</a:t>
            </a:fld>
            <a:endParaRPr lang="en-US" altLang="en-US" sz="240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0290CB8-3EBA-6C20-FADF-BA9C728BE7F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CDAD7F21-5A54-39BA-0B46-DFBEE450F0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2075461-6390-2DCD-8E82-662130F5C870}"/>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FEB316DA-10E3-EECD-F9FC-9341C4FE87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4A1CFA6-A52F-EE6F-C5B3-2E7A3EFC3C80}"/>
              </a:ext>
            </a:extLst>
          </p:cNvPr>
          <p:cNvSpPr>
            <a:spLocks noGrp="1" noRot="1" noChangeAspect="1" noChangeArrowheads="1" noTextEdit="1"/>
          </p:cNvSpPr>
          <p:nvPr>
            <p:ph type="sldImg"/>
          </p:nvPr>
        </p:nvSpPr>
        <p:spPr>
          <a:xfrm>
            <a:off x="1143000" y="685800"/>
            <a:ext cx="4572000" cy="3429000"/>
          </a:xfrm>
          <a:ln/>
        </p:spPr>
      </p:sp>
      <p:sp>
        <p:nvSpPr>
          <p:cNvPr id="20483" name="Rectangle 3">
            <a:extLst>
              <a:ext uri="{FF2B5EF4-FFF2-40B4-BE49-F238E27FC236}">
                <a16:creationId xmlns:a16="http://schemas.microsoft.com/office/drawing/2014/main" id="{0FA7F06F-625C-FFBB-C9A7-D658A259AF8E}"/>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For each of the primitive types, there is a corresponding wrapper class.</a:t>
            </a:r>
          </a:p>
          <a:p>
            <a:pPr eaLnBrk="1" hangingPunct="1"/>
            <a:endParaRPr lang="en-US" altLang="en-US" sz="1600">
              <a:latin typeface="Courier New" panose="02070309020205020404" pitchFamily="49" charset="0"/>
              <a:cs typeface="Courier New" panose="02070309020205020404" pitchFamily="49" charset="0"/>
            </a:endParaRPr>
          </a:p>
          <a:p>
            <a:pPr eaLnBrk="1" hangingPunct="1"/>
            <a:r>
              <a:rPr lang="en-US" altLang="en-US" sz="1600">
                <a:latin typeface="Courier New" panose="02070309020205020404" pitchFamily="49" charset="0"/>
                <a:cs typeface="Courier New" panose="02070309020205020404" pitchFamily="49" charset="0"/>
              </a:rPr>
              <a:t>int</a:t>
            </a:r>
            <a:r>
              <a:rPr lang="en-US" altLang="en-US" sz="1600"/>
              <a:t> has a corresponding wrapper class named </a:t>
            </a:r>
            <a:r>
              <a:rPr lang="en-US" altLang="en-US" sz="1600">
                <a:latin typeface="Courier New" panose="02070309020205020404" pitchFamily="49" charset="0"/>
                <a:cs typeface="Courier New" panose="02070309020205020404" pitchFamily="49" charset="0"/>
              </a:rPr>
              <a:t>Integer</a:t>
            </a:r>
            <a:r>
              <a:rPr lang="en-US" altLang="en-US" sz="1600"/>
              <a:t>.</a:t>
            </a:r>
          </a:p>
          <a:p>
            <a:pPr eaLnBrk="1" hangingPunct="1"/>
            <a:r>
              <a:rPr lang="en-US" altLang="en-US" sz="1600">
                <a:latin typeface="Courier New" panose="02070309020205020404" pitchFamily="49" charset="0"/>
                <a:cs typeface="Courier New" panose="02070309020205020404" pitchFamily="49" charset="0"/>
              </a:rPr>
              <a:t>int</a:t>
            </a:r>
            <a:r>
              <a:rPr lang="en-US" altLang="en-US" sz="1600"/>
              <a:t> stores a non-decimal value.</a:t>
            </a:r>
          </a:p>
          <a:p>
            <a:pPr eaLnBrk="1" hangingPunct="1"/>
            <a:r>
              <a:rPr lang="en-US" altLang="en-US" sz="1600">
                <a:latin typeface="Courier New" panose="02070309020205020404" pitchFamily="49" charset="0"/>
                <a:cs typeface="Courier New" panose="02070309020205020404" pitchFamily="49" charset="0"/>
              </a:rPr>
              <a:t>Integer</a:t>
            </a:r>
            <a:r>
              <a:rPr lang="en-US" altLang="en-US" sz="1600"/>
              <a:t> stores the location / memory address of an </a:t>
            </a:r>
            <a:r>
              <a:rPr lang="en-US" altLang="en-US" sz="1600">
                <a:latin typeface="Courier New" panose="02070309020205020404" pitchFamily="49" charset="0"/>
                <a:cs typeface="Courier New" panose="02070309020205020404" pitchFamily="49" charset="0"/>
              </a:rPr>
              <a:t>Integer</a:t>
            </a:r>
            <a:r>
              <a:rPr lang="en-US" altLang="en-US" sz="1600"/>
              <a:t> Object which stores an </a:t>
            </a:r>
            <a:r>
              <a:rPr lang="en-US" altLang="en-US" sz="1600">
                <a:latin typeface="Courier New" panose="02070309020205020404" pitchFamily="49" charset="0"/>
                <a:cs typeface="Courier New" panose="02070309020205020404" pitchFamily="49" charset="0"/>
              </a:rPr>
              <a:t>int</a:t>
            </a:r>
            <a:r>
              <a:rPr lang="en-US" altLang="en-US" sz="1600"/>
              <a:t> value.</a:t>
            </a:r>
          </a:p>
          <a:p>
            <a:pPr eaLnBrk="1" hangingPunct="1"/>
            <a:endParaRPr lang="en-US" altLang="en-US" sz="1600"/>
          </a:p>
          <a:p>
            <a:pPr eaLnBrk="1" hangingPunct="1"/>
            <a:r>
              <a:rPr lang="en-US" altLang="en-US" sz="1600">
                <a:latin typeface="Courier New" panose="02070309020205020404" pitchFamily="49" charset="0"/>
                <a:cs typeface="Courier New" panose="02070309020205020404" pitchFamily="49" charset="0"/>
              </a:rPr>
              <a:t>double</a:t>
            </a:r>
            <a:r>
              <a:rPr lang="en-US" altLang="en-US" sz="1600"/>
              <a:t> has a corresponding wrapper class named </a:t>
            </a:r>
            <a:r>
              <a:rPr lang="en-US" altLang="en-US" sz="1600">
                <a:latin typeface="Courier New" panose="02070309020205020404" pitchFamily="49" charset="0"/>
                <a:cs typeface="Courier New" panose="02070309020205020404" pitchFamily="49" charset="0"/>
              </a:rPr>
              <a:t>Double</a:t>
            </a:r>
            <a:r>
              <a:rPr lang="en-US" altLang="en-US" sz="1600"/>
              <a:t>.</a:t>
            </a:r>
          </a:p>
          <a:p>
            <a:pPr eaLnBrk="1" hangingPunct="1"/>
            <a:r>
              <a:rPr lang="en-US" altLang="en-US" sz="1600">
                <a:latin typeface="Courier New" panose="02070309020205020404" pitchFamily="49" charset="0"/>
                <a:cs typeface="Courier New" panose="02070309020205020404" pitchFamily="49" charset="0"/>
              </a:rPr>
              <a:t>double</a:t>
            </a:r>
            <a:r>
              <a:rPr lang="en-US" altLang="en-US" sz="1600"/>
              <a:t> stores decimal and non-decimal values.</a:t>
            </a:r>
          </a:p>
          <a:p>
            <a:pPr eaLnBrk="1" hangingPunct="1"/>
            <a:r>
              <a:rPr lang="en-US" altLang="en-US" sz="1600">
                <a:latin typeface="Courier New" panose="02070309020205020404" pitchFamily="49" charset="0"/>
                <a:cs typeface="Courier New" panose="02070309020205020404" pitchFamily="49" charset="0"/>
              </a:rPr>
              <a:t>Double</a:t>
            </a:r>
            <a:r>
              <a:rPr lang="en-US" altLang="en-US" sz="1600"/>
              <a:t> stores the location / memory address of a </a:t>
            </a:r>
            <a:r>
              <a:rPr lang="en-US" altLang="en-US" sz="1600">
                <a:latin typeface="Courier New" panose="02070309020205020404" pitchFamily="49" charset="0"/>
                <a:cs typeface="Courier New" panose="02070309020205020404" pitchFamily="49" charset="0"/>
              </a:rPr>
              <a:t>Double</a:t>
            </a:r>
            <a:r>
              <a:rPr lang="en-US" altLang="en-US" sz="1600"/>
              <a:t> Object which stores a </a:t>
            </a:r>
            <a:r>
              <a:rPr lang="en-US" altLang="en-US" sz="1600">
                <a:latin typeface="Courier New" panose="02070309020205020404" pitchFamily="49" charset="0"/>
                <a:cs typeface="Courier New" panose="02070309020205020404" pitchFamily="49" charset="0"/>
              </a:rPr>
              <a:t>double</a:t>
            </a:r>
            <a:r>
              <a:rPr lang="en-US" altLang="en-US" sz="1600"/>
              <a:t> value.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D79E0A3-4122-4AB4-1391-44D2E6735D42}"/>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B5B0F719-CCD4-231C-5818-D48DC3ABEF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Before autoboxing and autounboxing, a reference could only refer to a primitive if a Wrapper class was instantiated and the primitive passed to the constructor.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FF86BC2-E488-4D6E-167D-F984AFFF2CC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DCB5F406-CE65-AA9E-748A-EF20D22276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Before autoboxing and autounboxing, a reference could only refer to a primitive if a Wrapper class was instantiated and the primitive passed to the constructor.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1A3806E-D33B-CC92-7783-34AAD3C7BAFD}"/>
              </a:ext>
            </a:extLst>
          </p:cNvPr>
          <p:cNvSpPr>
            <a:spLocks noGrp="1" noRot="1" noChangeAspect="1" noChangeArrowheads="1" noTextEdit="1"/>
          </p:cNvSpPr>
          <p:nvPr>
            <p:ph type="sldImg"/>
          </p:nvPr>
        </p:nvSpPr>
        <p:spPr>
          <a:xfrm>
            <a:off x="1143000" y="685800"/>
            <a:ext cx="4572000" cy="3429000"/>
          </a:xfrm>
          <a:ln/>
        </p:spPr>
      </p:sp>
      <p:sp>
        <p:nvSpPr>
          <p:cNvPr id="26627" name="Rectangle 3">
            <a:extLst>
              <a:ext uri="{FF2B5EF4-FFF2-40B4-BE49-F238E27FC236}">
                <a16:creationId xmlns:a16="http://schemas.microsoft.com/office/drawing/2014/main" id="{F0919C97-77ED-BAA8-D7C4-06311B12969D}"/>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Courier New" panose="02070309020205020404" pitchFamily="49" charset="0"/>
                <a:cs typeface="Courier New" panose="02070309020205020404" pitchFamily="49" charset="0"/>
              </a:rPr>
              <a:t>Integer numOne = 99;</a:t>
            </a:r>
            <a:r>
              <a:rPr lang="en-US" altLang="en-US" sz="1600"/>
              <a:t>  is equivalent to </a:t>
            </a:r>
          </a:p>
          <a:p>
            <a:pPr eaLnBrk="1" hangingPunct="1"/>
            <a:r>
              <a:rPr lang="en-US" altLang="en-US" sz="1600">
                <a:latin typeface="Courier New" panose="02070309020205020404" pitchFamily="49" charset="0"/>
                <a:cs typeface="Courier New" panose="02070309020205020404" pitchFamily="49" charset="0"/>
              </a:rPr>
              <a:t>Integer numOne = new Integer(99);   </a:t>
            </a:r>
          </a:p>
          <a:p>
            <a:pPr eaLnBrk="1" hangingPunct="1"/>
            <a:endParaRPr lang="en-US" altLang="en-US" sz="1600"/>
          </a:p>
          <a:p>
            <a:pPr eaLnBrk="1" hangingPunct="1"/>
            <a:r>
              <a:rPr lang="en-US" altLang="en-US" sz="1600"/>
              <a:t>With the introduction of Java 5, the </a:t>
            </a:r>
            <a:r>
              <a:rPr lang="en-US" altLang="en-US" sz="1600">
                <a:latin typeface="Courier New" panose="02070309020205020404" pitchFamily="49" charset="0"/>
                <a:cs typeface="Courier New" panose="02070309020205020404" pitchFamily="49" charset="0"/>
              </a:rPr>
              <a:t>new Integer()</a:t>
            </a:r>
            <a:r>
              <a:rPr lang="en-US" altLang="en-US" sz="1600"/>
              <a:t> Object instantiation code happens in the background.   Java takes care of these details, but does not show the work.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4A1DD6F-27D4-EE61-F1C0-36E4373381E3}"/>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E13E623F-C357-95F8-4BAF-F36B400C56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Before autoboxing and autounboxing, a reference value could only be stored in a primitive if the corresponding reference get method was called to retrieve the primitive value from the reference.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4A1F4A5-E627-6113-22D9-C6BA032257F7}"/>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E5F2E5-01C1-1C22-D447-9D46524C67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Before autoboxing and autounboxing, a reference value could only be stored in a primitive if the corresponding reference get method was called to retrieve the primitive value from the reference.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E6604E0-EE8B-1D28-45CB-6DC4EBB87A5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E8BB58D1-A298-65B8-2F4B-C8C1F6C064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Courier New" panose="02070309020205020404" pitchFamily="49" charset="0"/>
                <a:cs typeface="Courier New" panose="02070309020205020404" pitchFamily="49" charset="0"/>
              </a:rPr>
              <a:t>Integer numOne = new Integer(99); </a:t>
            </a:r>
          </a:p>
          <a:p>
            <a:pPr eaLnBrk="1" hangingPunct="1"/>
            <a:r>
              <a:rPr lang="en-US" altLang="en-US" sz="1600">
                <a:latin typeface="Courier New" panose="02070309020205020404" pitchFamily="49" charset="0"/>
                <a:cs typeface="Courier New" panose="02070309020205020404" pitchFamily="49" charset="0"/>
              </a:rPr>
              <a:t>int primInt = numOne;  </a:t>
            </a:r>
            <a:r>
              <a:rPr lang="en-US" altLang="en-US" sz="1600">
                <a:cs typeface="Times New Roman" panose="02020603050405020304" pitchFamily="18" charset="0"/>
              </a:rPr>
              <a:t>is equivalent to</a:t>
            </a:r>
          </a:p>
          <a:p>
            <a:pPr eaLnBrk="1" hangingPunct="1"/>
            <a:r>
              <a:rPr lang="en-US" altLang="en-US" sz="1600">
                <a:latin typeface="Courier New" panose="02070309020205020404" pitchFamily="49" charset="0"/>
                <a:cs typeface="Courier New" panose="02070309020205020404" pitchFamily="49" charset="0"/>
              </a:rPr>
              <a:t>int primInt = numOne.intValue();</a:t>
            </a:r>
          </a:p>
          <a:p>
            <a:pPr eaLnBrk="1" hangingPunct="1"/>
            <a:endParaRPr lang="en-US" altLang="en-US" sz="1600"/>
          </a:p>
          <a:p>
            <a:pPr eaLnBrk="1" hangingPunct="1"/>
            <a:r>
              <a:rPr lang="en-US" altLang="en-US" sz="1600"/>
              <a:t>With the introduction of Java 5, the </a:t>
            </a:r>
            <a:r>
              <a:rPr lang="en-US" altLang="en-US" sz="1600">
                <a:latin typeface="Courier New" panose="02070309020205020404" pitchFamily="49" charset="0"/>
                <a:cs typeface="Courier New" panose="02070309020205020404" pitchFamily="49" charset="0"/>
              </a:rPr>
              <a:t>intValue()</a:t>
            </a:r>
            <a:r>
              <a:rPr lang="en-US" altLang="en-US" sz="1600"/>
              <a:t> method call happens in the background.   Java takes care of these details, but does not show the 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D5F36E2-33FA-8AA1-14C6-25CAC6CCFED3}"/>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BD04FE39-6A65-2D74-2447-E80B1E1AC2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Before autoboxing and autounboxing, a reference could only refer to a primitive if a Wrapper class was instantiated and the primitive passed to the constructor.   </a:t>
            </a:r>
          </a:p>
          <a:p>
            <a:pPr eaLnBrk="1" hangingPunct="1"/>
            <a:endParaRPr lang="en-US" altLang="en-US" sz="1600"/>
          </a:p>
          <a:p>
            <a:pPr eaLnBrk="1" hangingPunct="1"/>
            <a:r>
              <a:rPr lang="en-US" altLang="en-US" sz="1600"/>
              <a:t>Before autoboxing and autounboxing, a reference value could only be stored in a primitive if the corresponding reference get method was called to retrieve the primitive value from the reference.  </a:t>
            </a:r>
          </a:p>
          <a:p>
            <a:pPr eaLnBrk="1" hangingPunct="1"/>
            <a:endParaRPr lang="en-US" altLang="en-US" sz="1600"/>
          </a:p>
          <a:p>
            <a:pPr eaLnBrk="1" hangingPunct="1"/>
            <a:r>
              <a:rPr lang="en-US" altLang="en-US" sz="1600"/>
              <a:t>With the introduction of Java 5, the wrapping and unwrapping / boxing and unboxing happens in the background.   Java takes care of these details, but does not show the work.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64B4324-1CF8-56DF-E400-BB8FCC1C63D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0CE0357B-2EA5-D7DA-217D-059E9F631A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625F5E9-CD52-4270-3688-C4A4F240DB9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4BD1DC07-30E9-B53E-5DF0-60FE582A35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The new for loop is great to print out Arrays and Collections.  The new for loop extracts an item from ray each time it iterates.  The new for loop is an iterator based loop.  Once the loop reaches the end of ray, it stops iterating.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063CF38-71B6-B44F-F787-EC6C7582D56C}"/>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7BDEF3A3-1DFB-BB5C-380E-64EDE03F14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E79E65B-1DD7-F236-0C8E-17624E280DC9}"/>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09C62B3A-743D-2045-8A0F-74D0FEC034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C3DA63B-872D-A325-F3E7-57E7C600F0B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DE50537E-BBC2-0267-D278-21E0551454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88C3B59-2486-A1E6-1F2E-A133B9BF2211}"/>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C156E06E-9481-DFDA-1BC1-5C5BADA5AF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This Collections hierarchy chart is very important.  It is a must to know which classes implement which interfaces and which interfaces extend which interfaces.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4D888DE-A1B4-736E-D6C7-B2973CB0A7E3}"/>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D12B0AEF-D3DC-C10B-D0A8-DCA54AA50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Collections.sort() will put all items in natural ascending order.</a:t>
            </a:r>
          </a:p>
          <a:p>
            <a:pPr eaLnBrk="1" hangingPunct="1"/>
            <a:r>
              <a:rPr lang="en-US" altLang="en-US" sz="1600"/>
              <a:t>Collectoins.binarySearch() will locate an item.  If the item does not exist, binarySearch() will return -1+ -(where the value would be if it was there).  </a:t>
            </a:r>
          </a:p>
          <a:p>
            <a:pPr eaLnBrk="1" hangingPunct="1"/>
            <a:endParaRPr lang="en-US" altLang="en-US" sz="1600"/>
          </a:p>
          <a:p>
            <a:pPr eaLnBrk="1" hangingPunct="1"/>
            <a:r>
              <a:rPr lang="en-US" altLang="en-US" sz="1600"/>
              <a:t>-3 is -1 + -2(2 is the spot where the item would be)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02D31368-98F0-D631-ED74-D82384812635}"/>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EAB284AA-489F-CDBD-87D7-3CF0730B29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Collections.rotate() rotates items to the right or to the left a specified number of spots / positions.  A negative number rotates to the left and a positive number rotates to the right.</a:t>
            </a:r>
          </a:p>
          <a:p>
            <a:pPr eaLnBrk="1" hangingPunct="1"/>
            <a:endParaRPr lang="en-US" altLang="en-US" sz="1600"/>
          </a:p>
          <a:p>
            <a:pPr eaLnBrk="1" hangingPunct="1"/>
            <a:r>
              <a:rPr lang="en-US" altLang="en-US" sz="1600"/>
              <a:t>Collections. reverse() reverses the order of all items.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48B79BB-50A9-D55D-8FAF-52DA394A8391}"/>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BFD6250B-9114-3AD3-6ED3-C7CA66A951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Collections.fill() will fill in all spots with a specified value.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786B2D92-52B6-404C-5B3A-86C75C4204E6}"/>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1C9768FE-E6C5-A58E-8D33-4B77B0C249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58A4895C-26A3-ABE2-BEC7-AE345D143FB3}"/>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DCD35987-98C8-B7C5-5CF7-C1075F0637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3F348C55-CF20-33F1-1327-F2EF0CFD1545}"/>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B9B8C1B2-4B48-00FF-EE23-4F4E8E2F8F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7D3C5E2-BBCB-BFD3-55B8-BA6FA1782DC9}"/>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84CA5D19-DD5B-567D-4456-F44B7696A1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3F9B3815-D57E-8018-FDD7-B2467F342925}"/>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BAE9AFBA-BE08-965B-3246-766ADA466F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271ECFDE-943B-CFD7-7F21-E9C89AA587F5}"/>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421E9B53-CCCD-9789-1928-9994637B40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2383CD3F-9AEB-ED98-0660-86D9FD1B69C4}"/>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D0675BBD-9A60-71C7-B4B8-992C25994E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6CC80A58-B47A-F529-AFAB-1BADFBEAAAD9}"/>
              </a:ext>
            </a:extLst>
          </p:cNvPr>
          <p:cNvSpPr>
            <a:spLocks noGrp="1" noRot="1" noChangeAspect="1" noChangeArrowheads="1" noTextEdit="1"/>
          </p:cNvSpPr>
          <p:nvPr>
            <p:ph type="sldImg"/>
          </p:nvPr>
        </p:nvSpPr>
        <p:spPr>
          <a:xfrm>
            <a:off x="1143000" y="685800"/>
            <a:ext cx="4572000" cy="3429000"/>
          </a:xfrm>
          <a:ln/>
        </p:spPr>
      </p:sp>
      <p:sp>
        <p:nvSpPr>
          <p:cNvPr id="69635" name="Rectangle 3">
            <a:extLst>
              <a:ext uri="{FF2B5EF4-FFF2-40B4-BE49-F238E27FC236}">
                <a16:creationId xmlns:a16="http://schemas.microsoft.com/office/drawing/2014/main" id="{BB2E66B1-ACBF-3855-BBF0-3F6D99CA0C8F}"/>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FD46B92-49F8-3A47-B733-5B9AC0117F6C}"/>
              </a:ext>
            </a:extLst>
          </p:cNvPr>
          <p:cNvSpPr>
            <a:spLocks noGrp="1" noRot="1" noChangeAspect="1" noChangeArrowheads="1" noTextEdit="1"/>
          </p:cNvSpPr>
          <p:nvPr>
            <p:ph type="sldImg"/>
          </p:nvPr>
        </p:nvSpPr>
        <p:spPr>
          <a:ln/>
        </p:spPr>
      </p:sp>
      <p:sp>
        <p:nvSpPr>
          <p:cNvPr id="71683" name="Rectangle 3">
            <a:extLst>
              <a:ext uri="{FF2B5EF4-FFF2-40B4-BE49-F238E27FC236}">
                <a16:creationId xmlns:a16="http://schemas.microsoft.com/office/drawing/2014/main" id="{B94C9DFA-DC00-379F-7CEB-5C5E32E6E4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This Collections hierarchy chart is very important.  It is a must to know which classes implement which interfaces and which interfaces extend which interfaces.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86E0128-18E1-C117-71D1-2D50EFB9CB95}"/>
              </a:ext>
            </a:extLst>
          </p:cNvPr>
          <p:cNvSpPr>
            <a:spLocks noGrp="1" noRot="1" noChangeAspect="1" noChangeArrowheads="1" noTextEdit="1"/>
          </p:cNvSpPr>
          <p:nvPr>
            <p:ph type="sldImg"/>
          </p:nvPr>
        </p:nvSpPr>
        <p:spPr>
          <a:xfrm>
            <a:off x="1143000" y="685800"/>
            <a:ext cx="4572000" cy="3429000"/>
          </a:xfrm>
          <a:ln/>
        </p:spPr>
      </p:sp>
      <p:sp>
        <p:nvSpPr>
          <p:cNvPr id="73731" name="Rectangle 3">
            <a:extLst>
              <a:ext uri="{FF2B5EF4-FFF2-40B4-BE49-F238E27FC236}">
                <a16:creationId xmlns:a16="http://schemas.microsoft.com/office/drawing/2014/main" id="{C0D316B5-5689-6C56-D6BC-1B0B359F9AC0}"/>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A37F0B0C-70D1-E35E-0B2B-7EB0EFA0D0DD}"/>
              </a:ext>
            </a:extLst>
          </p:cNvPr>
          <p:cNvSpPr>
            <a:spLocks noGrp="1" noRot="1" noChangeAspect="1" noChangeArrowheads="1" noTextEdit="1"/>
          </p:cNvSpPr>
          <p:nvPr>
            <p:ph type="sldImg"/>
          </p:nvPr>
        </p:nvSpPr>
        <p:spPr>
          <a:xfrm>
            <a:off x="1143000" y="685800"/>
            <a:ext cx="4572000" cy="3429000"/>
          </a:xfrm>
          <a:ln/>
        </p:spPr>
      </p:sp>
      <p:sp>
        <p:nvSpPr>
          <p:cNvPr id="75779" name="Rectangle 3">
            <a:extLst>
              <a:ext uri="{FF2B5EF4-FFF2-40B4-BE49-F238E27FC236}">
                <a16:creationId xmlns:a16="http://schemas.microsoft.com/office/drawing/2014/main" id="{8996D39A-CEBB-033F-B67A-E225D7FAB946}"/>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DEEB8E37-74A0-38DC-8A93-13EA501DD41E}"/>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3DAF496C-604C-ED64-15A0-ACDDA068D103}"/>
              </a:ext>
            </a:extLst>
          </p:cNvPr>
          <p:cNvSpPr>
            <a:spLocks noGrp="1" noChangeArrowheads="1"/>
          </p:cNvSpPr>
          <p:nvPr>
            <p:ph type="body" idx="1"/>
          </p:nvPr>
        </p:nvSpPr>
        <p:spPr>
          <a:xfrm>
            <a:off x="685800" y="4343400"/>
            <a:ext cx="5562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In the example above, ray is an ArrayList that stores Object references.   In order to call non-Object methods on a spot in ray, casting would be required.</a:t>
            </a:r>
          </a:p>
          <a:p>
            <a:pPr eaLnBrk="1" hangingPunct="1"/>
            <a:endParaRPr lang="en-US" altLang="en-US" sz="1600"/>
          </a:p>
          <a:p>
            <a:pPr eaLnBrk="1" hangingPunct="1"/>
            <a:r>
              <a:rPr lang="en-US" altLang="en-US" sz="1600">
                <a:latin typeface="Courier New" panose="02070309020205020404" pitchFamily="49" charset="0"/>
              </a:rPr>
              <a:t>ray.add(0,"hello");</a:t>
            </a:r>
          </a:p>
          <a:p>
            <a:pPr eaLnBrk="1" hangingPunct="1"/>
            <a:r>
              <a:rPr lang="en-US" altLang="en-US" sz="1600">
                <a:latin typeface="Courier New" panose="02070309020205020404" pitchFamily="49" charset="0"/>
              </a:rPr>
              <a:t>out.println(((String)ray.get(0)).charAt(0));</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DE20F555-7CF8-0087-FB9E-C642D18A5CF4}"/>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2D04608-BF20-197A-EFF8-C8ACCC0224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E3D3CD44-8DA5-0D2B-EC88-282F37C3785C}"/>
              </a:ext>
            </a:extLst>
          </p:cNvPr>
          <p:cNvSpPr>
            <a:spLocks noGrp="1" noRot="1" noChangeAspect="1" noChangeArrowheads="1" noTextEdit="1"/>
          </p:cNvSpPr>
          <p:nvPr>
            <p:ph type="sldImg"/>
          </p:nvPr>
        </p:nvSpPr>
        <p:spPr>
          <a:xfrm>
            <a:off x="1143000" y="685800"/>
            <a:ext cx="4572000" cy="3429000"/>
          </a:xfrm>
          <a:ln/>
        </p:spPr>
      </p:sp>
      <p:sp>
        <p:nvSpPr>
          <p:cNvPr id="81923" name="Rectangle 3">
            <a:extLst>
              <a:ext uri="{FF2B5EF4-FFF2-40B4-BE49-F238E27FC236}">
                <a16:creationId xmlns:a16="http://schemas.microsoft.com/office/drawing/2014/main" id="{BA16BADA-6554-FE28-2B67-EB825F691A1E}"/>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Creature is a class used to store information about Creatures.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3EA7DE31-92F5-E222-05A3-E78B3EBF588C}"/>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DF339B47-2BF1-1258-3173-BF04E8F9A0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9CD9B79-14A6-7E5B-6885-858A26F98301}"/>
              </a:ext>
            </a:extLst>
          </p:cNvPr>
          <p:cNvSpPr>
            <a:spLocks noGrp="1" noRot="1" noChangeAspect="1" noChangeArrowheads="1" noTextEdit="1"/>
          </p:cNvSpPr>
          <p:nvPr>
            <p:ph type="sldImg"/>
          </p:nvPr>
        </p:nvSpPr>
        <p:spPr>
          <a:xfrm>
            <a:off x="1143000" y="685800"/>
            <a:ext cx="4572000" cy="3429000"/>
          </a:xfrm>
          <a:ln/>
        </p:spPr>
      </p:sp>
      <p:sp>
        <p:nvSpPr>
          <p:cNvPr id="86019" name="Rectangle 3">
            <a:extLst>
              <a:ext uri="{FF2B5EF4-FFF2-40B4-BE49-F238E27FC236}">
                <a16:creationId xmlns:a16="http://schemas.microsoft.com/office/drawing/2014/main" id="{C0BA4E49-B557-D2F5-17E9-9EFE61EFBEB5}"/>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Creatures is an ArrayList that stores reference to Creature objects.  In this example, creatures stores the addresses / locations of 3 Creature objects.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9B616C0E-64C8-5590-0C08-BB151920FEB6}"/>
              </a:ext>
            </a:extLst>
          </p:cNvPr>
          <p:cNvSpPr>
            <a:spLocks noGrp="1" noRot="1" noChangeAspect="1" noChangeArrowheads="1" noTextEdit="1"/>
          </p:cNvSpPr>
          <p:nvPr>
            <p:ph type="sldImg"/>
          </p:nvPr>
        </p:nvSpPr>
        <p:spPr>
          <a:xfrm>
            <a:off x="1143000" y="685800"/>
            <a:ext cx="4572000" cy="3429000"/>
          </a:xfrm>
          <a:ln/>
        </p:spPr>
      </p:sp>
      <p:sp>
        <p:nvSpPr>
          <p:cNvPr id="88067" name="Rectangle 3">
            <a:extLst>
              <a:ext uri="{FF2B5EF4-FFF2-40B4-BE49-F238E27FC236}">
                <a16:creationId xmlns:a16="http://schemas.microsoft.com/office/drawing/2014/main" id="{5552E237-116B-D817-5F51-2629843C8343}"/>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t>Creatures.get(0) returns the address / location of a Creature object.  Applying a . dot to a reference grants you access to the object referred to by the reference.  .setSize() is a Creature method that changes the size property of the Creature.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42DEC36-4D9A-EB97-D8A8-6A3F88FAA535}"/>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3DE646FF-6AF8-102A-D1D4-F257AA0595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AACFCC1-231D-B23D-6D48-7614E7B1991C}"/>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48665933-C1E1-4D03-8A23-8C18570BF5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89BB958B-D0B3-3012-84AE-23A58E675E44}"/>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086FE72-E7F6-5EBC-1AFD-27A0C3AF8E53}"/>
              </a:ext>
            </a:extLst>
          </p:cNvPr>
          <p:cNvSpPr>
            <a:spLocks noGrp="1"/>
          </p:cNvSpPr>
          <p:nvPr>
            <p:ph type="sldNum" sz="quarter" idx="11"/>
          </p:nvPr>
        </p:nvSpPr>
        <p:spPr/>
        <p:txBody>
          <a:bodyPr/>
          <a:lstStyle>
            <a:lvl1pPr>
              <a:defRPr/>
            </a:lvl1pPr>
          </a:lstStyle>
          <a:p>
            <a:fld id="{A056C443-E809-4CEB-AADA-5A5168DBFCC6}" type="slidenum">
              <a:rPr lang="en-US" altLang="en-US"/>
              <a:pPr/>
              <a:t>‹#›</a:t>
            </a:fld>
            <a:endParaRPr lang="en-US" altLang="en-US"/>
          </a:p>
        </p:txBody>
      </p:sp>
      <p:sp>
        <p:nvSpPr>
          <p:cNvPr id="6" name="Footer Placeholder 5">
            <a:extLst>
              <a:ext uri="{FF2B5EF4-FFF2-40B4-BE49-F238E27FC236}">
                <a16:creationId xmlns:a16="http://schemas.microsoft.com/office/drawing/2014/main" id="{7BB18C74-3734-2690-D6EA-6D0B755B10FB}"/>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846192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30AA4D-1452-9030-00D2-549B1C8FBDA8}"/>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EDC10D2A-06D8-0CAC-D708-B4EB30D7E343}"/>
              </a:ext>
            </a:extLst>
          </p:cNvPr>
          <p:cNvSpPr>
            <a:spLocks noGrp="1"/>
          </p:cNvSpPr>
          <p:nvPr>
            <p:ph type="sldNum" sz="quarter" idx="11"/>
          </p:nvPr>
        </p:nvSpPr>
        <p:spPr/>
        <p:txBody>
          <a:bodyPr/>
          <a:lstStyle>
            <a:lvl1pPr>
              <a:defRPr/>
            </a:lvl1pPr>
          </a:lstStyle>
          <a:p>
            <a:fld id="{FCD8D926-8095-4A4B-B794-3F06A04CC3D8}" type="slidenum">
              <a:rPr lang="en-US" altLang="en-US"/>
              <a:pPr/>
              <a:t>‹#›</a:t>
            </a:fld>
            <a:endParaRPr lang="en-US" altLang="en-US"/>
          </a:p>
        </p:txBody>
      </p:sp>
      <p:sp>
        <p:nvSpPr>
          <p:cNvPr id="6" name="Footer Placeholder 5">
            <a:extLst>
              <a:ext uri="{FF2B5EF4-FFF2-40B4-BE49-F238E27FC236}">
                <a16:creationId xmlns:a16="http://schemas.microsoft.com/office/drawing/2014/main" id="{CDC5958E-2598-7D88-4F5A-640EA3CCBF55}"/>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801668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EF30EB81-96E0-8574-A4B5-B1D889129FC4}"/>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9764878-EB34-79E8-A32F-30476629EE0A}"/>
              </a:ext>
            </a:extLst>
          </p:cNvPr>
          <p:cNvSpPr>
            <a:spLocks noGrp="1"/>
          </p:cNvSpPr>
          <p:nvPr>
            <p:ph type="sldNum" sz="quarter" idx="11"/>
          </p:nvPr>
        </p:nvSpPr>
        <p:spPr/>
        <p:txBody>
          <a:bodyPr/>
          <a:lstStyle>
            <a:lvl1pPr>
              <a:defRPr/>
            </a:lvl1pPr>
          </a:lstStyle>
          <a:p>
            <a:fld id="{7F7B0777-DB6A-4E12-8CFA-A5A3503F265C}" type="slidenum">
              <a:rPr lang="en-US" altLang="en-US"/>
              <a:pPr/>
              <a:t>‹#›</a:t>
            </a:fld>
            <a:endParaRPr lang="en-US" altLang="en-US"/>
          </a:p>
        </p:txBody>
      </p:sp>
      <p:sp>
        <p:nvSpPr>
          <p:cNvPr id="6" name="Footer Placeholder 5">
            <a:extLst>
              <a:ext uri="{FF2B5EF4-FFF2-40B4-BE49-F238E27FC236}">
                <a16:creationId xmlns:a16="http://schemas.microsoft.com/office/drawing/2014/main" id="{8861FBA6-C2DC-63C8-4467-78703B9A9BF7}"/>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93583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7CAC7C-31CB-890A-D5C5-54134DD4F8E3}"/>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F0AB846-A55C-416F-7EBB-5E1F0551A295}"/>
              </a:ext>
            </a:extLst>
          </p:cNvPr>
          <p:cNvSpPr>
            <a:spLocks noGrp="1"/>
          </p:cNvSpPr>
          <p:nvPr>
            <p:ph type="sldNum" sz="quarter" idx="11"/>
          </p:nvPr>
        </p:nvSpPr>
        <p:spPr/>
        <p:txBody>
          <a:bodyPr/>
          <a:lstStyle>
            <a:lvl1pPr>
              <a:defRPr/>
            </a:lvl1pPr>
          </a:lstStyle>
          <a:p>
            <a:fld id="{E2821BE4-827A-4576-8E59-720356BF1E00}" type="slidenum">
              <a:rPr lang="en-US" altLang="en-US"/>
              <a:pPr/>
              <a:t>‹#›</a:t>
            </a:fld>
            <a:endParaRPr lang="en-US" altLang="en-US"/>
          </a:p>
        </p:txBody>
      </p:sp>
      <p:sp>
        <p:nvSpPr>
          <p:cNvPr id="7" name="Footer Placeholder 6">
            <a:extLst>
              <a:ext uri="{FF2B5EF4-FFF2-40B4-BE49-F238E27FC236}">
                <a16:creationId xmlns:a16="http://schemas.microsoft.com/office/drawing/2014/main" id="{0BFA7513-DC8F-8D80-3435-70D3172D9878}"/>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31233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58B0F9-C7C9-9181-F6D2-021C5342208B}"/>
              </a:ext>
            </a:extLst>
          </p:cNvPr>
          <p:cNvSpPr>
            <a:spLocks noGrp="1"/>
          </p:cNvSpPr>
          <p:nvPr>
            <p:ph type="dt" sz="half" idx="10"/>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9D75C31C-7721-C599-D865-A13410BA6456}"/>
              </a:ext>
            </a:extLst>
          </p:cNvPr>
          <p:cNvSpPr>
            <a:spLocks noGrp="1"/>
          </p:cNvSpPr>
          <p:nvPr>
            <p:ph type="sldNum" sz="quarter" idx="11"/>
          </p:nvPr>
        </p:nvSpPr>
        <p:spPr/>
        <p:txBody>
          <a:bodyPr/>
          <a:lstStyle>
            <a:lvl1pPr>
              <a:defRPr/>
            </a:lvl1pPr>
          </a:lstStyle>
          <a:p>
            <a:fld id="{D2C27AF0-38FB-4E62-A3E1-81855D555B9B}" type="slidenum">
              <a:rPr lang="en-US" altLang="en-US"/>
              <a:pPr/>
              <a:t>‹#›</a:t>
            </a:fld>
            <a:endParaRPr lang="en-US" altLang="en-US"/>
          </a:p>
        </p:txBody>
      </p:sp>
      <p:sp>
        <p:nvSpPr>
          <p:cNvPr id="9" name="Footer Placeholder 8">
            <a:extLst>
              <a:ext uri="{FF2B5EF4-FFF2-40B4-BE49-F238E27FC236}">
                <a16:creationId xmlns:a16="http://schemas.microsoft.com/office/drawing/2014/main" id="{41E9A271-5A9F-0647-DF6D-7B7858E4835F}"/>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20742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EBDE31-DEA0-B135-62CA-9E4563BF09C2}"/>
              </a:ext>
            </a:extLst>
          </p:cNvPr>
          <p:cNvSpPr>
            <a:spLocks noGrp="1"/>
          </p:cNvSpPr>
          <p:nvPr>
            <p:ph type="dt" sz="half" idx="10"/>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558F867A-4563-289C-4372-264BBE2DC298}"/>
              </a:ext>
            </a:extLst>
          </p:cNvPr>
          <p:cNvSpPr>
            <a:spLocks noGrp="1"/>
          </p:cNvSpPr>
          <p:nvPr>
            <p:ph type="sldNum" sz="quarter" idx="11"/>
          </p:nvPr>
        </p:nvSpPr>
        <p:spPr/>
        <p:txBody>
          <a:bodyPr/>
          <a:lstStyle>
            <a:lvl1pPr>
              <a:defRPr/>
            </a:lvl1pPr>
          </a:lstStyle>
          <a:p>
            <a:fld id="{30D4AF1A-7C21-4973-B93B-6115DB891C9E}" type="slidenum">
              <a:rPr lang="en-US" altLang="en-US"/>
              <a:pPr/>
              <a:t>‹#›</a:t>
            </a:fld>
            <a:endParaRPr lang="en-US" altLang="en-US"/>
          </a:p>
        </p:txBody>
      </p:sp>
      <p:sp>
        <p:nvSpPr>
          <p:cNvPr id="5" name="Footer Placeholder 4">
            <a:extLst>
              <a:ext uri="{FF2B5EF4-FFF2-40B4-BE49-F238E27FC236}">
                <a16:creationId xmlns:a16="http://schemas.microsoft.com/office/drawing/2014/main" id="{6F36842A-7BCB-51C3-0E86-C1010D8549C0}"/>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51658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A32AC3-2E77-4F2C-E9F5-9F67416406B2}"/>
              </a:ext>
            </a:extLst>
          </p:cNvPr>
          <p:cNvSpPr>
            <a:spLocks noGrp="1"/>
          </p:cNvSpPr>
          <p:nvPr>
            <p:ph type="dt" sz="half" idx="10"/>
          </p:nvPr>
        </p:nvSpPr>
        <p:spPr/>
        <p:txBody>
          <a:bodyPr/>
          <a:lstStyle>
            <a:lvl1pPr>
              <a:defRPr/>
            </a:lvl1pPr>
          </a:lstStyle>
          <a:p>
            <a:pPr>
              <a:defRPr/>
            </a:pPr>
            <a:endParaRPr lang="en-US"/>
          </a:p>
        </p:txBody>
      </p:sp>
      <p:sp>
        <p:nvSpPr>
          <p:cNvPr id="3" name="Slide Number Placeholder 2">
            <a:extLst>
              <a:ext uri="{FF2B5EF4-FFF2-40B4-BE49-F238E27FC236}">
                <a16:creationId xmlns:a16="http://schemas.microsoft.com/office/drawing/2014/main" id="{B0092F37-3A29-DE25-FE74-B595F00BA97A}"/>
              </a:ext>
            </a:extLst>
          </p:cNvPr>
          <p:cNvSpPr>
            <a:spLocks noGrp="1"/>
          </p:cNvSpPr>
          <p:nvPr>
            <p:ph type="sldNum" sz="quarter" idx="11"/>
          </p:nvPr>
        </p:nvSpPr>
        <p:spPr/>
        <p:txBody>
          <a:bodyPr/>
          <a:lstStyle>
            <a:lvl1pPr>
              <a:defRPr/>
            </a:lvl1pPr>
          </a:lstStyle>
          <a:p>
            <a:fld id="{EEE6878D-E995-4B8D-AE20-F4CAB8FD02DD}" type="slidenum">
              <a:rPr lang="en-US" altLang="en-US"/>
              <a:pPr/>
              <a:t>‹#›</a:t>
            </a:fld>
            <a:endParaRPr lang="en-US" altLang="en-US"/>
          </a:p>
        </p:txBody>
      </p:sp>
      <p:sp>
        <p:nvSpPr>
          <p:cNvPr id="4" name="Footer Placeholder 3">
            <a:extLst>
              <a:ext uri="{FF2B5EF4-FFF2-40B4-BE49-F238E27FC236}">
                <a16:creationId xmlns:a16="http://schemas.microsoft.com/office/drawing/2014/main" id="{17136B77-9E57-728C-12C7-54D7CC118620}"/>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322437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20B87691-C0D9-8C63-56EA-1CE4106F1729}"/>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9E35951-F919-D353-82EA-24E4F78F6563}"/>
              </a:ext>
            </a:extLst>
          </p:cNvPr>
          <p:cNvSpPr>
            <a:spLocks noGrp="1"/>
          </p:cNvSpPr>
          <p:nvPr>
            <p:ph type="sldNum" sz="quarter" idx="11"/>
          </p:nvPr>
        </p:nvSpPr>
        <p:spPr/>
        <p:txBody>
          <a:bodyPr/>
          <a:lstStyle>
            <a:lvl1pPr>
              <a:defRPr/>
            </a:lvl1pPr>
          </a:lstStyle>
          <a:p>
            <a:fld id="{1BA24FBE-93E3-466D-A26B-D24A0900AAEB}" type="slidenum">
              <a:rPr lang="en-US" altLang="en-US"/>
              <a:pPr/>
              <a:t>‹#›</a:t>
            </a:fld>
            <a:endParaRPr lang="en-US" altLang="en-US"/>
          </a:p>
        </p:txBody>
      </p:sp>
      <p:sp>
        <p:nvSpPr>
          <p:cNvPr id="7" name="Footer Placeholder 6">
            <a:extLst>
              <a:ext uri="{FF2B5EF4-FFF2-40B4-BE49-F238E27FC236}">
                <a16:creationId xmlns:a16="http://schemas.microsoft.com/office/drawing/2014/main" id="{EED9108F-BF45-8DA0-8FBD-DC044517CEC6}"/>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415796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1B70CE4-187E-0AAF-0F7A-3494FC487516}"/>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4089294-1098-8DFD-5302-42D6716FF037}"/>
              </a:ext>
            </a:extLst>
          </p:cNvPr>
          <p:cNvSpPr>
            <a:spLocks noGrp="1"/>
          </p:cNvSpPr>
          <p:nvPr>
            <p:ph type="sldNum" sz="quarter" idx="11"/>
          </p:nvPr>
        </p:nvSpPr>
        <p:spPr/>
        <p:txBody>
          <a:bodyPr/>
          <a:lstStyle>
            <a:lvl1pPr>
              <a:defRPr/>
            </a:lvl1pPr>
          </a:lstStyle>
          <a:p>
            <a:fld id="{ED7E3249-5B9C-4CEE-AD96-F5FF1502AA8F}" type="slidenum">
              <a:rPr lang="en-US" altLang="en-US"/>
              <a:pPr/>
              <a:t>‹#›</a:t>
            </a:fld>
            <a:endParaRPr lang="en-US" altLang="en-US"/>
          </a:p>
        </p:txBody>
      </p:sp>
      <p:sp>
        <p:nvSpPr>
          <p:cNvPr id="7" name="Footer Placeholder 6">
            <a:extLst>
              <a:ext uri="{FF2B5EF4-FFF2-40B4-BE49-F238E27FC236}">
                <a16:creationId xmlns:a16="http://schemas.microsoft.com/office/drawing/2014/main" id="{D6E34515-99E3-CA2D-6DC6-E571F205FC09}"/>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237678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54BBF7-2C8F-001B-9585-0D9A7D993514}"/>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DF5FBF99-BADC-8B28-CEE8-7ECA8F3C7A3E}"/>
              </a:ext>
            </a:extLst>
          </p:cNvPr>
          <p:cNvSpPr>
            <a:spLocks noGrp="1"/>
          </p:cNvSpPr>
          <p:nvPr>
            <p:ph type="sldNum" sz="quarter" idx="11"/>
          </p:nvPr>
        </p:nvSpPr>
        <p:spPr/>
        <p:txBody>
          <a:bodyPr/>
          <a:lstStyle>
            <a:lvl1pPr>
              <a:defRPr/>
            </a:lvl1pPr>
          </a:lstStyle>
          <a:p>
            <a:fld id="{59C2AC1F-8A5B-425E-BAAD-CA6F977E0086}" type="slidenum">
              <a:rPr lang="en-US" altLang="en-US"/>
              <a:pPr/>
              <a:t>‹#›</a:t>
            </a:fld>
            <a:endParaRPr lang="en-US" altLang="en-US"/>
          </a:p>
        </p:txBody>
      </p:sp>
      <p:sp>
        <p:nvSpPr>
          <p:cNvPr id="6" name="Footer Placeholder 5">
            <a:extLst>
              <a:ext uri="{FF2B5EF4-FFF2-40B4-BE49-F238E27FC236}">
                <a16:creationId xmlns:a16="http://schemas.microsoft.com/office/drawing/2014/main" id="{1B2830A3-F8A9-04AD-6EC2-3583C7011B43}"/>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68708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B6868F-98A7-878F-D6A1-265CDB32DC97}"/>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71B07FC-F526-DD89-293E-4BB91B0D0B8D}"/>
              </a:ext>
            </a:extLst>
          </p:cNvPr>
          <p:cNvSpPr>
            <a:spLocks noGrp="1"/>
          </p:cNvSpPr>
          <p:nvPr>
            <p:ph type="sldNum" sz="quarter" idx="11"/>
          </p:nvPr>
        </p:nvSpPr>
        <p:spPr/>
        <p:txBody>
          <a:bodyPr/>
          <a:lstStyle>
            <a:lvl1pPr>
              <a:defRPr/>
            </a:lvl1pPr>
          </a:lstStyle>
          <a:p>
            <a:fld id="{1CDC413C-C705-499C-81A5-D7521950019F}" type="slidenum">
              <a:rPr lang="en-US" altLang="en-US"/>
              <a:pPr/>
              <a:t>‹#›</a:t>
            </a:fld>
            <a:endParaRPr lang="en-US" altLang="en-US"/>
          </a:p>
        </p:txBody>
      </p:sp>
      <p:sp>
        <p:nvSpPr>
          <p:cNvPr id="6" name="Footer Placeholder 5">
            <a:extLst>
              <a:ext uri="{FF2B5EF4-FFF2-40B4-BE49-F238E27FC236}">
                <a16:creationId xmlns:a16="http://schemas.microsoft.com/office/drawing/2014/main" id="{5CA1AA62-F329-19F4-405E-114E574AF973}"/>
              </a:ext>
            </a:extLst>
          </p:cNvPr>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283258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8E1DF03-61BD-C6AC-B485-C8451E94AF0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F0510AFA-B472-7CD1-7489-3BB81CD968F4}"/>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D7BF73FC-D20C-BE9C-07AB-3F7949A1143C}"/>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eaLnBrk="0" hangingPunct="0">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3E0943D7-9C5A-FA93-404A-AA29C8FE51F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algn="r">
              <a:defRPr sz="1400" b="0">
                <a:latin typeface="Times New Roman" panose="02020603050405020304" pitchFamily="18" charset="0"/>
              </a:defRPr>
            </a:lvl1pPr>
          </a:lstStyle>
          <a:p>
            <a:fld id="{5F875CA3-8D6E-4879-95A6-A723AAD22D4E}" type="slidenum">
              <a:rPr lang="en-US" altLang="en-US"/>
              <a:pPr/>
              <a:t>‹#›</a:t>
            </a:fld>
            <a:endParaRPr lang="en-US" altLang="en-US"/>
          </a:p>
        </p:txBody>
      </p:sp>
      <p:sp>
        <p:nvSpPr>
          <p:cNvPr id="1031" name="Rectangle 7">
            <a:extLst>
              <a:ext uri="{FF2B5EF4-FFF2-40B4-BE49-F238E27FC236}">
                <a16:creationId xmlns:a16="http://schemas.microsoft.com/office/drawing/2014/main" id="{83150CB5-6088-E1F4-D598-F76E8839B19F}"/>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eaLnBrk="1" hangingPunct="1">
              <a:defRPr sz="800" b="0">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a:extLst>
              <a:ext uri="{FF2B5EF4-FFF2-40B4-BE49-F238E27FC236}">
                <a16:creationId xmlns:a16="http://schemas.microsoft.com/office/drawing/2014/main" id="{CECAEF3C-9A88-FB3D-7ABA-1AB43C597FB7}"/>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5363" name="WordArt 5">
            <a:extLst>
              <a:ext uri="{FF2B5EF4-FFF2-40B4-BE49-F238E27FC236}">
                <a16:creationId xmlns:a16="http://schemas.microsoft.com/office/drawing/2014/main" id="{D349E2E7-4965-BBD2-1CA8-DEA020E3CB68}"/>
              </a:ext>
            </a:extLst>
          </p:cNvPr>
          <p:cNvSpPr>
            <a:spLocks noChangeArrowheads="1" noChangeShapeType="1" noTextEdit="1"/>
          </p:cNvSpPr>
          <p:nvPr/>
        </p:nvSpPr>
        <p:spPr bwMode="auto">
          <a:xfrm>
            <a:off x="685800" y="2057400"/>
            <a:ext cx="7924800" cy="2590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ArrayList</a:t>
            </a:r>
          </a:p>
        </p:txBody>
      </p:sp>
      <p:sp>
        <p:nvSpPr>
          <p:cNvPr id="15364" name="WordArt 7">
            <a:extLst>
              <a:ext uri="{FF2B5EF4-FFF2-40B4-BE49-F238E27FC236}">
                <a16:creationId xmlns:a16="http://schemas.microsoft.com/office/drawing/2014/main" id="{EADFBC72-3157-C5C7-BBAF-818AB37F699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2927F767-D4DA-1DE9-20FD-AD70A3F0C617}"/>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7411" name="WordArt 2">
            <a:extLst>
              <a:ext uri="{FF2B5EF4-FFF2-40B4-BE49-F238E27FC236}">
                <a16:creationId xmlns:a16="http://schemas.microsoft.com/office/drawing/2014/main" id="{F3A346BE-392D-118A-42DA-24333343671C}"/>
              </a:ext>
            </a:extLst>
          </p:cNvPr>
          <p:cNvSpPr>
            <a:spLocks noChangeArrowheads="1" noChangeShapeType="1" noTextEdit="1"/>
          </p:cNvSpPr>
          <p:nvPr/>
        </p:nvSpPr>
        <p:spPr bwMode="auto">
          <a:xfrm>
            <a:off x="914400" y="1143000"/>
            <a:ext cx="7086600" cy="4038600"/>
          </a:xfrm>
          <a:prstGeom prst="rect">
            <a:avLst/>
          </a:prstGeom>
        </p:spPr>
        <p:txBody>
          <a:bodyPr wrap="none" fromWordArt="1">
            <a:prstTxWarp prst="textPlain">
              <a:avLst>
                <a:gd name="adj" fmla="val 50000"/>
              </a:avLst>
            </a:prstTxWarp>
          </a:bodyPr>
          <a:lstStyle/>
          <a:p>
            <a:pPr algn="ctr"/>
            <a:r>
              <a:rPr lang="en-US" sz="3600" kern="10">
                <a:ln w="25400">
                  <a:solidFill>
                    <a:srgbClr val="FFFF99"/>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AutoBoxing</a:t>
            </a:r>
          </a:p>
          <a:p>
            <a:pPr algn="ctr"/>
            <a:r>
              <a:rPr lang="en-US" sz="3600" kern="10">
                <a:ln w="25400">
                  <a:solidFill>
                    <a:srgbClr val="FFFF99"/>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AutoUnboxing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28A99CAC-947A-B540-A7D8-F3243AA57895}"/>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9459" name="Rectangle 2">
            <a:extLst>
              <a:ext uri="{FF2B5EF4-FFF2-40B4-BE49-F238E27FC236}">
                <a16:creationId xmlns:a16="http://schemas.microsoft.com/office/drawing/2014/main" id="{F8ACD327-A647-829E-6337-A12ADEB30DD6}"/>
              </a:ext>
            </a:extLst>
          </p:cNvPr>
          <p:cNvSpPr>
            <a:spLocks noChangeArrowheads="1"/>
          </p:cNvSpPr>
          <p:nvPr/>
        </p:nvSpPr>
        <p:spPr bwMode="auto">
          <a:xfrm>
            <a:off x="2743200" y="2257425"/>
            <a:ext cx="3657600" cy="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graphicFrame>
        <p:nvGraphicFramePr>
          <p:cNvPr id="474115" name="Group 3">
            <a:extLst>
              <a:ext uri="{FF2B5EF4-FFF2-40B4-BE49-F238E27FC236}">
                <a16:creationId xmlns:a16="http://schemas.microsoft.com/office/drawing/2014/main" id="{3A6B92EE-BB1F-3BC0-3534-313C2271B773}"/>
              </a:ext>
            </a:extLst>
          </p:cNvPr>
          <p:cNvGraphicFramePr>
            <a:graphicFrameLocks noGrp="1"/>
          </p:cNvGraphicFramePr>
          <p:nvPr/>
        </p:nvGraphicFramePr>
        <p:xfrm>
          <a:off x="838200" y="1447800"/>
          <a:ext cx="7239000" cy="5038725"/>
        </p:xfrm>
        <a:graphic>
          <a:graphicData uri="http://schemas.openxmlformats.org/drawingml/2006/table">
            <a:tbl>
              <a:tblPr/>
              <a:tblGrid>
                <a:gridCol w="3429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tblGrid>
              <a:tr h="518129">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a:ln>
                            <a:noFill/>
                          </a:ln>
                          <a:solidFill>
                            <a:srgbClr val="A50021"/>
                          </a:solidFill>
                          <a:effectLst/>
                          <a:latin typeface="Tahoma" pitchFamily="34" charset="0"/>
                          <a:ea typeface="Times New Roman" pitchFamily="18" charset="0"/>
                          <a:cs typeface="Arial" charset="0"/>
                        </a:rPr>
                        <a:t>primitive</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a:ln>
                            <a:noFill/>
                          </a:ln>
                          <a:solidFill>
                            <a:srgbClr val="A50021"/>
                          </a:solidFill>
                          <a:effectLst/>
                          <a:latin typeface="Tahoma" pitchFamily="34" charset="0"/>
                          <a:ea typeface="Times New Roman" pitchFamily="18" charset="0"/>
                          <a:cs typeface="Arial" charset="0"/>
                        </a:rPr>
                        <a:t>object</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r h="47293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byte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Byte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1"/>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short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Short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2"/>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int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000099"/>
                          </a:solidFill>
                          <a:effectLst/>
                          <a:latin typeface="Tahoma" pitchFamily="34" charset="0"/>
                          <a:ea typeface="Times New Roman" pitchFamily="18" charset="0"/>
                          <a:cs typeface="Arial" charset="0"/>
                        </a:rPr>
                        <a:t>Integer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3"/>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long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Long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4"/>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float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Float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5"/>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double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Double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6"/>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char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Character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7"/>
                  </a:ext>
                </a:extLst>
              </a:tr>
              <a:tr h="45717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boolean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a:ln>
                            <a:noFill/>
                          </a:ln>
                          <a:solidFill>
                            <a:srgbClr val="000099"/>
                          </a:solidFill>
                          <a:effectLst/>
                          <a:latin typeface="Tahoma" pitchFamily="34" charset="0"/>
                          <a:ea typeface="Times New Roman" pitchFamily="18" charset="0"/>
                          <a:cs typeface="Arial" charset="0"/>
                        </a:rPr>
                        <a:t>Boolean </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8"/>
                  </a:ext>
                </a:extLst>
              </a:tr>
              <a:tr h="847472">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FF3300"/>
                          </a:solidFill>
                          <a:effectLst/>
                          <a:latin typeface="Tahoma" pitchFamily="34" charset="0"/>
                          <a:ea typeface="Times New Roman" pitchFamily="18" charset="0"/>
                          <a:cs typeface="Arial" charset="0"/>
                        </a:rPr>
                        <a:t>==</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FF3300"/>
                          </a:solidFill>
                          <a:effectLst/>
                          <a:latin typeface="Tahoma" pitchFamily="34" charset="0"/>
                          <a:ea typeface="Times New Roman" pitchFamily="18" charset="0"/>
                          <a:cs typeface="Arial" charset="0"/>
                        </a:rPr>
                        <a:t>.equals()</a:t>
                      </a:r>
                    </a:p>
                  </a:txBody>
                  <a:tcPr marT="45707" marB="45707" anchor="ctr" horzOverflow="overflow">
                    <a:lnL w="12700" cap="flat" cmpd="sng" algn="ctr">
                      <a:solidFill>
                        <a:srgbClr val="A0A0C0"/>
                      </a:solidFill>
                      <a:prstDash val="solid"/>
                      <a:round/>
                      <a:headEnd type="none" w="sm" len="sm"/>
                      <a:tailEnd type="none" w="sm" len="sm"/>
                    </a:lnL>
                    <a:lnR w="12700" cap="flat" cmpd="sng" algn="ctr">
                      <a:solidFill>
                        <a:srgbClr val="A0A0C0"/>
                      </a:solidFill>
                      <a:prstDash val="solid"/>
                      <a:round/>
                      <a:headEnd type="none" w="sm" len="sm"/>
                      <a:tailEnd type="none" w="sm" len="sm"/>
                    </a:lnR>
                    <a:lnT w="12700" cap="flat" cmpd="sng" algn="ctr">
                      <a:solidFill>
                        <a:srgbClr val="A0A0C0"/>
                      </a:solidFill>
                      <a:prstDash val="solid"/>
                      <a:round/>
                      <a:headEnd type="none" w="sm" len="sm"/>
                      <a:tailEnd type="none" w="sm" len="sm"/>
                    </a:lnT>
                    <a:lnB w="12700" cap="flat" cmpd="sng" algn="ctr">
                      <a:solidFill>
                        <a:srgbClr val="A0A0C0"/>
                      </a:solidFill>
                      <a:prstDash val="solid"/>
                      <a:round/>
                      <a:headEnd type="none" w="sm" len="sm"/>
                      <a:tailEnd type="none" w="sm" len="sm"/>
                    </a:lnB>
                    <a:lnTlToBr>
                      <a:noFill/>
                    </a:lnTlToBr>
                    <a:lnBlToTr>
                      <a:noFill/>
                    </a:lnBlToTr>
                    <a:solidFill>
                      <a:srgbClr val="CCFFCC">
                        <a:alpha val="50000"/>
                      </a:srgbClr>
                    </a:solidFill>
                  </a:tcPr>
                </a:tc>
                <a:extLst>
                  <a:ext uri="{0D108BD9-81ED-4DB2-BD59-A6C34878D82A}">
                    <a16:rowId xmlns:a16="http://schemas.microsoft.com/office/drawing/2014/main" val="10009"/>
                  </a:ext>
                </a:extLst>
              </a:tr>
            </a:tbl>
          </a:graphicData>
        </a:graphic>
      </p:graphicFrame>
      <p:sp>
        <p:nvSpPr>
          <p:cNvPr id="19495" name="WordArt 38">
            <a:extLst>
              <a:ext uri="{FF2B5EF4-FFF2-40B4-BE49-F238E27FC236}">
                <a16:creationId xmlns:a16="http://schemas.microsoft.com/office/drawing/2014/main" id="{1C1A5928-69B7-1C2A-4780-3A5C3DEDE3B5}"/>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982E6121-349B-6C7D-BAEF-BA4377CC1B4D}"/>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1507" name="Text Box 2">
            <a:extLst>
              <a:ext uri="{FF2B5EF4-FFF2-40B4-BE49-F238E27FC236}">
                <a16:creationId xmlns:a16="http://schemas.microsoft.com/office/drawing/2014/main" id="{FD2684EB-C7CB-1DD2-E92B-ECF56D7C98C3}"/>
              </a:ext>
            </a:extLst>
          </p:cNvPr>
          <p:cNvSpPr txBox="1">
            <a:spLocks noChangeArrowheads="1"/>
          </p:cNvSpPr>
          <p:nvPr/>
        </p:nvSpPr>
        <p:spPr bwMode="auto">
          <a:xfrm>
            <a:off x="762000" y="1524000"/>
            <a:ext cx="7324725"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Before Java 5 added in autoboxing</a:t>
            </a:r>
          </a:p>
          <a:p>
            <a:pPr eaLnBrk="1" hangingPunct="1">
              <a:spcBef>
                <a:spcPct val="0"/>
              </a:spcBef>
              <a:buFontTx/>
              <a:buNone/>
            </a:pPr>
            <a:r>
              <a:rPr lang="en-US" altLang="en-US">
                <a:latin typeface="Tahoma" panose="020B0604030504040204" pitchFamily="34" charset="0"/>
              </a:rPr>
              <a:t>and autounboxing, you had to</a:t>
            </a:r>
          </a:p>
          <a:p>
            <a:pPr eaLnBrk="1" hangingPunct="1">
              <a:spcBef>
                <a:spcPct val="0"/>
              </a:spcBef>
              <a:buFontTx/>
              <a:buNone/>
            </a:pPr>
            <a:r>
              <a:rPr lang="en-US" altLang="en-US">
                <a:latin typeface="Tahoma" panose="020B0604030504040204" pitchFamily="34" charset="0"/>
              </a:rPr>
              <a:t>manually wrap primitives.</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Integer x = new Integer(98);</a:t>
            </a:r>
          </a:p>
          <a:p>
            <a:pPr eaLnBrk="1" hangingPunct="1">
              <a:spcBef>
                <a:spcPct val="0"/>
              </a:spcBef>
              <a:buFontTx/>
              <a:buNone/>
            </a:pPr>
            <a:r>
              <a:rPr lang="en-US" altLang="en-US">
                <a:latin typeface="Tahoma" panose="020B0604030504040204" pitchFamily="34" charset="0"/>
              </a:rPr>
              <a:t>int y = 56;</a:t>
            </a:r>
          </a:p>
          <a:p>
            <a:pPr eaLnBrk="1" hangingPunct="1">
              <a:spcBef>
                <a:spcPct val="0"/>
              </a:spcBef>
              <a:buFontTx/>
              <a:buNone/>
            </a:pPr>
            <a:r>
              <a:rPr lang="en-US" altLang="en-US">
                <a:latin typeface="Tahoma" panose="020B0604030504040204" pitchFamily="34" charset="0"/>
              </a:rPr>
              <a:t>x = </a:t>
            </a:r>
            <a:r>
              <a:rPr lang="en-US" altLang="en-US">
                <a:solidFill>
                  <a:srgbClr val="C00000"/>
                </a:solidFill>
                <a:latin typeface="Tahoma" panose="020B0604030504040204" pitchFamily="34" charset="0"/>
              </a:rPr>
              <a:t>new Integer(y);</a:t>
            </a:r>
          </a:p>
        </p:txBody>
      </p:sp>
      <p:sp>
        <p:nvSpPr>
          <p:cNvPr id="21508" name="WordArt 3">
            <a:extLst>
              <a:ext uri="{FF2B5EF4-FFF2-40B4-BE49-F238E27FC236}">
                <a16:creationId xmlns:a16="http://schemas.microsoft.com/office/drawing/2014/main" id="{15B7840A-31ED-A80E-CFE7-959BCC34AFD8}"/>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B7F187DD-4BFE-208E-D7C3-D88E8D05F0BB}"/>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3555" name="Text Box 2">
            <a:extLst>
              <a:ext uri="{FF2B5EF4-FFF2-40B4-BE49-F238E27FC236}">
                <a16:creationId xmlns:a16="http://schemas.microsoft.com/office/drawing/2014/main" id="{1331A282-D9CB-82F4-EE30-EA81DEA8DF9D}"/>
              </a:ext>
            </a:extLst>
          </p:cNvPr>
          <p:cNvSpPr txBox="1">
            <a:spLocks noChangeArrowheads="1"/>
          </p:cNvSpPr>
          <p:nvPr/>
        </p:nvSpPr>
        <p:spPr bwMode="auto">
          <a:xfrm>
            <a:off x="762000" y="1524000"/>
            <a:ext cx="63246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With autoboxing the int value is automatically boxed in an Integer object:</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Integer x = new Integer(98);</a:t>
            </a:r>
          </a:p>
          <a:p>
            <a:pPr eaLnBrk="1" hangingPunct="1">
              <a:spcBef>
                <a:spcPct val="0"/>
              </a:spcBef>
              <a:buFontTx/>
              <a:buNone/>
            </a:pPr>
            <a:r>
              <a:rPr lang="en-US" altLang="en-US">
                <a:latin typeface="Tahoma" panose="020B0604030504040204" pitchFamily="34" charset="0"/>
              </a:rPr>
              <a:t>int y = 56;</a:t>
            </a:r>
          </a:p>
          <a:p>
            <a:pPr eaLnBrk="1" hangingPunct="1">
              <a:spcBef>
                <a:spcPct val="0"/>
              </a:spcBef>
              <a:buFontTx/>
              <a:buNone/>
            </a:pPr>
            <a:r>
              <a:rPr lang="en-US" altLang="en-US">
                <a:latin typeface="Tahoma" panose="020B0604030504040204" pitchFamily="34" charset="0"/>
              </a:rPr>
              <a:t>x = </a:t>
            </a:r>
            <a:r>
              <a:rPr lang="en-US" altLang="en-US">
                <a:solidFill>
                  <a:srgbClr val="006600"/>
                </a:solidFill>
                <a:latin typeface="Tahoma" panose="020B0604030504040204" pitchFamily="34" charset="0"/>
              </a:rPr>
              <a:t>y</a:t>
            </a:r>
            <a:r>
              <a:rPr lang="en-US" altLang="en-US">
                <a:latin typeface="Tahoma" panose="020B0604030504040204" pitchFamily="34" charset="0"/>
              </a:rPr>
              <a:t>;</a:t>
            </a:r>
          </a:p>
        </p:txBody>
      </p:sp>
      <p:sp>
        <p:nvSpPr>
          <p:cNvPr id="23556" name="WordArt 3">
            <a:extLst>
              <a:ext uri="{FF2B5EF4-FFF2-40B4-BE49-F238E27FC236}">
                <a16:creationId xmlns:a16="http://schemas.microsoft.com/office/drawing/2014/main" id="{5F277E93-7D8B-E960-2B85-69D9274DA3EC}"/>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D47E42DB-074A-2A65-2C86-9464ABF971C4}"/>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5603" name="Rectangle 2">
            <a:extLst>
              <a:ext uri="{FF2B5EF4-FFF2-40B4-BE49-F238E27FC236}">
                <a16:creationId xmlns:a16="http://schemas.microsoft.com/office/drawing/2014/main" id="{EBE473A6-4BE9-5D6A-1352-051AA574CC85}"/>
              </a:ext>
            </a:extLst>
          </p:cNvPr>
          <p:cNvSpPr>
            <a:spLocks noChangeArrowheads="1"/>
          </p:cNvSpPr>
          <p:nvPr/>
        </p:nvSpPr>
        <p:spPr bwMode="auto">
          <a:xfrm>
            <a:off x="2743200" y="2257425"/>
            <a:ext cx="3657600" cy="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800">
              <a:latin typeface="Tahoma" panose="020B0604030504040204" pitchFamily="34" charset="0"/>
            </a:endParaRPr>
          </a:p>
        </p:txBody>
      </p:sp>
      <p:sp>
        <p:nvSpPr>
          <p:cNvPr id="25604" name="Text Box 3">
            <a:extLst>
              <a:ext uri="{FF2B5EF4-FFF2-40B4-BE49-F238E27FC236}">
                <a16:creationId xmlns:a16="http://schemas.microsoft.com/office/drawing/2014/main" id="{30A9D831-76F3-D67F-71AF-ABBD9485FFD8}"/>
              </a:ext>
            </a:extLst>
          </p:cNvPr>
          <p:cNvSpPr txBox="1">
            <a:spLocks noChangeArrowheads="1"/>
          </p:cNvSpPr>
          <p:nvPr/>
        </p:nvSpPr>
        <p:spPr bwMode="auto">
          <a:xfrm>
            <a:off x="609600" y="1600200"/>
            <a:ext cx="70262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Java now wraps automatically.</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solidFill>
                  <a:srgbClr val="006600"/>
                </a:solidFill>
                <a:latin typeface="Tahoma" panose="020B0604030504040204" pitchFamily="34" charset="0"/>
              </a:rPr>
              <a:t>//These two lines are equivalent:</a:t>
            </a:r>
          </a:p>
          <a:p>
            <a:pPr eaLnBrk="1" hangingPunct="1">
              <a:spcBef>
                <a:spcPct val="0"/>
              </a:spcBef>
              <a:buFontTx/>
              <a:buNone/>
            </a:pPr>
            <a:r>
              <a:rPr lang="en-US" altLang="en-US" sz="2800">
                <a:latin typeface="Tahoma" panose="020B0604030504040204" pitchFamily="34" charset="0"/>
              </a:rPr>
              <a:t>Integer numTwo = new Integer(99);</a:t>
            </a:r>
          </a:p>
          <a:p>
            <a:pPr eaLnBrk="1" hangingPunct="1">
              <a:spcBef>
                <a:spcPct val="0"/>
              </a:spcBef>
              <a:buFontTx/>
              <a:buNone/>
            </a:pPr>
            <a:r>
              <a:rPr lang="en-US" altLang="en-US" sz="2800">
                <a:latin typeface="Tahoma" panose="020B0604030504040204" pitchFamily="34" charset="0"/>
              </a:rPr>
              <a:t>Integer numOne = 99;</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solidFill>
                  <a:srgbClr val="006600"/>
                </a:solidFill>
                <a:latin typeface="Tahoma" panose="020B0604030504040204" pitchFamily="34" charset="0"/>
              </a:rPr>
              <a:t>//As are these:</a:t>
            </a:r>
          </a:p>
          <a:p>
            <a:pPr eaLnBrk="1" hangingPunct="1">
              <a:spcBef>
                <a:spcPct val="0"/>
              </a:spcBef>
              <a:buFontTx/>
              <a:buNone/>
            </a:pPr>
            <a:r>
              <a:rPr lang="en-US" altLang="en-US" sz="2800">
                <a:latin typeface="Tahoma" panose="020B0604030504040204" pitchFamily="34" charset="0"/>
              </a:rPr>
              <a:t>Double numTwo = new Double(99.1);</a:t>
            </a:r>
          </a:p>
          <a:p>
            <a:pPr eaLnBrk="1" hangingPunct="1">
              <a:spcBef>
                <a:spcPct val="0"/>
              </a:spcBef>
              <a:buFontTx/>
              <a:buNone/>
            </a:pPr>
            <a:r>
              <a:rPr lang="en-US" altLang="en-US" sz="2800">
                <a:latin typeface="Tahoma" panose="020B0604030504040204" pitchFamily="34" charset="0"/>
              </a:rPr>
              <a:t>Double numOne = 99.1;</a:t>
            </a:r>
          </a:p>
        </p:txBody>
      </p:sp>
      <p:pic>
        <p:nvPicPr>
          <p:cNvPr id="25605" name="Picture 4" descr="j0340886[1]">
            <a:extLst>
              <a:ext uri="{FF2B5EF4-FFF2-40B4-BE49-F238E27FC236}">
                <a16:creationId xmlns:a16="http://schemas.microsoft.com/office/drawing/2014/main" id="{78FFF054-FE75-CC8F-BC43-1F09D8704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5181600"/>
            <a:ext cx="129381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WordArt 5">
            <a:extLst>
              <a:ext uri="{FF2B5EF4-FFF2-40B4-BE49-F238E27FC236}">
                <a16:creationId xmlns:a16="http://schemas.microsoft.com/office/drawing/2014/main" id="{C30D70FC-846C-C00D-3BC7-386EA2606D21}"/>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53FB6B75-F9E2-2F8F-8302-06DFD0BBA7BC}"/>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7651" name="Text Box 2">
            <a:extLst>
              <a:ext uri="{FF2B5EF4-FFF2-40B4-BE49-F238E27FC236}">
                <a16:creationId xmlns:a16="http://schemas.microsoft.com/office/drawing/2014/main" id="{A94BA3BC-8614-1C57-D796-18B45AB6ED0F}"/>
              </a:ext>
            </a:extLst>
          </p:cNvPr>
          <p:cNvSpPr txBox="1">
            <a:spLocks noChangeArrowheads="1"/>
          </p:cNvSpPr>
          <p:nvPr/>
        </p:nvSpPr>
        <p:spPr bwMode="auto">
          <a:xfrm>
            <a:off x="795338" y="1600200"/>
            <a:ext cx="7324725"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Before Java 5 added in autoboxing</a:t>
            </a:r>
          </a:p>
          <a:p>
            <a:pPr eaLnBrk="1" hangingPunct="1">
              <a:spcBef>
                <a:spcPct val="0"/>
              </a:spcBef>
              <a:buFontTx/>
              <a:buNone/>
            </a:pPr>
            <a:r>
              <a:rPr lang="en-US" altLang="en-US">
                <a:latin typeface="Tahoma" panose="020B0604030504040204" pitchFamily="34" charset="0"/>
              </a:rPr>
              <a:t>and autounboxing, you had to</a:t>
            </a:r>
          </a:p>
          <a:p>
            <a:pPr eaLnBrk="1" hangingPunct="1">
              <a:spcBef>
                <a:spcPct val="0"/>
              </a:spcBef>
              <a:buFontTx/>
              <a:buNone/>
            </a:pPr>
            <a:r>
              <a:rPr lang="en-US" altLang="en-US">
                <a:latin typeface="Tahoma" panose="020B0604030504040204" pitchFamily="34" charset="0"/>
              </a:rPr>
              <a:t>manually unwrap references.</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Integer ref = new Integer(98);</a:t>
            </a:r>
          </a:p>
          <a:p>
            <a:pPr eaLnBrk="1" hangingPunct="1">
              <a:spcBef>
                <a:spcPct val="0"/>
              </a:spcBef>
              <a:buFontTx/>
              <a:buNone/>
            </a:pPr>
            <a:r>
              <a:rPr lang="en-US" altLang="en-US">
                <a:latin typeface="Tahoma" panose="020B0604030504040204" pitchFamily="34" charset="0"/>
              </a:rPr>
              <a:t>int y = </a:t>
            </a:r>
            <a:r>
              <a:rPr lang="en-US" altLang="en-US">
                <a:solidFill>
                  <a:srgbClr val="FF0000"/>
                </a:solidFill>
                <a:latin typeface="Tahoma" panose="020B0604030504040204" pitchFamily="34" charset="0"/>
              </a:rPr>
              <a:t>ref.intValue();</a:t>
            </a:r>
          </a:p>
        </p:txBody>
      </p:sp>
      <p:sp>
        <p:nvSpPr>
          <p:cNvPr id="27652" name="WordArt 3">
            <a:extLst>
              <a:ext uri="{FF2B5EF4-FFF2-40B4-BE49-F238E27FC236}">
                <a16:creationId xmlns:a16="http://schemas.microsoft.com/office/drawing/2014/main" id="{A54ACC13-C6D6-BAB5-CD09-8FF730A065ED}"/>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a:extLst>
              <a:ext uri="{FF2B5EF4-FFF2-40B4-BE49-F238E27FC236}">
                <a16:creationId xmlns:a16="http://schemas.microsoft.com/office/drawing/2014/main" id="{08227D8B-437A-78F2-B322-727074DDBD28}"/>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9699" name="Text Box 2">
            <a:extLst>
              <a:ext uri="{FF2B5EF4-FFF2-40B4-BE49-F238E27FC236}">
                <a16:creationId xmlns:a16="http://schemas.microsoft.com/office/drawing/2014/main" id="{F047BAE2-7B1C-918E-F971-9D3D2D79F92B}"/>
              </a:ext>
            </a:extLst>
          </p:cNvPr>
          <p:cNvSpPr txBox="1">
            <a:spLocks noChangeArrowheads="1"/>
          </p:cNvSpPr>
          <p:nvPr/>
        </p:nvSpPr>
        <p:spPr bwMode="auto">
          <a:xfrm>
            <a:off x="762000" y="1828800"/>
            <a:ext cx="70866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With auto-unboxing the int value is automatically extracted from the Integer object:</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Integer ref = new Integer(98);</a:t>
            </a:r>
          </a:p>
          <a:p>
            <a:pPr eaLnBrk="1" hangingPunct="1">
              <a:spcBef>
                <a:spcPct val="0"/>
              </a:spcBef>
              <a:buFontTx/>
              <a:buNone/>
            </a:pPr>
            <a:r>
              <a:rPr lang="en-US" altLang="en-US">
                <a:latin typeface="Tahoma" panose="020B0604030504040204" pitchFamily="34" charset="0"/>
              </a:rPr>
              <a:t>int y = </a:t>
            </a:r>
            <a:r>
              <a:rPr lang="en-US" altLang="en-US">
                <a:solidFill>
                  <a:srgbClr val="006600"/>
                </a:solidFill>
                <a:latin typeface="Tahoma" panose="020B0604030504040204" pitchFamily="34" charset="0"/>
              </a:rPr>
              <a:t>ref</a:t>
            </a:r>
            <a:r>
              <a:rPr lang="en-US" altLang="en-US">
                <a:latin typeface="Tahoma" panose="020B0604030504040204" pitchFamily="34" charset="0"/>
              </a:rPr>
              <a:t>;</a:t>
            </a:r>
          </a:p>
        </p:txBody>
      </p:sp>
      <p:sp>
        <p:nvSpPr>
          <p:cNvPr id="29700" name="WordArt 3">
            <a:extLst>
              <a:ext uri="{FF2B5EF4-FFF2-40B4-BE49-F238E27FC236}">
                <a16:creationId xmlns:a16="http://schemas.microsoft.com/office/drawing/2014/main" id="{9C98C4CB-29E8-2BD5-5609-F59AF182617B}"/>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DF94E9EA-5696-E14F-D889-A230B66FD1BD}"/>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Text Box 2">
            <a:extLst>
              <a:ext uri="{FF2B5EF4-FFF2-40B4-BE49-F238E27FC236}">
                <a16:creationId xmlns:a16="http://schemas.microsoft.com/office/drawing/2014/main" id="{5C9BC474-5D97-4380-2EF7-7B1188C09DDB}"/>
              </a:ext>
            </a:extLst>
          </p:cNvPr>
          <p:cNvSpPr txBox="1">
            <a:spLocks noChangeArrowheads="1"/>
          </p:cNvSpPr>
          <p:nvPr/>
        </p:nvSpPr>
        <p:spPr bwMode="auto">
          <a:xfrm>
            <a:off x="6477000" y="3200400"/>
            <a:ext cx="1981200" cy="1811338"/>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3</a:t>
            </a:r>
            <a:br>
              <a:rPr lang="en-US" altLang="en-US">
                <a:latin typeface="Tahoma" panose="020B0604030504040204" pitchFamily="34" charset="0"/>
              </a:rPr>
            </a:br>
            <a:r>
              <a:rPr lang="en-US" altLang="en-US">
                <a:latin typeface="Tahoma" panose="020B0604030504040204" pitchFamily="34" charset="0"/>
              </a:rPr>
              <a:t>3</a:t>
            </a:r>
          </a:p>
        </p:txBody>
      </p:sp>
      <p:sp>
        <p:nvSpPr>
          <p:cNvPr id="31748" name="WordArt 3">
            <a:extLst>
              <a:ext uri="{FF2B5EF4-FFF2-40B4-BE49-F238E27FC236}">
                <a16:creationId xmlns:a16="http://schemas.microsoft.com/office/drawing/2014/main" id="{A044A379-0995-79BF-C8DB-114CD33ED60D}"/>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
        <p:nvSpPr>
          <p:cNvPr id="31749" name="Text Box 4">
            <a:extLst>
              <a:ext uri="{FF2B5EF4-FFF2-40B4-BE49-F238E27FC236}">
                <a16:creationId xmlns:a16="http://schemas.microsoft.com/office/drawing/2014/main" id="{859DF80C-2B12-2E32-784E-6C5A73214990}"/>
              </a:ext>
            </a:extLst>
          </p:cNvPr>
          <p:cNvSpPr txBox="1">
            <a:spLocks noChangeArrowheads="1"/>
          </p:cNvSpPr>
          <p:nvPr/>
        </p:nvSpPr>
        <p:spPr bwMode="auto">
          <a:xfrm>
            <a:off x="685800" y="1371600"/>
            <a:ext cx="61595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Java now unwraps automatically.</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Integer num = new Integer(3);</a:t>
            </a:r>
          </a:p>
          <a:p>
            <a:pPr eaLnBrk="1" hangingPunct="1">
              <a:spcBef>
                <a:spcPct val="0"/>
              </a:spcBef>
              <a:buFontTx/>
              <a:buNone/>
            </a:pPr>
            <a:r>
              <a:rPr lang="en-US" altLang="en-US" sz="2800">
                <a:latin typeface="Tahoma" panose="020B0604030504040204" pitchFamily="34" charset="0"/>
              </a:rPr>
              <a:t>int prim = num.intValue();</a:t>
            </a:r>
          </a:p>
          <a:p>
            <a:pPr eaLnBrk="1" hangingPunct="1">
              <a:spcBef>
                <a:spcPct val="0"/>
              </a:spcBef>
              <a:buFontTx/>
              <a:buNone/>
            </a:pPr>
            <a:r>
              <a:rPr lang="en-US" altLang="en-US" sz="2800">
                <a:latin typeface="Tahoma" panose="020B0604030504040204" pitchFamily="34" charset="0"/>
              </a:rPr>
              <a:t>out.println(prim);</a:t>
            </a:r>
          </a:p>
          <a:p>
            <a:pPr eaLnBrk="1" hangingPunct="1">
              <a:spcBef>
                <a:spcPct val="0"/>
              </a:spcBef>
              <a:buFontTx/>
              <a:buNone/>
            </a:pPr>
            <a:r>
              <a:rPr lang="en-US" altLang="en-US" sz="2800">
                <a:latin typeface="Tahoma" panose="020B0604030504040204" pitchFamily="34" charset="0"/>
              </a:rPr>
              <a:t>prim = num;</a:t>
            </a:r>
          </a:p>
          <a:p>
            <a:pPr eaLnBrk="1" hangingPunct="1">
              <a:spcBef>
                <a:spcPct val="0"/>
              </a:spcBef>
              <a:buFontTx/>
              <a:buNone/>
            </a:pPr>
            <a:r>
              <a:rPr lang="en-US" altLang="en-US" sz="2800">
                <a:latin typeface="Tahoma" panose="020B0604030504040204" pitchFamily="34" charset="0"/>
              </a:rPr>
              <a:t>out.println(prim);</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solidFill>
                  <a:srgbClr val="009900"/>
                </a:solidFill>
                <a:latin typeface="Tahoma" panose="020B0604030504040204" pitchFamily="34" charset="0"/>
              </a:rPr>
              <a:t>prim=num.intValue();</a:t>
            </a:r>
          </a:p>
          <a:p>
            <a:pPr eaLnBrk="1" hangingPunct="1">
              <a:spcBef>
                <a:spcPct val="0"/>
              </a:spcBef>
              <a:buFontTx/>
              <a:buNone/>
            </a:pPr>
            <a:r>
              <a:rPr lang="en-US" altLang="en-US" sz="2800">
                <a:solidFill>
                  <a:srgbClr val="009900"/>
                </a:solidFill>
                <a:latin typeface="Tahoma" panose="020B0604030504040204" pitchFamily="34" charset="0"/>
              </a:rPr>
              <a:t>prim=num;</a:t>
            </a:r>
          </a:p>
          <a:p>
            <a:pPr eaLnBrk="1" hangingPunct="1">
              <a:spcBef>
                <a:spcPct val="0"/>
              </a:spcBef>
              <a:buFontTx/>
              <a:buNone/>
            </a:pPr>
            <a:r>
              <a:rPr lang="en-US" altLang="en-US" sz="2800">
                <a:solidFill>
                  <a:srgbClr val="0000CC"/>
                </a:solidFill>
                <a:latin typeface="Tahoma" panose="020B0604030504040204" pitchFamily="34" charset="0"/>
              </a:rPr>
              <a:t>These two lines are equivalent.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B8A9C010-CE9C-F86D-B23E-7F1CBE90CA1F}"/>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3795" name="Text Box 2">
            <a:extLst>
              <a:ext uri="{FF2B5EF4-FFF2-40B4-BE49-F238E27FC236}">
                <a16:creationId xmlns:a16="http://schemas.microsoft.com/office/drawing/2014/main" id="{F2975E4C-D3D7-99C2-76CF-0FB9A9088C6C}"/>
              </a:ext>
            </a:extLst>
          </p:cNvPr>
          <p:cNvSpPr txBox="1">
            <a:spLocks noChangeArrowheads="1"/>
          </p:cNvSpPr>
          <p:nvPr/>
        </p:nvSpPr>
        <p:spPr bwMode="auto">
          <a:xfrm>
            <a:off x="762000" y="1524000"/>
            <a:ext cx="6788150" cy="447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Double dub = 9.3;</a:t>
            </a:r>
          </a:p>
          <a:p>
            <a:pPr eaLnBrk="1" hangingPunct="1">
              <a:spcBef>
                <a:spcPct val="0"/>
              </a:spcBef>
              <a:buFontTx/>
              <a:buNone/>
            </a:pPr>
            <a:r>
              <a:rPr lang="en-US" altLang="en-US">
                <a:latin typeface="Tahoma" panose="020B0604030504040204" pitchFamily="34" charset="0"/>
              </a:rPr>
              <a:t>double prim = dub;</a:t>
            </a:r>
          </a:p>
          <a:p>
            <a:pPr eaLnBrk="1" hangingPunct="1">
              <a:spcBef>
                <a:spcPct val="0"/>
              </a:spcBef>
              <a:buFontTx/>
              <a:buNone/>
            </a:pPr>
            <a:r>
              <a:rPr lang="en-US" altLang="en-US">
                <a:latin typeface="Tahoma" panose="020B0604030504040204" pitchFamily="34" charset="0"/>
              </a:rPr>
              <a:t>out.println(prim);</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int num = 12;</a:t>
            </a:r>
          </a:p>
          <a:p>
            <a:pPr eaLnBrk="1" hangingPunct="1">
              <a:spcBef>
                <a:spcPct val="0"/>
              </a:spcBef>
              <a:buFontTx/>
              <a:buNone/>
            </a:pPr>
            <a:r>
              <a:rPr lang="en-US" altLang="en-US">
                <a:latin typeface="Tahoma" panose="020B0604030504040204" pitchFamily="34" charset="0"/>
              </a:rPr>
              <a:t>Integer big = num;</a:t>
            </a:r>
          </a:p>
          <a:p>
            <a:pPr eaLnBrk="1" hangingPunct="1">
              <a:spcBef>
                <a:spcPct val="0"/>
              </a:spcBef>
              <a:buFontTx/>
              <a:buNone/>
            </a:pPr>
            <a:r>
              <a:rPr lang="en-US" altLang="en-US">
                <a:latin typeface="Tahoma" panose="020B0604030504040204" pitchFamily="34" charset="0"/>
              </a:rPr>
              <a:t>out.println(big.compareTo(12));</a:t>
            </a:r>
          </a:p>
          <a:p>
            <a:pPr eaLnBrk="1" hangingPunct="1">
              <a:spcBef>
                <a:spcPct val="0"/>
              </a:spcBef>
              <a:buFontTx/>
              <a:buNone/>
            </a:pPr>
            <a:r>
              <a:rPr lang="en-US" altLang="en-US">
                <a:latin typeface="Tahoma" panose="020B0604030504040204" pitchFamily="34" charset="0"/>
              </a:rPr>
              <a:t>out.println(big.compareTo(17));</a:t>
            </a:r>
          </a:p>
          <a:p>
            <a:pPr eaLnBrk="1" hangingPunct="1">
              <a:spcBef>
                <a:spcPct val="0"/>
              </a:spcBef>
              <a:buFontTx/>
              <a:buNone/>
            </a:pPr>
            <a:r>
              <a:rPr lang="en-US" altLang="en-US">
                <a:latin typeface="Tahoma" panose="020B0604030504040204" pitchFamily="34" charset="0"/>
              </a:rPr>
              <a:t>out.println(big.compareTo(10));</a:t>
            </a:r>
          </a:p>
        </p:txBody>
      </p:sp>
      <p:sp>
        <p:nvSpPr>
          <p:cNvPr id="33796" name="Text Box 3">
            <a:extLst>
              <a:ext uri="{FF2B5EF4-FFF2-40B4-BE49-F238E27FC236}">
                <a16:creationId xmlns:a16="http://schemas.microsoft.com/office/drawing/2014/main" id="{871BE965-DAF6-EA6C-7B25-9D2AC282D921}"/>
              </a:ext>
            </a:extLst>
          </p:cNvPr>
          <p:cNvSpPr txBox="1">
            <a:spLocks noChangeArrowheads="1"/>
          </p:cNvSpPr>
          <p:nvPr/>
        </p:nvSpPr>
        <p:spPr bwMode="auto">
          <a:xfrm>
            <a:off x="6400800" y="1524000"/>
            <a:ext cx="1981200" cy="2786063"/>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a:spcBef>
                <a:spcPct val="50000"/>
              </a:spcBef>
              <a:buFontTx/>
              <a:buNone/>
            </a:pPr>
            <a:r>
              <a:rPr lang="en-US" altLang="en-US">
                <a:latin typeface="Tahoma" panose="020B0604030504040204" pitchFamily="34" charset="0"/>
              </a:rPr>
              <a:t>9.3</a:t>
            </a:r>
            <a:br>
              <a:rPr lang="en-US" altLang="en-US">
                <a:latin typeface="Tahoma" panose="020B0604030504040204" pitchFamily="34" charset="0"/>
              </a:rPr>
            </a:br>
            <a:r>
              <a:rPr lang="en-US" altLang="en-US">
                <a:latin typeface="Tahoma" panose="020B0604030504040204" pitchFamily="34" charset="0"/>
              </a:rPr>
              <a:t>0</a:t>
            </a:r>
            <a:br>
              <a:rPr lang="en-US" altLang="en-US">
                <a:latin typeface="Tahoma" panose="020B0604030504040204" pitchFamily="34" charset="0"/>
              </a:rPr>
            </a:br>
            <a:r>
              <a:rPr lang="en-US" altLang="en-US">
                <a:latin typeface="Tahoma" panose="020B0604030504040204" pitchFamily="34" charset="0"/>
              </a:rPr>
              <a:t>-1</a:t>
            </a:r>
            <a:br>
              <a:rPr lang="en-US" altLang="en-US">
                <a:latin typeface="Tahoma" panose="020B0604030504040204" pitchFamily="34" charset="0"/>
              </a:rPr>
            </a:br>
            <a:r>
              <a:rPr lang="en-US" altLang="en-US">
                <a:latin typeface="Tahoma" panose="020B0604030504040204" pitchFamily="34" charset="0"/>
              </a:rPr>
              <a:t>1</a:t>
            </a:r>
          </a:p>
        </p:txBody>
      </p:sp>
      <p:sp>
        <p:nvSpPr>
          <p:cNvPr id="33797" name="WordArt 4">
            <a:extLst>
              <a:ext uri="{FF2B5EF4-FFF2-40B4-BE49-F238E27FC236}">
                <a16:creationId xmlns:a16="http://schemas.microsoft.com/office/drawing/2014/main" id="{0779A844-1ACB-3BFD-B2C6-0249577D9B97}"/>
              </a:ext>
            </a:extLst>
          </p:cNvPr>
          <p:cNvSpPr>
            <a:spLocks noChangeArrowheads="1" noChangeShapeType="1" noTextEdit="1"/>
          </p:cNvSpPr>
          <p:nvPr/>
        </p:nvSpPr>
        <p:spPr bwMode="auto">
          <a:xfrm>
            <a:off x="1066800" y="457200"/>
            <a:ext cx="6781800" cy="685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Box/Unbox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4450D951-1482-75F7-6471-601F979AE928}"/>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5843" name="WordArt 2">
            <a:extLst>
              <a:ext uri="{FF2B5EF4-FFF2-40B4-BE49-F238E27FC236}">
                <a16:creationId xmlns:a16="http://schemas.microsoft.com/office/drawing/2014/main" id="{00C03C8D-18CF-5BB2-1B48-D7B1A61CD4BD}"/>
              </a:ext>
            </a:extLst>
          </p:cNvPr>
          <p:cNvSpPr>
            <a:spLocks noChangeArrowheads="1" noChangeShapeType="1" noTextEdit="1"/>
          </p:cNvSpPr>
          <p:nvPr/>
        </p:nvSpPr>
        <p:spPr bwMode="auto">
          <a:xfrm>
            <a:off x="533400" y="1447800"/>
            <a:ext cx="7848600" cy="3657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autoboxunbox.java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4A874343-FB11-6883-9F21-5150524428BC}"/>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7891" name="Text Box 2">
            <a:extLst>
              <a:ext uri="{FF2B5EF4-FFF2-40B4-BE49-F238E27FC236}">
                <a16:creationId xmlns:a16="http://schemas.microsoft.com/office/drawing/2014/main" id="{545B46D0-AB31-9FBE-49EA-9502DFF74833}"/>
              </a:ext>
            </a:extLst>
          </p:cNvPr>
          <p:cNvSpPr txBox="1">
            <a:spLocks noChangeArrowheads="1"/>
          </p:cNvSpPr>
          <p:nvPr/>
        </p:nvSpPr>
        <p:spPr bwMode="auto">
          <a:xfrm>
            <a:off x="914400" y="1295400"/>
            <a:ext cx="7756525"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latin typeface="Tahoma" panose="020B0604030504040204" pitchFamily="34" charset="0"/>
              </a:rPr>
              <a:t>ArrayList&lt;Integer&gt; ray;</a:t>
            </a:r>
          </a:p>
          <a:p>
            <a:pPr eaLnBrk="1" hangingPunct="1">
              <a:spcBef>
                <a:spcPct val="0"/>
              </a:spcBef>
              <a:buFontTx/>
              <a:buNone/>
            </a:pPr>
            <a:r>
              <a:rPr lang="en-US" altLang="en-US" sz="2000">
                <a:latin typeface="Tahoma" panose="020B0604030504040204" pitchFamily="34" charset="0"/>
              </a:rPr>
              <a:t>ray = new ArrayList&lt;Integer&gt;();</a:t>
            </a:r>
          </a:p>
          <a:p>
            <a:pPr eaLnBrk="1" hangingPunct="1">
              <a:spcBef>
                <a:spcPct val="0"/>
              </a:spcBef>
              <a:buFontTx/>
              <a:buNone/>
            </a:pPr>
            <a:endParaRPr lang="en-US" altLang="en-US" sz="2000">
              <a:latin typeface="Tahoma" panose="020B0604030504040204" pitchFamily="34" charset="0"/>
            </a:endParaRPr>
          </a:p>
          <a:p>
            <a:pPr eaLnBrk="1" hangingPunct="1">
              <a:spcBef>
                <a:spcPct val="0"/>
              </a:spcBef>
              <a:buFontTx/>
              <a:buNone/>
            </a:pPr>
            <a:r>
              <a:rPr lang="en-US" altLang="en-US" sz="2000">
                <a:latin typeface="Tahoma" panose="020B0604030504040204" pitchFamily="34" charset="0"/>
              </a:rPr>
              <a:t>//add some values to ray</a:t>
            </a:r>
          </a:p>
          <a:p>
            <a:pPr eaLnBrk="1" hangingPunct="1">
              <a:spcBef>
                <a:spcPct val="0"/>
              </a:spcBef>
              <a:buFontTx/>
              <a:buNone/>
            </a:pPr>
            <a:endParaRPr lang="en-US" altLang="en-US" sz="2000">
              <a:latin typeface="Tahoma" panose="020B0604030504040204" pitchFamily="34" charset="0"/>
            </a:endParaRPr>
          </a:p>
          <a:p>
            <a:pPr eaLnBrk="1" hangingPunct="1">
              <a:spcBef>
                <a:spcPct val="0"/>
              </a:spcBef>
              <a:buFontTx/>
              <a:buNone/>
            </a:pPr>
            <a:r>
              <a:rPr lang="en-US" altLang="en-US" sz="2000">
                <a:latin typeface="Tahoma" panose="020B0604030504040204" pitchFamily="34" charset="0"/>
              </a:rPr>
              <a:t>int total = 0;</a:t>
            </a:r>
          </a:p>
          <a:p>
            <a:pPr eaLnBrk="1" hangingPunct="1">
              <a:spcBef>
                <a:spcPct val="0"/>
              </a:spcBef>
              <a:buFontTx/>
              <a:buNone/>
            </a:pPr>
            <a:r>
              <a:rPr lang="en-US" altLang="en-US" sz="2000">
                <a:latin typeface="Tahoma" panose="020B0604030504040204" pitchFamily="34" charset="0"/>
              </a:rPr>
              <a:t>for(Integer num : ray)</a:t>
            </a:r>
          </a:p>
          <a:p>
            <a:pPr eaLnBrk="1" hangingPunct="1">
              <a:spcBef>
                <a:spcPct val="0"/>
              </a:spcBef>
              <a:buFontTx/>
              <a:buNone/>
            </a:pPr>
            <a:r>
              <a:rPr lang="en-US" altLang="en-US" sz="2000">
                <a:latin typeface="Tahoma" panose="020B0604030504040204" pitchFamily="34" charset="0"/>
              </a:rPr>
              <a:t>{</a:t>
            </a:r>
          </a:p>
          <a:p>
            <a:pPr eaLnBrk="1" hangingPunct="1">
              <a:spcBef>
                <a:spcPct val="0"/>
              </a:spcBef>
              <a:buFontTx/>
              <a:buNone/>
            </a:pPr>
            <a:r>
              <a:rPr lang="en-US" altLang="en-US" sz="2000">
                <a:solidFill>
                  <a:srgbClr val="008000"/>
                </a:solidFill>
                <a:latin typeface="Tahoma" panose="020B0604030504040204" pitchFamily="34" charset="0"/>
              </a:rPr>
              <a:t>   //this line shows the AP preferred way</a:t>
            </a:r>
          </a:p>
          <a:p>
            <a:pPr eaLnBrk="1" hangingPunct="1">
              <a:spcBef>
                <a:spcPct val="0"/>
              </a:spcBef>
              <a:buFontTx/>
              <a:buNone/>
            </a:pPr>
            <a:r>
              <a:rPr lang="en-US" altLang="en-US" sz="2000">
                <a:solidFill>
                  <a:srgbClr val="008000"/>
                </a:solidFill>
                <a:latin typeface="Tahoma" panose="020B0604030504040204" pitchFamily="34" charset="0"/>
              </a:rPr>
              <a:t>   //it shows the manual retrieval of the primitive</a:t>
            </a:r>
          </a:p>
          <a:p>
            <a:pPr eaLnBrk="1" hangingPunct="1">
              <a:spcBef>
                <a:spcPct val="0"/>
              </a:spcBef>
              <a:buFontTx/>
              <a:buNone/>
            </a:pPr>
            <a:r>
              <a:rPr lang="en-US" altLang="en-US" sz="2000">
                <a:latin typeface="Tahoma" panose="020B0604030504040204" pitchFamily="34" charset="0"/>
              </a:rPr>
              <a:t>   total = total + num.intValue();</a:t>
            </a:r>
          </a:p>
          <a:p>
            <a:pPr eaLnBrk="1" hangingPunct="1">
              <a:spcBef>
                <a:spcPct val="0"/>
              </a:spcBef>
              <a:buFontTx/>
              <a:buNone/>
            </a:pPr>
            <a:r>
              <a:rPr lang="en-US" altLang="en-US" sz="2000">
                <a:latin typeface="Tahoma" panose="020B0604030504040204" pitchFamily="34" charset="0"/>
              </a:rPr>
              <a:t>		   </a:t>
            </a:r>
          </a:p>
          <a:p>
            <a:pPr eaLnBrk="1" hangingPunct="1">
              <a:spcBef>
                <a:spcPct val="0"/>
              </a:spcBef>
              <a:buFontTx/>
              <a:buNone/>
            </a:pPr>
            <a:r>
              <a:rPr lang="en-US" altLang="en-US" sz="2000">
                <a:latin typeface="Tahoma" panose="020B0604030504040204" pitchFamily="34" charset="0"/>
              </a:rPr>
              <a:t>   </a:t>
            </a:r>
            <a:r>
              <a:rPr lang="en-US" altLang="en-US" sz="2000">
                <a:solidFill>
                  <a:srgbClr val="008000"/>
                </a:solidFill>
                <a:latin typeface="Tahoma" panose="020B0604030504040204" pitchFamily="34" charset="0"/>
              </a:rPr>
              <a:t>//the line below accomplishes the same as the line above</a:t>
            </a:r>
          </a:p>
          <a:p>
            <a:pPr eaLnBrk="1" hangingPunct="1">
              <a:spcBef>
                <a:spcPct val="0"/>
              </a:spcBef>
              <a:buFontTx/>
              <a:buNone/>
            </a:pPr>
            <a:r>
              <a:rPr lang="en-US" altLang="en-US" sz="2000">
                <a:solidFill>
                  <a:srgbClr val="008000"/>
                </a:solidFill>
                <a:latin typeface="Tahoma" panose="020B0604030504040204" pitchFamily="34" charset="0"/>
              </a:rPr>
              <a:t>   //but, it uses autounboxing to get the primtive value</a:t>
            </a:r>
          </a:p>
          <a:p>
            <a:pPr eaLnBrk="1" hangingPunct="1">
              <a:spcBef>
                <a:spcPct val="0"/>
              </a:spcBef>
              <a:buFontTx/>
              <a:buNone/>
            </a:pPr>
            <a:r>
              <a:rPr lang="en-US" altLang="en-US" sz="2000">
                <a:latin typeface="Tahoma" panose="020B0604030504040204" pitchFamily="34" charset="0"/>
              </a:rPr>
              <a:t>   </a:t>
            </a:r>
            <a:r>
              <a:rPr lang="en-US" altLang="en-US" sz="2000">
                <a:solidFill>
                  <a:srgbClr val="0000CC"/>
                </a:solidFill>
                <a:latin typeface="Tahoma" panose="020B0604030504040204" pitchFamily="34" charset="0"/>
              </a:rPr>
              <a:t>//total = total + num;</a:t>
            </a:r>
          </a:p>
          <a:p>
            <a:pPr eaLnBrk="1" hangingPunct="1">
              <a:spcBef>
                <a:spcPct val="0"/>
              </a:spcBef>
              <a:buFontTx/>
              <a:buNone/>
            </a:pPr>
            <a:r>
              <a:rPr lang="en-US" altLang="en-US" sz="2000">
                <a:latin typeface="Tahoma" panose="020B0604030504040204" pitchFamily="34" charset="0"/>
              </a:rPr>
              <a:t>}</a:t>
            </a:r>
          </a:p>
          <a:p>
            <a:pPr eaLnBrk="1" hangingPunct="1">
              <a:spcBef>
                <a:spcPct val="0"/>
              </a:spcBef>
              <a:buFontTx/>
              <a:buNone/>
            </a:pPr>
            <a:r>
              <a:rPr lang="en-US" altLang="en-US" sz="2000">
                <a:latin typeface="Tahoma" panose="020B0604030504040204" pitchFamily="34" charset="0"/>
              </a:rPr>
              <a:t>out.println(total);</a:t>
            </a:r>
          </a:p>
        </p:txBody>
      </p:sp>
      <p:sp>
        <p:nvSpPr>
          <p:cNvPr id="37892" name="WordArt 3">
            <a:extLst>
              <a:ext uri="{FF2B5EF4-FFF2-40B4-BE49-F238E27FC236}">
                <a16:creationId xmlns:a16="http://schemas.microsoft.com/office/drawing/2014/main" id="{7875C392-7768-828C-D2FF-0C1E23D5CC26}"/>
              </a:ext>
            </a:extLst>
          </p:cNvPr>
          <p:cNvSpPr>
            <a:spLocks noChangeArrowheads="1" noChangeShapeType="1" noTextEdit="1"/>
          </p:cNvSpPr>
          <p:nvPr/>
        </p:nvSpPr>
        <p:spPr bwMode="auto">
          <a:xfrm>
            <a:off x="1066800" y="381000"/>
            <a:ext cx="6400800" cy="6858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new for loop</a:t>
            </a:r>
          </a:p>
        </p:txBody>
      </p:sp>
      <p:sp>
        <p:nvSpPr>
          <p:cNvPr id="37893" name="Text Box 4">
            <a:extLst>
              <a:ext uri="{FF2B5EF4-FFF2-40B4-BE49-F238E27FC236}">
                <a16:creationId xmlns:a16="http://schemas.microsoft.com/office/drawing/2014/main" id="{CAF56723-AC7B-13F5-B928-286A852B15B5}"/>
              </a:ext>
            </a:extLst>
          </p:cNvPr>
          <p:cNvSpPr txBox="1">
            <a:spLocks noChangeArrowheads="1"/>
          </p:cNvSpPr>
          <p:nvPr/>
        </p:nvSpPr>
        <p:spPr bwMode="auto">
          <a:xfrm>
            <a:off x="6629400" y="1371600"/>
            <a:ext cx="1905000" cy="1079500"/>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r>
              <a:rPr lang="en-US" altLang="en-US">
                <a:latin typeface="Tahoma" panose="020B0604030504040204" pitchFamily="34" charset="0"/>
              </a:rPr>
              <a:t>153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a:extLst>
              <a:ext uri="{FF2B5EF4-FFF2-40B4-BE49-F238E27FC236}">
                <a16:creationId xmlns:a16="http://schemas.microsoft.com/office/drawing/2014/main" id="{6EE9F07B-63EF-1C07-651B-7048D4AD3B9D}"/>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9939" name="WordArt 2">
            <a:extLst>
              <a:ext uri="{FF2B5EF4-FFF2-40B4-BE49-F238E27FC236}">
                <a16:creationId xmlns:a16="http://schemas.microsoft.com/office/drawing/2014/main" id="{319216A1-8D71-F1B0-7D35-A19E543DF0B0}"/>
              </a:ext>
            </a:extLst>
          </p:cNvPr>
          <p:cNvSpPr>
            <a:spLocks noChangeArrowheads="1" noChangeShapeType="1" noTextEdit="1"/>
          </p:cNvSpPr>
          <p:nvPr/>
        </p:nvSpPr>
        <p:spPr bwMode="auto">
          <a:xfrm>
            <a:off x="762000" y="685800"/>
            <a:ext cx="7620000" cy="5105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newforloopone.java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newforlooptwo.java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12B5D349-F869-8CF4-A52D-E686C2D883FE}"/>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1987" name="WordArt 2">
            <a:extLst>
              <a:ext uri="{FF2B5EF4-FFF2-40B4-BE49-F238E27FC236}">
                <a16:creationId xmlns:a16="http://schemas.microsoft.com/office/drawing/2014/main" id="{E7954993-52C9-E848-AE01-ABF1C6D92771}"/>
              </a:ext>
            </a:extLst>
          </p:cNvPr>
          <p:cNvSpPr>
            <a:spLocks noChangeArrowheads="1" noChangeShapeType="1" noTextEdit="1"/>
          </p:cNvSpPr>
          <p:nvPr/>
        </p:nvSpPr>
        <p:spPr bwMode="auto">
          <a:xfrm>
            <a:off x="1219200" y="1143000"/>
            <a:ext cx="6248400" cy="37338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Collections</a:t>
            </a:r>
          </a:p>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class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a:extLst>
              <a:ext uri="{FF2B5EF4-FFF2-40B4-BE49-F238E27FC236}">
                <a16:creationId xmlns:a16="http://schemas.microsoft.com/office/drawing/2014/main" id="{FEE888D0-B6A5-2B54-3925-750A1BA58446}"/>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332851" name="Group 51">
            <a:extLst>
              <a:ext uri="{FF2B5EF4-FFF2-40B4-BE49-F238E27FC236}">
                <a16:creationId xmlns:a16="http://schemas.microsoft.com/office/drawing/2014/main" id="{C8E940AB-8B1A-DAB6-3BEF-1DAA54340D01}"/>
              </a:ext>
            </a:extLst>
          </p:cNvPr>
          <p:cNvGraphicFramePr>
            <a:graphicFrameLocks noGrp="1"/>
          </p:cNvGraphicFramePr>
          <p:nvPr/>
        </p:nvGraphicFramePr>
        <p:xfrm>
          <a:off x="609600" y="533400"/>
          <a:ext cx="8077200" cy="4430713"/>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a:ln>
                            <a:noFill/>
                          </a:ln>
                          <a:solidFill>
                            <a:srgbClr val="FF0000"/>
                          </a:solidFill>
                          <a:effectLst/>
                          <a:latin typeface="Tahoma" pitchFamily="34" charset="0"/>
                        </a:rPr>
                        <a:t>Collections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sort(x)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puts all items in x in ascending order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binarySearch(x,y)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x for the location of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fills all spots in x with value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492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rotate(x,y)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shifts items in x left or right y locations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reverse(x)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reverses the order of the items in 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4060" name="Text Box 42">
            <a:extLst>
              <a:ext uri="{FF2B5EF4-FFF2-40B4-BE49-F238E27FC236}">
                <a16:creationId xmlns:a16="http://schemas.microsoft.com/office/drawing/2014/main" id="{221ABB2A-F74C-EB15-A4DB-4EB9C6446DB6}"/>
              </a:ext>
            </a:extLst>
          </p:cNvPr>
          <p:cNvSpPr txBox="1">
            <a:spLocks noChangeArrowheads="1"/>
          </p:cNvSpPr>
          <p:nvPr/>
        </p:nvSpPr>
        <p:spPr bwMode="auto">
          <a:xfrm>
            <a:off x="1905000" y="5562600"/>
            <a:ext cx="5257800" cy="531813"/>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solidFill>
                  <a:schemeClr val="accent2"/>
                </a:solidFill>
                <a:latin typeface="Tahoma" panose="020B0604030504040204" pitchFamily="34" charset="0"/>
              </a:rPr>
              <a:t>import  java.util.Collections;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058580FC-6D17-AAF1-BFFF-5CC8DD184F23}"/>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6083" name="WordArt 2">
            <a:extLst>
              <a:ext uri="{FF2B5EF4-FFF2-40B4-BE49-F238E27FC236}">
                <a16:creationId xmlns:a16="http://schemas.microsoft.com/office/drawing/2014/main" id="{5C4C0D8C-C9FE-164B-1340-7803E90669CD}"/>
              </a:ext>
            </a:extLst>
          </p:cNvPr>
          <p:cNvSpPr>
            <a:spLocks noChangeArrowheads="1" noChangeShapeType="1" noTextEdit="1"/>
          </p:cNvSpPr>
          <p:nvPr/>
        </p:nvSpPr>
        <p:spPr bwMode="auto">
          <a:xfrm>
            <a:off x="1524000" y="228600"/>
            <a:ext cx="28956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0000FF"/>
                </a:solidFill>
                <a:effectLst>
                  <a:outerShdw dist="35921" dir="2700000" algn="ctr" rotWithShape="0">
                    <a:srgbClr val="C0C0C0"/>
                  </a:outerShdw>
                </a:effectLst>
                <a:latin typeface="Impact" panose="020B0806030902050204" pitchFamily="34" charset="0"/>
              </a:rPr>
              <a:t>Java Collections</a:t>
            </a:r>
          </a:p>
        </p:txBody>
      </p:sp>
      <p:sp>
        <p:nvSpPr>
          <p:cNvPr id="46084" name="Text Box 3">
            <a:extLst>
              <a:ext uri="{FF2B5EF4-FFF2-40B4-BE49-F238E27FC236}">
                <a16:creationId xmlns:a16="http://schemas.microsoft.com/office/drawing/2014/main" id="{D6EF0903-1B0C-695B-C982-AD4D5BB1FD40}"/>
              </a:ext>
            </a:extLst>
          </p:cNvPr>
          <p:cNvSpPr txBox="1">
            <a:spLocks noChangeArrowheads="1"/>
          </p:cNvSpPr>
          <p:nvPr/>
        </p:nvSpPr>
        <p:spPr bwMode="auto">
          <a:xfrm>
            <a:off x="533400" y="9144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400" b="0"/>
          </a:p>
        </p:txBody>
      </p:sp>
      <p:sp>
        <p:nvSpPr>
          <p:cNvPr id="46085" name="Text Box 4">
            <a:extLst>
              <a:ext uri="{FF2B5EF4-FFF2-40B4-BE49-F238E27FC236}">
                <a16:creationId xmlns:a16="http://schemas.microsoft.com/office/drawing/2014/main" id="{FA270C00-0304-10BA-BFAD-06F544FCBC5B}"/>
              </a:ext>
            </a:extLst>
          </p:cNvPr>
          <p:cNvSpPr txBox="1">
            <a:spLocks noChangeArrowheads="1"/>
          </p:cNvSpPr>
          <p:nvPr/>
        </p:nvSpPr>
        <p:spPr bwMode="auto">
          <a:xfrm>
            <a:off x="457200" y="914400"/>
            <a:ext cx="1704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Collection</a:t>
            </a:r>
          </a:p>
        </p:txBody>
      </p:sp>
      <p:sp>
        <p:nvSpPr>
          <p:cNvPr id="46086" name="Text Box 5">
            <a:extLst>
              <a:ext uri="{FF2B5EF4-FFF2-40B4-BE49-F238E27FC236}">
                <a16:creationId xmlns:a16="http://schemas.microsoft.com/office/drawing/2014/main" id="{B827D365-021D-F341-FE46-C0C01464DDA3}"/>
              </a:ext>
            </a:extLst>
          </p:cNvPr>
          <p:cNvSpPr txBox="1">
            <a:spLocks noChangeArrowheads="1"/>
          </p:cNvSpPr>
          <p:nvPr/>
        </p:nvSpPr>
        <p:spPr bwMode="auto">
          <a:xfrm>
            <a:off x="5257800" y="152400"/>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Map</a:t>
            </a:r>
          </a:p>
        </p:txBody>
      </p:sp>
      <p:sp>
        <p:nvSpPr>
          <p:cNvPr id="46087" name="Line 6">
            <a:extLst>
              <a:ext uri="{FF2B5EF4-FFF2-40B4-BE49-F238E27FC236}">
                <a16:creationId xmlns:a16="http://schemas.microsoft.com/office/drawing/2014/main" id="{92421601-737E-70F8-768D-CDBB76792494}"/>
              </a:ext>
            </a:extLst>
          </p:cNvPr>
          <p:cNvSpPr>
            <a:spLocks noChangeShapeType="1"/>
          </p:cNvSpPr>
          <p:nvPr/>
        </p:nvSpPr>
        <p:spPr bwMode="auto">
          <a:xfrm flipH="1">
            <a:off x="609600" y="1371600"/>
            <a:ext cx="0" cy="14478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88" name="Line 7">
            <a:extLst>
              <a:ext uri="{FF2B5EF4-FFF2-40B4-BE49-F238E27FC236}">
                <a16:creationId xmlns:a16="http://schemas.microsoft.com/office/drawing/2014/main" id="{401CD264-B658-2F2A-28CF-455A2EF9BFAC}"/>
              </a:ext>
            </a:extLst>
          </p:cNvPr>
          <p:cNvSpPr>
            <a:spLocks noChangeShapeType="1"/>
          </p:cNvSpPr>
          <p:nvPr/>
        </p:nvSpPr>
        <p:spPr bwMode="auto">
          <a:xfrm flipH="1">
            <a:off x="1905000" y="1371600"/>
            <a:ext cx="0" cy="13716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89" name="Line 8">
            <a:extLst>
              <a:ext uri="{FF2B5EF4-FFF2-40B4-BE49-F238E27FC236}">
                <a16:creationId xmlns:a16="http://schemas.microsoft.com/office/drawing/2014/main" id="{A628CFE5-2CF2-7220-CCFF-79B5FADBC54E}"/>
              </a:ext>
            </a:extLst>
          </p:cNvPr>
          <p:cNvSpPr>
            <a:spLocks noChangeShapeType="1"/>
          </p:cNvSpPr>
          <p:nvPr/>
        </p:nvSpPr>
        <p:spPr bwMode="auto">
          <a:xfrm>
            <a:off x="2286000" y="3124200"/>
            <a:ext cx="457200" cy="609600"/>
          </a:xfrm>
          <a:prstGeom prst="line">
            <a:avLst/>
          </a:prstGeom>
          <a:noFill/>
          <a:ln w="508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90" name="Text Box 9">
            <a:extLst>
              <a:ext uri="{FF2B5EF4-FFF2-40B4-BE49-F238E27FC236}">
                <a16:creationId xmlns:a16="http://schemas.microsoft.com/office/drawing/2014/main" id="{FC0805C6-83C5-6CAF-23B3-D7BC6981D572}"/>
              </a:ext>
            </a:extLst>
          </p:cNvPr>
          <p:cNvSpPr txBox="1">
            <a:spLocks noChangeArrowheads="1"/>
          </p:cNvSpPr>
          <p:nvPr/>
        </p:nvSpPr>
        <p:spPr bwMode="auto">
          <a:xfrm>
            <a:off x="381000" y="2743200"/>
            <a:ext cx="1947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List        Set</a:t>
            </a:r>
          </a:p>
        </p:txBody>
      </p:sp>
      <p:sp>
        <p:nvSpPr>
          <p:cNvPr id="46091" name="Text Box 10">
            <a:extLst>
              <a:ext uri="{FF2B5EF4-FFF2-40B4-BE49-F238E27FC236}">
                <a16:creationId xmlns:a16="http://schemas.microsoft.com/office/drawing/2014/main" id="{FEDAD3DB-9B44-142C-4D13-BC27D50C091D}"/>
              </a:ext>
            </a:extLst>
          </p:cNvPr>
          <p:cNvSpPr txBox="1">
            <a:spLocks noChangeArrowheads="1"/>
          </p:cNvSpPr>
          <p:nvPr/>
        </p:nvSpPr>
        <p:spPr bwMode="auto">
          <a:xfrm>
            <a:off x="685800" y="1600200"/>
            <a:ext cx="12398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Sub </a:t>
            </a:r>
          </a:p>
          <a:p>
            <a:pPr>
              <a:spcBef>
                <a:spcPct val="0"/>
              </a:spcBef>
              <a:buFontTx/>
              <a:buNone/>
            </a:pPr>
            <a:r>
              <a:rPr lang="en-US" altLang="en-US" sz="1600">
                <a:latin typeface="Tahoma" panose="020B0604030504040204" pitchFamily="34" charset="0"/>
              </a:rPr>
              <a:t>Interfaces</a:t>
            </a:r>
          </a:p>
          <a:p>
            <a:pPr>
              <a:spcBef>
                <a:spcPct val="0"/>
              </a:spcBef>
              <a:buFontTx/>
              <a:buNone/>
            </a:pPr>
            <a:r>
              <a:rPr lang="en-US" altLang="en-US" sz="1600">
                <a:latin typeface="Tahoma" panose="020B0604030504040204" pitchFamily="34" charset="0"/>
              </a:rPr>
              <a:t>-extends</a:t>
            </a:r>
          </a:p>
        </p:txBody>
      </p:sp>
      <p:sp>
        <p:nvSpPr>
          <p:cNvPr id="46092" name="Text Box 11">
            <a:extLst>
              <a:ext uri="{FF2B5EF4-FFF2-40B4-BE49-F238E27FC236}">
                <a16:creationId xmlns:a16="http://schemas.microsoft.com/office/drawing/2014/main" id="{4B8E1DF7-55B6-CB16-E275-679E93728D03}"/>
              </a:ext>
            </a:extLst>
          </p:cNvPr>
          <p:cNvSpPr txBox="1">
            <a:spLocks noChangeArrowheads="1"/>
          </p:cNvSpPr>
          <p:nvPr/>
        </p:nvSpPr>
        <p:spPr bwMode="auto">
          <a:xfrm>
            <a:off x="533400" y="34290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46093" name="Line 12">
            <a:extLst>
              <a:ext uri="{FF2B5EF4-FFF2-40B4-BE49-F238E27FC236}">
                <a16:creationId xmlns:a16="http://schemas.microsoft.com/office/drawing/2014/main" id="{53094742-6715-E987-F6DD-585A122C0E16}"/>
              </a:ext>
            </a:extLst>
          </p:cNvPr>
          <p:cNvSpPr>
            <a:spLocks noChangeShapeType="1"/>
          </p:cNvSpPr>
          <p:nvPr/>
        </p:nvSpPr>
        <p:spPr bwMode="auto">
          <a:xfrm>
            <a:off x="2209800" y="3200400"/>
            <a:ext cx="0" cy="23622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94" name="Line 13">
            <a:extLst>
              <a:ext uri="{FF2B5EF4-FFF2-40B4-BE49-F238E27FC236}">
                <a16:creationId xmlns:a16="http://schemas.microsoft.com/office/drawing/2014/main" id="{D0DBEAB8-F0A9-7A70-1F1B-660273C615AD}"/>
              </a:ext>
            </a:extLst>
          </p:cNvPr>
          <p:cNvSpPr>
            <a:spLocks noChangeShapeType="1"/>
          </p:cNvSpPr>
          <p:nvPr/>
        </p:nvSpPr>
        <p:spPr bwMode="auto">
          <a:xfrm flipH="1">
            <a:off x="2971800" y="4191000"/>
            <a:ext cx="0" cy="8382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95" name="Line 14">
            <a:extLst>
              <a:ext uri="{FF2B5EF4-FFF2-40B4-BE49-F238E27FC236}">
                <a16:creationId xmlns:a16="http://schemas.microsoft.com/office/drawing/2014/main" id="{86C59D1E-12B7-56B6-1C10-54113B8DF254}"/>
              </a:ext>
            </a:extLst>
          </p:cNvPr>
          <p:cNvSpPr>
            <a:spLocks noChangeShapeType="1"/>
          </p:cNvSpPr>
          <p:nvPr/>
        </p:nvSpPr>
        <p:spPr bwMode="auto">
          <a:xfrm flipH="1">
            <a:off x="533400" y="3200400"/>
            <a:ext cx="0" cy="13716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096" name="Text Box 15">
            <a:extLst>
              <a:ext uri="{FF2B5EF4-FFF2-40B4-BE49-F238E27FC236}">
                <a16:creationId xmlns:a16="http://schemas.microsoft.com/office/drawing/2014/main" id="{9B7A7EF2-75CE-4D89-517D-946524BEADB5}"/>
              </a:ext>
            </a:extLst>
          </p:cNvPr>
          <p:cNvSpPr txBox="1">
            <a:spLocks noChangeArrowheads="1"/>
          </p:cNvSpPr>
          <p:nvPr/>
        </p:nvSpPr>
        <p:spPr bwMode="auto">
          <a:xfrm>
            <a:off x="304800" y="4495800"/>
            <a:ext cx="175418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ArrayList</a:t>
            </a:r>
          </a:p>
          <a:p>
            <a:pPr>
              <a:spcBef>
                <a:spcPct val="0"/>
              </a:spcBef>
              <a:buFontTx/>
              <a:buNone/>
            </a:pPr>
            <a:r>
              <a:rPr lang="en-US" altLang="en-US" sz="2400">
                <a:latin typeface="Tahoma" panose="020B0604030504040204" pitchFamily="34" charset="0"/>
              </a:rPr>
              <a:t>LinkedList</a:t>
            </a:r>
          </a:p>
          <a:p>
            <a:pPr>
              <a:spcBef>
                <a:spcPct val="0"/>
              </a:spcBef>
              <a:buFontTx/>
              <a:buNone/>
            </a:pPr>
            <a:r>
              <a:rPr lang="en-US" altLang="en-US" sz="2400">
                <a:latin typeface="Tahoma" panose="020B0604030504040204" pitchFamily="34" charset="0"/>
              </a:rPr>
              <a:t>Vector</a:t>
            </a:r>
          </a:p>
          <a:p>
            <a:pPr>
              <a:spcBef>
                <a:spcPct val="0"/>
              </a:spcBef>
              <a:buFontTx/>
              <a:buNone/>
            </a:pPr>
            <a:r>
              <a:rPr lang="en-US" altLang="en-US" sz="2400">
                <a:latin typeface="Tahoma" panose="020B0604030504040204" pitchFamily="34" charset="0"/>
              </a:rPr>
              <a:t>Stack</a:t>
            </a:r>
          </a:p>
        </p:txBody>
      </p:sp>
      <p:sp>
        <p:nvSpPr>
          <p:cNvPr id="46097" name="Text Box 16">
            <a:extLst>
              <a:ext uri="{FF2B5EF4-FFF2-40B4-BE49-F238E27FC236}">
                <a16:creationId xmlns:a16="http://schemas.microsoft.com/office/drawing/2014/main" id="{36AB2BAE-9517-6C5A-0150-32515E2C807B}"/>
              </a:ext>
            </a:extLst>
          </p:cNvPr>
          <p:cNvSpPr txBox="1">
            <a:spLocks noChangeArrowheads="1"/>
          </p:cNvSpPr>
          <p:nvPr/>
        </p:nvSpPr>
        <p:spPr bwMode="auto">
          <a:xfrm>
            <a:off x="1447800" y="5486400"/>
            <a:ext cx="24733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AbstractSet</a:t>
            </a:r>
          </a:p>
          <a:p>
            <a:pPr>
              <a:spcBef>
                <a:spcPct val="0"/>
              </a:spcBef>
              <a:buFontTx/>
              <a:buNone/>
            </a:pPr>
            <a:r>
              <a:rPr lang="en-US" altLang="en-US" sz="2400">
                <a:latin typeface="Tahoma" panose="020B0604030504040204" pitchFamily="34" charset="0"/>
              </a:rPr>
              <a:t>HashSet</a:t>
            </a:r>
          </a:p>
          <a:p>
            <a:pPr>
              <a:spcBef>
                <a:spcPct val="0"/>
              </a:spcBef>
              <a:buFontTx/>
              <a:buNone/>
            </a:pPr>
            <a:r>
              <a:rPr lang="en-US" altLang="en-US" sz="2400">
                <a:latin typeface="Tahoma" panose="020B0604030504040204" pitchFamily="34" charset="0"/>
              </a:rPr>
              <a:t>LinkedHashSet</a:t>
            </a:r>
          </a:p>
        </p:txBody>
      </p:sp>
      <p:sp>
        <p:nvSpPr>
          <p:cNvPr id="46098" name="Text Box 17">
            <a:extLst>
              <a:ext uri="{FF2B5EF4-FFF2-40B4-BE49-F238E27FC236}">
                <a16:creationId xmlns:a16="http://schemas.microsoft.com/office/drawing/2014/main" id="{E53DB256-4B51-17C6-B0A8-B0C75093A96F}"/>
              </a:ext>
            </a:extLst>
          </p:cNvPr>
          <p:cNvSpPr txBox="1">
            <a:spLocks noChangeArrowheads="1"/>
          </p:cNvSpPr>
          <p:nvPr/>
        </p:nvSpPr>
        <p:spPr bwMode="auto">
          <a:xfrm>
            <a:off x="2819400" y="4953000"/>
            <a:ext cx="1366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TreeSet</a:t>
            </a:r>
          </a:p>
        </p:txBody>
      </p:sp>
      <p:sp>
        <p:nvSpPr>
          <p:cNvPr id="46099" name="Text Box 18">
            <a:extLst>
              <a:ext uri="{FF2B5EF4-FFF2-40B4-BE49-F238E27FC236}">
                <a16:creationId xmlns:a16="http://schemas.microsoft.com/office/drawing/2014/main" id="{8B438C08-C784-4F7B-DE39-9533E6059082}"/>
              </a:ext>
            </a:extLst>
          </p:cNvPr>
          <p:cNvSpPr txBox="1">
            <a:spLocks noChangeArrowheads="1"/>
          </p:cNvSpPr>
          <p:nvPr/>
        </p:nvSpPr>
        <p:spPr bwMode="auto">
          <a:xfrm>
            <a:off x="2667000" y="3733800"/>
            <a:ext cx="170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SortedSet</a:t>
            </a:r>
          </a:p>
        </p:txBody>
      </p:sp>
      <p:sp>
        <p:nvSpPr>
          <p:cNvPr id="46100" name="Text Box 19">
            <a:extLst>
              <a:ext uri="{FF2B5EF4-FFF2-40B4-BE49-F238E27FC236}">
                <a16:creationId xmlns:a16="http://schemas.microsoft.com/office/drawing/2014/main" id="{02D4911D-BF9F-6FF4-9C5E-9B9DCF7EA60D}"/>
              </a:ext>
            </a:extLst>
          </p:cNvPr>
          <p:cNvSpPr txBox="1">
            <a:spLocks noChangeArrowheads="1"/>
          </p:cNvSpPr>
          <p:nvPr/>
        </p:nvSpPr>
        <p:spPr bwMode="auto">
          <a:xfrm>
            <a:off x="2743200" y="2971800"/>
            <a:ext cx="12398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Sub </a:t>
            </a:r>
          </a:p>
          <a:p>
            <a:pPr>
              <a:spcBef>
                <a:spcPct val="0"/>
              </a:spcBef>
              <a:buFontTx/>
              <a:buNone/>
            </a:pPr>
            <a:r>
              <a:rPr lang="en-US" altLang="en-US" sz="1600">
                <a:latin typeface="Tahoma" panose="020B0604030504040204" pitchFamily="34" charset="0"/>
              </a:rPr>
              <a:t>Interfaces</a:t>
            </a:r>
          </a:p>
          <a:p>
            <a:pPr>
              <a:spcBef>
                <a:spcPct val="0"/>
              </a:spcBef>
              <a:buFontTx/>
              <a:buNone/>
            </a:pPr>
            <a:r>
              <a:rPr lang="en-US" altLang="en-US" sz="1600">
                <a:latin typeface="Tahoma" panose="020B0604030504040204" pitchFamily="34" charset="0"/>
              </a:rPr>
              <a:t>-extends</a:t>
            </a:r>
          </a:p>
        </p:txBody>
      </p:sp>
      <p:sp>
        <p:nvSpPr>
          <p:cNvPr id="46101" name="Text Box 20">
            <a:extLst>
              <a:ext uri="{FF2B5EF4-FFF2-40B4-BE49-F238E27FC236}">
                <a16:creationId xmlns:a16="http://schemas.microsoft.com/office/drawing/2014/main" id="{89219268-2EC8-A528-932B-DBE032A0DA7B}"/>
              </a:ext>
            </a:extLst>
          </p:cNvPr>
          <p:cNvSpPr txBox="1">
            <a:spLocks noChangeArrowheads="1"/>
          </p:cNvSpPr>
          <p:nvPr/>
        </p:nvSpPr>
        <p:spPr bwMode="auto">
          <a:xfrm>
            <a:off x="3048000" y="43434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46102" name="Line 21">
            <a:extLst>
              <a:ext uri="{FF2B5EF4-FFF2-40B4-BE49-F238E27FC236}">
                <a16:creationId xmlns:a16="http://schemas.microsoft.com/office/drawing/2014/main" id="{612F33CC-D679-507E-1A2E-9234B305C5C8}"/>
              </a:ext>
            </a:extLst>
          </p:cNvPr>
          <p:cNvSpPr>
            <a:spLocks noChangeShapeType="1"/>
          </p:cNvSpPr>
          <p:nvPr/>
        </p:nvSpPr>
        <p:spPr bwMode="auto">
          <a:xfrm>
            <a:off x="5943600" y="609600"/>
            <a:ext cx="381000" cy="4572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103" name="Line 22">
            <a:extLst>
              <a:ext uri="{FF2B5EF4-FFF2-40B4-BE49-F238E27FC236}">
                <a16:creationId xmlns:a16="http://schemas.microsoft.com/office/drawing/2014/main" id="{B54C5815-BC92-7B3B-2FAE-9156C4A01E96}"/>
              </a:ext>
            </a:extLst>
          </p:cNvPr>
          <p:cNvSpPr>
            <a:spLocks noChangeShapeType="1"/>
          </p:cNvSpPr>
          <p:nvPr/>
        </p:nvSpPr>
        <p:spPr bwMode="auto">
          <a:xfrm flipH="1">
            <a:off x="5715000" y="609600"/>
            <a:ext cx="0" cy="15240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104" name="Text Box 23">
            <a:extLst>
              <a:ext uri="{FF2B5EF4-FFF2-40B4-BE49-F238E27FC236}">
                <a16:creationId xmlns:a16="http://schemas.microsoft.com/office/drawing/2014/main" id="{84155F1E-0172-CD4D-336C-7A56DA33D9A5}"/>
              </a:ext>
            </a:extLst>
          </p:cNvPr>
          <p:cNvSpPr txBox="1">
            <a:spLocks noChangeArrowheads="1"/>
          </p:cNvSpPr>
          <p:nvPr/>
        </p:nvSpPr>
        <p:spPr bwMode="auto">
          <a:xfrm>
            <a:off x="6477000" y="3352800"/>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TreeMap</a:t>
            </a:r>
          </a:p>
        </p:txBody>
      </p:sp>
      <p:sp>
        <p:nvSpPr>
          <p:cNvPr id="46105" name="Text Box 24">
            <a:extLst>
              <a:ext uri="{FF2B5EF4-FFF2-40B4-BE49-F238E27FC236}">
                <a16:creationId xmlns:a16="http://schemas.microsoft.com/office/drawing/2014/main" id="{A8FAAEB2-F918-DB92-9BE8-4036C2482311}"/>
              </a:ext>
            </a:extLst>
          </p:cNvPr>
          <p:cNvSpPr txBox="1">
            <a:spLocks noChangeArrowheads="1"/>
          </p:cNvSpPr>
          <p:nvPr/>
        </p:nvSpPr>
        <p:spPr bwMode="auto">
          <a:xfrm>
            <a:off x="6248400" y="1066800"/>
            <a:ext cx="184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SortedMap</a:t>
            </a:r>
          </a:p>
        </p:txBody>
      </p:sp>
      <p:sp>
        <p:nvSpPr>
          <p:cNvPr id="46106" name="Text Box 25">
            <a:extLst>
              <a:ext uri="{FF2B5EF4-FFF2-40B4-BE49-F238E27FC236}">
                <a16:creationId xmlns:a16="http://schemas.microsoft.com/office/drawing/2014/main" id="{ED714CF4-03B4-3C75-B9BA-6AFD15D8D66C}"/>
              </a:ext>
            </a:extLst>
          </p:cNvPr>
          <p:cNvSpPr txBox="1">
            <a:spLocks noChangeArrowheads="1"/>
          </p:cNvSpPr>
          <p:nvPr/>
        </p:nvSpPr>
        <p:spPr bwMode="auto">
          <a:xfrm>
            <a:off x="6477000" y="228600"/>
            <a:ext cx="12398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Sub </a:t>
            </a:r>
          </a:p>
          <a:p>
            <a:pPr>
              <a:spcBef>
                <a:spcPct val="0"/>
              </a:spcBef>
              <a:buFontTx/>
              <a:buNone/>
            </a:pPr>
            <a:r>
              <a:rPr lang="en-US" altLang="en-US" sz="1600">
                <a:latin typeface="Tahoma" panose="020B0604030504040204" pitchFamily="34" charset="0"/>
              </a:rPr>
              <a:t>Interfaces</a:t>
            </a:r>
          </a:p>
          <a:p>
            <a:pPr>
              <a:spcBef>
                <a:spcPct val="0"/>
              </a:spcBef>
              <a:buFontTx/>
              <a:buNone/>
            </a:pPr>
            <a:r>
              <a:rPr lang="en-US" altLang="en-US" sz="1600">
                <a:latin typeface="Tahoma" panose="020B0604030504040204" pitchFamily="34" charset="0"/>
              </a:rPr>
              <a:t>-extends</a:t>
            </a:r>
          </a:p>
        </p:txBody>
      </p:sp>
      <p:sp>
        <p:nvSpPr>
          <p:cNvPr id="46107" name="Text Box 26">
            <a:extLst>
              <a:ext uri="{FF2B5EF4-FFF2-40B4-BE49-F238E27FC236}">
                <a16:creationId xmlns:a16="http://schemas.microsoft.com/office/drawing/2014/main" id="{4C672341-BC16-0428-7825-D60FF574EAD8}"/>
              </a:ext>
            </a:extLst>
          </p:cNvPr>
          <p:cNvSpPr txBox="1">
            <a:spLocks noChangeArrowheads="1"/>
          </p:cNvSpPr>
          <p:nvPr/>
        </p:nvSpPr>
        <p:spPr bwMode="auto">
          <a:xfrm>
            <a:off x="7239000" y="21336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46108" name="Text Box 27">
            <a:extLst>
              <a:ext uri="{FF2B5EF4-FFF2-40B4-BE49-F238E27FC236}">
                <a16:creationId xmlns:a16="http://schemas.microsoft.com/office/drawing/2014/main" id="{48DB3695-26C6-0A73-F931-611166AD5125}"/>
              </a:ext>
            </a:extLst>
          </p:cNvPr>
          <p:cNvSpPr txBox="1">
            <a:spLocks noChangeArrowheads="1"/>
          </p:cNvSpPr>
          <p:nvPr/>
        </p:nvSpPr>
        <p:spPr bwMode="auto">
          <a:xfrm>
            <a:off x="4114800" y="11430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46109" name="Line 28">
            <a:extLst>
              <a:ext uri="{FF2B5EF4-FFF2-40B4-BE49-F238E27FC236}">
                <a16:creationId xmlns:a16="http://schemas.microsoft.com/office/drawing/2014/main" id="{5FA6AA57-806A-A028-9D4F-E111CB2250B5}"/>
              </a:ext>
            </a:extLst>
          </p:cNvPr>
          <p:cNvSpPr>
            <a:spLocks noChangeShapeType="1"/>
          </p:cNvSpPr>
          <p:nvPr/>
        </p:nvSpPr>
        <p:spPr bwMode="auto">
          <a:xfrm flipH="1">
            <a:off x="7162800" y="1524000"/>
            <a:ext cx="0" cy="18288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110" name="Text Box 29">
            <a:extLst>
              <a:ext uri="{FF2B5EF4-FFF2-40B4-BE49-F238E27FC236}">
                <a16:creationId xmlns:a16="http://schemas.microsoft.com/office/drawing/2014/main" id="{E6990521-69D7-B740-A38B-F0BF1219A3A4}"/>
              </a:ext>
            </a:extLst>
          </p:cNvPr>
          <p:cNvSpPr txBox="1">
            <a:spLocks noChangeArrowheads="1"/>
          </p:cNvSpPr>
          <p:nvPr/>
        </p:nvSpPr>
        <p:spPr bwMode="auto">
          <a:xfrm>
            <a:off x="4724400" y="2057400"/>
            <a:ext cx="1787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HashMap</a:t>
            </a:r>
          </a:p>
          <a:p>
            <a:pPr>
              <a:spcBef>
                <a:spcPct val="0"/>
              </a:spcBef>
              <a:buFontTx/>
              <a:buNone/>
            </a:pPr>
            <a:r>
              <a:rPr lang="en-US" altLang="en-US" sz="2400">
                <a:latin typeface="Tahoma" panose="020B0604030504040204" pitchFamily="34" charset="0"/>
              </a:rPr>
              <a:t>HashTable</a:t>
            </a:r>
          </a:p>
        </p:txBody>
      </p:sp>
      <p:sp>
        <p:nvSpPr>
          <p:cNvPr id="46111" name="Line 30">
            <a:extLst>
              <a:ext uri="{FF2B5EF4-FFF2-40B4-BE49-F238E27FC236}">
                <a16:creationId xmlns:a16="http://schemas.microsoft.com/office/drawing/2014/main" id="{69F6735E-897F-DD50-7D44-61A8FBB9C55D}"/>
              </a:ext>
            </a:extLst>
          </p:cNvPr>
          <p:cNvSpPr>
            <a:spLocks noChangeShapeType="1"/>
          </p:cNvSpPr>
          <p:nvPr/>
        </p:nvSpPr>
        <p:spPr bwMode="auto">
          <a:xfrm>
            <a:off x="3200400" y="1295400"/>
            <a:ext cx="3429000" cy="419100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2" name="Text Box 31">
            <a:extLst>
              <a:ext uri="{FF2B5EF4-FFF2-40B4-BE49-F238E27FC236}">
                <a16:creationId xmlns:a16="http://schemas.microsoft.com/office/drawing/2014/main" id="{8280D240-D3AD-C9F9-9B16-571C71A87462}"/>
              </a:ext>
            </a:extLst>
          </p:cNvPr>
          <p:cNvSpPr txBox="1">
            <a:spLocks noChangeArrowheads="1"/>
          </p:cNvSpPr>
          <p:nvPr/>
        </p:nvSpPr>
        <p:spPr bwMode="auto">
          <a:xfrm>
            <a:off x="1066800" y="7315200"/>
            <a:ext cx="419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1400">
              <a:latin typeface="Courier New" panose="020703090202050204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30DBA174-CA5E-5AB0-D2E4-B3DD4170B129}"/>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8131" name="WordArt 2">
            <a:extLst>
              <a:ext uri="{FF2B5EF4-FFF2-40B4-BE49-F238E27FC236}">
                <a16:creationId xmlns:a16="http://schemas.microsoft.com/office/drawing/2014/main" id="{AD3E73BF-AE47-8008-0258-EE7DDBD2D0C5}"/>
              </a:ext>
            </a:extLst>
          </p:cNvPr>
          <p:cNvSpPr>
            <a:spLocks noChangeArrowheads="1" noChangeShapeType="1" noTextEdit="1"/>
          </p:cNvSpPr>
          <p:nvPr/>
        </p:nvSpPr>
        <p:spPr bwMode="auto">
          <a:xfrm>
            <a:off x="1219200" y="304800"/>
            <a:ext cx="6629400" cy="7620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Collections</a:t>
            </a:r>
          </a:p>
        </p:txBody>
      </p:sp>
      <p:sp>
        <p:nvSpPr>
          <p:cNvPr id="48132" name="Text Box 3">
            <a:extLst>
              <a:ext uri="{FF2B5EF4-FFF2-40B4-BE49-F238E27FC236}">
                <a16:creationId xmlns:a16="http://schemas.microsoft.com/office/drawing/2014/main" id="{367F7F71-BD9C-E7E9-EA0E-88AFE07D8EFE}"/>
              </a:ext>
            </a:extLst>
          </p:cNvPr>
          <p:cNvSpPr txBox="1">
            <a:spLocks noChangeArrowheads="1"/>
          </p:cNvSpPr>
          <p:nvPr/>
        </p:nvSpPr>
        <p:spPr bwMode="auto">
          <a:xfrm>
            <a:off x="228600" y="1447800"/>
            <a:ext cx="86868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ArrayList&lt;Integer&gt; ray;</a:t>
            </a:r>
          </a:p>
          <a:p>
            <a:pPr eaLnBrk="1" hangingPunct="1">
              <a:spcBef>
                <a:spcPct val="0"/>
              </a:spcBef>
              <a:buFontTx/>
              <a:buNone/>
            </a:pPr>
            <a:r>
              <a:rPr lang="en-US" altLang="en-US" sz="2800">
                <a:latin typeface="Tahoma" panose="020B0604030504040204" pitchFamily="34" charset="0"/>
              </a:rPr>
              <a:t>ray = new ArrayList&lt;Integer&gt;();</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ray.add(23);</a:t>
            </a:r>
          </a:p>
          <a:p>
            <a:pPr eaLnBrk="1" hangingPunct="1">
              <a:spcBef>
                <a:spcPct val="0"/>
              </a:spcBef>
              <a:buFontTx/>
              <a:buNone/>
            </a:pPr>
            <a:r>
              <a:rPr lang="en-US" altLang="en-US" sz="2800">
                <a:latin typeface="Tahoma" panose="020B0604030504040204" pitchFamily="34" charset="0"/>
              </a:rPr>
              <a:t>ray.add(11);</a:t>
            </a:r>
          </a:p>
          <a:p>
            <a:pPr eaLnBrk="1" hangingPunct="1">
              <a:spcBef>
                <a:spcPct val="0"/>
              </a:spcBef>
              <a:buFontTx/>
              <a:buNone/>
            </a:pPr>
            <a:r>
              <a:rPr lang="en-US" altLang="en-US" sz="2800">
                <a:latin typeface="Tahoma" panose="020B0604030504040204" pitchFamily="34" charset="0"/>
              </a:rPr>
              <a:t>ray.add(66);</a:t>
            </a:r>
          </a:p>
          <a:p>
            <a:pPr eaLnBrk="1" hangingPunct="1">
              <a:spcBef>
                <a:spcPct val="0"/>
              </a:spcBef>
              <a:buFontTx/>
              <a:buNone/>
            </a:pPr>
            <a:r>
              <a:rPr lang="en-US" altLang="en-US" sz="2800">
                <a:latin typeface="Tahoma" panose="020B0604030504040204" pitchFamily="34" charset="0"/>
              </a:rPr>
              <a:t>ray.add(53);</a:t>
            </a:r>
          </a:p>
          <a:p>
            <a:pPr eaLnBrk="1" hangingPunct="1">
              <a:spcBef>
                <a:spcPct val="0"/>
              </a:spcBef>
              <a:buFontTx/>
              <a:buNone/>
            </a:pPr>
            <a:r>
              <a:rPr lang="en-US" altLang="en-US" sz="2800">
                <a:latin typeface="Tahoma" panose="020B0604030504040204" pitchFamily="34" charset="0"/>
              </a:rPr>
              <a:t>Collections.sort(ray);</a:t>
            </a:r>
          </a:p>
          <a:p>
            <a:pPr eaLnBrk="1" hangingPunct="1">
              <a:spcBef>
                <a:spcPct val="0"/>
              </a:spcBef>
              <a:buFontTx/>
              <a:buNone/>
            </a:pPr>
            <a:r>
              <a:rPr lang="en-US" altLang="en-US" sz="2800">
                <a:latin typeface="Tahoma" panose="020B0604030504040204" pitchFamily="34" charset="0"/>
              </a:rPr>
              <a:t>out.println(ray); out.println(Collections.binarySearch(ray,66));</a:t>
            </a:r>
          </a:p>
          <a:p>
            <a:pPr eaLnBrk="1" hangingPunct="1">
              <a:spcBef>
                <a:spcPct val="0"/>
              </a:spcBef>
              <a:buFontTx/>
              <a:buNone/>
            </a:pPr>
            <a:r>
              <a:rPr lang="en-US" altLang="en-US" sz="2800">
                <a:latin typeface="Tahoma" panose="020B0604030504040204" pitchFamily="34" charset="0"/>
              </a:rPr>
              <a:t>out.println(Collections.binarySearch(ray,77));</a:t>
            </a:r>
          </a:p>
        </p:txBody>
      </p:sp>
      <p:sp>
        <p:nvSpPr>
          <p:cNvPr id="48133" name="Text Box 4">
            <a:extLst>
              <a:ext uri="{FF2B5EF4-FFF2-40B4-BE49-F238E27FC236}">
                <a16:creationId xmlns:a16="http://schemas.microsoft.com/office/drawing/2014/main" id="{0D193E3D-2E36-702E-042A-9933E955AB46}"/>
              </a:ext>
            </a:extLst>
          </p:cNvPr>
          <p:cNvSpPr txBox="1">
            <a:spLocks noChangeArrowheads="1"/>
          </p:cNvSpPr>
          <p:nvPr/>
        </p:nvSpPr>
        <p:spPr bwMode="auto">
          <a:xfrm>
            <a:off x="5257800" y="2819400"/>
            <a:ext cx="3429000" cy="2062163"/>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eaLnBrk="1" hangingPunct="1">
              <a:spcBef>
                <a:spcPct val="0"/>
              </a:spcBef>
              <a:buFontTx/>
              <a:buNone/>
            </a:pPr>
            <a:r>
              <a:rPr lang="en-US" altLang="en-US">
                <a:latin typeface="Tahoma" panose="020B0604030504040204" pitchFamily="34" charset="0"/>
              </a:rPr>
              <a:t>[11, 23, 53, 66]</a:t>
            </a:r>
          </a:p>
          <a:p>
            <a:pPr eaLnBrk="1" hangingPunct="1">
              <a:spcBef>
                <a:spcPct val="0"/>
              </a:spcBef>
              <a:buFontTx/>
              <a:buNone/>
            </a:pPr>
            <a:r>
              <a:rPr lang="en-US" altLang="en-US">
                <a:latin typeface="Tahoma" panose="020B0604030504040204" pitchFamily="34" charset="0"/>
              </a:rPr>
              <a:t>3</a:t>
            </a:r>
          </a:p>
          <a:p>
            <a:pPr eaLnBrk="1" hangingPunct="1">
              <a:spcBef>
                <a:spcPct val="0"/>
              </a:spcBef>
              <a:buFontTx/>
              <a:buNone/>
            </a:pPr>
            <a:r>
              <a:rPr lang="en-US" altLang="en-US">
                <a:latin typeface="Tahoma" panose="020B0604030504040204" pitchFamily="34" charset="0"/>
              </a:rPr>
              <a:t>-5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D73D6B28-390B-5489-694B-8B53ABF6BE07}"/>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Text Box 3">
            <a:extLst>
              <a:ext uri="{FF2B5EF4-FFF2-40B4-BE49-F238E27FC236}">
                <a16:creationId xmlns:a16="http://schemas.microsoft.com/office/drawing/2014/main" id="{AD8BB6D9-ABC8-0870-0B01-00139AF4B956}"/>
              </a:ext>
            </a:extLst>
          </p:cNvPr>
          <p:cNvSpPr txBox="1">
            <a:spLocks noChangeArrowheads="1"/>
          </p:cNvSpPr>
          <p:nvPr/>
        </p:nvSpPr>
        <p:spPr bwMode="auto">
          <a:xfrm>
            <a:off x="381000" y="1371600"/>
            <a:ext cx="74676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err="1">
                <a:latin typeface="Tahoma" panose="020B0604030504040204" pitchFamily="34" charset="0"/>
              </a:rPr>
              <a:t>ArrayList</a:t>
            </a:r>
            <a:r>
              <a:rPr lang="en-US" altLang="en-US" sz="2800" dirty="0">
                <a:latin typeface="Tahoma" panose="020B0604030504040204" pitchFamily="34" charset="0"/>
              </a:rPr>
              <a:t>&lt;Integer&gt; ray;</a:t>
            </a:r>
          </a:p>
          <a:p>
            <a:pPr eaLnBrk="1" hangingPunct="1">
              <a:spcBef>
                <a:spcPct val="0"/>
              </a:spcBef>
              <a:buFontTx/>
              <a:buNone/>
            </a:pPr>
            <a:r>
              <a:rPr lang="en-US" altLang="en-US" sz="2800" dirty="0">
                <a:latin typeface="Tahoma" panose="020B0604030504040204" pitchFamily="34" charset="0"/>
              </a:rPr>
              <a:t>ray = </a:t>
            </a:r>
            <a:r>
              <a:rPr lang="en-US" altLang="en-US" sz="2800" dirty="0" err="1">
                <a:latin typeface="Tahoma" panose="020B0604030504040204" pitchFamily="34" charset="0"/>
              </a:rPr>
              <a:t>ArrayList</a:t>
            </a:r>
            <a:r>
              <a:rPr lang="en-US" altLang="en-US" sz="2800" dirty="0">
                <a:latin typeface="Tahoma" panose="020B0604030504040204" pitchFamily="34" charset="0"/>
              </a:rPr>
              <a:t>&lt;Integer&gt;();</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err="1">
                <a:latin typeface="Tahoma" panose="020B0604030504040204" pitchFamily="34" charset="0"/>
              </a:rPr>
              <a:t>ray.add</a:t>
            </a:r>
            <a:r>
              <a:rPr lang="en-US" altLang="en-US" sz="2800" dirty="0">
                <a:latin typeface="Tahoma" panose="020B0604030504040204" pitchFamily="34" charset="0"/>
              </a:rPr>
              <a:t>(23);</a:t>
            </a:r>
          </a:p>
          <a:p>
            <a:pPr eaLnBrk="1" hangingPunct="1">
              <a:spcBef>
                <a:spcPct val="0"/>
              </a:spcBef>
              <a:buFontTx/>
              <a:buNone/>
            </a:pPr>
            <a:r>
              <a:rPr lang="en-US" altLang="en-US" sz="2800" dirty="0" err="1">
                <a:latin typeface="Tahoma" panose="020B0604030504040204" pitchFamily="34" charset="0"/>
              </a:rPr>
              <a:t>ray.add</a:t>
            </a:r>
            <a:r>
              <a:rPr lang="en-US" altLang="en-US" sz="2800" dirty="0">
                <a:latin typeface="Tahoma" panose="020B0604030504040204" pitchFamily="34" charset="0"/>
              </a:rPr>
              <a:t>(11);</a:t>
            </a:r>
          </a:p>
          <a:p>
            <a:pPr eaLnBrk="1" hangingPunct="1">
              <a:spcBef>
                <a:spcPct val="0"/>
              </a:spcBef>
              <a:buFontTx/>
              <a:buNone/>
            </a:pPr>
            <a:r>
              <a:rPr lang="en-US" altLang="en-US" sz="2800" dirty="0" err="1">
                <a:latin typeface="Tahoma" panose="020B0604030504040204" pitchFamily="34" charset="0"/>
              </a:rPr>
              <a:t>ray.add</a:t>
            </a:r>
            <a:r>
              <a:rPr lang="en-US" altLang="en-US" sz="2800" dirty="0">
                <a:latin typeface="Tahoma" panose="020B0604030504040204" pitchFamily="34" charset="0"/>
              </a:rPr>
              <a:t>(53);</a:t>
            </a:r>
          </a:p>
          <a:p>
            <a:pPr eaLnBrk="1" hangingPunct="1">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(ray);</a:t>
            </a:r>
          </a:p>
          <a:p>
            <a:pPr eaLnBrk="1" hangingPunct="1">
              <a:spcBef>
                <a:spcPct val="0"/>
              </a:spcBef>
              <a:buFontTx/>
              <a:buNone/>
            </a:pPr>
            <a:r>
              <a:rPr lang="en-US" altLang="en-US" sz="2800" dirty="0">
                <a:latin typeface="Tahoma" panose="020B0604030504040204" pitchFamily="34" charset="0"/>
              </a:rPr>
              <a:t>rotate(ray,2);</a:t>
            </a:r>
          </a:p>
          <a:p>
            <a:pPr eaLnBrk="1" hangingPunct="1">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(ray);</a:t>
            </a:r>
          </a:p>
          <a:p>
            <a:pPr eaLnBrk="1" hangingPunct="1">
              <a:spcBef>
                <a:spcPct val="0"/>
              </a:spcBef>
              <a:buFontTx/>
              <a:buNone/>
            </a:pPr>
            <a:r>
              <a:rPr lang="en-US" altLang="en-US" sz="2800" dirty="0">
                <a:latin typeface="Tahoma" panose="020B0604030504040204" pitchFamily="34" charset="0"/>
              </a:rPr>
              <a:t>rotate(ray,2);</a:t>
            </a:r>
          </a:p>
          <a:p>
            <a:pPr eaLnBrk="1" hangingPunct="1">
              <a:spcBef>
                <a:spcPct val="0"/>
              </a:spcBef>
              <a:buFontTx/>
              <a:buNone/>
            </a:pPr>
            <a:r>
              <a:rPr lang="en-US" altLang="en-US" sz="2800" dirty="0" err="1">
                <a:latin typeface="Tahoma" panose="020B0604030504040204" pitchFamily="34" charset="0"/>
              </a:rPr>
              <a:t>Collections.reverse</a:t>
            </a:r>
            <a:r>
              <a:rPr lang="en-US" altLang="en-US" sz="2800" dirty="0">
                <a:latin typeface="Tahoma" panose="020B0604030504040204" pitchFamily="34" charset="0"/>
              </a:rPr>
              <a:t>(ray);</a:t>
            </a:r>
          </a:p>
          <a:p>
            <a:pPr eaLnBrk="1" hangingPunct="1">
              <a:spcBef>
                <a:spcPct val="0"/>
              </a:spcBef>
              <a:buFontTx/>
              <a:buNone/>
            </a:pPr>
            <a:r>
              <a:rPr lang="en-US" altLang="en-US" sz="2800" dirty="0" err="1">
                <a:latin typeface="Tahoma" panose="020B0604030504040204" pitchFamily="34" charset="0"/>
              </a:rPr>
              <a:t>out.println</a:t>
            </a:r>
            <a:r>
              <a:rPr lang="en-US" altLang="en-US" sz="2800" dirty="0">
                <a:latin typeface="Tahoma" panose="020B0604030504040204" pitchFamily="34" charset="0"/>
              </a:rPr>
              <a:t>(ray);</a:t>
            </a:r>
          </a:p>
        </p:txBody>
      </p:sp>
      <p:sp>
        <p:nvSpPr>
          <p:cNvPr id="50180" name="WordArt 4">
            <a:extLst>
              <a:ext uri="{FF2B5EF4-FFF2-40B4-BE49-F238E27FC236}">
                <a16:creationId xmlns:a16="http://schemas.microsoft.com/office/drawing/2014/main" id="{16210C07-7A22-E964-1C70-EE8F7F82EEBE}"/>
              </a:ext>
            </a:extLst>
          </p:cNvPr>
          <p:cNvSpPr>
            <a:spLocks noChangeArrowheads="1" noChangeShapeType="1" noTextEdit="1"/>
          </p:cNvSpPr>
          <p:nvPr/>
        </p:nvSpPr>
        <p:spPr bwMode="auto">
          <a:xfrm>
            <a:off x="1219200" y="304800"/>
            <a:ext cx="6629400" cy="7620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Collections</a:t>
            </a:r>
          </a:p>
        </p:txBody>
      </p:sp>
      <p:sp>
        <p:nvSpPr>
          <p:cNvPr id="50181" name="Text Box 5">
            <a:extLst>
              <a:ext uri="{FF2B5EF4-FFF2-40B4-BE49-F238E27FC236}">
                <a16:creationId xmlns:a16="http://schemas.microsoft.com/office/drawing/2014/main" id="{2D464331-60B8-7FC6-3532-52FBFF84A8E8}"/>
              </a:ext>
            </a:extLst>
          </p:cNvPr>
          <p:cNvSpPr txBox="1">
            <a:spLocks noChangeArrowheads="1"/>
          </p:cNvSpPr>
          <p:nvPr/>
        </p:nvSpPr>
        <p:spPr bwMode="auto">
          <a:xfrm>
            <a:off x="5410200" y="2743200"/>
            <a:ext cx="2362200" cy="1873250"/>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eaLnBrk="1" hangingPunct="1">
              <a:spcBef>
                <a:spcPct val="0"/>
              </a:spcBef>
              <a:buFontTx/>
              <a:buNone/>
            </a:pPr>
            <a:r>
              <a:rPr lang="en-US" altLang="en-US" sz="2800">
                <a:latin typeface="Tahoma" panose="020B0604030504040204" pitchFamily="34" charset="0"/>
              </a:rPr>
              <a:t>[23, 11, 53]</a:t>
            </a:r>
          </a:p>
          <a:p>
            <a:pPr eaLnBrk="1" hangingPunct="1">
              <a:spcBef>
                <a:spcPct val="0"/>
              </a:spcBef>
              <a:buFontTx/>
              <a:buNone/>
            </a:pPr>
            <a:r>
              <a:rPr lang="en-US" altLang="en-US" sz="2800">
                <a:latin typeface="Tahoma" panose="020B0604030504040204" pitchFamily="34" charset="0"/>
              </a:rPr>
              <a:t>[11, 53, 23]</a:t>
            </a:r>
          </a:p>
          <a:p>
            <a:pPr eaLnBrk="1" hangingPunct="1">
              <a:spcBef>
                <a:spcPct val="0"/>
              </a:spcBef>
              <a:buFontTx/>
              <a:buNone/>
            </a:pPr>
            <a:r>
              <a:rPr lang="en-US" altLang="en-US" sz="2800">
                <a:latin typeface="Tahoma" panose="020B0604030504040204" pitchFamily="34" charset="0"/>
              </a:rPr>
              <a:t>[11, 23, 53]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3D40062E-170C-56AD-50B9-C30D3E776738}"/>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2227" name="Text Box 2">
            <a:extLst>
              <a:ext uri="{FF2B5EF4-FFF2-40B4-BE49-F238E27FC236}">
                <a16:creationId xmlns:a16="http://schemas.microsoft.com/office/drawing/2014/main" id="{A20FF842-2BE2-DF25-97EC-992C6AA1438A}"/>
              </a:ext>
            </a:extLst>
          </p:cNvPr>
          <p:cNvSpPr txBox="1">
            <a:spLocks noChangeArrowheads="1"/>
          </p:cNvSpPr>
          <p:nvPr/>
        </p:nvSpPr>
        <p:spPr bwMode="auto">
          <a:xfrm>
            <a:off x="381000" y="1371600"/>
            <a:ext cx="74676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ArrayList&lt;Integer&gt; ray;</a:t>
            </a:r>
          </a:p>
          <a:p>
            <a:pPr eaLnBrk="1" hangingPunct="1">
              <a:spcBef>
                <a:spcPct val="0"/>
              </a:spcBef>
              <a:buFontTx/>
              <a:buNone/>
            </a:pPr>
            <a:r>
              <a:rPr lang="en-US" altLang="en-US" sz="2800">
                <a:latin typeface="Tahoma" panose="020B0604030504040204" pitchFamily="34" charset="0"/>
              </a:rPr>
              <a:t>ray = new ArrayList&lt;Integer&gt;();</a:t>
            </a:r>
          </a:p>
          <a:p>
            <a:pPr eaLnBrk="1" hangingPunct="1">
              <a:spcBef>
                <a:spcPct val="0"/>
              </a:spcBef>
              <a:buFontTx/>
              <a:buNone/>
            </a:pPr>
            <a:r>
              <a:rPr lang="en-US" altLang="en-US" sz="2800">
                <a:latin typeface="Tahoma" panose="020B0604030504040204" pitchFamily="34" charset="0"/>
              </a:rPr>
              <a:t>ray.add(0);</a:t>
            </a:r>
          </a:p>
          <a:p>
            <a:pPr eaLnBrk="1" hangingPunct="1">
              <a:spcBef>
                <a:spcPct val="0"/>
              </a:spcBef>
              <a:buFontTx/>
              <a:buNone/>
            </a:pPr>
            <a:r>
              <a:rPr lang="en-US" altLang="en-US" sz="2800">
                <a:latin typeface="Tahoma" panose="020B0604030504040204" pitchFamily="34" charset="0"/>
              </a:rPr>
              <a:t>ray.add(0);</a:t>
            </a:r>
          </a:p>
          <a:p>
            <a:pPr eaLnBrk="1" hangingPunct="1">
              <a:spcBef>
                <a:spcPct val="0"/>
              </a:spcBef>
              <a:buFontTx/>
              <a:buNone/>
            </a:pPr>
            <a:r>
              <a:rPr lang="en-US" altLang="en-US" sz="2800">
                <a:latin typeface="Tahoma" panose="020B0604030504040204" pitchFamily="34" charset="0"/>
              </a:rPr>
              <a:t>ray.add(0);</a:t>
            </a:r>
          </a:p>
          <a:p>
            <a:pPr eaLnBrk="1" hangingPunct="1">
              <a:spcBef>
                <a:spcPct val="0"/>
              </a:spcBef>
              <a:buFontTx/>
              <a:buNone/>
            </a:pPr>
            <a:r>
              <a:rPr lang="en-US" altLang="en-US" sz="2800">
                <a:latin typeface="Tahoma" panose="020B0604030504040204" pitchFamily="34" charset="0"/>
              </a:rPr>
              <a:t>out.println(ray);		</a:t>
            </a:r>
          </a:p>
          <a:p>
            <a:pPr eaLnBrk="1" hangingPunct="1">
              <a:spcBef>
                <a:spcPct val="0"/>
              </a:spcBef>
              <a:buFontTx/>
              <a:buNone/>
            </a:pPr>
            <a:r>
              <a:rPr lang="en-US" altLang="en-US" sz="2800">
                <a:latin typeface="Tahoma" panose="020B0604030504040204" pitchFamily="34" charset="0"/>
              </a:rPr>
              <a:t>		</a:t>
            </a:r>
          </a:p>
          <a:p>
            <a:pPr eaLnBrk="1" hangingPunct="1">
              <a:spcBef>
                <a:spcPct val="0"/>
              </a:spcBef>
              <a:buFontTx/>
              <a:buNone/>
            </a:pPr>
            <a:r>
              <a:rPr lang="en-US" altLang="en-US" sz="2800">
                <a:latin typeface="Tahoma" panose="020B0604030504040204" pitchFamily="34" charset="0"/>
              </a:rPr>
              <a:t>Collections.fill(ray,33);</a:t>
            </a:r>
          </a:p>
          <a:p>
            <a:pPr eaLnBrk="1" hangingPunct="1">
              <a:spcBef>
                <a:spcPct val="0"/>
              </a:spcBef>
              <a:buFontTx/>
              <a:buNone/>
            </a:pPr>
            <a:r>
              <a:rPr lang="en-US" altLang="en-US" sz="2800">
                <a:latin typeface="Tahoma" panose="020B0604030504040204" pitchFamily="34" charset="0"/>
              </a:rPr>
              <a:t>out.println(ray);</a:t>
            </a:r>
          </a:p>
        </p:txBody>
      </p:sp>
      <p:sp>
        <p:nvSpPr>
          <p:cNvPr id="52228" name="WordArt 3">
            <a:extLst>
              <a:ext uri="{FF2B5EF4-FFF2-40B4-BE49-F238E27FC236}">
                <a16:creationId xmlns:a16="http://schemas.microsoft.com/office/drawing/2014/main" id="{9B866633-41FE-D06A-2917-9B2C29A0BE19}"/>
              </a:ext>
            </a:extLst>
          </p:cNvPr>
          <p:cNvSpPr>
            <a:spLocks noChangeArrowheads="1" noChangeShapeType="1" noTextEdit="1"/>
          </p:cNvSpPr>
          <p:nvPr/>
        </p:nvSpPr>
        <p:spPr bwMode="auto">
          <a:xfrm>
            <a:off x="1219200" y="304800"/>
            <a:ext cx="6629400" cy="7620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Collections</a:t>
            </a:r>
          </a:p>
        </p:txBody>
      </p:sp>
      <p:sp>
        <p:nvSpPr>
          <p:cNvPr id="52229" name="Text Box 4">
            <a:extLst>
              <a:ext uri="{FF2B5EF4-FFF2-40B4-BE49-F238E27FC236}">
                <a16:creationId xmlns:a16="http://schemas.microsoft.com/office/drawing/2014/main" id="{47A92DBF-AE4B-0142-8CE4-481026CCEB2F}"/>
              </a:ext>
            </a:extLst>
          </p:cNvPr>
          <p:cNvSpPr txBox="1">
            <a:spLocks noChangeArrowheads="1"/>
          </p:cNvSpPr>
          <p:nvPr/>
        </p:nvSpPr>
        <p:spPr bwMode="auto">
          <a:xfrm>
            <a:off x="5410200" y="2743200"/>
            <a:ext cx="2362200" cy="1446213"/>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eaLnBrk="1" hangingPunct="1">
              <a:spcBef>
                <a:spcPct val="0"/>
              </a:spcBef>
              <a:buFontTx/>
              <a:buNone/>
            </a:pPr>
            <a:r>
              <a:rPr lang="en-US" altLang="en-US" sz="2800">
                <a:latin typeface="Tahoma" panose="020B0604030504040204" pitchFamily="34" charset="0"/>
              </a:rPr>
              <a:t>[0, 0, 0]</a:t>
            </a:r>
          </a:p>
          <a:p>
            <a:pPr eaLnBrk="1" hangingPunct="1">
              <a:spcBef>
                <a:spcPct val="0"/>
              </a:spcBef>
              <a:buFontTx/>
              <a:buNone/>
            </a:pPr>
            <a:r>
              <a:rPr lang="en-US" altLang="en-US" sz="2800">
                <a:latin typeface="Tahoma" panose="020B0604030504040204" pitchFamily="34" charset="0"/>
              </a:rPr>
              <a:t>[33, 33, 33]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3">
            <a:extLst>
              <a:ext uri="{FF2B5EF4-FFF2-40B4-BE49-F238E27FC236}">
                <a16:creationId xmlns:a16="http://schemas.microsoft.com/office/drawing/2014/main" id="{51A866A0-CA2C-2B0E-B96D-576B7C56A34D}"/>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4275" name="WordArt 2">
            <a:extLst>
              <a:ext uri="{FF2B5EF4-FFF2-40B4-BE49-F238E27FC236}">
                <a16:creationId xmlns:a16="http://schemas.microsoft.com/office/drawing/2014/main" id="{E02D850F-C02B-5DAF-ABB8-95F9796E60C8}"/>
              </a:ext>
            </a:extLst>
          </p:cNvPr>
          <p:cNvSpPr>
            <a:spLocks noChangeArrowheads="1" noChangeShapeType="1" noTextEdit="1"/>
          </p:cNvSpPr>
          <p:nvPr/>
        </p:nvSpPr>
        <p:spPr bwMode="auto">
          <a:xfrm>
            <a:off x="762000" y="685800"/>
            <a:ext cx="7620000" cy="5105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binarysearch.java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rotate.java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fill.java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5EB10FC7-8E5C-B87A-E60F-95D77A02F0A8}"/>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6323" name="WordArt 2">
            <a:extLst>
              <a:ext uri="{FF2B5EF4-FFF2-40B4-BE49-F238E27FC236}">
                <a16:creationId xmlns:a16="http://schemas.microsoft.com/office/drawing/2014/main" id="{B9CD6FE2-7A49-A676-8064-16D5F2AF5041}"/>
              </a:ext>
            </a:extLst>
          </p:cNvPr>
          <p:cNvSpPr>
            <a:spLocks noChangeArrowheads="1" noChangeShapeType="1" noTextEdit="1"/>
          </p:cNvSpPr>
          <p:nvPr/>
        </p:nvSpPr>
        <p:spPr bwMode="auto">
          <a:xfrm>
            <a:off x="1219200" y="1143000"/>
            <a:ext cx="6248400" cy="37338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search</a:t>
            </a:r>
          </a:p>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methods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Footer Placeholder 3">
            <a:extLst>
              <a:ext uri="{FF2B5EF4-FFF2-40B4-BE49-F238E27FC236}">
                <a16:creationId xmlns:a16="http://schemas.microsoft.com/office/drawing/2014/main" id="{1657750C-FF02-0A95-335F-BA37971D828B}"/>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342047" name="Group 31">
            <a:extLst>
              <a:ext uri="{FF2B5EF4-FFF2-40B4-BE49-F238E27FC236}">
                <a16:creationId xmlns:a16="http://schemas.microsoft.com/office/drawing/2014/main" id="{DB222707-BFC6-B659-4694-F64B37257590}"/>
              </a:ext>
            </a:extLst>
          </p:cNvPr>
          <p:cNvGraphicFramePr>
            <a:graphicFrameLocks noGrp="1"/>
          </p:cNvGraphicFramePr>
          <p:nvPr/>
        </p:nvGraphicFramePr>
        <p:xfrm>
          <a:off x="533400" y="914400"/>
          <a:ext cx="8077200" cy="3081338"/>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err="1">
                          <a:ln>
                            <a:noFill/>
                          </a:ln>
                          <a:solidFill>
                            <a:srgbClr val="FF0000"/>
                          </a:solidFill>
                          <a:effectLst/>
                          <a:latin typeface="Tahoma" pitchFamily="34" charset="0"/>
                        </a:rPr>
                        <a:t>ArrayList</a:t>
                      </a:r>
                      <a:endParaRPr kumimoji="0" lang="en-US" sz="3600" b="1" i="0" u="none" strike="noStrike" cap="none" normalizeH="0" baseline="0" dirty="0">
                        <a:ln>
                          <a:noFill/>
                        </a:ln>
                        <a:solidFill>
                          <a:srgbClr val="FF0000"/>
                        </a:solidFill>
                        <a:effectLst/>
                        <a:latin typeface="Tahoma"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accent2"/>
                          </a:solidFill>
                          <a:effectLst/>
                          <a:latin typeface="Tahoma" pitchFamily="34" charset="0"/>
                        </a:rPr>
                        <a:t>boolean</a:t>
                      </a:r>
                      <a:r>
                        <a:rPr kumimoji="0" lang="en-US" sz="1600" b="1" i="0" u="none" strike="noStrike" cap="none" normalizeH="0" baseline="0" dirty="0">
                          <a:ln>
                            <a:noFill/>
                          </a:ln>
                          <a:solidFill>
                            <a:schemeClr val="accent2"/>
                          </a:solidFill>
                          <a:effectLst/>
                          <a:latin typeface="Tahoma" pitchFamily="34" charset="0"/>
                        </a:rPr>
                        <a:t> </a:t>
                      </a:r>
                      <a:r>
                        <a:rPr kumimoji="0" lang="en-US" sz="2000" b="1" i="0" u="none" strike="noStrike" cap="none" normalizeH="0" baseline="0" dirty="0">
                          <a:ln>
                            <a:noFill/>
                          </a:ln>
                          <a:solidFill>
                            <a:schemeClr val="accent2"/>
                          </a:solidFill>
                          <a:effectLst/>
                          <a:latin typeface="Tahoma" pitchFamily="34" charset="0"/>
                        </a:rPr>
                        <a:t>contains(x)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if the list contains 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600" b="1" i="0" u="none" strike="noStrike" cap="none" normalizeH="0" baseline="0" dirty="0" err="1">
                          <a:ln>
                            <a:noFill/>
                          </a:ln>
                          <a:solidFill>
                            <a:schemeClr val="accent2"/>
                          </a:solidFill>
                          <a:effectLst/>
                          <a:latin typeface="Tahoma" pitchFamily="34" charset="0"/>
                        </a:rPr>
                        <a:t>int</a:t>
                      </a:r>
                      <a:r>
                        <a:rPr kumimoji="0" lang="en-US" sz="1600" b="1" i="0" u="none" strike="noStrike" cap="none" normalizeH="0" baseline="0" dirty="0">
                          <a:ln>
                            <a:noFill/>
                          </a:ln>
                          <a:solidFill>
                            <a:schemeClr val="accent2"/>
                          </a:solidFill>
                          <a:effectLst/>
                          <a:latin typeface="Tahoma" pitchFamily="34" charset="0"/>
                        </a:rPr>
                        <a:t> </a:t>
                      </a:r>
                      <a:r>
                        <a:rPr kumimoji="0" lang="en-US" sz="2000" b="1" i="0" u="none" strike="noStrike" cap="none" normalizeH="0" baseline="0" dirty="0" err="1">
                          <a:ln>
                            <a:noFill/>
                          </a:ln>
                          <a:solidFill>
                            <a:schemeClr val="accent2"/>
                          </a:solidFill>
                          <a:effectLst/>
                          <a:latin typeface="Tahoma" pitchFamily="34" charset="0"/>
                        </a:rPr>
                        <a:t>indexOf</a:t>
                      </a:r>
                      <a:r>
                        <a:rPr kumimoji="0" lang="en-US" sz="2000" b="1" i="0" u="none" strike="noStrike" cap="none" normalizeH="0" baseline="0" dirty="0">
                          <a:ln>
                            <a:noFill/>
                          </a:ln>
                          <a:solidFill>
                            <a:schemeClr val="accent2"/>
                          </a:solidFill>
                          <a:effectLst/>
                          <a:latin typeface="Tahoma" pitchFamily="34" charset="0"/>
                        </a:rPr>
                        <a: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checks the list for the location of 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BF1DE1BF-6713-EA80-C786-56F386BBD6DB}"/>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0419" name="Rectangle 2">
            <a:extLst>
              <a:ext uri="{FF2B5EF4-FFF2-40B4-BE49-F238E27FC236}">
                <a16:creationId xmlns:a16="http://schemas.microsoft.com/office/drawing/2014/main" id="{2A6ECD5D-AFB0-2DE1-015E-D067D681275F}"/>
              </a:ext>
            </a:extLst>
          </p:cNvPr>
          <p:cNvSpPr>
            <a:spLocks noChangeArrowheads="1"/>
          </p:cNvSpPr>
          <p:nvPr/>
        </p:nvSpPr>
        <p:spPr bwMode="auto">
          <a:xfrm>
            <a:off x="228600" y="0"/>
            <a:ext cx="6103938" cy="649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ArrayList&lt;Integer&gt; ray;</a:t>
            </a:r>
          </a:p>
          <a:p>
            <a:pPr eaLnBrk="1" hangingPunct="1">
              <a:spcBef>
                <a:spcPct val="0"/>
              </a:spcBef>
              <a:buFontTx/>
              <a:buNone/>
            </a:pPr>
            <a:r>
              <a:rPr lang="en-US" altLang="en-US" sz="2800">
                <a:latin typeface="Tahoma" panose="020B0604030504040204" pitchFamily="34" charset="0"/>
              </a:rPr>
              <a:t>ray = new ArrayList&lt;Integer&gt;();</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ray.add(23);</a:t>
            </a:r>
          </a:p>
          <a:p>
            <a:pPr eaLnBrk="1" hangingPunct="1">
              <a:spcBef>
                <a:spcPct val="0"/>
              </a:spcBef>
              <a:buFontTx/>
              <a:buNone/>
            </a:pPr>
            <a:r>
              <a:rPr lang="en-US" altLang="en-US" sz="2800">
                <a:latin typeface="Tahoma" panose="020B0604030504040204" pitchFamily="34" charset="0"/>
              </a:rPr>
              <a:t>ray.add(11);</a:t>
            </a:r>
          </a:p>
          <a:p>
            <a:pPr eaLnBrk="1" hangingPunct="1">
              <a:spcBef>
                <a:spcPct val="0"/>
              </a:spcBef>
              <a:buFontTx/>
              <a:buNone/>
            </a:pPr>
            <a:r>
              <a:rPr lang="en-US" altLang="en-US" sz="2800">
                <a:latin typeface="Tahoma" panose="020B0604030504040204" pitchFamily="34" charset="0"/>
              </a:rPr>
              <a:t>ray.add(66);</a:t>
            </a:r>
          </a:p>
          <a:p>
            <a:pPr eaLnBrk="1" hangingPunct="1">
              <a:spcBef>
                <a:spcPct val="0"/>
              </a:spcBef>
              <a:buFontTx/>
              <a:buNone/>
            </a:pPr>
            <a:r>
              <a:rPr lang="en-US" altLang="en-US" sz="2800">
                <a:latin typeface="Tahoma" panose="020B0604030504040204" pitchFamily="34" charset="0"/>
              </a:rPr>
              <a:t>ray.add(53);</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out.println(ray);</a:t>
            </a:r>
          </a:p>
          <a:p>
            <a:pPr eaLnBrk="1" hangingPunct="1">
              <a:spcBef>
                <a:spcPct val="0"/>
              </a:spcBef>
              <a:buFontTx/>
              <a:buNone/>
            </a:pPr>
            <a:r>
              <a:rPr lang="en-US" altLang="en-US" sz="2800">
                <a:latin typeface="Tahoma" panose="020B0604030504040204" pitchFamily="34" charset="0"/>
              </a:rPr>
              <a:t>out.println(ray.indexOf(21));</a:t>
            </a:r>
          </a:p>
          <a:p>
            <a:pPr eaLnBrk="1" hangingPunct="1">
              <a:spcBef>
                <a:spcPct val="0"/>
              </a:spcBef>
              <a:buFontTx/>
              <a:buNone/>
            </a:pPr>
            <a:r>
              <a:rPr lang="en-US" altLang="en-US" sz="2800">
                <a:latin typeface="Tahoma" panose="020B0604030504040204" pitchFamily="34" charset="0"/>
              </a:rPr>
              <a:t>out.println(ray.indexOf(66));</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out.println(ray);</a:t>
            </a:r>
          </a:p>
          <a:p>
            <a:pPr eaLnBrk="1" hangingPunct="1">
              <a:spcBef>
                <a:spcPct val="0"/>
              </a:spcBef>
              <a:buFontTx/>
              <a:buNone/>
            </a:pPr>
            <a:r>
              <a:rPr lang="en-US" altLang="en-US" sz="2800">
                <a:latin typeface="Tahoma" panose="020B0604030504040204" pitchFamily="34" charset="0"/>
              </a:rPr>
              <a:t>out.println(ray.contains(21));</a:t>
            </a:r>
          </a:p>
          <a:p>
            <a:pPr eaLnBrk="1" hangingPunct="1">
              <a:spcBef>
                <a:spcPct val="0"/>
              </a:spcBef>
              <a:buFontTx/>
              <a:buNone/>
            </a:pPr>
            <a:r>
              <a:rPr lang="en-US" altLang="en-US" sz="2800">
                <a:latin typeface="Tahoma" panose="020B0604030504040204" pitchFamily="34" charset="0"/>
              </a:rPr>
              <a:t>out.println(ray.contains(66));</a:t>
            </a:r>
          </a:p>
        </p:txBody>
      </p:sp>
      <p:sp>
        <p:nvSpPr>
          <p:cNvPr id="60420" name="Text Box 4">
            <a:extLst>
              <a:ext uri="{FF2B5EF4-FFF2-40B4-BE49-F238E27FC236}">
                <a16:creationId xmlns:a16="http://schemas.microsoft.com/office/drawing/2014/main" id="{92976612-95B2-7A33-07D0-35357868EE55}"/>
              </a:ext>
            </a:extLst>
          </p:cNvPr>
          <p:cNvSpPr txBox="1">
            <a:spLocks noChangeArrowheads="1"/>
          </p:cNvSpPr>
          <p:nvPr/>
        </p:nvSpPr>
        <p:spPr bwMode="auto">
          <a:xfrm>
            <a:off x="5943600" y="1066800"/>
            <a:ext cx="3048000" cy="3154363"/>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p>
          <a:p>
            <a:pPr eaLnBrk="1" hangingPunct="1">
              <a:spcBef>
                <a:spcPct val="0"/>
              </a:spcBef>
              <a:buFontTx/>
              <a:buNone/>
            </a:pPr>
            <a:r>
              <a:rPr lang="en-US" altLang="en-US" sz="2800">
                <a:latin typeface="Tahoma" panose="020B0604030504040204" pitchFamily="34" charset="0"/>
              </a:rPr>
              <a:t>[23, 11, 66, 53]</a:t>
            </a:r>
          </a:p>
          <a:p>
            <a:pPr eaLnBrk="1" hangingPunct="1">
              <a:spcBef>
                <a:spcPct val="0"/>
              </a:spcBef>
              <a:buFontTx/>
              <a:buNone/>
            </a:pPr>
            <a:r>
              <a:rPr lang="en-US" altLang="en-US" sz="2800">
                <a:latin typeface="Tahoma" panose="020B0604030504040204" pitchFamily="34" charset="0"/>
              </a:rPr>
              <a:t>-1</a:t>
            </a:r>
          </a:p>
          <a:p>
            <a:pPr eaLnBrk="1" hangingPunct="1">
              <a:spcBef>
                <a:spcPct val="0"/>
              </a:spcBef>
              <a:buFontTx/>
              <a:buNone/>
            </a:pPr>
            <a:r>
              <a:rPr lang="en-US" altLang="en-US" sz="2800">
                <a:latin typeface="Tahoma" panose="020B0604030504040204" pitchFamily="34" charset="0"/>
              </a:rPr>
              <a:t>2</a:t>
            </a:r>
          </a:p>
          <a:p>
            <a:pPr eaLnBrk="1" hangingPunct="1">
              <a:spcBef>
                <a:spcPct val="0"/>
              </a:spcBef>
              <a:buFontTx/>
              <a:buNone/>
            </a:pPr>
            <a:r>
              <a:rPr lang="en-US" altLang="en-US" sz="2800">
                <a:latin typeface="Tahoma" panose="020B0604030504040204" pitchFamily="34" charset="0"/>
              </a:rPr>
              <a:t>[23, 11, 66, 53]</a:t>
            </a:r>
          </a:p>
          <a:p>
            <a:pPr eaLnBrk="1" hangingPunct="1">
              <a:spcBef>
                <a:spcPct val="0"/>
              </a:spcBef>
              <a:buFontTx/>
              <a:buNone/>
            </a:pPr>
            <a:r>
              <a:rPr lang="en-US" altLang="en-US" sz="2800">
                <a:latin typeface="Tahoma" panose="020B0604030504040204" pitchFamily="34" charset="0"/>
              </a:rPr>
              <a:t>false</a:t>
            </a:r>
          </a:p>
          <a:p>
            <a:pPr eaLnBrk="1" hangingPunct="1">
              <a:spcBef>
                <a:spcPct val="0"/>
              </a:spcBef>
              <a:buFontTx/>
              <a:buNone/>
            </a:pPr>
            <a:r>
              <a:rPr lang="en-US" altLang="en-US" sz="2800">
                <a:latin typeface="Tahoma" panose="020B0604030504040204" pitchFamily="34" charset="0"/>
              </a:rPr>
              <a:t>true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Footer Placeholder 3">
            <a:extLst>
              <a:ext uri="{FF2B5EF4-FFF2-40B4-BE49-F238E27FC236}">
                <a16:creationId xmlns:a16="http://schemas.microsoft.com/office/drawing/2014/main" id="{49A384F5-D6C2-FDC9-75E8-7A1B50E79A1D}"/>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2467" name="WordArt 2">
            <a:extLst>
              <a:ext uri="{FF2B5EF4-FFF2-40B4-BE49-F238E27FC236}">
                <a16:creationId xmlns:a16="http://schemas.microsoft.com/office/drawing/2014/main" id="{EDEA63E6-1594-608A-D4EC-1DC4999A8B48}"/>
              </a:ext>
            </a:extLst>
          </p:cNvPr>
          <p:cNvSpPr>
            <a:spLocks noChangeArrowheads="1" noChangeShapeType="1" noTextEdit="1"/>
          </p:cNvSpPr>
          <p:nvPr/>
        </p:nvSpPr>
        <p:spPr bwMode="auto">
          <a:xfrm>
            <a:off x="762000" y="685800"/>
            <a:ext cx="7620000" cy="5105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search.java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B1B97272-3445-53D7-EA5C-873FCE1B4044}"/>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4515" name="WordArt 2">
            <a:extLst>
              <a:ext uri="{FF2B5EF4-FFF2-40B4-BE49-F238E27FC236}">
                <a16:creationId xmlns:a16="http://schemas.microsoft.com/office/drawing/2014/main" id="{494B2E54-CC78-7FEA-B4E8-29AE4038177E}"/>
              </a:ext>
            </a:extLst>
          </p:cNvPr>
          <p:cNvSpPr>
            <a:spLocks noChangeArrowheads="1" noChangeShapeType="1" noTextEdit="1"/>
          </p:cNvSpPr>
          <p:nvPr/>
        </p:nvSpPr>
        <p:spPr bwMode="auto">
          <a:xfrm>
            <a:off x="381000" y="1295400"/>
            <a:ext cx="8458200" cy="3657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arraylistuserclassestwo.java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8EEF48B8-4827-995C-C209-4B0EB45FBC8B}"/>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6563" name="WordArt 2">
            <a:extLst>
              <a:ext uri="{FF2B5EF4-FFF2-40B4-BE49-F238E27FC236}">
                <a16:creationId xmlns:a16="http://schemas.microsoft.com/office/drawing/2014/main" id="{C1A9D886-E38C-EEDE-E5E5-F3A9D8B3CD37}"/>
              </a:ext>
            </a:extLst>
          </p:cNvPr>
          <p:cNvSpPr>
            <a:spLocks noChangeArrowheads="1" noChangeShapeType="1" noTextEdit="1"/>
          </p:cNvSpPr>
          <p:nvPr/>
        </p:nvSpPr>
        <p:spPr bwMode="auto">
          <a:xfrm>
            <a:off x="1219200" y="1143000"/>
            <a:ext cx="6248400" cy="37338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Java</a:t>
            </a:r>
          </a:p>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Collections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4319F51D-87B7-DDAD-D141-71F1200EE63E}"/>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8611" name="WordArt 2">
            <a:extLst>
              <a:ext uri="{FF2B5EF4-FFF2-40B4-BE49-F238E27FC236}">
                <a16:creationId xmlns:a16="http://schemas.microsoft.com/office/drawing/2014/main" id="{C93D2E66-A7BA-7F03-A274-0EAF7AD5BDDB}"/>
              </a:ext>
            </a:extLst>
          </p:cNvPr>
          <p:cNvSpPr>
            <a:spLocks noChangeArrowheads="1" noChangeShapeType="1" noTextEdit="1"/>
          </p:cNvSpPr>
          <p:nvPr/>
        </p:nvSpPr>
        <p:spPr bwMode="auto">
          <a:xfrm>
            <a:off x="1066800" y="609600"/>
            <a:ext cx="67056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Interfaces</a:t>
            </a:r>
          </a:p>
        </p:txBody>
      </p:sp>
      <p:sp>
        <p:nvSpPr>
          <p:cNvPr id="68612" name="Text Box 3">
            <a:extLst>
              <a:ext uri="{FF2B5EF4-FFF2-40B4-BE49-F238E27FC236}">
                <a16:creationId xmlns:a16="http://schemas.microsoft.com/office/drawing/2014/main" id="{842CE520-3D1B-4F04-0F9D-63D7EAA0F7B4}"/>
              </a:ext>
            </a:extLst>
          </p:cNvPr>
          <p:cNvSpPr txBox="1">
            <a:spLocks noChangeArrowheads="1"/>
          </p:cNvSpPr>
          <p:nvPr/>
        </p:nvSpPr>
        <p:spPr bwMode="auto">
          <a:xfrm>
            <a:off x="1295400" y="1524000"/>
            <a:ext cx="6005513"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The following are important </a:t>
            </a:r>
          </a:p>
          <a:p>
            <a:pPr eaLnBrk="1" hangingPunct="1">
              <a:spcBef>
                <a:spcPct val="0"/>
              </a:spcBef>
              <a:buFontTx/>
              <a:buNone/>
            </a:pPr>
            <a:r>
              <a:rPr lang="en-US" altLang="en-US">
                <a:latin typeface="Tahoma" panose="020B0604030504040204" pitchFamily="34" charset="0"/>
              </a:rPr>
              <a:t>interfaces included in the </a:t>
            </a:r>
          </a:p>
          <a:p>
            <a:pPr eaLnBrk="1" hangingPunct="1">
              <a:spcBef>
                <a:spcPct val="0"/>
              </a:spcBef>
              <a:buFontTx/>
              <a:buNone/>
            </a:pPr>
            <a:r>
              <a:rPr lang="en-US" altLang="en-US">
                <a:latin typeface="Tahoma" panose="020B0604030504040204" pitchFamily="34" charset="0"/>
              </a:rPr>
              <a:t>Java language ::</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solidFill>
                  <a:schemeClr val="accent2"/>
                </a:solidFill>
                <a:latin typeface="Tahoma" panose="020B0604030504040204" pitchFamily="34" charset="0"/>
              </a:rPr>
              <a:t>Collection</a:t>
            </a:r>
          </a:p>
          <a:p>
            <a:pPr eaLnBrk="1" hangingPunct="1">
              <a:spcBef>
                <a:spcPct val="0"/>
              </a:spcBef>
              <a:buFontTx/>
              <a:buNone/>
            </a:pPr>
            <a:r>
              <a:rPr lang="en-US" altLang="en-US">
                <a:solidFill>
                  <a:schemeClr val="accent2"/>
                </a:solidFill>
                <a:latin typeface="Tahoma" panose="020B0604030504040204" pitchFamily="34" charset="0"/>
              </a:rPr>
              <a:t>List</a:t>
            </a:r>
          </a:p>
          <a:p>
            <a:pPr eaLnBrk="1" hangingPunct="1">
              <a:spcBef>
                <a:spcPct val="0"/>
              </a:spcBef>
              <a:buFontTx/>
              <a:buNone/>
            </a:pPr>
            <a:endParaRPr lang="en-US" altLang="en-US">
              <a:solidFill>
                <a:schemeClr val="accent2"/>
              </a:solidFill>
              <a:latin typeface="Tahoma" panose="020B060403050404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F34DA300-D641-BB1E-92A4-F336BAFFAE73}"/>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WordArt 2">
            <a:extLst>
              <a:ext uri="{FF2B5EF4-FFF2-40B4-BE49-F238E27FC236}">
                <a16:creationId xmlns:a16="http://schemas.microsoft.com/office/drawing/2014/main" id="{6618AC72-003A-C4B9-A311-C3DE620A64BC}"/>
              </a:ext>
            </a:extLst>
          </p:cNvPr>
          <p:cNvSpPr>
            <a:spLocks noChangeArrowheads="1" noChangeShapeType="1" noTextEdit="1"/>
          </p:cNvSpPr>
          <p:nvPr/>
        </p:nvSpPr>
        <p:spPr bwMode="auto">
          <a:xfrm>
            <a:off x="1524000" y="228600"/>
            <a:ext cx="28956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0000FF"/>
                </a:solidFill>
                <a:effectLst>
                  <a:outerShdw dist="35921" dir="2700000" algn="ctr" rotWithShape="0">
                    <a:srgbClr val="C0C0C0"/>
                  </a:outerShdw>
                </a:effectLst>
                <a:latin typeface="Impact" panose="020B0806030902050204" pitchFamily="34" charset="0"/>
              </a:rPr>
              <a:t>Java Collections</a:t>
            </a:r>
          </a:p>
        </p:txBody>
      </p:sp>
      <p:sp>
        <p:nvSpPr>
          <p:cNvPr id="70660" name="Text Box 3">
            <a:extLst>
              <a:ext uri="{FF2B5EF4-FFF2-40B4-BE49-F238E27FC236}">
                <a16:creationId xmlns:a16="http://schemas.microsoft.com/office/drawing/2014/main" id="{F2FEDFD3-DD00-BCE0-2688-25839D4D3DEB}"/>
              </a:ext>
            </a:extLst>
          </p:cNvPr>
          <p:cNvSpPr txBox="1">
            <a:spLocks noChangeArrowheads="1"/>
          </p:cNvSpPr>
          <p:nvPr/>
        </p:nvSpPr>
        <p:spPr bwMode="auto">
          <a:xfrm>
            <a:off x="533400" y="9144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400" b="0"/>
          </a:p>
        </p:txBody>
      </p:sp>
      <p:sp>
        <p:nvSpPr>
          <p:cNvPr id="70661" name="Text Box 4">
            <a:extLst>
              <a:ext uri="{FF2B5EF4-FFF2-40B4-BE49-F238E27FC236}">
                <a16:creationId xmlns:a16="http://schemas.microsoft.com/office/drawing/2014/main" id="{23347BDA-4D25-E8AC-D759-394594335197}"/>
              </a:ext>
            </a:extLst>
          </p:cNvPr>
          <p:cNvSpPr txBox="1">
            <a:spLocks noChangeArrowheads="1"/>
          </p:cNvSpPr>
          <p:nvPr/>
        </p:nvSpPr>
        <p:spPr bwMode="auto">
          <a:xfrm>
            <a:off x="457200" y="914400"/>
            <a:ext cx="1704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Collection</a:t>
            </a:r>
          </a:p>
        </p:txBody>
      </p:sp>
      <p:sp>
        <p:nvSpPr>
          <p:cNvPr id="70662" name="Text Box 5">
            <a:extLst>
              <a:ext uri="{FF2B5EF4-FFF2-40B4-BE49-F238E27FC236}">
                <a16:creationId xmlns:a16="http://schemas.microsoft.com/office/drawing/2014/main" id="{FEA578CF-0045-8D2C-049A-7CAA4A2BC225}"/>
              </a:ext>
            </a:extLst>
          </p:cNvPr>
          <p:cNvSpPr txBox="1">
            <a:spLocks noChangeArrowheads="1"/>
          </p:cNvSpPr>
          <p:nvPr/>
        </p:nvSpPr>
        <p:spPr bwMode="auto">
          <a:xfrm>
            <a:off x="5257800" y="152400"/>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Map</a:t>
            </a:r>
          </a:p>
        </p:txBody>
      </p:sp>
      <p:sp>
        <p:nvSpPr>
          <p:cNvPr id="70663" name="Line 6">
            <a:extLst>
              <a:ext uri="{FF2B5EF4-FFF2-40B4-BE49-F238E27FC236}">
                <a16:creationId xmlns:a16="http://schemas.microsoft.com/office/drawing/2014/main" id="{BA674B72-01DE-93EB-5E59-D85D3E9FCCC9}"/>
              </a:ext>
            </a:extLst>
          </p:cNvPr>
          <p:cNvSpPr>
            <a:spLocks noChangeShapeType="1"/>
          </p:cNvSpPr>
          <p:nvPr/>
        </p:nvSpPr>
        <p:spPr bwMode="auto">
          <a:xfrm flipH="1">
            <a:off x="609600" y="1371600"/>
            <a:ext cx="0" cy="14478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64" name="Line 7">
            <a:extLst>
              <a:ext uri="{FF2B5EF4-FFF2-40B4-BE49-F238E27FC236}">
                <a16:creationId xmlns:a16="http://schemas.microsoft.com/office/drawing/2014/main" id="{E3E6F783-8EDC-7F80-9D93-C92E3A8817DB}"/>
              </a:ext>
            </a:extLst>
          </p:cNvPr>
          <p:cNvSpPr>
            <a:spLocks noChangeShapeType="1"/>
          </p:cNvSpPr>
          <p:nvPr/>
        </p:nvSpPr>
        <p:spPr bwMode="auto">
          <a:xfrm flipH="1">
            <a:off x="1905000" y="1371600"/>
            <a:ext cx="0" cy="13716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65" name="Line 8">
            <a:extLst>
              <a:ext uri="{FF2B5EF4-FFF2-40B4-BE49-F238E27FC236}">
                <a16:creationId xmlns:a16="http://schemas.microsoft.com/office/drawing/2014/main" id="{7CF5B3EE-24AD-A166-B002-205ACF1058CA}"/>
              </a:ext>
            </a:extLst>
          </p:cNvPr>
          <p:cNvSpPr>
            <a:spLocks noChangeShapeType="1"/>
          </p:cNvSpPr>
          <p:nvPr/>
        </p:nvSpPr>
        <p:spPr bwMode="auto">
          <a:xfrm>
            <a:off x="2286000" y="3124200"/>
            <a:ext cx="457200" cy="609600"/>
          </a:xfrm>
          <a:prstGeom prst="line">
            <a:avLst/>
          </a:prstGeom>
          <a:noFill/>
          <a:ln w="50800">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66" name="Text Box 9">
            <a:extLst>
              <a:ext uri="{FF2B5EF4-FFF2-40B4-BE49-F238E27FC236}">
                <a16:creationId xmlns:a16="http://schemas.microsoft.com/office/drawing/2014/main" id="{D29481D6-EF59-5146-5DDB-A7C940C68BE7}"/>
              </a:ext>
            </a:extLst>
          </p:cNvPr>
          <p:cNvSpPr txBox="1">
            <a:spLocks noChangeArrowheads="1"/>
          </p:cNvSpPr>
          <p:nvPr/>
        </p:nvSpPr>
        <p:spPr bwMode="auto">
          <a:xfrm>
            <a:off x="381000" y="2743200"/>
            <a:ext cx="1947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List        Set</a:t>
            </a:r>
          </a:p>
        </p:txBody>
      </p:sp>
      <p:sp>
        <p:nvSpPr>
          <p:cNvPr id="70667" name="Text Box 10">
            <a:extLst>
              <a:ext uri="{FF2B5EF4-FFF2-40B4-BE49-F238E27FC236}">
                <a16:creationId xmlns:a16="http://schemas.microsoft.com/office/drawing/2014/main" id="{78DBAE3D-1D7F-B95A-95F2-F0DF97C2EBFD}"/>
              </a:ext>
            </a:extLst>
          </p:cNvPr>
          <p:cNvSpPr txBox="1">
            <a:spLocks noChangeArrowheads="1"/>
          </p:cNvSpPr>
          <p:nvPr/>
        </p:nvSpPr>
        <p:spPr bwMode="auto">
          <a:xfrm>
            <a:off x="685800" y="1600200"/>
            <a:ext cx="12398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Sub </a:t>
            </a:r>
          </a:p>
          <a:p>
            <a:pPr>
              <a:spcBef>
                <a:spcPct val="0"/>
              </a:spcBef>
              <a:buFontTx/>
              <a:buNone/>
            </a:pPr>
            <a:r>
              <a:rPr lang="en-US" altLang="en-US" sz="1600">
                <a:latin typeface="Tahoma" panose="020B0604030504040204" pitchFamily="34" charset="0"/>
              </a:rPr>
              <a:t>Interfaces</a:t>
            </a:r>
          </a:p>
          <a:p>
            <a:pPr>
              <a:spcBef>
                <a:spcPct val="0"/>
              </a:spcBef>
              <a:buFontTx/>
              <a:buNone/>
            </a:pPr>
            <a:r>
              <a:rPr lang="en-US" altLang="en-US" sz="1600">
                <a:latin typeface="Tahoma" panose="020B0604030504040204" pitchFamily="34" charset="0"/>
              </a:rPr>
              <a:t>-extends</a:t>
            </a:r>
          </a:p>
        </p:txBody>
      </p:sp>
      <p:sp>
        <p:nvSpPr>
          <p:cNvPr id="70668" name="Text Box 11">
            <a:extLst>
              <a:ext uri="{FF2B5EF4-FFF2-40B4-BE49-F238E27FC236}">
                <a16:creationId xmlns:a16="http://schemas.microsoft.com/office/drawing/2014/main" id="{8A4FB655-01B1-DE71-D00D-1B1DD1B4193D}"/>
              </a:ext>
            </a:extLst>
          </p:cNvPr>
          <p:cNvSpPr txBox="1">
            <a:spLocks noChangeArrowheads="1"/>
          </p:cNvSpPr>
          <p:nvPr/>
        </p:nvSpPr>
        <p:spPr bwMode="auto">
          <a:xfrm>
            <a:off x="533400" y="34290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70669" name="Line 12">
            <a:extLst>
              <a:ext uri="{FF2B5EF4-FFF2-40B4-BE49-F238E27FC236}">
                <a16:creationId xmlns:a16="http://schemas.microsoft.com/office/drawing/2014/main" id="{90DCF156-9883-95A0-9AE2-935C20D5350A}"/>
              </a:ext>
            </a:extLst>
          </p:cNvPr>
          <p:cNvSpPr>
            <a:spLocks noChangeShapeType="1"/>
          </p:cNvSpPr>
          <p:nvPr/>
        </p:nvSpPr>
        <p:spPr bwMode="auto">
          <a:xfrm>
            <a:off x="2209800" y="3200400"/>
            <a:ext cx="0" cy="23622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70" name="Line 13">
            <a:extLst>
              <a:ext uri="{FF2B5EF4-FFF2-40B4-BE49-F238E27FC236}">
                <a16:creationId xmlns:a16="http://schemas.microsoft.com/office/drawing/2014/main" id="{454C17DE-7103-F905-9408-A33C68E8178B}"/>
              </a:ext>
            </a:extLst>
          </p:cNvPr>
          <p:cNvSpPr>
            <a:spLocks noChangeShapeType="1"/>
          </p:cNvSpPr>
          <p:nvPr/>
        </p:nvSpPr>
        <p:spPr bwMode="auto">
          <a:xfrm flipH="1">
            <a:off x="2971800" y="4191000"/>
            <a:ext cx="0" cy="8382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71" name="Line 14">
            <a:extLst>
              <a:ext uri="{FF2B5EF4-FFF2-40B4-BE49-F238E27FC236}">
                <a16:creationId xmlns:a16="http://schemas.microsoft.com/office/drawing/2014/main" id="{D774F4FD-D815-8567-84A4-C158CDE1C365}"/>
              </a:ext>
            </a:extLst>
          </p:cNvPr>
          <p:cNvSpPr>
            <a:spLocks noChangeShapeType="1"/>
          </p:cNvSpPr>
          <p:nvPr/>
        </p:nvSpPr>
        <p:spPr bwMode="auto">
          <a:xfrm flipH="1">
            <a:off x="533400" y="3200400"/>
            <a:ext cx="0" cy="13716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72" name="Text Box 15">
            <a:extLst>
              <a:ext uri="{FF2B5EF4-FFF2-40B4-BE49-F238E27FC236}">
                <a16:creationId xmlns:a16="http://schemas.microsoft.com/office/drawing/2014/main" id="{D94ECF6D-C9B5-4071-3C6F-D4BF1B9DA118}"/>
              </a:ext>
            </a:extLst>
          </p:cNvPr>
          <p:cNvSpPr txBox="1">
            <a:spLocks noChangeArrowheads="1"/>
          </p:cNvSpPr>
          <p:nvPr/>
        </p:nvSpPr>
        <p:spPr bwMode="auto">
          <a:xfrm>
            <a:off x="304800" y="4495800"/>
            <a:ext cx="175418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ArrayList</a:t>
            </a:r>
          </a:p>
          <a:p>
            <a:pPr>
              <a:spcBef>
                <a:spcPct val="0"/>
              </a:spcBef>
              <a:buFontTx/>
              <a:buNone/>
            </a:pPr>
            <a:r>
              <a:rPr lang="en-US" altLang="en-US" sz="2400">
                <a:latin typeface="Tahoma" panose="020B0604030504040204" pitchFamily="34" charset="0"/>
              </a:rPr>
              <a:t>LinkedList</a:t>
            </a:r>
          </a:p>
          <a:p>
            <a:pPr>
              <a:spcBef>
                <a:spcPct val="0"/>
              </a:spcBef>
              <a:buFontTx/>
              <a:buNone/>
            </a:pPr>
            <a:r>
              <a:rPr lang="en-US" altLang="en-US" sz="2400">
                <a:latin typeface="Tahoma" panose="020B0604030504040204" pitchFamily="34" charset="0"/>
              </a:rPr>
              <a:t>Vector</a:t>
            </a:r>
          </a:p>
          <a:p>
            <a:pPr>
              <a:spcBef>
                <a:spcPct val="0"/>
              </a:spcBef>
              <a:buFontTx/>
              <a:buNone/>
            </a:pPr>
            <a:r>
              <a:rPr lang="en-US" altLang="en-US" sz="2400">
                <a:latin typeface="Tahoma" panose="020B0604030504040204" pitchFamily="34" charset="0"/>
              </a:rPr>
              <a:t>Stack</a:t>
            </a:r>
          </a:p>
        </p:txBody>
      </p:sp>
      <p:sp>
        <p:nvSpPr>
          <p:cNvPr id="70673" name="Text Box 16">
            <a:extLst>
              <a:ext uri="{FF2B5EF4-FFF2-40B4-BE49-F238E27FC236}">
                <a16:creationId xmlns:a16="http://schemas.microsoft.com/office/drawing/2014/main" id="{EDA45FDF-503C-A761-1819-939AFF4ADD41}"/>
              </a:ext>
            </a:extLst>
          </p:cNvPr>
          <p:cNvSpPr txBox="1">
            <a:spLocks noChangeArrowheads="1"/>
          </p:cNvSpPr>
          <p:nvPr/>
        </p:nvSpPr>
        <p:spPr bwMode="auto">
          <a:xfrm>
            <a:off x="1447800" y="5486400"/>
            <a:ext cx="24733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AbstractSet</a:t>
            </a:r>
          </a:p>
          <a:p>
            <a:pPr>
              <a:spcBef>
                <a:spcPct val="0"/>
              </a:spcBef>
              <a:buFontTx/>
              <a:buNone/>
            </a:pPr>
            <a:r>
              <a:rPr lang="en-US" altLang="en-US" sz="2400">
                <a:latin typeface="Tahoma" panose="020B0604030504040204" pitchFamily="34" charset="0"/>
              </a:rPr>
              <a:t>HashSet</a:t>
            </a:r>
          </a:p>
          <a:p>
            <a:pPr>
              <a:spcBef>
                <a:spcPct val="0"/>
              </a:spcBef>
              <a:buFontTx/>
              <a:buNone/>
            </a:pPr>
            <a:r>
              <a:rPr lang="en-US" altLang="en-US" sz="2400">
                <a:latin typeface="Tahoma" panose="020B0604030504040204" pitchFamily="34" charset="0"/>
              </a:rPr>
              <a:t>LinkedHashSet</a:t>
            </a:r>
          </a:p>
        </p:txBody>
      </p:sp>
      <p:sp>
        <p:nvSpPr>
          <p:cNvPr id="70674" name="Text Box 17">
            <a:extLst>
              <a:ext uri="{FF2B5EF4-FFF2-40B4-BE49-F238E27FC236}">
                <a16:creationId xmlns:a16="http://schemas.microsoft.com/office/drawing/2014/main" id="{74CD9036-6906-808A-4F01-DECE69F86C7A}"/>
              </a:ext>
            </a:extLst>
          </p:cNvPr>
          <p:cNvSpPr txBox="1">
            <a:spLocks noChangeArrowheads="1"/>
          </p:cNvSpPr>
          <p:nvPr/>
        </p:nvSpPr>
        <p:spPr bwMode="auto">
          <a:xfrm>
            <a:off x="2819400" y="4953000"/>
            <a:ext cx="1366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TreeSet</a:t>
            </a:r>
          </a:p>
        </p:txBody>
      </p:sp>
      <p:sp>
        <p:nvSpPr>
          <p:cNvPr id="70675" name="Text Box 18">
            <a:extLst>
              <a:ext uri="{FF2B5EF4-FFF2-40B4-BE49-F238E27FC236}">
                <a16:creationId xmlns:a16="http://schemas.microsoft.com/office/drawing/2014/main" id="{54FA11AB-D516-C501-09B0-37DAED17E5DC}"/>
              </a:ext>
            </a:extLst>
          </p:cNvPr>
          <p:cNvSpPr txBox="1">
            <a:spLocks noChangeArrowheads="1"/>
          </p:cNvSpPr>
          <p:nvPr/>
        </p:nvSpPr>
        <p:spPr bwMode="auto">
          <a:xfrm>
            <a:off x="2667000" y="3733800"/>
            <a:ext cx="170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SortedSet</a:t>
            </a:r>
          </a:p>
        </p:txBody>
      </p:sp>
      <p:sp>
        <p:nvSpPr>
          <p:cNvPr id="70676" name="Text Box 19">
            <a:extLst>
              <a:ext uri="{FF2B5EF4-FFF2-40B4-BE49-F238E27FC236}">
                <a16:creationId xmlns:a16="http://schemas.microsoft.com/office/drawing/2014/main" id="{FA83C90A-387A-4720-E573-F6DFA0B457BF}"/>
              </a:ext>
            </a:extLst>
          </p:cNvPr>
          <p:cNvSpPr txBox="1">
            <a:spLocks noChangeArrowheads="1"/>
          </p:cNvSpPr>
          <p:nvPr/>
        </p:nvSpPr>
        <p:spPr bwMode="auto">
          <a:xfrm>
            <a:off x="2743200" y="2971800"/>
            <a:ext cx="12398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Sub </a:t>
            </a:r>
          </a:p>
          <a:p>
            <a:pPr>
              <a:spcBef>
                <a:spcPct val="0"/>
              </a:spcBef>
              <a:buFontTx/>
              <a:buNone/>
            </a:pPr>
            <a:r>
              <a:rPr lang="en-US" altLang="en-US" sz="1600">
                <a:latin typeface="Tahoma" panose="020B0604030504040204" pitchFamily="34" charset="0"/>
              </a:rPr>
              <a:t>Interfaces</a:t>
            </a:r>
          </a:p>
          <a:p>
            <a:pPr>
              <a:spcBef>
                <a:spcPct val="0"/>
              </a:spcBef>
              <a:buFontTx/>
              <a:buNone/>
            </a:pPr>
            <a:r>
              <a:rPr lang="en-US" altLang="en-US" sz="1600">
                <a:latin typeface="Tahoma" panose="020B0604030504040204" pitchFamily="34" charset="0"/>
              </a:rPr>
              <a:t>-extends</a:t>
            </a:r>
          </a:p>
        </p:txBody>
      </p:sp>
      <p:sp>
        <p:nvSpPr>
          <p:cNvPr id="70677" name="Text Box 20">
            <a:extLst>
              <a:ext uri="{FF2B5EF4-FFF2-40B4-BE49-F238E27FC236}">
                <a16:creationId xmlns:a16="http://schemas.microsoft.com/office/drawing/2014/main" id="{E35F739D-D6CD-686D-D8DE-BB54B029DD03}"/>
              </a:ext>
            </a:extLst>
          </p:cNvPr>
          <p:cNvSpPr txBox="1">
            <a:spLocks noChangeArrowheads="1"/>
          </p:cNvSpPr>
          <p:nvPr/>
        </p:nvSpPr>
        <p:spPr bwMode="auto">
          <a:xfrm>
            <a:off x="3048000" y="43434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70678" name="Line 21">
            <a:extLst>
              <a:ext uri="{FF2B5EF4-FFF2-40B4-BE49-F238E27FC236}">
                <a16:creationId xmlns:a16="http://schemas.microsoft.com/office/drawing/2014/main" id="{30474CB9-3333-8BBB-0440-F4284C333D8E}"/>
              </a:ext>
            </a:extLst>
          </p:cNvPr>
          <p:cNvSpPr>
            <a:spLocks noChangeShapeType="1"/>
          </p:cNvSpPr>
          <p:nvPr/>
        </p:nvSpPr>
        <p:spPr bwMode="auto">
          <a:xfrm>
            <a:off x="5943600" y="609600"/>
            <a:ext cx="381000" cy="4572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79" name="Line 22">
            <a:extLst>
              <a:ext uri="{FF2B5EF4-FFF2-40B4-BE49-F238E27FC236}">
                <a16:creationId xmlns:a16="http://schemas.microsoft.com/office/drawing/2014/main" id="{007281FC-45E5-9DB7-B00C-6FDA3ACC4D4C}"/>
              </a:ext>
            </a:extLst>
          </p:cNvPr>
          <p:cNvSpPr>
            <a:spLocks noChangeShapeType="1"/>
          </p:cNvSpPr>
          <p:nvPr/>
        </p:nvSpPr>
        <p:spPr bwMode="auto">
          <a:xfrm flipH="1">
            <a:off x="5715000" y="609600"/>
            <a:ext cx="0" cy="15240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0" name="Text Box 23">
            <a:extLst>
              <a:ext uri="{FF2B5EF4-FFF2-40B4-BE49-F238E27FC236}">
                <a16:creationId xmlns:a16="http://schemas.microsoft.com/office/drawing/2014/main" id="{E58CBFEF-BFA1-B5D4-50E3-88560346456C}"/>
              </a:ext>
            </a:extLst>
          </p:cNvPr>
          <p:cNvSpPr txBox="1">
            <a:spLocks noChangeArrowheads="1"/>
          </p:cNvSpPr>
          <p:nvPr/>
        </p:nvSpPr>
        <p:spPr bwMode="auto">
          <a:xfrm>
            <a:off x="6477000" y="3352800"/>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TreeMap</a:t>
            </a:r>
          </a:p>
        </p:txBody>
      </p:sp>
      <p:sp>
        <p:nvSpPr>
          <p:cNvPr id="70681" name="Text Box 24">
            <a:extLst>
              <a:ext uri="{FF2B5EF4-FFF2-40B4-BE49-F238E27FC236}">
                <a16:creationId xmlns:a16="http://schemas.microsoft.com/office/drawing/2014/main" id="{E101CBB5-59D3-3C93-845C-8BF32985EF09}"/>
              </a:ext>
            </a:extLst>
          </p:cNvPr>
          <p:cNvSpPr txBox="1">
            <a:spLocks noChangeArrowheads="1"/>
          </p:cNvSpPr>
          <p:nvPr/>
        </p:nvSpPr>
        <p:spPr bwMode="auto">
          <a:xfrm>
            <a:off x="6248400" y="1066800"/>
            <a:ext cx="184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SortedMap</a:t>
            </a:r>
          </a:p>
        </p:txBody>
      </p:sp>
      <p:sp>
        <p:nvSpPr>
          <p:cNvPr id="70682" name="Text Box 25">
            <a:extLst>
              <a:ext uri="{FF2B5EF4-FFF2-40B4-BE49-F238E27FC236}">
                <a16:creationId xmlns:a16="http://schemas.microsoft.com/office/drawing/2014/main" id="{A819E92E-3B52-F1C3-53B1-1A36F3039851}"/>
              </a:ext>
            </a:extLst>
          </p:cNvPr>
          <p:cNvSpPr txBox="1">
            <a:spLocks noChangeArrowheads="1"/>
          </p:cNvSpPr>
          <p:nvPr/>
        </p:nvSpPr>
        <p:spPr bwMode="auto">
          <a:xfrm>
            <a:off x="6477000" y="228600"/>
            <a:ext cx="12398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Sub </a:t>
            </a:r>
          </a:p>
          <a:p>
            <a:pPr>
              <a:spcBef>
                <a:spcPct val="0"/>
              </a:spcBef>
              <a:buFontTx/>
              <a:buNone/>
            </a:pPr>
            <a:r>
              <a:rPr lang="en-US" altLang="en-US" sz="1600">
                <a:latin typeface="Tahoma" panose="020B0604030504040204" pitchFamily="34" charset="0"/>
              </a:rPr>
              <a:t>Interfaces</a:t>
            </a:r>
          </a:p>
          <a:p>
            <a:pPr>
              <a:spcBef>
                <a:spcPct val="0"/>
              </a:spcBef>
              <a:buFontTx/>
              <a:buNone/>
            </a:pPr>
            <a:r>
              <a:rPr lang="en-US" altLang="en-US" sz="1600">
                <a:latin typeface="Tahoma" panose="020B0604030504040204" pitchFamily="34" charset="0"/>
              </a:rPr>
              <a:t>-extends</a:t>
            </a:r>
          </a:p>
        </p:txBody>
      </p:sp>
      <p:sp>
        <p:nvSpPr>
          <p:cNvPr id="70683" name="Text Box 26">
            <a:extLst>
              <a:ext uri="{FF2B5EF4-FFF2-40B4-BE49-F238E27FC236}">
                <a16:creationId xmlns:a16="http://schemas.microsoft.com/office/drawing/2014/main" id="{76EC6486-64DF-14CE-F4ED-2DE303015FDE}"/>
              </a:ext>
            </a:extLst>
          </p:cNvPr>
          <p:cNvSpPr txBox="1">
            <a:spLocks noChangeArrowheads="1"/>
          </p:cNvSpPr>
          <p:nvPr/>
        </p:nvSpPr>
        <p:spPr bwMode="auto">
          <a:xfrm>
            <a:off x="7239000" y="21336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70684" name="Text Box 27">
            <a:extLst>
              <a:ext uri="{FF2B5EF4-FFF2-40B4-BE49-F238E27FC236}">
                <a16:creationId xmlns:a16="http://schemas.microsoft.com/office/drawing/2014/main" id="{348B103F-544A-6C5F-4E35-89585189C8D4}"/>
              </a:ext>
            </a:extLst>
          </p:cNvPr>
          <p:cNvSpPr txBox="1">
            <a:spLocks noChangeArrowheads="1"/>
          </p:cNvSpPr>
          <p:nvPr/>
        </p:nvSpPr>
        <p:spPr bwMode="auto">
          <a:xfrm>
            <a:off x="4114800" y="1143000"/>
            <a:ext cx="16970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70685" name="Line 28">
            <a:extLst>
              <a:ext uri="{FF2B5EF4-FFF2-40B4-BE49-F238E27FC236}">
                <a16:creationId xmlns:a16="http://schemas.microsoft.com/office/drawing/2014/main" id="{C6BA35AD-6CAD-AF0D-E33A-1F421D8E0BD5}"/>
              </a:ext>
            </a:extLst>
          </p:cNvPr>
          <p:cNvSpPr>
            <a:spLocks noChangeShapeType="1"/>
          </p:cNvSpPr>
          <p:nvPr/>
        </p:nvSpPr>
        <p:spPr bwMode="auto">
          <a:xfrm flipH="1">
            <a:off x="7162800" y="1524000"/>
            <a:ext cx="0" cy="1828800"/>
          </a:xfrm>
          <a:prstGeom prst="line">
            <a:avLst/>
          </a:prstGeom>
          <a:noFill/>
          <a:ln w="508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86" name="Text Box 29">
            <a:extLst>
              <a:ext uri="{FF2B5EF4-FFF2-40B4-BE49-F238E27FC236}">
                <a16:creationId xmlns:a16="http://schemas.microsoft.com/office/drawing/2014/main" id="{5C072133-81FC-8227-413B-154DE0207087}"/>
              </a:ext>
            </a:extLst>
          </p:cNvPr>
          <p:cNvSpPr txBox="1">
            <a:spLocks noChangeArrowheads="1"/>
          </p:cNvSpPr>
          <p:nvPr/>
        </p:nvSpPr>
        <p:spPr bwMode="auto">
          <a:xfrm>
            <a:off x="4724400" y="2057400"/>
            <a:ext cx="17875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HashMap</a:t>
            </a:r>
          </a:p>
          <a:p>
            <a:pPr>
              <a:spcBef>
                <a:spcPct val="0"/>
              </a:spcBef>
              <a:buFontTx/>
              <a:buNone/>
            </a:pPr>
            <a:r>
              <a:rPr lang="en-US" altLang="en-US" sz="2400">
                <a:latin typeface="Tahoma" panose="020B0604030504040204" pitchFamily="34" charset="0"/>
              </a:rPr>
              <a:t>HashTable</a:t>
            </a:r>
          </a:p>
        </p:txBody>
      </p:sp>
      <p:sp>
        <p:nvSpPr>
          <p:cNvPr id="70687" name="Line 30">
            <a:extLst>
              <a:ext uri="{FF2B5EF4-FFF2-40B4-BE49-F238E27FC236}">
                <a16:creationId xmlns:a16="http://schemas.microsoft.com/office/drawing/2014/main" id="{FC617EE1-F65E-F101-1065-BC8CBC8FA5FA}"/>
              </a:ext>
            </a:extLst>
          </p:cNvPr>
          <p:cNvSpPr>
            <a:spLocks noChangeShapeType="1"/>
          </p:cNvSpPr>
          <p:nvPr/>
        </p:nvSpPr>
        <p:spPr bwMode="auto">
          <a:xfrm>
            <a:off x="3200400" y="1295400"/>
            <a:ext cx="3429000" cy="4191000"/>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8" name="Text Box 31">
            <a:extLst>
              <a:ext uri="{FF2B5EF4-FFF2-40B4-BE49-F238E27FC236}">
                <a16:creationId xmlns:a16="http://schemas.microsoft.com/office/drawing/2014/main" id="{89DFEB4C-2AF9-8DB0-DBE9-B561E28573B3}"/>
              </a:ext>
            </a:extLst>
          </p:cNvPr>
          <p:cNvSpPr txBox="1">
            <a:spLocks noChangeArrowheads="1"/>
          </p:cNvSpPr>
          <p:nvPr/>
        </p:nvSpPr>
        <p:spPr bwMode="auto">
          <a:xfrm>
            <a:off x="1066800" y="7315200"/>
            <a:ext cx="419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1400">
              <a:latin typeface="Courier New" panose="02070309020205020404" pitchFamily="49"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ECEB761B-DC6D-7C74-82FF-AA9CB6D73432}"/>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2707" name="Text Box 2">
            <a:extLst>
              <a:ext uri="{FF2B5EF4-FFF2-40B4-BE49-F238E27FC236}">
                <a16:creationId xmlns:a16="http://schemas.microsoft.com/office/drawing/2014/main" id="{CB9185C5-02B3-5E7D-FB7D-187A1939FA76}"/>
              </a:ext>
            </a:extLst>
          </p:cNvPr>
          <p:cNvSpPr txBox="1">
            <a:spLocks noChangeArrowheads="1"/>
          </p:cNvSpPr>
          <p:nvPr/>
        </p:nvSpPr>
        <p:spPr bwMode="auto">
          <a:xfrm>
            <a:off x="1066800" y="1752600"/>
            <a:ext cx="687546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Collection interface is the parent of List</a:t>
            </a:r>
          </a:p>
          <a:p>
            <a:pPr eaLnBrk="1" hangingPunct="1">
              <a:spcBef>
                <a:spcPct val="0"/>
              </a:spcBef>
              <a:buFontTx/>
              <a:buNone/>
            </a:pPr>
            <a:r>
              <a:rPr lang="en-US" altLang="en-US" sz="2400">
                <a:latin typeface="Tahoma" panose="020B0604030504040204" pitchFamily="34" charset="0"/>
              </a:rPr>
              <a:t>and Set.  The Collection interface has many</a:t>
            </a:r>
          </a:p>
          <a:p>
            <a:pPr eaLnBrk="1" hangingPunct="1">
              <a:spcBef>
                <a:spcPct val="0"/>
              </a:spcBef>
              <a:buFontTx/>
              <a:buNone/>
            </a:pPr>
            <a:r>
              <a:rPr lang="en-US" altLang="en-US" sz="2400">
                <a:latin typeface="Tahoma" panose="020B0604030504040204" pitchFamily="34" charset="0"/>
              </a:rPr>
              <a:t>methods listed including add(), clear(), </a:t>
            </a:r>
          </a:p>
          <a:p>
            <a:pPr eaLnBrk="1" hangingPunct="1">
              <a:spcBef>
                <a:spcPct val="0"/>
              </a:spcBef>
              <a:buFontTx/>
              <a:buNone/>
            </a:pPr>
            <a:r>
              <a:rPr lang="en-US" altLang="en-US" sz="2400">
                <a:latin typeface="Tahoma" panose="020B0604030504040204" pitchFamily="34" charset="0"/>
              </a:rPr>
              <a:t>remove(), and size().</a:t>
            </a:r>
            <a:endParaRPr lang="en-US" altLang="en-US" sz="2400">
              <a:latin typeface="Courier New" panose="02070309020205020404" pitchFamily="49" charset="0"/>
            </a:endParaRPr>
          </a:p>
        </p:txBody>
      </p:sp>
      <p:sp>
        <p:nvSpPr>
          <p:cNvPr id="72708" name="WordArt 3">
            <a:extLst>
              <a:ext uri="{FF2B5EF4-FFF2-40B4-BE49-F238E27FC236}">
                <a16:creationId xmlns:a16="http://schemas.microsoft.com/office/drawing/2014/main" id="{3E343F5E-F657-6674-3F67-E58886666723}"/>
              </a:ext>
            </a:extLst>
          </p:cNvPr>
          <p:cNvSpPr>
            <a:spLocks noChangeArrowheads="1" noChangeShapeType="1" noTextEdit="1"/>
          </p:cNvSpPr>
          <p:nvPr/>
        </p:nvSpPr>
        <p:spPr bwMode="auto">
          <a:xfrm>
            <a:off x="685800" y="304800"/>
            <a:ext cx="77724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The Collection Interface</a:t>
            </a:r>
          </a:p>
        </p:txBody>
      </p:sp>
      <p:sp>
        <p:nvSpPr>
          <p:cNvPr id="72709" name="Rectangle 4">
            <a:extLst>
              <a:ext uri="{FF2B5EF4-FFF2-40B4-BE49-F238E27FC236}">
                <a16:creationId xmlns:a16="http://schemas.microsoft.com/office/drawing/2014/main" id="{D89A6700-3737-659C-7813-4C7A3D93694D}"/>
              </a:ext>
            </a:extLst>
          </p:cNvPr>
          <p:cNvSpPr>
            <a:spLocks noChangeArrowheads="1"/>
          </p:cNvSpPr>
          <p:nvPr/>
        </p:nvSpPr>
        <p:spPr bwMode="auto">
          <a:xfrm>
            <a:off x="3200400" y="3962400"/>
            <a:ext cx="2133600" cy="533400"/>
          </a:xfrm>
          <a:prstGeom prst="rect">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Collection</a:t>
            </a:r>
          </a:p>
        </p:txBody>
      </p:sp>
      <p:sp>
        <p:nvSpPr>
          <p:cNvPr id="72710" name="Line 5">
            <a:extLst>
              <a:ext uri="{FF2B5EF4-FFF2-40B4-BE49-F238E27FC236}">
                <a16:creationId xmlns:a16="http://schemas.microsoft.com/office/drawing/2014/main" id="{8866CA57-862E-AD9A-9512-CB056B3E8041}"/>
              </a:ext>
            </a:extLst>
          </p:cNvPr>
          <p:cNvSpPr>
            <a:spLocks noChangeShapeType="1"/>
          </p:cNvSpPr>
          <p:nvPr/>
        </p:nvSpPr>
        <p:spPr bwMode="auto">
          <a:xfrm flipH="1">
            <a:off x="3048000" y="4419600"/>
            <a:ext cx="533400" cy="457200"/>
          </a:xfrm>
          <a:prstGeom prst="line">
            <a:avLst/>
          </a:prstGeom>
          <a:noFill/>
          <a:ln w="635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11" name="Line 6">
            <a:extLst>
              <a:ext uri="{FF2B5EF4-FFF2-40B4-BE49-F238E27FC236}">
                <a16:creationId xmlns:a16="http://schemas.microsoft.com/office/drawing/2014/main" id="{7995DB13-198F-C56F-0F9C-44BD9B5B9C2F}"/>
              </a:ext>
            </a:extLst>
          </p:cNvPr>
          <p:cNvSpPr>
            <a:spLocks noChangeShapeType="1"/>
          </p:cNvSpPr>
          <p:nvPr/>
        </p:nvSpPr>
        <p:spPr bwMode="auto">
          <a:xfrm>
            <a:off x="4876800" y="4419600"/>
            <a:ext cx="381000" cy="457200"/>
          </a:xfrm>
          <a:prstGeom prst="line">
            <a:avLst/>
          </a:prstGeom>
          <a:noFill/>
          <a:ln w="635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12" name="Rectangle 7">
            <a:extLst>
              <a:ext uri="{FF2B5EF4-FFF2-40B4-BE49-F238E27FC236}">
                <a16:creationId xmlns:a16="http://schemas.microsoft.com/office/drawing/2014/main" id="{FDEFF4BA-84CA-AC32-435A-12A046636C7B}"/>
              </a:ext>
            </a:extLst>
          </p:cNvPr>
          <p:cNvSpPr>
            <a:spLocks noChangeArrowheads="1"/>
          </p:cNvSpPr>
          <p:nvPr/>
        </p:nvSpPr>
        <p:spPr bwMode="auto">
          <a:xfrm>
            <a:off x="1828800" y="4953000"/>
            <a:ext cx="1828800" cy="609600"/>
          </a:xfrm>
          <a:prstGeom prst="rect">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List</a:t>
            </a:r>
          </a:p>
        </p:txBody>
      </p:sp>
      <p:sp>
        <p:nvSpPr>
          <p:cNvPr id="72713" name="Rectangle 8">
            <a:extLst>
              <a:ext uri="{FF2B5EF4-FFF2-40B4-BE49-F238E27FC236}">
                <a16:creationId xmlns:a16="http://schemas.microsoft.com/office/drawing/2014/main" id="{56675E60-CA88-AFD1-C8B4-4D1195AF2C6B}"/>
              </a:ext>
            </a:extLst>
          </p:cNvPr>
          <p:cNvSpPr>
            <a:spLocks noChangeArrowheads="1"/>
          </p:cNvSpPr>
          <p:nvPr/>
        </p:nvSpPr>
        <p:spPr bwMode="auto">
          <a:xfrm>
            <a:off x="4800600" y="4953000"/>
            <a:ext cx="2362200" cy="609600"/>
          </a:xfrm>
          <a:prstGeom prst="rect">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Set</a:t>
            </a:r>
          </a:p>
        </p:txBody>
      </p:sp>
      <p:sp>
        <p:nvSpPr>
          <p:cNvPr id="72714" name="Text Box 9">
            <a:extLst>
              <a:ext uri="{FF2B5EF4-FFF2-40B4-BE49-F238E27FC236}">
                <a16:creationId xmlns:a16="http://schemas.microsoft.com/office/drawing/2014/main" id="{978F9EF5-FAAC-5618-735F-C6671B775B00}"/>
              </a:ext>
            </a:extLst>
          </p:cNvPr>
          <p:cNvSpPr txBox="1">
            <a:spLocks noChangeArrowheads="1"/>
          </p:cNvSpPr>
          <p:nvPr/>
        </p:nvSpPr>
        <p:spPr bwMode="auto">
          <a:xfrm>
            <a:off x="3200400" y="57912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Tahoma" panose="020B0604030504040204" pitchFamily="34" charset="0"/>
              </a:rPr>
              <a:t>others not shown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D8C4DB05-604C-9B24-F928-EA3B1F1A277C}"/>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4755" name="Text Box 2">
            <a:extLst>
              <a:ext uri="{FF2B5EF4-FFF2-40B4-BE49-F238E27FC236}">
                <a16:creationId xmlns:a16="http://schemas.microsoft.com/office/drawing/2014/main" id="{71D85B5F-87E4-E5F9-1398-D2EACC844066}"/>
              </a:ext>
            </a:extLst>
          </p:cNvPr>
          <p:cNvSpPr txBox="1">
            <a:spLocks noChangeArrowheads="1"/>
          </p:cNvSpPr>
          <p:nvPr/>
        </p:nvSpPr>
        <p:spPr bwMode="auto">
          <a:xfrm>
            <a:off x="1143000" y="1600200"/>
            <a:ext cx="63531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List interface extends the Collection</a:t>
            </a:r>
          </a:p>
          <a:p>
            <a:pPr eaLnBrk="1" hangingPunct="1">
              <a:spcBef>
                <a:spcPct val="0"/>
              </a:spcBef>
              <a:buFontTx/>
              <a:buNone/>
            </a:pPr>
            <a:r>
              <a:rPr lang="en-US" altLang="en-US" sz="2400">
                <a:latin typeface="Tahoma" panose="020B0604030504040204" pitchFamily="34" charset="0"/>
              </a:rPr>
              <a:t>interface.  The List interface adds in the </a:t>
            </a:r>
          </a:p>
          <a:p>
            <a:pPr eaLnBrk="1" hangingPunct="1">
              <a:spcBef>
                <a:spcPct val="0"/>
              </a:spcBef>
              <a:buFontTx/>
              <a:buNone/>
            </a:pPr>
            <a:r>
              <a:rPr lang="en-US" altLang="en-US" sz="2400">
                <a:latin typeface="Tahoma" panose="020B0604030504040204" pitchFamily="34" charset="0"/>
              </a:rPr>
              <a:t>get() method as well as several others.</a:t>
            </a:r>
          </a:p>
        </p:txBody>
      </p:sp>
      <p:sp>
        <p:nvSpPr>
          <p:cNvPr id="74756" name="WordArt 3">
            <a:extLst>
              <a:ext uri="{FF2B5EF4-FFF2-40B4-BE49-F238E27FC236}">
                <a16:creationId xmlns:a16="http://schemas.microsoft.com/office/drawing/2014/main" id="{61073AF8-3BFF-D270-9A15-21A94FC84733}"/>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The List Interface</a:t>
            </a:r>
          </a:p>
        </p:txBody>
      </p:sp>
      <p:sp>
        <p:nvSpPr>
          <p:cNvPr id="74757" name="Rectangle 4">
            <a:extLst>
              <a:ext uri="{FF2B5EF4-FFF2-40B4-BE49-F238E27FC236}">
                <a16:creationId xmlns:a16="http://schemas.microsoft.com/office/drawing/2014/main" id="{191291F9-7CA0-B426-8178-722E213784AD}"/>
              </a:ext>
            </a:extLst>
          </p:cNvPr>
          <p:cNvSpPr>
            <a:spLocks noChangeArrowheads="1"/>
          </p:cNvSpPr>
          <p:nvPr/>
        </p:nvSpPr>
        <p:spPr bwMode="auto">
          <a:xfrm>
            <a:off x="3505200" y="3352800"/>
            <a:ext cx="1447800" cy="609600"/>
          </a:xfrm>
          <a:prstGeom prst="rect">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List</a:t>
            </a:r>
          </a:p>
        </p:txBody>
      </p:sp>
      <p:sp>
        <p:nvSpPr>
          <p:cNvPr id="74758" name="Line 5">
            <a:extLst>
              <a:ext uri="{FF2B5EF4-FFF2-40B4-BE49-F238E27FC236}">
                <a16:creationId xmlns:a16="http://schemas.microsoft.com/office/drawing/2014/main" id="{79B41A73-9E60-B2B2-0DD2-15C0BF4A1983}"/>
              </a:ext>
            </a:extLst>
          </p:cNvPr>
          <p:cNvSpPr>
            <a:spLocks noChangeShapeType="1"/>
          </p:cNvSpPr>
          <p:nvPr/>
        </p:nvSpPr>
        <p:spPr bwMode="auto">
          <a:xfrm flipH="1">
            <a:off x="3048000" y="3886200"/>
            <a:ext cx="533400" cy="457200"/>
          </a:xfrm>
          <a:prstGeom prst="line">
            <a:avLst/>
          </a:prstGeom>
          <a:noFill/>
          <a:ln w="635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4759" name="Line 6">
            <a:extLst>
              <a:ext uri="{FF2B5EF4-FFF2-40B4-BE49-F238E27FC236}">
                <a16:creationId xmlns:a16="http://schemas.microsoft.com/office/drawing/2014/main" id="{FFEAB8CC-7C64-2654-180D-05E1DB5F2D50}"/>
              </a:ext>
            </a:extLst>
          </p:cNvPr>
          <p:cNvSpPr>
            <a:spLocks noChangeShapeType="1"/>
          </p:cNvSpPr>
          <p:nvPr/>
        </p:nvSpPr>
        <p:spPr bwMode="auto">
          <a:xfrm>
            <a:off x="4876800" y="3886200"/>
            <a:ext cx="381000" cy="457200"/>
          </a:xfrm>
          <a:prstGeom prst="line">
            <a:avLst/>
          </a:prstGeom>
          <a:noFill/>
          <a:ln w="635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4760" name="Rectangle 7">
            <a:extLst>
              <a:ext uri="{FF2B5EF4-FFF2-40B4-BE49-F238E27FC236}">
                <a16:creationId xmlns:a16="http://schemas.microsoft.com/office/drawing/2014/main" id="{E8EAE9AB-ADCC-C1D7-A697-31617B7A07B6}"/>
              </a:ext>
            </a:extLst>
          </p:cNvPr>
          <p:cNvSpPr>
            <a:spLocks noChangeArrowheads="1"/>
          </p:cNvSpPr>
          <p:nvPr/>
        </p:nvSpPr>
        <p:spPr bwMode="auto">
          <a:xfrm>
            <a:off x="1828800" y="4419600"/>
            <a:ext cx="1828800" cy="609600"/>
          </a:xfrm>
          <a:prstGeom prst="rect">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ArrayList</a:t>
            </a:r>
          </a:p>
        </p:txBody>
      </p:sp>
      <p:sp>
        <p:nvSpPr>
          <p:cNvPr id="74761" name="Rectangle 8">
            <a:extLst>
              <a:ext uri="{FF2B5EF4-FFF2-40B4-BE49-F238E27FC236}">
                <a16:creationId xmlns:a16="http://schemas.microsoft.com/office/drawing/2014/main" id="{673050B1-4296-F0C8-68AE-5556ABE1AFB0}"/>
              </a:ext>
            </a:extLst>
          </p:cNvPr>
          <p:cNvSpPr>
            <a:spLocks noChangeArrowheads="1"/>
          </p:cNvSpPr>
          <p:nvPr/>
        </p:nvSpPr>
        <p:spPr bwMode="auto">
          <a:xfrm>
            <a:off x="4800600" y="4419600"/>
            <a:ext cx="2362200" cy="609600"/>
          </a:xfrm>
          <a:prstGeom prst="rect">
            <a:avLst/>
          </a:prstGeom>
          <a:solidFill>
            <a:srgbClr val="FFFF99"/>
          </a:solidFill>
          <a:ln w="9525">
            <a:solidFill>
              <a:schemeClr val="tx1"/>
            </a:solidFill>
            <a:miter lim="800000"/>
            <a:headEnd/>
            <a:tailEnd/>
          </a:ln>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LinkedList</a:t>
            </a:r>
          </a:p>
        </p:txBody>
      </p:sp>
      <p:sp>
        <p:nvSpPr>
          <p:cNvPr id="74762" name="Text Box 9">
            <a:extLst>
              <a:ext uri="{FF2B5EF4-FFF2-40B4-BE49-F238E27FC236}">
                <a16:creationId xmlns:a16="http://schemas.microsoft.com/office/drawing/2014/main" id="{2807FAA9-758C-28AB-3840-B8F6EE4C8BED}"/>
              </a:ext>
            </a:extLst>
          </p:cNvPr>
          <p:cNvSpPr txBox="1">
            <a:spLocks noChangeArrowheads="1"/>
          </p:cNvSpPr>
          <p:nvPr/>
        </p:nvSpPr>
        <p:spPr bwMode="auto">
          <a:xfrm>
            <a:off x="3200400" y="52578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Tahoma" panose="020B0604030504040204" pitchFamily="34" charset="0"/>
              </a:rPr>
              <a:t>others not shown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5A4D6DA4-4147-CAF7-D23D-576C178D8787}"/>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6803" name="Text Box 2">
            <a:extLst>
              <a:ext uri="{FF2B5EF4-FFF2-40B4-BE49-F238E27FC236}">
                <a16:creationId xmlns:a16="http://schemas.microsoft.com/office/drawing/2014/main" id="{1D4ECA22-E95C-AE35-F431-0F95F66833B0}"/>
              </a:ext>
            </a:extLst>
          </p:cNvPr>
          <p:cNvSpPr txBox="1">
            <a:spLocks noChangeArrowheads="1"/>
          </p:cNvSpPr>
          <p:nvPr/>
        </p:nvSpPr>
        <p:spPr bwMode="auto">
          <a:xfrm>
            <a:off x="381000" y="1295400"/>
            <a:ext cx="876300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solidFill>
                  <a:schemeClr val="tx2"/>
                </a:solidFill>
                <a:latin typeface="Tahoma" panose="020B0604030504040204" pitchFamily="34" charset="0"/>
              </a:rPr>
              <a:t>ArrayList is a descendant of List and Collection, but because List and Collection are interfaces, you cannot instantiate them.</a:t>
            </a:r>
          </a:p>
          <a:p>
            <a:pPr eaLnBrk="1" hangingPunct="1">
              <a:spcBef>
                <a:spcPct val="0"/>
              </a:spcBef>
              <a:buFontTx/>
              <a:buNone/>
            </a:pPr>
            <a:endParaRPr lang="en-US" altLang="en-US">
              <a:solidFill>
                <a:schemeClr val="tx2"/>
              </a:solidFill>
              <a:latin typeface="Tahoma" panose="020B0604030504040204" pitchFamily="34" charset="0"/>
            </a:endParaRPr>
          </a:p>
          <a:p>
            <a:pPr eaLnBrk="1" hangingPunct="1">
              <a:spcBef>
                <a:spcPct val="0"/>
              </a:spcBef>
              <a:buFontTx/>
              <a:buNone/>
            </a:pPr>
            <a:r>
              <a:rPr lang="en-US" altLang="en-US" sz="3000">
                <a:solidFill>
                  <a:schemeClr val="tx2"/>
                </a:solidFill>
                <a:latin typeface="Tahoma" panose="020B0604030504040204" pitchFamily="34" charset="0"/>
              </a:rPr>
              <a:t>Collection bad = new Collection();   </a:t>
            </a:r>
            <a:r>
              <a:rPr lang="en-US" altLang="en-US" sz="3000">
                <a:solidFill>
                  <a:srgbClr val="FF0000"/>
                </a:solidFill>
                <a:latin typeface="Tahoma" panose="020B0604030504040204" pitchFamily="34" charset="0"/>
              </a:rPr>
              <a:t>//illegal</a:t>
            </a:r>
          </a:p>
          <a:p>
            <a:pPr eaLnBrk="1" hangingPunct="1">
              <a:spcBef>
                <a:spcPct val="0"/>
              </a:spcBef>
              <a:buFontTx/>
              <a:buNone/>
            </a:pPr>
            <a:endParaRPr lang="en-US" altLang="en-US" sz="3000">
              <a:solidFill>
                <a:srgbClr val="FF0000"/>
              </a:solidFill>
              <a:latin typeface="Tahoma" panose="020B0604030504040204" pitchFamily="34" charset="0"/>
            </a:endParaRPr>
          </a:p>
          <a:p>
            <a:pPr eaLnBrk="1" hangingPunct="1">
              <a:spcBef>
                <a:spcPct val="0"/>
              </a:spcBef>
              <a:buFontTx/>
              <a:buNone/>
            </a:pPr>
            <a:r>
              <a:rPr lang="en-US" altLang="en-US" sz="3000">
                <a:solidFill>
                  <a:schemeClr val="tx2"/>
                </a:solidFill>
                <a:latin typeface="Tahoma" panose="020B0604030504040204" pitchFamily="34" charset="0"/>
              </a:rPr>
              <a:t>List ray = new ArrayList();   		</a:t>
            </a:r>
            <a:r>
              <a:rPr lang="en-US" altLang="en-US" sz="3000">
                <a:solidFill>
                  <a:srgbClr val="008000"/>
                </a:solidFill>
                <a:latin typeface="Tahoma" panose="020B0604030504040204" pitchFamily="34" charset="0"/>
              </a:rPr>
              <a:t>//legal</a:t>
            </a:r>
          </a:p>
          <a:p>
            <a:pPr eaLnBrk="1" hangingPunct="1">
              <a:spcBef>
                <a:spcPct val="0"/>
              </a:spcBef>
              <a:buFontTx/>
              <a:buNone/>
            </a:pPr>
            <a:r>
              <a:rPr lang="en-US" altLang="en-US" sz="3000">
                <a:solidFill>
                  <a:schemeClr val="tx2"/>
                </a:solidFill>
                <a:latin typeface="Tahoma" panose="020B0604030504040204" pitchFamily="34" charset="0"/>
              </a:rPr>
              <a:t>ArrayList list = new ArrayList();	</a:t>
            </a:r>
            <a:r>
              <a:rPr lang="en-US" altLang="en-US" sz="3000">
                <a:solidFill>
                  <a:srgbClr val="008000"/>
                </a:solidFill>
                <a:latin typeface="Tahoma" panose="020B0604030504040204" pitchFamily="34" charset="0"/>
              </a:rPr>
              <a:t>//legal</a:t>
            </a:r>
          </a:p>
        </p:txBody>
      </p:sp>
      <p:sp>
        <p:nvSpPr>
          <p:cNvPr id="76804" name="Text Box 3">
            <a:extLst>
              <a:ext uri="{FF2B5EF4-FFF2-40B4-BE49-F238E27FC236}">
                <a16:creationId xmlns:a16="http://schemas.microsoft.com/office/drawing/2014/main" id="{2D37EC7E-D317-2164-3141-EFBB6951CC76}"/>
              </a:ext>
            </a:extLst>
          </p:cNvPr>
          <p:cNvSpPr txBox="1">
            <a:spLocks noChangeArrowheads="1"/>
          </p:cNvSpPr>
          <p:nvPr/>
        </p:nvSpPr>
        <p:spPr bwMode="auto">
          <a:xfrm>
            <a:off x="609600" y="5943600"/>
            <a:ext cx="7086600" cy="531813"/>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800">
                <a:solidFill>
                  <a:srgbClr val="3333CC"/>
                </a:solidFill>
                <a:latin typeface="Tahoma" panose="020B0604030504040204" pitchFamily="34" charset="0"/>
              </a:rPr>
              <a:t>ray and list store Object references.</a:t>
            </a:r>
          </a:p>
        </p:txBody>
      </p:sp>
      <p:sp>
        <p:nvSpPr>
          <p:cNvPr id="76805" name="WordArt 4">
            <a:extLst>
              <a:ext uri="{FF2B5EF4-FFF2-40B4-BE49-F238E27FC236}">
                <a16:creationId xmlns:a16="http://schemas.microsoft.com/office/drawing/2014/main" id="{866C85C9-BF93-7645-254A-D1537B6F86C7}"/>
              </a:ext>
            </a:extLst>
          </p:cNvPr>
          <p:cNvSpPr>
            <a:spLocks noChangeArrowheads="1" noChangeShapeType="1" noTextEdit="1"/>
          </p:cNvSpPr>
          <p:nvPr/>
        </p:nvSpPr>
        <p:spPr bwMode="auto">
          <a:xfrm>
            <a:off x="1066800" y="304800"/>
            <a:ext cx="7010400" cy="762000"/>
          </a:xfrm>
          <a:prstGeom prst="rect">
            <a:avLst/>
          </a:prstGeom>
        </p:spPr>
        <p:txBody>
          <a:bodyPr wrap="none" fromWordArt="1">
            <a:prstTxWarp prst="textPlain">
              <a:avLst>
                <a:gd name="adj" fmla="val 50000"/>
              </a:avLst>
            </a:prstTxWarp>
          </a:bodyPr>
          <a:lstStyle/>
          <a:p>
            <a:pPr algn="ctr"/>
            <a:r>
              <a:rPr lang="en-US" sz="3600" kern="10">
                <a:ln w="25400">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ArrayList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29DB37CD-1CE3-A340-4A39-CA75058AC6F5}"/>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8851" name="WordArt 2">
            <a:extLst>
              <a:ext uri="{FF2B5EF4-FFF2-40B4-BE49-F238E27FC236}">
                <a16:creationId xmlns:a16="http://schemas.microsoft.com/office/drawing/2014/main" id="{12E52D42-E540-49A9-79BE-AA9071FE52F3}"/>
              </a:ext>
            </a:extLst>
          </p:cNvPr>
          <p:cNvSpPr>
            <a:spLocks noChangeArrowheads="1" noChangeShapeType="1" noTextEdit="1"/>
          </p:cNvSpPr>
          <p:nvPr/>
        </p:nvSpPr>
        <p:spPr bwMode="auto">
          <a:xfrm>
            <a:off x="914400" y="1143000"/>
            <a:ext cx="7086600" cy="4038600"/>
          </a:xfrm>
          <a:prstGeom prst="rect">
            <a:avLst/>
          </a:prstGeom>
        </p:spPr>
        <p:txBody>
          <a:bodyPr wrap="none" fromWordArt="1">
            <a:prstTxWarp prst="textPlain">
              <a:avLst>
                <a:gd name="adj" fmla="val 50000"/>
              </a:avLst>
            </a:prstTxWarp>
          </a:bodyPr>
          <a:lstStyle/>
          <a:p>
            <a:pPr algn="ctr"/>
            <a:r>
              <a:rPr lang="en-US" sz="3600" kern="10">
                <a:ln w="25400">
                  <a:solidFill>
                    <a:srgbClr val="FFFF99"/>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ArrayList with</a:t>
            </a:r>
          </a:p>
          <a:p>
            <a:pPr algn="ctr"/>
            <a:r>
              <a:rPr lang="en-US" sz="3600" kern="10">
                <a:ln w="25400">
                  <a:solidFill>
                    <a:srgbClr val="FFFF99"/>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User-defined</a:t>
            </a:r>
          </a:p>
          <a:p>
            <a:pPr algn="ctr"/>
            <a:r>
              <a:rPr lang="en-US" sz="3600" kern="10">
                <a:ln w="25400">
                  <a:solidFill>
                    <a:srgbClr val="FFFF99"/>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classes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945D08BC-E702-9280-3CA4-D93680766B1C}"/>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0899" name="Text Box 2">
            <a:extLst>
              <a:ext uri="{FF2B5EF4-FFF2-40B4-BE49-F238E27FC236}">
                <a16:creationId xmlns:a16="http://schemas.microsoft.com/office/drawing/2014/main" id="{789E49D7-DD47-B565-4238-AE6528D287EB}"/>
              </a:ext>
            </a:extLst>
          </p:cNvPr>
          <p:cNvSpPr txBox="1">
            <a:spLocks noChangeArrowheads="1"/>
          </p:cNvSpPr>
          <p:nvPr/>
        </p:nvSpPr>
        <p:spPr bwMode="auto">
          <a:xfrm>
            <a:off x="762000" y="1600200"/>
            <a:ext cx="72501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public class Creature implements Comparable</a:t>
            </a:r>
          </a:p>
          <a:p>
            <a:pPr>
              <a:spcBef>
                <a:spcPct val="0"/>
              </a:spcBef>
              <a:buFontTx/>
              <a:buNone/>
            </a:pPr>
            <a:r>
              <a:rPr lang="en-US" altLang="en-US" sz="2400">
                <a:latin typeface="Tahoma" panose="020B0604030504040204" pitchFamily="34" charset="0"/>
              </a:rPr>
              <a:t>{</a:t>
            </a:r>
          </a:p>
          <a:p>
            <a:pPr>
              <a:spcBef>
                <a:spcPct val="0"/>
              </a:spcBef>
              <a:buFontTx/>
              <a:buNone/>
            </a:pPr>
            <a:r>
              <a:rPr lang="en-US" altLang="en-US" sz="2400">
                <a:latin typeface="Tahoma" panose="020B0604030504040204" pitchFamily="34" charset="0"/>
              </a:rPr>
              <a:t>   //data and constructors now shown</a:t>
            </a:r>
          </a:p>
          <a:p>
            <a:pPr>
              <a:spcBef>
                <a:spcPct val="0"/>
              </a:spcBef>
              <a:buFontTx/>
              <a:buNone/>
            </a:pPr>
            <a:r>
              <a:rPr lang="en-US" altLang="en-US" sz="2400">
                <a:latin typeface="Tahoma" panose="020B0604030504040204" pitchFamily="34" charset="0"/>
              </a:rPr>
              <a:t>	</a:t>
            </a:r>
          </a:p>
          <a:p>
            <a:pPr>
              <a:spcBef>
                <a:spcPct val="0"/>
              </a:spcBef>
              <a:buFontTx/>
              <a:buNone/>
            </a:pPr>
            <a:r>
              <a:rPr lang="en-US" altLang="en-US" sz="2400">
                <a:latin typeface="Tahoma" panose="020B0604030504040204" pitchFamily="34" charset="0"/>
              </a:rPr>
              <a:t>   public void setSize(int girth){</a:t>
            </a:r>
          </a:p>
          <a:p>
            <a:pPr>
              <a:spcBef>
                <a:spcPct val="0"/>
              </a:spcBef>
              <a:buFontTx/>
              <a:buNone/>
            </a:pPr>
            <a:r>
              <a:rPr lang="en-US" altLang="en-US" sz="2400">
                <a:latin typeface="Tahoma" panose="020B0604030504040204" pitchFamily="34" charset="0"/>
              </a:rPr>
              <a:t>      size=girth;</a:t>
            </a:r>
          </a:p>
          <a:p>
            <a:pPr>
              <a:spcBef>
                <a:spcPct val="0"/>
              </a:spcBef>
              <a:buFontTx/>
              <a:buNone/>
            </a:pPr>
            <a:r>
              <a:rPr lang="en-US" altLang="en-US" sz="2400">
                <a:latin typeface="Tahoma" panose="020B0604030504040204" pitchFamily="34" charset="0"/>
              </a:rPr>
              <a:t>   }</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   //compareTo not shown</a:t>
            </a:r>
          </a:p>
          <a:p>
            <a:pPr>
              <a:spcBef>
                <a:spcPct val="0"/>
              </a:spcBef>
              <a:buFontTx/>
              <a:buNone/>
            </a:pPr>
            <a:r>
              <a:rPr lang="en-US" altLang="en-US" sz="2400">
                <a:latin typeface="Tahoma" panose="020B0604030504040204" pitchFamily="34" charset="0"/>
              </a:rPr>
              <a:t>	</a:t>
            </a:r>
          </a:p>
          <a:p>
            <a:pPr>
              <a:spcBef>
                <a:spcPct val="0"/>
              </a:spcBef>
              <a:buFontTx/>
              <a:buNone/>
            </a:pPr>
            <a:r>
              <a:rPr lang="en-US" altLang="en-US" sz="2400">
                <a:latin typeface="Tahoma" panose="020B0604030504040204" pitchFamily="34" charset="0"/>
              </a:rPr>
              <a:t>   //toString not shown</a:t>
            </a:r>
          </a:p>
          <a:p>
            <a:pPr>
              <a:spcBef>
                <a:spcPct val="0"/>
              </a:spcBef>
              <a:buFontTx/>
              <a:buNone/>
            </a:pPr>
            <a:r>
              <a:rPr lang="en-US" altLang="en-US" sz="2400">
                <a:latin typeface="Tahoma" panose="020B0604030504040204" pitchFamily="34" charset="0"/>
              </a:rPr>
              <a:t>}</a:t>
            </a:r>
          </a:p>
        </p:txBody>
      </p:sp>
      <p:sp>
        <p:nvSpPr>
          <p:cNvPr id="80900" name="WordArt 3">
            <a:extLst>
              <a:ext uri="{FF2B5EF4-FFF2-40B4-BE49-F238E27FC236}">
                <a16:creationId xmlns:a16="http://schemas.microsoft.com/office/drawing/2014/main" id="{DFE000BE-124F-5478-43D5-45F9F4788DB3}"/>
              </a:ext>
            </a:extLst>
          </p:cNvPr>
          <p:cNvSpPr>
            <a:spLocks noChangeArrowheads="1" noChangeShapeType="1" noTextEdit="1"/>
          </p:cNvSpPr>
          <p:nvPr/>
        </p:nvSpPr>
        <p:spPr bwMode="auto">
          <a:xfrm>
            <a:off x="533400" y="457200"/>
            <a:ext cx="7848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ArrayList w/User Classes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C22BBE96-5B07-9BC2-1A55-F7141C14AC80}"/>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2947" name="Rectangle 2">
            <a:extLst>
              <a:ext uri="{FF2B5EF4-FFF2-40B4-BE49-F238E27FC236}">
                <a16:creationId xmlns:a16="http://schemas.microsoft.com/office/drawing/2014/main" id="{6E10E358-84A7-150A-11B7-FF6BBA668FF8}"/>
              </a:ext>
            </a:extLst>
          </p:cNvPr>
          <p:cNvSpPr>
            <a:spLocks noChangeArrowheads="1"/>
          </p:cNvSpPr>
          <p:nvPr/>
        </p:nvSpPr>
        <p:spPr bwMode="auto">
          <a:xfrm>
            <a:off x="685800" y="1371600"/>
            <a:ext cx="75438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ArrayList&lt;</a:t>
            </a:r>
            <a:r>
              <a:rPr lang="en-US" altLang="en-US" sz="2800">
                <a:solidFill>
                  <a:srgbClr val="009900"/>
                </a:solidFill>
                <a:latin typeface="Tahoma" panose="020B0604030504040204" pitchFamily="34" charset="0"/>
              </a:rPr>
              <a:t>Creature</a:t>
            </a:r>
            <a:r>
              <a:rPr lang="en-US" altLang="en-US" sz="2800">
                <a:latin typeface="Tahoma" panose="020B0604030504040204" pitchFamily="34" charset="0"/>
              </a:rPr>
              <a:t>&gt; creatures;</a:t>
            </a:r>
          </a:p>
          <a:p>
            <a:pPr eaLnBrk="1" hangingPunct="1">
              <a:spcBef>
                <a:spcPct val="0"/>
              </a:spcBef>
              <a:buFontTx/>
              <a:buNone/>
            </a:pPr>
            <a:r>
              <a:rPr lang="en-US" altLang="en-US" sz="2800">
                <a:latin typeface="Tahoma" panose="020B0604030504040204" pitchFamily="34" charset="0"/>
              </a:rPr>
              <a:t>creatures  = new ArrayList&lt;</a:t>
            </a:r>
            <a:r>
              <a:rPr lang="en-US" altLang="en-US" sz="2800">
                <a:solidFill>
                  <a:srgbClr val="009900"/>
                </a:solidFill>
                <a:latin typeface="Tahoma" panose="020B0604030504040204" pitchFamily="34" charset="0"/>
              </a:rPr>
              <a:t>Creature</a:t>
            </a:r>
            <a:r>
              <a:rPr lang="en-US" altLang="en-US" sz="2800">
                <a:latin typeface="Tahoma" panose="020B0604030504040204" pitchFamily="34" charset="0"/>
              </a:rPr>
              <a:t>&gt;();</a:t>
            </a:r>
          </a:p>
          <a:p>
            <a:pPr eaLnBrk="1" hangingPunct="1">
              <a:spcBef>
                <a:spcPct val="0"/>
              </a:spcBef>
              <a:buFontTx/>
              <a:buNone/>
            </a:pPr>
            <a:r>
              <a:rPr lang="en-US" altLang="en-US" sz="2800">
                <a:latin typeface="Tahoma" panose="020B0604030504040204" pitchFamily="34" charset="0"/>
              </a:rPr>
              <a:t>creatures.add(new Creature(4));</a:t>
            </a:r>
          </a:p>
          <a:p>
            <a:pPr eaLnBrk="1" hangingPunct="1">
              <a:spcBef>
                <a:spcPct val="0"/>
              </a:spcBef>
              <a:buFontTx/>
              <a:buNone/>
            </a:pPr>
            <a:r>
              <a:rPr lang="en-US" altLang="en-US" sz="2800">
                <a:latin typeface="Tahoma" panose="020B0604030504040204" pitchFamily="34" charset="0"/>
              </a:rPr>
              <a:t>creatures.add(new Creature(9));</a:t>
            </a:r>
          </a:p>
          <a:p>
            <a:pPr eaLnBrk="1" hangingPunct="1">
              <a:spcBef>
                <a:spcPct val="0"/>
              </a:spcBef>
              <a:buFontTx/>
              <a:buNone/>
            </a:pPr>
            <a:r>
              <a:rPr lang="en-US" altLang="en-US" sz="2800">
                <a:latin typeface="Tahoma" panose="020B0604030504040204" pitchFamily="34" charset="0"/>
              </a:rPr>
              <a:t>creatures.add(new Creature(1));</a:t>
            </a:r>
          </a:p>
          <a:p>
            <a:pPr>
              <a:spcBef>
                <a:spcPct val="0"/>
              </a:spcBef>
              <a:buFontTx/>
              <a:buNone/>
            </a:pPr>
            <a:endParaRPr lang="en-US" altLang="en-US">
              <a:solidFill>
                <a:srgbClr val="000066"/>
              </a:solidFill>
              <a:latin typeface="Tahoma" panose="020B0604030504040204" pitchFamily="34" charset="0"/>
            </a:endParaRPr>
          </a:p>
        </p:txBody>
      </p:sp>
      <p:sp>
        <p:nvSpPr>
          <p:cNvPr id="82948" name="Text Box 4">
            <a:extLst>
              <a:ext uri="{FF2B5EF4-FFF2-40B4-BE49-F238E27FC236}">
                <a16:creationId xmlns:a16="http://schemas.microsoft.com/office/drawing/2014/main" id="{2996B38A-110F-FC4C-0B89-27CE2D4D7B39}"/>
              </a:ext>
            </a:extLst>
          </p:cNvPr>
          <p:cNvSpPr txBox="1">
            <a:spLocks noChangeArrowheads="1"/>
          </p:cNvSpPr>
          <p:nvPr/>
        </p:nvSpPr>
        <p:spPr bwMode="auto">
          <a:xfrm>
            <a:off x="838200" y="4419600"/>
            <a:ext cx="1871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creatures</a:t>
            </a:r>
          </a:p>
        </p:txBody>
      </p:sp>
      <p:graphicFrame>
        <p:nvGraphicFramePr>
          <p:cNvPr id="519193" name="Group 25">
            <a:extLst>
              <a:ext uri="{FF2B5EF4-FFF2-40B4-BE49-F238E27FC236}">
                <a16:creationId xmlns:a16="http://schemas.microsoft.com/office/drawing/2014/main" id="{003A4ECF-D662-E3C1-44B5-F6BDCBA2590F}"/>
              </a:ext>
            </a:extLst>
          </p:cNvPr>
          <p:cNvGraphicFramePr>
            <a:graphicFrameLocks noGrp="1"/>
          </p:cNvGraphicFramePr>
          <p:nvPr/>
        </p:nvGraphicFramePr>
        <p:xfrm>
          <a:off x="2911475" y="4343400"/>
          <a:ext cx="4937125" cy="660400"/>
        </p:xfrm>
        <a:graphic>
          <a:graphicData uri="http://schemas.openxmlformats.org/drawingml/2006/table">
            <a:tbl>
              <a:tblPr/>
              <a:tblGrid>
                <a:gridCol w="1644650">
                  <a:extLst>
                    <a:ext uri="{9D8B030D-6E8A-4147-A177-3AD203B41FA5}">
                      <a16:colId xmlns:a16="http://schemas.microsoft.com/office/drawing/2014/main" val="20000"/>
                    </a:ext>
                  </a:extLst>
                </a:gridCol>
                <a:gridCol w="1643063">
                  <a:extLst>
                    <a:ext uri="{9D8B030D-6E8A-4147-A177-3AD203B41FA5}">
                      <a16:colId xmlns:a16="http://schemas.microsoft.com/office/drawing/2014/main" val="20001"/>
                    </a:ext>
                  </a:extLst>
                </a:gridCol>
                <a:gridCol w="1649412">
                  <a:extLst>
                    <a:ext uri="{9D8B030D-6E8A-4147-A177-3AD203B41FA5}">
                      <a16:colId xmlns:a16="http://schemas.microsoft.com/office/drawing/2014/main" val="20002"/>
                    </a:ext>
                  </a:extLst>
                </a:gridCol>
              </a:tblGrid>
              <a:tr h="660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FF0000"/>
                          </a:solidFill>
                          <a:effectLst/>
                          <a:latin typeface="Tahoma" pitchFamily="34" charset="0"/>
                        </a:rPr>
                        <a:t>0x12</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FF0000"/>
                          </a:solidFill>
                          <a:effectLst/>
                          <a:latin typeface="Tahoma" pitchFamily="34" charset="0"/>
                        </a:rPr>
                        <a:t>0x32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a:ln>
                            <a:noFill/>
                          </a:ln>
                          <a:solidFill>
                            <a:srgbClr val="FF0000"/>
                          </a:solidFill>
                          <a:effectLst/>
                          <a:latin typeface="Tahoma" pitchFamily="34" charset="0"/>
                        </a:rPr>
                        <a:t>0xD2</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82959" name="Text Box 19">
            <a:extLst>
              <a:ext uri="{FF2B5EF4-FFF2-40B4-BE49-F238E27FC236}">
                <a16:creationId xmlns:a16="http://schemas.microsoft.com/office/drawing/2014/main" id="{33CBB3B0-D997-5F66-D627-A58DF9920D1E}"/>
              </a:ext>
            </a:extLst>
          </p:cNvPr>
          <p:cNvSpPr txBox="1">
            <a:spLocks noChangeArrowheads="1"/>
          </p:cNvSpPr>
          <p:nvPr/>
        </p:nvSpPr>
        <p:spPr bwMode="auto">
          <a:xfrm>
            <a:off x="3048000" y="3733800"/>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  0    	    	  1        	2</a:t>
            </a:r>
          </a:p>
        </p:txBody>
      </p:sp>
      <p:sp>
        <p:nvSpPr>
          <p:cNvPr id="82960" name="Line 20">
            <a:extLst>
              <a:ext uri="{FF2B5EF4-FFF2-40B4-BE49-F238E27FC236}">
                <a16:creationId xmlns:a16="http://schemas.microsoft.com/office/drawing/2014/main" id="{92B53B30-C240-3957-5CBB-0B617FD92627}"/>
              </a:ext>
            </a:extLst>
          </p:cNvPr>
          <p:cNvSpPr>
            <a:spLocks noChangeShapeType="1"/>
          </p:cNvSpPr>
          <p:nvPr/>
        </p:nvSpPr>
        <p:spPr bwMode="auto">
          <a:xfrm>
            <a:off x="3657600" y="4876800"/>
            <a:ext cx="0" cy="533400"/>
          </a:xfrm>
          <a:prstGeom prst="line">
            <a:avLst/>
          </a:prstGeom>
          <a:noFill/>
          <a:ln w="381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82961" name="Text Box 21">
            <a:extLst>
              <a:ext uri="{FF2B5EF4-FFF2-40B4-BE49-F238E27FC236}">
                <a16:creationId xmlns:a16="http://schemas.microsoft.com/office/drawing/2014/main" id="{AD9F506B-C7A0-4D86-E68F-D9C09BA9DA90}"/>
              </a:ext>
            </a:extLst>
          </p:cNvPr>
          <p:cNvSpPr txBox="1">
            <a:spLocks noChangeArrowheads="1"/>
          </p:cNvSpPr>
          <p:nvPr/>
        </p:nvSpPr>
        <p:spPr bwMode="auto">
          <a:xfrm>
            <a:off x="2895600" y="5410200"/>
            <a:ext cx="1530350" cy="835025"/>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solidFill>
                  <a:srgbClr val="000066"/>
                </a:solidFill>
                <a:latin typeface="Tahoma" panose="020B0604030504040204" pitchFamily="34" charset="0"/>
              </a:rPr>
              <a:t>Creature</a:t>
            </a:r>
            <a:br>
              <a:rPr lang="en-US" altLang="en-US" sz="2400">
                <a:solidFill>
                  <a:srgbClr val="000066"/>
                </a:solidFill>
                <a:latin typeface="Tahoma" panose="020B0604030504040204" pitchFamily="34" charset="0"/>
              </a:rPr>
            </a:br>
            <a:r>
              <a:rPr lang="en-US" altLang="en-US" sz="2400">
                <a:solidFill>
                  <a:srgbClr val="000066"/>
                </a:solidFill>
                <a:latin typeface="Tahoma" panose="020B0604030504040204" pitchFamily="34" charset="0"/>
              </a:rPr>
              <a:t>       4</a:t>
            </a:r>
          </a:p>
        </p:txBody>
      </p:sp>
      <p:sp>
        <p:nvSpPr>
          <p:cNvPr id="82962" name="Line 22">
            <a:extLst>
              <a:ext uri="{FF2B5EF4-FFF2-40B4-BE49-F238E27FC236}">
                <a16:creationId xmlns:a16="http://schemas.microsoft.com/office/drawing/2014/main" id="{F7D49E5E-08E8-CA34-ECE8-01DDDC6DB778}"/>
              </a:ext>
            </a:extLst>
          </p:cNvPr>
          <p:cNvSpPr>
            <a:spLocks noChangeShapeType="1"/>
          </p:cNvSpPr>
          <p:nvPr/>
        </p:nvSpPr>
        <p:spPr bwMode="auto">
          <a:xfrm>
            <a:off x="7010400" y="4876800"/>
            <a:ext cx="0" cy="533400"/>
          </a:xfrm>
          <a:prstGeom prst="line">
            <a:avLst/>
          </a:prstGeom>
          <a:noFill/>
          <a:ln w="381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82963" name="WordArt 24">
            <a:extLst>
              <a:ext uri="{FF2B5EF4-FFF2-40B4-BE49-F238E27FC236}">
                <a16:creationId xmlns:a16="http://schemas.microsoft.com/office/drawing/2014/main" id="{ECA3FAA8-B368-132B-E477-5506E380DD79}"/>
              </a:ext>
            </a:extLst>
          </p:cNvPr>
          <p:cNvSpPr>
            <a:spLocks noChangeArrowheads="1" noChangeShapeType="1" noTextEdit="1"/>
          </p:cNvSpPr>
          <p:nvPr/>
        </p:nvSpPr>
        <p:spPr bwMode="auto">
          <a:xfrm>
            <a:off x="533400" y="457200"/>
            <a:ext cx="7848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ArrayList w/User Classes</a:t>
            </a:r>
          </a:p>
        </p:txBody>
      </p:sp>
      <p:sp>
        <p:nvSpPr>
          <p:cNvPr id="82964" name="Line 26">
            <a:extLst>
              <a:ext uri="{FF2B5EF4-FFF2-40B4-BE49-F238E27FC236}">
                <a16:creationId xmlns:a16="http://schemas.microsoft.com/office/drawing/2014/main" id="{1DF72E76-B376-95C0-15EC-FA038339FD53}"/>
              </a:ext>
            </a:extLst>
          </p:cNvPr>
          <p:cNvSpPr>
            <a:spLocks noChangeShapeType="1"/>
          </p:cNvSpPr>
          <p:nvPr/>
        </p:nvSpPr>
        <p:spPr bwMode="auto">
          <a:xfrm>
            <a:off x="5334000" y="4876800"/>
            <a:ext cx="0" cy="533400"/>
          </a:xfrm>
          <a:prstGeom prst="line">
            <a:avLst/>
          </a:prstGeom>
          <a:noFill/>
          <a:ln w="381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82965" name="Text Box 28">
            <a:extLst>
              <a:ext uri="{FF2B5EF4-FFF2-40B4-BE49-F238E27FC236}">
                <a16:creationId xmlns:a16="http://schemas.microsoft.com/office/drawing/2014/main" id="{C31310F9-0C4A-E08E-DAEB-CF19D2609577}"/>
              </a:ext>
            </a:extLst>
          </p:cNvPr>
          <p:cNvSpPr txBox="1">
            <a:spLocks noChangeArrowheads="1"/>
          </p:cNvSpPr>
          <p:nvPr/>
        </p:nvSpPr>
        <p:spPr bwMode="auto">
          <a:xfrm>
            <a:off x="4572000" y="5410200"/>
            <a:ext cx="1530350" cy="835025"/>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solidFill>
                  <a:srgbClr val="000066"/>
                </a:solidFill>
                <a:latin typeface="Tahoma" panose="020B0604030504040204" pitchFamily="34" charset="0"/>
              </a:rPr>
              <a:t>Creature</a:t>
            </a:r>
            <a:br>
              <a:rPr lang="en-US" altLang="en-US" sz="2400">
                <a:solidFill>
                  <a:srgbClr val="000066"/>
                </a:solidFill>
                <a:latin typeface="Tahoma" panose="020B0604030504040204" pitchFamily="34" charset="0"/>
              </a:rPr>
            </a:br>
            <a:r>
              <a:rPr lang="en-US" altLang="en-US" sz="2400">
                <a:solidFill>
                  <a:srgbClr val="000066"/>
                </a:solidFill>
                <a:latin typeface="Tahoma" panose="020B0604030504040204" pitchFamily="34" charset="0"/>
              </a:rPr>
              <a:t>       9</a:t>
            </a:r>
          </a:p>
        </p:txBody>
      </p:sp>
      <p:sp>
        <p:nvSpPr>
          <p:cNvPr id="82966" name="Text Box 29">
            <a:extLst>
              <a:ext uri="{FF2B5EF4-FFF2-40B4-BE49-F238E27FC236}">
                <a16:creationId xmlns:a16="http://schemas.microsoft.com/office/drawing/2014/main" id="{51C8E968-0B4A-3EA2-E8C1-3693ABB5F73E}"/>
              </a:ext>
            </a:extLst>
          </p:cNvPr>
          <p:cNvSpPr txBox="1">
            <a:spLocks noChangeArrowheads="1"/>
          </p:cNvSpPr>
          <p:nvPr/>
        </p:nvSpPr>
        <p:spPr bwMode="auto">
          <a:xfrm>
            <a:off x="6248400" y="5410200"/>
            <a:ext cx="1530350" cy="835025"/>
          </a:xfrm>
          <a:prstGeom prst="rect">
            <a:avLst/>
          </a:prstGeom>
          <a:noFill/>
          <a:ln w="12700">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solidFill>
                  <a:srgbClr val="000066"/>
                </a:solidFill>
                <a:latin typeface="Tahoma" panose="020B0604030504040204" pitchFamily="34" charset="0"/>
              </a:rPr>
              <a:t>Creature</a:t>
            </a:r>
            <a:br>
              <a:rPr lang="en-US" altLang="en-US" sz="2400">
                <a:solidFill>
                  <a:srgbClr val="000066"/>
                </a:solidFill>
                <a:latin typeface="Tahoma" panose="020B0604030504040204" pitchFamily="34" charset="0"/>
              </a:rPr>
            </a:br>
            <a:r>
              <a:rPr lang="en-US" altLang="en-US" sz="2400">
                <a:solidFill>
                  <a:srgbClr val="000066"/>
                </a:solidFill>
                <a:latin typeface="Tahoma" panose="020B0604030504040204" pitchFamily="34" charset="0"/>
              </a:rPr>
              <a:t>       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621EF178-DE17-D9EF-7BAB-05C43827F233}"/>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4995" name="Text Box 2">
            <a:extLst>
              <a:ext uri="{FF2B5EF4-FFF2-40B4-BE49-F238E27FC236}">
                <a16:creationId xmlns:a16="http://schemas.microsoft.com/office/drawing/2014/main" id="{E616BED1-1E2D-AD4D-0110-02D3CE80BBE1}"/>
              </a:ext>
            </a:extLst>
          </p:cNvPr>
          <p:cNvSpPr txBox="1">
            <a:spLocks noChangeArrowheads="1"/>
          </p:cNvSpPr>
          <p:nvPr/>
        </p:nvSpPr>
        <p:spPr bwMode="auto">
          <a:xfrm>
            <a:off x="609600" y="1600200"/>
            <a:ext cx="6484938"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ArrayList&lt;</a:t>
            </a:r>
            <a:r>
              <a:rPr lang="en-US" altLang="en-US" sz="2400">
                <a:solidFill>
                  <a:srgbClr val="009900"/>
                </a:solidFill>
                <a:latin typeface="Tahoma" panose="020B0604030504040204" pitchFamily="34" charset="0"/>
              </a:rPr>
              <a:t>Creature</a:t>
            </a:r>
            <a:r>
              <a:rPr lang="en-US" altLang="en-US" sz="2400">
                <a:latin typeface="Tahoma" panose="020B0604030504040204" pitchFamily="34" charset="0"/>
              </a:rPr>
              <a:t>&gt; creatures;</a:t>
            </a:r>
          </a:p>
          <a:p>
            <a:pPr>
              <a:spcBef>
                <a:spcPct val="0"/>
              </a:spcBef>
              <a:buFontTx/>
              <a:buNone/>
            </a:pPr>
            <a:r>
              <a:rPr lang="en-US" altLang="en-US" sz="2400">
                <a:latin typeface="Tahoma" panose="020B0604030504040204" pitchFamily="34" charset="0"/>
              </a:rPr>
              <a:t>creatures  = new ArrayList&lt;</a:t>
            </a:r>
            <a:r>
              <a:rPr lang="en-US" altLang="en-US" sz="2400">
                <a:solidFill>
                  <a:srgbClr val="009900"/>
                </a:solidFill>
                <a:latin typeface="Tahoma" panose="020B0604030504040204" pitchFamily="34" charset="0"/>
              </a:rPr>
              <a:t>Creature</a:t>
            </a:r>
            <a:r>
              <a:rPr lang="en-US" altLang="en-US" sz="2400">
                <a:latin typeface="Tahoma" panose="020B0604030504040204" pitchFamily="34" charset="0"/>
              </a:rPr>
              <a:t>&gt;();</a:t>
            </a:r>
          </a:p>
          <a:p>
            <a:pPr>
              <a:spcBef>
                <a:spcPct val="0"/>
              </a:spcBef>
              <a:buFontTx/>
              <a:buNone/>
            </a:pPr>
            <a:r>
              <a:rPr lang="en-US" altLang="en-US" sz="2400">
                <a:latin typeface="Tahoma" panose="020B0604030504040204" pitchFamily="34" charset="0"/>
              </a:rPr>
              <a:t>creatures.add(new Creature(4));</a:t>
            </a:r>
          </a:p>
          <a:p>
            <a:pPr>
              <a:spcBef>
                <a:spcPct val="0"/>
              </a:spcBef>
              <a:buFontTx/>
              <a:buNone/>
            </a:pPr>
            <a:r>
              <a:rPr lang="en-US" altLang="en-US" sz="2400">
                <a:latin typeface="Tahoma" panose="020B0604030504040204" pitchFamily="34" charset="0"/>
              </a:rPr>
              <a:t>creatures.add(new Creature(9));</a:t>
            </a:r>
          </a:p>
          <a:p>
            <a:pPr>
              <a:spcBef>
                <a:spcPct val="0"/>
              </a:spcBef>
              <a:buFontTx/>
              <a:buNone/>
            </a:pPr>
            <a:r>
              <a:rPr lang="en-US" altLang="en-US" sz="2400">
                <a:latin typeface="Tahoma" panose="020B0604030504040204" pitchFamily="34" charset="0"/>
              </a:rPr>
              <a:t>creatures.add(new Creature(1));</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out.println(creatures.get(0));</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creatures.get(0).setSize(7);</a:t>
            </a:r>
          </a:p>
          <a:p>
            <a:pPr>
              <a:spcBef>
                <a:spcPct val="0"/>
              </a:spcBef>
              <a:buFontTx/>
              <a:buNone/>
            </a:pPr>
            <a:r>
              <a:rPr lang="en-US" altLang="en-US" sz="2400">
                <a:latin typeface="Tahoma" panose="020B0604030504040204" pitchFamily="34" charset="0"/>
              </a:rPr>
              <a:t>out.println(creatures.get(0));</a:t>
            </a:r>
          </a:p>
          <a:p>
            <a:pPr>
              <a:spcBef>
                <a:spcPct val="0"/>
              </a:spcBef>
              <a:buFontTx/>
              <a:buNone/>
            </a:pPr>
            <a:endParaRPr lang="en-US" altLang="en-US" sz="2400">
              <a:latin typeface="Tahoma" panose="020B0604030504040204" pitchFamily="34" charset="0"/>
            </a:endParaRPr>
          </a:p>
          <a:p>
            <a:pPr>
              <a:spcBef>
                <a:spcPct val="0"/>
              </a:spcBef>
              <a:buFontTx/>
              <a:buNone/>
            </a:pPr>
            <a:r>
              <a:rPr lang="en-US" altLang="en-US" sz="2400">
                <a:latin typeface="Tahoma" panose="020B0604030504040204" pitchFamily="34" charset="0"/>
              </a:rPr>
              <a:t>out.println(creatures.get(2));</a:t>
            </a:r>
          </a:p>
        </p:txBody>
      </p:sp>
      <p:sp>
        <p:nvSpPr>
          <p:cNvPr id="84996" name="Text Box 3">
            <a:extLst>
              <a:ext uri="{FF2B5EF4-FFF2-40B4-BE49-F238E27FC236}">
                <a16:creationId xmlns:a16="http://schemas.microsoft.com/office/drawing/2014/main" id="{CFB10F9F-F1A0-E619-81EA-F63765B48823}"/>
              </a:ext>
            </a:extLst>
          </p:cNvPr>
          <p:cNvSpPr txBox="1">
            <a:spLocks noChangeArrowheads="1"/>
          </p:cNvSpPr>
          <p:nvPr/>
        </p:nvSpPr>
        <p:spPr bwMode="auto">
          <a:xfrm>
            <a:off x="6400800" y="2895600"/>
            <a:ext cx="2133600" cy="2054225"/>
          </a:xfrm>
          <a:prstGeom prst="rect">
            <a:avLst/>
          </a:prstGeom>
          <a:noFill/>
          <a:ln w="12700">
            <a:solidFill>
              <a:srgbClr val="99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a:latin typeface="Tahoma" panose="020B0604030504040204" pitchFamily="34" charset="0"/>
              </a:rPr>
              <a:t>4</a:t>
            </a:r>
            <a:br>
              <a:rPr lang="en-US" altLang="en-US">
                <a:latin typeface="Tahoma" panose="020B0604030504040204" pitchFamily="34" charset="0"/>
              </a:rPr>
            </a:br>
            <a:r>
              <a:rPr lang="en-US" altLang="en-US">
                <a:latin typeface="Tahoma" panose="020B0604030504040204" pitchFamily="34" charset="0"/>
              </a:rPr>
              <a:t>7</a:t>
            </a:r>
            <a:br>
              <a:rPr lang="en-US" altLang="en-US">
                <a:latin typeface="Tahoma" panose="020B0604030504040204" pitchFamily="34" charset="0"/>
              </a:rPr>
            </a:br>
            <a:r>
              <a:rPr lang="en-US" altLang="en-US">
                <a:latin typeface="Tahoma" panose="020B0604030504040204" pitchFamily="34" charset="0"/>
              </a:rPr>
              <a:t>1</a:t>
            </a:r>
          </a:p>
        </p:txBody>
      </p:sp>
      <p:sp>
        <p:nvSpPr>
          <p:cNvPr id="84997" name="WordArt 4">
            <a:extLst>
              <a:ext uri="{FF2B5EF4-FFF2-40B4-BE49-F238E27FC236}">
                <a16:creationId xmlns:a16="http://schemas.microsoft.com/office/drawing/2014/main" id="{1BD5278D-CCE7-A211-D657-B81FE2FB0117}"/>
              </a:ext>
            </a:extLst>
          </p:cNvPr>
          <p:cNvSpPr>
            <a:spLocks noChangeArrowheads="1" noChangeShapeType="1" noTextEdit="1"/>
          </p:cNvSpPr>
          <p:nvPr/>
        </p:nvSpPr>
        <p:spPr bwMode="auto">
          <a:xfrm>
            <a:off x="533400" y="457200"/>
            <a:ext cx="7848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ArrayList w/User Classes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89CA3589-C05A-EB7B-5131-21E8CDD56395}"/>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Text Box 2">
            <a:extLst>
              <a:ext uri="{FF2B5EF4-FFF2-40B4-BE49-F238E27FC236}">
                <a16:creationId xmlns:a16="http://schemas.microsoft.com/office/drawing/2014/main" id="{FB0A307A-E7A5-F375-CDE0-89FC25921FD3}"/>
              </a:ext>
            </a:extLst>
          </p:cNvPr>
          <p:cNvSpPr txBox="1">
            <a:spLocks noChangeArrowheads="1"/>
          </p:cNvSpPr>
          <p:nvPr/>
        </p:nvSpPr>
        <p:spPr bwMode="auto">
          <a:xfrm>
            <a:off x="914400" y="1676400"/>
            <a:ext cx="39544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Tahoma" panose="020B0604030504040204" pitchFamily="34" charset="0"/>
              </a:rPr>
              <a:t>creatures.get(0)</a:t>
            </a:r>
          </a:p>
        </p:txBody>
      </p:sp>
      <p:sp>
        <p:nvSpPr>
          <p:cNvPr id="445443" name="Text Box 3">
            <a:extLst>
              <a:ext uri="{FF2B5EF4-FFF2-40B4-BE49-F238E27FC236}">
                <a16:creationId xmlns:a16="http://schemas.microsoft.com/office/drawing/2014/main" id="{995D1300-FADB-EA25-00EB-08EDE6B2D632}"/>
              </a:ext>
            </a:extLst>
          </p:cNvPr>
          <p:cNvSpPr txBox="1">
            <a:spLocks noChangeArrowheads="1"/>
          </p:cNvSpPr>
          <p:nvPr/>
        </p:nvSpPr>
        <p:spPr bwMode="auto">
          <a:xfrm>
            <a:off x="4267200" y="3581400"/>
            <a:ext cx="2133600" cy="1566863"/>
          </a:xfrm>
          <a:prstGeom prst="rect">
            <a:avLst/>
          </a:prstGeom>
          <a:noFill/>
          <a:ln w="12700">
            <a:solidFill>
              <a:srgbClr val="FF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a:solidFill>
                  <a:srgbClr val="FF3300"/>
                </a:solidFill>
                <a:latin typeface="Tahoma" panose="020B0604030504040204" pitchFamily="34" charset="0"/>
              </a:rPr>
              <a:t>What does the . dot do?</a:t>
            </a:r>
          </a:p>
        </p:txBody>
      </p:sp>
      <p:sp>
        <p:nvSpPr>
          <p:cNvPr id="445444" name="Text Box 4">
            <a:extLst>
              <a:ext uri="{FF2B5EF4-FFF2-40B4-BE49-F238E27FC236}">
                <a16:creationId xmlns:a16="http://schemas.microsoft.com/office/drawing/2014/main" id="{7DBD8CCE-5E85-2D0B-410E-E587AE570001}"/>
              </a:ext>
            </a:extLst>
          </p:cNvPr>
          <p:cNvSpPr txBox="1">
            <a:spLocks noChangeArrowheads="1"/>
          </p:cNvSpPr>
          <p:nvPr/>
        </p:nvSpPr>
        <p:spPr bwMode="auto">
          <a:xfrm>
            <a:off x="4953000" y="1676400"/>
            <a:ext cx="2692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Tahoma" panose="020B0604030504040204" pitchFamily="34" charset="0"/>
              </a:rPr>
              <a:t>setSize(7);</a:t>
            </a:r>
          </a:p>
        </p:txBody>
      </p:sp>
      <p:sp>
        <p:nvSpPr>
          <p:cNvPr id="445445" name="Text Box 5">
            <a:extLst>
              <a:ext uri="{FF2B5EF4-FFF2-40B4-BE49-F238E27FC236}">
                <a16:creationId xmlns:a16="http://schemas.microsoft.com/office/drawing/2014/main" id="{154944BE-874D-75C9-23CC-40508FDC0F08}"/>
              </a:ext>
            </a:extLst>
          </p:cNvPr>
          <p:cNvSpPr txBox="1">
            <a:spLocks noChangeArrowheads="1"/>
          </p:cNvSpPr>
          <p:nvPr/>
        </p:nvSpPr>
        <p:spPr bwMode="auto">
          <a:xfrm>
            <a:off x="4724400" y="1676400"/>
            <a:ext cx="3270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a:latin typeface="Tahoma" panose="020B0604030504040204" pitchFamily="34" charset="0"/>
              </a:rPr>
              <a:t>.</a:t>
            </a:r>
          </a:p>
        </p:txBody>
      </p:sp>
      <p:sp>
        <p:nvSpPr>
          <p:cNvPr id="87047" name="Text Box 6">
            <a:extLst>
              <a:ext uri="{FF2B5EF4-FFF2-40B4-BE49-F238E27FC236}">
                <a16:creationId xmlns:a16="http://schemas.microsoft.com/office/drawing/2014/main" id="{DF7F86F2-64A9-114D-AAB4-09EB1160392D}"/>
              </a:ext>
            </a:extLst>
          </p:cNvPr>
          <p:cNvSpPr txBox="1">
            <a:spLocks noChangeArrowheads="1"/>
          </p:cNvSpPr>
          <p:nvPr/>
        </p:nvSpPr>
        <p:spPr bwMode="auto">
          <a:xfrm>
            <a:off x="1524000" y="3733800"/>
            <a:ext cx="2133600" cy="1566863"/>
          </a:xfrm>
          <a:prstGeom prst="rect">
            <a:avLst/>
          </a:prstGeom>
          <a:noFill/>
          <a:ln w="12700">
            <a:solidFill>
              <a:srgbClr val="008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a:solidFill>
                  <a:srgbClr val="008000"/>
                </a:solidFill>
                <a:latin typeface="Tahoma" panose="020B0604030504040204" pitchFamily="34" charset="0"/>
              </a:rPr>
              <a:t>What does this return?</a:t>
            </a:r>
          </a:p>
        </p:txBody>
      </p:sp>
      <p:sp>
        <p:nvSpPr>
          <p:cNvPr id="87048" name="Line 7">
            <a:extLst>
              <a:ext uri="{FF2B5EF4-FFF2-40B4-BE49-F238E27FC236}">
                <a16:creationId xmlns:a16="http://schemas.microsoft.com/office/drawing/2014/main" id="{C46B85E5-F318-B472-9247-4D59AC6F7E56}"/>
              </a:ext>
            </a:extLst>
          </p:cNvPr>
          <p:cNvSpPr>
            <a:spLocks noChangeShapeType="1"/>
          </p:cNvSpPr>
          <p:nvPr/>
        </p:nvSpPr>
        <p:spPr bwMode="auto">
          <a:xfrm flipV="1">
            <a:off x="3124200" y="2362200"/>
            <a:ext cx="304800" cy="1371600"/>
          </a:xfrm>
          <a:prstGeom prst="line">
            <a:avLst/>
          </a:prstGeom>
          <a:noFill/>
          <a:ln w="50800">
            <a:solidFill>
              <a:srgbClr val="0080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5448" name="Line 8">
            <a:extLst>
              <a:ext uri="{FF2B5EF4-FFF2-40B4-BE49-F238E27FC236}">
                <a16:creationId xmlns:a16="http://schemas.microsoft.com/office/drawing/2014/main" id="{3D9845C4-FB78-BC04-103E-C6158863ABDF}"/>
              </a:ext>
            </a:extLst>
          </p:cNvPr>
          <p:cNvSpPr>
            <a:spLocks noChangeShapeType="1"/>
          </p:cNvSpPr>
          <p:nvPr/>
        </p:nvSpPr>
        <p:spPr bwMode="auto">
          <a:xfrm flipH="1" flipV="1">
            <a:off x="4876800" y="2286000"/>
            <a:ext cx="381000" cy="1295400"/>
          </a:xfrm>
          <a:prstGeom prst="line">
            <a:avLst/>
          </a:prstGeom>
          <a:noFill/>
          <a:ln w="50800">
            <a:solidFill>
              <a:srgbClr val="FF3300"/>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445449" name="Text Box 9">
            <a:extLst>
              <a:ext uri="{FF2B5EF4-FFF2-40B4-BE49-F238E27FC236}">
                <a16:creationId xmlns:a16="http://schemas.microsoft.com/office/drawing/2014/main" id="{940F1544-FDB2-EAAE-0F82-68640C4A96C9}"/>
              </a:ext>
            </a:extLst>
          </p:cNvPr>
          <p:cNvSpPr txBox="1">
            <a:spLocks noChangeArrowheads="1"/>
          </p:cNvSpPr>
          <p:nvPr/>
        </p:nvSpPr>
        <p:spPr bwMode="auto">
          <a:xfrm>
            <a:off x="7086600" y="3200400"/>
            <a:ext cx="1371600" cy="1565275"/>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400" b="0">
              <a:solidFill>
                <a:srgbClr val="000066"/>
              </a:solidFill>
              <a:latin typeface="Tahoma" panose="020B0604030504040204" pitchFamily="34" charset="0"/>
            </a:endParaRPr>
          </a:p>
          <a:p>
            <a:pPr>
              <a:spcBef>
                <a:spcPct val="50000"/>
              </a:spcBef>
              <a:buFontTx/>
              <a:buNone/>
            </a:pPr>
            <a:r>
              <a:rPr lang="en-US" altLang="en-US" sz="2400" b="0">
                <a:solidFill>
                  <a:srgbClr val="000066"/>
                </a:solidFill>
                <a:latin typeface="Tahoma" panose="020B0604030504040204" pitchFamily="34" charset="0"/>
              </a:rPr>
              <a:t>Creature</a:t>
            </a:r>
          </a:p>
          <a:p>
            <a:pPr>
              <a:spcBef>
                <a:spcPct val="50000"/>
              </a:spcBef>
              <a:buFontTx/>
              <a:buNone/>
            </a:pPr>
            <a:endParaRPr lang="en-US" altLang="en-US" sz="2400" b="0">
              <a:latin typeface="Tahoma" panose="020B0604030504040204" pitchFamily="34" charset="0"/>
            </a:endParaRPr>
          </a:p>
        </p:txBody>
      </p:sp>
      <p:sp>
        <p:nvSpPr>
          <p:cNvPr id="445450" name="Text Box 10">
            <a:extLst>
              <a:ext uri="{FF2B5EF4-FFF2-40B4-BE49-F238E27FC236}">
                <a16:creationId xmlns:a16="http://schemas.microsoft.com/office/drawing/2014/main" id="{EFD9D68D-CB86-ED58-391A-F7808A04A2E6}"/>
              </a:ext>
            </a:extLst>
          </p:cNvPr>
          <p:cNvSpPr txBox="1">
            <a:spLocks noChangeArrowheads="1"/>
          </p:cNvSpPr>
          <p:nvPr/>
        </p:nvSpPr>
        <p:spPr bwMode="auto">
          <a:xfrm>
            <a:off x="7086600" y="28194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0x242</a:t>
            </a:r>
          </a:p>
        </p:txBody>
      </p:sp>
      <p:sp>
        <p:nvSpPr>
          <p:cNvPr id="445451" name="Text Box 11">
            <a:extLst>
              <a:ext uri="{FF2B5EF4-FFF2-40B4-BE49-F238E27FC236}">
                <a16:creationId xmlns:a16="http://schemas.microsoft.com/office/drawing/2014/main" id="{239F2512-38A4-87C7-D75C-57D6EEDADF9A}"/>
              </a:ext>
            </a:extLst>
          </p:cNvPr>
          <p:cNvSpPr txBox="1">
            <a:spLocks noChangeArrowheads="1"/>
          </p:cNvSpPr>
          <p:nvPr/>
        </p:nvSpPr>
        <p:spPr bwMode="auto">
          <a:xfrm>
            <a:off x="3429000" y="2286000"/>
            <a:ext cx="838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400">
                <a:solidFill>
                  <a:srgbClr val="0000FF"/>
                </a:solidFill>
                <a:latin typeface="Tahoma" panose="020B0604030504040204" pitchFamily="34" charset="0"/>
              </a:rPr>
              <a:t>0x242</a:t>
            </a:r>
          </a:p>
        </p:txBody>
      </p:sp>
      <p:sp>
        <p:nvSpPr>
          <p:cNvPr id="445452" name="Text Box 12">
            <a:extLst>
              <a:ext uri="{FF2B5EF4-FFF2-40B4-BE49-F238E27FC236}">
                <a16:creationId xmlns:a16="http://schemas.microsoft.com/office/drawing/2014/main" id="{0A3118FB-0922-43F2-0CB6-EB16320F67EB}"/>
              </a:ext>
            </a:extLst>
          </p:cNvPr>
          <p:cNvSpPr txBox="1">
            <a:spLocks noChangeArrowheads="1"/>
          </p:cNvSpPr>
          <p:nvPr/>
        </p:nvSpPr>
        <p:spPr bwMode="auto">
          <a:xfrm>
            <a:off x="3962400" y="5334000"/>
            <a:ext cx="3810000" cy="654050"/>
          </a:xfrm>
          <a:prstGeom prst="rect">
            <a:avLst/>
          </a:prstGeom>
          <a:noFill/>
          <a:ln w="12700">
            <a:solidFill>
              <a:srgbClr val="FF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1800">
                <a:solidFill>
                  <a:srgbClr val="FF3300"/>
                </a:solidFill>
                <a:latin typeface="Tahoma" panose="020B0604030504040204" pitchFamily="34" charset="0"/>
              </a:rPr>
              <a:t>The . dot grants access to the Object at the stored address.</a:t>
            </a:r>
          </a:p>
        </p:txBody>
      </p:sp>
      <p:sp>
        <p:nvSpPr>
          <p:cNvPr id="87054" name="WordArt 13">
            <a:extLst>
              <a:ext uri="{FF2B5EF4-FFF2-40B4-BE49-F238E27FC236}">
                <a16:creationId xmlns:a16="http://schemas.microsoft.com/office/drawing/2014/main" id="{87352DFE-4624-378D-B199-32DE228C3B9B}"/>
              </a:ext>
            </a:extLst>
          </p:cNvPr>
          <p:cNvSpPr>
            <a:spLocks noChangeArrowheads="1" noChangeShapeType="1" noTextEdit="1"/>
          </p:cNvSpPr>
          <p:nvPr/>
        </p:nvSpPr>
        <p:spPr bwMode="auto">
          <a:xfrm>
            <a:off x="533400" y="457200"/>
            <a:ext cx="78486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ArrayList w/User Classes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5449"/>
                                        </p:tgtEl>
                                        <p:attrNameLst>
                                          <p:attrName>style.visibility</p:attrName>
                                        </p:attrNameLst>
                                      </p:cBhvr>
                                      <p:to>
                                        <p:strVal val="visible"/>
                                      </p:to>
                                    </p:set>
                                    <p:animEffect transition="in" filter="box(in)">
                                      <p:cBhvr>
                                        <p:cTn id="7" dur="500"/>
                                        <p:tgtEl>
                                          <p:spTgt spid="445449"/>
                                        </p:tgtEl>
                                      </p:cBhvr>
                                    </p:animEffect>
                                  </p:childTnLst>
                                </p:cTn>
                              </p:par>
                              <p:par>
                                <p:cTn id="8" presetID="4" presetClass="entr" presetSubtype="16" fill="hold" nodeType="withEffect">
                                  <p:stCondLst>
                                    <p:cond delay="0"/>
                                  </p:stCondLst>
                                  <p:childTnLst>
                                    <p:set>
                                      <p:cBhvr>
                                        <p:cTn id="9" dur="1" fill="hold">
                                          <p:stCondLst>
                                            <p:cond delay="0"/>
                                          </p:stCondLst>
                                        </p:cTn>
                                        <p:tgtEl>
                                          <p:spTgt spid="445450"/>
                                        </p:tgtEl>
                                        <p:attrNameLst>
                                          <p:attrName>style.visibility</p:attrName>
                                        </p:attrNameLst>
                                      </p:cBhvr>
                                      <p:to>
                                        <p:strVal val="visible"/>
                                      </p:to>
                                    </p:set>
                                    <p:animEffect transition="in" filter="box(in)">
                                      <p:cBhvr>
                                        <p:cTn id="10" dur="500"/>
                                        <p:tgtEl>
                                          <p:spTgt spid="445450"/>
                                        </p:tgtEl>
                                      </p:cBhvr>
                                    </p:animEffect>
                                  </p:childTnLst>
                                </p:cTn>
                              </p:par>
                              <p:par>
                                <p:cTn id="11" presetID="4" presetClass="entr" presetSubtype="16" fill="hold" nodeType="withEffect">
                                  <p:stCondLst>
                                    <p:cond delay="0"/>
                                  </p:stCondLst>
                                  <p:childTnLst>
                                    <p:set>
                                      <p:cBhvr>
                                        <p:cTn id="12" dur="1" fill="hold">
                                          <p:stCondLst>
                                            <p:cond delay="0"/>
                                          </p:stCondLst>
                                        </p:cTn>
                                        <p:tgtEl>
                                          <p:spTgt spid="445451"/>
                                        </p:tgtEl>
                                        <p:attrNameLst>
                                          <p:attrName>style.visibility</p:attrName>
                                        </p:attrNameLst>
                                      </p:cBhvr>
                                      <p:to>
                                        <p:strVal val="visible"/>
                                      </p:to>
                                    </p:set>
                                    <p:animEffect transition="in" filter="box(in)">
                                      <p:cBhvr>
                                        <p:cTn id="13" dur="500"/>
                                        <p:tgtEl>
                                          <p:spTgt spid="44545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445443"/>
                                        </p:tgtEl>
                                        <p:attrNameLst>
                                          <p:attrName>style.visibility</p:attrName>
                                        </p:attrNameLst>
                                      </p:cBhvr>
                                      <p:to>
                                        <p:strVal val="visible"/>
                                      </p:to>
                                    </p:set>
                                    <p:animEffect transition="in" filter="box(in)">
                                      <p:cBhvr>
                                        <p:cTn id="18" dur="500"/>
                                        <p:tgtEl>
                                          <p:spTgt spid="445443"/>
                                        </p:tgtEl>
                                      </p:cBhvr>
                                    </p:animEffect>
                                  </p:childTnLst>
                                </p:cTn>
                              </p:par>
                              <p:par>
                                <p:cTn id="19" presetID="4" presetClass="entr" presetSubtype="16" fill="hold" nodeType="withEffect">
                                  <p:stCondLst>
                                    <p:cond delay="0"/>
                                  </p:stCondLst>
                                  <p:childTnLst>
                                    <p:set>
                                      <p:cBhvr>
                                        <p:cTn id="20" dur="1" fill="hold">
                                          <p:stCondLst>
                                            <p:cond delay="0"/>
                                          </p:stCondLst>
                                        </p:cTn>
                                        <p:tgtEl>
                                          <p:spTgt spid="445445"/>
                                        </p:tgtEl>
                                        <p:attrNameLst>
                                          <p:attrName>style.visibility</p:attrName>
                                        </p:attrNameLst>
                                      </p:cBhvr>
                                      <p:to>
                                        <p:strVal val="visible"/>
                                      </p:to>
                                    </p:set>
                                    <p:animEffect transition="in" filter="box(in)">
                                      <p:cBhvr>
                                        <p:cTn id="21" dur="500"/>
                                        <p:tgtEl>
                                          <p:spTgt spid="445445"/>
                                        </p:tgtEl>
                                      </p:cBhvr>
                                    </p:animEffect>
                                  </p:childTnLst>
                                </p:cTn>
                              </p:par>
                              <p:par>
                                <p:cTn id="22" presetID="4" presetClass="entr" presetSubtype="16" fill="hold" nodeType="withEffect">
                                  <p:stCondLst>
                                    <p:cond delay="0"/>
                                  </p:stCondLst>
                                  <p:childTnLst>
                                    <p:set>
                                      <p:cBhvr>
                                        <p:cTn id="23" dur="1" fill="hold">
                                          <p:stCondLst>
                                            <p:cond delay="0"/>
                                          </p:stCondLst>
                                        </p:cTn>
                                        <p:tgtEl>
                                          <p:spTgt spid="445448"/>
                                        </p:tgtEl>
                                        <p:attrNameLst>
                                          <p:attrName>style.visibility</p:attrName>
                                        </p:attrNameLst>
                                      </p:cBhvr>
                                      <p:to>
                                        <p:strVal val="visible"/>
                                      </p:to>
                                    </p:set>
                                    <p:animEffect transition="in" filter="box(in)">
                                      <p:cBhvr>
                                        <p:cTn id="24" dur="500"/>
                                        <p:tgtEl>
                                          <p:spTgt spid="445448"/>
                                        </p:tgtEl>
                                      </p:cBhvr>
                                    </p:animEffect>
                                  </p:childTnLst>
                                </p:cTn>
                              </p:par>
                              <p:par>
                                <p:cTn id="25" presetID="4" presetClass="entr" presetSubtype="16" fill="hold" nodeType="withEffect">
                                  <p:stCondLst>
                                    <p:cond delay="0"/>
                                  </p:stCondLst>
                                  <p:childTnLst>
                                    <p:set>
                                      <p:cBhvr>
                                        <p:cTn id="26" dur="1" fill="hold">
                                          <p:stCondLst>
                                            <p:cond delay="0"/>
                                          </p:stCondLst>
                                        </p:cTn>
                                        <p:tgtEl>
                                          <p:spTgt spid="445452"/>
                                        </p:tgtEl>
                                        <p:attrNameLst>
                                          <p:attrName>style.visibility</p:attrName>
                                        </p:attrNameLst>
                                      </p:cBhvr>
                                      <p:to>
                                        <p:strVal val="visible"/>
                                      </p:to>
                                    </p:set>
                                    <p:animEffect transition="in" filter="box(in)">
                                      <p:cBhvr>
                                        <p:cTn id="27" dur="500"/>
                                        <p:tgtEl>
                                          <p:spTgt spid="4454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45444"/>
                                        </p:tgtEl>
                                        <p:attrNameLst>
                                          <p:attrName>style.visibility</p:attrName>
                                        </p:attrNameLst>
                                      </p:cBhvr>
                                      <p:to>
                                        <p:strVal val="visible"/>
                                      </p:to>
                                    </p:set>
                                    <p:animEffect transition="in" filter="box(in)">
                                      <p:cBhvr>
                                        <p:cTn id="32" dur="500"/>
                                        <p:tgtEl>
                                          <p:spTgt spid="445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animBg="1"/>
      <p:bldP spid="445444" grpId="0"/>
      <p:bldP spid="445445" grpId="0"/>
      <p:bldP spid="445449" grpId="0" animBg="1"/>
      <p:bldP spid="445450" grpId="0"/>
      <p:bldP spid="445451" grpId="0"/>
      <p:bldP spid="44545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334E508B-5631-D8E0-2C15-E42447E689A7}"/>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9091" name="WordArt 2">
            <a:extLst>
              <a:ext uri="{FF2B5EF4-FFF2-40B4-BE49-F238E27FC236}">
                <a16:creationId xmlns:a16="http://schemas.microsoft.com/office/drawing/2014/main" id="{D6DA4C6F-CC90-9A98-05B7-B347BCE5E090}"/>
              </a:ext>
            </a:extLst>
          </p:cNvPr>
          <p:cNvSpPr>
            <a:spLocks noChangeArrowheads="1" noChangeShapeType="1" noTextEdit="1"/>
          </p:cNvSpPr>
          <p:nvPr/>
        </p:nvSpPr>
        <p:spPr bwMode="auto">
          <a:xfrm>
            <a:off x="381000" y="1676400"/>
            <a:ext cx="8077200" cy="3276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creatures.java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creaturesrunner.java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Footer Placeholder 3">
            <a:extLst>
              <a:ext uri="{FF2B5EF4-FFF2-40B4-BE49-F238E27FC236}">
                <a16:creationId xmlns:a16="http://schemas.microsoft.com/office/drawing/2014/main" id="{77B53940-D1E0-5DB8-A9EC-1CF383335180}"/>
              </a:ext>
            </a:extLst>
          </p:cNvPr>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91139" name="WordArt 2">
            <a:extLst>
              <a:ext uri="{FF2B5EF4-FFF2-40B4-BE49-F238E27FC236}">
                <a16:creationId xmlns:a16="http://schemas.microsoft.com/office/drawing/2014/main" id="{5B084C7A-3335-BCB1-3F11-88788EFD939A}"/>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Continue work</a:t>
            </a:r>
          </a:p>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on Lab 16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8&quot;/&gt;&lt;/object&gt;&lt;object type=&quot;3&quot; unique_id=&quot;10037&quot;&gt;&lt;property id=&quot;20148&quot; value=&quot;5&quot;/&gt;&lt;property id=&quot;20300&quot; value=&quot;Slide 2&quot;/&gt;&lt;property id=&quot;20307&quot; value=&quot;502&quot;/&gt;&lt;/object&gt;&lt;object type=&quot;3&quot; unique_id=&quot;10038&quot;&gt;&lt;property id=&quot;20148&quot; value=&quot;5&quot;/&gt;&lt;property id=&quot;20300&quot; value=&quot;Slide 3&quot;/&gt;&lt;property id=&quot;20307&quot; value=&quot;503&quot;/&gt;&lt;/object&gt;&lt;object type=&quot;3&quot; unique_id=&quot;10039&quot;&gt;&lt;property id=&quot;20148&quot; value=&quot;5&quot;/&gt;&lt;property id=&quot;20300&quot; value=&quot;Slide 4&quot;/&gt;&lt;property id=&quot;20307&quot; value=&quot;504&quot;/&gt;&lt;/object&gt;&lt;object type=&quot;3&quot; unique_id=&quot;10040&quot;&gt;&lt;property id=&quot;20148&quot; value=&quot;5&quot;/&gt;&lt;property id=&quot;20300&quot; value=&quot;Slide 6&quot;/&gt;&lt;property id=&quot;20307&quot; value=&quot;505&quot;/&gt;&lt;/object&gt;&lt;object type=&quot;3&quot; unique_id=&quot;10042&quot;&gt;&lt;property id=&quot;20148&quot; value=&quot;5&quot;/&gt;&lt;property id=&quot;20300&quot; value=&quot;Slide 7&quot;/&gt;&lt;property id=&quot;20307&quot; value=&quot;507&quot;/&gt;&lt;/object&gt;&lt;object type=&quot;3&quot; unique_id=&quot;10043&quot;&gt;&lt;property id=&quot;20148&quot; value=&quot;5&quot;/&gt;&lt;property id=&quot;20300&quot; value=&quot;Slide 9&quot;/&gt;&lt;property id=&quot;20307&quot; value=&quot;508&quot;/&gt;&lt;/object&gt;&lt;object type=&quot;3&quot; unique_id=&quot;10044&quot;&gt;&lt;property id=&quot;20148&quot; value=&quot;5&quot;/&gt;&lt;property id=&quot;20300&quot; value=&quot;Slide 10&quot;/&gt;&lt;property id=&quot;20307&quot; value=&quot;509&quot;/&gt;&lt;/object&gt;&lt;object type=&quot;3&quot; unique_id=&quot;10045&quot;&gt;&lt;property id=&quot;20148&quot; value=&quot;5&quot;/&gt;&lt;property id=&quot;20300&quot; value=&quot;Slide 11&quot;/&gt;&lt;property id=&quot;20307&quot; value=&quot;510&quot;/&gt;&lt;/object&gt;&lt;object type=&quot;3&quot; unique_id=&quot;10046&quot;&gt;&lt;property id=&quot;20148&quot; value=&quot;5&quot;/&gt;&lt;property id=&quot;20300&quot; value=&quot;Slide 12&quot;/&gt;&lt;property id=&quot;20307&quot; value=&quot;512&quot;/&gt;&lt;/object&gt;&lt;object type=&quot;3&quot; unique_id=&quot;10047&quot;&gt;&lt;property id=&quot;20148&quot; value=&quot;5&quot;/&gt;&lt;property id=&quot;20300&quot; value=&quot;Slide 13&quot;/&gt;&lt;property id=&quot;20307&quot; value=&quot;513&quot;/&gt;&lt;/object&gt;&lt;object type=&quot;3&quot; unique_id=&quot;10048&quot;&gt;&lt;property id=&quot;20148&quot; value=&quot;5&quot;/&gt;&lt;property id=&quot;20300&quot; value=&quot;Slide 32&quot;/&gt;&lt;property id=&quot;20307&quot; value=&quot;486&quot;/&gt;&lt;/object&gt;&lt;object type=&quot;3&quot; unique_id=&quot;10049&quot;&gt;&lt;property id=&quot;20148&quot; value=&quot;5&quot;/&gt;&lt;property id=&quot;20300&quot; value=&quot;Slide 33&quot;/&gt;&lt;property id=&quot;20307&quot; value=&quot;487&quot;/&gt;&lt;/object&gt;&lt;object type=&quot;3&quot; unique_id=&quot;10050&quot;&gt;&lt;property id=&quot;20148&quot; value=&quot;5&quot;/&gt;&lt;property id=&quot;20300&quot; value=&quot;Slide 34&quot;/&gt;&lt;property id=&quot;20307&quot; value=&quot;524&quot;/&gt;&lt;/object&gt;&lt;object type=&quot;3&quot; unique_id=&quot;10051&quot;&gt;&lt;property id=&quot;20148&quot; value=&quot;5&quot;/&gt;&lt;property id=&quot;20300&quot; value=&quot;Slide 35&quot;/&gt;&lt;property id=&quot;20307&quot; value=&quot;488&quot;/&gt;&lt;/object&gt;&lt;object type=&quot;3&quot; unique_id=&quot;10052&quot;&gt;&lt;property id=&quot;20148&quot; value=&quot;5&quot;/&gt;&lt;property id=&quot;20300&quot; value=&quot;Slide 36&quot;/&gt;&lt;property id=&quot;20307&quot; value=&quot;489&quot;/&gt;&lt;/object&gt;&lt;object type=&quot;3&quot; unique_id=&quot;10054&quot;&gt;&lt;property id=&quot;20148&quot; value=&quot;5&quot;/&gt;&lt;property id=&quot;20300&quot; value=&quot;Slide 37&quot;/&gt;&lt;property id=&quot;20307&quot; value=&quot;525&quot;/&gt;&lt;/object&gt;&lt;object type=&quot;3&quot; unique_id=&quot;10055&quot;&gt;&lt;property id=&quot;20148&quot; value=&quot;5&quot;/&gt;&lt;property id=&quot;20300&quot; value=&quot;Slide 14&quot;/&gt;&lt;property id=&quot;20307&quot; value=&quot;433&quot;/&gt;&lt;/object&gt;&lt;object type=&quot;3&quot; unique_id=&quot;10056&quot;&gt;&lt;property id=&quot;20148&quot; value=&quot;5&quot;/&gt;&lt;property id=&quot;20300&quot; value=&quot;Slide 15&quot;/&gt;&lt;property id=&quot;20307&quot; value=&quot;440&quot;/&gt;&lt;/object&gt;&lt;object type=&quot;3&quot; unique_id=&quot;10057&quot;&gt;&lt;property id=&quot;20148&quot; value=&quot;5&quot;/&gt;&lt;property id=&quot;20300&quot; value=&quot;Slide 17&quot;/&gt;&lt;property id=&quot;20307&quot; value=&quot;413&quot;/&gt;&lt;/object&gt;&lt;object type=&quot;3&quot; unique_id=&quot;10058&quot;&gt;&lt;property id=&quot;20148&quot; value=&quot;5&quot;/&gt;&lt;property id=&quot;20300&quot; value=&quot;Slide 18&quot;/&gt;&lt;property id=&quot;20307&quot; value=&quot;416&quot;/&gt;&lt;/object&gt;&lt;object type=&quot;3&quot; unique_id=&quot;10059&quot;&gt;&lt;property id=&quot;20148&quot; value=&quot;5&quot;/&gt;&lt;property id=&quot;20300&quot; value=&quot;Slide 19&quot;/&gt;&lt;property id=&quot;20307&quot; value=&quot;448&quot;/&gt;&lt;/object&gt;&lt;object type=&quot;3&quot; unique_id=&quot;10060&quot;&gt;&lt;property id=&quot;20148&quot; value=&quot;5&quot;/&gt;&lt;property id=&quot;20300&quot; value=&quot;Slide 20&quot;/&gt;&lt;property id=&quot;20307&quot; value=&quot;447&quot;/&gt;&lt;/object&gt;&lt;object type=&quot;3&quot; unique_id=&quot;10061&quot;&gt;&lt;property id=&quot;20148&quot; value=&quot;5&quot;/&gt;&lt;property id=&quot;20300&quot; value=&quot;Slide 21&quot;/&gt;&lt;property id=&quot;20307&quot; value=&quot;432&quot;/&gt;&lt;/object&gt;&lt;object type=&quot;3&quot; unique_id=&quot;10062&quot;&gt;&lt;property id=&quot;20148&quot; value=&quot;5&quot;/&gt;&lt;property id=&quot;20300&quot; value=&quot;Slide 22&quot;/&gt;&lt;property id=&quot;20307&quot; value=&quot;446&quot;/&gt;&lt;/object&gt;&lt;object type=&quot;3&quot; unique_id=&quot;10063&quot;&gt;&lt;property id=&quot;20148&quot; value=&quot;5&quot;/&gt;&lt;property id=&quot;20300&quot; value=&quot;Slide 23&quot;/&gt;&lt;property id=&quot;20307&quot; value=&quot;409&quot;/&gt;&lt;/object&gt;&lt;object type=&quot;3&quot; unique_id=&quot;10064&quot;&gt;&lt;property id=&quot;20148&quot; value=&quot;5&quot;/&gt;&lt;property id=&quot;20300&quot; value=&quot;Slide 24&quot;/&gt;&lt;property id=&quot;20307&quot; value=&quot;436&quot;/&gt;&lt;/object&gt;&lt;object type=&quot;3&quot; unique_id=&quot;10065&quot;&gt;&lt;property id=&quot;20148&quot; value=&quot;5&quot;/&gt;&lt;property id=&quot;20300&quot; value=&quot;Slide 25&quot;/&gt;&lt;property id=&quot;20307&quot; value=&quot;481&quot;/&gt;&lt;/object&gt;&lt;object type=&quot;3&quot; unique_id=&quot;10066&quot;&gt;&lt;property id=&quot;20148&quot; value=&quot;5&quot;/&gt;&lt;property id=&quot;20300&quot; value=&quot;Slide 26&quot;/&gt;&lt;property id=&quot;20307&quot; value=&quot;523&quot;/&gt;&lt;/object&gt;&lt;object type=&quot;3&quot; unique_id=&quot;10067&quot;&gt;&lt;property id=&quot;20148&quot; value=&quot;5&quot;/&gt;&lt;property id=&quot;20300&quot; value=&quot;Slide 27&quot;/&gt;&lt;property id=&quot;20307&quot; value=&quot;518&quot;/&gt;&lt;/object&gt;&lt;object type=&quot;3&quot; unique_id=&quot;10068&quot;&gt;&lt;property id=&quot;20148&quot; value=&quot;5&quot;/&gt;&lt;property id=&quot;20300&quot; value=&quot;Slide 28&quot;/&gt;&lt;property id=&quot;20307&quot; value=&quot;519&quot;/&gt;&lt;/object&gt;&lt;object type=&quot;3&quot; unique_id=&quot;10069&quot;&gt;&lt;property id=&quot;20148&quot; value=&quot;5&quot;/&gt;&lt;property id=&quot;20300&quot; value=&quot;Slide 29&quot;/&gt;&lt;property id=&quot;20307&quot; value=&quot;520&quot;/&gt;&lt;/object&gt;&lt;object type=&quot;3&quot; unique_id=&quot;10070&quot;&gt;&lt;property id=&quot;20148&quot; value=&quot;5&quot;/&gt;&lt;property id=&quot;20300&quot; value=&quot;Slide 30&quot;/&gt;&lt;property id=&quot;20307&quot; value=&quot;521&quot;/&gt;&lt;/object&gt;&lt;object type=&quot;3&quot; unique_id=&quot;10071&quot;&gt;&lt;property id=&quot;20148&quot; value=&quot;5&quot;/&gt;&lt;property id=&quot;20300&quot; value=&quot;Slide 31&quot;/&gt;&lt;property id=&quot;20307&quot; value=&quot;522&quot;/&gt;&lt;/object&gt;&lt;object type=&quot;3&quot; unique_id=&quot;10072&quot;&gt;&lt;property id=&quot;20148&quot; value=&quot;5&quot;/&gt;&lt;property id=&quot;20300&quot; value=&quot;Slide 38&quot;/&gt;&lt;property id=&quot;20307&quot; value=&quot;437&quot;/&gt;&lt;/object&gt;&lt;object type=&quot;3&quot; unique_id=&quot;11784&quot;&gt;&lt;property id=&quot;20148&quot; value=&quot;5&quot;/&gt;&lt;property id=&quot;20300&quot; value=&quot;Slide 5&quot;/&gt;&lt;property id=&quot;20307&quot; value=&quot;528&quot;/&gt;&lt;/object&gt;&lt;object type=&quot;3&quot; unique_id=&quot;12004&quot;&gt;&lt;property id=&quot;20148&quot; value=&quot;5&quot;/&gt;&lt;property id=&quot;20300&quot; value=&quot;Slide 8&quot;/&gt;&lt;property id=&quot;20307&quot; value=&quot;529&quot;/&gt;&lt;/object&gt;&lt;object type=&quot;3&quot; unique_id=&quot;12995&quot;&gt;&lt;property id=&quot;20148&quot; value=&quot;5&quot;/&gt;&lt;property id=&quot;20300&quot; value=&quot;Slide 16&quot;/&gt;&lt;property id=&quot;20307&quot; value=&quot;530&quot;/&gt;&lt;/objec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2366</TotalTime>
  <Words>2617</Words>
  <Application>Microsoft Office PowerPoint</Application>
  <PresentationFormat>On-screen Show (4:3)</PresentationFormat>
  <Paragraphs>572</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 Black</vt:lpstr>
      <vt:lpstr>Courier New</vt:lpstr>
      <vt:lpstr>Impact</vt:lpstr>
      <vt:lpstr>Tahoma</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arrayList</dc:title>
  <dc:subject>ArrayList</dc:subject>
  <dc:creator>A+ Computer Science</dc:creator>
  <cp:keywords>www.apluscompsci.com</cp:keywords>
  <dc:description>ArrayList_x000d_
©A+ Computer Science_x000d_
www.apluscompsci.com</dc:description>
  <cp:lastModifiedBy>Weldon Jasik</cp:lastModifiedBy>
  <cp:revision>562</cp:revision>
  <cp:lastPrinted>2000-05-16T18:55:37Z</cp:lastPrinted>
  <dcterms:created xsi:type="dcterms:W3CDTF">1997-11-19T18:53:48Z</dcterms:created>
  <dcterms:modified xsi:type="dcterms:W3CDTF">2024-09-04T18:30:04Z</dcterms:modified>
  <cp:category>www.apluscompsci.com</cp:category>
</cp:coreProperties>
</file>
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1"/>
  </p:notesMasterIdLst>
  <p:handoutMasterIdLst>
    <p:handoutMasterId r:id="rId32"/>
  </p:handoutMasterIdLst>
  <p:sldIdLst>
    <p:sldId id="329" r:id="rId2"/>
    <p:sldId id="279" r:id="rId3"/>
    <p:sldId id="399" r:id="rId4"/>
    <p:sldId id="400" r:id="rId5"/>
    <p:sldId id="401" r:id="rId6"/>
    <p:sldId id="402" r:id="rId7"/>
    <p:sldId id="366" r:id="rId8"/>
    <p:sldId id="397" r:id="rId9"/>
    <p:sldId id="367" r:id="rId10"/>
    <p:sldId id="330" r:id="rId11"/>
    <p:sldId id="388" r:id="rId12"/>
    <p:sldId id="322" r:id="rId13"/>
    <p:sldId id="323" r:id="rId14"/>
    <p:sldId id="383" r:id="rId15"/>
    <p:sldId id="379" r:id="rId16"/>
    <p:sldId id="380" r:id="rId17"/>
    <p:sldId id="381" r:id="rId18"/>
    <p:sldId id="403" r:id="rId19"/>
    <p:sldId id="386" r:id="rId20"/>
    <p:sldId id="362" r:id="rId21"/>
    <p:sldId id="404" r:id="rId22"/>
    <p:sldId id="368" r:id="rId23"/>
    <p:sldId id="328" r:id="rId24"/>
    <p:sldId id="339" r:id="rId25"/>
    <p:sldId id="338" r:id="rId26"/>
    <p:sldId id="389" r:id="rId27"/>
    <p:sldId id="398" r:id="rId28"/>
    <p:sldId id="390" r:id="rId29"/>
    <p:sldId id="387" r:id="rId30"/>
  </p:sldIdLst>
  <p:sldSz cx="9144000" cy="6858000" type="screen4x3"/>
  <p:notesSz cx="6858000" cy="9144000"/>
  <p:custDataLst>
    <p:tags r:id="rId33"/>
  </p:custDataLst>
  <p:defaultTextStyle>
    <a:defPPr>
      <a:defRPr lang="en-US"/>
    </a:defPPr>
    <a:lvl1pPr algn="l" rtl="0" eaLnBrk="0" fontAlgn="base" hangingPunct="0">
      <a:spcBef>
        <a:spcPct val="0"/>
      </a:spcBef>
      <a:spcAft>
        <a:spcPct val="0"/>
      </a:spcAft>
      <a:defRPr sz="2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FBFB"/>
    <a:srgbClr val="0099CC"/>
    <a:srgbClr val="003366"/>
    <a:srgbClr val="660066"/>
    <a:srgbClr val="FFFF00"/>
    <a:srgbClr val="FFFFCC"/>
    <a:srgbClr val="FFCCFF"/>
    <a:srgbClr val="99FFFF"/>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88608" autoAdjust="0"/>
  </p:normalViewPr>
  <p:slideViewPr>
    <p:cSldViewPr snapToGrid="0">
      <p:cViewPr varScale="1">
        <p:scale>
          <a:sx n="81" d="100"/>
          <a:sy n="81" d="100"/>
        </p:scale>
        <p:origin x="142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72"/>
    </p:cViewPr>
  </p:sorterViewPr>
  <p:notesViewPr>
    <p:cSldViewPr snapToGrid="0">
      <p:cViewPr varScale="1">
        <p:scale>
          <a:sx n="63" d="100"/>
          <a:sy n="63" d="100"/>
        </p:scale>
        <p:origin x="-243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1"/>
            </a:lvl1pPr>
          </a:lstStyle>
          <a:p>
            <a:pPr>
              <a:defRPr/>
            </a:pPr>
            <a:endParaRPr lang="en-US"/>
          </a:p>
        </p:txBody>
      </p:sp>
      <p:sp>
        <p:nvSpPr>
          <p:cNvPr id="3993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1"/>
            </a:lvl1pPr>
          </a:lstStyle>
          <a:p>
            <a:pPr>
              <a:defRPr/>
            </a:pPr>
            <a:endParaRPr lang="en-US"/>
          </a:p>
        </p:txBody>
      </p:sp>
      <p:sp>
        <p:nvSpPr>
          <p:cNvPr id="3994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1"/>
            </a:lvl1pPr>
          </a:lstStyle>
          <a:p>
            <a:pPr>
              <a:defRPr/>
            </a:pPr>
            <a:endParaRPr lang="en-US"/>
          </a:p>
        </p:txBody>
      </p:sp>
      <p:sp>
        <p:nvSpPr>
          <p:cNvPr id="3994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1"/>
            </a:lvl1pPr>
          </a:lstStyle>
          <a:p>
            <a:pPr>
              <a:defRPr/>
            </a:pPr>
            <a:fld id="{C008D70E-2E68-44A0-BD0F-EE16C74DF1BE}" type="slidenum">
              <a:rPr lang="en-US"/>
              <a:pPr>
                <a:defRPr/>
              </a:pPr>
              <a:t>‹#›</a:t>
            </a:fld>
            <a:endParaRPr lang="en-US"/>
          </a:p>
        </p:txBody>
      </p:sp>
    </p:spTree>
    <p:extLst>
      <p:ext uri="{BB962C8B-B14F-4D97-AF65-F5344CB8AC3E}">
        <p14:creationId xmlns:p14="http://schemas.microsoft.com/office/powerpoint/2010/main" val="5163364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3105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137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52148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3268371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78282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2806379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1046808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2238204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61625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dirty="0"/>
          </a:p>
        </p:txBody>
      </p:sp>
    </p:spTree>
    <p:extLst>
      <p:ext uri="{BB962C8B-B14F-4D97-AF65-F5344CB8AC3E}">
        <p14:creationId xmlns:p14="http://schemas.microsoft.com/office/powerpoint/2010/main" val="612330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dirty="0"/>
              <a:t>The maximum distance of any node from the root</a:t>
            </a:r>
            <a:r>
              <a:rPr lang="en-US" dirty="0">
                <a:solidFill>
                  <a:schemeClr val="tx1"/>
                </a:solidFill>
              </a:rPr>
              <a:t>. </a:t>
            </a:r>
            <a:r>
              <a:rPr lang="en-US" dirty="0"/>
              <a:t>If a tree has only one node (the root), the height is zero. The height of an empty tree is not defined.</a:t>
            </a:r>
          </a:p>
        </p:txBody>
      </p:sp>
    </p:spTree>
    <p:extLst>
      <p:ext uri="{BB962C8B-B14F-4D97-AF65-F5344CB8AC3E}">
        <p14:creationId xmlns:p14="http://schemas.microsoft.com/office/powerpoint/2010/main" val="2270515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909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7" tIns="46589" rIns="93177" bIns="46589"/>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1139"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163"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3187"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extLst>
      <p:ext uri="{BB962C8B-B14F-4D97-AF65-F5344CB8AC3E}">
        <p14:creationId xmlns:p14="http://schemas.microsoft.com/office/powerpoint/2010/main" val="8634619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6259"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7283"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7" tIns="46589" rIns="93177" bIns="46589"/>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 </a:t>
            </a:r>
            <a:r>
              <a:rPr lang="en-US" b="1"/>
              <a:t>balanced binary tree</a:t>
            </a:r>
            <a:r>
              <a:rPr lang="en-US"/>
              <a:t> is commonly defined as a binary tree in which the depth of the two subtrees of every node never differ by more than 1,</a:t>
            </a:r>
            <a:r>
              <a:rPr lang="en-US" baseline="30000">
                <a:hlinkClick r:id="" action="ppaction://hlinkfile"/>
              </a:rPr>
              <a:t>[3]</a:t>
            </a:r>
            <a:r>
              <a:rPr lang="en-US"/>
              <a:t> although in general it is a binary tree where no leaf is much farther away from the root than any other leaf.  (Different balancing schemes allow different definitions of "much farther"</a:t>
            </a:r>
            <a:r>
              <a:rPr lang="en-US" baseline="30000">
                <a:hlinkClick r:id="" action="ppaction://hlinkfile"/>
              </a:rPr>
              <a:t>[4]</a:t>
            </a:r>
            <a:r>
              <a:rPr lang="en-US"/>
              <a:t>). Binary trees that are balanced according to this definition have a predictable depth (how many nodes are traversed from the root to a leaf, root counting as node 0 and subsequent as 1, 2, ..., depth). This depth is equal to the integer part of where is the number of nodes on the balanced tree. Example 1: balanced tree with 1 node, (depth = 0). Example 2: balanced tree with 3 nodes, (depth=1). Example 3: balanced tree with 5 nodes, (depth of tree is 2 nodes).</a:t>
            </a:r>
          </a:p>
        </p:txBody>
      </p:sp>
    </p:spTree>
    <p:extLst>
      <p:ext uri="{BB962C8B-B14F-4D97-AF65-F5344CB8AC3E}">
        <p14:creationId xmlns:p14="http://schemas.microsoft.com/office/powerpoint/2010/main" val="3017068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 </a:t>
            </a:r>
            <a:r>
              <a:rPr lang="en-US" b="1"/>
              <a:t>balanced binary tree</a:t>
            </a:r>
            <a:r>
              <a:rPr lang="en-US"/>
              <a:t> is commonly defined as a binary tree in which the depth of the two subtrees of every node never differ by more than 1,</a:t>
            </a:r>
            <a:r>
              <a:rPr lang="en-US" baseline="30000">
                <a:hlinkClick r:id="" action="ppaction://hlinkfile"/>
              </a:rPr>
              <a:t>[3]</a:t>
            </a:r>
            <a:r>
              <a:rPr lang="en-US"/>
              <a:t> although in general it is a binary tree where no leaf is much farther away from the root than any other leaf.  (Different balancing schemes allow different definitions of "much farther"</a:t>
            </a:r>
            <a:r>
              <a:rPr lang="en-US" baseline="30000">
                <a:hlinkClick r:id="" action="ppaction://hlinkfile"/>
              </a:rPr>
              <a:t>[4]</a:t>
            </a:r>
            <a:r>
              <a:rPr lang="en-US"/>
              <a:t>). Binary trees that are balanced according to this definition have a predictable depth (how many nodes are traversed from the root to a leaf, root counting as node 0 and subsequent as 1, 2, ..., depth). This depth is equal to the integer part of where is the number of nodes on the balanced tree. Example 1: balanced tree with 1 node, (depth = 0). Example 2: balanced tree with 3 nodes, (depth=1). Example 3: balanced tree with 5 nodes, (depth of tree is 2 nodes).</a:t>
            </a:r>
          </a:p>
        </p:txBody>
      </p:sp>
    </p:spTree>
    <p:extLst>
      <p:ext uri="{BB962C8B-B14F-4D97-AF65-F5344CB8AC3E}">
        <p14:creationId xmlns:p14="http://schemas.microsoft.com/office/powerpoint/2010/main" val="2665451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This slide is editable.</a:t>
            </a:r>
          </a:p>
        </p:txBody>
      </p:sp>
    </p:spTree>
    <p:extLst>
      <p:ext uri="{BB962C8B-B14F-4D97-AF65-F5344CB8AC3E}">
        <p14:creationId xmlns:p14="http://schemas.microsoft.com/office/powerpoint/2010/main" val="2865325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6DFF4D22-219A-41EC-AAAA-A480C6A0241D}"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4015106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88BAC133-8006-4042-A2C6-E2135B65489B}"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438407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91E6A31E-D5CB-4919-A098-37296F9BD392}"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319774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57471938-B544-487E-930F-272EA0E4117E}"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689883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96AB4639-C0DE-4FA4-91C8-CB484847FB20}" type="slidenum">
              <a:rPr lang="en-US"/>
              <a:pPr>
                <a:defRPr/>
              </a:pPr>
              <a:t>‹#›</a:t>
            </a:fld>
            <a:endParaRPr lang="en-US"/>
          </a:p>
        </p:txBody>
      </p:sp>
      <p:sp>
        <p:nvSpPr>
          <p:cNvPr id="9"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598422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0D713244-FEF9-4DD2-9774-EB2ADD432F6A}" type="slidenum">
              <a:rPr lang="en-US"/>
              <a:pPr>
                <a:defRPr/>
              </a:pPr>
              <a:t>‹#›</a:t>
            </a:fld>
            <a:endParaRPr lang="en-US"/>
          </a:p>
        </p:txBody>
      </p:sp>
      <p:sp>
        <p:nvSpPr>
          <p:cNvPr id="5"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774787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5820E319-8829-4CDA-B5FC-22F831E6A1AD}" type="slidenum">
              <a:rPr lang="en-US"/>
              <a:pPr>
                <a:defRPr/>
              </a:pPr>
              <a:t>‹#›</a:t>
            </a:fld>
            <a:endParaRPr lang="en-US"/>
          </a:p>
        </p:txBody>
      </p:sp>
      <p:sp>
        <p:nvSpPr>
          <p:cNvPr id="4"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374394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C1078AF7-FA9C-4AE9-8830-C9C18BAA92CE}"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201418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7BD72B21-4C4C-498D-8BEA-C250BB907B4D}"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321426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8F13E7D-FBEA-4997-A3AC-8541F5D50424}"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1497471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9A8F924-4935-45CD-9CDC-E23DC92690DF}"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970044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atin typeface="+mn-lt"/>
              </a:defRPr>
            </a:lvl1pPr>
          </a:lstStyle>
          <a:p>
            <a:pPr>
              <a:defRPr/>
            </a:pPr>
            <a:fld id="{D8886AA1-88A9-4F85-B9C4-C81CC8BB0412}" type="slidenum">
              <a:rPr lang="en-US"/>
              <a:pPr>
                <a:defRPr/>
              </a:pPr>
              <a:t>‹#›</a:t>
            </a:fld>
            <a:endParaRPr lang="en-US"/>
          </a:p>
        </p:txBody>
      </p:sp>
      <p:sp>
        <p:nvSpPr>
          <p:cNvPr id="1032" name="Rectangle 8"/>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b="0" i="0" u="none">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0" i="0" u="none">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1987" name="WordArt 2"/>
          <p:cNvSpPr>
            <a:spLocks noChangeArrowheads="1" noChangeShapeType="1" noTextEdit="1"/>
          </p:cNvSpPr>
          <p:nvPr/>
        </p:nvSpPr>
        <p:spPr bwMode="auto">
          <a:xfrm>
            <a:off x="1524000" y="1447800"/>
            <a:ext cx="6248400" cy="31242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Attributes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533400" y="2252584"/>
            <a:ext cx="800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full / proper binary tree is strictly binary, </a:t>
            </a:r>
            <a:br>
              <a:rPr lang="en-US" sz="2800" b="1" dirty="0"/>
            </a:br>
            <a:r>
              <a:rPr lang="en-US" sz="2800" b="1" dirty="0"/>
              <a:t>i.e. every </a:t>
            </a:r>
            <a:r>
              <a:rPr lang="en-US" sz="2800" b="1" u="sng" dirty="0"/>
              <a:t>node</a:t>
            </a:r>
            <a:r>
              <a:rPr lang="en-US" sz="2800" b="1" dirty="0"/>
              <a:t> has exactly two children or no children at all.   </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3380702" y="3581400"/>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1018502" y="5538763"/>
            <a:ext cx="7924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Equivalently:  every </a:t>
            </a:r>
            <a:r>
              <a:rPr lang="en-US" sz="2800" b="1" u="sng" dirty="0"/>
              <a:t>parent</a:t>
            </a:r>
            <a:r>
              <a:rPr lang="en-US" sz="2800" b="1" dirty="0"/>
              <a:t> is full.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xfrm>
            <a:off x="6204677" y="6359806"/>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533400" y="2252584"/>
            <a:ext cx="800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solidFill>
                  <a:schemeClr val="accent6">
                    <a:lumMod val="75000"/>
                  </a:schemeClr>
                </a:solidFill>
              </a:rPr>
              <a:t>Full binary tree theorem: The number of leaves is always one more than the number of parents (a.k.a. internal nodes).</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1066800" y="4572000"/>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1040736" y="3773377"/>
            <a:ext cx="59918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sz="2800" b="1" dirty="0">
                <a:solidFill>
                  <a:schemeClr val="accent6">
                    <a:lumMod val="75000"/>
                  </a:schemeClr>
                </a:solidFill>
              </a:rPr>
              <a:t>Leaves = Parents + 1</a:t>
            </a:r>
          </a:p>
        </p:txBody>
      </p:sp>
      <p:sp>
        <p:nvSpPr>
          <p:cNvPr id="3" name="Text Box 3">
            <a:extLst>
              <a:ext uri="{FF2B5EF4-FFF2-40B4-BE49-F238E27FC236}">
                <a16:creationId xmlns:a16="http://schemas.microsoft.com/office/drawing/2014/main" id="{F4E92F90-E67F-1A87-8A88-ABB7556D9E3A}"/>
              </a:ext>
            </a:extLst>
          </p:cNvPr>
          <p:cNvSpPr txBox="1">
            <a:spLocks noChangeArrowheads="1"/>
          </p:cNvSpPr>
          <p:nvPr/>
        </p:nvSpPr>
        <p:spPr bwMode="auto">
          <a:xfrm>
            <a:off x="5257800" y="4807487"/>
            <a:ext cx="3124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Parents = 2</a:t>
            </a:r>
          </a:p>
          <a:p>
            <a:r>
              <a:rPr lang="en-US" sz="2800" b="1" dirty="0"/>
              <a:t>Leaves = 3</a:t>
            </a:r>
          </a:p>
          <a:p>
            <a:r>
              <a:rPr lang="en-US" sz="2800" b="1" dirty="0"/>
              <a:t>Total nodes = 5</a:t>
            </a:r>
          </a:p>
        </p:txBody>
      </p:sp>
      <p:sp>
        <p:nvSpPr>
          <p:cNvPr id="4" name="Text Box 3">
            <a:extLst>
              <a:ext uri="{FF2B5EF4-FFF2-40B4-BE49-F238E27FC236}">
                <a16:creationId xmlns:a16="http://schemas.microsoft.com/office/drawing/2014/main" id="{C376F1DA-CC47-E041-8560-8DFB0BE946DA}"/>
              </a:ext>
            </a:extLst>
          </p:cNvPr>
          <p:cNvSpPr txBox="1">
            <a:spLocks noChangeArrowheads="1"/>
          </p:cNvSpPr>
          <p:nvPr/>
        </p:nvSpPr>
        <p:spPr bwMode="auto">
          <a:xfrm>
            <a:off x="6790834" y="3598856"/>
            <a:ext cx="235316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sz="2800" b="1" dirty="0">
                <a:solidFill>
                  <a:schemeClr val="accent6">
                    <a:lumMod val="75000"/>
                  </a:schemeClr>
                </a:solidFill>
              </a:rPr>
              <a:t>L = P + 1</a:t>
            </a:r>
          </a:p>
          <a:p>
            <a:pPr algn="ctr"/>
            <a:r>
              <a:rPr lang="en-US" sz="2800" b="1" dirty="0">
                <a:solidFill>
                  <a:schemeClr val="accent6">
                    <a:lumMod val="75000"/>
                  </a:schemeClr>
                </a:solidFill>
              </a:rPr>
              <a:t>P = L – 1</a:t>
            </a:r>
          </a:p>
        </p:txBody>
      </p:sp>
    </p:spTree>
    <p:extLst>
      <p:ext uri="{BB962C8B-B14F-4D97-AF65-F5344CB8AC3E}">
        <p14:creationId xmlns:p14="http://schemas.microsoft.com/office/powerpoint/2010/main" val="13048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xfrm>
            <a:off x="6204677" y="6359806"/>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533400" y="2252584"/>
            <a:ext cx="800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solidFill>
                  <a:schemeClr val="accent6">
                    <a:lumMod val="75000"/>
                  </a:schemeClr>
                </a:solidFill>
              </a:rPr>
              <a:t>Full binary tree theorem 2: The number of parents (a.k.a. internal nodes) is always half of one less than the number of nodes.</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1905000" y="3886200"/>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5744084" y="4040492"/>
            <a:ext cx="2895600" cy="129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pPr>
            <a:r>
              <a:rPr lang="en-US" sz="2800" b="1" dirty="0">
                <a:solidFill>
                  <a:schemeClr val="accent6">
                    <a:lumMod val="75000"/>
                  </a:schemeClr>
                </a:solidFill>
              </a:rPr>
              <a:t>P = (N – 1) / 2</a:t>
            </a:r>
          </a:p>
          <a:p>
            <a:pPr algn="ctr">
              <a:lnSpc>
                <a:spcPct val="150000"/>
              </a:lnSpc>
            </a:pPr>
            <a:r>
              <a:rPr lang="en-US" sz="2800" b="1" dirty="0">
                <a:solidFill>
                  <a:schemeClr val="accent6">
                    <a:lumMod val="75000"/>
                  </a:schemeClr>
                </a:solidFill>
              </a:rPr>
              <a:t>N = 2 * P + 1</a:t>
            </a:r>
          </a:p>
        </p:txBody>
      </p:sp>
      <p:sp>
        <p:nvSpPr>
          <p:cNvPr id="3" name="Text Box 3">
            <a:extLst>
              <a:ext uri="{FF2B5EF4-FFF2-40B4-BE49-F238E27FC236}">
                <a16:creationId xmlns:a16="http://schemas.microsoft.com/office/drawing/2014/main" id="{F4E92F90-E67F-1A87-8A88-ABB7556D9E3A}"/>
              </a:ext>
            </a:extLst>
          </p:cNvPr>
          <p:cNvSpPr txBox="1">
            <a:spLocks noChangeArrowheads="1"/>
          </p:cNvSpPr>
          <p:nvPr/>
        </p:nvSpPr>
        <p:spPr bwMode="auto">
          <a:xfrm>
            <a:off x="480758" y="5291475"/>
            <a:ext cx="3124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Parents = 2</a:t>
            </a:r>
          </a:p>
          <a:p>
            <a:r>
              <a:rPr lang="en-US" sz="2800" b="1" dirty="0"/>
              <a:t>Leaves = 3</a:t>
            </a:r>
          </a:p>
          <a:p>
            <a:r>
              <a:rPr lang="en-US" sz="2800" b="1" dirty="0"/>
              <a:t>Total nodes = 5</a:t>
            </a:r>
          </a:p>
        </p:txBody>
      </p:sp>
      <p:sp>
        <p:nvSpPr>
          <p:cNvPr id="4" name="Text Box 3">
            <a:extLst>
              <a:ext uri="{FF2B5EF4-FFF2-40B4-BE49-F238E27FC236}">
                <a16:creationId xmlns:a16="http://schemas.microsoft.com/office/drawing/2014/main" id="{3B56DC99-BA41-CF37-3C23-828674C963DD}"/>
              </a:ext>
            </a:extLst>
          </p:cNvPr>
          <p:cNvSpPr txBox="1">
            <a:spLocks noChangeArrowheads="1"/>
          </p:cNvSpPr>
          <p:nvPr/>
        </p:nvSpPr>
        <p:spPr bwMode="auto">
          <a:xfrm>
            <a:off x="5742529" y="5512272"/>
            <a:ext cx="2895600" cy="65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pPr>
            <a:r>
              <a:rPr lang="en-US" sz="2800" b="1" dirty="0">
                <a:solidFill>
                  <a:schemeClr val="accent6">
                    <a:lumMod val="75000"/>
                  </a:schemeClr>
                </a:solidFill>
              </a:rPr>
              <a:t>L = ????????</a:t>
            </a:r>
          </a:p>
        </p:txBody>
      </p:sp>
    </p:spTree>
    <p:extLst>
      <p:ext uri="{BB962C8B-B14F-4D97-AF65-F5344CB8AC3E}">
        <p14:creationId xmlns:p14="http://schemas.microsoft.com/office/powerpoint/2010/main" val="416588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xfrm>
            <a:off x="6204677" y="6359806"/>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239531" y="-20541"/>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504316" y="2832336"/>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4923916" y="2477333"/>
            <a:ext cx="4067684" cy="3882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pPr>
            <a:r>
              <a:rPr lang="en-US" sz="2800" b="1" dirty="0">
                <a:solidFill>
                  <a:srgbClr val="0000CC"/>
                </a:solidFill>
              </a:rPr>
              <a:t>P = (N – 1)/2</a:t>
            </a:r>
          </a:p>
          <a:p>
            <a:pPr algn="ctr">
              <a:lnSpc>
                <a:spcPct val="150000"/>
              </a:lnSpc>
            </a:pPr>
            <a:r>
              <a:rPr lang="en-US" sz="2800" b="1" dirty="0">
                <a:solidFill>
                  <a:schemeClr val="accent6">
                    <a:lumMod val="75000"/>
                  </a:schemeClr>
                </a:solidFill>
              </a:rPr>
              <a:t>L – 1 = (N – 1)/2</a:t>
            </a:r>
          </a:p>
          <a:p>
            <a:pPr algn="ctr">
              <a:lnSpc>
                <a:spcPct val="150000"/>
              </a:lnSpc>
            </a:pPr>
            <a:r>
              <a:rPr lang="en-US" sz="2800" b="1" dirty="0">
                <a:solidFill>
                  <a:schemeClr val="accent6">
                    <a:lumMod val="75000"/>
                  </a:schemeClr>
                </a:solidFill>
              </a:rPr>
              <a:t>L = (N – 1)/2 + 1</a:t>
            </a:r>
          </a:p>
          <a:p>
            <a:pPr algn="ctr">
              <a:lnSpc>
                <a:spcPct val="150000"/>
              </a:lnSpc>
            </a:pPr>
            <a:r>
              <a:rPr lang="en-US" sz="2800" b="1" dirty="0">
                <a:solidFill>
                  <a:schemeClr val="accent6">
                    <a:lumMod val="75000"/>
                  </a:schemeClr>
                </a:solidFill>
              </a:rPr>
              <a:t>L = (N – 1)/2 + 2/2</a:t>
            </a:r>
          </a:p>
          <a:p>
            <a:pPr algn="ctr">
              <a:lnSpc>
                <a:spcPct val="150000"/>
              </a:lnSpc>
            </a:pPr>
            <a:r>
              <a:rPr lang="en-US" sz="2800" b="1" dirty="0">
                <a:solidFill>
                  <a:schemeClr val="accent6">
                    <a:lumMod val="75000"/>
                  </a:schemeClr>
                </a:solidFill>
              </a:rPr>
              <a:t>L = (N – 1 + 2)/2</a:t>
            </a:r>
          </a:p>
          <a:p>
            <a:pPr algn="ctr">
              <a:lnSpc>
                <a:spcPct val="150000"/>
              </a:lnSpc>
            </a:pPr>
            <a:r>
              <a:rPr lang="en-US" sz="2800" b="1" dirty="0">
                <a:solidFill>
                  <a:srgbClr val="0000CC"/>
                </a:solidFill>
              </a:rPr>
              <a:t>L = (N + 1) / 2</a:t>
            </a:r>
          </a:p>
        </p:txBody>
      </p:sp>
      <p:sp>
        <p:nvSpPr>
          <p:cNvPr id="3" name="Text Box 3">
            <a:extLst>
              <a:ext uri="{FF2B5EF4-FFF2-40B4-BE49-F238E27FC236}">
                <a16:creationId xmlns:a16="http://schemas.microsoft.com/office/drawing/2014/main" id="{F4E92F90-E67F-1A87-8A88-ABB7556D9E3A}"/>
              </a:ext>
            </a:extLst>
          </p:cNvPr>
          <p:cNvSpPr txBox="1">
            <a:spLocks noChangeArrowheads="1"/>
          </p:cNvSpPr>
          <p:nvPr/>
        </p:nvSpPr>
        <p:spPr bwMode="auto">
          <a:xfrm>
            <a:off x="480758" y="5291475"/>
            <a:ext cx="3124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Parents = 2</a:t>
            </a:r>
          </a:p>
          <a:p>
            <a:r>
              <a:rPr lang="en-US" sz="2800" b="1" dirty="0"/>
              <a:t>Leaves = 3</a:t>
            </a:r>
          </a:p>
          <a:p>
            <a:r>
              <a:rPr lang="en-US" sz="2800" b="1" dirty="0"/>
              <a:t>Total nodes = 5</a:t>
            </a:r>
          </a:p>
        </p:txBody>
      </p:sp>
      <p:sp>
        <p:nvSpPr>
          <p:cNvPr id="5" name="TextBox 4">
            <a:extLst>
              <a:ext uri="{FF2B5EF4-FFF2-40B4-BE49-F238E27FC236}">
                <a16:creationId xmlns:a16="http://schemas.microsoft.com/office/drawing/2014/main" id="{CB019E90-49EB-0F56-E04B-747DEDE4AA3B}"/>
              </a:ext>
            </a:extLst>
          </p:cNvPr>
          <p:cNvSpPr txBox="1"/>
          <p:nvPr/>
        </p:nvSpPr>
        <p:spPr>
          <a:xfrm>
            <a:off x="3401045" y="2727045"/>
            <a:ext cx="2057400" cy="830997"/>
          </a:xfrm>
          <a:prstGeom prst="rect">
            <a:avLst/>
          </a:prstGeom>
          <a:noFill/>
        </p:spPr>
        <p:txBody>
          <a:bodyPr wrap="square">
            <a:spAutoFit/>
          </a:bodyPr>
          <a:lstStyle/>
          <a:p>
            <a:pPr algn="ctr"/>
            <a:r>
              <a:rPr lang="en-US" sz="2400" b="1" dirty="0">
                <a:solidFill>
                  <a:srgbClr val="7030A0"/>
                </a:solidFill>
              </a:rPr>
              <a:t>L = P + 1</a:t>
            </a:r>
          </a:p>
          <a:p>
            <a:pPr algn="ctr"/>
            <a:r>
              <a:rPr lang="en-US" sz="2400" b="1" dirty="0">
                <a:solidFill>
                  <a:srgbClr val="7030A0"/>
                </a:solidFill>
              </a:rPr>
              <a:t>P = L – 1</a:t>
            </a:r>
          </a:p>
        </p:txBody>
      </p:sp>
    </p:spTree>
    <p:extLst>
      <p:ext uri="{BB962C8B-B14F-4D97-AF65-F5344CB8AC3E}">
        <p14:creationId xmlns:p14="http://schemas.microsoft.com/office/powerpoint/2010/main" val="1573790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xfrm>
            <a:off x="6204677" y="6359806"/>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504316" y="2832336"/>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4572000" y="2555058"/>
            <a:ext cx="4191000" cy="3236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pPr>
            <a:r>
              <a:rPr lang="en-US" sz="2800" b="1" dirty="0">
                <a:solidFill>
                  <a:srgbClr val="0000CC"/>
                </a:solidFill>
              </a:rPr>
              <a:t>N = 2P + 1</a:t>
            </a:r>
          </a:p>
          <a:p>
            <a:pPr algn="ctr">
              <a:lnSpc>
                <a:spcPct val="150000"/>
              </a:lnSpc>
            </a:pPr>
            <a:r>
              <a:rPr lang="en-US" sz="2800" b="1" dirty="0">
                <a:solidFill>
                  <a:srgbClr val="0000CC"/>
                </a:solidFill>
              </a:rPr>
              <a:t>P = (N – 1) / 2</a:t>
            </a:r>
          </a:p>
          <a:p>
            <a:pPr algn="ctr">
              <a:lnSpc>
                <a:spcPct val="150000"/>
              </a:lnSpc>
            </a:pPr>
            <a:endParaRPr lang="en-US" sz="2800" b="1" dirty="0">
              <a:solidFill>
                <a:srgbClr val="0000CC"/>
              </a:solidFill>
            </a:endParaRPr>
          </a:p>
          <a:p>
            <a:pPr algn="ctr">
              <a:lnSpc>
                <a:spcPct val="150000"/>
              </a:lnSpc>
            </a:pPr>
            <a:r>
              <a:rPr lang="en-US" sz="2800" b="1" dirty="0">
                <a:solidFill>
                  <a:srgbClr val="0000CC"/>
                </a:solidFill>
              </a:rPr>
              <a:t>L = (N + 1) / 2</a:t>
            </a:r>
          </a:p>
          <a:p>
            <a:pPr algn="ctr">
              <a:lnSpc>
                <a:spcPct val="150000"/>
              </a:lnSpc>
            </a:pPr>
            <a:r>
              <a:rPr lang="en-US" sz="2800" b="1" dirty="0">
                <a:solidFill>
                  <a:srgbClr val="0000CC"/>
                </a:solidFill>
              </a:rPr>
              <a:t>N = 2L – 1</a:t>
            </a:r>
          </a:p>
        </p:txBody>
      </p:sp>
      <p:sp>
        <p:nvSpPr>
          <p:cNvPr id="3" name="Text Box 3">
            <a:extLst>
              <a:ext uri="{FF2B5EF4-FFF2-40B4-BE49-F238E27FC236}">
                <a16:creationId xmlns:a16="http://schemas.microsoft.com/office/drawing/2014/main" id="{F4E92F90-E67F-1A87-8A88-ABB7556D9E3A}"/>
              </a:ext>
            </a:extLst>
          </p:cNvPr>
          <p:cNvSpPr txBox="1">
            <a:spLocks noChangeArrowheads="1"/>
          </p:cNvSpPr>
          <p:nvPr/>
        </p:nvSpPr>
        <p:spPr bwMode="auto">
          <a:xfrm>
            <a:off x="480758" y="5291475"/>
            <a:ext cx="3124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Parents = 2</a:t>
            </a:r>
          </a:p>
          <a:p>
            <a:r>
              <a:rPr lang="en-US" sz="2800" b="1" dirty="0"/>
              <a:t>Leaves = 3</a:t>
            </a:r>
          </a:p>
          <a:p>
            <a:r>
              <a:rPr lang="en-US" sz="2800" b="1" dirty="0"/>
              <a:t>Total nodes = 5</a:t>
            </a:r>
          </a:p>
        </p:txBody>
      </p:sp>
    </p:spTree>
    <p:extLst>
      <p:ext uri="{BB962C8B-B14F-4D97-AF65-F5344CB8AC3E}">
        <p14:creationId xmlns:p14="http://schemas.microsoft.com/office/powerpoint/2010/main" val="3920182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40F33F0-26BE-BBB7-895B-F801CF9C9B51}"/>
              </a:ext>
            </a:extLst>
          </p:cNvPr>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a:endParaRPr lang="en-US" sz="800" b="1">
              <a:latin typeface="Times New Roman" pitchFamily="18" charset="0"/>
            </a:endParaRPr>
          </a:p>
          <a:p>
            <a:pPr algn="r"/>
            <a:endParaRPr lang="en-US" sz="800"/>
          </a:p>
          <a:p>
            <a:pPr algn="r"/>
            <a:endParaRPr lang="en-US" sz="800" b="1"/>
          </a:p>
          <a:p>
            <a:pPr algn="r"/>
            <a:r>
              <a:rPr lang="en-US" sz="800" b="1"/>
              <a:t>© A+ Computer Science  -  www.apluscompsci.com</a:t>
            </a:r>
          </a:p>
        </p:txBody>
      </p:sp>
      <p:sp>
        <p:nvSpPr>
          <p:cNvPr id="5" name="WordArt 19">
            <a:extLst>
              <a:ext uri="{FF2B5EF4-FFF2-40B4-BE49-F238E27FC236}">
                <a16:creationId xmlns:a16="http://schemas.microsoft.com/office/drawing/2014/main" id="{F87975A7-5FEC-94F2-9F9F-D204E05B06A7}"/>
              </a:ext>
            </a:extLst>
          </p:cNvPr>
          <p:cNvSpPr>
            <a:spLocks noChangeArrowheads="1" noChangeShapeType="1" noTextEdit="1"/>
          </p:cNvSpPr>
          <p:nvPr/>
        </p:nvSpPr>
        <p:spPr bwMode="auto">
          <a:xfrm>
            <a:off x="685800" y="1314157"/>
            <a:ext cx="7848600" cy="724486"/>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Attributes</a:t>
            </a:r>
          </a:p>
        </p:txBody>
      </p:sp>
      <p:grpSp>
        <p:nvGrpSpPr>
          <p:cNvPr id="6" name="Group 5"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7A722877-2E62-6CE5-5143-2DC396EC1EE9}"/>
              </a:ext>
            </a:extLst>
          </p:cNvPr>
          <p:cNvGrpSpPr/>
          <p:nvPr/>
        </p:nvGrpSpPr>
        <p:grpSpPr>
          <a:xfrm>
            <a:off x="1045369" y="2971800"/>
            <a:ext cx="7129463" cy="2057400"/>
            <a:chOff x="838200" y="1066800"/>
            <a:chExt cx="7129463" cy="2057400"/>
          </a:xfrm>
        </p:grpSpPr>
        <p:sp>
          <p:nvSpPr>
            <p:cNvPr id="7" name="Oval 3">
              <a:extLst>
                <a:ext uri="{FF2B5EF4-FFF2-40B4-BE49-F238E27FC236}">
                  <a16:creationId xmlns:a16="http://schemas.microsoft.com/office/drawing/2014/main" id="{81432D8E-22AD-5313-3F1A-0F519B8FAF1E}"/>
                </a:ext>
              </a:extLst>
            </p:cNvPr>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8" name="Oval 4">
              <a:extLst>
                <a:ext uri="{FF2B5EF4-FFF2-40B4-BE49-F238E27FC236}">
                  <a16:creationId xmlns:a16="http://schemas.microsoft.com/office/drawing/2014/main" id="{43F4C2D5-2652-F800-D1E8-EE4173E9F438}"/>
                </a:ext>
              </a:extLst>
            </p:cNvPr>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9" name="Oval 5">
              <a:extLst>
                <a:ext uri="{FF2B5EF4-FFF2-40B4-BE49-F238E27FC236}">
                  <a16:creationId xmlns:a16="http://schemas.microsoft.com/office/drawing/2014/main" id="{99892498-01D5-DA8D-4FBE-ED1E72962802}"/>
                </a:ext>
              </a:extLst>
            </p:cNvPr>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10" name="Oval 6">
              <a:extLst>
                <a:ext uri="{FF2B5EF4-FFF2-40B4-BE49-F238E27FC236}">
                  <a16:creationId xmlns:a16="http://schemas.microsoft.com/office/drawing/2014/main" id="{35A93A16-5579-6CD5-B78B-35E4314498F2}"/>
                </a:ext>
              </a:extLst>
            </p:cNvPr>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t>65</a:t>
              </a:r>
            </a:p>
          </p:txBody>
        </p:sp>
        <p:sp>
          <p:nvSpPr>
            <p:cNvPr id="11" name="Oval 7">
              <a:extLst>
                <a:ext uri="{FF2B5EF4-FFF2-40B4-BE49-F238E27FC236}">
                  <a16:creationId xmlns:a16="http://schemas.microsoft.com/office/drawing/2014/main" id="{495AA6E0-D4F4-FBA9-28F9-EC67D66B0B26}"/>
                </a:ext>
              </a:extLst>
            </p:cNvPr>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12" name="Oval 8">
              <a:extLst>
                <a:ext uri="{FF2B5EF4-FFF2-40B4-BE49-F238E27FC236}">
                  <a16:creationId xmlns:a16="http://schemas.microsoft.com/office/drawing/2014/main" id="{AC3384E0-B094-594A-8680-B2CC79A4D263}"/>
                </a:ext>
              </a:extLst>
            </p:cNvPr>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13" name="Oval 9">
              <a:extLst>
                <a:ext uri="{FF2B5EF4-FFF2-40B4-BE49-F238E27FC236}">
                  <a16:creationId xmlns:a16="http://schemas.microsoft.com/office/drawing/2014/main" id="{B233A469-366F-372A-71A7-44846C8AFD59}"/>
                </a:ext>
              </a:extLst>
            </p:cNvPr>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14" name="Oval 10">
              <a:extLst>
                <a:ext uri="{FF2B5EF4-FFF2-40B4-BE49-F238E27FC236}">
                  <a16:creationId xmlns:a16="http://schemas.microsoft.com/office/drawing/2014/main" id="{A972946B-6D03-E545-85DF-C2973DFAFA48}"/>
                </a:ext>
              </a:extLst>
            </p:cNvPr>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15" name="Oval 11">
              <a:extLst>
                <a:ext uri="{FF2B5EF4-FFF2-40B4-BE49-F238E27FC236}">
                  <a16:creationId xmlns:a16="http://schemas.microsoft.com/office/drawing/2014/main" id="{D52BEDAA-F047-30B5-933A-A245AA94EB5D}"/>
                </a:ext>
              </a:extLst>
            </p:cNvPr>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16" name="Oval 12">
              <a:extLst>
                <a:ext uri="{FF2B5EF4-FFF2-40B4-BE49-F238E27FC236}">
                  <a16:creationId xmlns:a16="http://schemas.microsoft.com/office/drawing/2014/main" id="{9B438040-987F-6E3B-F81A-4187598FB3A5}"/>
                </a:ext>
              </a:extLst>
            </p:cNvPr>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17" name="Line 13">
              <a:extLst>
                <a:ext uri="{FF2B5EF4-FFF2-40B4-BE49-F238E27FC236}">
                  <a16:creationId xmlns:a16="http://schemas.microsoft.com/office/drawing/2014/main" id="{69EA55C8-6065-DB25-51CF-39708716EB36}"/>
                </a:ext>
              </a:extLst>
            </p:cNvPr>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4">
              <a:extLst>
                <a:ext uri="{FF2B5EF4-FFF2-40B4-BE49-F238E27FC236}">
                  <a16:creationId xmlns:a16="http://schemas.microsoft.com/office/drawing/2014/main" id="{EDEB0CD9-17CF-721A-E5DF-33533A694288}"/>
                </a:ext>
              </a:extLst>
            </p:cNvPr>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5">
              <a:extLst>
                <a:ext uri="{FF2B5EF4-FFF2-40B4-BE49-F238E27FC236}">
                  <a16:creationId xmlns:a16="http://schemas.microsoft.com/office/drawing/2014/main" id="{24C05F9B-4BD1-9303-2E3C-4B27E10DE4B0}"/>
                </a:ext>
              </a:extLst>
            </p:cNvPr>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6">
              <a:extLst>
                <a:ext uri="{FF2B5EF4-FFF2-40B4-BE49-F238E27FC236}">
                  <a16:creationId xmlns:a16="http://schemas.microsoft.com/office/drawing/2014/main" id="{E006078A-CECB-0B15-B29C-5E0062359179}"/>
                </a:ext>
              </a:extLst>
            </p:cNvPr>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7">
              <a:extLst>
                <a:ext uri="{FF2B5EF4-FFF2-40B4-BE49-F238E27FC236}">
                  <a16:creationId xmlns:a16="http://schemas.microsoft.com/office/drawing/2014/main" id="{B665A467-001C-6906-FC37-6F9E9D596BA1}"/>
                </a:ext>
              </a:extLst>
            </p:cNvPr>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8">
              <a:extLst>
                <a:ext uri="{FF2B5EF4-FFF2-40B4-BE49-F238E27FC236}">
                  <a16:creationId xmlns:a16="http://schemas.microsoft.com/office/drawing/2014/main" id="{9003B543-223E-C6D4-55A8-529490AB4C52}"/>
                </a:ext>
              </a:extLst>
            </p:cNvPr>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Oval 20">
              <a:extLst>
                <a:ext uri="{FF2B5EF4-FFF2-40B4-BE49-F238E27FC236}">
                  <a16:creationId xmlns:a16="http://schemas.microsoft.com/office/drawing/2014/main" id="{C71FCB5E-21F7-A5BC-7742-37E56B6E5A21}"/>
                </a:ext>
              </a:extLst>
            </p:cNvPr>
            <p:cNvSpPr>
              <a:spLocks noChangeArrowheads="1"/>
            </p:cNvSpPr>
            <p:nvPr/>
          </p:nvSpPr>
          <p:spPr bwMode="auto">
            <a:xfrm>
              <a:off x="48006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95</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tree&#10;&#10;Description automatically generated">
            <a:extLst>
              <a:ext uri="{FF2B5EF4-FFF2-40B4-BE49-F238E27FC236}">
                <a16:creationId xmlns:a16="http://schemas.microsoft.com/office/drawing/2014/main" id="{4507BF4E-C13F-7F81-A24B-61792B97C2F4}"/>
              </a:ext>
            </a:extLst>
          </p:cNvPr>
          <p:cNvPicPr>
            <a:picLocks noChangeAspect="1"/>
          </p:cNvPicPr>
          <p:nvPr/>
        </p:nvPicPr>
        <p:blipFill rotWithShape="1">
          <a:blip r:embed="rId3">
            <a:extLst>
              <a:ext uri="{28A0092B-C50C-407E-A947-70E740481C1C}">
                <a14:useLocalDpi xmlns:a14="http://schemas.microsoft.com/office/drawing/2010/main" val="0"/>
              </a:ext>
            </a:extLst>
          </a:blip>
          <a:srcRect r="3950"/>
          <a:stretch/>
        </p:blipFill>
        <p:spPr>
          <a:xfrm>
            <a:off x="0" y="381000"/>
            <a:ext cx="8944435" cy="6324600"/>
          </a:xfrm>
          <a:prstGeom prst="rect">
            <a:avLst/>
          </a:prstGeom>
        </p:spPr>
      </p:pic>
      <p:sp>
        <p:nvSpPr>
          <p:cNvPr id="2" name="TextBox 1">
            <a:extLst>
              <a:ext uri="{FF2B5EF4-FFF2-40B4-BE49-F238E27FC236}">
                <a16:creationId xmlns:a16="http://schemas.microsoft.com/office/drawing/2014/main" id="{F6BF22EA-9448-2E2C-539A-E0877611E941}"/>
              </a:ext>
            </a:extLst>
          </p:cNvPr>
          <p:cNvSpPr txBox="1"/>
          <p:nvPr/>
        </p:nvSpPr>
        <p:spPr>
          <a:xfrm>
            <a:off x="228600" y="76200"/>
            <a:ext cx="3352800" cy="1384995"/>
          </a:xfrm>
          <a:prstGeom prst="rect">
            <a:avLst/>
          </a:prstGeom>
          <a:noFill/>
        </p:spPr>
        <p:txBody>
          <a:bodyPr wrap="square">
            <a:spAutoFit/>
          </a:bodyPr>
          <a:lstStyle/>
          <a:p>
            <a:pPr algn="l"/>
            <a:r>
              <a:rPr lang="en-US" sz="2800" u="sng" dirty="0">
                <a:solidFill>
                  <a:srgbClr val="0000CC"/>
                </a:solidFill>
                <a:latin typeface="Source Sans Pro SemiBold" panose="020B0603030403020204" pitchFamily="34" charset="0"/>
                <a:ea typeface="Source Sans Pro SemiBold" panose="020B0603030403020204" pitchFamily="34" charset="0"/>
              </a:rPr>
              <a:t>D</a:t>
            </a:r>
            <a:r>
              <a:rPr lang="en-US" sz="2800" b="0" i="0" u="sng" dirty="0">
                <a:solidFill>
                  <a:srgbClr val="0000CC"/>
                </a:solidFill>
                <a:effectLst/>
                <a:latin typeface="Source Sans Pro SemiBold" panose="020B0603030403020204" pitchFamily="34" charset="0"/>
                <a:ea typeface="Source Sans Pro SemiBold" panose="020B0603030403020204" pitchFamily="34" charset="0"/>
              </a:rPr>
              <a:t>epth of a node</a:t>
            </a:r>
            <a:r>
              <a:rPr lang="en-US" sz="2800" b="0" i="0" dirty="0">
                <a:solidFill>
                  <a:srgbClr val="0000CC"/>
                </a:solidFill>
                <a:effectLst/>
                <a:latin typeface="Source Sans Pro SemiBold" panose="020B0603030403020204" pitchFamily="34" charset="0"/>
                <a:ea typeface="Source Sans Pro SemiBold" panose="020B0603030403020204" pitchFamily="34" charset="0"/>
              </a:rPr>
              <a:t>:</a:t>
            </a:r>
            <a:br>
              <a:rPr lang="en-US" sz="2800" b="0" i="0" dirty="0">
                <a:solidFill>
                  <a:srgbClr val="0000CC"/>
                </a:solidFill>
                <a:effectLst/>
                <a:latin typeface="Source Sans Pro SemiBold" panose="020B0603030403020204" pitchFamily="34" charset="0"/>
                <a:ea typeface="Source Sans Pro SemiBold" panose="020B0603030403020204" pitchFamily="34" charset="0"/>
              </a:rPr>
            </a:br>
            <a:r>
              <a:rPr lang="en-US" sz="2800" b="0" i="0" dirty="0">
                <a:solidFill>
                  <a:srgbClr val="0000CC"/>
                </a:solidFill>
                <a:effectLst/>
                <a:latin typeface="Source Sans Pro SemiBold" panose="020B0603030403020204" pitchFamily="34" charset="0"/>
                <a:ea typeface="Source Sans Pro SemiBold" panose="020B0603030403020204" pitchFamily="34" charset="0"/>
              </a:rPr>
              <a:t># of edges from the root to the node.</a:t>
            </a:r>
          </a:p>
        </p:txBody>
      </p:sp>
      <p:sp>
        <p:nvSpPr>
          <p:cNvPr id="4" name="TextBox 3">
            <a:extLst>
              <a:ext uri="{FF2B5EF4-FFF2-40B4-BE49-F238E27FC236}">
                <a16:creationId xmlns:a16="http://schemas.microsoft.com/office/drawing/2014/main" id="{A9D72184-60F0-C734-FC63-E3624F13A94B}"/>
              </a:ext>
            </a:extLst>
          </p:cNvPr>
          <p:cNvSpPr txBox="1"/>
          <p:nvPr/>
        </p:nvSpPr>
        <p:spPr>
          <a:xfrm>
            <a:off x="190500" y="5044870"/>
            <a:ext cx="4533900" cy="1815882"/>
          </a:xfrm>
          <a:prstGeom prst="rect">
            <a:avLst/>
          </a:prstGeom>
          <a:noFill/>
        </p:spPr>
        <p:txBody>
          <a:bodyPr wrap="square">
            <a:spAutoFit/>
          </a:bodyPr>
          <a:lstStyle/>
          <a:p>
            <a:pPr algn="l"/>
            <a:r>
              <a:rPr lang="en-US" sz="2800" b="0" i="0" u="sng" dirty="0">
                <a:solidFill>
                  <a:srgbClr val="0000CC"/>
                </a:solidFill>
                <a:effectLst/>
                <a:latin typeface="Source Sans Pro SemiBold" panose="020B0603030403020204" pitchFamily="34" charset="0"/>
                <a:ea typeface="Source Sans Pro SemiBold" panose="020B0603030403020204" pitchFamily="34" charset="0"/>
                <a:cs typeface="Tahoma" panose="020B0604030504040204" pitchFamily="34" charset="0"/>
              </a:rPr>
              <a:t>Height of a node</a:t>
            </a:r>
            <a:r>
              <a:rPr lang="en-US" sz="2800" b="0" i="0" dirty="0">
                <a:solidFill>
                  <a:srgbClr val="0000CC"/>
                </a:solidFill>
                <a:effectLst/>
                <a:latin typeface="Source Sans Pro SemiBold" panose="020B0603030403020204" pitchFamily="34" charset="0"/>
                <a:ea typeface="Source Sans Pro SemiBold" panose="020B0603030403020204" pitchFamily="34" charset="0"/>
                <a:cs typeface="Tahoma" panose="020B0604030504040204" pitchFamily="34" charset="0"/>
              </a:rPr>
              <a:t>: </a:t>
            </a:r>
            <a:br>
              <a:rPr lang="en-US" sz="2800" b="0" i="0" dirty="0">
                <a:solidFill>
                  <a:srgbClr val="0000CC"/>
                </a:solidFill>
                <a:effectLst/>
                <a:latin typeface="Source Sans Pro SemiBold" panose="020B0603030403020204" pitchFamily="34" charset="0"/>
                <a:ea typeface="Source Sans Pro SemiBold" panose="020B0603030403020204" pitchFamily="34" charset="0"/>
                <a:cs typeface="Tahoma" panose="020B0604030504040204" pitchFamily="34" charset="0"/>
              </a:rPr>
            </a:br>
            <a:r>
              <a:rPr lang="en-US" sz="2800" b="0" i="0" dirty="0">
                <a:solidFill>
                  <a:srgbClr val="0000CC"/>
                </a:solidFill>
                <a:effectLst/>
                <a:latin typeface="Source Sans Pro SemiBold" panose="020B0603030403020204" pitchFamily="34" charset="0"/>
                <a:ea typeface="Source Sans Pro SemiBold" panose="020B0603030403020204" pitchFamily="34" charset="0"/>
                <a:cs typeface="Tahoma" panose="020B0604030504040204" pitchFamily="34" charset="0"/>
              </a:rPr>
              <a:t># of edges from the node to the deepest leaf in the leaf’s subtree.</a:t>
            </a:r>
          </a:p>
        </p:txBody>
      </p:sp>
      <p:sp>
        <p:nvSpPr>
          <p:cNvPr id="3" name="TextBox 2">
            <a:extLst>
              <a:ext uri="{FF2B5EF4-FFF2-40B4-BE49-F238E27FC236}">
                <a16:creationId xmlns:a16="http://schemas.microsoft.com/office/drawing/2014/main" id="{4D65D959-31F0-F766-08B8-4A8AD96787DD}"/>
              </a:ext>
            </a:extLst>
          </p:cNvPr>
          <p:cNvSpPr txBox="1"/>
          <p:nvPr/>
        </p:nvSpPr>
        <p:spPr>
          <a:xfrm>
            <a:off x="3457281" y="476054"/>
            <a:ext cx="990600" cy="523220"/>
          </a:xfrm>
          <a:prstGeom prst="rect">
            <a:avLst/>
          </a:prstGeom>
          <a:solidFill>
            <a:schemeClr val="bg1"/>
          </a:solidFill>
        </p:spPr>
        <p:txBody>
          <a:bodyPr wrap="square">
            <a:spAutoFit/>
          </a:bodyPr>
          <a:lstStyle/>
          <a:p>
            <a:pPr algn="r"/>
            <a:r>
              <a:rPr lang="en-US" sz="1400" b="1" i="0" dirty="0">
                <a:effectLst/>
                <a:latin typeface="Source Sans Pro SemiBold" panose="020B0603030403020204" pitchFamily="34" charset="0"/>
                <a:ea typeface="Source Sans Pro SemiBold" panose="020B0603030403020204" pitchFamily="34" charset="0"/>
              </a:rPr>
              <a:t>Depth = 0</a:t>
            </a:r>
          </a:p>
          <a:p>
            <a:pPr algn="r"/>
            <a:r>
              <a:rPr lang="en-US" sz="1400" b="1" dirty="0">
                <a:solidFill>
                  <a:schemeClr val="accent1">
                    <a:lumMod val="50000"/>
                  </a:schemeClr>
                </a:solidFill>
                <a:latin typeface="Source Sans Pro SemiBold" panose="020B0603030403020204" pitchFamily="34" charset="0"/>
                <a:ea typeface="Source Sans Pro SemiBold" panose="020B0603030403020204" pitchFamily="34" charset="0"/>
              </a:rPr>
              <a:t>Height = 3</a:t>
            </a:r>
            <a:endParaRPr lang="en-US" sz="1400" b="1" i="0" dirty="0">
              <a:solidFill>
                <a:schemeClr val="accent1">
                  <a:lumMod val="50000"/>
                </a:schemeClr>
              </a:solidFill>
              <a:effectLst/>
              <a:latin typeface="Source Sans Pro SemiBold" panose="020B0603030403020204" pitchFamily="34" charset="0"/>
              <a:ea typeface="Source Sans Pro SemiBold" panose="020B0603030403020204" pitchFamily="34" charset="0"/>
            </a:endParaRPr>
          </a:p>
        </p:txBody>
      </p:sp>
      <p:sp>
        <p:nvSpPr>
          <p:cNvPr id="6" name="TextBox 5">
            <a:extLst>
              <a:ext uri="{FF2B5EF4-FFF2-40B4-BE49-F238E27FC236}">
                <a16:creationId xmlns:a16="http://schemas.microsoft.com/office/drawing/2014/main" id="{C07FBB22-141E-4FE8-489E-B9937689698E}"/>
              </a:ext>
            </a:extLst>
          </p:cNvPr>
          <p:cNvSpPr txBox="1"/>
          <p:nvPr/>
        </p:nvSpPr>
        <p:spPr>
          <a:xfrm>
            <a:off x="4901153" y="1892082"/>
            <a:ext cx="990600" cy="523220"/>
          </a:xfrm>
          <a:prstGeom prst="rect">
            <a:avLst/>
          </a:prstGeom>
          <a:solidFill>
            <a:schemeClr val="bg1"/>
          </a:solidFill>
        </p:spPr>
        <p:txBody>
          <a:bodyPr wrap="square">
            <a:spAutoFit/>
          </a:bodyPr>
          <a:lstStyle/>
          <a:p>
            <a:pPr algn="r"/>
            <a:r>
              <a:rPr lang="en-US" sz="1400" b="1" i="0" dirty="0">
                <a:effectLst/>
                <a:latin typeface="Source Sans Pro SemiBold" panose="020B0603030403020204" pitchFamily="34" charset="0"/>
                <a:ea typeface="Source Sans Pro SemiBold" panose="020B0603030403020204" pitchFamily="34" charset="0"/>
              </a:rPr>
              <a:t>Depth = 1</a:t>
            </a:r>
          </a:p>
          <a:p>
            <a:pPr algn="r"/>
            <a:r>
              <a:rPr lang="en-US" sz="1400" b="1" dirty="0">
                <a:solidFill>
                  <a:schemeClr val="accent1">
                    <a:lumMod val="50000"/>
                  </a:schemeClr>
                </a:solidFill>
                <a:latin typeface="Source Sans Pro SemiBold" panose="020B0603030403020204" pitchFamily="34" charset="0"/>
                <a:ea typeface="Source Sans Pro SemiBold" panose="020B0603030403020204" pitchFamily="34" charset="0"/>
              </a:rPr>
              <a:t>Height = 2</a:t>
            </a:r>
            <a:endParaRPr lang="en-US" sz="1400" b="1" i="0" dirty="0">
              <a:solidFill>
                <a:schemeClr val="accent1">
                  <a:lumMod val="50000"/>
                </a:schemeClr>
              </a:solidFill>
              <a:effectLst/>
              <a:latin typeface="Source Sans Pro SemiBold" panose="020B0603030403020204" pitchFamily="34" charset="0"/>
              <a:ea typeface="Source Sans Pro SemiBold" panose="020B0603030403020204" pitchFamily="34" charset="0"/>
            </a:endParaRPr>
          </a:p>
        </p:txBody>
      </p:sp>
      <p:sp>
        <p:nvSpPr>
          <p:cNvPr id="7" name="TextBox 6">
            <a:extLst>
              <a:ext uri="{FF2B5EF4-FFF2-40B4-BE49-F238E27FC236}">
                <a16:creationId xmlns:a16="http://schemas.microsoft.com/office/drawing/2014/main" id="{87B1FFC7-F9F2-4ECD-2B89-4727F32A207C}"/>
              </a:ext>
            </a:extLst>
          </p:cNvPr>
          <p:cNvSpPr txBox="1"/>
          <p:nvPr/>
        </p:nvSpPr>
        <p:spPr>
          <a:xfrm>
            <a:off x="6109355" y="3666329"/>
            <a:ext cx="990600" cy="523220"/>
          </a:xfrm>
          <a:prstGeom prst="rect">
            <a:avLst/>
          </a:prstGeom>
          <a:solidFill>
            <a:schemeClr val="bg1"/>
          </a:solidFill>
        </p:spPr>
        <p:txBody>
          <a:bodyPr wrap="square">
            <a:spAutoFit/>
          </a:bodyPr>
          <a:lstStyle/>
          <a:p>
            <a:pPr algn="r"/>
            <a:r>
              <a:rPr lang="en-US" sz="1400" b="1" i="0" dirty="0">
                <a:effectLst/>
                <a:latin typeface="Source Sans Pro SemiBold" panose="020B0603030403020204" pitchFamily="34" charset="0"/>
                <a:ea typeface="Source Sans Pro SemiBold" panose="020B0603030403020204" pitchFamily="34" charset="0"/>
              </a:rPr>
              <a:t>Depth = 2</a:t>
            </a:r>
          </a:p>
          <a:p>
            <a:pPr algn="r"/>
            <a:r>
              <a:rPr lang="en-US" sz="1400" b="1" dirty="0">
                <a:solidFill>
                  <a:schemeClr val="accent1">
                    <a:lumMod val="50000"/>
                  </a:schemeClr>
                </a:solidFill>
                <a:latin typeface="Source Sans Pro SemiBold" panose="020B0603030403020204" pitchFamily="34" charset="0"/>
                <a:ea typeface="Source Sans Pro SemiBold" panose="020B0603030403020204" pitchFamily="34" charset="0"/>
              </a:rPr>
              <a:t>Height = 1</a:t>
            </a:r>
            <a:endParaRPr lang="en-US" sz="1400" b="1" i="0" dirty="0">
              <a:solidFill>
                <a:schemeClr val="accent1">
                  <a:lumMod val="50000"/>
                </a:schemeClr>
              </a:solidFill>
              <a:effectLst/>
              <a:latin typeface="Source Sans Pro SemiBold" panose="020B0603030403020204" pitchFamily="34" charset="0"/>
              <a:ea typeface="Source Sans Pro SemiBold" panose="020B0603030403020204" pitchFamily="34" charset="0"/>
            </a:endParaRPr>
          </a:p>
        </p:txBody>
      </p:sp>
      <p:sp>
        <p:nvSpPr>
          <p:cNvPr id="8" name="TextBox 7">
            <a:extLst>
              <a:ext uri="{FF2B5EF4-FFF2-40B4-BE49-F238E27FC236}">
                <a16:creationId xmlns:a16="http://schemas.microsoft.com/office/drawing/2014/main" id="{001A8F11-C05F-5F72-6A4C-970765C6FC60}"/>
              </a:ext>
            </a:extLst>
          </p:cNvPr>
          <p:cNvSpPr txBox="1"/>
          <p:nvPr/>
        </p:nvSpPr>
        <p:spPr>
          <a:xfrm>
            <a:off x="4914900" y="5713954"/>
            <a:ext cx="990600" cy="523220"/>
          </a:xfrm>
          <a:prstGeom prst="rect">
            <a:avLst/>
          </a:prstGeom>
          <a:solidFill>
            <a:schemeClr val="bg1"/>
          </a:solidFill>
        </p:spPr>
        <p:txBody>
          <a:bodyPr wrap="square">
            <a:spAutoFit/>
          </a:bodyPr>
          <a:lstStyle/>
          <a:p>
            <a:pPr algn="r"/>
            <a:r>
              <a:rPr lang="en-US" sz="1400" b="1" i="0" dirty="0">
                <a:effectLst/>
                <a:latin typeface="Source Sans Pro SemiBold" panose="020B0603030403020204" pitchFamily="34" charset="0"/>
                <a:ea typeface="Source Sans Pro SemiBold" panose="020B0603030403020204" pitchFamily="34" charset="0"/>
              </a:rPr>
              <a:t>Depth = 3</a:t>
            </a:r>
          </a:p>
          <a:p>
            <a:pPr algn="r"/>
            <a:r>
              <a:rPr lang="en-US" sz="1400" b="1" dirty="0">
                <a:solidFill>
                  <a:schemeClr val="accent1">
                    <a:lumMod val="50000"/>
                  </a:schemeClr>
                </a:solidFill>
                <a:latin typeface="Source Sans Pro SemiBold" panose="020B0603030403020204" pitchFamily="34" charset="0"/>
                <a:ea typeface="Source Sans Pro SemiBold" panose="020B0603030403020204" pitchFamily="34" charset="0"/>
              </a:rPr>
              <a:t>Height = 0</a:t>
            </a:r>
            <a:endParaRPr lang="en-US" sz="1400" b="1" i="0" dirty="0">
              <a:solidFill>
                <a:schemeClr val="accent1">
                  <a:lumMod val="50000"/>
                </a:schemeClr>
              </a:solidFill>
              <a:effectLst/>
              <a:latin typeface="Source Sans Pro SemiBold" panose="020B0603030403020204" pitchFamily="34" charset="0"/>
              <a:ea typeface="Source Sans Pro SemiBold" panose="020B0603030403020204" pitchFamily="34" charset="0"/>
            </a:endParaRPr>
          </a:p>
        </p:txBody>
      </p:sp>
      <p:sp>
        <p:nvSpPr>
          <p:cNvPr id="9" name="TextBox 8">
            <a:extLst>
              <a:ext uri="{FF2B5EF4-FFF2-40B4-BE49-F238E27FC236}">
                <a16:creationId xmlns:a16="http://schemas.microsoft.com/office/drawing/2014/main" id="{34F8A66B-66D8-6381-E9EF-F0FDC6644BB1}"/>
              </a:ext>
            </a:extLst>
          </p:cNvPr>
          <p:cNvSpPr txBox="1"/>
          <p:nvPr/>
        </p:nvSpPr>
        <p:spPr>
          <a:xfrm>
            <a:off x="0" y="3647475"/>
            <a:ext cx="971746" cy="523220"/>
          </a:xfrm>
          <a:prstGeom prst="rect">
            <a:avLst/>
          </a:prstGeom>
          <a:solidFill>
            <a:schemeClr val="bg1"/>
          </a:solidFill>
        </p:spPr>
        <p:txBody>
          <a:bodyPr wrap="square">
            <a:spAutoFit/>
          </a:bodyPr>
          <a:lstStyle/>
          <a:p>
            <a:pPr algn="r"/>
            <a:r>
              <a:rPr lang="en-US" sz="1400" b="1" i="0" dirty="0">
                <a:effectLst/>
                <a:latin typeface="Source Sans Pro SemiBold" panose="020B0603030403020204" pitchFamily="34" charset="0"/>
                <a:ea typeface="Source Sans Pro SemiBold" panose="020B0603030403020204" pitchFamily="34" charset="0"/>
              </a:rPr>
              <a:t>Depth = 2</a:t>
            </a:r>
          </a:p>
          <a:p>
            <a:pPr algn="r"/>
            <a:r>
              <a:rPr lang="en-US" sz="1400" b="1" dirty="0">
                <a:solidFill>
                  <a:srgbClr val="7030A0"/>
                </a:solidFill>
                <a:latin typeface="Source Sans Pro SemiBold" panose="020B0603030403020204" pitchFamily="34" charset="0"/>
                <a:ea typeface="Source Sans Pro SemiBold" panose="020B0603030403020204" pitchFamily="34" charset="0"/>
              </a:rPr>
              <a:t>Height = 0</a:t>
            </a:r>
            <a:endParaRPr lang="en-US" sz="1400" b="1" i="0" dirty="0">
              <a:solidFill>
                <a:srgbClr val="7030A0"/>
              </a:solidFill>
              <a:effectLst/>
              <a:latin typeface="Source Sans Pro SemiBold" panose="020B0603030403020204" pitchFamily="34" charset="0"/>
              <a:ea typeface="Source Sans Pro SemiBold" panose="020B0603030403020204" pitchFamily="34" charset="0"/>
            </a:endParaRPr>
          </a:p>
        </p:txBody>
      </p:sp>
      <p:sp>
        <p:nvSpPr>
          <p:cNvPr id="10" name="TextBox 9">
            <a:extLst>
              <a:ext uri="{FF2B5EF4-FFF2-40B4-BE49-F238E27FC236}">
                <a16:creationId xmlns:a16="http://schemas.microsoft.com/office/drawing/2014/main" id="{C6870981-6470-4420-FEA1-3B15FF2DC1B1}"/>
              </a:ext>
            </a:extLst>
          </p:cNvPr>
          <p:cNvSpPr txBox="1"/>
          <p:nvPr/>
        </p:nvSpPr>
        <p:spPr>
          <a:xfrm>
            <a:off x="1971577" y="1892082"/>
            <a:ext cx="971746" cy="523220"/>
          </a:xfrm>
          <a:prstGeom prst="rect">
            <a:avLst/>
          </a:prstGeom>
          <a:solidFill>
            <a:schemeClr val="bg1"/>
          </a:solidFill>
        </p:spPr>
        <p:txBody>
          <a:bodyPr wrap="square">
            <a:spAutoFit/>
          </a:bodyPr>
          <a:lstStyle/>
          <a:p>
            <a:pPr algn="r"/>
            <a:r>
              <a:rPr lang="en-US" sz="1400" b="1" i="0" dirty="0">
                <a:effectLst/>
                <a:latin typeface="Source Sans Pro SemiBold" panose="020B0603030403020204" pitchFamily="34" charset="0"/>
                <a:ea typeface="Source Sans Pro SemiBold" panose="020B0603030403020204" pitchFamily="34" charset="0"/>
              </a:rPr>
              <a:t>Depth = 1</a:t>
            </a:r>
          </a:p>
          <a:p>
            <a:pPr algn="r"/>
            <a:r>
              <a:rPr lang="en-US" sz="1400" b="1" dirty="0">
                <a:solidFill>
                  <a:srgbClr val="7030A0"/>
                </a:solidFill>
                <a:latin typeface="Source Sans Pro SemiBold" panose="020B0603030403020204" pitchFamily="34" charset="0"/>
                <a:ea typeface="Source Sans Pro SemiBold" panose="020B0603030403020204" pitchFamily="34" charset="0"/>
              </a:rPr>
              <a:t>Height = 1</a:t>
            </a:r>
            <a:endParaRPr lang="en-US" sz="1400" b="1" i="0" dirty="0">
              <a:solidFill>
                <a:srgbClr val="7030A0"/>
              </a:solidFill>
              <a:effectLst/>
              <a:latin typeface="Source Sans Pro SemiBold" panose="020B0603030403020204" pitchFamily="34" charset="0"/>
              <a:ea typeface="Source Sans Pro SemiBold" panose="020B0603030403020204" pitchFamily="34" charset="0"/>
            </a:endParaRPr>
          </a:p>
        </p:txBody>
      </p:sp>
    </p:spTree>
    <p:extLst>
      <p:ext uri="{BB962C8B-B14F-4D97-AF65-F5344CB8AC3E}">
        <p14:creationId xmlns:p14="http://schemas.microsoft.com/office/powerpoint/2010/main" val="2673478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2"/>
          </p:nvPr>
        </p:nvSpPr>
        <p:spPr>
          <a:xfrm>
            <a:off x="6190673" y="6301698"/>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46083" name="Text Box 2"/>
          <p:cNvSpPr txBox="1">
            <a:spLocks noChangeArrowheads="1"/>
          </p:cNvSpPr>
          <p:nvPr/>
        </p:nvSpPr>
        <p:spPr bwMode="auto">
          <a:xfrm>
            <a:off x="3133436" y="3632021"/>
            <a:ext cx="2743200" cy="592138"/>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3200" b="1">
                <a:solidFill>
                  <a:schemeClr val="accent2"/>
                </a:solidFill>
              </a:rPr>
              <a:t>HEIGHT  -  3</a:t>
            </a:r>
          </a:p>
        </p:txBody>
      </p:sp>
      <p:sp>
        <p:nvSpPr>
          <p:cNvPr id="46100"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Height</a:t>
            </a:r>
          </a:p>
        </p:txBody>
      </p:sp>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FCCEE31A-BD26-4F07-7DF3-D3CE28CA8CA0}"/>
              </a:ext>
            </a:extLst>
          </p:cNvPr>
          <p:cNvGrpSpPr/>
          <p:nvPr/>
        </p:nvGrpSpPr>
        <p:grpSpPr>
          <a:xfrm>
            <a:off x="838200" y="1066800"/>
            <a:ext cx="7129463" cy="2057400"/>
            <a:chOff x="838200" y="1066800"/>
            <a:chExt cx="7129463" cy="2057400"/>
          </a:xfrm>
        </p:grpSpPr>
        <p:sp>
          <p:nvSpPr>
            <p:cNvPr id="46084"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46085"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46086"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46087"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46088"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46089"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46090"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46091"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46092"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46093"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46094" name="Line 13"/>
            <p:cNvSpPr>
              <a:spLocks noChangeShapeType="1"/>
            </p:cNvSpPr>
            <p:nvPr/>
          </p:nvSpPr>
          <p:spPr bwMode="auto">
            <a:xfrm flipH="1">
              <a:off x="2895600" y="1371600"/>
              <a:ext cx="1371600" cy="304800"/>
            </a:xfrm>
            <a:prstGeom prst="line">
              <a:avLst/>
            </a:prstGeom>
            <a:noFill/>
            <a:ln w="762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5"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6" name="Line 15"/>
            <p:cNvSpPr>
              <a:spLocks noChangeShapeType="1"/>
            </p:cNvSpPr>
            <p:nvPr/>
          </p:nvSpPr>
          <p:spPr bwMode="auto">
            <a:xfrm flipH="1">
              <a:off x="1977170" y="1981200"/>
              <a:ext cx="232629" cy="2286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7"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8" name="Line 17"/>
            <p:cNvSpPr>
              <a:spLocks noChangeShapeType="1"/>
            </p:cNvSpPr>
            <p:nvPr/>
          </p:nvSpPr>
          <p:spPr bwMode="auto">
            <a:xfrm>
              <a:off x="2819400" y="1981200"/>
              <a:ext cx="304800" cy="152400"/>
            </a:xfrm>
            <a:prstGeom prst="line">
              <a:avLst/>
            </a:prstGeom>
            <a:noFill/>
            <a:ln w="762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9"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101" name="Oval 20"/>
            <p:cNvSpPr>
              <a:spLocks noChangeArrowheads="1"/>
            </p:cNvSpPr>
            <p:nvPr/>
          </p:nvSpPr>
          <p:spPr bwMode="auto">
            <a:xfrm>
              <a:off x="48006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95</a:t>
              </a:r>
            </a:p>
          </p:txBody>
        </p:sp>
        <p:sp>
          <p:nvSpPr>
            <p:cNvPr id="28" name="Line 16"/>
            <p:cNvSpPr>
              <a:spLocks noChangeShapeType="1"/>
            </p:cNvSpPr>
            <p:nvPr/>
          </p:nvSpPr>
          <p:spPr bwMode="auto">
            <a:xfrm flipH="1">
              <a:off x="5410200" y="25908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17"/>
            <p:cNvSpPr>
              <a:spLocks noChangeShapeType="1"/>
            </p:cNvSpPr>
            <p:nvPr/>
          </p:nvSpPr>
          <p:spPr bwMode="auto">
            <a:xfrm>
              <a:off x="3581400" y="2584938"/>
              <a:ext cx="228600" cy="152400"/>
            </a:xfrm>
            <a:prstGeom prst="line">
              <a:avLst/>
            </a:prstGeom>
            <a:noFill/>
            <a:ln w="762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17"/>
            <p:cNvSpPr>
              <a:spLocks noChangeShapeType="1"/>
            </p:cNvSpPr>
            <p:nvPr/>
          </p:nvSpPr>
          <p:spPr bwMode="auto">
            <a:xfrm>
              <a:off x="1824771" y="25908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15"/>
            <p:cNvSpPr>
              <a:spLocks noChangeShapeType="1"/>
            </p:cNvSpPr>
            <p:nvPr/>
          </p:nvSpPr>
          <p:spPr bwMode="auto">
            <a:xfrm flipH="1">
              <a:off x="1411532" y="2584938"/>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TextBox 2">
            <a:extLst>
              <a:ext uri="{FF2B5EF4-FFF2-40B4-BE49-F238E27FC236}">
                <a16:creationId xmlns:a16="http://schemas.microsoft.com/office/drawing/2014/main" id="{5EBCEA05-9D2F-A6F5-8363-F365E1528B34}"/>
              </a:ext>
            </a:extLst>
          </p:cNvPr>
          <p:cNvSpPr txBox="1"/>
          <p:nvPr/>
        </p:nvSpPr>
        <p:spPr>
          <a:xfrm>
            <a:off x="533400" y="4849881"/>
            <a:ext cx="8382000" cy="650819"/>
          </a:xfrm>
          <a:prstGeom prst="rect">
            <a:avLst/>
          </a:prstGeom>
          <a:noFill/>
        </p:spPr>
        <p:txBody>
          <a:bodyPr wrap="square">
            <a:spAutoFit/>
          </a:bodyPr>
          <a:lstStyle/>
          <a:p>
            <a:pPr>
              <a:lnSpc>
                <a:spcPct val="150000"/>
              </a:lnSpc>
              <a:tabLst>
                <a:tab pos="1311275" algn="l"/>
              </a:tabLst>
            </a:pPr>
            <a:r>
              <a:rPr lang="en-US" sz="2800" b="1" dirty="0"/>
              <a:t>Height	= # of edges from root to lowest leaf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45059" name="Text Box 2"/>
          <p:cNvSpPr txBox="1">
            <a:spLocks noChangeArrowheads="1"/>
          </p:cNvSpPr>
          <p:nvPr/>
        </p:nvSpPr>
        <p:spPr bwMode="auto">
          <a:xfrm>
            <a:off x="3126580" y="3746500"/>
            <a:ext cx="3045619" cy="58477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3200" b="1" dirty="0">
                <a:solidFill>
                  <a:schemeClr val="accent2"/>
                </a:solidFill>
              </a:rPr>
              <a:t>Diameter =  6</a:t>
            </a:r>
          </a:p>
        </p:txBody>
      </p:sp>
      <p:grpSp>
        <p:nvGrpSpPr>
          <p:cNvPr id="4" name="Group 3"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9CE86303-9B5C-E8E0-D1B7-1D29BE50BED0}"/>
              </a:ext>
            </a:extLst>
          </p:cNvPr>
          <p:cNvGrpSpPr/>
          <p:nvPr/>
        </p:nvGrpSpPr>
        <p:grpSpPr>
          <a:xfrm>
            <a:off x="838200" y="1066800"/>
            <a:ext cx="7129463" cy="2057400"/>
            <a:chOff x="838200" y="1066800"/>
            <a:chExt cx="7129463" cy="2057400"/>
          </a:xfrm>
        </p:grpSpPr>
        <p:sp>
          <p:nvSpPr>
            <p:cNvPr id="45060"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45061"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45062"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45063"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45064"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45065"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45066"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t>150</a:t>
              </a:r>
            </a:p>
          </p:txBody>
        </p:sp>
        <p:sp>
          <p:nvSpPr>
            <p:cNvPr id="45067"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45068"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45069"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45070"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1"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2"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3"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4"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5"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7" name="Oval 20"/>
            <p:cNvSpPr>
              <a:spLocks noChangeArrowheads="1"/>
            </p:cNvSpPr>
            <p:nvPr/>
          </p:nvSpPr>
          <p:spPr bwMode="auto">
            <a:xfrm>
              <a:off x="48006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95</a:t>
              </a:r>
            </a:p>
          </p:txBody>
        </p:sp>
      </p:grpSp>
      <p:sp>
        <p:nvSpPr>
          <p:cNvPr id="90136" name="Text Box 24">
            <a:extLst>
              <a:ext uri="{C183D7F6-B498-43B3-948B-1728B52AA6E4}">
                <adec:decorative xmlns:adec="http://schemas.microsoft.com/office/drawing/2017/decorative" val="1"/>
              </a:ext>
            </a:extLst>
          </p:cNvPr>
          <p:cNvSpPr txBox="1">
            <a:spLocks noChangeArrowheads="1"/>
          </p:cNvSpPr>
          <p:nvPr/>
        </p:nvSpPr>
        <p:spPr bwMode="auto">
          <a:xfrm>
            <a:off x="685800" y="25908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sp>
        <p:nvSpPr>
          <p:cNvPr id="90137" name="Text Box 25">
            <a:extLst>
              <a:ext uri="{C183D7F6-B498-43B3-948B-1728B52AA6E4}">
                <adec:decorative xmlns:adec="http://schemas.microsoft.com/office/drawing/2017/decorative" val="1"/>
              </a:ext>
            </a:extLst>
          </p:cNvPr>
          <p:cNvSpPr txBox="1">
            <a:spLocks noChangeArrowheads="1"/>
          </p:cNvSpPr>
          <p:nvPr/>
        </p:nvSpPr>
        <p:spPr bwMode="auto">
          <a:xfrm>
            <a:off x="1143000" y="20574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sp>
        <p:nvSpPr>
          <p:cNvPr id="90138" name="Text Box 26">
            <a:extLst>
              <a:ext uri="{C183D7F6-B498-43B3-948B-1728B52AA6E4}">
                <adec:decorative xmlns:adec="http://schemas.microsoft.com/office/drawing/2017/decorative" val="1"/>
              </a:ext>
            </a:extLst>
          </p:cNvPr>
          <p:cNvSpPr txBox="1">
            <a:spLocks noChangeArrowheads="1"/>
          </p:cNvSpPr>
          <p:nvPr/>
        </p:nvSpPr>
        <p:spPr bwMode="auto">
          <a:xfrm>
            <a:off x="1981200" y="15621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sp>
        <p:nvSpPr>
          <p:cNvPr id="90139" name="Text Box 27">
            <a:extLst>
              <a:ext uri="{C183D7F6-B498-43B3-948B-1728B52AA6E4}">
                <adec:decorative xmlns:adec="http://schemas.microsoft.com/office/drawing/2017/decorative" val="1"/>
              </a:ext>
            </a:extLst>
          </p:cNvPr>
          <p:cNvSpPr txBox="1">
            <a:spLocks noChangeArrowheads="1"/>
          </p:cNvSpPr>
          <p:nvPr/>
        </p:nvSpPr>
        <p:spPr bwMode="auto">
          <a:xfrm>
            <a:off x="4114800" y="10287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sp>
        <p:nvSpPr>
          <p:cNvPr id="90140" name="Text Box 28">
            <a:extLst>
              <a:ext uri="{C183D7F6-B498-43B3-948B-1728B52AA6E4}">
                <adec:decorative xmlns:adec="http://schemas.microsoft.com/office/drawing/2017/decorative" val="1"/>
              </a:ext>
            </a:extLst>
          </p:cNvPr>
          <p:cNvSpPr txBox="1">
            <a:spLocks noChangeArrowheads="1"/>
          </p:cNvSpPr>
          <p:nvPr/>
        </p:nvSpPr>
        <p:spPr bwMode="auto">
          <a:xfrm>
            <a:off x="6172200" y="15621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sp>
        <p:nvSpPr>
          <p:cNvPr id="90141" name="Text Box 29">
            <a:extLst>
              <a:ext uri="{C183D7F6-B498-43B3-948B-1728B52AA6E4}">
                <adec:decorative xmlns:adec="http://schemas.microsoft.com/office/drawing/2017/decorative" val="1"/>
              </a:ext>
            </a:extLst>
          </p:cNvPr>
          <p:cNvSpPr txBox="1">
            <a:spLocks noChangeArrowheads="1"/>
          </p:cNvSpPr>
          <p:nvPr/>
        </p:nvSpPr>
        <p:spPr bwMode="auto">
          <a:xfrm>
            <a:off x="5410200" y="20955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sp>
        <p:nvSpPr>
          <p:cNvPr id="90142" name="Text Box 30">
            <a:extLst>
              <a:ext uri="{C183D7F6-B498-43B3-948B-1728B52AA6E4}">
                <adec:decorative xmlns:adec="http://schemas.microsoft.com/office/drawing/2017/decorative" val="1"/>
              </a:ext>
            </a:extLst>
          </p:cNvPr>
          <p:cNvSpPr txBox="1">
            <a:spLocks noChangeArrowheads="1"/>
          </p:cNvSpPr>
          <p:nvPr/>
        </p:nvSpPr>
        <p:spPr bwMode="auto">
          <a:xfrm>
            <a:off x="4648200" y="26289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pic>
        <p:nvPicPr>
          <p:cNvPr id="90148" name="Picture 3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20574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149" name="Picture 3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2800" y="25908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150" name="Picture 38">
            <a:extLs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15113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151" name="Picture 39">
            <a:extLs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4800" y="9906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152" name="Picture 40">
            <a:extLs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15240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153" name="Picture 4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10200" y="20574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154" name="Picture 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8200" y="25908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0EC2C0C5-3BB0-1937-3FB3-C837E4DFE2F3}"/>
              </a:ext>
            </a:extLst>
          </p:cNvPr>
          <p:cNvSpPr txBox="1"/>
          <p:nvPr/>
        </p:nvSpPr>
        <p:spPr>
          <a:xfrm>
            <a:off x="632222" y="4813300"/>
            <a:ext cx="8031956" cy="1200329"/>
          </a:xfrm>
          <a:prstGeom prst="rect">
            <a:avLst/>
          </a:prstGeom>
          <a:noFill/>
        </p:spPr>
        <p:txBody>
          <a:bodyPr wrap="square">
            <a:spAutoFit/>
          </a:bodyPr>
          <a:lstStyle/>
          <a:p>
            <a:pPr>
              <a:tabLst>
                <a:tab pos="1655763" algn="l"/>
              </a:tabLst>
            </a:pPr>
            <a:r>
              <a:rPr lang="en-US" sz="2400" b="1" dirty="0"/>
              <a:t>Diameter =  the number of edges on the longest path between two nodes in the tree (does not have to go through the root!)</a:t>
            </a:r>
          </a:p>
        </p:txBody>
      </p:sp>
      <p:sp>
        <p:nvSpPr>
          <p:cNvPr id="2" name="TextBox 1">
            <a:extLst>
              <a:ext uri="{FF2B5EF4-FFF2-40B4-BE49-F238E27FC236}">
                <a16:creationId xmlns:a16="http://schemas.microsoft.com/office/drawing/2014/main" id="{0F8DE7CA-814E-7A2E-6561-E367DCF3A486}"/>
              </a:ext>
            </a:extLst>
          </p:cNvPr>
          <p:cNvSpPr txBox="1"/>
          <p:nvPr/>
        </p:nvSpPr>
        <p:spPr>
          <a:xfrm>
            <a:off x="3145066" y="109746"/>
            <a:ext cx="2808782" cy="769441"/>
          </a:xfrm>
          <a:prstGeom prst="rect">
            <a:avLst/>
          </a:prstGeom>
          <a:noFill/>
        </p:spPr>
        <p:txBody>
          <a:bodyPr wrap="none" rtlCol="0">
            <a:spAutoFit/>
          </a:bodyPr>
          <a:lstStyle/>
          <a:p>
            <a:r>
              <a:rPr lang="en-US" sz="4400" b="1" dirty="0">
                <a:solidFill>
                  <a:srgbClr val="0000CC"/>
                </a:solidFill>
              </a:rPr>
              <a:t>Diameter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0136"/>
                                        </p:tgtEl>
                                        <p:attrNameLst>
                                          <p:attrName>style.visibility</p:attrName>
                                        </p:attrNameLst>
                                      </p:cBhvr>
                                      <p:to>
                                        <p:strVal val="visible"/>
                                      </p:to>
                                    </p:set>
                                    <p:animEffect transition="in" filter="diamond(in)">
                                      <p:cBhvr>
                                        <p:cTn id="7" dur="2000"/>
                                        <p:tgtEl>
                                          <p:spTgt spid="90136"/>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90137"/>
                                        </p:tgtEl>
                                        <p:attrNameLst>
                                          <p:attrName>style.visibility</p:attrName>
                                        </p:attrNameLst>
                                      </p:cBhvr>
                                      <p:to>
                                        <p:strVal val="visible"/>
                                      </p:to>
                                    </p:set>
                                    <p:animEffect transition="in" filter="diamond(in)">
                                      <p:cBhvr>
                                        <p:cTn id="10" dur="2000"/>
                                        <p:tgtEl>
                                          <p:spTgt spid="90137"/>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90138"/>
                                        </p:tgtEl>
                                        <p:attrNameLst>
                                          <p:attrName>style.visibility</p:attrName>
                                        </p:attrNameLst>
                                      </p:cBhvr>
                                      <p:to>
                                        <p:strVal val="visible"/>
                                      </p:to>
                                    </p:set>
                                    <p:animEffect transition="in" filter="diamond(in)">
                                      <p:cBhvr>
                                        <p:cTn id="13" dur="2000"/>
                                        <p:tgtEl>
                                          <p:spTgt spid="90138"/>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90139"/>
                                        </p:tgtEl>
                                        <p:attrNameLst>
                                          <p:attrName>style.visibility</p:attrName>
                                        </p:attrNameLst>
                                      </p:cBhvr>
                                      <p:to>
                                        <p:strVal val="visible"/>
                                      </p:to>
                                    </p:set>
                                    <p:animEffect transition="in" filter="diamond(in)">
                                      <p:cBhvr>
                                        <p:cTn id="16" dur="2000"/>
                                        <p:tgtEl>
                                          <p:spTgt spid="90139"/>
                                        </p:tgtEl>
                                      </p:cBhvr>
                                    </p:animEffect>
                                  </p:childTnLst>
                                </p:cTn>
                              </p:par>
                              <p:par>
                                <p:cTn id="17" presetID="8" presetClass="entr" presetSubtype="16" fill="hold" grpId="0" nodeType="withEffect">
                                  <p:stCondLst>
                                    <p:cond delay="0"/>
                                  </p:stCondLst>
                                  <p:childTnLst>
                                    <p:set>
                                      <p:cBhvr>
                                        <p:cTn id="18" dur="1" fill="hold">
                                          <p:stCondLst>
                                            <p:cond delay="0"/>
                                          </p:stCondLst>
                                        </p:cTn>
                                        <p:tgtEl>
                                          <p:spTgt spid="90140"/>
                                        </p:tgtEl>
                                        <p:attrNameLst>
                                          <p:attrName>style.visibility</p:attrName>
                                        </p:attrNameLst>
                                      </p:cBhvr>
                                      <p:to>
                                        <p:strVal val="visible"/>
                                      </p:to>
                                    </p:set>
                                    <p:animEffect transition="in" filter="diamond(in)">
                                      <p:cBhvr>
                                        <p:cTn id="19" dur="2000"/>
                                        <p:tgtEl>
                                          <p:spTgt spid="90140"/>
                                        </p:tgtEl>
                                      </p:cBhvr>
                                    </p:animEffect>
                                  </p:childTnLst>
                                </p:cTn>
                              </p:par>
                              <p:par>
                                <p:cTn id="20" presetID="8" presetClass="entr" presetSubtype="16" fill="hold" grpId="0" nodeType="withEffect">
                                  <p:stCondLst>
                                    <p:cond delay="0"/>
                                  </p:stCondLst>
                                  <p:childTnLst>
                                    <p:set>
                                      <p:cBhvr>
                                        <p:cTn id="21" dur="1" fill="hold">
                                          <p:stCondLst>
                                            <p:cond delay="0"/>
                                          </p:stCondLst>
                                        </p:cTn>
                                        <p:tgtEl>
                                          <p:spTgt spid="90141"/>
                                        </p:tgtEl>
                                        <p:attrNameLst>
                                          <p:attrName>style.visibility</p:attrName>
                                        </p:attrNameLst>
                                      </p:cBhvr>
                                      <p:to>
                                        <p:strVal val="visible"/>
                                      </p:to>
                                    </p:set>
                                    <p:animEffect transition="in" filter="diamond(in)">
                                      <p:cBhvr>
                                        <p:cTn id="22" dur="2000"/>
                                        <p:tgtEl>
                                          <p:spTgt spid="90141"/>
                                        </p:tgtEl>
                                      </p:cBhvr>
                                    </p:animEffect>
                                  </p:childTnLst>
                                </p:cTn>
                              </p:par>
                              <p:par>
                                <p:cTn id="23" presetID="8" presetClass="entr" presetSubtype="16" fill="hold" grpId="0" nodeType="withEffect">
                                  <p:stCondLst>
                                    <p:cond delay="0"/>
                                  </p:stCondLst>
                                  <p:childTnLst>
                                    <p:set>
                                      <p:cBhvr>
                                        <p:cTn id="24" dur="1" fill="hold">
                                          <p:stCondLst>
                                            <p:cond delay="0"/>
                                          </p:stCondLst>
                                        </p:cTn>
                                        <p:tgtEl>
                                          <p:spTgt spid="90142"/>
                                        </p:tgtEl>
                                        <p:attrNameLst>
                                          <p:attrName>style.visibility</p:attrName>
                                        </p:attrNameLst>
                                      </p:cBhvr>
                                      <p:to>
                                        <p:strVal val="visible"/>
                                      </p:to>
                                    </p:set>
                                    <p:animEffect transition="in" filter="diamond(in)">
                                      <p:cBhvr>
                                        <p:cTn id="25" dur="2000"/>
                                        <p:tgtEl>
                                          <p:spTgt spid="9014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8" presetClass="exit" presetSubtype="16" fill="hold" grpId="1" nodeType="clickEffect">
                                  <p:stCondLst>
                                    <p:cond delay="0"/>
                                  </p:stCondLst>
                                  <p:childTnLst>
                                    <p:animEffect transition="out" filter="diamond(in)">
                                      <p:cBhvr>
                                        <p:cTn id="29" dur="2000"/>
                                        <p:tgtEl>
                                          <p:spTgt spid="90136"/>
                                        </p:tgtEl>
                                      </p:cBhvr>
                                    </p:animEffect>
                                    <p:set>
                                      <p:cBhvr>
                                        <p:cTn id="30" dur="1" fill="hold">
                                          <p:stCondLst>
                                            <p:cond delay="1999"/>
                                          </p:stCondLst>
                                        </p:cTn>
                                        <p:tgtEl>
                                          <p:spTgt spid="90136"/>
                                        </p:tgtEl>
                                        <p:attrNameLst>
                                          <p:attrName>style.visibility</p:attrName>
                                        </p:attrNameLst>
                                      </p:cBhvr>
                                      <p:to>
                                        <p:strVal val="hidden"/>
                                      </p:to>
                                    </p:set>
                                  </p:childTnLst>
                                </p:cTn>
                              </p:par>
                              <p:par>
                                <p:cTn id="31" presetID="8" presetClass="exit" presetSubtype="16" fill="hold" grpId="1" nodeType="withEffect">
                                  <p:stCondLst>
                                    <p:cond delay="0"/>
                                  </p:stCondLst>
                                  <p:childTnLst>
                                    <p:animEffect transition="out" filter="diamond(in)">
                                      <p:cBhvr>
                                        <p:cTn id="32" dur="2000"/>
                                        <p:tgtEl>
                                          <p:spTgt spid="90137"/>
                                        </p:tgtEl>
                                      </p:cBhvr>
                                    </p:animEffect>
                                    <p:set>
                                      <p:cBhvr>
                                        <p:cTn id="33" dur="1" fill="hold">
                                          <p:stCondLst>
                                            <p:cond delay="1999"/>
                                          </p:stCondLst>
                                        </p:cTn>
                                        <p:tgtEl>
                                          <p:spTgt spid="90137"/>
                                        </p:tgtEl>
                                        <p:attrNameLst>
                                          <p:attrName>style.visibility</p:attrName>
                                        </p:attrNameLst>
                                      </p:cBhvr>
                                      <p:to>
                                        <p:strVal val="hidden"/>
                                      </p:to>
                                    </p:set>
                                  </p:childTnLst>
                                </p:cTn>
                              </p:par>
                              <p:par>
                                <p:cTn id="34" presetID="8" presetClass="exit" presetSubtype="16" fill="hold" grpId="1" nodeType="withEffect">
                                  <p:stCondLst>
                                    <p:cond delay="0"/>
                                  </p:stCondLst>
                                  <p:childTnLst>
                                    <p:animEffect transition="out" filter="diamond(in)">
                                      <p:cBhvr>
                                        <p:cTn id="35" dur="2000"/>
                                        <p:tgtEl>
                                          <p:spTgt spid="90138"/>
                                        </p:tgtEl>
                                      </p:cBhvr>
                                    </p:animEffect>
                                    <p:set>
                                      <p:cBhvr>
                                        <p:cTn id="36" dur="1" fill="hold">
                                          <p:stCondLst>
                                            <p:cond delay="1999"/>
                                          </p:stCondLst>
                                        </p:cTn>
                                        <p:tgtEl>
                                          <p:spTgt spid="90138"/>
                                        </p:tgtEl>
                                        <p:attrNameLst>
                                          <p:attrName>style.visibility</p:attrName>
                                        </p:attrNameLst>
                                      </p:cBhvr>
                                      <p:to>
                                        <p:strVal val="hidden"/>
                                      </p:to>
                                    </p:set>
                                  </p:childTnLst>
                                </p:cTn>
                              </p:par>
                              <p:par>
                                <p:cTn id="37" presetID="8" presetClass="exit" presetSubtype="16" fill="hold" grpId="1" nodeType="withEffect">
                                  <p:stCondLst>
                                    <p:cond delay="0"/>
                                  </p:stCondLst>
                                  <p:childTnLst>
                                    <p:animEffect transition="out" filter="diamond(in)">
                                      <p:cBhvr>
                                        <p:cTn id="38" dur="2000"/>
                                        <p:tgtEl>
                                          <p:spTgt spid="90139"/>
                                        </p:tgtEl>
                                      </p:cBhvr>
                                    </p:animEffect>
                                    <p:set>
                                      <p:cBhvr>
                                        <p:cTn id="39" dur="1" fill="hold">
                                          <p:stCondLst>
                                            <p:cond delay="1999"/>
                                          </p:stCondLst>
                                        </p:cTn>
                                        <p:tgtEl>
                                          <p:spTgt spid="90139"/>
                                        </p:tgtEl>
                                        <p:attrNameLst>
                                          <p:attrName>style.visibility</p:attrName>
                                        </p:attrNameLst>
                                      </p:cBhvr>
                                      <p:to>
                                        <p:strVal val="hidden"/>
                                      </p:to>
                                    </p:set>
                                  </p:childTnLst>
                                </p:cTn>
                              </p:par>
                              <p:par>
                                <p:cTn id="40" presetID="8" presetClass="exit" presetSubtype="16" fill="hold" grpId="1" nodeType="withEffect">
                                  <p:stCondLst>
                                    <p:cond delay="0"/>
                                  </p:stCondLst>
                                  <p:childTnLst>
                                    <p:animEffect transition="out" filter="diamond(in)">
                                      <p:cBhvr>
                                        <p:cTn id="41" dur="2000"/>
                                        <p:tgtEl>
                                          <p:spTgt spid="90140"/>
                                        </p:tgtEl>
                                      </p:cBhvr>
                                    </p:animEffect>
                                    <p:set>
                                      <p:cBhvr>
                                        <p:cTn id="42" dur="1" fill="hold">
                                          <p:stCondLst>
                                            <p:cond delay="1999"/>
                                          </p:stCondLst>
                                        </p:cTn>
                                        <p:tgtEl>
                                          <p:spTgt spid="90140"/>
                                        </p:tgtEl>
                                        <p:attrNameLst>
                                          <p:attrName>style.visibility</p:attrName>
                                        </p:attrNameLst>
                                      </p:cBhvr>
                                      <p:to>
                                        <p:strVal val="hidden"/>
                                      </p:to>
                                    </p:set>
                                  </p:childTnLst>
                                </p:cTn>
                              </p:par>
                              <p:par>
                                <p:cTn id="43" presetID="8" presetClass="exit" presetSubtype="16" fill="hold" grpId="1" nodeType="withEffect">
                                  <p:stCondLst>
                                    <p:cond delay="0"/>
                                  </p:stCondLst>
                                  <p:childTnLst>
                                    <p:animEffect transition="out" filter="diamond(in)">
                                      <p:cBhvr>
                                        <p:cTn id="44" dur="2000"/>
                                        <p:tgtEl>
                                          <p:spTgt spid="90141"/>
                                        </p:tgtEl>
                                      </p:cBhvr>
                                    </p:animEffect>
                                    <p:set>
                                      <p:cBhvr>
                                        <p:cTn id="45" dur="1" fill="hold">
                                          <p:stCondLst>
                                            <p:cond delay="1999"/>
                                          </p:stCondLst>
                                        </p:cTn>
                                        <p:tgtEl>
                                          <p:spTgt spid="90141"/>
                                        </p:tgtEl>
                                        <p:attrNameLst>
                                          <p:attrName>style.visibility</p:attrName>
                                        </p:attrNameLst>
                                      </p:cBhvr>
                                      <p:to>
                                        <p:strVal val="hidden"/>
                                      </p:to>
                                    </p:set>
                                  </p:childTnLst>
                                </p:cTn>
                              </p:par>
                              <p:par>
                                <p:cTn id="46" presetID="8" presetClass="exit" presetSubtype="16" fill="hold" grpId="1" nodeType="withEffect">
                                  <p:stCondLst>
                                    <p:cond delay="0"/>
                                  </p:stCondLst>
                                  <p:childTnLst>
                                    <p:animEffect transition="out" filter="diamond(in)">
                                      <p:cBhvr>
                                        <p:cTn id="47" dur="2000"/>
                                        <p:tgtEl>
                                          <p:spTgt spid="90142"/>
                                        </p:tgtEl>
                                      </p:cBhvr>
                                    </p:animEffect>
                                    <p:set>
                                      <p:cBhvr>
                                        <p:cTn id="48" dur="1" fill="hold">
                                          <p:stCondLst>
                                            <p:cond delay="1999"/>
                                          </p:stCondLst>
                                        </p:cTn>
                                        <p:tgtEl>
                                          <p:spTgt spid="90142"/>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8" presetClass="entr" presetSubtype="16" fill="hold" nodeType="clickEffect">
                                  <p:stCondLst>
                                    <p:cond delay="0"/>
                                  </p:stCondLst>
                                  <p:childTnLst>
                                    <p:set>
                                      <p:cBhvr>
                                        <p:cTn id="52" dur="1" fill="hold">
                                          <p:stCondLst>
                                            <p:cond delay="0"/>
                                          </p:stCondLst>
                                        </p:cTn>
                                        <p:tgtEl>
                                          <p:spTgt spid="90149"/>
                                        </p:tgtEl>
                                        <p:attrNameLst>
                                          <p:attrName>style.visibility</p:attrName>
                                        </p:attrNameLst>
                                      </p:cBhvr>
                                      <p:to>
                                        <p:strVal val="visible"/>
                                      </p:to>
                                    </p:set>
                                    <p:animEffect transition="in" filter="diamond(in)">
                                      <p:cBhvr>
                                        <p:cTn id="53" dur="2000"/>
                                        <p:tgtEl>
                                          <p:spTgt spid="90149"/>
                                        </p:tgtEl>
                                      </p:cBhvr>
                                    </p:animEffect>
                                  </p:childTnLst>
                                </p:cTn>
                              </p:par>
                              <p:par>
                                <p:cTn id="54" presetID="8" presetClass="entr" presetSubtype="16" fill="hold" nodeType="withEffect">
                                  <p:stCondLst>
                                    <p:cond delay="0"/>
                                  </p:stCondLst>
                                  <p:childTnLst>
                                    <p:set>
                                      <p:cBhvr>
                                        <p:cTn id="55" dur="1" fill="hold">
                                          <p:stCondLst>
                                            <p:cond delay="0"/>
                                          </p:stCondLst>
                                        </p:cTn>
                                        <p:tgtEl>
                                          <p:spTgt spid="90150"/>
                                        </p:tgtEl>
                                        <p:attrNameLst>
                                          <p:attrName>style.visibility</p:attrName>
                                        </p:attrNameLst>
                                      </p:cBhvr>
                                      <p:to>
                                        <p:strVal val="visible"/>
                                      </p:to>
                                    </p:set>
                                    <p:animEffect transition="in" filter="diamond(in)">
                                      <p:cBhvr>
                                        <p:cTn id="56" dur="2000"/>
                                        <p:tgtEl>
                                          <p:spTgt spid="90150"/>
                                        </p:tgtEl>
                                      </p:cBhvr>
                                    </p:animEffect>
                                  </p:childTnLst>
                                </p:cTn>
                              </p:par>
                              <p:par>
                                <p:cTn id="57" presetID="8" presetClass="entr" presetSubtype="16" fill="hold" nodeType="withEffect">
                                  <p:stCondLst>
                                    <p:cond delay="0"/>
                                  </p:stCondLst>
                                  <p:childTnLst>
                                    <p:set>
                                      <p:cBhvr>
                                        <p:cTn id="58" dur="1" fill="hold">
                                          <p:stCondLst>
                                            <p:cond delay="0"/>
                                          </p:stCondLst>
                                        </p:cTn>
                                        <p:tgtEl>
                                          <p:spTgt spid="90148"/>
                                        </p:tgtEl>
                                        <p:attrNameLst>
                                          <p:attrName>style.visibility</p:attrName>
                                        </p:attrNameLst>
                                      </p:cBhvr>
                                      <p:to>
                                        <p:strVal val="visible"/>
                                      </p:to>
                                    </p:set>
                                    <p:animEffect transition="in" filter="diamond(in)">
                                      <p:cBhvr>
                                        <p:cTn id="59" dur="2000"/>
                                        <p:tgtEl>
                                          <p:spTgt spid="90148"/>
                                        </p:tgtEl>
                                      </p:cBhvr>
                                    </p:animEffect>
                                  </p:childTnLst>
                                </p:cTn>
                              </p:par>
                              <p:par>
                                <p:cTn id="60" presetID="8" presetClass="entr" presetSubtype="16" fill="hold" nodeType="withEffect">
                                  <p:stCondLst>
                                    <p:cond delay="0"/>
                                  </p:stCondLst>
                                  <p:childTnLst>
                                    <p:set>
                                      <p:cBhvr>
                                        <p:cTn id="61" dur="1" fill="hold">
                                          <p:stCondLst>
                                            <p:cond delay="0"/>
                                          </p:stCondLst>
                                        </p:cTn>
                                        <p:tgtEl>
                                          <p:spTgt spid="90151"/>
                                        </p:tgtEl>
                                        <p:attrNameLst>
                                          <p:attrName>style.visibility</p:attrName>
                                        </p:attrNameLst>
                                      </p:cBhvr>
                                      <p:to>
                                        <p:strVal val="visible"/>
                                      </p:to>
                                    </p:set>
                                    <p:animEffect transition="in" filter="diamond(in)">
                                      <p:cBhvr>
                                        <p:cTn id="62" dur="2000"/>
                                        <p:tgtEl>
                                          <p:spTgt spid="90151"/>
                                        </p:tgtEl>
                                      </p:cBhvr>
                                    </p:animEffect>
                                  </p:childTnLst>
                                </p:cTn>
                              </p:par>
                              <p:par>
                                <p:cTn id="63" presetID="8" presetClass="entr" presetSubtype="16" fill="hold" nodeType="withEffect">
                                  <p:stCondLst>
                                    <p:cond delay="0"/>
                                  </p:stCondLst>
                                  <p:childTnLst>
                                    <p:set>
                                      <p:cBhvr>
                                        <p:cTn id="64" dur="1" fill="hold">
                                          <p:stCondLst>
                                            <p:cond delay="0"/>
                                          </p:stCondLst>
                                        </p:cTn>
                                        <p:tgtEl>
                                          <p:spTgt spid="90152"/>
                                        </p:tgtEl>
                                        <p:attrNameLst>
                                          <p:attrName>style.visibility</p:attrName>
                                        </p:attrNameLst>
                                      </p:cBhvr>
                                      <p:to>
                                        <p:strVal val="visible"/>
                                      </p:to>
                                    </p:set>
                                    <p:animEffect transition="in" filter="diamond(in)">
                                      <p:cBhvr>
                                        <p:cTn id="65" dur="2000"/>
                                        <p:tgtEl>
                                          <p:spTgt spid="90152"/>
                                        </p:tgtEl>
                                      </p:cBhvr>
                                    </p:animEffect>
                                  </p:childTnLst>
                                </p:cTn>
                              </p:par>
                              <p:par>
                                <p:cTn id="66" presetID="8" presetClass="entr" presetSubtype="16" fill="hold" nodeType="withEffect">
                                  <p:stCondLst>
                                    <p:cond delay="0"/>
                                  </p:stCondLst>
                                  <p:childTnLst>
                                    <p:set>
                                      <p:cBhvr>
                                        <p:cTn id="67" dur="1" fill="hold">
                                          <p:stCondLst>
                                            <p:cond delay="0"/>
                                          </p:stCondLst>
                                        </p:cTn>
                                        <p:tgtEl>
                                          <p:spTgt spid="90153"/>
                                        </p:tgtEl>
                                        <p:attrNameLst>
                                          <p:attrName>style.visibility</p:attrName>
                                        </p:attrNameLst>
                                      </p:cBhvr>
                                      <p:to>
                                        <p:strVal val="visible"/>
                                      </p:to>
                                    </p:set>
                                    <p:animEffect transition="in" filter="diamond(in)">
                                      <p:cBhvr>
                                        <p:cTn id="68" dur="2000"/>
                                        <p:tgtEl>
                                          <p:spTgt spid="90153"/>
                                        </p:tgtEl>
                                      </p:cBhvr>
                                    </p:animEffect>
                                  </p:childTnLst>
                                </p:cTn>
                              </p:par>
                              <p:par>
                                <p:cTn id="69" presetID="8" presetClass="entr" presetSubtype="16" fill="hold" nodeType="withEffect">
                                  <p:stCondLst>
                                    <p:cond delay="0"/>
                                  </p:stCondLst>
                                  <p:childTnLst>
                                    <p:set>
                                      <p:cBhvr>
                                        <p:cTn id="70" dur="1" fill="hold">
                                          <p:stCondLst>
                                            <p:cond delay="0"/>
                                          </p:stCondLst>
                                        </p:cTn>
                                        <p:tgtEl>
                                          <p:spTgt spid="90154"/>
                                        </p:tgtEl>
                                        <p:attrNameLst>
                                          <p:attrName>style.visibility</p:attrName>
                                        </p:attrNameLst>
                                      </p:cBhvr>
                                      <p:to>
                                        <p:strVal val="visible"/>
                                      </p:to>
                                    </p:set>
                                    <p:animEffect transition="in" filter="diamond(in)">
                                      <p:cBhvr>
                                        <p:cTn id="71" dur="2000"/>
                                        <p:tgtEl>
                                          <p:spTgt spid="9015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8" presetClass="exit" presetSubtype="16" fill="hold" nodeType="clickEffect">
                                  <p:stCondLst>
                                    <p:cond delay="0"/>
                                  </p:stCondLst>
                                  <p:childTnLst>
                                    <p:animEffect transition="out" filter="diamond(in)">
                                      <p:cBhvr>
                                        <p:cTn id="75" dur="2000"/>
                                        <p:tgtEl>
                                          <p:spTgt spid="90149"/>
                                        </p:tgtEl>
                                      </p:cBhvr>
                                    </p:animEffect>
                                    <p:set>
                                      <p:cBhvr>
                                        <p:cTn id="76" dur="1" fill="hold">
                                          <p:stCondLst>
                                            <p:cond delay="1999"/>
                                          </p:stCondLst>
                                        </p:cTn>
                                        <p:tgtEl>
                                          <p:spTgt spid="90149"/>
                                        </p:tgtEl>
                                        <p:attrNameLst>
                                          <p:attrName>style.visibility</p:attrName>
                                        </p:attrNameLst>
                                      </p:cBhvr>
                                      <p:to>
                                        <p:strVal val="hidden"/>
                                      </p:to>
                                    </p:set>
                                  </p:childTnLst>
                                </p:cTn>
                              </p:par>
                              <p:par>
                                <p:cTn id="77" presetID="8" presetClass="exit" presetSubtype="16" fill="hold" nodeType="withEffect">
                                  <p:stCondLst>
                                    <p:cond delay="0"/>
                                  </p:stCondLst>
                                  <p:childTnLst>
                                    <p:animEffect transition="out" filter="diamond(in)">
                                      <p:cBhvr>
                                        <p:cTn id="78" dur="2000"/>
                                        <p:tgtEl>
                                          <p:spTgt spid="90150"/>
                                        </p:tgtEl>
                                      </p:cBhvr>
                                    </p:animEffect>
                                    <p:set>
                                      <p:cBhvr>
                                        <p:cTn id="79" dur="1" fill="hold">
                                          <p:stCondLst>
                                            <p:cond delay="1999"/>
                                          </p:stCondLst>
                                        </p:cTn>
                                        <p:tgtEl>
                                          <p:spTgt spid="90150"/>
                                        </p:tgtEl>
                                        <p:attrNameLst>
                                          <p:attrName>style.visibility</p:attrName>
                                        </p:attrNameLst>
                                      </p:cBhvr>
                                      <p:to>
                                        <p:strVal val="hidden"/>
                                      </p:to>
                                    </p:set>
                                  </p:childTnLst>
                                </p:cTn>
                              </p:par>
                              <p:par>
                                <p:cTn id="80" presetID="8" presetClass="exit" presetSubtype="16" fill="hold" nodeType="withEffect">
                                  <p:stCondLst>
                                    <p:cond delay="0"/>
                                  </p:stCondLst>
                                  <p:childTnLst>
                                    <p:animEffect transition="out" filter="diamond(in)">
                                      <p:cBhvr>
                                        <p:cTn id="81" dur="2000"/>
                                        <p:tgtEl>
                                          <p:spTgt spid="90148"/>
                                        </p:tgtEl>
                                      </p:cBhvr>
                                    </p:animEffect>
                                    <p:set>
                                      <p:cBhvr>
                                        <p:cTn id="82" dur="1" fill="hold">
                                          <p:stCondLst>
                                            <p:cond delay="1999"/>
                                          </p:stCondLst>
                                        </p:cTn>
                                        <p:tgtEl>
                                          <p:spTgt spid="90148"/>
                                        </p:tgtEl>
                                        <p:attrNameLst>
                                          <p:attrName>style.visibility</p:attrName>
                                        </p:attrNameLst>
                                      </p:cBhvr>
                                      <p:to>
                                        <p:strVal val="hidden"/>
                                      </p:to>
                                    </p:set>
                                  </p:childTnLst>
                                </p:cTn>
                              </p:par>
                              <p:par>
                                <p:cTn id="83" presetID="8" presetClass="exit" presetSubtype="16" fill="hold" nodeType="withEffect">
                                  <p:stCondLst>
                                    <p:cond delay="0"/>
                                  </p:stCondLst>
                                  <p:childTnLst>
                                    <p:animEffect transition="out" filter="diamond(in)">
                                      <p:cBhvr>
                                        <p:cTn id="84" dur="2000"/>
                                        <p:tgtEl>
                                          <p:spTgt spid="90151"/>
                                        </p:tgtEl>
                                      </p:cBhvr>
                                    </p:animEffect>
                                    <p:set>
                                      <p:cBhvr>
                                        <p:cTn id="85" dur="1" fill="hold">
                                          <p:stCondLst>
                                            <p:cond delay="1999"/>
                                          </p:stCondLst>
                                        </p:cTn>
                                        <p:tgtEl>
                                          <p:spTgt spid="90151"/>
                                        </p:tgtEl>
                                        <p:attrNameLst>
                                          <p:attrName>style.visibility</p:attrName>
                                        </p:attrNameLst>
                                      </p:cBhvr>
                                      <p:to>
                                        <p:strVal val="hidden"/>
                                      </p:to>
                                    </p:set>
                                  </p:childTnLst>
                                </p:cTn>
                              </p:par>
                              <p:par>
                                <p:cTn id="86" presetID="8" presetClass="exit" presetSubtype="16" fill="hold" nodeType="withEffect">
                                  <p:stCondLst>
                                    <p:cond delay="0"/>
                                  </p:stCondLst>
                                  <p:childTnLst>
                                    <p:animEffect transition="out" filter="diamond(in)">
                                      <p:cBhvr>
                                        <p:cTn id="87" dur="2000"/>
                                        <p:tgtEl>
                                          <p:spTgt spid="90152"/>
                                        </p:tgtEl>
                                      </p:cBhvr>
                                    </p:animEffect>
                                    <p:set>
                                      <p:cBhvr>
                                        <p:cTn id="88" dur="1" fill="hold">
                                          <p:stCondLst>
                                            <p:cond delay="1999"/>
                                          </p:stCondLst>
                                        </p:cTn>
                                        <p:tgtEl>
                                          <p:spTgt spid="90152"/>
                                        </p:tgtEl>
                                        <p:attrNameLst>
                                          <p:attrName>style.visibility</p:attrName>
                                        </p:attrNameLst>
                                      </p:cBhvr>
                                      <p:to>
                                        <p:strVal val="hidden"/>
                                      </p:to>
                                    </p:set>
                                  </p:childTnLst>
                                </p:cTn>
                              </p:par>
                              <p:par>
                                <p:cTn id="89" presetID="8" presetClass="exit" presetSubtype="16" fill="hold" nodeType="withEffect">
                                  <p:stCondLst>
                                    <p:cond delay="0"/>
                                  </p:stCondLst>
                                  <p:childTnLst>
                                    <p:animEffect transition="out" filter="diamond(in)">
                                      <p:cBhvr>
                                        <p:cTn id="90" dur="2000"/>
                                        <p:tgtEl>
                                          <p:spTgt spid="90153"/>
                                        </p:tgtEl>
                                      </p:cBhvr>
                                    </p:animEffect>
                                    <p:set>
                                      <p:cBhvr>
                                        <p:cTn id="91" dur="1" fill="hold">
                                          <p:stCondLst>
                                            <p:cond delay="1999"/>
                                          </p:stCondLst>
                                        </p:cTn>
                                        <p:tgtEl>
                                          <p:spTgt spid="90153"/>
                                        </p:tgtEl>
                                        <p:attrNameLst>
                                          <p:attrName>style.visibility</p:attrName>
                                        </p:attrNameLst>
                                      </p:cBhvr>
                                      <p:to>
                                        <p:strVal val="hidden"/>
                                      </p:to>
                                    </p:set>
                                  </p:childTnLst>
                                </p:cTn>
                              </p:par>
                              <p:par>
                                <p:cTn id="92" presetID="8" presetClass="exit" presetSubtype="16" fill="hold" nodeType="withEffect">
                                  <p:stCondLst>
                                    <p:cond delay="0"/>
                                  </p:stCondLst>
                                  <p:childTnLst>
                                    <p:animEffect transition="out" filter="diamond(in)">
                                      <p:cBhvr>
                                        <p:cTn id="93" dur="2000"/>
                                        <p:tgtEl>
                                          <p:spTgt spid="90154"/>
                                        </p:tgtEl>
                                      </p:cBhvr>
                                    </p:animEffect>
                                    <p:set>
                                      <p:cBhvr>
                                        <p:cTn id="94" dur="1" fill="hold">
                                          <p:stCondLst>
                                            <p:cond delay="1999"/>
                                          </p:stCondLst>
                                        </p:cTn>
                                        <p:tgtEl>
                                          <p:spTgt spid="901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36" grpId="0" animBg="1"/>
      <p:bldP spid="90136" grpId="1" animBg="1"/>
      <p:bldP spid="90137" grpId="0" animBg="1"/>
      <p:bldP spid="90137" grpId="1" animBg="1"/>
      <p:bldP spid="90138" grpId="0" animBg="1"/>
      <p:bldP spid="90138" grpId="1" animBg="1"/>
      <p:bldP spid="90139" grpId="0" animBg="1"/>
      <p:bldP spid="90139" grpId="1" animBg="1"/>
      <p:bldP spid="90140" grpId="0" animBg="1"/>
      <p:bldP spid="90140" grpId="1" animBg="1"/>
      <p:bldP spid="90141" grpId="0" animBg="1"/>
      <p:bldP spid="90141" grpId="1" animBg="1"/>
      <p:bldP spid="90142" grpId="0" animBg="1"/>
      <p:bldP spid="9014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5059" name="Text Box 2"/>
          <p:cNvSpPr txBox="1">
            <a:spLocks noChangeArrowheads="1"/>
          </p:cNvSpPr>
          <p:nvPr/>
        </p:nvSpPr>
        <p:spPr bwMode="auto">
          <a:xfrm>
            <a:off x="2938463" y="4889212"/>
            <a:ext cx="3276600" cy="58477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3200" b="1" dirty="0">
                <a:solidFill>
                  <a:schemeClr val="accent2"/>
                </a:solidFill>
              </a:rPr>
              <a:t>Diameter </a:t>
            </a:r>
            <a:r>
              <a:rPr lang="en-US" sz="3200" b="1">
                <a:solidFill>
                  <a:schemeClr val="accent2"/>
                </a:solidFill>
              </a:rPr>
              <a:t>=  4</a:t>
            </a:r>
            <a:endParaRPr lang="en-US" sz="3200" b="1" dirty="0">
              <a:solidFill>
                <a:schemeClr val="accent2"/>
              </a:solidFill>
            </a:endParaRPr>
          </a:p>
        </p:txBody>
      </p:sp>
      <p:grpSp>
        <p:nvGrpSpPr>
          <p:cNvPr id="8" name="Group 7" descr="A binary tree with four levels and seven nodes:&#10;&#10;Row 0: 90&#10;Row 1:&#10; 90 has one child: 50 as a left child&#10;Row 2:&#10; 50 has two children: 40 as a left child and 65 as a right child&#10;Row 3:&#10;   40 has two children: 30 as a left child and 45 as a right child&#10;    65 only has a right child, 70&#10;">
            <a:extLst>
              <a:ext uri="{FF2B5EF4-FFF2-40B4-BE49-F238E27FC236}">
                <a16:creationId xmlns:a16="http://schemas.microsoft.com/office/drawing/2014/main" id="{DC879B01-34A1-9829-DFD0-009EB1B2976C}"/>
              </a:ext>
            </a:extLst>
          </p:cNvPr>
          <p:cNvGrpSpPr/>
          <p:nvPr/>
        </p:nvGrpSpPr>
        <p:grpSpPr>
          <a:xfrm>
            <a:off x="838200" y="1403350"/>
            <a:ext cx="4233863" cy="2057400"/>
            <a:chOff x="838200" y="1403350"/>
            <a:chExt cx="4233863" cy="2057400"/>
          </a:xfrm>
        </p:grpSpPr>
        <p:sp>
          <p:nvSpPr>
            <p:cNvPr id="45060" name="Oval 3"/>
            <p:cNvSpPr>
              <a:spLocks noChangeArrowheads="1"/>
            </p:cNvSpPr>
            <p:nvPr/>
          </p:nvSpPr>
          <p:spPr bwMode="auto">
            <a:xfrm>
              <a:off x="3505200" y="300355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45061" name="Oval 4"/>
            <p:cNvSpPr>
              <a:spLocks noChangeArrowheads="1"/>
            </p:cNvSpPr>
            <p:nvPr/>
          </p:nvSpPr>
          <p:spPr bwMode="auto">
            <a:xfrm>
              <a:off x="2133600" y="193675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45062" name="Oval 5"/>
            <p:cNvSpPr>
              <a:spLocks noChangeArrowheads="1"/>
            </p:cNvSpPr>
            <p:nvPr/>
          </p:nvSpPr>
          <p:spPr bwMode="auto">
            <a:xfrm>
              <a:off x="1295400" y="247015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45063" name="Oval 6"/>
            <p:cNvSpPr>
              <a:spLocks noChangeArrowheads="1"/>
            </p:cNvSpPr>
            <p:nvPr/>
          </p:nvSpPr>
          <p:spPr bwMode="auto">
            <a:xfrm>
              <a:off x="2971800" y="247015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45067" name="Oval 10"/>
            <p:cNvSpPr>
              <a:spLocks noChangeArrowheads="1"/>
            </p:cNvSpPr>
            <p:nvPr/>
          </p:nvSpPr>
          <p:spPr bwMode="auto">
            <a:xfrm>
              <a:off x="838200" y="300355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45068" name="Oval 11"/>
            <p:cNvSpPr>
              <a:spLocks noChangeArrowheads="1"/>
            </p:cNvSpPr>
            <p:nvPr/>
          </p:nvSpPr>
          <p:spPr bwMode="auto">
            <a:xfrm>
              <a:off x="1828800" y="300355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45069" name="Oval 12"/>
            <p:cNvSpPr>
              <a:spLocks noChangeArrowheads="1"/>
            </p:cNvSpPr>
            <p:nvPr/>
          </p:nvSpPr>
          <p:spPr bwMode="auto">
            <a:xfrm>
              <a:off x="4267200" y="140335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45070" name="Line 13"/>
            <p:cNvSpPr>
              <a:spLocks noChangeShapeType="1"/>
            </p:cNvSpPr>
            <p:nvPr/>
          </p:nvSpPr>
          <p:spPr bwMode="auto">
            <a:xfrm flipH="1">
              <a:off x="2895600" y="170815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2" name="Line 15"/>
            <p:cNvSpPr>
              <a:spLocks noChangeShapeType="1"/>
            </p:cNvSpPr>
            <p:nvPr/>
          </p:nvSpPr>
          <p:spPr bwMode="auto">
            <a:xfrm flipH="1">
              <a:off x="1981200" y="231775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4" name="Line 17"/>
            <p:cNvSpPr>
              <a:spLocks noChangeShapeType="1"/>
            </p:cNvSpPr>
            <p:nvPr/>
          </p:nvSpPr>
          <p:spPr bwMode="auto">
            <a:xfrm>
              <a:off x="2819400" y="231775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 name="TextBox 1">
            <a:extLst>
              <a:ext uri="{FF2B5EF4-FFF2-40B4-BE49-F238E27FC236}">
                <a16:creationId xmlns:a16="http://schemas.microsoft.com/office/drawing/2014/main" id="{DC4F2A04-0F2F-6E0B-31F3-3FFB864F781D}"/>
              </a:ext>
            </a:extLst>
          </p:cNvPr>
          <p:cNvSpPr txBox="1"/>
          <p:nvPr/>
        </p:nvSpPr>
        <p:spPr>
          <a:xfrm>
            <a:off x="3145066" y="109746"/>
            <a:ext cx="2808782" cy="769441"/>
          </a:xfrm>
          <a:prstGeom prst="rect">
            <a:avLst/>
          </a:prstGeom>
          <a:noFill/>
        </p:spPr>
        <p:txBody>
          <a:bodyPr wrap="none" rtlCol="0">
            <a:spAutoFit/>
          </a:bodyPr>
          <a:lstStyle/>
          <a:p>
            <a:r>
              <a:rPr lang="en-US" sz="4400" b="1" dirty="0">
                <a:solidFill>
                  <a:srgbClr val="0000CC"/>
                </a:solidFill>
              </a:rPr>
              <a:t>Diameter</a:t>
            </a:r>
          </a:p>
        </p:txBody>
      </p:sp>
      <p:grpSp>
        <p:nvGrpSpPr>
          <p:cNvPr id="15" name="Group 14">
            <a:extLst>
              <a:ext uri="{FF2B5EF4-FFF2-40B4-BE49-F238E27FC236}">
                <a16:creationId xmlns:a16="http://schemas.microsoft.com/office/drawing/2014/main" id="{E5035378-DD18-230D-4F15-FE09BCA8A5E8}"/>
              </a:ext>
              <a:ext uri="{C183D7F6-B498-43B3-948B-1728B52AA6E4}">
                <adec:decorative xmlns:adec="http://schemas.microsoft.com/office/drawing/2017/decorative" val="1"/>
              </a:ext>
            </a:extLst>
          </p:cNvPr>
          <p:cNvGrpSpPr/>
          <p:nvPr/>
        </p:nvGrpSpPr>
        <p:grpSpPr>
          <a:xfrm>
            <a:off x="1143000" y="1892300"/>
            <a:ext cx="3327400" cy="1612900"/>
            <a:chOff x="1143000" y="1600200"/>
            <a:chExt cx="3327400" cy="1612900"/>
          </a:xfrm>
        </p:grpSpPr>
        <p:sp>
          <p:nvSpPr>
            <p:cNvPr id="3" name="Text Box 24">
              <a:extLst>
                <a:ext uri="{FF2B5EF4-FFF2-40B4-BE49-F238E27FC236}">
                  <a16:creationId xmlns:a16="http://schemas.microsoft.com/office/drawing/2014/main" id="{5C4251DA-933A-7948-0B65-BD9FF6A22D37}"/>
                </a:ext>
              </a:extLst>
            </p:cNvPr>
            <p:cNvSpPr txBox="1">
              <a:spLocks noChangeArrowheads="1"/>
            </p:cNvSpPr>
            <p:nvPr/>
          </p:nvSpPr>
          <p:spPr bwMode="auto">
            <a:xfrm>
              <a:off x="1676400" y="26670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sp>
          <p:nvSpPr>
            <p:cNvPr id="4" name="Text Box 25">
              <a:extLst>
                <a:ext uri="{FF2B5EF4-FFF2-40B4-BE49-F238E27FC236}">
                  <a16:creationId xmlns:a16="http://schemas.microsoft.com/office/drawing/2014/main" id="{ACBBDEFA-58E4-18B6-8C2B-07B500C8AF06}"/>
                </a:ext>
              </a:extLst>
            </p:cNvPr>
            <p:cNvSpPr txBox="1">
              <a:spLocks noChangeArrowheads="1"/>
            </p:cNvSpPr>
            <p:nvPr/>
          </p:nvSpPr>
          <p:spPr bwMode="auto">
            <a:xfrm>
              <a:off x="1143000" y="21336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pic>
          <p:nvPicPr>
            <p:cNvPr id="5" name="Picture 36">
              <a:extLst>
                <a:ext uri="{FF2B5EF4-FFF2-40B4-BE49-F238E27FC236}">
                  <a16:creationId xmlns:a16="http://schemas.microsoft.com/office/drawing/2014/main" id="{488478D6-44B7-ABD1-E880-1183D11BE7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21336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7">
              <a:extLst>
                <a:ext uri="{FF2B5EF4-FFF2-40B4-BE49-F238E27FC236}">
                  <a16:creationId xmlns:a16="http://schemas.microsoft.com/office/drawing/2014/main" id="{5B4DD659-9959-569F-4AA4-EFFD8277DB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2800" y="26670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8">
              <a:extLst>
                <a:ext uri="{FF2B5EF4-FFF2-40B4-BE49-F238E27FC236}">
                  <a16:creationId xmlns:a16="http://schemas.microsoft.com/office/drawing/2014/main" id="{7FEAC94B-3027-B66E-B38E-9B5969F290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16002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9" name="Group 8">
            <a:extLst>
              <a:ext uri="{FF2B5EF4-FFF2-40B4-BE49-F238E27FC236}">
                <a16:creationId xmlns:a16="http://schemas.microsoft.com/office/drawing/2014/main" id="{1D07B34C-B44D-3EBD-A935-990D8EF2A8B4}"/>
              </a:ext>
              <a:ext uri="{C183D7F6-B498-43B3-948B-1728B52AA6E4}">
                <adec:decorative xmlns:adec="http://schemas.microsoft.com/office/drawing/2017/decorative" val="1"/>
              </a:ext>
            </a:extLst>
          </p:cNvPr>
          <p:cNvGrpSpPr/>
          <p:nvPr/>
        </p:nvGrpSpPr>
        <p:grpSpPr>
          <a:xfrm>
            <a:off x="698500" y="1905000"/>
            <a:ext cx="3784600" cy="1612900"/>
            <a:chOff x="685800" y="1600200"/>
            <a:chExt cx="3784600" cy="1612900"/>
          </a:xfrm>
        </p:grpSpPr>
        <p:sp>
          <p:nvSpPr>
            <p:cNvPr id="10" name="Text Box 24">
              <a:extLst>
                <a:ext uri="{FF2B5EF4-FFF2-40B4-BE49-F238E27FC236}">
                  <a16:creationId xmlns:a16="http://schemas.microsoft.com/office/drawing/2014/main" id="{C5D362BE-5AF7-9342-CDAC-E230F9A93AA1}"/>
                </a:ext>
              </a:extLst>
            </p:cNvPr>
            <p:cNvSpPr txBox="1">
              <a:spLocks noChangeArrowheads="1"/>
            </p:cNvSpPr>
            <p:nvPr/>
          </p:nvSpPr>
          <p:spPr bwMode="auto">
            <a:xfrm>
              <a:off x="685800" y="26670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sp>
          <p:nvSpPr>
            <p:cNvPr id="11" name="Text Box 25">
              <a:extLst>
                <a:ext uri="{FF2B5EF4-FFF2-40B4-BE49-F238E27FC236}">
                  <a16:creationId xmlns:a16="http://schemas.microsoft.com/office/drawing/2014/main" id="{6E962384-23ED-00AB-7ECC-9CA8F1257A04}"/>
                </a:ext>
              </a:extLst>
            </p:cNvPr>
            <p:cNvSpPr txBox="1">
              <a:spLocks noChangeArrowheads="1"/>
            </p:cNvSpPr>
            <p:nvPr/>
          </p:nvSpPr>
          <p:spPr bwMode="auto">
            <a:xfrm>
              <a:off x="1143000" y="2133600"/>
              <a:ext cx="1066800" cy="495300"/>
            </a:xfrm>
            <a:prstGeom prst="rect">
              <a:avLst/>
            </a:prstGeom>
            <a:solidFill>
              <a:schemeClr val="bg1">
                <a:alpha val="0"/>
              </a:schemeClr>
            </a:solidFill>
            <a:ln w="38100">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endParaRPr lang="en-US"/>
            </a:p>
          </p:txBody>
        </p:sp>
        <p:pic>
          <p:nvPicPr>
            <p:cNvPr id="12" name="Picture 36">
              <a:extLst>
                <a:ext uri="{FF2B5EF4-FFF2-40B4-BE49-F238E27FC236}">
                  <a16:creationId xmlns:a16="http://schemas.microsoft.com/office/drawing/2014/main" id="{33685F0E-65F8-D0CF-DF36-81473AA6EA7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21336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37">
              <a:extLst>
                <a:ext uri="{FF2B5EF4-FFF2-40B4-BE49-F238E27FC236}">
                  <a16:creationId xmlns:a16="http://schemas.microsoft.com/office/drawing/2014/main" id="{92E5EE1B-6E8D-39B8-1FC8-C10286DAAA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2800" y="26670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38">
              <a:extLst>
                <a:ext uri="{FF2B5EF4-FFF2-40B4-BE49-F238E27FC236}">
                  <a16:creationId xmlns:a16="http://schemas.microsoft.com/office/drawing/2014/main" id="{537F1E59-20CD-A636-588D-7B93D21D61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1600200"/>
              <a:ext cx="11176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07280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WordArt 2"/>
          <p:cNvSpPr>
            <a:spLocks noChangeArrowheads="1" noChangeShapeType="1" noTextEdit="1"/>
          </p:cNvSpPr>
          <p:nvPr/>
        </p:nvSpPr>
        <p:spPr bwMode="auto">
          <a:xfrm>
            <a:off x="1524000" y="1447800"/>
            <a:ext cx="6248400" cy="3124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Printing a</a:t>
            </a:r>
          </a:p>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 Tree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1219200" y="3733800"/>
            <a:ext cx="71628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dirty="0"/>
              <a:t>Level order (i.e. one level at a time):  </a:t>
            </a:r>
          </a:p>
          <a:p>
            <a:endParaRPr lang="en-US" sz="2000" b="1" dirty="0"/>
          </a:p>
          <a:p>
            <a:pPr algn="ctr"/>
            <a:r>
              <a:rPr lang="en-US" sz="2000" b="1" dirty="0"/>
              <a:t>90 50 120 40 65 100 150 30 45 70</a:t>
            </a:r>
            <a:br>
              <a:rPr lang="en-US" sz="2000" b="1" dirty="0"/>
            </a:br>
            <a:endParaRPr lang="en-US" sz="2000" b="1" dirty="0"/>
          </a:p>
        </p:txBody>
      </p:sp>
      <p:grpSp>
        <p:nvGrpSpPr>
          <p:cNvPr id="3" name="Group 2"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265E67B8-0950-F13B-D692-0CEB4A5A556B}"/>
              </a:ext>
            </a:extLst>
          </p:cNvPr>
          <p:cNvGrpSpPr/>
          <p:nvPr/>
        </p:nvGrpSpPr>
        <p:grpSpPr>
          <a:xfrm>
            <a:off x="838200" y="1066800"/>
            <a:ext cx="7129463" cy="2057400"/>
            <a:chOff x="838200" y="1066800"/>
            <a:chExt cx="7129463" cy="2057400"/>
          </a:xfrm>
        </p:grpSpPr>
        <p:sp>
          <p:nvSpPr>
            <p:cNvPr id="28676"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8677"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8678"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8679"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8680"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8681"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8682"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8683"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8684"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8685"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8686"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7"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8"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9"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0"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1"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692"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Level Order</a:t>
            </a:r>
          </a:p>
        </p:txBody>
      </p:sp>
      <p:sp>
        <p:nvSpPr>
          <p:cNvPr id="2" name="Rectangle 1"/>
          <p:cNvSpPr/>
          <p:nvPr/>
        </p:nvSpPr>
        <p:spPr>
          <a:xfrm>
            <a:off x="1229046" y="5410200"/>
            <a:ext cx="3541932" cy="461665"/>
          </a:xfrm>
          <a:prstGeom prst="rect">
            <a:avLst/>
          </a:prstGeom>
        </p:spPr>
        <p:txBody>
          <a:bodyPr wrap="none">
            <a:spAutoFit/>
          </a:bodyPr>
          <a:lstStyle/>
          <a:p>
            <a:r>
              <a:rPr lang="en-US" dirty="0" err="1"/>
              <a:t>System.out.println</a:t>
            </a:r>
            <a:r>
              <a:rPr lang="en-US" dirty="0"/>
              <a:t>(tree);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1219200" y="3733800"/>
            <a:ext cx="71628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t>IN-ORDER  Traversal:  </a:t>
            </a:r>
          </a:p>
          <a:p>
            <a:endParaRPr lang="en-US" sz="2000" b="1"/>
          </a:p>
          <a:p>
            <a:pPr algn="ctr"/>
            <a:r>
              <a:rPr lang="en-US" sz="2000" b="1"/>
              <a:t>Left branch, Node, Right branch</a:t>
            </a:r>
          </a:p>
          <a:p>
            <a:endParaRPr lang="en-US" sz="2000" b="1"/>
          </a:p>
          <a:p>
            <a:pPr algn="ctr"/>
            <a:r>
              <a:rPr lang="en-US" sz="2000" b="1"/>
              <a:t>30 40 45 50 65 70 </a:t>
            </a:r>
            <a:r>
              <a:rPr lang="en-US" sz="2000" b="1">
                <a:solidFill>
                  <a:srgbClr val="FF0000"/>
                </a:solidFill>
              </a:rPr>
              <a:t>90</a:t>
            </a:r>
            <a:r>
              <a:rPr lang="en-US" sz="2000" b="1"/>
              <a:t> 100 120 150</a:t>
            </a:r>
            <a:br>
              <a:rPr lang="en-US" sz="2000" b="1"/>
            </a:br>
            <a:endParaRPr lang="en-US" sz="2000" b="1"/>
          </a:p>
        </p:txBody>
      </p:sp>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F97A7A48-61C9-89FC-0CDA-53973C7B9B65}"/>
              </a:ext>
            </a:extLst>
          </p:cNvPr>
          <p:cNvGrpSpPr/>
          <p:nvPr/>
        </p:nvGrpSpPr>
        <p:grpSpPr>
          <a:xfrm>
            <a:off x="838200" y="1066800"/>
            <a:ext cx="7129463" cy="2057400"/>
            <a:chOff x="838200" y="1066800"/>
            <a:chExt cx="7129463" cy="2057400"/>
          </a:xfrm>
        </p:grpSpPr>
        <p:sp>
          <p:nvSpPr>
            <p:cNvPr id="28676"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8677"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8678"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8679"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8680"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8681"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8682"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8683"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8684"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8685"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8686"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7"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8"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9"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0"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1"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692"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Tree>
    <p:extLst>
      <p:ext uri="{BB962C8B-B14F-4D97-AF65-F5344CB8AC3E}">
        <p14:creationId xmlns:p14="http://schemas.microsoft.com/office/powerpoint/2010/main" val="3664306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9760E1D2-81CC-8A74-47AA-8815D1212778}"/>
              </a:ext>
            </a:extLst>
          </p:cNvPr>
          <p:cNvGrpSpPr/>
          <p:nvPr/>
        </p:nvGrpSpPr>
        <p:grpSpPr>
          <a:xfrm>
            <a:off x="838200" y="1066800"/>
            <a:ext cx="7129463" cy="2057400"/>
            <a:chOff x="838200" y="1066800"/>
            <a:chExt cx="7129463" cy="2057400"/>
          </a:xfrm>
        </p:grpSpPr>
        <p:sp>
          <p:nvSpPr>
            <p:cNvPr id="29699"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9700"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9701"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9702"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9703"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9704"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9705"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9706"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9707"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9708"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9709"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0"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1"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2"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3"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4"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715"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29716" name="Text Box 2"/>
          <p:cNvSpPr txBox="1">
            <a:spLocks noChangeArrowheads="1"/>
          </p:cNvSpPr>
          <p:nvPr/>
        </p:nvSpPr>
        <p:spPr bwMode="auto">
          <a:xfrm>
            <a:off x="1219200" y="3886200"/>
            <a:ext cx="71628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solidFill>
                  <a:srgbClr val="660066"/>
                </a:solidFill>
              </a:rPr>
              <a:t>PRE-ORDER  Traversal:  </a:t>
            </a:r>
          </a:p>
          <a:p>
            <a:endParaRPr lang="en-US" sz="2000" b="1">
              <a:solidFill>
                <a:srgbClr val="660066"/>
              </a:solidFill>
            </a:endParaRPr>
          </a:p>
          <a:p>
            <a:pPr algn="ctr"/>
            <a:r>
              <a:rPr lang="en-US" sz="2000" b="1">
                <a:solidFill>
                  <a:srgbClr val="660066"/>
                </a:solidFill>
              </a:rPr>
              <a:t>Node, Left branch, Right branch</a:t>
            </a:r>
          </a:p>
          <a:p>
            <a:endParaRPr lang="en-US" sz="2000" b="1">
              <a:solidFill>
                <a:srgbClr val="660066"/>
              </a:solidFill>
            </a:endParaRPr>
          </a:p>
          <a:p>
            <a:pPr algn="ctr"/>
            <a:r>
              <a:rPr lang="en-US" sz="2000" b="1">
                <a:solidFill>
                  <a:srgbClr val="660066"/>
                </a:solidFill>
              </a:rPr>
              <a:t>90 50 40 30 45 65 70 120 100 150</a:t>
            </a:r>
            <a:br>
              <a:rPr lang="en-US" sz="2000" b="1"/>
            </a:br>
            <a:endParaRPr lang="en-US" sz="20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C1ECF923-8942-0535-5245-39C5DEB37622}"/>
              </a:ext>
            </a:extLst>
          </p:cNvPr>
          <p:cNvGrpSpPr/>
          <p:nvPr/>
        </p:nvGrpSpPr>
        <p:grpSpPr>
          <a:xfrm>
            <a:off x="838200" y="1066800"/>
            <a:ext cx="7129463" cy="2057400"/>
            <a:chOff x="838200" y="1066800"/>
            <a:chExt cx="7129463" cy="2057400"/>
          </a:xfrm>
        </p:grpSpPr>
        <p:sp>
          <p:nvSpPr>
            <p:cNvPr id="30723"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30724"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30725"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30726"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30727"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30728"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30729"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30730"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30731"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30732"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30733"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4"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5"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6"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7"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8"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0739"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30740" name="Text Box 2"/>
          <p:cNvSpPr txBox="1">
            <a:spLocks noChangeArrowheads="1"/>
          </p:cNvSpPr>
          <p:nvPr/>
        </p:nvSpPr>
        <p:spPr bwMode="auto">
          <a:xfrm>
            <a:off x="1219200" y="4006850"/>
            <a:ext cx="7162800"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t>POST-ORDER Traversal:  </a:t>
            </a:r>
          </a:p>
          <a:p>
            <a:endParaRPr lang="en-US" sz="2000" b="1"/>
          </a:p>
          <a:p>
            <a:pPr algn="ctr"/>
            <a:r>
              <a:rPr lang="en-US" sz="2000" b="1"/>
              <a:t>Left branch, Right branch, Node</a:t>
            </a:r>
          </a:p>
          <a:p>
            <a:endParaRPr lang="en-US" sz="2000" b="1"/>
          </a:p>
          <a:p>
            <a:pPr algn="ctr"/>
            <a:r>
              <a:rPr lang="en-US" sz="2000" b="1"/>
              <a:t>30 45 40 70 65 50 100 150 120 90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F71A16DC-416B-16A4-4235-CFE8444DC5A0}"/>
              </a:ext>
            </a:extLst>
          </p:cNvPr>
          <p:cNvGrpSpPr/>
          <p:nvPr/>
        </p:nvGrpSpPr>
        <p:grpSpPr>
          <a:xfrm>
            <a:off x="838200" y="1066800"/>
            <a:ext cx="7129463" cy="2057400"/>
            <a:chOff x="838200" y="1066800"/>
            <a:chExt cx="7129463" cy="2057400"/>
          </a:xfrm>
        </p:grpSpPr>
        <p:sp>
          <p:nvSpPr>
            <p:cNvPr id="31747"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31748"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31749"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31750"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31751"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31752"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31753"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31754"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31755"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31756"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31757"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8"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9"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0"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1"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2"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763"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31764" name="Text Box 2"/>
          <p:cNvSpPr txBox="1">
            <a:spLocks noChangeArrowheads="1"/>
          </p:cNvSpPr>
          <p:nvPr/>
        </p:nvSpPr>
        <p:spPr bwMode="auto">
          <a:xfrm>
            <a:off x="1239838" y="4114800"/>
            <a:ext cx="7162800"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dirty="0">
                <a:solidFill>
                  <a:srgbClr val="003366"/>
                </a:solidFill>
              </a:rPr>
              <a:t>REV-ORDER Traversal:  </a:t>
            </a:r>
          </a:p>
          <a:p>
            <a:endParaRPr lang="en-US" sz="2000" b="1" dirty="0">
              <a:solidFill>
                <a:srgbClr val="003366"/>
              </a:solidFill>
            </a:endParaRPr>
          </a:p>
          <a:p>
            <a:pPr algn="ctr"/>
            <a:r>
              <a:rPr lang="en-US" sz="2000" b="1" dirty="0">
                <a:solidFill>
                  <a:srgbClr val="003366"/>
                </a:solidFill>
              </a:rPr>
              <a:t>Right branch, Node</a:t>
            </a:r>
            <a:r>
              <a:rPr lang="en-US" sz="2000" b="1">
                <a:solidFill>
                  <a:srgbClr val="003366"/>
                </a:solidFill>
              </a:rPr>
              <a:t>, Left branch</a:t>
            </a:r>
            <a:endParaRPr lang="en-US" sz="2000" b="1" dirty="0">
              <a:solidFill>
                <a:srgbClr val="003366"/>
              </a:solidFill>
            </a:endParaRPr>
          </a:p>
          <a:p>
            <a:endParaRPr lang="en-US" sz="2000" b="1" dirty="0">
              <a:solidFill>
                <a:srgbClr val="003366"/>
              </a:solidFill>
            </a:endParaRPr>
          </a:p>
          <a:p>
            <a:pPr algn="ctr"/>
            <a:r>
              <a:rPr lang="en-US" sz="2000" b="1" dirty="0">
                <a:solidFill>
                  <a:srgbClr val="003366"/>
                </a:solidFill>
              </a:rPr>
              <a:t>150 120 100 90 70 65 50 45 40 30</a:t>
            </a:r>
            <a:endParaRPr lang="en-US" sz="20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2F94FB-425B-4C2E-9DDE-C3B69F659996}"/>
              </a:ext>
            </a:extLst>
          </p:cNvPr>
          <p:cNvSpPr>
            <a:spLocks noChangeArrowheads="1"/>
          </p:cNvSpPr>
          <p:nvPr/>
        </p:nvSpPr>
        <p:spPr bwMode="auto">
          <a:xfrm>
            <a:off x="266700" y="1565915"/>
            <a:ext cx="8610600" cy="4616648"/>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spcAft>
                <a:spcPts val="1200"/>
              </a:spcAft>
              <a:buFont typeface="Arial" panose="020B0604020202020204" pitchFamily="34" charset="0"/>
              <a:buChar char="•"/>
            </a:pPr>
            <a:r>
              <a:rPr lang="en-US" sz="2800" dirty="0"/>
              <a:t>Use pre-order traversal to duplicate a binary tree. </a:t>
            </a:r>
          </a:p>
          <a:p>
            <a:pPr marL="342900" indent="-342900">
              <a:spcAft>
                <a:spcPts val="1200"/>
              </a:spcAft>
              <a:buFont typeface="Arial" panose="020B0604020202020204" pitchFamily="34" charset="0"/>
              <a:buChar char="•"/>
            </a:pPr>
            <a:r>
              <a:rPr lang="en-US" sz="2800" dirty="0"/>
              <a:t>In-order traversal is very commonly used on binary search trees because it returns values from the underlying set in order, according to the comparator that set up the binary search tree (hence the name).</a:t>
            </a:r>
          </a:p>
          <a:p>
            <a:pPr marL="342900" indent="-342900">
              <a:spcAft>
                <a:spcPts val="1200"/>
              </a:spcAft>
              <a:buFont typeface="Arial" panose="020B0604020202020204" pitchFamily="34" charset="0"/>
              <a:buChar char="•"/>
            </a:pPr>
            <a:r>
              <a:rPr lang="en-US" sz="2800" dirty="0"/>
              <a:t>Post-order traversal while deleting or freeing nodes and values can delete or free an entire binary tree. </a:t>
            </a:r>
            <a:br>
              <a:rPr lang="en-US" sz="2800" dirty="0"/>
            </a:br>
            <a:r>
              <a:rPr lang="en-US" sz="2800" dirty="0"/>
              <a:t>If you don't use post-order traversal during deletion, then you lose the references you need for deleting the child trees</a:t>
            </a:r>
          </a:p>
        </p:txBody>
      </p:sp>
      <p:sp>
        <p:nvSpPr>
          <p:cNvPr id="3" name="Rectangle 2">
            <a:extLst>
              <a:ext uri="{FF2B5EF4-FFF2-40B4-BE49-F238E27FC236}">
                <a16:creationId xmlns:a16="http://schemas.microsoft.com/office/drawing/2014/main" id="{023628EB-C53A-4D73-83D1-F7BF5A4226A8}"/>
              </a:ext>
            </a:extLst>
          </p:cNvPr>
          <p:cNvSpPr>
            <a:spLocks noChangeArrowheads="1"/>
          </p:cNvSpPr>
          <p:nvPr/>
        </p:nvSpPr>
        <p:spPr bwMode="auto">
          <a:xfrm>
            <a:off x="381000" y="228600"/>
            <a:ext cx="8610600" cy="830997"/>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Why?</a:t>
            </a:r>
            <a:endParaRPr kumimoji="0" lang="en-US" altLang="en-US" sz="8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3442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2F94FB-425B-4C2E-9DDE-C3B69F659996}"/>
              </a:ext>
            </a:extLst>
          </p:cNvPr>
          <p:cNvSpPr>
            <a:spLocks noChangeArrowheads="1"/>
          </p:cNvSpPr>
          <p:nvPr/>
        </p:nvSpPr>
        <p:spPr bwMode="auto">
          <a:xfrm>
            <a:off x="266700" y="1321137"/>
            <a:ext cx="8610600" cy="5106206"/>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To translate between the tree and some serial representation.  Suppose you have this parse tree:</a:t>
            </a:r>
            <a:endParaRPr kumimoji="0" lang="en-US" altLang="en-US" sz="1800" b="0" i="0" u="none" strike="noStrike" cap="none" normalizeH="0" baseline="0" dirty="0">
              <a:ln>
                <a:noFill/>
              </a:ln>
              <a:solidFill>
                <a:srgbClr val="242729"/>
              </a:solidFill>
              <a:effectLst/>
              <a:latin typeface="Consolas" panose="020B0609020204030204" pitchFamily="49" charset="0"/>
            </a:endParaRPr>
          </a:p>
          <a:p>
            <a:pPr marL="3200400" marR="0" lvl="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rgbClr val="242729"/>
                </a:solidFill>
                <a:effectLst/>
                <a:latin typeface="Consolas" panose="020B0609020204030204" pitchFamily="49" charset="0"/>
              </a:rPr>
              <a:t>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242729"/>
                </a:solidFill>
                <a:latin typeface="Consolas" panose="020B0609020204030204" pitchFamily="49" charset="0"/>
              </a:rPr>
              <a:t> </a:t>
            </a:r>
            <a:r>
              <a:rPr lang="en-US" altLang="en-US" sz="1100" dirty="0">
                <a:solidFill>
                  <a:srgbClr val="242729"/>
                </a:solidFill>
                <a:latin typeface="Consolas" panose="020B0609020204030204" pitchFamily="49" charset="0"/>
              </a:rPr>
              <a:t> </a:t>
            </a:r>
            <a:r>
              <a:rPr lang="en-US" altLang="en-US" sz="18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a:t>
            </a:r>
            <a:r>
              <a:rPr kumimoji="0" lang="en-US" altLang="en-US" sz="7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p>
          <a:p>
            <a:pPr marL="3200400" marR="0" lvl="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42729"/>
                </a:solidFill>
                <a:effectLst/>
                <a:latin typeface="Consolas" panose="020B0609020204030204" pitchFamily="49" charset="0"/>
              </a:rPr>
              <a:t> </a:t>
            </a:r>
            <a:r>
              <a:rPr kumimoji="0" lang="en-US" altLang="en-US" sz="11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r>
              <a:rPr kumimoji="0" lang="en-US" altLang="en-US" sz="6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A </a:t>
            </a:r>
            <a:r>
              <a:rPr kumimoji="0" lang="en-US" altLang="en-US" sz="14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B  C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lvl="0">
              <a:lnSpc>
                <a:spcPct val="150000"/>
              </a:lnSpc>
            </a:pP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You could serialize it as</a:t>
            </a:r>
            <a:r>
              <a:rPr lang="en-US" altLang="en-US" sz="2800" dirty="0">
                <a:solidFill>
                  <a:srgbClr val="242729"/>
                </a:solidFill>
                <a:cs typeface="Arial" panose="020B0604020202020204" pitchFamily="34" charset="0"/>
              </a:rPr>
              <a:t>:</a:t>
            </a:r>
            <a:endPar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endParaRPr>
          </a:p>
          <a:p>
            <a:pPr marL="914400" lvl="0">
              <a:lnSpc>
                <a:spcPct val="150000"/>
              </a:lnSpc>
            </a:pPr>
            <a:r>
              <a:rPr kumimoji="0" lang="en-US" altLang="en-US" sz="20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 + A B C</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by walking it in prefix order, or as</a:t>
            </a:r>
          </a:p>
          <a:p>
            <a:pPr marL="914400" lvl="0">
              <a:lnSpc>
                <a:spcPct val="150000"/>
              </a:lnSpc>
            </a:pPr>
            <a:r>
              <a:rPr kumimoji="0" lang="en-US" altLang="en-US" sz="20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A B + C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by walking it in postfix order or as </a:t>
            </a:r>
          </a:p>
          <a:p>
            <a:pPr marL="914400" lvl="0">
              <a:lnSpc>
                <a:spcPct val="150000"/>
              </a:lnSpc>
            </a:pPr>
            <a:r>
              <a:rPr lang="en-US" altLang="en-US" sz="2000" dirty="0">
                <a:solidFill>
                  <a:srgbClr val="242729"/>
                </a:solidFill>
                <a:latin typeface="Consolas" panose="020B0609020204030204" pitchFamily="49" charset="0"/>
                <a:cs typeface="Arial" panose="020B0604020202020204" pitchFamily="34" charset="0"/>
              </a:rPr>
              <a:t>(A + B) * C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by walking </a:t>
            </a:r>
            <a:r>
              <a:rPr lang="en-US" altLang="en-US" sz="2800" dirty="0">
                <a:solidFill>
                  <a:srgbClr val="242729"/>
                </a:solidFill>
                <a:cs typeface="Arial" panose="020B0604020202020204" pitchFamily="34" charset="0"/>
              </a:rPr>
              <a:t>in order.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a:t>
            </a:r>
          </a:p>
        </p:txBody>
      </p:sp>
      <p:sp>
        <p:nvSpPr>
          <p:cNvPr id="3" name="Rectangle 2">
            <a:extLst>
              <a:ext uri="{FF2B5EF4-FFF2-40B4-BE49-F238E27FC236}">
                <a16:creationId xmlns:a16="http://schemas.microsoft.com/office/drawing/2014/main" id="{023628EB-C53A-4D73-83D1-F7BF5A4226A8}"/>
              </a:ext>
            </a:extLst>
          </p:cNvPr>
          <p:cNvSpPr>
            <a:spLocks noChangeArrowheads="1"/>
          </p:cNvSpPr>
          <p:nvPr/>
        </p:nvSpPr>
        <p:spPr bwMode="auto">
          <a:xfrm>
            <a:off x="2209800" y="228600"/>
            <a:ext cx="4495800" cy="830997"/>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Why?</a:t>
            </a:r>
            <a:endParaRPr kumimoji="0" lang="en-US" altLang="en-US" sz="8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2018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533400" y="1080343"/>
            <a:ext cx="615791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void</a:t>
            </a:r>
            <a:r>
              <a:rPr lang="en-US" sz="2800" dirty="0"/>
              <a:t> </a:t>
            </a:r>
            <a:r>
              <a:rPr lang="en-US" sz="2800" dirty="0" err="1"/>
              <a:t>inOrder</a:t>
            </a:r>
            <a:r>
              <a:rPr lang="en-US" sz="2800" dirty="0"/>
              <a:t>() {</a:t>
            </a:r>
          </a:p>
          <a:p>
            <a:r>
              <a:rPr lang="en-US" sz="2800" b="1" dirty="0"/>
              <a:t>   </a:t>
            </a:r>
            <a:r>
              <a:rPr lang="en-US" sz="2800" b="1" dirty="0" err="1"/>
              <a:t>inOrder</a:t>
            </a:r>
            <a:r>
              <a:rPr lang="en-US" sz="2800" b="1" dirty="0"/>
              <a:t>(root);</a:t>
            </a:r>
            <a:endParaRPr lang="en-US" sz="2800" dirty="0"/>
          </a:p>
          <a:p>
            <a:r>
              <a:rPr lang="en-US" sz="2800" dirty="0"/>
              <a:t>}</a:t>
            </a:r>
          </a:p>
          <a:p>
            <a:endParaRPr lang="en-US" sz="1600" dirty="0"/>
          </a:p>
          <a:p>
            <a:r>
              <a:rPr lang="en-US" sz="2800" b="1" dirty="0"/>
              <a:t>private void</a:t>
            </a:r>
            <a:r>
              <a:rPr lang="en-US" sz="2800" dirty="0"/>
              <a:t> </a:t>
            </a:r>
            <a:r>
              <a:rPr lang="en-US" sz="2800" dirty="0" err="1"/>
              <a:t>inOrder</a:t>
            </a:r>
            <a:r>
              <a:rPr lang="en-US" sz="2800" dirty="0"/>
              <a:t>(</a:t>
            </a:r>
            <a:r>
              <a:rPr lang="en-US" sz="2800" dirty="0" err="1"/>
              <a:t>TreeNode</a:t>
            </a:r>
            <a:r>
              <a:rPr lang="en-US" sz="2800" dirty="0"/>
              <a:t> tree) {</a:t>
            </a:r>
          </a:p>
          <a:p>
            <a:r>
              <a:rPr lang="en-US" sz="2800" b="1" dirty="0"/>
              <a:t>   if</a:t>
            </a:r>
            <a:r>
              <a:rPr lang="en-US" sz="2800" dirty="0"/>
              <a:t> (tree != null){</a:t>
            </a:r>
          </a:p>
          <a:p>
            <a:r>
              <a:rPr lang="en-US" sz="2800" dirty="0"/>
              <a:t>	</a:t>
            </a:r>
            <a:r>
              <a:rPr lang="en-US" sz="2800" dirty="0" err="1"/>
              <a:t>inOrder</a:t>
            </a:r>
            <a:r>
              <a:rPr lang="en-US" sz="2800" dirty="0"/>
              <a:t>(</a:t>
            </a:r>
            <a:r>
              <a:rPr lang="en-US" sz="2800" dirty="0" err="1"/>
              <a:t>tree.getLeft</a:t>
            </a:r>
            <a:r>
              <a:rPr lang="en-US" sz="2800" dirty="0"/>
              <a:t>());</a:t>
            </a:r>
          </a:p>
          <a:p>
            <a:r>
              <a:rPr lang="en-US" sz="2800" dirty="0"/>
              <a:t>	</a:t>
            </a:r>
            <a:r>
              <a:rPr lang="en-US" sz="2800" dirty="0" err="1"/>
              <a:t>out.print</a:t>
            </a:r>
            <a:r>
              <a:rPr lang="en-US" sz="2800" dirty="0"/>
              <a:t>(</a:t>
            </a:r>
            <a:r>
              <a:rPr lang="en-US" sz="2800" dirty="0" err="1"/>
              <a:t>tree.getValue</a:t>
            </a:r>
            <a:r>
              <a:rPr lang="en-US" sz="2800" dirty="0"/>
              <a:t>() + " ");</a:t>
            </a:r>
          </a:p>
          <a:p>
            <a:r>
              <a:rPr lang="en-US" sz="2800" dirty="0"/>
              <a:t>	</a:t>
            </a:r>
            <a:r>
              <a:rPr lang="en-US" sz="2800" dirty="0" err="1"/>
              <a:t>inOrder</a:t>
            </a:r>
            <a:r>
              <a:rPr lang="en-US" sz="2800" dirty="0"/>
              <a:t>(</a:t>
            </a:r>
            <a:r>
              <a:rPr lang="en-US" sz="2800" dirty="0" err="1"/>
              <a:t>tree.getRight</a:t>
            </a:r>
            <a:r>
              <a:rPr lang="en-US" sz="2800" dirty="0"/>
              <a:t>());</a:t>
            </a:r>
          </a:p>
          <a:p>
            <a:r>
              <a:rPr lang="en-US" sz="2800" dirty="0"/>
              <a:t>   }</a:t>
            </a:r>
          </a:p>
          <a:p>
            <a:r>
              <a:rPr lang="en-US" sz="2800" dirty="0"/>
              <a:t>}</a:t>
            </a:r>
          </a:p>
        </p:txBody>
      </p:sp>
      <p:sp>
        <p:nvSpPr>
          <p:cNvPr id="32772" name="WordArt 3"/>
          <p:cNvSpPr>
            <a:spLocks noChangeArrowheads="1" noChangeShapeType="1" noTextEdit="1"/>
          </p:cNvSpPr>
          <p:nvPr/>
        </p:nvSpPr>
        <p:spPr bwMode="auto">
          <a:xfrm>
            <a:off x="2514600" y="304800"/>
            <a:ext cx="3833813" cy="530208"/>
          </a:xfrm>
          <a:prstGeom prst="rect">
            <a:avLst/>
          </a:prstGeom>
        </p:spPr>
        <p:txBody>
          <a:bodyPr wrap="none" fromWordArt="1">
            <a:prstTxWarp prst="textPlain">
              <a:avLst>
                <a:gd name="adj" fmla="val 50000"/>
              </a:avLst>
            </a:prstTxWarp>
          </a:bodyPr>
          <a:lstStyle/>
          <a:p>
            <a:pPr algn="ct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In Order 1</a:t>
            </a:r>
          </a:p>
        </p:txBody>
      </p:sp>
      <p:sp>
        <p:nvSpPr>
          <p:cNvPr id="32774" name="WordArt 5"/>
          <p:cNvSpPr>
            <a:spLocks noChangeArrowheads="1" noChangeShapeType="1" noTextEdit="1"/>
          </p:cNvSpPr>
          <p:nvPr/>
        </p:nvSpPr>
        <p:spPr bwMode="auto">
          <a:xfrm>
            <a:off x="7010400" y="3810000"/>
            <a:ext cx="1828800" cy="16002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533400" y="1080343"/>
            <a:ext cx="6157913"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void</a:t>
            </a:r>
            <a:r>
              <a:rPr lang="en-US" sz="2800" dirty="0"/>
              <a:t> </a:t>
            </a:r>
            <a:r>
              <a:rPr lang="en-US" sz="2800" dirty="0" err="1"/>
              <a:t>inOrder</a:t>
            </a:r>
            <a:r>
              <a:rPr lang="en-US" sz="2800" dirty="0"/>
              <a:t>() {</a:t>
            </a:r>
          </a:p>
          <a:p>
            <a:r>
              <a:rPr lang="en-US" sz="2800" b="1" dirty="0"/>
              <a:t>   </a:t>
            </a:r>
            <a:r>
              <a:rPr lang="en-US" sz="2800" b="1" dirty="0" err="1"/>
              <a:t>inOrder</a:t>
            </a:r>
            <a:r>
              <a:rPr lang="en-US" sz="2800" b="1" dirty="0"/>
              <a:t>(root);</a:t>
            </a:r>
            <a:endParaRPr lang="en-US" sz="2800" dirty="0"/>
          </a:p>
          <a:p>
            <a:r>
              <a:rPr lang="en-US" sz="2800" dirty="0"/>
              <a:t>}</a:t>
            </a:r>
          </a:p>
          <a:p>
            <a:endParaRPr lang="en-US" sz="1600" dirty="0"/>
          </a:p>
          <a:p>
            <a:r>
              <a:rPr lang="en-US" sz="2800" b="1" dirty="0"/>
              <a:t>private void</a:t>
            </a:r>
            <a:r>
              <a:rPr lang="en-US" sz="2800" dirty="0"/>
              <a:t> </a:t>
            </a:r>
            <a:r>
              <a:rPr lang="en-US" sz="2800" dirty="0" err="1"/>
              <a:t>inOrder</a:t>
            </a:r>
            <a:r>
              <a:rPr lang="en-US" sz="2800" dirty="0"/>
              <a:t>(</a:t>
            </a:r>
            <a:r>
              <a:rPr lang="en-US" sz="2800" dirty="0" err="1"/>
              <a:t>TreeNode</a:t>
            </a:r>
            <a:r>
              <a:rPr lang="en-US" sz="2800" dirty="0"/>
              <a:t> tree) {</a:t>
            </a:r>
          </a:p>
          <a:p>
            <a:r>
              <a:rPr lang="en-US" sz="2800" b="1" dirty="0"/>
              <a:t>   if</a:t>
            </a:r>
            <a:r>
              <a:rPr lang="en-US" sz="2800" dirty="0"/>
              <a:t> (tree == null){</a:t>
            </a:r>
            <a:br>
              <a:rPr lang="en-US" sz="2800" dirty="0"/>
            </a:br>
            <a:r>
              <a:rPr lang="en-US" sz="2800" dirty="0"/>
              <a:t>     return;</a:t>
            </a:r>
          </a:p>
          <a:p>
            <a:r>
              <a:rPr lang="en-US" sz="2800" dirty="0"/>
              <a:t>   }</a:t>
            </a:r>
          </a:p>
          <a:p>
            <a:r>
              <a:rPr lang="en-US" sz="2800" dirty="0"/>
              <a:t>   </a:t>
            </a:r>
            <a:r>
              <a:rPr lang="en-US" sz="2800" dirty="0" err="1"/>
              <a:t>inOrder</a:t>
            </a:r>
            <a:r>
              <a:rPr lang="en-US" sz="2800" dirty="0"/>
              <a:t>(</a:t>
            </a:r>
            <a:r>
              <a:rPr lang="en-US" sz="2800" dirty="0" err="1"/>
              <a:t>tree.getLeft</a:t>
            </a:r>
            <a:r>
              <a:rPr lang="en-US" sz="2800" dirty="0"/>
              <a:t>());</a:t>
            </a:r>
          </a:p>
          <a:p>
            <a:r>
              <a:rPr lang="en-US" sz="2800" dirty="0"/>
              <a:t>   </a:t>
            </a:r>
            <a:r>
              <a:rPr lang="en-US" sz="2800" dirty="0" err="1"/>
              <a:t>out.print</a:t>
            </a:r>
            <a:r>
              <a:rPr lang="en-US" sz="2800" dirty="0"/>
              <a:t>(</a:t>
            </a:r>
            <a:r>
              <a:rPr lang="en-US" sz="2800" dirty="0" err="1"/>
              <a:t>tree.getValue</a:t>
            </a:r>
            <a:r>
              <a:rPr lang="en-US" sz="2800" dirty="0"/>
              <a:t>() + " ");</a:t>
            </a:r>
          </a:p>
          <a:p>
            <a:r>
              <a:rPr lang="en-US" sz="2800" dirty="0"/>
              <a:t>   </a:t>
            </a:r>
            <a:r>
              <a:rPr lang="en-US" sz="2800" dirty="0" err="1"/>
              <a:t>inOrder</a:t>
            </a:r>
            <a:r>
              <a:rPr lang="en-US" sz="2800" dirty="0"/>
              <a:t>(</a:t>
            </a:r>
            <a:r>
              <a:rPr lang="en-US" sz="2800" dirty="0" err="1"/>
              <a:t>tree.getRight</a:t>
            </a:r>
            <a:r>
              <a:rPr lang="en-US" sz="2800" dirty="0"/>
              <a:t>());</a:t>
            </a:r>
          </a:p>
          <a:p>
            <a:r>
              <a:rPr lang="en-US" sz="2800" dirty="0"/>
              <a:t>}</a:t>
            </a:r>
          </a:p>
        </p:txBody>
      </p:sp>
      <p:sp>
        <p:nvSpPr>
          <p:cNvPr id="32774" name="WordArt 5"/>
          <p:cNvSpPr>
            <a:spLocks noChangeArrowheads="1" noChangeShapeType="1" noTextEdit="1"/>
          </p:cNvSpPr>
          <p:nvPr/>
        </p:nvSpPr>
        <p:spPr bwMode="auto">
          <a:xfrm>
            <a:off x="7010400" y="3810000"/>
            <a:ext cx="1828800" cy="16002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2" name="WordArt 3">
            <a:extLst>
              <a:ext uri="{FF2B5EF4-FFF2-40B4-BE49-F238E27FC236}">
                <a16:creationId xmlns:a16="http://schemas.microsoft.com/office/drawing/2014/main" id="{5E9FDCD6-E062-08DF-F80D-E12D6991C5A0}"/>
              </a:ext>
            </a:extLst>
          </p:cNvPr>
          <p:cNvSpPr>
            <a:spLocks noChangeArrowheads="1" noChangeShapeType="1" noTextEdit="1"/>
          </p:cNvSpPr>
          <p:nvPr/>
        </p:nvSpPr>
        <p:spPr bwMode="auto">
          <a:xfrm>
            <a:off x="2881313" y="266076"/>
            <a:ext cx="3810000" cy="526915"/>
          </a:xfrm>
          <a:prstGeom prst="rect">
            <a:avLst/>
          </a:prstGeom>
        </p:spPr>
        <p:txBody>
          <a:bodyPr wrap="none" fromWordArt="1">
            <a:prstTxWarp prst="textPlain">
              <a:avLst>
                <a:gd name="adj" fmla="val 50000"/>
              </a:avLst>
            </a:prstTxWarp>
          </a:bodyPr>
          <a:lstStyle/>
          <a:p>
            <a:pPr algn="ct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In Order 2</a:t>
            </a:r>
          </a:p>
        </p:txBody>
      </p:sp>
    </p:spTree>
    <p:extLst>
      <p:ext uri="{BB962C8B-B14F-4D97-AF65-F5344CB8AC3E}">
        <p14:creationId xmlns:p14="http://schemas.microsoft.com/office/powerpoint/2010/main" val="3656263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ChangeArrowheads="1"/>
          </p:cNvSpPr>
          <p:nvPr/>
        </p:nvSpPr>
        <p:spPr bwMode="auto">
          <a:xfrm>
            <a:off x="533400" y="402134"/>
            <a:ext cx="7924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String </a:t>
            </a:r>
            <a:r>
              <a:rPr lang="en-US" sz="2800" b="1" dirty="0" err="1"/>
              <a:t>toString</a:t>
            </a:r>
            <a:r>
              <a:rPr lang="en-US" sz="2800" b="1" dirty="0"/>
              <a:t>()</a:t>
            </a:r>
          </a:p>
          <a:p>
            <a:r>
              <a:rPr lang="en-US" sz="2800" dirty="0"/>
              <a:t>{</a:t>
            </a:r>
          </a:p>
          <a:p>
            <a:r>
              <a:rPr lang="en-US" sz="2800" dirty="0"/>
              <a:t>   return </a:t>
            </a:r>
            <a:r>
              <a:rPr lang="en-US" sz="2800" dirty="0" err="1"/>
              <a:t>toString</a:t>
            </a:r>
            <a:r>
              <a:rPr lang="en-US" sz="2800" dirty="0"/>
              <a:t>(root);</a:t>
            </a:r>
          </a:p>
          <a:p>
            <a:r>
              <a:rPr lang="en-US" sz="2800" dirty="0"/>
              <a:t>}</a:t>
            </a:r>
          </a:p>
          <a:p>
            <a:endParaRPr lang="en-US" sz="2800" b="1" dirty="0"/>
          </a:p>
          <a:p>
            <a:r>
              <a:rPr lang="en-US" sz="2800" b="1" dirty="0"/>
              <a:t>private String </a:t>
            </a:r>
            <a:r>
              <a:rPr lang="en-US" sz="2800" b="1" dirty="0" err="1"/>
              <a:t>toString</a:t>
            </a:r>
            <a:r>
              <a:rPr lang="en-US" sz="2800" b="1" dirty="0"/>
              <a:t>(</a:t>
            </a:r>
            <a:r>
              <a:rPr lang="en-US" sz="2800" b="1" dirty="0" err="1"/>
              <a:t>TreeNode</a:t>
            </a:r>
            <a:r>
              <a:rPr lang="en-US" sz="2800" b="1" dirty="0"/>
              <a:t> tree)</a:t>
            </a:r>
          </a:p>
          <a:p>
            <a:r>
              <a:rPr lang="en-US" sz="2800" dirty="0"/>
              <a:t>{</a:t>
            </a:r>
          </a:p>
          <a:p>
            <a:r>
              <a:rPr lang="en-US" sz="2800" dirty="0"/>
              <a:t>   if (tree != null)</a:t>
            </a:r>
          </a:p>
          <a:p>
            <a:r>
              <a:rPr lang="en-US" sz="2800" dirty="0"/>
              <a:t>      return </a:t>
            </a:r>
            <a:r>
              <a:rPr lang="en-US" sz="2800" b="1" dirty="0" err="1"/>
              <a:t>toString</a:t>
            </a:r>
            <a:r>
              <a:rPr lang="en-US" sz="2800" b="1" dirty="0"/>
              <a:t>(</a:t>
            </a:r>
            <a:r>
              <a:rPr lang="en-US" sz="2800" b="1" dirty="0" err="1"/>
              <a:t>tree.getLeft</a:t>
            </a:r>
            <a:r>
              <a:rPr lang="en-US" sz="2800" b="1" dirty="0"/>
              <a:t>()) </a:t>
            </a:r>
            <a:r>
              <a:rPr lang="en-US" sz="2800" dirty="0"/>
              <a:t>+ " " </a:t>
            </a:r>
          </a:p>
          <a:p>
            <a:r>
              <a:rPr lang="en-US" sz="2800" dirty="0"/>
              <a:t>	+ </a:t>
            </a:r>
            <a:r>
              <a:rPr lang="en-US" sz="2800" b="1" dirty="0" err="1"/>
              <a:t>tree.getValue</a:t>
            </a:r>
            <a:r>
              <a:rPr lang="en-US" sz="2800" b="1" dirty="0"/>
              <a:t>() </a:t>
            </a:r>
            <a:r>
              <a:rPr lang="en-US" sz="2800" dirty="0"/>
              <a:t>+ " " +</a:t>
            </a:r>
          </a:p>
          <a:p>
            <a:r>
              <a:rPr lang="en-US" sz="2800" dirty="0"/>
              <a:t>   	</a:t>
            </a:r>
            <a:r>
              <a:rPr lang="en-US" sz="2800" b="1" dirty="0"/>
              <a:t> </a:t>
            </a:r>
            <a:r>
              <a:rPr lang="en-US" sz="2800" b="1" dirty="0" err="1"/>
              <a:t>toString</a:t>
            </a:r>
            <a:r>
              <a:rPr lang="en-US" sz="2800" b="1" dirty="0"/>
              <a:t>(</a:t>
            </a:r>
            <a:r>
              <a:rPr lang="en-US" sz="2800" b="1" dirty="0" err="1"/>
              <a:t>tree.getRight</a:t>
            </a:r>
            <a:r>
              <a:rPr lang="en-US" sz="2800" b="1" dirty="0"/>
              <a:t>())</a:t>
            </a:r>
            <a:r>
              <a:rPr lang="en-US" sz="2800" dirty="0"/>
              <a:t>;</a:t>
            </a:r>
          </a:p>
          <a:p>
            <a:r>
              <a:rPr lang="en-US" sz="2800" dirty="0"/>
              <a:t>   return "";</a:t>
            </a:r>
          </a:p>
          <a:p>
            <a:r>
              <a:rPr lang="en-US" sz="2800" dirty="0"/>
              <a:t>}</a:t>
            </a:r>
          </a:p>
        </p:txBody>
      </p:sp>
      <p:sp>
        <p:nvSpPr>
          <p:cNvPr id="34820" name="WordArt 3"/>
          <p:cNvSpPr>
            <a:spLocks noChangeArrowheads="1" noChangeShapeType="1" noTextEdit="1"/>
          </p:cNvSpPr>
          <p:nvPr/>
        </p:nvSpPr>
        <p:spPr bwMode="auto">
          <a:xfrm>
            <a:off x="5638800" y="113766"/>
            <a:ext cx="3352800" cy="536448"/>
          </a:xfrm>
          <a:prstGeom prst="rect">
            <a:avLst/>
          </a:prstGeom>
        </p:spPr>
        <p:txBody>
          <a:bodyPr wrap="none" fromWordArt="1">
            <a:prstTxWarp prst="textPlain">
              <a:avLst>
                <a:gd name="adj" fmla="val 50000"/>
              </a:avLst>
            </a:prstTxWarp>
          </a:bodyPr>
          <a:lstStyle/>
          <a:p>
            <a:pPr algn="ct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toString</a:t>
            </a:r>
            <a:endPar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endParaRPr>
          </a:p>
        </p:txBody>
      </p:sp>
      <p:sp>
        <p:nvSpPr>
          <p:cNvPr id="34821" name="WordArt 4"/>
          <p:cNvSpPr>
            <a:spLocks noChangeArrowheads="1" noChangeShapeType="1" noTextEdit="1"/>
          </p:cNvSpPr>
          <p:nvPr/>
        </p:nvSpPr>
        <p:spPr bwMode="auto">
          <a:xfrm>
            <a:off x="1600200" y="5943600"/>
            <a:ext cx="7010400" cy="600075"/>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type="none" w="sm" len="sm"/>
                  <a:tailEnd type="none" w="sm" len="sm"/>
                </a:ln>
                <a:gradFill rotWithShape="1">
                  <a:gsLst>
                    <a:gs pos="0">
                      <a:srgbClr val="6600CC"/>
                    </a:gs>
                    <a:gs pos="100000">
                      <a:srgbClr val="CC00CC"/>
                    </a:gs>
                  </a:gsLst>
                  <a:lin ang="5400000" scaled="1"/>
                </a:gradFill>
                <a:effectLst>
                  <a:outerShdw dist="53882" dir="2700000" algn="ctr" rotWithShape="0">
                    <a:srgbClr val="9999FF"/>
                  </a:outerShdw>
                </a:effectLst>
                <a:latin typeface="Impact"/>
              </a:rPr>
              <a:t>Data is in the MIDDLE!!!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WordArt 2"/>
          <p:cNvSpPr>
            <a:spLocks noChangeArrowheads="1" noChangeShapeType="1" noTextEdit="1"/>
          </p:cNvSpPr>
          <p:nvPr/>
        </p:nvSpPr>
        <p:spPr bwMode="auto">
          <a:xfrm>
            <a:off x="3581400" y="1066800"/>
            <a:ext cx="26670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In-Order</a:t>
            </a:r>
          </a:p>
        </p:txBody>
      </p:sp>
      <p:sp>
        <p:nvSpPr>
          <p:cNvPr id="35844" name="WordArt 3"/>
          <p:cNvSpPr>
            <a:spLocks noChangeArrowheads="1" noChangeShapeType="1" noTextEdit="1"/>
          </p:cNvSpPr>
          <p:nvPr/>
        </p:nvSpPr>
        <p:spPr bwMode="auto">
          <a:xfrm>
            <a:off x="6477000" y="990600"/>
            <a:ext cx="1828800" cy="9906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35845" name="WordArt 4"/>
          <p:cNvSpPr>
            <a:spLocks noChangeArrowheads="1" noChangeShapeType="1" noTextEdit="1"/>
          </p:cNvSpPr>
          <p:nvPr/>
        </p:nvSpPr>
        <p:spPr bwMode="auto">
          <a:xfrm>
            <a:off x="457200" y="2286000"/>
            <a:ext cx="25908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Pre-Order</a:t>
            </a:r>
          </a:p>
        </p:txBody>
      </p:sp>
      <p:sp>
        <p:nvSpPr>
          <p:cNvPr id="35846" name="WordArt 5"/>
          <p:cNvSpPr>
            <a:spLocks noChangeArrowheads="1" noChangeShapeType="1" noTextEdit="1"/>
          </p:cNvSpPr>
          <p:nvPr/>
        </p:nvSpPr>
        <p:spPr bwMode="auto">
          <a:xfrm>
            <a:off x="3352800" y="2133600"/>
            <a:ext cx="1676400" cy="1066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35847" name="WordArt 6"/>
          <p:cNvSpPr>
            <a:spLocks noChangeArrowheads="1" noChangeShapeType="1" noTextEdit="1"/>
          </p:cNvSpPr>
          <p:nvPr/>
        </p:nvSpPr>
        <p:spPr bwMode="auto">
          <a:xfrm>
            <a:off x="3733800" y="3733800"/>
            <a:ext cx="25908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Post-Order</a:t>
            </a:r>
          </a:p>
        </p:txBody>
      </p:sp>
      <p:sp>
        <p:nvSpPr>
          <p:cNvPr id="35848" name="WordArt 7"/>
          <p:cNvSpPr>
            <a:spLocks noChangeArrowheads="1" noChangeShapeType="1" noTextEdit="1"/>
          </p:cNvSpPr>
          <p:nvPr/>
        </p:nvSpPr>
        <p:spPr bwMode="auto">
          <a:xfrm>
            <a:off x="6553200" y="3429000"/>
            <a:ext cx="1905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p:txBody>
      </p:sp>
      <p:sp>
        <p:nvSpPr>
          <p:cNvPr id="35849" name="WordArt 8"/>
          <p:cNvSpPr>
            <a:spLocks noChangeArrowheads="1" noChangeShapeType="1" noTextEdit="1"/>
          </p:cNvSpPr>
          <p:nvPr/>
        </p:nvSpPr>
        <p:spPr bwMode="auto">
          <a:xfrm>
            <a:off x="1828800" y="5410200"/>
            <a:ext cx="34290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Reverse-Order</a:t>
            </a:r>
          </a:p>
        </p:txBody>
      </p:sp>
      <p:sp>
        <p:nvSpPr>
          <p:cNvPr id="35850" name="WordArt 9"/>
          <p:cNvSpPr>
            <a:spLocks noChangeArrowheads="1" noChangeShapeType="1" noTextEdit="1"/>
          </p:cNvSpPr>
          <p:nvPr/>
        </p:nvSpPr>
        <p:spPr bwMode="auto">
          <a:xfrm>
            <a:off x="5486400" y="5105400"/>
            <a:ext cx="1981200" cy="1066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a:t>
            </a:r>
          </a:p>
        </p:txBody>
      </p:sp>
      <p:sp>
        <p:nvSpPr>
          <p:cNvPr id="35851" name="WordArt 10"/>
          <p:cNvSpPr>
            <a:spLocks noChangeArrowheads="1" noChangeShapeType="1" noTextEdit="1"/>
          </p:cNvSpPr>
          <p:nvPr/>
        </p:nvSpPr>
        <p:spPr bwMode="auto">
          <a:xfrm>
            <a:off x="1066800" y="152400"/>
            <a:ext cx="6858000" cy="609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Binary Tree Traversals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59395" name="WordArt 2"/>
          <p:cNvSpPr>
            <a:spLocks noChangeArrowheads="1" noChangeShapeType="1" noTextEdit="1"/>
          </p:cNvSpPr>
          <p:nvPr/>
        </p:nvSpPr>
        <p:spPr bwMode="auto">
          <a:xfrm>
            <a:off x="762000" y="2362200"/>
            <a:ext cx="7391400" cy="1905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a:rPr>
              <a:t>BigO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WordArt 2"/>
          <p:cNvSpPr>
            <a:spLocks noChangeArrowheads="1" noChangeShapeType="1" noTextEdit="1"/>
          </p:cNvSpPr>
          <p:nvPr/>
        </p:nvSpPr>
        <p:spPr bwMode="auto">
          <a:xfrm>
            <a:off x="3048000" y="299013"/>
            <a:ext cx="2819400" cy="392575"/>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a:rPr>
              <a:t>BST Big O</a:t>
            </a:r>
          </a:p>
        </p:txBody>
      </p:sp>
      <p:sp>
        <p:nvSpPr>
          <p:cNvPr id="61444" name="Text Box 3"/>
          <p:cNvSpPr txBox="1">
            <a:spLocks noChangeArrowheads="1"/>
          </p:cNvSpPr>
          <p:nvPr/>
        </p:nvSpPr>
        <p:spPr bwMode="auto">
          <a:xfrm>
            <a:off x="1676400" y="1005733"/>
            <a:ext cx="66294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b="1" dirty="0"/>
              <a:t>traverse all nodes			O(N)</a:t>
            </a:r>
          </a:p>
          <a:p>
            <a:pPr eaLnBrk="1" hangingPunct="1">
              <a:spcBef>
                <a:spcPct val="50000"/>
              </a:spcBef>
            </a:pPr>
            <a:r>
              <a:rPr lang="en-US" b="1" dirty="0"/>
              <a:t>search for an item		O(log</a:t>
            </a:r>
            <a:r>
              <a:rPr lang="en-US" b="1" baseline="-25000" dirty="0"/>
              <a:t>2</a:t>
            </a:r>
            <a:r>
              <a:rPr lang="en-US" b="1" dirty="0"/>
              <a:t>N)</a:t>
            </a:r>
          </a:p>
          <a:p>
            <a:pPr eaLnBrk="1" hangingPunct="1">
              <a:spcBef>
                <a:spcPct val="50000"/>
              </a:spcBef>
            </a:pPr>
            <a:r>
              <a:rPr lang="en-US" b="1" dirty="0"/>
              <a:t>remove any item			O(log</a:t>
            </a:r>
            <a:r>
              <a:rPr lang="en-US" b="1" baseline="-25000" dirty="0"/>
              <a:t>2</a:t>
            </a:r>
            <a:r>
              <a:rPr lang="en-US" b="1" dirty="0"/>
              <a:t>N)	</a:t>
            </a:r>
          </a:p>
          <a:p>
            <a:pPr eaLnBrk="1" hangingPunct="1">
              <a:spcBef>
                <a:spcPct val="50000"/>
              </a:spcBef>
            </a:pPr>
            <a:r>
              <a:rPr lang="en-US" b="1" dirty="0"/>
              <a:t>add item 				O(log</a:t>
            </a:r>
            <a:r>
              <a:rPr lang="en-US" b="1" baseline="-25000" dirty="0"/>
              <a:t>2</a:t>
            </a:r>
            <a:r>
              <a:rPr lang="en-US" b="1" dirty="0"/>
              <a:t>N)	</a:t>
            </a:r>
          </a:p>
        </p:txBody>
      </p:sp>
      <p:grpSp>
        <p:nvGrpSpPr>
          <p:cNvPr id="10" name="Group 9">
            <a:extLst>
              <a:ext uri="{FF2B5EF4-FFF2-40B4-BE49-F238E27FC236}">
                <a16:creationId xmlns:a16="http://schemas.microsoft.com/office/drawing/2014/main" id="{23F90D87-6A03-45B0-8241-9FE85F02A701}"/>
              </a:ext>
            </a:extLst>
          </p:cNvPr>
          <p:cNvGrpSpPr/>
          <p:nvPr/>
        </p:nvGrpSpPr>
        <p:grpSpPr>
          <a:xfrm>
            <a:off x="5129555" y="4803858"/>
            <a:ext cx="2577319" cy="456448"/>
            <a:chOff x="3429000" y="2286000"/>
            <a:chExt cx="3276600" cy="580292"/>
          </a:xfrm>
        </p:grpSpPr>
        <p:sp>
          <p:nvSpPr>
            <p:cNvPr id="12" name="Rectangle 11">
              <a:extLst>
                <a:ext uri="{FF2B5EF4-FFF2-40B4-BE49-F238E27FC236}">
                  <a16:creationId xmlns:a16="http://schemas.microsoft.com/office/drawing/2014/main" id="{BA646419-5946-4AC8-BC41-B6749F31F816}"/>
                </a:ext>
              </a:extLst>
            </p:cNvPr>
            <p:cNvSpPr/>
            <p:nvPr/>
          </p:nvSpPr>
          <p:spPr bwMode="auto">
            <a:xfrm>
              <a:off x="3429000" y="2286000"/>
              <a:ext cx="533400" cy="4572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13" name="Rectangle 12">
              <a:extLst>
                <a:ext uri="{FF2B5EF4-FFF2-40B4-BE49-F238E27FC236}">
                  <a16:creationId xmlns:a16="http://schemas.microsoft.com/office/drawing/2014/main" id="{34178CE3-82DA-4989-B803-4FF8C7A55E24}"/>
                </a:ext>
              </a:extLst>
            </p:cNvPr>
            <p:cNvSpPr/>
            <p:nvPr/>
          </p:nvSpPr>
          <p:spPr bwMode="auto">
            <a:xfrm>
              <a:off x="6172200" y="2409092"/>
              <a:ext cx="533400" cy="4572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grpSp>
      <p:sp>
        <p:nvSpPr>
          <p:cNvPr id="16" name="TextBox 15">
            <a:extLst>
              <a:ext uri="{FF2B5EF4-FFF2-40B4-BE49-F238E27FC236}">
                <a16:creationId xmlns:a16="http://schemas.microsoft.com/office/drawing/2014/main" id="{EC6BDC91-D472-4ED7-AEF9-2B6E7C331E07}"/>
              </a:ext>
            </a:extLst>
          </p:cNvPr>
          <p:cNvSpPr txBox="1"/>
          <p:nvPr/>
        </p:nvSpPr>
        <p:spPr>
          <a:xfrm>
            <a:off x="228600" y="4064830"/>
            <a:ext cx="4572000" cy="2031325"/>
          </a:xfrm>
          <a:prstGeom prst="rect">
            <a:avLst/>
          </a:prstGeom>
          <a:noFill/>
        </p:spPr>
        <p:txBody>
          <a:bodyPr wrap="square">
            <a:spAutoFit/>
          </a:bodyPr>
          <a:lstStyle/>
          <a:p>
            <a:pPr algn="ctr" eaLnBrk="1" hangingPunct="1">
              <a:spcBef>
                <a:spcPct val="50000"/>
              </a:spcBef>
            </a:pPr>
            <a:r>
              <a:rPr lang="en-US" sz="2800" b="1" u="sng" dirty="0">
                <a:solidFill>
                  <a:schemeClr val="accent2"/>
                </a:solidFill>
              </a:rPr>
              <a:t>Average case</a:t>
            </a:r>
          </a:p>
          <a:p>
            <a:pPr algn="ctr" eaLnBrk="1" hangingPunct="1">
              <a:spcBef>
                <a:spcPct val="50000"/>
              </a:spcBef>
            </a:pPr>
            <a:r>
              <a:rPr lang="en-US" sz="2800" b="1" dirty="0">
                <a:solidFill>
                  <a:schemeClr val="accent2"/>
                </a:solidFill>
              </a:rPr>
              <a:t>these results assume the tree is balanced or nearly balanced.</a:t>
            </a:r>
            <a:endParaRPr lang="en-US" sz="2800" b="1" dirty="0"/>
          </a:p>
        </p:txBody>
      </p:sp>
      <p:grpSp>
        <p:nvGrpSpPr>
          <p:cNvPr id="3" name="Group 2" descr="A balanced binary tree with equal numbers of nodes in the left and right subtrees.">
            <a:extLst>
              <a:ext uri="{FF2B5EF4-FFF2-40B4-BE49-F238E27FC236}">
                <a16:creationId xmlns:a16="http://schemas.microsoft.com/office/drawing/2014/main" id="{9C1F77BB-43E6-4F74-B088-136DEE363027}"/>
              </a:ext>
            </a:extLst>
          </p:cNvPr>
          <p:cNvGrpSpPr/>
          <p:nvPr/>
        </p:nvGrpSpPr>
        <p:grpSpPr>
          <a:xfrm>
            <a:off x="4953000" y="3787300"/>
            <a:ext cx="3810000" cy="2946012"/>
            <a:chOff x="4953000" y="3787300"/>
            <a:chExt cx="3810000" cy="2946012"/>
          </a:xfrm>
        </p:grpSpPr>
        <p:pic>
          <p:nvPicPr>
            <p:cNvPr id="14" name="Picture 2">
              <a:extLst>
                <a:ext uri="{FF2B5EF4-FFF2-40B4-BE49-F238E27FC236}">
                  <a16:creationId xmlns:a16="http://schemas.microsoft.com/office/drawing/2014/main" id="{38A18019-3557-4850-952A-38AA305921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r="43750" b="40770"/>
            <a:stretch/>
          </p:blipFill>
          <p:spPr bwMode="auto">
            <a:xfrm>
              <a:off x="4953000" y="3787300"/>
              <a:ext cx="3810000" cy="2946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a:extLst>
                <a:ext uri="{FF2B5EF4-FFF2-40B4-BE49-F238E27FC236}">
                  <a16:creationId xmlns:a16="http://schemas.microsoft.com/office/drawing/2014/main" id="{2138F9B4-7226-4D9F-8713-FAAAE768742A}"/>
                </a:ext>
              </a:extLst>
            </p:cNvPr>
            <p:cNvSpPr/>
            <p:nvPr/>
          </p:nvSpPr>
          <p:spPr bwMode="auto">
            <a:xfrm>
              <a:off x="7532811" y="4706284"/>
              <a:ext cx="533400" cy="457200"/>
            </a:xfrm>
            <a:prstGeom prst="rect">
              <a:avLst/>
            </a:prstGeom>
            <a:solidFill>
              <a:srgbClr val="FFFBFB"/>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338137"/>
            <a:ext cx="4648200" cy="2739211"/>
          </a:xfrm>
          <a:prstGeom prst="rect">
            <a:avLst/>
          </a:prstGeom>
          <a:noFill/>
        </p:spPr>
        <p:txBody>
          <a:bodyPr wrap="square" rtlCol="0">
            <a:spAutoFit/>
          </a:bodyPr>
          <a:lstStyle/>
          <a:p>
            <a:r>
              <a:rPr lang="en-US" sz="2800" b="1" dirty="0">
                <a:solidFill>
                  <a:srgbClr val="0000CC"/>
                </a:solidFill>
              </a:rPr>
              <a:t>Worst case:</a:t>
            </a:r>
          </a:p>
          <a:p>
            <a:pPr algn="ctr"/>
            <a:endParaRPr lang="en-US" sz="1400" b="1" dirty="0">
              <a:solidFill>
                <a:srgbClr val="0000CC"/>
              </a:solidFill>
            </a:endParaRPr>
          </a:p>
          <a:p>
            <a:r>
              <a:rPr lang="en-US" sz="2800" b="1" dirty="0"/>
              <a:t>Data entered in natural order or reverse order.</a:t>
            </a:r>
            <a:br>
              <a:rPr lang="en-US" sz="2800" b="1" dirty="0"/>
            </a:br>
            <a:endParaRPr lang="en-US" sz="1200" b="1" dirty="0"/>
          </a:p>
          <a:p>
            <a:r>
              <a:rPr lang="en-US" sz="2800" b="1" dirty="0"/>
              <a:t>Or any other tree with as many levels as nodes.</a:t>
            </a:r>
          </a:p>
        </p:txBody>
      </p:sp>
      <p:grpSp>
        <p:nvGrpSpPr>
          <p:cNvPr id="4" name="Group 3" descr="A degenerate tree with seven nodes and seven levels.">
            <a:extLst>
              <a:ext uri="{FF2B5EF4-FFF2-40B4-BE49-F238E27FC236}">
                <a16:creationId xmlns:a16="http://schemas.microsoft.com/office/drawing/2014/main" id="{90659242-EA6D-47F0-8F75-1942DE1B4597}"/>
              </a:ext>
            </a:extLst>
          </p:cNvPr>
          <p:cNvGrpSpPr/>
          <p:nvPr/>
        </p:nvGrpSpPr>
        <p:grpSpPr>
          <a:xfrm>
            <a:off x="4800600" y="304800"/>
            <a:ext cx="3733800" cy="5982247"/>
            <a:chOff x="4876800" y="457200"/>
            <a:chExt cx="3352800" cy="5371814"/>
          </a:xfrm>
        </p:grpSpPr>
        <p:pic>
          <p:nvPicPr>
            <p:cNvPr id="13" name="Picture 2">
              <a:extLst>
                <a:ext uri="{FF2B5EF4-FFF2-40B4-BE49-F238E27FC236}">
                  <a16:creationId xmlns:a16="http://schemas.microsoft.com/office/drawing/2014/main" id="{4EEF68DC-FE59-4BCC-A441-814A657C55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167"/>
            <a:stretch/>
          </p:blipFill>
          <p:spPr bwMode="auto">
            <a:xfrm>
              <a:off x="4876800" y="457200"/>
              <a:ext cx="3352800" cy="5371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a:extLst>
                <a:ext uri="{FF2B5EF4-FFF2-40B4-BE49-F238E27FC236}">
                  <a16:creationId xmlns:a16="http://schemas.microsoft.com/office/drawing/2014/main" id="{5AC469E8-0317-4384-810B-E3B41002A6C4}"/>
                </a:ext>
              </a:extLst>
            </p:cNvPr>
            <p:cNvSpPr/>
            <p:nvPr/>
          </p:nvSpPr>
          <p:spPr bwMode="auto">
            <a:xfrm>
              <a:off x="6400800" y="1371600"/>
              <a:ext cx="533400" cy="457200"/>
            </a:xfrm>
            <a:prstGeom prst="rect">
              <a:avLst/>
            </a:prstGeom>
            <a:solidFill>
              <a:srgbClr val="FFFBFB"/>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grpSp>
      <p:sp>
        <p:nvSpPr>
          <p:cNvPr id="15" name="TextBox 14">
            <a:extLst>
              <a:ext uri="{FF2B5EF4-FFF2-40B4-BE49-F238E27FC236}">
                <a16:creationId xmlns:a16="http://schemas.microsoft.com/office/drawing/2014/main" id="{7C167133-0CC0-4D42-B59E-90C695992769}"/>
              </a:ext>
            </a:extLst>
          </p:cNvPr>
          <p:cNvSpPr txBox="1"/>
          <p:nvPr/>
        </p:nvSpPr>
        <p:spPr>
          <a:xfrm>
            <a:off x="685800" y="3962400"/>
            <a:ext cx="3733800" cy="1815882"/>
          </a:xfrm>
          <a:prstGeom prst="rect">
            <a:avLst/>
          </a:prstGeom>
          <a:noFill/>
        </p:spPr>
        <p:txBody>
          <a:bodyPr wrap="square">
            <a:spAutoFit/>
          </a:bodyPr>
          <a:lstStyle/>
          <a:p>
            <a:pPr eaLnBrk="1" hangingPunct="1">
              <a:spcBef>
                <a:spcPct val="50000"/>
              </a:spcBef>
            </a:pPr>
            <a:r>
              <a:rPr lang="en-US" sz="2800" b="1" dirty="0"/>
              <a:t>Adding	 O(n)</a:t>
            </a:r>
          </a:p>
          <a:p>
            <a:pPr eaLnBrk="1" hangingPunct="1">
              <a:spcBef>
                <a:spcPct val="50000"/>
              </a:spcBef>
            </a:pPr>
            <a:r>
              <a:rPr lang="en-US" sz="2800" b="1" dirty="0"/>
              <a:t>Searching	 O(n)</a:t>
            </a:r>
          </a:p>
          <a:p>
            <a:pPr eaLnBrk="1" hangingPunct="1">
              <a:spcBef>
                <a:spcPct val="50000"/>
              </a:spcBef>
            </a:pPr>
            <a:r>
              <a:rPr lang="en-US" sz="2800" b="1" dirty="0"/>
              <a:t>Removing	 O(n)</a:t>
            </a:r>
          </a:p>
        </p:txBody>
      </p:sp>
    </p:spTree>
    <p:extLst>
      <p:ext uri="{BB962C8B-B14F-4D97-AF65-F5344CB8AC3E}">
        <p14:creationId xmlns:p14="http://schemas.microsoft.com/office/powerpoint/2010/main" val="1169372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2000" y="76200"/>
            <a:ext cx="7924800" cy="2786981"/>
          </a:xfrm>
          <a:prstGeom prst="rect">
            <a:avLst/>
          </a:prstGeom>
          <a:noFill/>
        </p:spPr>
        <p:txBody>
          <a:bodyPr wrap="square" rtlCol="0">
            <a:spAutoFit/>
          </a:bodyPr>
          <a:lstStyle/>
          <a:p>
            <a:pPr>
              <a:lnSpc>
                <a:spcPct val="150000"/>
              </a:lnSpc>
            </a:pPr>
            <a:r>
              <a:rPr lang="en-US" b="1" dirty="0">
                <a:solidFill>
                  <a:srgbClr val="0000CC"/>
                </a:solidFill>
              </a:rPr>
              <a:t>Best case = O(1)</a:t>
            </a:r>
            <a:r>
              <a:rPr lang="en-US" dirty="0">
                <a:solidFill>
                  <a:srgbClr val="0000CC"/>
                </a:solidFill>
              </a:rPr>
              <a:t>	 </a:t>
            </a:r>
          </a:p>
          <a:p>
            <a:pPr marL="342900" indent="-342900">
              <a:lnSpc>
                <a:spcPct val="150000"/>
              </a:lnSpc>
              <a:buFont typeface="Arial" panose="020B0604020202020204" pitchFamily="34" charset="0"/>
              <a:buChar char="•"/>
            </a:pPr>
            <a:r>
              <a:rPr lang="en-US" dirty="0"/>
              <a:t>Search value is the root</a:t>
            </a:r>
          </a:p>
          <a:p>
            <a:pPr marL="342900" indent="-342900">
              <a:lnSpc>
                <a:spcPct val="150000"/>
              </a:lnSpc>
              <a:buFont typeface="Arial" panose="020B0604020202020204" pitchFamily="34" charset="0"/>
              <a:buChar char="•"/>
            </a:pPr>
            <a:r>
              <a:rPr lang="en-US" dirty="0"/>
              <a:t>Adding to a tree with only one branch when the new value starts the other branch</a:t>
            </a:r>
          </a:p>
          <a:p>
            <a:pPr marL="342900" indent="-342900">
              <a:lnSpc>
                <a:spcPct val="150000"/>
              </a:lnSpc>
              <a:buFont typeface="Arial" panose="020B0604020202020204" pitchFamily="34" charset="0"/>
              <a:buChar char="•"/>
            </a:pPr>
            <a:r>
              <a:rPr lang="en-US" dirty="0"/>
              <a:t>Removing a node which has 0 or 1 child</a:t>
            </a:r>
          </a:p>
        </p:txBody>
      </p:sp>
      <p:pic>
        <p:nvPicPr>
          <p:cNvPr id="1026" name="Picture 2" descr="The initial tree is a degenerate tree with 20 as the root, 14 as its left child, and 9 as 14's left child.&#10;Inserting 22 would be O(1)">
            <a:extLst>
              <a:ext uri="{FF2B5EF4-FFF2-40B4-BE49-F238E27FC236}">
                <a16:creationId xmlns:a16="http://schemas.microsoft.com/office/drawing/2014/main" id="{18CB4DEF-428C-05B9-CF58-3A0AF8882E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3048000"/>
            <a:ext cx="8610600" cy="330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388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Text Box 3"/>
          <p:cNvSpPr txBox="1">
            <a:spLocks noChangeArrowheads="1"/>
          </p:cNvSpPr>
          <p:nvPr/>
        </p:nvSpPr>
        <p:spPr bwMode="auto">
          <a:xfrm>
            <a:off x="1600200" y="1295400"/>
            <a:ext cx="6629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b="1" dirty="0"/>
              <a:t>traverse all nodes			O(N)</a:t>
            </a:r>
          </a:p>
          <a:p>
            <a:pPr eaLnBrk="1" hangingPunct="1">
              <a:spcBef>
                <a:spcPct val="50000"/>
              </a:spcBef>
            </a:pPr>
            <a:r>
              <a:rPr lang="en-US" b="1" dirty="0">
                <a:solidFill>
                  <a:schemeClr val="accent1">
                    <a:lumMod val="50000"/>
                  </a:schemeClr>
                </a:solidFill>
              </a:rPr>
              <a:t>search for an item		O(log</a:t>
            </a:r>
            <a:r>
              <a:rPr lang="en-US" b="1" baseline="-25000" dirty="0">
                <a:solidFill>
                  <a:schemeClr val="accent1">
                    <a:lumMod val="50000"/>
                  </a:schemeClr>
                </a:solidFill>
              </a:rPr>
              <a:t>2</a:t>
            </a:r>
            <a:r>
              <a:rPr lang="en-US" b="1" dirty="0">
                <a:solidFill>
                  <a:schemeClr val="accent1">
                    <a:lumMod val="50000"/>
                  </a:schemeClr>
                </a:solidFill>
              </a:rPr>
              <a:t>N)</a:t>
            </a:r>
          </a:p>
          <a:p>
            <a:pPr eaLnBrk="1" hangingPunct="1">
              <a:spcBef>
                <a:spcPct val="50000"/>
              </a:spcBef>
            </a:pPr>
            <a:r>
              <a:rPr lang="en-US" b="1" dirty="0">
                <a:solidFill>
                  <a:srgbClr val="C00000"/>
                </a:solidFill>
              </a:rPr>
              <a:t>remove any item			O(N)	</a:t>
            </a:r>
          </a:p>
          <a:p>
            <a:pPr eaLnBrk="1" hangingPunct="1">
              <a:spcBef>
                <a:spcPct val="50000"/>
              </a:spcBef>
            </a:pPr>
            <a:r>
              <a:rPr lang="en-US" b="1" dirty="0"/>
              <a:t>access a </a:t>
            </a:r>
            <a:r>
              <a:rPr lang="en-US" b="1" u="sng" dirty="0"/>
              <a:t>spot</a:t>
            </a:r>
            <a:r>
              <a:rPr lang="en-US" b="1" dirty="0"/>
              <a:t>			O(1)	</a:t>
            </a:r>
          </a:p>
          <a:p>
            <a:pPr eaLnBrk="1" hangingPunct="1">
              <a:spcBef>
                <a:spcPct val="50000"/>
              </a:spcBef>
            </a:pPr>
            <a:r>
              <a:rPr lang="en-US" b="1" dirty="0">
                <a:solidFill>
                  <a:srgbClr val="C00000"/>
                </a:solidFill>
              </a:rPr>
              <a:t>add item 				O(N)</a:t>
            </a:r>
          </a:p>
        </p:txBody>
      </p:sp>
      <p:grpSp>
        <p:nvGrpSpPr>
          <p:cNvPr id="10" name="Group 9">
            <a:extLst>
              <a:ext uri="{FF2B5EF4-FFF2-40B4-BE49-F238E27FC236}">
                <a16:creationId xmlns:a16="http://schemas.microsoft.com/office/drawing/2014/main" id="{23F90D87-6A03-45B0-8241-9FE85F02A701}"/>
              </a:ext>
            </a:extLst>
          </p:cNvPr>
          <p:cNvGrpSpPr/>
          <p:nvPr/>
        </p:nvGrpSpPr>
        <p:grpSpPr>
          <a:xfrm>
            <a:off x="5129555" y="4803858"/>
            <a:ext cx="2577319" cy="456448"/>
            <a:chOff x="3429000" y="2286000"/>
            <a:chExt cx="3276600" cy="580292"/>
          </a:xfrm>
        </p:grpSpPr>
        <p:sp>
          <p:nvSpPr>
            <p:cNvPr id="12" name="Rectangle 11">
              <a:extLst>
                <a:ext uri="{FF2B5EF4-FFF2-40B4-BE49-F238E27FC236}">
                  <a16:creationId xmlns:a16="http://schemas.microsoft.com/office/drawing/2014/main" id="{BA646419-5946-4AC8-BC41-B6749F31F816}"/>
                </a:ext>
              </a:extLst>
            </p:cNvPr>
            <p:cNvSpPr/>
            <p:nvPr/>
          </p:nvSpPr>
          <p:spPr bwMode="auto">
            <a:xfrm>
              <a:off x="3429000" y="2286000"/>
              <a:ext cx="533400" cy="4572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13" name="Rectangle 12">
              <a:extLst>
                <a:ext uri="{FF2B5EF4-FFF2-40B4-BE49-F238E27FC236}">
                  <a16:creationId xmlns:a16="http://schemas.microsoft.com/office/drawing/2014/main" id="{34178CE3-82DA-4989-B803-4FF8C7A55E24}"/>
                </a:ext>
              </a:extLst>
            </p:cNvPr>
            <p:cNvSpPr/>
            <p:nvPr/>
          </p:nvSpPr>
          <p:spPr bwMode="auto">
            <a:xfrm>
              <a:off x="6172200" y="2409092"/>
              <a:ext cx="533400" cy="4572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grpSp>
      <p:sp>
        <p:nvSpPr>
          <p:cNvPr id="16" name="TextBox 15">
            <a:extLst>
              <a:ext uri="{FF2B5EF4-FFF2-40B4-BE49-F238E27FC236}">
                <a16:creationId xmlns:a16="http://schemas.microsoft.com/office/drawing/2014/main" id="{EC6BDC91-D472-4ED7-AEF9-2B6E7C331E07}"/>
              </a:ext>
            </a:extLst>
          </p:cNvPr>
          <p:cNvSpPr txBox="1"/>
          <p:nvPr/>
        </p:nvSpPr>
        <p:spPr>
          <a:xfrm>
            <a:off x="609599" y="5144869"/>
            <a:ext cx="7924800" cy="646331"/>
          </a:xfrm>
          <a:prstGeom prst="rect">
            <a:avLst/>
          </a:prstGeom>
          <a:noFill/>
        </p:spPr>
        <p:txBody>
          <a:bodyPr wrap="square">
            <a:spAutoFit/>
          </a:bodyPr>
          <a:lstStyle/>
          <a:p>
            <a:pPr algn="ctr" eaLnBrk="1" hangingPunct="1">
              <a:spcBef>
                <a:spcPct val="50000"/>
              </a:spcBef>
            </a:pPr>
            <a:r>
              <a:rPr lang="en-US" sz="3600" b="1" dirty="0">
                <a:solidFill>
                  <a:schemeClr val="accent2"/>
                </a:solidFill>
              </a:rPr>
              <a:t>[2, 3, 5, 8, 10, 19, 23, 27, 32]</a:t>
            </a:r>
            <a:endParaRPr lang="en-US" sz="3600" b="1" dirty="0"/>
          </a:p>
        </p:txBody>
      </p:sp>
      <p:sp>
        <p:nvSpPr>
          <p:cNvPr id="2" name="TextBox 1">
            <a:extLst>
              <a:ext uri="{FF2B5EF4-FFF2-40B4-BE49-F238E27FC236}">
                <a16:creationId xmlns:a16="http://schemas.microsoft.com/office/drawing/2014/main" id="{A9C03A65-E039-EE14-D29F-9ED53F20D14F}"/>
              </a:ext>
            </a:extLst>
          </p:cNvPr>
          <p:cNvSpPr txBox="1"/>
          <p:nvPr/>
        </p:nvSpPr>
        <p:spPr>
          <a:xfrm>
            <a:off x="327889" y="261280"/>
            <a:ext cx="8488221" cy="461665"/>
          </a:xfrm>
          <a:prstGeom prst="rect">
            <a:avLst/>
          </a:prstGeom>
          <a:noFill/>
        </p:spPr>
        <p:txBody>
          <a:bodyPr wrap="none" rtlCol="0">
            <a:spAutoFit/>
          </a:bodyPr>
          <a:lstStyle/>
          <a:p>
            <a:r>
              <a:rPr lang="en-US" b="1" dirty="0">
                <a:solidFill>
                  <a:schemeClr val="accent6">
                    <a:lumMod val="75000"/>
                  </a:schemeClr>
                </a:solidFill>
              </a:rPr>
              <a:t>Using a Sorted Array and the Binary Search Algorithm</a:t>
            </a:r>
          </a:p>
        </p:txBody>
      </p:sp>
    </p:spTree>
    <p:extLst>
      <p:ext uri="{BB962C8B-B14F-4D97-AF65-F5344CB8AC3E}">
        <p14:creationId xmlns:p14="http://schemas.microsoft.com/office/powerpoint/2010/main" val="754615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Data Structures</a:t>
            </a:r>
          </a:p>
        </p:txBody>
      </p:sp>
      <mc:AlternateContent xmlns:mc="http://schemas.openxmlformats.org/markup-compatibility/2006" xmlns:a14="http://schemas.microsoft.com/office/drawing/2010/main">
        <mc:Choice Requires="a14">
          <p:graphicFrame>
            <p:nvGraphicFramePr>
              <p:cNvPr id="5" name="Content Placeholder 4"/>
              <p:cNvGraphicFramePr>
                <a:graphicFrameLocks noGrp="1"/>
              </p:cNvGraphicFramePr>
              <p:nvPr>
                <p:ph sz="quarter" idx="1"/>
                <p:extLst>
                  <p:ext uri="{D42A27DB-BD31-4B8C-83A1-F6EECF244321}">
                    <p14:modId xmlns:p14="http://schemas.microsoft.com/office/powerpoint/2010/main" val="4278070130"/>
                  </p:ext>
                </p:extLst>
              </p:nvPr>
            </p:nvGraphicFramePr>
            <p:xfrm>
              <a:off x="0" y="-7144"/>
              <a:ext cx="9144001" cy="6865143"/>
            </p:xfrm>
            <a:graphic>
              <a:graphicData uri="http://schemas.openxmlformats.org/drawingml/2006/table">
                <a:tbl>
                  <a:tblPr firstRow="1" bandRow="1">
                    <a:tableStyleId>{5C22544A-7EE6-4342-B048-85BDC9FD1C3A}</a:tableStyleId>
                  </a:tblPr>
                  <a:tblGrid>
                    <a:gridCol w="2953435">
                      <a:extLst>
                        <a:ext uri="{9D8B030D-6E8A-4147-A177-3AD203B41FA5}">
                          <a16:colId xmlns:a16="http://schemas.microsoft.com/office/drawing/2014/main" val="20000"/>
                        </a:ext>
                      </a:extLst>
                    </a:gridCol>
                    <a:gridCol w="1968092">
                      <a:extLst>
                        <a:ext uri="{9D8B030D-6E8A-4147-A177-3AD203B41FA5}">
                          <a16:colId xmlns:a16="http://schemas.microsoft.com/office/drawing/2014/main" val="20001"/>
                        </a:ext>
                      </a:extLst>
                    </a:gridCol>
                    <a:gridCol w="2111237">
                      <a:extLst>
                        <a:ext uri="{9D8B030D-6E8A-4147-A177-3AD203B41FA5}">
                          <a16:colId xmlns:a16="http://schemas.microsoft.com/office/drawing/2014/main" val="20002"/>
                        </a:ext>
                      </a:extLst>
                    </a:gridCol>
                    <a:gridCol w="2111237">
                      <a:extLst>
                        <a:ext uri="{9D8B030D-6E8A-4147-A177-3AD203B41FA5}">
                          <a16:colId xmlns:a16="http://schemas.microsoft.com/office/drawing/2014/main" val="1749272156"/>
                        </a:ext>
                      </a:extLst>
                    </a:gridCol>
                  </a:tblGrid>
                  <a:tr h="946555">
                    <a:tc>
                      <a:txBody>
                        <a:bodyPr/>
                        <a:lstStyle/>
                        <a:p>
                          <a:pPr algn="ctr"/>
                          <a:r>
                            <a:rPr lang="en-US" sz="2400" b="0" dirty="0">
                              <a:latin typeface="Abadi" panose="020B0604020104020204" pitchFamily="34" charset="0"/>
                            </a:rPr>
                            <a:t>Data Structure</a:t>
                          </a:r>
                        </a:p>
                      </a:txBody>
                      <a:tcPr anchor="ctr"/>
                    </a:tc>
                    <a:tc>
                      <a:txBody>
                        <a:bodyPr/>
                        <a:lstStyle/>
                        <a:p>
                          <a:pPr algn="ctr"/>
                          <a:r>
                            <a:rPr lang="en-US" sz="2400" b="0" dirty="0">
                              <a:latin typeface="Abadi" panose="020B0604020104020204" pitchFamily="34" charset="0"/>
                            </a:rPr>
                            <a:t>add(</a:t>
                          </a:r>
                          <a:r>
                            <a:rPr lang="en-US" sz="2400" b="0" dirty="0" err="1">
                              <a:latin typeface="Abadi" panose="020B0604020104020204" pitchFamily="34" charset="0"/>
                            </a:rPr>
                            <a:t>val</a:t>
                          </a:r>
                          <a:r>
                            <a:rPr lang="en-US" sz="2400" b="0" dirty="0">
                              <a:latin typeface="Abadi" panose="020B0604020104020204" pitchFamily="34" charset="0"/>
                            </a:rPr>
                            <a:t> x)</a:t>
                          </a:r>
                        </a:p>
                      </a:txBody>
                      <a:tcPr anchor="ctr"/>
                    </a:tc>
                    <a:tc>
                      <a:txBody>
                        <a:bodyPr/>
                        <a:lstStyle/>
                        <a:p>
                          <a:pPr algn="ctr"/>
                          <a:r>
                            <a:rPr lang="en-US" sz="2400" b="0" dirty="0">
                              <a:latin typeface="Abadi" panose="020B0604020104020204" pitchFamily="34" charset="0"/>
                            </a:rPr>
                            <a:t>lookup(int 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dirty="0">
                              <a:latin typeface="Abadi" panose="020B0604020104020204" pitchFamily="34" charset="0"/>
                            </a:rPr>
                            <a:t>search(</a:t>
                          </a:r>
                          <a:r>
                            <a:rPr lang="en-US" sz="2400" b="0" dirty="0" err="1">
                              <a:latin typeface="Abadi" panose="020B0604020104020204" pitchFamily="34" charset="0"/>
                            </a:rPr>
                            <a:t>val</a:t>
                          </a:r>
                          <a:r>
                            <a:rPr lang="en-US" sz="2400" b="0" dirty="0">
                              <a:latin typeface="Abadi" panose="020B0604020104020204" pitchFamily="34" charset="0"/>
                            </a:rPr>
                            <a:t> x)</a:t>
                          </a:r>
                        </a:p>
                      </a:txBody>
                      <a:tcPr anchor="ctr"/>
                    </a:tc>
                    <a:extLst>
                      <a:ext uri="{0D108BD9-81ED-4DB2-BD59-A6C34878D82A}">
                        <a16:rowId xmlns:a16="http://schemas.microsoft.com/office/drawing/2014/main" val="10000"/>
                      </a:ext>
                    </a:extLst>
                  </a:tr>
                  <a:tr h="1723880">
                    <a:tc>
                      <a:txBody>
                        <a:bodyPr/>
                        <a:lstStyle/>
                        <a:p>
                          <a:r>
                            <a:rPr lang="en-US" sz="2400" b="1" dirty="0">
                              <a:latin typeface="Abadi" panose="020B0604020104020204" pitchFamily="34" charset="0"/>
                            </a:rPr>
                            <a:t>Array</a:t>
                          </a:r>
                        </a:p>
                      </a:txBody>
                      <a:tcPr/>
                    </a:tc>
                    <a:tc>
                      <a:txBody>
                        <a:bodyPr/>
                        <a:lstStyle/>
                        <a:p>
                          <a:pPr/>
                          <a14:m>
                            <m:oMathPara xmlns:m="http://schemas.openxmlformats.org/officeDocument/2006/math">
                              <m:oMathParaPr>
                                <m:jc m:val="center"/>
                              </m:oMathParaPr>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oMath>
                            </m:oMathPara>
                          </a14:m>
                          <a:endParaRPr lang="en-US" sz="3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(1)</m:t>
                                </m:r>
                              </m:oMath>
                            </m:oMathPara>
                          </a14:m>
                          <a:endParaRPr lang="en-US" sz="3200" b="0" i="1" kern="1200" dirty="0">
                            <a:solidFill>
                              <a:schemeClr val="dk1"/>
                            </a:solidFill>
                            <a:latin typeface="Cambria Math" panose="02040503050406030204" pitchFamily="18" charset="0"/>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m:t>
                                </m:r>
                                <m:r>
                                  <a:rPr lang="en-US" sz="3200" b="0" i="1" kern="1200" smtClean="0">
                                    <a:solidFill>
                                      <a:schemeClr val="dk1"/>
                                    </a:solidFill>
                                    <a:latin typeface="Cambria Math" panose="02040503050406030204" pitchFamily="18" charset="0"/>
                                    <a:ea typeface="+mn-ea"/>
                                    <a:cs typeface="+mn-cs"/>
                                  </a:rPr>
                                  <m:t>𝑛</m:t>
                                </m:r>
                                <m:r>
                                  <a:rPr lang="en-US" sz="3200" b="0" i="1" kern="1200" smtClean="0">
                                    <a:solidFill>
                                      <a:schemeClr val="dk1"/>
                                    </a:solidFill>
                                    <a:latin typeface="Cambria Math" panose="02040503050406030204" pitchFamily="18" charset="0"/>
                                    <a:ea typeface="+mn-ea"/>
                                    <a:cs typeface="+mn-cs"/>
                                  </a:rPr>
                                  <m:t>)</m:t>
                                </m:r>
                              </m:oMath>
                            </m:oMathPara>
                          </a14:m>
                          <a:endParaRPr lang="en-US" sz="3200" b="0" i="1" kern="1200" dirty="0">
                            <a:solidFill>
                              <a:schemeClr val="dk1"/>
                            </a:solidFill>
                            <a:latin typeface="Cambria Math" panose="02040503050406030204" pitchFamily="18" charset="0"/>
                            <a:ea typeface="+mn-ea"/>
                            <a:cs typeface="+mn-cs"/>
                          </a:endParaRPr>
                        </a:p>
                      </a:txBody>
                      <a:tcPr anchor="ctr"/>
                    </a:tc>
                    <a:extLst>
                      <a:ext uri="{0D108BD9-81ED-4DB2-BD59-A6C34878D82A}">
                        <a16:rowId xmlns:a16="http://schemas.microsoft.com/office/drawing/2014/main" val="10001"/>
                      </a:ext>
                    </a:extLst>
                  </a:tr>
                  <a:tr h="1398236">
                    <a:tc>
                      <a:txBody>
                        <a:bodyPr/>
                        <a:lstStyle/>
                        <a:p>
                          <a:r>
                            <a:rPr lang="en-US" sz="2400" b="1" dirty="0">
                              <a:latin typeface="Abadi" panose="020B0604020104020204" pitchFamily="34" charset="0"/>
                            </a:rPr>
                            <a:t>Linked List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(1)</m:t>
                                </m:r>
                              </m:oMath>
                            </m:oMathPara>
                          </a14:m>
                          <a:endParaRPr lang="en-US" sz="3200" b="0" i="1" kern="1200" dirty="0">
                            <a:solidFill>
                              <a:schemeClr val="dk1"/>
                            </a:solidFill>
                            <a:latin typeface="Cambria Math" panose="02040503050406030204" pitchFamily="18" charset="0"/>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m:t>
                                </m:r>
                                <m:r>
                                  <a:rPr lang="en-US" sz="3200" b="0" i="1" kern="1200" smtClean="0">
                                    <a:solidFill>
                                      <a:schemeClr val="dk1"/>
                                    </a:solidFill>
                                    <a:latin typeface="Cambria Math" panose="02040503050406030204" pitchFamily="18" charset="0"/>
                                    <a:ea typeface="+mn-ea"/>
                                    <a:cs typeface="+mn-cs"/>
                                  </a:rPr>
                                  <m:t>𝑛</m:t>
                                </m:r>
                                <m:r>
                                  <a:rPr lang="en-US" sz="3200" b="0" i="1" kern="1200" smtClean="0">
                                    <a:solidFill>
                                      <a:schemeClr val="dk1"/>
                                    </a:solidFill>
                                    <a:latin typeface="Cambria Math" panose="02040503050406030204" pitchFamily="18" charset="0"/>
                                    <a:ea typeface="+mn-ea"/>
                                    <a:cs typeface="+mn-cs"/>
                                  </a:rPr>
                                  <m:t>)</m:t>
                                </m:r>
                              </m:oMath>
                            </m:oMathPara>
                          </a14:m>
                          <a:endParaRPr lang="en-US" sz="3200" b="0" i="1" kern="1200" dirty="0">
                            <a:solidFill>
                              <a:schemeClr val="dk1"/>
                            </a:solidFill>
                            <a:latin typeface="Cambria Math" panose="02040503050406030204" pitchFamily="18" charset="0"/>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m:t>
                                </m:r>
                                <m:r>
                                  <a:rPr lang="en-US" sz="3200" b="0" i="1" kern="1200" smtClean="0">
                                    <a:solidFill>
                                      <a:schemeClr val="dk1"/>
                                    </a:solidFill>
                                    <a:latin typeface="Cambria Math" panose="02040503050406030204" pitchFamily="18" charset="0"/>
                                    <a:ea typeface="+mn-ea"/>
                                    <a:cs typeface="+mn-cs"/>
                                  </a:rPr>
                                  <m:t>𝑛</m:t>
                                </m:r>
                                <m:r>
                                  <a:rPr lang="en-US" sz="3200" b="0" i="1" kern="1200" smtClean="0">
                                    <a:solidFill>
                                      <a:schemeClr val="dk1"/>
                                    </a:solidFill>
                                    <a:latin typeface="Cambria Math" panose="02040503050406030204" pitchFamily="18" charset="0"/>
                                    <a:ea typeface="+mn-ea"/>
                                    <a:cs typeface="+mn-cs"/>
                                  </a:rPr>
                                  <m:t>)</m:t>
                                </m:r>
                              </m:oMath>
                            </m:oMathPara>
                          </a14:m>
                          <a:endParaRPr lang="en-US" sz="3200" b="0" i="1" kern="1200" dirty="0">
                            <a:solidFill>
                              <a:schemeClr val="dk1"/>
                            </a:solidFill>
                            <a:latin typeface="Cambria Math" panose="02040503050406030204" pitchFamily="18" charset="0"/>
                            <a:ea typeface="+mn-ea"/>
                            <a:cs typeface="+mn-cs"/>
                          </a:endParaRPr>
                        </a:p>
                      </a:txBody>
                      <a:tcPr anchor="ctr"/>
                    </a:tc>
                    <a:extLst>
                      <a:ext uri="{0D108BD9-81ED-4DB2-BD59-A6C34878D82A}">
                        <a16:rowId xmlns:a16="http://schemas.microsoft.com/office/drawing/2014/main" val="10002"/>
                      </a:ext>
                    </a:extLst>
                  </a:tr>
                  <a:tr h="13982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Abadi" panose="020B0604020104020204" pitchFamily="34" charset="0"/>
                            </a:rPr>
                            <a:t>Binary Tree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(1)</m:t>
                                </m:r>
                              </m:oMath>
                            </m:oMathPara>
                          </a14:m>
                          <a:endParaRPr lang="en-US" sz="3200" b="0" i="1" kern="1200" dirty="0">
                            <a:solidFill>
                              <a:schemeClr val="dk1"/>
                            </a:solidFill>
                            <a:latin typeface="Cambria Math" panose="02040503050406030204" pitchFamily="18" charset="0"/>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m:t>
                                </m:r>
                                <m:r>
                                  <a:rPr lang="en-US" sz="3200" b="0" i="1" kern="1200" smtClean="0">
                                    <a:solidFill>
                                      <a:schemeClr val="dk1"/>
                                    </a:solidFill>
                                    <a:latin typeface="Cambria Math" panose="02040503050406030204" pitchFamily="18" charset="0"/>
                                    <a:ea typeface="+mn-ea"/>
                                    <a:cs typeface="+mn-cs"/>
                                  </a:rPr>
                                  <m:t>𝑛</m:t>
                                </m:r>
                                <m:r>
                                  <a:rPr lang="en-US" sz="3200" b="0" i="1" kern="1200" smtClean="0">
                                    <a:solidFill>
                                      <a:schemeClr val="dk1"/>
                                    </a:solidFill>
                                    <a:latin typeface="Cambria Math" panose="02040503050406030204" pitchFamily="18" charset="0"/>
                                    <a:ea typeface="+mn-ea"/>
                                    <a:cs typeface="+mn-cs"/>
                                  </a:rPr>
                                  <m:t>)</m:t>
                                </m:r>
                              </m:oMath>
                            </m:oMathPara>
                          </a14:m>
                          <a:endParaRPr lang="en-US" sz="3200" b="0" i="1" kern="1200" dirty="0">
                            <a:solidFill>
                              <a:schemeClr val="dk1"/>
                            </a:solidFill>
                            <a:latin typeface="Cambria Math" panose="02040503050406030204" pitchFamily="18" charset="0"/>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m:t>
                                </m:r>
                                <m:r>
                                  <a:rPr lang="en-US" sz="3200" b="0" i="1" kern="1200" smtClean="0">
                                    <a:solidFill>
                                      <a:schemeClr val="dk1"/>
                                    </a:solidFill>
                                    <a:latin typeface="Cambria Math" panose="02040503050406030204" pitchFamily="18" charset="0"/>
                                    <a:ea typeface="+mn-ea"/>
                                    <a:cs typeface="+mn-cs"/>
                                  </a:rPr>
                                  <m:t>𝑛</m:t>
                                </m:r>
                                <m:r>
                                  <a:rPr lang="en-US" sz="3200" b="0" i="1" kern="1200" smtClean="0">
                                    <a:solidFill>
                                      <a:schemeClr val="dk1"/>
                                    </a:solidFill>
                                    <a:latin typeface="Cambria Math" panose="02040503050406030204" pitchFamily="18" charset="0"/>
                                    <a:ea typeface="+mn-ea"/>
                                    <a:cs typeface="+mn-cs"/>
                                  </a:rPr>
                                  <m:t>)</m:t>
                                </m:r>
                              </m:oMath>
                            </m:oMathPara>
                          </a14:m>
                          <a:endParaRPr lang="en-US" sz="3200" b="0" i="1" kern="1200" dirty="0">
                            <a:solidFill>
                              <a:schemeClr val="dk1"/>
                            </a:solidFill>
                            <a:latin typeface="Cambria Math" panose="02040503050406030204" pitchFamily="18" charset="0"/>
                            <a:ea typeface="+mn-ea"/>
                            <a:cs typeface="+mn-cs"/>
                          </a:endParaRPr>
                        </a:p>
                      </a:txBody>
                      <a:tcPr anchor="ctr"/>
                    </a:tc>
                    <a:extLst>
                      <a:ext uri="{0D108BD9-81ED-4DB2-BD59-A6C34878D82A}">
                        <a16:rowId xmlns:a16="http://schemas.microsoft.com/office/drawing/2014/main" val="2435764593"/>
                      </a:ext>
                    </a:extLst>
                  </a:tr>
                  <a:tr h="13982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Abadi" panose="020B0604020104020204" pitchFamily="34" charset="0"/>
                            </a:rPr>
                            <a:t>BST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m:t>
                                </m:r>
                                <m:func>
                                  <m:funcPr>
                                    <m:ctrlPr>
                                      <a:rPr lang="en-US" sz="3200" b="0" i="1" kern="1200" smtClean="0">
                                        <a:solidFill>
                                          <a:schemeClr val="dk1"/>
                                        </a:solidFill>
                                        <a:latin typeface="Cambria Math" panose="02040503050406030204" pitchFamily="18" charset="0"/>
                                        <a:ea typeface="+mn-ea"/>
                                        <a:cs typeface="+mn-cs"/>
                                      </a:rPr>
                                    </m:ctrlPr>
                                  </m:funcPr>
                                  <m:fName>
                                    <m:r>
                                      <m:rPr>
                                        <m:sty m:val="p"/>
                                      </m:rPr>
                                      <a:rPr lang="en-US" sz="3200" b="0" i="1" kern="1200" smtClean="0">
                                        <a:solidFill>
                                          <a:schemeClr val="dk1"/>
                                        </a:solidFill>
                                        <a:latin typeface="Cambria Math" panose="02040503050406030204" pitchFamily="18" charset="0"/>
                                        <a:ea typeface="+mn-ea"/>
                                        <a:cs typeface="+mn-cs"/>
                                      </a:rPr>
                                      <m:t>log</m:t>
                                    </m:r>
                                  </m:fName>
                                  <m:e>
                                    <m:r>
                                      <a:rPr lang="en-US" sz="3200" b="0" i="1" kern="1200" smtClean="0">
                                        <a:solidFill>
                                          <a:schemeClr val="dk1"/>
                                        </a:solidFill>
                                        <a:latin typeface="Cambria Math" panose="02040503050406030204" pitchFamily="18" charset="0"/>
                                        <a:ea typeface="+mn-ea"/>
                                        <a:cs typeface="+mn-cs"/>
                                      </a:rPr>
                                      <m:t>𝑛</m:t>
                                    </m:r>
                                  </m:e>
                                </m:func>
                                <m:r>
                                  <a:rPr lang="en-US" sz="3200" b="0" i="1" kern="1200" smtClean="0">
                                    <a:solidFill>
                                      <a:schemeClr val="dk1"/>
                                    </a:solidFill>
                                    <a:latin typeface="Cambria Math" panose="02040503050406030204" pitchFamily="18" charset="0"/>
                                    <a:ea typeface="+mn-ea"/>
                                    <a:cs typeface="+mn-cs"/>
                                  </a:rPr>
                                  <m:t>)</m:t>
                                </m:r>
                              </m:oMath>
                            </m:oMathPara>
                          </a14:m>
                          <a:endParaRPr lang="en-US" sz="3200" b="0" i="1" kern="1200" dirty="0">
                            <a:solidFill>
                              <a:schemeClr val="dk1"/>
                            </a:solidFill>
                            <a:latin typeface="Cambria Math" panose="02040503050406030204" pitchFamily="18" charset="0"/>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m:t>
                                </m:r>
                                <m:func>
                                  <m:funcPr>
                                    <m:ctrlPr>
                                      <a:rPr lang="en-US" sz="3200" b="0" i="1" kern="1200" smtClean="0">
                                        <a:solidFill>
                                          <a:schemeClr val="dk1"/>
                                        </a:solidFill>
                                        <a:latin typeface="Cambria Math" panose="02040503050406030204" pitchFamily="18" charset="0"/>
                                        <a:ea typeface="+mn-ea"/>
                                        <a:cs typeface="+mn-cs"/>
                                      </a:rPr>
                                    </m:ctrlPr>
                                  </m:funcPr>
                                  <m:fName>
                                    <m:r>
                                      <m:rPr>
                                        <m:sty m:val="p"/>
                                      </m:rPr>
                                      <a:rPr lang="en-US" sz="3200" b="0" i="1" kern="1200" smtClean="0">
                                        <a:solidFill>
                                          <a:schemeClr val="dk1"/>
                                        </a:solidFill>
                                        <a:latin typeface="Cambria Math" panose="02040503050406030204" pitchFamily="18" charset="0"/>
                                        <a:ea typeface="+mn-ea"/>
                                        <a:cs typeface="+mn-cs"/>
                                      </a:rPr>
                                      <m:t>log</m:t>
                                    </m:r>
                                  </m:fName>
                                  <m:e>
                                    <m:r>
                                      <a:rPr lang="en-US" sz="3200" b="0" i="1" kern="1200" smtClean="0">
                                        <a:solidFill>
                                          <a:schemeClr val="dk1"/>
                                        </a:solidFill>
                                        <a:latin typeface="Cambria Math" panose="02040503050406030204" pitchFamily="18" charset="0"/>
                                        <a:ea typeface="+mn-ea"/>
                                        <a:cs typeface="+mn-cs"/>
                                      </a:rPr>
                                      <m:t>𝑛</m:t>
                                    </m:r>
                                  </m:e>
                                </m:func>
                                <m:r>
                                  <a:rPr lang="en-US" sz="3200" b="0" i="1" kern="1200" smtClean="0">
                                    <a:solidFill>
                                      <a:schemeClr val="dk1"/>
                                    </a:solidFill>
                                    <a:latin typeface="Cambria Math" panose="02040503050406030204" pitchFamily="18" charset="0"/>
                                    <a:ea typeface="+mn-ea"/>
                                    <a:cs typeface="+mn-cs"/>
                                  </a:rPr>
                                  <m:t>)</m:t>
                                </m:r>
                              </m:oMath>
                            </m:oMathPara>
                          </a14:m>
                          <a:endParaRPr lang="en-US" sz="3200" b="0" i="1" kern="1200" dirty="0">
                            <a:solidFill>
                              <a:schemeClr val="dk1"/>
                            </a:solidFill>
                            <a:latin typeface="Cambria Math" panose="02040503050406030204" pitchFamily="18" charset="0"/>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3200" b="0" i="1" kern="1200" smtClean="0">
                                    <a:solidFill>
                                      <a:schemeClr val="dk1"/>
                                    </a:solidFill>
                                    <a:latin typeface="Cambria Math" panose="02040503050406030204" pitchFamily="18" charset="0"/>
                                    <a:ea typeface="+mn-ea"/>
                                    <a:cs typeface="+mn-cs"/>
                                  </a:rPr>
                                  <m:t>𝑂</m:t>
                                </m:r>
                                <m:r>
                                  <a:rPr lang="en-US" sz="3200" b="0" i="1" kern="1200" smtClean="0">
                                    <a:solidFill>
                                      <a:schemeClr val="dk1"/>
                                    </a:solidFill>
                                    <a:latin typeface="Cambria Math" panose="02040503050406030204" pitchFamily="18" charset="0"/>
                                    <a:ea typeface="+mn-ea"/>
                                    <a:cs typeface="+mn-cs"/>
                                  </a:rPr>
                                  <m:t>(</m:t>
                                </m:r>
                                <m:func>
                                  <m:funcPr>
                                    <m:ctrlPr>
                                      <a:rPr lang="en-US" sz="3200" b="0" i="1" kern="1200" smtClean="0">
                                        <a:solidFill>
                                          <a:schemeClr val="dk1"/>
                                        </a:solidFill>
                                        <a:latin typeface="Cambria Math" panose="02040503050406030204" pitchFamily="18" charset="0"/>
                                        <a:ea typeface="+mn-ea"/>
                                        <a:cs typeface="+mn-cs"/>
                                      </a:rPr>
                                    </m:ctrlPr>
                                  </m:funcPr>
                                  <m:fName>
                                    <m:r>
                                      <m:rPr>
                                        <m:sty m:val="p"/>
                                      </m:rPr>
                                      <a:rPr lang="en-US" sz="3200" b="0" i="1" kern="1200" smtClean="0">
                                        <a:solidFill>
                                          <a:schemeClr val="dk1"/>
                                        </a:solidFill>
                                        <a:latin typeface="Cambria Math" panose="02040503050406030204" pitchFamily="18" charset="0"/>
                                        <a:ea typeface="+mn-ea"/>
                                        <a:cs typeface="+mn-cs"/>
                                      </a:rPr>
                                      <m:t>log</m:t>
                                    </m:r>
                                  </m:fName>
                                  <m:e>
                                    <m:r>
                                      <a:rPr lang="en-US" sz="3200" b="0" i="1" kern="1200" smtClean="0">
                                        <a:solidFill>
                                          <a:schemeClr val="dk1"/>
                                        </a:solidFill>
                                        <a:latin typeface="Cambria Math" panose="02040503050406030204" pitchFamily="18" charset="0"/>
                                        <a:ea typeface="+mn-ea"/>
                                        <a:cs typeface="+mn-cs"/>
                                      </a:rPr>
                                      <m:t>𝑛</m:t>
                                    </m:r>
                                  </m:e>
                                </m:func>
                                <m:r>
                                  <a:rPr lang="en-US" sz="3200" b="0" i="1" kern="1200" smtClean="0">
                                    <a:solidFill>
                                      <a:schemeClr val="dk1"/>
                                    </a:solidFill>
                                    <a:latin typeface="Cambria Math" panose="02040503050406030204" pitchFamily="18" charset="0"/>
                                    <a:ea typeface="+mn-ea"/>
                                    <a:cs typeface="+mn-cs"/>
                                  </a:rPr>
                                  <m:t>)</m:t>
                                </m:r>
                              </m:oMath>
                            </m:oMathPara>
                          </a14:m>
                          <a:endParaRPr lang="en-US" sz="3200" b="0" i="1" kern="1200" dirty="0">
                            <a:solidFill>
                              <a:schemeClr val="dk1"/>
                            </a:solidFill>
                            <a:latin typeface="Cambria Math" panose="02040503050406030204" pitchFamily="18" charset="0"/>
                            <a:ea typeface="+mn-ea"/>
                            <a:cs typeface="+mn-cs"/>
                          </a:endParaRPr>
                        </a:p>
                      </a:txBody>
                      <a:tcPr anchor="ctr"/>
                    </a:tc>
                    <a:extLst>
                      <a:ext uri="{0D108BD9-81ED-4DB2-BD59-A6C34878D82A}">
                        <a16:rowId xmlns:a16="http://schemas.microsoft.com/office/drawing/2014/main" val="1607392861"/>
                      </a:ext>
                    </a:extLst>
                  </a:tr>
                </a:tbl>
              </a:graphicData>
            </a:graphic>
          </p:graphicFrame>
        </mc:Choice>
        <mc:Fallback xmlns="">
          <p:graphicFrame>
            <p:nvGraphicFramePr>
              <p:cNvPr id="5" name="Content Placeholder 4"/>
              <p:cNvGraphicFramePr>
                <a:graphicFrameLocks noGrp="1"/>
              </p:cNvGraphicFramePr>
              <p:nvPr>
                <p:ph sz="quarter" idx="1"/>
                <p:extLst>
                  <p:ext uri="{D42A27DB-BD31-4B8C-83A1-F6EECF244321}">
                    <p14:modId xmlns:p14="http://schemas.microsoft.com/office/powerpoint/2010/main" val="4278070130"/>
                  </p:ext>
                </p:extLst>
              </p:nvPr>
            </p:nvGraphicFramePr>
            <p:xfrm>
              <a:off x="0" y="-7144"/>
              <a:ext cx="9144001" cy="6865143"/>
            </p:xfrm>
            <a:graphic>
              <a:graphicData uri="http://schemas.openxmlformats.org/drawingml/2006/table">
                <a:tbl>
                  <a:tblPr firstRow="1" bandRow="1">
                    <a:tableStyleId>{5C22544A-7EE6-4342-B048-85BDC9FD1C3A}</a:tableStyleId>
                  </a:tblPr>
                  <a:tblGrid>
                    <a:gridCol w="2953435">
                      <a:extLst>
                        <a:ext uri="{9D8B030D-6E8A-4147-A177-3AD203B41FA5}">
                          <a16:colId xmlns:a16="http://schemas.microsoft.com/office/drawing/2014/main" val="20000"/>
                        </a:ext>
                      </a:extLst>
                    </a:gridCol>
                    <a:gridCol w="1968092">
                      <a:extLst>
                        <a:ext uri="{9D8B030D-6E8A-4147-A177-3AD203B41FA5}">
                          <a16:colId xmlns:a16="http://schemas.microsoft.com/office/drawing/2014/main" val="20001"/>
                        </a:ext>
                      </a:extLst>
                    </a:gridCol>
                    <a:gridCol w="2111237">
                      <a:extLst>
                        <a:ext uri="{9D8B030D-6E8A-4147-A177-3AD203B41FA5}">
                          <a16:colId xmlns:a16="http://schemas.microsoft.com/office/drawing/2014/main" val="20002"/>
                        </a:ext>
                      </a:extLst>
                    </a:gridCol>
                    <a:gridCol w="2111237">
                      <a:extLst>
                        <a:ext uri="{9D8B030D-6E8A-4147-A177-3AD203B41FA5}">
                          <a16:colId xmlns:a16="http://schemas.microsoft.com/office/drawing/2014/main" val="1749272156"/>
                        </a:ext>
                      </a:extLst>
                    </a:gridCol>
                  </a:tblGrid>
                  <a:tr h="946555">
                    <a:tc>
                      <a:txBody>
                        <a:bodyPr/>
                        <a:lstStyle/>
                        <a:p>
                          <a:pPr algn="ctr"/>
                          <a:r>
                            <a:rPr lang="en-US" sz="2400" b="0" dirty="0">
                              <a:latin typeface="Abadi" panose="020B0604020104020204" pitchFamily="34" charset="0"/>
                            </a:rPr>
                            <a:t>Data Structure</a:t>
                          </a:r>
                        </a:p>
                      </a:txBody>
                      <a:tcPr anchor="ctr"/>
                    </a:tc>
                    <a:tc>
                      <a:txBody>
                        <a:bodyPr/>
                        <a:lstStyle/>
                        <a:p>
                          <a:pPr algn="ctr"/>
                          <a:r>
                            <a:rPr lang="en-US" sz="2400" b="0" dirty="0">
                              <a:latin typeface="Abadi" panose="020B0604020104020204" pitchFamily="34" charset="0"/>
                            </a:rPr>
                            <a:t>add(</a:t>
                          </a:r>
                          <a:r>
                            <a:rPr lang="en-US" sz="2400" b="0" dirty="0" err="1">
                              <a:latin typeface="Abadi" panose="020B0604020104020204" pitchFamily="34" charset="0"/>
                            </a:rPr>
                            <a:t>val</a:t>
                          </a:r>
                          <a:r>
                            <a:rPr lang="en-US" sz="2400" b="0" dirty="0">
                              <a:latin typeface="Abadi" panose="020B0604020104020204" pitchFamily="34" charset="0"/>
                            </a:rPr>
                            <a:t> x)</a:t>
                          </a:r>
                        </a:p>
                      </a:txBody>
                      <a:tcPr anchor="ctr"/>
                    </a:tc>
                    <a:tc>
                      <a:txBody>
                        <a:bodyPr/>
                        <a:lstStyle/>
                        <a:p>
                          <a:pPr algn="ctr"/>
                          <a:r>
                            <a:rPr lang="en-US" sz="2400" b="0" dirty="0">
                              <a:latin typeface="Abadi" panose="020B0604020104020204" pitchFamily="34" charset="0"/>
                            </a:rPr>
                            <a:t>lookup(int 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dirty="0">
                              <a:latin typeface="Abadi" panose="020B0604020104020204" pitchFamily="34" charset="0"/>
                            </a:rPr>
                            <a:t>search(</a:t>
                          </a:r>
                          <a:r>
                            <a:rPr lang="en-US" sz="2400" b="0" dirty="0" err="1">
                              <a:latin typeface="Abadi" panose="020B0604020104020204" pitchFamily="34" charset="0"/>
                            </a:rPr>
                            <a:t>val</a:t>
                          </a:r>
                          <a:r>
                            <a:rPr lang="en-US" sz="2400" b="0" dirty="0">
                              <a:latin typeface="Abadi" panose="020B0604020104020204" pitchFamily="34" charset="0"/>
                            </a:rPr>
                            <a:t> x)</a:t>
                          </a:r>
                        </a:p>
                      </a:txBody>
                      <a:tcPr anchor="ctr"/>
                    </a:tc>
                    <a:extLst>
                      <a:ext uri="{0D108BD9-81ED-4DB2-BD59-A6C34878D82A}">
                        <a16:rowId xmlns:a16="http://schemas.microsoft.com/office/drawing/2014/main" val="10000"/>
                      </a:ext>
                    </a:extLst>
                  </a:tr>
                  <a:tr h="1723880">
                    <a:tc>
                      <a:txBody>
                        <a:bodyPr/>
                        <a:lstStyle/>
                        <a:p>
                          <a:r>
                            <a:rPr lang="en-US" sz="2400" b="1" dirty="0">
                              <a:latin typeface="Abadi" panose="020B0604020104020204" pitchFamily="34" charset="0"/>
                            </a:rPr>
                            <a:t>Array</a:t>
                          </a:r>
                        </a:p>
                      </a:txBody>
                      <a:tcPr/>
                    </a:tc>
                    <a:tc>
                      <a:txBody>
                        <a:bodyPr/>
                        <a:lstStyle/>
                        <a:p>
                          <a:endParaRPr lang="en-US"/>
                        </a:p>
                      </a:txBody>
                      <a:tcPr anchor="ctr">
                        <a:blipFill>
                          <a:blip r:embed="rId3"/>
                          <a:stretch>
                            <a:fillRect l="-150774" t="-55124" r="-215789" b="-244523"/>
                          </a:stretch>
                        </a:blipFill>
                      </a:tcPr>
                    </a:tc>
                    <a:tc>
                      <a:txBody>
                        <a:bodyPr/>
                        <a:lstStyle/>
                        <a:p>
                          <a:endParaRPr lang="en-US"/>
                        </a:p>
                      </a:txBody>
                      <a:tcPr anchor="ctr">
                        <a:blipFill>
                          <a:blip r:embed="rId3"/>
                          <a:stretch>
                            <a:fillRect l="-234104" t="-55124" r="-101445" b="-244523"/>
                          </a:stretch>
                        </a:blipFill>
                      </a:tcPr>
                    </a:tc>
                    <a:tc>
                      <a:txBody>
                        <a:bodyPr/>
                        <a:lstStyle/>
                        <a:p>
                          <a:endParaRPr lang="en-US"/>
                        </a:p>
                      </a:txBody>
                      <a:tcPr anchor="ctr">
                        <a:blipFill>
                          <a:blip r:embed="rId3"/>
                          <a:stretch>
                            <a:fillRect l="-333141" t="-55124" r="-1153" b="-244523"/>
                          </a:stretch>
                        </a:blipFill>
                      </a:tcPr>
                    </a:tc>
                    <a:extLst>
                      <a:ext uri="{0D108BD9-81ED-4DB2-BD59-A6C34878D82A}">
                        <a16:rowId xmlns:a16="http://schemas.microsoft.com/office/drawing/2014/main" val="10001"/>
                      </a:ext>
                    </a:extLst>
                  </a:tr>
                  <a:tr h="1398236">
                    <a:tc>
                      <a:txBody>
                        <a:bodyPr/>
                        <a:lstStyle/>
                        <a:p>
                          <a:r>
                            <a:rPr lang="en-US" sz="2400" b="1" dirty="0">
                              <a:latin typeface="Abadi" panose="020B0604020104020204" pitchFamily="34" charset="0"/>
                            </a:rPr>
                            <a:t>Linked List</a:t>
                          </a:r>
                        </a:p>
                      </a:txBody>
                      <a:tcPr/>
                    </a:tc>
                    <a:tc>
                      <a:txBody>
                        <a:bodyPr/>
                        <a:lstStyle/>
                        <a:p>
                          <a:endParaRPr lang="en-US"/>
                        </a:p>
                      </a:txBody>
                      <a:tcPr anchor="ctr">
                        <a:blipFill>
                          <a:blip r:embed="rId3"/>
                          <a:stretch>
                            <a:fillRect l="-150774" t="-190870" r="-215789" b="-200870"/>
                          </a:stretch>
                        </a:blipFill>
                      </a:tcPr>
                    </a:tc>
                    <a:tc>
                      <a:txBody>
                        <a:bodyPr/>
                        <a:lstStyle/>
                        <a:p>
                          <a:endParaRPr lang="en-US"/>
                        </a:p>
                      </a:txBody>
                      <a:tcPr anchor="ctr">
                        <a:blipFill>
                          <a:blip r:embed="rId3"/>
                          <a:stretch>
                            <a:fillRect l="-234104" t="-190870" r="-101445" b="-200870"/>
                          </a:stretch>
                        </a:blipFill>
                      </a:tcPr>
                    </a:tc>
                    <a:tc>
                      <a:txBody>
                        <a:bodyPr/>
                        <a:lstStyle/>
                        <a:p>
                          <a:endParaRPr lang="en-US"/>
                        </a:p>
                      </a:txBody>
                      <a:tcPr anchor="ctr">
                        <a:blipFill>
                          <a:blip r:embed="rId3"/>
                          <a:stretch>
                            <a:fillRect l="-333141" t="-190870" r="-1153" b="-200870"/>
                          </a:stretch>
                        </a:blipFill>
                      </a:tcPr>
                    </a:tc>
                    <a:extLst>
                      <a:ext uri="{0D108BD9-81ED-4DB2-BD59-A6C34878D82A}">
                        <a16:rowId xmlns:a16="http://schemas.microsoft.com/office/drawing/2014/main" val="10002"/>
                      </a:ext>
                    </a:extLst>
                  </a:tr>
                  <a:tr h="13982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Abadi" panose="020B0604020104020204" pitchFamily="34" charset="0"/>
                            </a:rPr>
                            <a:t>Binary Tree</a:t>
                          </a:r>
                        </a:p>
                      </a:txBody>
                      <a:tcPr/>
                    </a:tc>
                    <a:tc>
                      <a:txBody>
                        <a:bodyPr/>
                        <a:lstStyle/>
                        <a:p>
                          <a:endParaRPr lang="en-US"/>
                        </a:p>
                      </a:txBody>
                      <a:tcPr anchor="ctr">
                        <a:blipFill>
                          <a:blip r:embed="rId3"/>
                          <a:stretch>
                            <a:fillRect l="-150774" t="-292140" r="-215789" b="-101747"/>
                          </a:stretch>
                        </a:blipFill>
                      </a:tcPr>
                    </a:tc>
                    <a:tc>
                      <a:txBody>
                        <a:bodyPr/>
                        <a:lstStyle/>
                        <a:p>
                          <a:endParaRPr lang="en-US"/>
                        </a:p>
                      </a:txBody>
                      <a:tcPr anchor="ctr">
                        <a:blipFill>
                          <a:blip r:embed="rId3"/>
                          <a:stretch>
                            <a:fillRect l="-234104" t="-292140" r="-101445" b="-101747"/>
                          </a:stretch>
                        </a:blipFill>
                      </a:tcPr>
                    </a:tc>
                    <a:tc>
                      <a:txBody>
                        <a:bodyPr/>
                        <a:lstStyle/>
                        <a:p>
                          <a:endParaRPr lang="en-US"/>
                        </a:p>
                      </a:txBody>
                      <a:tcPr anchor="ctr">
                        <a:blipFill>
                          <a:blip r:embed="rId3"/>
                          <a:stretch>
                            <a:fillRect l="-333141" t="-292140" r="-1153" b="-101747"/>
                          </a:stretch>
                        </a:blipFill>
                      </a:tcPr>
                    </a:tc>
                    <a:extLst>
                      <a:ext uri="{0D108BD9-81ED-4DB2-BD59-A6C34878D82A}">
                        <a16:rowId xmlns:a16="http://schemas.microsoft.com/office/drawing/2014/main" val="2435764593"/>
                      </a:ext>
                    </a:extLst>
                  </a:tr>
                  <a:tr h="13982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Abadi" panose="020B0604020104020204" pitchFamily="34" charset="0"/>
                            </a:rPr>
                            <a:t>BST</a:t>
                          </a:r>
                        </a:p>
                      </a:txBody>
                      <a:tcPr/>
                    </a:tc>
                    <a:tc>
                      <a:txBody>
                        <a:bodyPr/>
                        <a:lstStyle/>
                        <a:p>
                          <a:endParaRPr lang="en-US"/>
                        </a:p>
                      </a:txBody>
                      <a:tcPr anchor="ctr">
                        <a:blipFill>
                          <a:blip r:embed="rId3"/>
                          <a:stretch>
                            <a:fillRect l="-150774" t="-390435" r="-215789" b="-1304"/>
                          </a:stretch>
                        </a:blipFill>
                      </a:tcPr>
                    </a:tc>
                    <a:tc>
                      <a:txBody>
                        <a:bodyPr/>
                        <a:lstStyle/>
                        <a:p>
                          <a:endParaRPr lang="en-US"/>
                        </a:p>
                      </a:txBody>
                      <a:tcPr anchor="ctr">
                        <a:blipFill>
                          <a:blip r:embed="rId3"/>
                          <a:stretch>
                            <a:fillRect l="-234104" t="-390435" r="-101445" b="-1304"/>
                          </a:stretch>
                        </a:blipFill>
                      </a:tcPr>
                    </a:tc>
                    <a:tc>
                      <a:txBody>
                        <a:bodyPr/>
                        <a:lstStyle/>
                        <a:p>
                          <a:endParaRPr lang="en-US"/>
                        </a:p>
                      </a:txBody>
                      <a:tcPr anchor="ctr">
                        <a:blipFill>
                          <a:blip r:embed="rId3"/>
                          <a:stretch>
                            <a:fillRect l="-333141" t="-390435" r="-1153" b="-1304"/>
                          </a:stretch>
                        </a:blipFill>
                      </a:tcPr>
                    </a:tc>
                    <a:extLst>
                      <a:ext uri="{0D108BD9-81ED-4DB2-BD59-A6C34878D82A}">
                        <a16:rowId xmlns:a16="http://schemas.microsoft.com/office/drawing/2014/main" val="1607392861"/>
                      </a:ext>
                    </a:extLst>
                  </a:tr>
                </a:tbl>
              </a:graphicData>
            </a:graphic>
          </p:graphicFrame>
        </mc:Fallback>
      </mc:AlternateContent>
      <p:grpSp>
        <p:nvGrpSpPr>
          <p:cNvPr id="32" name="Group 31" descr="Array: [2, 1, 3, 0]"/>
          <p:cNvGrpSpPr/>
          <p:nvPr/>
        </p:nvGrpSpPr>
        <p:grpSpPr>
          <a:xfrm>
            <a:off x="609492" y="1668943"/>
            <a:ext cx="1579453" cy="407486"/>
            <a:chOff x="838201" y="4796557"/>
            <a:chExt cx="1092593" cy="281880"/>
          </a:xfrm>
        </p:grpSpPr>
        <p:sp>
          <p:nvSpPr>
            <p:cNvPr id="28" name="Rectangle 27"/>
            <p:cNvSpPr/>
            <p:nvPr/>
          </p:nvSpPr>
          <p:spPr>
            <a:xfrm>
              <a:off x="838201" y="4800600"/>
              <a:ext cx="273148" cy="2778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29" name="Rectangle 28"/>
            <p:cNvSpPr/>
            <p:nvPr/>
          </p:nvSpPr>
          <p:spPr>
            <a:xfrm>
              <a:off x="1111350" y="4800599"/>
              <a:ext cx="273148" cy="2778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30" name="Rectangle 29"/>
            <p:cNvSpPr/>
            <p:nvPr/>
          </p:nvSpPr>
          <p:spPr>
            <a:xfrm>
              <a:off x="1384498" y="4796557"/>
              <a:ext cx="273148" cy="2778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31" name="Rectangle 30"/>
            <p:cNvSpPr/>
            <p:nvPr/>
          </p:nvSpPr>
          <p:spPr>
            <a:xfrm>
              <a:off x="1657646" y="4796557"/>
              <a:ext cx="273148" cy="2778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0</a:t>
              </a:r>
            </a:p>
          </p:txBody>
        </p:sp>
      </p:grpSp>
      <p:grpSp>
        <p:nvGrpSpPr>
          <p:cNvPr id="37" name="Group 36" descr="Linked list:&#10;2 -&gt; 1 -&gt; 3 -&gt; 0"/>
          <p:cNvGrpSpPr/>
          <p:nvPr/>
        </p:nvGrpSpPr>
        <p:grpSpPr>
          <a:xfrm>
            <a:off x="529162" y="3338314"/>
            <a:ext cx="1996627" cy="299251"/>
            <a:chOff x="838201" y="4092663"/>
            <a:chExt cx="1904999" cy="285518"/>
          </a:xfrm>
        </p:grpSpPr>
        <p:grpSp>
          <p:nvGrpSpPr>
            <p:cNvPr id="6" name="Group 46"/>
            <p:cNvGrpSpPr>
              <a:grpSpLocks/>
            </p:cNvGrpSpPr>
            <p:nvPr/>
          </p:nvGrpSpPr>
          <p:grpSpPr bwMode="auto">
            <a:xfrm>
              <a:off x="838201" y="4092663"/>
              <a:ext cx="1904999" cy="285518"/>
              <a:chOff x="1600200" y="1447795"/>
              <a:chExt cx="4325051" cy="645093"/>
            </a:xfrm>
          </p:grpSpPr>
          <p:grpSp>
            <p:nvGrpSpPr>
              <p:cNvPr id="7" name="Group 13"/>
              <p:cNvGrpSpPr>
                <a:grpSpLocks/>
              </p:cNvGrpSpPr>
              <p:nvPr/>
            </p:nvGrpSpPr>
            <p:grpSpPr bwMode="auto">
              <a:xfrm>
                <a:off x="1600200" y="1447795"/>
                <a:ext cx="632604" cy="609605"/>
                <a:chOff x="1600200" y="1752595"/>
                <a:chExt cx="632604" cy="609605"/>
              </a:xfrm>
            </p:grpSpPr>
            <p:sp>
              <p:nvSpPr>
                <p:cNvPr id="26" name="Oval 54"/>
                <p:cNvSpPr>
                  <a:spLocks/>
                </p:cNvSpPr>
                <p:nvPr/>
              </p:nvSpPr>
              <p:spPr bwMode="auto">
                <a:xfrm>
                  <a:off x="1600200" y="1752600"/>
                  <a:ext cx="632604" cy="609600"/>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sp>
              <p:nvSpPr>
                <p:cNvPr id="27" name="Rectangle 59"/>
                <p:cNvSpPr>
                  <a:spLocks/>
                </p:cNvSpPr>
                <p:nvPr/>
              </p:nvSpPr>
              <p:spPr bwMode="auto">
                <a:xfrm>
                  <a:off x="1687936" y="1752595"/>
                  <a:ext cx="209673" cy="276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dirty="0">
                      <a:solidFill>
                        <a:schemeClr val="tx1"/>
                      </a:solidFill>
                      <a:latin typeface="Arial" charset="0"/>
                      <a:sym typeface="Arial" charset="0"/>
                    </a:rPr>
                    <a:t>2</a:t>
                  </a:r>
                </a:p>
              </p:txBody>
            </p:sp>
          </p:grpSp>
          <p:grpSp>
            <p:nvGrpSpPr>
              <p:cNvPr id="8" name="Group 20"/>
              <p:cNvGrpSpPr>
                <a:grpSpLocks/>
              </p:cNvGrpSpPr>
              <p:nvPr/>
            </p:nvGrpSpPr>
            <p:grpSpPr bwMode="auto">
              <a:xfrm>
                <a:off x="2837203" y="1447795"/>
                <a:ext cx="632604" cy="645093"/>
                <a:chOff x="1313203" y="1752595"/>
                <a:chExt cx="632604" cy="645093"/>
              </a:xfrm>
            </p:grpSpPr>
            <p:sp>
              <p:nvSpPr>
                <p:cNvPr id="24" name="Oval 54"/>
                <p:cNvSpPr>
                  <a:spLocks/>
                </p:cNvSpPr>
                <p:nvPr/>
              </p:nvSpPr>
              <p:spPr bwMode="auto">
                <a:xfrm>
                  <a:off x="1313203" y="1788088"/>
                  <a:ext cx="632604" cy="609600"/>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sp>
              <p:nvSpPr>
                <p:cNvPr id="25" name="Rectangle 59"/>
                <p:cNvSpPr>
                  <a:spLocks/>
                </p:cNvSpPr>
                <p:nvPr/>
              </p:nvSpPr>
              <p:spPr bwMode="auto">
                <a:xfrm>
                  <a:off x="1423545" y="1752595"/>
                  <a:ext cx="209673" cy="277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dirty="0">
                      <a:solidFill>
                        <a:schemeClr val="tx1"/>
                      </a:solidFill>
                      <a:latin typeface="Arial" charset="0"/>
                      <a:sym typeface="Arial" charset="0"/>
                    </a:rPr>
                    <a:t>1</a:t>
                  </a:r>
                </a:p>
              </p:txBody>
            </p:sp>
          </p:grpSp>
          <p:grpSp>
            <p:nvGrpSpPr>
              <p:cNvPr id="9" name="Group 23"/>
              <p:cNvGrpSpPr>
                <a:grpSpLocks/>
              </p:cNvGrpSpPr>
              <p:nvPr/>
            </p:nvGrpSpPr>
            <p:grpSpPr bwMode="auto">
              <a:xfrm>
                <a:off x="4081632" y="1447795"/>
                <a:ext cx="632604" cy="625845"/>
                <a:chOff x="1033632" y="1752595"/>
                <a:chExt cx="632604" cy="625845"/>
              </a:xfrm>
            </p:grpSpPr>
            <p:sp>
              <p:nvSpPr>
                <p:cNvPr id="22" name="Oval 54"/>
                <p:cNvSpPr>
                  <a:spLocks/>
                </p:cNvSpPr>
                <p:nvPr/>
              </p:nvSpPr>
              <p:spPr bwMode="auto">
                <a:xfrm>
                  <a:off x="1033632" y="1752600"/>
                  <a:ext cx="632604" cy="609600"/>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sp>
              <p:nvSpPr>
                <p:cNvPr id="23" name="Rectangle 59"/>
                <p:cNvSpPr>
                  <a:spLocks/>
                </p:cNvSpPr>
                <p:nvPr/>
              </p:nvSpPr>
              <p:spPr bwMode="auto">
                <a:xfrm>
                  <a:off x="1147230" y="1752595"/>
                  <a:ext cx="476033" cy="6258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dirty="0">
                      <a:solidFill>
                        <a:schemeClr val="tx1"/>
                      </a:solidFill>
                      <a:latin typeface="Arial" charset="0"/>
                      <a:sym typeface="Arial" charset="0"/>
                    </a:rPr>
                    <a:t>3</a:t>
                  </a:r>
                </a:p>
              </p:txBody>
            </p:sp>
          </p:grpSp>
          <p:grpSp>
            <p:nvGrpSpPr>
              <p:cNvPr id="10" name="Group 26"/>
              <p:cNvGrpSpPr>
                <a:grpSpLocks/>
              </p:cNvGrpSpPr>
              <p:nvPr/>
            </p:nvGrpSpPr>
            <p:grpSpPr bwMode="auto">
              <a:xfrm>
                <a:off x="5292647" y="1459294"/>
                <a:ext cx="632604" cy="609605"/>
                <a:chOff x="572995" y="1752595"/>
                <a:chExt cx="632604" cy="609605"/>
              </a:xfrm>
            </p:grpSpPr>
            <p:sp>
              <p:nvSpPr>
                <p:cNvPr id="20" name="Oval 54"/>
                <p:cNvSpPr>
                  <a:spLocks/>
                </p:cNvSpPr>
                <p:nvPr/>
              </p:nvSpPr>
              <p:spPr bwMode="auto">
                <a:xfrm>
                  <a:off x="572995" y="1752600"/>
                  <a:ext cx="632604" cy="609600"/>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sp>
              <p:nvSpPr>
                <p:cNvPr id="21" name="Rectangle 59"/>
                <p:cNvSpPr>
                  <a:spLocks/>
                </p:cNvSpPr>
                <p:nvPr/>
              </p:nvSpPr>
              <p:spPr bwMode="auto">
                <a:xfrm>
                  <a:off x="660731" y="1752595"/>
                  <a:ext cx="209673" cy="277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dirty="0">
                      <a:solidFill>
                        <a:schemeClr val="tx1"/>
                      </a:solidFill>
                      <a:latin typeface="Arial" charset="0"/>
                      <a:sym typeface="Arial" charset="0"/>
                    </a:rPr>
                    <a:t>0</a:t>
                  </a:r>
                </a:p>
              </p:txBody>
            </p:sp>
          </p:grpSp>
          <p:cxnSp>
            <p:nvCxnSpPr>
              <p:cNvPr id="11" name="Straight Arrow Connector 10"/>
              <p:cNvCxnSpPr/>
              <p:nvPr/>
            </p:nvCxnSpPr>
            <p:spPr>
              <a:xfrm flipV="1">
                <a:off x="2232809" y="1752598"/>
                <a:ext cx="607689" cy="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4" name="Straight Arrow Connector 33"/>
            <p:cNvCxnSpPr/>
            <p:nvPr/>
          </p:nvCxnSpPr>
          <p:spPr bwMode="auto">
            <a:xfrm flipV="1">
              <a:off x="1663133" y="4229760"/>
              <a:ext cx="267661" cy="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bwMode="auto">
            <a:xfrm flipV="1">
              <a:off x="2204127" y="4236442"/>
              <a:ext cx="267661" cy="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descr="Binary tree with three nodes:&#10;Root: 1&#10;Node 1 has a left child of 2 and right child of 3"/>
          <p:cNvGrpSpPr/>
          <p:nvPr/>
        </p:nvGrpSpPr>
        <p:grpSpPr>
          <a:xfrm>
            <a:off x="1086559" y="4527655"/>
            <a:ext cx="1316518" cy="641033"/>
            <a:chOff x="1743059" y="5381857"/>
            <a:chExt cx="1167194" cy="568325"/>
          </a:xfrm>
        </p:grpSpPr>
        <p:sp>
          <p:nvSpPr>
            <p:cNvPr id="66" name="Oval 4"/>
            <p:cNvSpPr>
              <a:spLocks/>
            </p:cNvSpPr>
            <p:nvPr/>
          </p:nvSpPr>
          <p:spPr bwMode="auto">
            <a:xfrm>
              <a:off x="1743059" y="5645382"/>
              <a:ext cx="309563" cy="304800"/>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sp>
          <p:nvSpPr>
            <p:cNvPr id="67" name="Oval 4"/>
            <p:cNvSpPr>
              <a:spLocks/>
            </p:cNvSpPr>
            <p:nvPr/>
          </p:nvSpPr>
          <p:spPr bwMode="auto">
            <a:xfrm>
              <a:off x="2576878" y="5645322"/>
              <a:ext cx="309563" cy="304800"/>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grpSp>
          <p:nvGrpSpPr>
            <p:cNvPr id="45" name="Group 3"/>
            <p:cNvGrpSpPr>
              <a:grpSpLocks/>
            </p:cNvGrpSpPr>
            <p:nvPr/>
          </p:nvGrpSpPr>
          <p:grpSpPr bwMode="auto">
            <a:xfrm>
              <a:off x="1808528" y="5381857"/>
              <a:ext cx="1101725" cy="561975"/>
              <a:chOff x="80" y="433"/>
              <a:chExt cx="694" cy="354"/>
            </a:xfrm>
          </p:grpSpPr>
          <p:sp>
            <p:nvSpPr>
              <p:cNvPr id="46" name="Oval 4"/>
              <p:cNvSpPr>
                <a:spLocks/>
              </p:cNvSpPr>
              <p:nvPr/>
            </p:nvSpPr>
            <p:spPr bwMode="auto">
              <a:xfrm>
                <a:off x="285" y="433"/>
                <a:ext cx="195" cy="192"/>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sp>
            <p:nvSpPr>
              <p:cNvPr id="49" name="Rectangle 7"/>
              <p:cNvSpPr>
                <a:spLocks/>
              </p:cNvSpPr>
              <p:nvPr/>
            </p:nvSpPr>
            <p:spPr bwMode="auto">
              <a:xfrm>
                <a:off x="324" y="441"/>
                <a:ext cx="132"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dirty="0">
                    <a:solidFill>
                      <a:schemeClr val="tx1"/>
                    </a:solidFill>
                    <a:latin typeface="Arial" charset="0"/>
                    <a:sym typeface="Arial" charset="0"/>
                  </a:rPr>
                  <a:t>1</a:t>
                </a:r>
              </a:p>
            </p:txBody>
          </p:sp>
          <p:sp>
            <p:nvSpPr>
              <p:cNvPr id="50" name="Rectangle 8"/>
              <p:cNvSpPr>
                <a:spLocks/>
              </p:cNvSpPr>
              <p:nvPr/>
            </p:nvSpPr>
            <p:spPr bwMode="auto">
              <a:xfrm>
                <a:off x="80" y="613"/>
                <a:ext cx="132"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dirty="0">
                    <a:solidFill>
                      <a:schemeClr val="tx1"/>
                    </a:solidFill>
                    <a:latin typeface="Arial" charset="0"/>
                    <a:sym typeface="Arial" charset="0"/>
                  </a:rPr>
                  <a:t>2</a:t>
                </a:r>
              </a:p>
            </p:txBody>
          </p:sp>
          <p:sp>
            <p:nvSpPr>
              <p:cNvPr id="51" name="Rectangle 9"/>
              <p:cNvSpPr>
                <a:spLocks/>
              </p:cNvSpPr>
              <p:nvPr/>
            </p:nvSpPr>
            <p:spPr bwMode="auto">
              <a:xfrm>
                <a:off x="598" y="606"/>
                <a:ext cx="176"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a:solidFill>
                      <a:schemeClr val="tx1"/>
                    </a:solidFill>
                    <a:latin typeface="Arial" charset="0"/>
                    <a:sym typeface="Arial" charset="0"/>
                  </a:rPr>
                  <a:t>3</a:t>
                </a:r>
              </a:p>
            </p:txBody>
          </p:sp>
          <p:sp>
            <p:nvSpPr>
              <p:cNvPr id="52" name="Line 10"/>
              <p:cNvSpPr>
                <a:spLocks noChangeShapeType="1"/>
              </p:cNvSpPr>
              <p:nvPr/>
            </p:nvSpPr>
            <p:spPr bwMode="auto">
              <a:xfrm flipH="1">
                <a:off x="218" y="597"/>
                <a:ext cx="100" cy="68"/>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sp>
            <p:nvSpPr>
              <p:cNvPr id="53" name="Line 11"/>
              <p:cNvSpPr>
                <a:spLocks noChangeShapeType="1"/>
              </p:cNvSpPr>
              <p:nvPr/>
            </p:nvSpPr>
            <p:spPr bwMode="auto">
              <a:xfrm>
                <a:off x="456" y="597"/>
                <a:ext cx="117" cy="68"/>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grpSp>
      </p:grpSp>
      <p:grpSp>
        <p:nvGrpSpPr>
          <p:cNvPr id="48" name="Group 47" descr="Binary Search Tree with three nodes:&#10;Root: 2&#10;Node 2 has a left child of 1 and right child of 3"/>
          <p:cNvGrpSpPr/>
          <p:nvPr/>
        </p:nvGrpSpPr>
        <p:grpSpPr>
          <a:xfrm>
            <a:off x="996167" y="5821809"/>
            <a:ext cx="1401883" cy="682599"/>
            <a:chOff x="1743059" y="5381857"/>
            <a:chExt cx="1167194" cy="568325"/>
          </a:xfrm>
        </p:grpSpPr>
        <p:sp>
          <p:nvSpPr>
            <p:cNvPr id="54" name="Oval 4"/>
            <p:cNvSpPr>
              <a:spLocks/>
            </p:cNvSpPr>
            <p:nvPr/>
          </p:nvSpPr>
          <p:spPr bwMode="auto">
            <a:xfrm>
              <a:off x="1743059" y="5645382"/>
              <a:ext cx="309563" cy="304800"/>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sp>
          <p:nvSpPr>
            <p:cNvPr id="55" name="Oval 4"/>
            <p:cNvSpPr>
              <a:spLocks/>
            </p:cNvSpPr>
            <p:nvPr/>
          </p:nvSpPr>
          <p:spPr bwMode="auto">
            <a:xfrm>
              <a:off x="2576878" y="5645322"/>
              <a:ext cx="309563" cy="304800"/>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grpSp>
          <p:nvGrpSpPr>
            <p:cNvPr id="56" name="Group 3"/>
            <p:cNvGrpSpPr>
              <a:grpSpLocks/>
            </p:cNvGrpSpPr>
            <p:nvPr/>
          </p:nvGrpSpPr>
          <p:grpSpPr bwMode="auto">
            <a:xfrm>
              <a:off x="1808528" y="5381857"/>
              <a:ext cx="1101725" cy="561975"/>
              <a:chOff x="80" y="433"/>
              <a:chExt cx="694" cy="354"/>
            </a:xfrm>
          </p:grpSpPr>
          <p:sp>
            <p:nvSpPr>
              <p:cNvPr id="57" name="Oval 4"/>
              <p:cNvSpPr>
                <a:spLocks/>
              </p:cNvSpPr>
              <p:nvPr/>
            </p:nvSpPr>
            <p:spPr bwMode="auto">
              <a:xfrm>
                <a:off x="285" y="433"/>
                <a:ext cx="195" cy="192"/>
              </a:xfrm>
              <a:prstGeom prst="ellipse">
                <a:avLst/>
              </a:prstGeom>
              <a:solidFill>
                <a:schemeClr val="bg1"/>
              </a:solid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a:p>
            </p:txBody>
          </p:sp>
          <p:sp>
            <p:nvSpPr>
              <p:cNvPr id="58" name="Rectangle 7"/>
              <p:cNvSpPr>
                <a:spLocks/>
              </p:cNvSpPr>
              <p:nvPr/>
            </p:nvSpPr>
            <p:spPr bwMode="auto">
              <a:xfrm>
                <a:off x="324" y="441"/>
                <a:ext cx="177" cy="2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dirty="0">
                    <a:solidFill>
                      <a:schemeClr val="tx1"/>
                    </a:solidFill>
                    <a:latin typeface="Arial" charset="0"/>
                    <a:sym typeface="Arial" charset="0"/>
                  </a:rPr>
                  <a:t>2</a:t>
                </a:r>
              </a:p>
            </p:txBody>
          </p:sp>
          <p:sp>
            <p:nvSpPr>
              <p:cNvPr id="59" name="Rectangle 8"/>
              <p:cNvSpPr>
                <a:spLocks/>
              </p:cNvSpPr>
              <p:nvPr/>
            </p:nvSpPr>
            <p:spPr bwMode="auto">
              <a:xfrm>
                <a:off x="80" y="613"/>
                <a:ext cx="132"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dirty="0">
                    <a:solidFill>
                      <a:schemeClr val="tx1"/>
                    </a:solidFill>
                    <a:latin typeface="Arial" charset="0"/>
                    <a:sym typeface="Arial" charset="0"/>
                  </a:rPr>
                  <a:t>1</a:t>
                </a:r>
              </a:p>
            </p:txBody>
          </p:sp>
          <p:sp>
            <p:nvSpPr>
              <p:cNvPr id="60" name="Rectangle 9"/>
              <p:cNvSpPr>
                <a:spLocks/>
              </p:cNvSpPr>
              <p:nvPr/>
            </p:nvSpPr>
            <p:spPr bwMode="auto">
              <a:xfrm>
                <a:off x="598" y="606"/>
                <a:ext cx="176"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sz="1800">
                    <a:solidFill>
                      <a:schemeClr val="tx1"/>
                    </a:solidFill>
                    <a:latin typeface="Arial" charset="0"/>
                    <a:sym typeface="Arial" charset="0"/>
                  </a:rPr>
                  <a:t>3</a:t>
                </a:r>
              </a:p>
            </p:txBody>
          </p:sp>
          <p:sp>
            <p:nvSpPr>
              <p:cNvPr id="61" name="Line 10"/>
              <p:cNvSpPr>
                <a:spLocks noChangeShapeType="1"/>
              </p:cNvSpPr>
              <p:nvPr/>
            </p:nvSpPr>
            <p:spPr bwMode="auto">
              <a:xfrm flipH="1">
                <a:off x="218" y="597"/>
                <a:ext cx="100" cy="68"/>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sp>
            <p:nvSpPr>
              <p:cNvPr id="62" name="Line 11"/>
              <p:cNvSpPr>
                <a:spLocks noChangeShapeType="1"/>
              </p:cNvSpPr>
              <p:nvPr/>
            </p:nvSpPr>
            <p:spPr bwMode="auto">
              <a:xfrm>
                <a:off x="456" y="597"/>
                <a:ext cx="117" cy="68"/>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grpSp>
      </p:grpSp>
    </p:spTree>
    <p:extLst>
      <p:ext uri="{BB962C8B-B14F-4D97-AF65-F5344CB8AC3E}">
        <p14:creationId xmlns:p14="http://schemas.microsoft.com/office/powerpoint/2010/main" val="15514606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351&quot;/&gt;&lt;/object&gt;&lt;object type=&quot;3&quot; unique_id=&quot;10005&quot;&gt;&lt;property id=&quot;20148&quot; value=&quot;5&quot;/&gt;&lt;property id=&quot;20300&quot; value=&quot;Slide 3&quot;/&gt;&lt;property id=&quot;20307&quot; value=&quot;352&quot;/&gt;&lt;/object&gt;&lt;object type=&quot;3&quot; unique_id=&quot;10006&quot;&gt;&lt;property id=&quot;20148&quot; value=&quot;5&quot;/&gt;&lt;property id=&quot;20300&quot; value=&quot;Slide 4&quot;/&gt;&lt;property id=&quot;20307&quot; value=&quot;364&quot;/&gt;&lt;/object&gt;&lt;object type=&quot;3&quot; unique_id=&quot;10007&quot;&gt;&lt;property id=&quot;20148&quot; value=&quot;5&quot;/&gt;&lt;property id=&quot;20300&quot; value=&quot;Slide 5&quot;/&gt;&lt;property id=&quot;20307&quot; value=&quot;337&quot;/&gt;&lt;/object&gt;&lt;object type=&quot;3&quot; unique_id=&quot;10008&quot;&gt;&lt;property id=&quot;20148&quot; value=&quot;5&quot;/&gt;&lt;property id=&quot;20300&quot; value=&quot;Slide 6&quot;/&gt;&lt;property id=&quot;20307&quot; value=&quot;365&quot;/&gt;&lt;/object&gt;&lt;object type=&quot;3&quot; unique_id=&quot;10009&quot;&gt;&lt;property id=&quot;20148&quot; value=&quot;5&quot;/&gt;&lt;property id=&quot;20300&quot; value=&quot;Slide 7&quot;/&gt;&lt;property id=&quot;20307&quot; value=&quot;356&quot;/&gt;&lt;/object&gt;&lt;object type=&quot;3&quot; unique_id=&quot;10010&quot;&gt;&lt;property id=&quot;20148&quot; value=&quot;5&quot;/&gt;&lt;property id=&quot;20300&quot; value=&quot;Slide 8&quot;/&gt;&lt;property id=&quot;20307&quot; value=&quot;355&quot;/&gt;&lt;/object&gt;&lt;object type=&quot;3&quot; unique_id=&quot;10011&quot;&gt;&lt;property id=&quot;20148&quot; value=&quot;5&quot;/&gt;&lt;property id=&quot;20300&quot; value=&quot;Slide 9&quot;/&gt;&lt;property id=&quot;20307&quot; value=&quot;341&quot;/&gt;&lt;/object&gt;&lt;object type=&quot;3&quot; unique_id=&quot;10012&quot;&gt;&lt;property id=&quot;20148&quot; value=&quot;5&quot;/&gt;&lt;property id=&quot;20300&quot; value=&quot;Slide 10&quot;/&gt;&lt;property id=&quot;20307&quot; value=&quot;264&quot;/&gt;&lt;/object&gt;&lt;object type=&quot;3&quot; unique_id=&quot;10013&quot;&gt;&lt;property id=&quot;20148&quot; value=&quot;5&quot;/&gt;&lt;property id=&quot;20300&quot; value=&quot;Slide 11&quot;/&gt;&lt;property id=&quot;20307&quot; value=&quot;357&quot;/&gt;&lt;/object&gt;&lt;object type=&quot;3&quot; unique_id=&quot;10014&quot;&gt;&lt;property id=&quot;20148&quot; value=&quot;5&quot;/&gt;&lt;property id=&quot;20300&quot; value=&quot;Slide 12&quot;/&gt;&lt;property id=&quot;20307&quot; value=&quot;342&quot;/&gt;&lt;/object&gt;&lt;object type=&quot;3&quot; unique_id=&quot;10015&quot;&gt;&lt;property id=&quot;20148&quot; value=&quot;5&quot;/&gt;&lt;property id=&quot;20300&quot; value=&quot;Slide 13&quot;/&gt;&lt;property id=&quot;20307&quot; value=&quot;349&quot;/&gt;&lt;/object&gt;&lt;object type=&quot;3&quot; unique_id=&quot;10016&quot;&gt;&lt;property id=&quot;20148&quot; value=&quot;5&quot;/&gt;&lt;property id=&quot;20300&quot; value=&quot;Slide 14&quot;/&gt;&lt;property id=&quot;20307&quot; value=&quot;343&quot;/&gt;&lt;/object&gt;&lt;object type=&quot;3&quot; unique_id=&quot;10017&quot;&gt;&lt;property id=&quot;20148&quot; value=&quot;5&quot;/&gt;&lt;property id=&quot;20300&quot; value=&quot;Slide 15&quot;/&gt;&lt;property id=&quot;20307&quot; value=&quot;344&quot;/&gt;&lt;/object&gt;&lt;object type=&quot;3&quot; unique_id=&quot;10018&quot;&gt;&lt;property id=&quot;20148&quot; value=&quot;5&quot;/&gt;&lt;property id=&quot;20300&quot; value=&quot;Slide 16&quot;/&gt;&lt;property id=&quot;20307&quot; value=&quot;345&quot;/&gt;&lt;/object&gt;&lt;object type=&quot;3&quot; unique_id=&quot;10019&quot;&gt;&lt;property id=&quot;20148&quot; value=&quot;5&quot;/&gt;&lt;property id=&quot;20300&quot; value=&quot;Slide 17&quot;/&gt;&lt;property id=&quot;20307&quot; value=&quot;348&quot;/&gt;&lt;/object&gt;&lt;object type=&quot;3&quot; unique_id=&quot;10020&quot;&gt;&lt;property id=&quot;20148&quot; value=&quot;5&quot;/&gt;&lt;property id=&quot;20300&quot; value=&quot;Slide 18&quot;/&gt;&lt;property id=&quot;20307&quot; value=&quot;346&quot;/&gt;&lt;/object&gt;&lt;object type=&quot;3&quot; unique_id=&quot;10021&quot;&gt;&lt;property id=&quot;20148&quot; value=&quot;5&quot;/&gt;&lt;property id=&quot;20300&quot; value=&quot;Slide 19&quot;/&gt;&lt;property id=&quot;20307&quot; value=&quot;347&quot;/&gt;&lt;/object&gt;&lt;object type=&quot;3&quot; unique_id=&quot;10022&quot;&gt;&lt;property id=&quot;20148&quot; value=&quot;5&quot;/&gt;&lt;property id=&quot;20300&quot; value=&quot;Slide 20&quot;/&gt;&lt;property id=&quot;20307&quot; value=&quot;333&quot;/&gt;&lt;/object&gt;&lt;object type=&quot;3&quot; unique_id=&quot;10023&quot;&gt;&lt;property id=&quot;20148&quot; value=&quot;5&quot;/&gt;&lt;property id=&quot;20300&quot; value=&quot;Slide 21&quot;/&gt;&lt;property id=&quot;20307&quot; value=&quot;257&quot;/&gt;&lt;/object&gt;&lt;object type=&quot;3&quot; unique_id=&quot;10024&quot;&gt;&lt;property id=&quot;20148&quot; value=&quot;5&quot;/&gt;&lt;property id=&quot;20300&quot; value=&quot;Slide 22&quot;/&gt;&lt;property id=&quot;20307&quot; value=&quot;334&quot;/&gt;&lt;/object&gt;&lt;object type=&quot;3&quot; unique_id=&quot;10025&quot;&gt;&lt;property id=&quot;20148&quot; value=&quot;5&quot;/&gt;&lt;property id=&quot;20300&quot; value=&quot;Slide 23&quot;/&gt;&lt;property id=&quot;20307&quot; value=&quot;358&quot;/&gt;&lt;/object&gt;&lt;object type=&quot;3&quot; unique_id=&quot;10026&quot;&gt;&lt;property id=&quot;20148&quot; value=&quot;5&quot;/&gt;&lt;property id=&quot;20300&quot; value=&quot;Slide 24&quot;/&gt;&lt;property id=&quot;20307&quot; value=&quot;359&quot;/&gt;&lt;/object&gt;&lt;object type=&quot;3&quot; unique_id=&quot;10027&quot;&gt;&lt;property id=&quot;20148&quot; value=&quot;5&quot;/&gt;&lt;property id=&quot;20300&quot; value=&quot;Slide 25&quot;/&gt;&lt;property id=&quot;20307&quot; value=&quot;360&quot;/&gt;&lt;/object&gt;&lt;object type=&quot;3&quot; unique_id=&quot;10028&quot;&gt;&lt;property id=&quot;20148&quot; value=&quot;5&quot;/&gt;&lt;property id=&quot;20300&quot; value=&quot;Slide 26&quot;/&gt;&lt;property id=&quot;20307&quot; value=&quot;322&quot;/&gt;&lt;/object&gt;&lt;object type=&quot;3&quot; unique_id=&quot;10029&quot;&gt;&lt;property id=&quot;20148&quot; value=&quot;5&quot;/&gt;&lt;property id=&quot;20300&quot; value=&quot;Slide 27&quot;/&gt;&lt;property id=&quot;20307&quot; value=&quot;323&quot;/&gt;&lt;/object&gt;&lt;object type=&quot;3&quot; unique_id=&quot;10030&quot;&gt;&lt;property id=&quot;20148&quot; value=&quot;5&quot;/&gt;&lt;property id=&quot;20300&quot; value=&quot;Slide 28&quot;/&gt;&lt;property id=&quot;20307&quot; value=&quot;379&quot;/&gt;&lt;/object&gt;&lt;object type=&quot;3&quot; unique_id=&quot;10031&quot;&gt;&lt;property id=&quot;20148&quot; value=&quot;5&quot;/&gt;&lt;property id=&quot;20300&quot; value=&quot;Slide 29&quot;/&gt;&lt;property id=&quot;20307&quot; value=&quot;380&quot;/&gt;&lt;/object&gt;&lt;object type=&quot;3&quot; unique_id=&quot;10032&quot;&gt;&lt;property id=&quot;20148&quot; value=&quot;5&quot;/&gt;&lt;property id=&quot;20300&quot; value=&quot;Slide 30&quot;/&gt;&lt;property id=&quot;20307&quot; value=&quot;381&quot;/&gt;&lt;/object&gt;&lt;object type=&quot;3&quot; unique_id=&quot;10033&quot;&gt;&lt;property id=&quot;20148&quot; value=&quot;5&quot;/&gt;&lt;property id=&quot;20300&quot; value=&quot;Slide 31&quot;/&gt;&lt;property id=&quot;20307&quot; value=&quot;362&quot;/&gt;&lt;/object&gt;&lt;object type=&quot;3&quot; unique_id=&quot;10034&quot;&gt;&lt;property id=&quot;20148&quot; value=&quot;5&quot;/&gt;&lt;property id=&quot;20300&quot; value=&quot;Slide 32&quot;/&gt;&lt;property id=&quot;20307&quot; value=&quot;363&quot;/&gt;&lt;/object&gt;&lt;object type=&quot;3&quot; unique_id=&quot;10035&quot;&gt;&lt;property id=&quot;20148&quot; value=&quot;5&quot;/&gt;&lt;property id=&quot;20300&quot; value=&quot;Slide 33&quot;/&gt;&lt;property id=&quot;20307&quot; value=&quot;368&quot;/&gt;&lt;/object&gt;&lt;object type=&quot;3&quot; unique_id=&quot;10036&quot;&gt;&lt;property id=&quot;20148&quot; value=&quot;5&quot;/&gt;&lt;property id=&quot;20300&quot; value=&quot;Slide 34&quot;/&gt;&lt;property id=&quot;20307&quot; value=&quot;328&quot;/&gt;&lt;/object&gt;&lt;object type=&quot;3&quot; unique_id=&quot;10037&quot;&gt;&lt;property id=&quot;20148&quot; value=&quot;5&quot;/&gt;&lt;property id=&quot;20300&quot; value=&quot;Slide 35&quot;/&gt;&lt;property id=&quot;20307&quot; value=&quot;369&quot;/&gt;&lt;/object&gt;&lt;object type=&quot;3&quot; unique_id=&quot;10038&quot;&gt;&lt;property id=&quot;20148&quot; value=&quot;5&quot;/&gt;&lt;property id=&quot;20300&quot; value=&quot;Slide 36&quot;/&gt;&lt;property id=&quot;20307&quot; value=&quot;373&quot;/&gt;&lt;/object&gt;&lt;object type=&quot;3&quot; unique_id=&quot;10039&quot;&gt;&lt;property id=&quot;20148&quot; value=&quot;5&quot;/&gt;&lt;property id=&quot;20300&quot; value=&quot;Slide 37&quot;/&gt;&lt;property id=&quot;20307&quot; value=&quot;374&quot;/&gt;&lt;/object&gt;&lt;object type=&quot;3&quot; unique_id=&quot;10040&quot;&gt;&lt;property id=&quot;20148&quot; value=&quot;5&quot;/&gt;&lt;property id=&quot;20300&quot; value=&quot;Slide 38&quot;/&gt;&lt;property id=&quot;20307&quot; value=&quot;375&quot;/&gt;&lt;/object&gt;&lt;object type=&quot;3&quot; unique_id=&quot;10041&quot;&gt;&lt;property id=&quot;20148&quot; value=&quot;5&quot;/&gt;&lt;property id=&quot;20300&quot; value=&quot;Slide 39&quot;/&gt;&lt;property id=&quot;20307&quot; value=&quot;376&quot;/&gt;&lt;/object&gt;&lt;object type=&quot;3&quot; unique_id=&quot;10042&quot;&gt;&lt;property id=&quot;20148&quot; value=&quot;5&quot;/&gt;&lt;property id=&quot;20300&quot; value=&quot;Slide 40&quot;/&gt;&lt;property id=&quot;20307&quot; value=&quot;329&quot;/&gt;&lt;/object&gt;&lt;object type=&quot;3&quot; unique_id=&quot;10043&quot;&gt;&lt;property id=&quot;20148&quot; value=&quot;5&quot;/&gt;&lt;property id=&quot;20300&quot; value=&quot;Slide 41&quot;/&gt;&lt;property id=&quot;20307&quot; value=&quot;366&quot;/&gt;&lt;/object&gt;&lt;object type=&quot;3&quot; unique_id=&quot;10044&quot;&gt;&lt;property id=&quot;20148&quot; value=&quot;5&quot;/&gt;&lt;property id=&quot;20300&quot; value=&quot;Slide 42&quot;/&gt;&lt;property id=&quot;20307&quot; value=&quot;336&quot;/&gt;&lt;/object&gt;&lt;object type=&quot;3&quot; unique_id=&quot;10045&quot;&gt;&lt;property id=&quot;20148&quot; value=&quot;5&quot;/&gt;&lt;property id=&quot;20300&quot; value=&quot;Slide 43&quot;/&gt;&lt;property id=&quot;20307&quot; value=&quot;330&quot;/&gt;&lt;/object&gt;&lt;object type=&quot;3&quot; unique_id=&quot;10046&quot;&gt;&lt;property id=&quot;20148&quot; value=&quot;5&quot;/&gt;&lt;property id=&quot;20300&quot; value=&quot;Slide 44&quot;/&gt;&lt;property id=&quot;20307&quot; value=&quot;367&quot;/&gt;&lt;/object&gt;&lt;object type=&quot;3&quot; unique_id=&quot;10047&quot;&gt;&lt;property id=&quot;20148&quot; value=&quot;5&quot;/&gt;&lt;property id=&quot;20300&quot; value=&quot;Slide 45&quot;/&gt;&lt;property id=&quot;20307&quot; value=&quot;316&quot;/&gt;&lt;/object&gt;&lt;object type=&quot;3&quot; unique_id=&quot;10048&quot;&gt;&lt;property id=&quot;20148&quot; value=&quot;5&quot;/&gt;&lt;property id=&quot;20300&quot; value=&quot;Slide 46&quot;/&gt;&lt;property id=&quot;20307&quot; value=&quot;279&quot;/&gt;&lt;/object&gt;&lt;object type=&quot;3&quot; unique_id=&quot;10049&quot;&gt;&lt;property id=&quot;20148&quot; value=&quot;5&quot;/&gt;&lt;property id=&quot;20300&quot; value=&quot;Slide 47&quot;/&gt;&lt;property id=&quot;20307&quot; value=&quot;378&quot;/&gt;&lt;/object&gt;&lt;object type=&quot;3&quot; unique_id=&quot;10050&quot;&gt;&lt;property id=&quot;20148&quot; value=&quot;5&quot;/&gt;&lt;property id=&quot;20300&quot; value=&quot;Slide 48&quot;/&gt;&lt;property id=&quot;20307&quot; value=&quot;382&quot;/&gt;&lt;/object&gt;&lt;object type=&quot;3&quot; unique_id=&quot;10051&quot;&gt;&lt;property id=&quot;20148&quot; value=&quot;5&quot;/&gt;&lt;property id=&quot;20300&quot; value=&quot;Slide 49&quot;/&gt;&lt;property id=&quot;20307&quot; value=&quot;307&quot;/&gt;&lt;/object&gt;&lt;object type=&quot;3&quot; unique_id=&quot;10052&quot;&gt;&lt;property id=&quot;20148&quot; value=&quot;5&quot;/&gt;&lt;property id=&quot;20300&quot; value=&quot;Slide 50&quot;/&gt;&lt;property id=&quot;20307&quot; value=&quot;377&quot;/&gt;&lt;/object&gt;&lt;object type=&quot;3&quot; unique_id=&quot;10053&quot;&gt;&lt;property id=&quot;20148&quot; value=&quot;5&quot;/&gt;&lt;property id=&quot;20300&quot; value=&quot;Slide 51&quot;/&gt;&lt;property id=&quot;20307&quot; value=&quot;312&quot;/&gt;&lt;/object&gt;&lt;object type=&quot;3&quot; unique_id=&quot;10054&quot;&gt;&lt;property id=&quot;20148&quot; value=&quot;5&quot;/&gt;&lt;property id=&quot;20300&quot; value=&quot;Slide 52&quot;/&gt;&lt;property id=&quot;20307&quot; value=&quot;372&quot;/&gt;&lt;/object&gt;&lt;object type=&quot;3&quot; unique_id=&quot;10055&quot;&gt;&lt;property id=&quot;20148&quot; value=&quot;5&quot;/&gt;&lt;property id=&quot;20300&quot; value=&quot;Slide 53&quot;/&gt;&lt;property id=&quot;20307&quot; value=&quot;332&quot;/&gt;&lt;/object&gt;&lt;object type=&quot;3&quot; unique_id=&quot;10056&quot;&gt;&lt;property id=&quot;20148&quot; value=&quot;5&quot;/&gt;&lt;property id=&quot;20300&quot; value=&quot;Slide 54&quot;/&gt;&lt;property id=&quot;20307&quot; value=&quot;272&quot;/&gt;&lt;/object&gt;&lt;object type=&quot;3&quot; unique_id=&quot;10057&quot;&gt;&lt;property id=&quot;20148&quot; value=&quot;5&quot;/&gt;&lt;property id=&quot;20300&quot; value=&quot;Slide 55&quot;/&gt;&lt;property id=&quot;20307&quot; value=&quot;280&quot;/&gt;&lt;/object&gt;&lt;object type=&quot;3&quot; unique_id=&quot;10058&quot;&gt;&lt;property id=&quot;20148&quot; value=&quot;5&quot;/&gt;&lt;property id=&quot;20300&quot; value=&quot;Slide 56&quot;/&gt;&lt;property id=&quot;20307&quot; value=&quot;384&quot;/&gt;&lt;/object&gt;&lt;object type=&quot;3&quot; unique_id=&quot;10059&quot;&gt;&lt;property id=&quot;20148&quot; value=&quot;5&quot;/&gt;&lt;property id=&quot;20300&quot; value=&quot;Slide 57&quot;/&gt;&lt;property id=&quot;20307&quot; value=&quot;315&quot;/&gt;&lt;/object&gt;&lt;object type=&quot;3&quot; unique_id=&quot;10060&quot;&gt;&lt;property id=&quot;20148&quot; value=&quot;5&quot;/&gt;&lt;property id=&quot;20300&quot; value=&quot;Slide 58&quot;/&gt;&lt;property id=&quot;20307&quot; value=&quot;314&quot;/&gt;&lt;/object&gt;&lt;object type=&quot;3&quot; unique_id=&quot;10061&quot;&gt;&lt;property id=&quot;20148&quot; value=&quot;5&quot;/&gt;&lt;property id=&quot;20300&quot; value=&quot;Slide 59&quot;/&gt;&lt;property id=&quot;20307&quot; value=&quot;339&quot;/&gt;&lt;/object&gt;&lt;object type=&quot;3&quot; unique_id=&quot;10062&quot;&gt;&lt;property id=&quot;20148&quot; value=&quot;5&quot;/&gt;&lt;property id=&quot;20300&quot; value=&quot;Slide 60&quot;/&gt;&lt;property id=&quot;20307&quot; value=&quot;353&quot;/&gt;&lt;/object&gt;&lt;object type=&quot;3&quot; unique_id=&quot;10063&quot;&gt;&lt;property id=&quot;20148&quot; value=&quot;5&quot;/&gt;&lt;property id=&quot;20300&quot; value=&quot;Slide 61&quot;/&gt;&lt;property id=&quot;20307&quot; value=&quot;338&quot;/&gt;&lt;/object&gt;&lt;object type=&quot;3&quot; unique_id=&quot;10064&quot;&gt;&lt;property id=&quot;20148&quot; value=&quot;5&quot;/&gt;&lt;property id=&quot;20300&quot; value=&quot;Slide 62&quot;/&gt;&lt;property id=&quot;20307&quot; value=&quot;383&quot;/&gt;&lt;/object&gt;&lt;object type=&quot;3&quot; unique_id=&quot;10065&quot;&gt;&lt;property id=&quot;20148&quot; value=&quot;5&quot;/&gt;&lt;property id=&quot;20300&quot; value=&quot;Slide 63&quot;/&gt;&lt;property id=&quot;20307&quot; value=&quot;318&quot;/&gt;&lt;/object&gt;&lt;/object&gt;&lt;object type=&quot;8&quot; unique_id=&quot;10130&quot;&gt;&lt;/object&gt;&lt;/object&gt;&lt;/database&gt;"/>
  <p:tag name="MMPROD_NEXTUNIQUEID" val="10009"/>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2840</TotalTime>
  <Words>2624</Words>
  <Application>Microsoft Office PowerPoint</Application>
  <PresentationFormat>On-screen Show (4:3)</PresentationFormat>
  <Paragraphs>413</Paragraphs>
  <Slides>29</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Abadi</vt:lpstr>
      <vt:lpstr>Arial</vt:lpstr>
      <vt:lpstr>Arial Black</vt:lpstr>
      <vt:lpstr>Cambria Math</vt:lpstr>
      <vt:lpstr>Consolas</vt:lpstr>
      <vt:lpstr>Impact</vt:lpstr>
      <vt:lpstr>Source Sans Pro SemiBold</vt:lpstr>
      <vt:lpstr>Tahoma</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Comparing Data Structures</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Trees</dc:title>
  <dc:subject>Binary Trees</dc:subject>
  <dc:creator>A+ Computer Science</dc:creator>
  <cp:keywords>www.apluscompsci.com</cp:keywords>
  <dc:description>Binary Trees_x000d_
©A+ Computer Science_x000d_
www.apluscompsci.com</dc:description>
  <cp:lastModifiedBy>Weldon Jasik</cp:lastModifiedBy>
  <cp:revision>487</cp:revision>
  <cp:lastPrinted>2000-11-07T14:58:20Z</cp:lastPrinted>
  <dcterms:created xsi:type="dcterms:W3CDTF">2000-01-19T01:43:11Z</dcterms:created>
  <dcterms:modified xsi:type="dcterms:W3CDTF">2026-02-03T19:35:45Z</dcterms:modified>
  <cp:category>www.apluscompsci.com</cp:category>
</cp:coreProperties>
</file>
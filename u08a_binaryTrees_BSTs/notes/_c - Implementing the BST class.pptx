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337" r:id="rId3"/>
    <p:sldId id="355" r:id="rId4"/>
    <p:sldId id="341" r:id="rId5"/>
    <p:sldId id="264" r:id="rId6"/>
    <p:sldId id="357" r:id="rId7"/>
    <p:sldId id="342" r:id="rId8"/>
    <p:sldId id="349" r:id="rId9"/>
    <p:sldId id="343" r:id="rId10"/>
    <p:sldId id="344" r:id="rId11"/>
    <p:sldId id="345" r:id="rId12"/>
    <p:sldId id="348" r:id="rId13"/>
    <p:sldId id="346" r:id="rId14"/>
    <p:sldId id="347" r:id="rId15"/>
    <p:sldId id="334" r:id="rId16"/>
    <p:sldId id="358" r:id="rId17"/>
    <p:sldId id="359" r:id="rId18"/>
    <p:sldId id="360" r:id="rId19"/>
    <p:sldId id="369" r:id="rId20"/>
    <p:sldId id="373" r:id="rId21"/>
    <p:sldId id="374" r:id="rId22"/>
    <p:sldId id="375" r:id="rId23"/>
    <p:sldId id="376" r:id="rId24"/>
    <p:sldId id="307" r:id="rId25"/>
    <p:sldId id="377" r:id="rId26"/>
    <p:sldId id="312" r:id="rId27"/>
    <p:sldId id="372" r:id="rId28"/>
  </p:sldIdLst>
  <p:sldSz cx="9144000" cy="6858000" type="screen4x3"/>
  <p:notesSz cx="6858000" cy="9144000"/>
  <p:custDataLst>
    <p:tags r:id="rId3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99CC"/>
    <a:srgbClr val="003366"/>
    <a:srgbClr val="660066"/>
    <a:srgbClr val="FFFF00"/>
    <a:srgbClr val="FFFFCC"/>
    <a:srgbClr val="FFCCFF"/>
    <a:srgbClr val="99FF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90" autoAdjust="0"/>
    <p:restoredTop sz="88608" autoAdjust="0"/>
  </p:normalViewPr>
  <p:slideViewPr>
    <p:cSldViewPr>
      <p:cViewPr varScale="1">
        <p:scale>
          <a:sx n="70" d="100"/>
          <a:sy n="70" d="100"/>
        </p:scale>
        <p:origin x="60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72"/>
    </p:cViewPr>
  </p:sorterViewPr>
  <p:notesViewPr>
    <p:cSldViewPr>
      <p:cViewPr varScale="1">
        <p:scale>
          <a:sx n="63" d="100"/>
          <a:sy n="63" d="100"/>
        </p:scale>
        <p:origin x="-243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pPr>
              <a:defRPr/>
            </a:pPr>
            <a:fld id="{C008D70E-2E68-44A0-BD0F-EE16C74DF1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36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105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25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34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20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21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31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33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80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9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37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18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34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40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38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463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387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264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832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449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669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053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021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39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F4D22-219A-41EC-AAAA-A480C6A024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01510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AC133-8006-4042-A2C6-E2135B6548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38407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6A31E-D5CB-4919-A098-37296F9BD3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319774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471938-B544-487E-930F-272EA0E411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68988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AB4639-C0DE-4FA4-91C8-CB484847FB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9842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13244-FEF9-4DD2-9774-EB2ADD432F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74787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0E319-8829-4CDA-B5FC-22F831E6A1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7439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078AF7-FA9C-4AE9-8830-C9C18BAA92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01418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72B21-4C4C-498D-8BEA-C250BB907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2142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13E7D-FBEA-4997-A3AC-8541F5D504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497471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8F924-4935-45CD-9CDC-E23DC92690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97004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D8886AA1-88A9-4F85-B9C4-C81CC8BB0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0" i="0" u="none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btv.melezinek.cz/home.htm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2051" name="WordArt 4"/>
          <p:cNvSpPr>
            <a:spLocks noChangeArrowheads="1" noChangeShapeType="1" noTextEdit="1"/>
          </p:cNvSpPr>
          <p:nvPr/>
        </p:nvSpPr>
        <p:spPr bwMode="auto">
          <a:xfrm>
            <a:off x="685800" y="1905000"/>
            <a:ext cx="7543800" cy="2286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CC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Binary Trees</a:t>
            </a:r>
          </a:p>
        </p:txBody>
      </p:sp>
      <p:sp>
        <p:nvSpPr>
          <p:cNvPr id="2052" name="WordArt 5"/>
          <p:cNvSpPr>
            <a:spLocks noChangeArrowheads="1" noChangeShapeType="1" noTextEdit="1"/>
          </p:cNvSpPr>
          <p:nvPr/>
        </p:nvSpPr>
        <p:spPr bwMode="auto">
          <a:xfrm>
            <a:off x="6400800" y="6324600"/>
            <a:ext cx="2438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8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Lab 17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362200" y="5057946"/>
            <a:ext cx="3581400" cy="694455"/>
            <a:chOff x="1981200" y="4791945"/>
            <a:chExt cx="3581400" cy="694455"/>
          </a:xfrm>
        </p:grpSpPr>
        <p:pic>
          <p:nvPicPr>
            <p:cNvPr id="1027" name="Picture 3" descr="C:\Users\waj10825\AppData\Local\Microsoft\Windows\Temporary Internet Files\Content.IE5\JHXPUZDM\MC900434828[1].pn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93" t="29165" r="7046" b="16982"/>
            <a:stretch/>
          </p:blipFill>
          <p:spPr bwMode="auto">
            <a:xfrm>
              <a:off x="5019990" y="5130312"/>
              <a:ext cx="542610" cy="356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hlinkClick r:id="rId4"/>
            </p:cNvPr>
            <p:cNvSpPr txBox="1"/>
            <p:nvPr/>
          </p:nvSpPr>
          <p:spPr>
            <a:xfrm>
              <a:off x="1981200" y="4791945"/>
              <a:ext cx="34862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mic Sans MS" pitchFamily="66" charset="0"/>
                </a:rPr>
                <a:t>Binary tree visualizer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grpSp>
        <p:nvGrpSpPr>
          <p:cNvPr id="2" name="Group 1" descr="In a Binary Search Tree every left child is smaller than the current node and every right child is greater.&#10;&#10;The example is a binary tree with six nodes in three levels:&#10;&#10;- The root node stores 50.&#10;- The 2nd level has two child nodes connected to the 50 node: the 35 node on the left and 70 node on the right.&#10;- The 3rd level has three nodes:&#10;  - The 35 node connects to the 22 node (left) and 41 node (right), which are both leaves.&#10;  - The 70 node connects only has a right child, the 81 node, which is a leaf.">
            <a:extLst>
              <a:ext uri="{FF2B5EF4-FFF2-40B4-BE49-F238E27FC236}">
                <a16:creationId xmlns:a16="http://schemas.microsoft.com/office/drawing/2014/main" id="{A4CA09CC-189F-2B17-8716-77F3AB977C90}"/>
              </a:ext>
            </a:extLst>
          </p:cNvPr>
          <p:cNvGrpSpPr/>
          <p:nvPr/>
        </p:nvGrpSpPr>
        <p:grpSpPr>
          <a:xfrm>
            <a:off x="685800" y="228600"/>
            <a:ext cx="8140700" cy="5475288"/>
            <a:chOff x="685800" y="228600"/>
            <a:chExt cx="8140700" cy="5475288"/>
          </a:xfrm>
        </p:grpSpPr>
        <p:sp>
          <p:nvSpPr>
            <p:cNvPr id="6147" name="Rectangle 2"/>
            <p:cNvSpPr>
              <a:spLocks noChangeArrowheads="1"/>
            </p:cNvSpPr>
            <p:nvPr/>
          </p:nvSpPr>
          <p:spPr bwMode="auto">
            <a:xfrm>
              <a:off x="3581400" y="228600"/>
              <a:ext cx="2044700" cy="749300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8" name="Rectangle 3"/>
            <p:cNvSpPr>
              <a:spLocks noChangeArrowheads="1"/>
            </p:cNvSpPr>
            <p:nvPr/>
          </p:nvSpPr>
          <p:spPr bwMode="auto">
            <a:xfrm>
              <a:off x="3581400" y="990600"/>
              <a:ext cx="977900" cy="673100"/>
            </a:xfrm>
            <a:prstGeom prst="rect">
              <a:avLst/>
            </a:prstGeom>
            <a:solidFill>
              <a:srgbClr val="339966">
                <a:alpha val="47058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9" name="Rectangle 4"/>
            <p:cNvSpPr>
              <a:spLocks noChangeArrowheads="1"/>
            </p:cNvSpPr>
            <p:nvPr/>
          </p:nvSpPr>
          <p:spPr bwMode="auto">
            <a:xfrm>
              <a:off x="4648200" y="990600"/>
              <a:ext cx="977900" cy="673100"/>
            </a:xfrm>
            <a:prstGeom prst="rect">
              <a:avLst/>
            </a:prstGeom>
            <a:solidFill>
              <a:srgbClr val="3366FF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0" name="Rectangle 7"/>
            <p:cNvSpPr>
              <a:spLocks noChangeArrowheads="1"/>
            </p:cNvSpPr>
            <p:nvPr/>
          </p:nvSpPr>
          <p:spPr bwMode="auto">
            <a:xfrm>
              <a:off x="1981200" y="2286000"/>
              <a:ext cx="2044700" cy="749300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1" name="Rectangle 12"/>
            <p:cNvSpPr>
              <a:spLocks noChangeArrowheads="1"/>
            </p:cNvSpPr>
            <p:nvPr/>
          </p:nvSpPr>
          <p:spPr bwMode="auto">
            <a:xfrm>
              <a:off x="5410200" y="2286000"/>
              <a:ext cx="2044700" cy="749300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2" name="Rectangle 16"/>
            <p:cNvSpPr>
              <a:spLocks noChangeArrowheads="1"/>
            </p:cNvSpPr>
            <p:nvPr/>
          </p:nvSpPr>
          <p:spPr bwMode="auto">
            <a:xfrm>
              <a:off x="4343400" y="304800"/>
              <a:ext cx="5715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b="1">
                  <a:solidFill>
                    <a:srgbClr val="0000CC"/>
                  </a:solidFill>
                </a:rPr>
                <a:t>50</a:t>
              </a:r>
            </a:p>
          </p:txBody>
        </p:sp>
        <p:sp>
          <p:nvSpPr>
            <p:cNvPr id="6153" name="Rectangle 19"/>
            <p:cNvSpPr>
              <a:spLocks noChangeArrowheads="1"/>
            </p:cNvSpPr>
            <p:nvPr/>
          </p:nvSpPr>
          <p:spPr bwMode="auto">
            <a:xfrm>
              <a:off x="685800" y="4265613"/>
              <a:ext cx="2044700" cy="749300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" name="Rectangle 23"/>
            <p:cNvSpPr>
              <a:spLocks noChangeArrowheads="1"/>
            </p:cNvSpPr>
            <p:nvPr/>
          </p:nvSpPr>
          <p:spPr bwMode="auto">
            <a:xfrm>
              <a:off x="6781800" y="4267200"/>
              <a:ext cx="2044700" cy="749300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5" name="Rectangle 27"/>
            <p:cNvSpPr>
              <a:spLocks noChangeArrowheads="1"/>
            </p:cNvSpPr>
            <p:nvPr/>
          </p:nvSpPr>
          <p:spPr bwMode="auto">
            <a:xfrm>
              <a:off x="3276600" y="4265613"/>
              <a:ext cx="2044700" cy="749300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6" name="Rectangle 31"/>
            <p:cNvSpPr>
              <a:spLocks noChangeArrowheads="1"/>
            </p:cNvSpPr>
            <p:nvPr/>
          </p:nvSpPr>
          <p:spPr bwMode="auto">
            <a:xfrm>
              <a:off x="2133600" y="381000"/>
              <a:ext cx="1306513" cy="466725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b="1">
                  <a:solidFill>
                    <a:schemeClr val="accent2"/>
                  </a:solidFill>
                </a:rPr>
                <a:t>Root </a:t>
              </a:r>
              <a:r>
                <a:rPr lang="en-US" b="1">
                  <a:solidFill>
                    <a:schemeClr val="accent2"/>
                  </a:solidFill>
                  <a:sym typeface="Wingdings" pitchFamily="2" charset="2"/>
                </a:rPr>
                <a:t>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6157" name="Rectangle 37"/>
            <p:cNvSpPr>
              <a:spLocks noChangeArrowheads="1"/>
            </p:cNvSpPr>
            <p:nvPr/>
          </p:nvSpPr>
          <p:spPr bwMode="auto">
            <a:xfrm>
              <a:off x="1981200" y="3048000"/>
              <a:ext cx="977900" cy="673100"/>
            </a:xfrm>
            <a:prstGeom prst="rect">
              <a:avLst/>
            </a:prstGeom>
            <a:solidFill>
              <a:srgbClr val="339966">
                <a:alpha val="47058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Rectangle 38"/>
            <p:cNvSpPr>
              <a:spLocks noChangeArrowheads="1"/>
            </p:cNvSpPr>
            <p:nvPr/>
          </p:nvSpPr>
          <p:spPr bwMode="auto">
            <a:xfrm>
              <a:off x="3048000" y="3048000"/>
              <a:ext cx="977900" cy="673100"/>
            </a:xfrm>
            <a:prstGeom prst="rect">
              <a:avLst/>
            </a:prstGeom>
            <a:solidFill>
              <a:srgbClr val="3366FF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9" name="Rectangle 39"/>
            <p:cNvSpPr>
              <a:spLocks noChangeArrowheads="1"/>
            </p:cNvSpPr>
            <p:nvPr/>
          </p:nvSpPr>
          <p:spPr bwMode="auto">
            <a:xfrm>
              <a:off x="5410200" y="3048000"/>
              <a:ext cx="977900" cy="673100"/>
            </a:xfrm>
            <a:prstGeom prst="rect">
              <a:avLst/>
            </a:prstGeom>
            <a:solidFill>
              <a:srgbClr val="339966">
                <a:alpha val="47058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0" name="Rectangle 40"/>
            <p:cNvSpPr>
              <a:spLocks noChangeArrowheads="1"/>
            </p:cNvSpPr>
            <p:nvPr/>
          </p:nvSpPr>
          <p:spPr bwMode="auto">
            <a:xfrm>
              <a:off x="6477000" y="3048000"/>
              <a:ext cx="977900" cy="673100"/>
            </a:xfrm>
            <a:prstGeom prst="rect">
              <a:avLst/>
            </a:prstGeom>
            <a:solidFill>
              <a:srgbClr val="3366FF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1" name="Rectangle 41"/>
            <p:cNvSpPr>
              <a:spLocks noChangeArrowheads="1"/>
            </p:cNvSpPr>
            <p:nvPr/>
          </p:nvSpPr>
          <p:spPr bwMode="auto">
            <a:xfrm>
              <a:off x="685800" y="5029200"/>
              <a:ext cx="977900" cy="673100"/>
            </a:xfrm>
            <a:prstGeom prst="rect">
              <a:avLst/>
            </a:prstGeom>
            <a:solidFill>
              <a:srgbClr val="339966">
                <a:alpha val="47058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2" name="Rectangle 42"/>
            <p:cNvSpPr>
              <a:spLocks noChangeArrowheads="1"/>
            </p:cNvSpPr>
            <p:nvPr/>
          </p:nvSpPr>
          <p:spPr bwMode="auto">
            <a:xfrm>
              <a:off x="1752600" y="5029200"/>
              <a:ext cx="977900" cy="673100"/>
            </a:xfrm>
            <a:prstGeom prst="rect">
              <a:avLst/>
            </a:prstGeom>
            <a:solidFill>
              <a:srgbClr val="3366FF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3" name="Rectangle 43"/>
            <p:cNvSpPr>
              <a:spLocks noChangeArrowheads="1"/>
            </p:cNvSpPr>
            <p:nvPr/>
          </p:nvSpPr>
          <p:spPr bwMode="auto">
            <a:xfrm>
              <a:off x="3276600" y="5029200"/>
              <a:ext cx="977900" cy="673100"/>
            </a:xfrm>
            <a:prstGeom prst="rect">
              <a:avLst/>
            </a:prstGeom>
            <a:solidFill>
              <a:srgbClr val="339966">
                <a:alpha val="47058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Rectangle 44"/>
            <p:cNvSpPr>
              <a:spLocks noChangeArrowheads="1"/>
            </p:cNvSpPr>
            <p:nvPr/>
          </p:nvSpPr>
          <p:spPr bwMode="auto">
            <a:xfrm>
              <a:off x="4343400" y="5029200"/>
              <a:ext cx="977900" cy="673100"/>
            </a:xfrm>
            <a:prstGeom prst="rect">
              <a:avLst/>
            </a:prstGeom>
            <a:solidFill>
              <a:srgbClr val="3366FF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5" name="Rectangle 45"/>
            <p:cNvSpPr>
              <a:spLocks noChangeArrowheads="1"/>
            </p:cNvSpPr>
            <p:nvPr/>
          </p:nvSpPr>
          <p:spPr bwMode="auto">
            <a:xfrm>
              <a:off x="6781800" y="5030788"/>
              <a:ext cx="977900" cy="673100"/>
            </a:xfrm>
            <a:prstGeom prst="rect">
              <a:avLst/>
            </a:prstGeom>
            <a:solidFill>
              <a:srgbClr val="339966">
                <a:alpha val="47058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6" name="Rectangle 46"/>
            <p:cNvSpPr>
              <a:spLocks noChangeArrowheads="1"/>
            </p:cNvSpPr>
            <p:nvPr/>
          </p:nvSpPr>
          <p:spPr bwMode="auto">
            <a:xfrm>
              <a:off x="7848600" y="5030788"/>
              <a:ext cx="977900" cy="673100"/>
            </a:xfrm>
            <a:prstGeom prst="rect">
              <a:avLst/>
            </a:prstGeom>
            <a:solidFill>
              <a:srgbClr val="3366FF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7" name="Rectangle 47"/>
            <p:cNvSpPr>
              <a:spLocks noChangeArrowheads="1"/>
            </p:cNvSpPr>
            <p:nvPr/>
          </p:nvSpPr>
          <p:spPr bwMode="auto">
            <a:xfrm>
              <a:off x="2667000" y="2438400"/>
              <a:ext cx="5715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b="1">
                  <a:solidFill>
                    <a:srgbClr val="0000CC"/>
                  </a:solidFill>
                </a:rPr>
                <a:t>35</a:t>
              </a:r>
            </a:p>
          </p:txBody>
        </p:sp>
        <p:sp>
          <p:nvSpPr>
            <p:cNvPr id="6168" name="Rectangle 48"/>
            <p:cNvSpPr>
              <a:spLocks noChangeArrowheads="1"/>
            </p:cNvSpPr>
            <p:nvPr/>
          </p:nvSpPr>
          <p:spPr bwMode="auto">
            <a:xfrm>
              <a:off x="6096000" y="2438400"/>
              <a:ext cx="5715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b="1">
                  <a:solidFill>
                    <a:srgbClr val="0000CC"/>
                  </a:solidFill>
                </a:rPr>
                <a:t>70</a:t>
              </a:r>
            </a:p>
          </p:txBody>
        </p:sp>
        <p:sp>
          <p:nvSpPr>
            <p:cNvPr id="6169" name="Rectangle 49"/>
            <p:cNvSpPr>
              <a:spLocks noChangeArrowheads="1"/>
            </p:cNvSpPr>
            <p:nvPr/>
          </p:nvSpPr>
          <p:spPr bwMode="auto">
            <a:xfrm>
              <a:off x="1371600" y="4343400"/>
              <a:ext cx="5715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b="1">
                  <a:solidFill>
                    <a:srgbClr val="0000CC"/>
                  </a:solidFill>
                </a:rPr>
                <a:t>22</a:t>
              </a:r>
            </a:p>
          </p:txBody>
        </p:sp>
        <p:sp>
          <p:nvSpPr>
            <p:cNvPr id="6170" name="Rectangle 50"/>
            <p:cNvSpPr>
              <a:spLocks noChangeArrowheads="1"/>
            </p:cNvSpPr>
            <p:nvPr/>
          </p:nvSpPr>
          <p:spPr bwMode="auto">
            <a:xfrm>
              <a:off x="4038600" y="4343400"/>
              <a:ext cx="5715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b="1">
                  <a:solidFill>
                    <a:srgbClr val="0000CC"/>
                  </a:solidFill>
                </a:rPr>
                <a:t>41</a:t>
              </a:r>
            </a:p>
          </p:txBody>
        </p:sp>
        <p:sp>
          <p:nvSpPr>
            <p:cNvPr id="6171" name="Rectangle 51"/>
            <p:cNvSpPr>
              <a:spLocks noChangeArrowheads="1"/>
            </p:cNvSpPr>
            <p:nvPr/>
          </p:nvSpPr>
          <p:spPr bwMode="auto">
            <a:xfrm>
              <a:off x="7543800" y="4343400"/>
              <a:ext cx="5715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b="1">
                  <a:solidFill>
                    <a:srgbClr val="0000CC"/>
                  </a:solidFill>
                </a:rPr>
                <a:t>81</a:t>
              </a:r>
            </a:p>
          </p:txBody>
        </p:sp>
        <p:sp>
          <p:nvSpPr>
            <p:cNvPr id="6172" name="Line 52"/>
            <p:cNvSpPr>
              <a:spLocks noChangeShapeType="1"/>
            </p:cNvSpPr>
            <p:nvPr/>
          </p:nvSpPr>
          <p:spPr bwMode="auto">
            <a:xfrm>
              <a:off x="3505200" y="3352800"/>
              <a:ext cx="844550" cy="768350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3" name="Line 53"/>
            <p:cNvSpPr>
              <a:spLocks noChangeShapeType="1"/>
            </p:cNvSpPr>
            <p:nvPr/>
          </p:nvSpPr>
          <p:spPr bwMode="auto">
            <a:xfrm flipH="1">
              <a:off x="1828800" y="3352800"/>
              <a:ext cx="603250" cy="768350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4" name="Line 54"/>
            <p:cNvSpPr>
              <a:spLocks noChangeShapeType="1"/>
            </p:cNvSpPr>
            <p:nvPr/>
          </p:nvSpPr>
          <p:spPr bwMode="auto">
            <a:xfrm flipH="1">
              <a:off x="3429000" y="1219200"/>
              <a:ext cx="685800" cy="914400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5" name="Line 55"/>
            <p:cNvSpPr>
              <a:spLocks noChangeShapeType="1"/>
            </p:cNvSpPr>
            <p:nvPr/>
          </p:nvSpPr>
          <p:spPr bwMode="auto">
            <a:xfrm>
              <a:off x="5105400" y="1219200"/>
              <a:ext cx="914400" cy="838200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6" name="Line 56"/>
            <p:cNvSpPr>
              <a:spLocks noChangeShapeType="1"/>
            </p:cNvSpPr>
            <p:nvPr/>
          </p:nvSpPr>
          <p:spPr bwMode="auto">
            <a:xfrm>
              <a:off x="7010400" y="3429000"/>
              <a:ext cx="768350" cy="692150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533400" y="1524000"/>
            <a:ext cx="8153400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1" hangingPunct="1"/>
            <a:r>
              <a:rPr lang="en-US" b="1"/>
              <a:t>public class Node</a:t>
            </a:r>
          </a:p>
          <a:p>
            <a:pPr eaLnBrk="1" hangingPunct="1"/>
            <a:r>
              <a:rPr lang="en-US" b="1"/>
              <a:t>{</a:t>
            </a:r>
          </a:p>
          <a:p>
            <a:pPr eaLnBrk="1" hangingPunct="1"/>
            <a:r>
              <a:rPr lang="en-US" b="1"/>
              <a:t>   private Comparable data;</a:t>
            </a:r>
          </a:p>
          <a:p>
            <a:pPr eaLnBrk="1" hangingPunct="1"/>
            <a:r>
              <a:rPr lang="en-US" b="1"/>
              <a:t>   private Node left;</a:t>
            </a:r>
          </a:p>
          <a:p>
            <a:pPr eaLnBrk="1" hangingPunct="1"/>
            <a:r>
              <a:rPr lang="en-US" b="1"/>
              <a:t>   private Node right;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   public Node(Comparable dat, Node lft, Node rt)</a:t>
            </a:r>
          </a:p>
          <a:p>
            <a:pPr eaLnBrk="1" hangingPunct="1"/>
            <a:r>
              <a:rPr lang="en-US" b="1"/>
              <a:t>   {</a:t>
            </a:r>
          </a:p>
          <a:p>
            <a:pPr eaLnBrk="1" hangingPunct="1"/>
            <a:r>
              <a:rPr lang="en-US" b="1"/>
              <a:t>      data=dat;</a:t>
            </a:r>
          </a:p>
          <a:p>
            <a:pPr eaLnBrk="1" hangingPunct="1"/>
            <a:r>
              <a:rPr lang="en-US" b="1"/>
              <a:t>      left=lft;</a:t>
            </a:r>
          </a:p>
          <a:p>
            <a:pPr eaLnBrk="1" hangingPunct="1"/>
            <a:r>
              <a:rPr lang="en-US" b="1"/>
              <a:t>      right=rt;</a:t>
            </a:r>
          </a:p>
          <a:p>
            <a:pPr eaLnBrk="1" hangingPunct="1"/>
            <a:r>
              <a:rPr lang="en-US" b="1"/>
              <a:t>   }</a:t>
            </a:r>
          </a:p>
          <a:p>
            <a:pPr eaLnBrk="1" hangingPunct="1"/>
            <a:r>
              <a:rPr lang="en-US" b="1"/>
              <a:t>}</a:t>
            </a:r>
          </a:p>
        </p:txBody>
      </p:sp>
      <p:sp>
        <p:nvSpPr>
          <p:cNvPr id="9220" name="WordArt 3"/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553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Simple Node 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>
              <a:latin typeface="MS LineDraw" charset="2"/>
            </a:endParaRPr>
          </a:p>
        </p:txBody>
      </p:sp>
      <p:sp>
        <p:nvSpPr>
          <p:cNvPr id="10244" name="WordArt 13"/>
          <p:cNvSpPr>
            <a:spLocks noChangeArrowheads="1" noChangeShapeType="1" noTextEdit="1"/>
          </p:cNvSpPr>
          <p:nvPr/>
        </p:nvSpPr>
        <p:spPr bwMode="auto">
          <a:xfrm>
            <a:off x="838200" y="4572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A Single Node</a:t>
            </a:r>
          </a:p>
        </p:txBody>
      </p:sp>
      <p:sp>
        <p:nvSpPr>
          <p:cNvPr id="10245" name="Text Box 14"/>
          <p:cNvSpPr txBox="1">
            <a:spLocks noChangeArrowheads="1"/>
          </p:cNvSpPr>
          <p:nvPr/>
        </p:nvSpPr>
        <p:spPr bwMode="auto">
          <a:xfrm>
            <a:off x="1143000" y="4572000"/>
            <a:ext cx="6934200" cy="1385888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sz="2800" b="1">
                <a:solidFill>
                  <a:schemeClr val="accent2"/>
                </a:solidFill>
              </a:rPr>
              <a:t>A tree node typically has a data</a:t>
            </a:r>
          </a:p>
          <a:p>
            <a:pPr eaLnBrk="1" hangingPunct="1"/>
            <a:r>
              <a:rPr lang="en-US" sz="2800" b="1">
                <a:solidFill>
                  <a:schemeClr val="accent2"/>
                </a:solidFill>
              </a:rPr>
              <a:t>component and a reference to a left child and a reference to a right child.</a:t>
            </a:r>
          </a:p>
        </p:txBody>
      </p:sp>
      <p:grpSp>
        <p:nvGrpSpPr>
          <p:cNvPr id="3" name="Group 2" descr="An image of a lone binary tree node that stores a value of 50 and left and right references that are null.">
            <a:extLst>
              <a:ext uri="{FF2B5EF4-FFF2-40B4-BE49-F238E27FC236}">
                <a16:creationId xmlns:a16="http://schemas.microsoft.com/office/drawing/2014/main" id="{B6D80C4C-A217-FA74-4B23-F35A70C43F48}"/>
              </a:ext>
            </a:extLst>
          </p:cNvPr>
          <p:cNvGrpSpPr/>
          <p:nvPr/>
        </p:nvGrpSpPr>
        <p:grpSpPr>
          <a:xfrm>
            <a:off x="3352800" y="1981200"/>
            <a:ext cx="2083318" cy="1435100"/>
            <a:chOff x="3352800" y="1981200"/>
            <a:chExt cx="2083318" cy="1435100"/>
          </a:xfrm>
        </p:grpSpPr>
        <p:sp>
          <p:nvSpPr>
            <p:cNvPr id="10246" name="Rectangle 15"/>
            <p:cNvSpPr>
              <a:spLocks noChangeArrowheads="1"/>
            </p:cNvSpPr>
            <p:nvPr/>
          </p:nvSpPr>
          <p:spPr bwMode="auto">
            <a:xfrm>
              <a:off x="3352800" y="1981200"/>
              <a:ext cx="2057400" cy="75882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7" name="Rectangle 20"/>
            <p:cNvSpPr>
              <a:spLocks noChangeArrowheads="1"/>
            </p:cNvSpPr>
            <p:nvPr/>
          </p:nvSpPr>
          <p:spPr bwMode="auto">
            <a:xfrm>
              <a:off x="4092575" y="2111375"/>
              <a:ext cx="5715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b="1">
                  <a:solidFill>
                    <a:srgbClr val="0000CC"/>
                  </a:solidFill>
                </a:rPr>
                <a:t>50</a:t>
              </a:r>
            </a:p>
          </p:txBody>
        </p:sp>
        <p:sp>
          <p:nvSpPr>
            <p:cNvPr id="10248" name="Text Box 21"/>
            <p:cNvSpPr txBox="1">
              <a:spLocks noChangeArrowheads="1"/>
            </p:cNvSpPr>
            <p:nvPr/>
          </p:nvSpPr>
          <p:spPr bwMode="auto">
            <a:xfrm>
              <a:off x="3464508" y="2860675"/>
              <a:ext cx="914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chemeClr val="accent2"/>
                  </a:solidFill>
                </a:rPr>
                <a:t>null</a:t>
              </a:r>
            </a:p>
          </p:txBody>
        </p:sp>
        <p:sp>
          <p:nvSpPr>
            <p:cNvPr id="10249" name="Text Box 22"/>
            <p:cNvSpPr txBox="1">
              <a:spLocks noChangeArrowheads="1"/>
            </p:cNvSpPr>
            <p:nvPr/>
          </p:nvSpPr>
          <p:spPr bwMode="auto">
            <a:xfrm>
              <a:off x="4521718" y="2860675"/>
              <a:ext cx="914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chemeClr val="accent2"/>
                  </a:solidFill>
                </a:rPr>
                <a:t>null</a:t>
              </a:r>
            </a:p>
          </p:txBody>
        </p:sp>
        <p:sp>
          <p:nvSpPr>
            <p:cNvPr id="10250" name="Rectangle 23"/>
            <p:cNvSpPr>
              <a:spLocks noChangeArrowheads="1"/>
            </p:cNvSpPr>
            <p:nvPr/>
          </p:nvSpPr>
          <p:spPr bwMode="auto">
            <a:xfrm>
              <a:off x="3352800" y="2743200"/>
              <a:ext cx="977900" cy="673100"/>
            </a:xfrm>
            <a:prstGeom prst="rect">
              <a:avLst/>
            </a:prstGeom>
            <a:solidFill>
              <a:srgbClr val="339966">
                <a:alpha val="47058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1" name="Rectangle 24"/>
            <p:cNvSpPr>
              <a:spLocks noChangeArrowheads="1"/>
            </p:cNvSpPr>
            <p:nvPr/>
          </p:nvSpPr>
          <p:spPr bwMode="auto">
            <a:xfrm>
              <a:off x="4419600" y="2743200"/>
              <a:ext cx="977900" cy="673100"/>
            </a:xfrm>
            <a:prstGeom prst="rect">
              <a:avLst/>
            </a:prstGeom>
            <a:solidFill>
              <a:srgbClr val="3366FF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1267" name="Rectangle 1026"/>
          <p:cNvSpPr>
            <a:spLocks noChangeArrowheads="1"/>
          </p:cNvSpPr>
          <p:nvPr/>
        </p:nvSpPr>
        <p:spPr bwMode="auto">
          <a:xfrm>
            <a:off x="914400" y="2133600"/>
            <a:ext cx="6781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b="1" dirty="0"/>
              <a:t>public interface </a:t>
            </a:r>
            <a:r>
              <a:rPr lang="en-US" b="1" dirty="0" err="1"/>
              <a:t>Treeable</a:t>
            </a:r>
            <a:endParaRPr lang="en-US" b="1" dirty="0"/>
          </a:p>
          <a:p>
            <a:r>
              <a:rPr lang="en-US" b="1" dirty="0"/>
              <a:t>{</a:t>
            </a:r>
          </a:p>
          <a:p>
            <a:r>
              <a:rPr lang="en-US" b="1" dirty="0"/>
              <a:t>   public Comparable </a:t>
            </a:r>
            <a:r>
              <a:rPr lang="en-US" b="1" dirty="0" err="1"/>
              <a:t>getValue</a:t>
            </a:r>
            <a:r>
              <a:rPr lang="en-US" b="1" dirty="0"/>
              <a:t>();</a:t>
            </a:r>
          </a:p>
          <a:p>
            <a:r>
              <a:rPr lang="en-US" b="1" dirty="0"/>
              <a:t>   public </a:t>
            </a:r>
            <a:r>
              <a:rPr lang="en-US" b="1" dirty="0" err="1"/>
              <a:t>Treeable</a:t>
            </a:r>
            <a:r>
              <a:rPr lang="en-US" b="1" dirty="0"/>
              <a:t> </a:t>
            </a:r>
            <a:r>
              <a:rPr lang="en-US" b="1" dirty="0" err="1"/>
              <a:t>getLeft</a:t>
            </a:r>
            <a:r>
              <a:rPr lang="en-US" b="1" dirty="0"/>
              <a:t>();</a:t>
            </a:r>
          </a:p>
          <a:p>
            <a:r>
              <a:rPr lang="en-US" b="1" dirty="0"/>
              <a:t>   public </a:t>
            </a:r>
            <a:r>
              <a:rPr lang="en-US" b="1" dirty="0" err="1"/>
              <a:t>Treeable</a:t>
            </a:r>
            <a:r>
              <a:rPr lang="en-US" b="1" dirty="0"/>
              <a:t> </a:t>
            </a:r>
            <a:r>
              <a:rPr lang="en-US" b="1" dirty="0" err="1"/>
              <a:t>getRight</a:t>
            </a:r>
            <a:r>
              <a:rPr lang="en-US" b="1" dirty="0"/>
              <a:t>();</a:t>
            </a:r>
          </a:p>
          <a:p>
            <a:r>
              <a:rPr lang="en-US" b="1" dirty="0"/>
              <a:t>   public void </a:t>
            </a:r>
            <a:r>
              <a:rPr lang="en-US" b="1" dirty="0" err="1"/>
              <a:t>setValue</a:t>
            </a:r>
            <a:r>
              <a:rPr lang="en-US" b="1" dirty="0"/>
              <a:t>(Comparable value);</a:t>
            </a:r>
          </a:p>
          <a:p>
            <a:r>
              <a:rPr lang="en-US" b="1" dirty="0"/>
              <a:t>   public void </a:t>
            </a:r>
            <a:r>
              <a:rPr lang="en-US" b="1" dirty="0" err="1"/>
              <a:t>setLeft</a:t>
            </a:r>
            <a:r>
              <a:rPr lang="en-US" b="1" dirty="0"/>
              <a:t>(</a:t>
            </a:r>
            <a:r>
              <a:rPr lang="en-US" b="1" dirty="0" err="1"/>
              <a:t>Treeable</a:t>
            </a:r>
            <a:r>
              <a:rPr lang="en-US" b="1" dirty="0"/>
              <a:t> left);</a:t>
            </a:r>
          </a:p>
          <a:p>
            <a:r>
              <a:rPr lang="en-US" b="1" dirty="0"/>
              <a:t>   public void </a:t>
            </a:r>
            <a:r>
              <a:rPr lang="en-US" b="1" dirty="0" err="1"/>
              <a:t>setRight</a:t>
            </a:r>
            <a:r>
              <a:rPr lang="en-US" b="1" dirty="0"/>
              <a:t>(</a:t>
            </a:r>
            <a:r>
              <a:rPr lang="en-US" b="1" dirty="0" err="1"/>
              <a:t>Treeable</a:t>
            </a:r>
            <a:r>
              <a:rPr lang="en-US" b="1" dirty="0"/>
              <a:t> right);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11268" name="WordArt 1031"/>
          <p:cNvSpPr>
            <a:spLocks noChangeArrowheads="1" noChangeShapeType="1" noTextEdit="1"/>
          </p:cNvSpPr>
          <p:nvPr/>
        </p:nvSpPr>
        <p:spPr bwMode="auto">
          <a:xfrm>
            <a:off x="838200" y="4572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Treeable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457200" y="457200"/>
            <a:ext cx="8458200" cy="585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/>
              <a:t>public class TreeNode implements Treeable</a:t>
            </a:r>
          </a:p>
          <a:p>
            <a:r>
              <a:rPr lang="en-US" sz="1800" b="1"/>
              <a:t>{</a:t>
            </a:r>
          </a:p>
          <a:p>
            <a:r>
              <a:rPr lang="en-US" sz="1800" b="1"/>
              <a:t>   private Comparable treeNodeValue;</a:t>
            </a:r>
          </a:p>
          <a:p>
            <a:r>
              <a:rPr lang="en-US" sz="1800" b="1"/>
              <a:t>   private TreeNode leftTreeNode;</a:t>
            </a:r>
          </a:p>
          <a:p>
            <a:r>
              <a:rPr lang="en-US" sz="1800" b="1"/>
              <a:t>   private TreeNode rightTreeNode;</a:t>
            </a:r>
          </a:p>
          <a:p>
            <a:endParaRPr lang="en-US" sz="1800" b="1"/>
          </a:p>
          <a:p>
            <a:r>
              <a:rPr lang="en-US" sz="1800" b="1"/>
              <a:t>   public TreeNode( ){</a:t>
            </a:r>
          </a:p>
          <a:p>
            <a:r>
              <a:rPr lang="en-US" sz="1800" b="1"/>
              <a:t>      treeNodeValue = null;</a:t>
            </a:r>
          </a:p>
          <a:p>
            <a:r>
              <a:rPr lang="en-US" sz="1800" b="1"/>
              <a:t>      leftTreeNode = null;</a:t>
            </a:r>
          </a:p>
          <a:p>
            <a:r>
              <a:rPr lang="en-US" sz="1800" b="1"/>
              <a:t>      rightTreeNode = null;</a:t>
            </a:r>
          </a:p>
          <a:p>
            <a:r>
              <a:rPr lang="en-US" sz="1800" b="1"/>
              <a:t>   }</a:t>
            </a:r>
          </a:p>
          <a:p>
            <a:endParaRPr lang="en-US" sz="1800" b="1"/>
          </a:p>
          <a:p>
            <a:r>
              <a:rPr lang="en-US" sz="1800" b="1"/>
              <a:t>   public TreeNode(Comparable value, TreeNode left, TreeNode right){</a:t>
            </a:r>
          </a:p>
          <a:p>
            <a:r>
              <a:rPr lang="en-US" sz="1800" b="1"/>
              <a:t>      treeNodeValue = value;</a:t>
            </a:r>
          </a:p>
          <a:p>
            <a:r>
              <a:rPr lang="en-US" sz="1800" b="1"/>
              <a:t>      leftTreeNode = left;</a:t>
            </a:r>
          </a:p>
          <a:p>
            <a:r>
              <a:rPr lang="en-US" sz="1800" b="1"/>
              <a:t>      rightTreeNode = right;</a:t>
            </a:r>
          </a:p>
          <a:p>
            <a:r>
              <a:rPr lang="en-US" sz="1800" b="1"/>
              <a:t>   }</a:t>
            </a:r>
          </a:p>
          <a:p>
            <a:r>
              <a:rPr lang="en-US" sz="1800" b="1"/>
              <a:t>   </a:t>
            </a:r>
          </a:p>
          <a:p>
            <a:r>
              <a:rPr lang="en-US" sz="1800" b="1"/>
              <a:t>   //other methods not shown  </a:t>
            </a:r>
          </a:p>
          <a:p>
            <a:r>
              <a:rPr lang="en-US" sz="1800" b="1"/>
              <a:t>  //refer to the Treeable interface</a:t>
            </a:r>
          </a:p>
          <a:p>
            <a:r>
              <a:rPr lang="en-US" sz="1800" b="1"/>
              <a:t>} </a:t>
            </a:r>
          </a:p>
        </p:txBody>
      </p:sp>
      <p:sp>
        <p:nvSpPr>
          <p:cNvPr id="12292" name="WordArt 5"/>
          <p:cNvSpPr>
            <a:spLocks noChangeArrowheads="1" noChangeShapeType="1" noTextEdit="1"/>
          </p:cNvSpPr>
          <p:nvPr/>
        </p:nvSpPr>
        <p:spPr bwMode="auto">
          <a:xfrm>
            <a:off x="5334000" y="1295400"/>
            <a:ext cx="35052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The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TreeNode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Class</a:t>
            </a:r>
          </a:p>
        </p:txBody>
      </p:sp>
      <p:sp>
        <p:nvSpPr>
          <p:cNvPr id="12293" name="Text Box 8"/>
          <p:cNvSpPr txBox="1">
            <a:spLocks noChangeArrowheads="1"/>
          </p:cNvSpPr>
          <p:nvPr/>
        </p:nvSpPr>
        <p:spPr bwMode="auto">
          <a:xfrm>
            <a:off x="4876800" y="4343400"/>
            <a:ext cx="4038600" cy="1806575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400" b="1" i="1">
                <a:solidFill>
                  <a:srgbClr val="CC3300"/>
                </a:solidFill>
              </a:rPr>
              <a:t>This TreeNode class is similar to the AP TreeNode.</a:t>
            </a:r>
          </a:p>
          <a:p>
            <a:endParaRPr lang="en-US" sz="1400" b="1" i="1">
              <a:solidFill>
                <a:srgbClr val="CC3300"/>
              </a:solidFill>
            </a:endParaRPr>
          </a:p>
          <a:p>
            <a:r>
              <a:rPr lang="en-US" sz="1400" b="1" i="1">
                <a:solidFill>
                  <a:srgbClr val="CC3300"/>
                </a:solidFill>
              </a:rPr>
              <a:t>You can obtain the official AP TreeNode class from the college board website.  You will be provided with a copy of the AP TreeNode class when you take the AP Computer Science AB exam.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3315" name="Text Box 2"/>
          <p:cNvSpPr txBox="1">
            <a:spLocks noChangeArrowheads="1"/>
          </p:cNvSpPr>
          <p:nvPr/>
        </p:nvSpPr>
        <p:spPr bwMode="auto">
          <a:xfrm>
            <a:off x="228600" y="2286000"/>
            <a:ext cx="8915400" cy="25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sz="2800" b="1"/>
              <a:t>Treeable node = new TreeNode("10", null,null);</a:t>
            </a:r>
          </a:p>
          <a:p>
            <a:r>
              <a:rPr lang="en-US" sz="2800" b="1"/>
              <a:t>out.println(node.getValue());</a:t>
            </a:r>
          </a:p>
          <a:p>
            <a:r>
              <a:rPr lang="en-US" sz="2800" b="1"/>
              <a:t>out.println(node.getLeft());</a:t>
            </a:r>
          </a:p>
          <a:p>
            <a:r>
              <a:rPr lang="en-US" sz="2800" b="1"/>
              <a:t>out.println(node.getRight());</a:t>
            </a:r>
          </a:p>
          <a:p>
            <a:endParaRPr lang="en-US" sz="2800" b="1"/>
          </a:p>
          <a:p>
            <a:endParaRPr lang="en-US"/>
          </a:p>
        </p:txBody>
      </p:sp>
      <p:sp>
        <p:nvSpPr>
          <p:cNvPr id="13316" name="WordArt 3"/>
          <p:cNvSpPr>
            <a:spLocks noChangeArrowheads="1" noChangeShapeType="1" noTextEdit="1"/>
          </p:cNvSpPr>
          <p:nvPr/>
        </p:nvSpPr>
        <p:spPr bwMode="auto">
          <a:xfrm>
            <a:off x="1371600" y="304800"/>
            <a:ext cx="6477000" cy="1447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Creating A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Single Tree Node</a:t>
            </a:r>
          </a:p>
        </p:txBody>
      </p:sp>
      <p:sp>
        <p:nvSpPr>
          <p:cNvPr id="13317" name="Text Box 13"/>
          <p:cNvSpPr txBox="1">
            <a:spLocks noChangeArrowheads="1"/>
          </p:cNvSpPr>
          <p:nvPr/>
        </p:nvSpPr>
        <p:spPr bwMode="auto">
          <a:xfrm>
            <a:off x="6934200" y="32766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200" b="1" u="sng">
                <a:solidFill>
                  <a:srgbClr val="FF0000"/>
                </a:solidFill>
              </a:rPr>
              <a:t>OUTPUT</a:t>
            </a:r>
            <a:r>
              <a:rPr lang="en-US" sz="3200" b="1"/>
              <a:t>10</a:t>
            </a:r>
            <a:br>
              <a:rPr lang="en-US" sz="3200" b="1"/>
            </a:br>
            <a:r>
              <a:rPr lang="en-US" sz="3200" b="1"/>
              <a:t>null</a:t>
            </a:r>
            <a:br>
              <a:rPr lang="en-US" sz="3200" b="1"/>
            </a:br>
            <a:r>
              <a:rPr lang="en-US" sz="3200" b="1"/>
              <a:t>null</a:t>
            </a:r>
          </a:p>
        </p:txBody>
      </p:sp>
      <p:grpSp>
        <p:nvGrpSpPr>
          <p:cNvPr id="2" name="Group 1" descr="An image of a node that stores 10 with a reference variable that stores a reference to it.">
            <a:extLst>
              <a:ext uri="{FF2B5EF4-FFF2-40B4-BE49-F238E27FC236}">
                <a16:creationId xmlns:a16="http://schemas.microsoft.com/office/drawing/2014/main" id="{528A5124-BCF3-1A2B-29B4-78837F9EF32D}"/>
              </a:ext>
            </a:extLst>
          </p:cNvPr>
          <p:cNvGrpSpPr/>
          <p:nvPr/>
        </p:nvGrpSpPr>
        <p:grpSpPr>
          <a:xfrm>
            <a:off x="1524000" y="4343400"/>
            <a:ext cx="4038600" cy="1435100"/>
            <a:chOff x="1524000" y="4343400"/>
            <a:chExt cx="4038600" cy="1435100"/>
          </a:xfrm>
        </p:grpSpPr>
        <p:sp>
          <p:nvSpPr>
            <p:cNvPr id="13318" name="Rectangle 14"/>
            <p:cNvSpPr>
              <a:spLocks noChangeArrowheads="1"/>
            </p:cNvSpPr>
            <p:nvPr/>
          </p:nvSpPr>
          <p:spPr bwMode="auto">
            <a:xfrm>
              <a:off x="3505200" y="4343400"/>
              <a:ext cx="2057400" cy="75882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9" name="Rectangle 19"/>
            <p:cNvSpPr>
              <a:spLocks noChangeArrowheads="1"/>
            </p:cNvSpPr>
            <p:nvPr/>
          </p:nvSpPr>
          <p:spPr bwMode="auto">
            <a:xfrm>
              <a:off x="4244975" y="4473575"/>
              <a:ext cx="5715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b="1">
                  <a:solidFill>
                    <a:schemeClr val="accent2"/>
                  </a:solidFill>
                </a:rPr>
                <a:t>10</a:t>
              </a:r>
            </a:p>
          </p:txBody>
        </p:sp>
        <p:sp>
          <p:nvSpPr>
            <p:cNvPr id="13320" name="Text Box 20"/>
            <p:cNvSpPr txBox="1">
              <a:spLocks noChangeArrowheads="1"/>
            </p:cNvSpPr>
            <p:nvPr/>
          </p:nvSpPr>
          <p:spPr bwMode="auto">
            <a:xfrm>
              <a:off x="3569218" y="5220494"/>
              <a:ext cx="914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b="1" dirty="0">
                  <a:solidFill>
                    <a:schemeClr val="accent2"/>
                  </a:solidFill>
                </a:rPr>
                <a:t>null</a:t>
              </a:r>
            </a:p>
          </p:txBody>
        </p:sp>
        <p:sp>
          <p:nvSpPr>
            <p:cNvPr id="13321" name="Text Box 21"/>
            <p:cNvSpPr txBox="1">
              <a:spLocks noChangeArrowheads="1"/>
            </p:cNvSpPr>
            <p:nvPr/>
          </p:nvSpPr>
          <p:spPr bwMode="auto">
            <a:xfrm>
              <a:off x="4584182" y="5213350"/>
              <a:ext cx="914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b="1" dirty="0">
                  <a:solidFill>
                    <a:schemeClr val="accent2"/>
                  </a:solidFill>
                </a:rPr>
                <a:t>null</a:t>
              </a:r>
            </a:p>
          </p:txBody>
        </p:sp>
        <p:sp>
          <p:nvSpPr>
            <p:cNvPr id="13322" name="Rectangle 22"/>
            <p:cNvSpPr>
              <a:spLocks noChangeArrowheads="1"/>
            </p:cNvSpPr>
            <p:nvPr/>
          </p:nvSpPr>
          <p:spPr bwMode="auto">
            <a:xfrm>
              <a:off x="3505200" y="5105400"/>
              <a:ext cx="977900" cy="673100"/>
            </a:xfrm>
            <a:prstGeom prst="rect">
              <a:avLst/>
            </a:prstGeom>
            <a:solidFill>
              <a:srgbClr val="339966">
                <a:alpha val="47058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3" name="Rectangle 23"/>
            <p:cNvSpPr>
              <a:spLocks noChangeArrowheads="1"/>
            </p:cNvSpPr>
            <p:nvPr/>
          </p:nvSpPr>
          <p:spPr bwMode="auto">
            <a:xfrm>
              <a:off x="4572000" y="5105400"/>
              <a:ext cx="977900" cy="673100"/>
            </a:xfrm>
            <a:prstGeom prst="rect">
              <a:avLst/>
            </a:prstGeom>
            <a:solidFill>
              <a:srgbClr val="3366FF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20">
              <a:extLst>
                <a:ext uri="{FF2B5EF4-FFF2-40B4-BE49-F238E27FC236}">
                  <a16:creationId xmlns:a16="http://schemas.microsoft.com/office/drawing/2014/main" id="{4EBF6DDA-1821-4FC3-B285-F10AA9410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4343400"/>
              <a:ext cx="1066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b="1" dirty="0">
                  <a:solidFill>
                    <a:schemeClr val="accent2"/>
                  </a:solidFill>
                </a:rPr>
                <a:t>node</a:t>
              </a:r>
            </a:p>
          </p:txBody>
        </p:sp>
        <p:sp>
          <p:nvSpPr>
            <p:cNvPr id="15" name="Line 24">
              <a:extLst>
                <a:ext uri="{FF2B5EF4-FFF2-40B4-BE49-F238E27FC236}">
                  <a16:creationId xmlns:a16="http://schemas.microsoft.com/office/drawing/2014/main" id="{5682BFE6-B40A-4A7B-8F84-573F392B5E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4648200"/>
              <a:ext cx="914400" cy="76200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4339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  onetreenode.java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5363" name="WordArt 2"/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Linking Tree Nodes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6387" name="WordArt 2"/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Linking Tree Nodes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381000" y="1828800"/>
            <a:ext cx="812594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 err="1"/>
              <a:t>TreeNode</a:t>
            </a:r>
            <a:r>
              <a:rPr lang="en-US" b="1" dirty="0"/>
              <a:t> node = new </a:t>
            </a:r>
            <a:r>
              <a:rPr lang="en-US" b="1" dirty="0" err="1"/>
              <a:t>TreeNode</a:t>
            </a:r>
            <a:r>
              <a:rPr lang="en-US" b="1" dirty="0"/>
              <a:t>("10",</a:t>
            </a:r>
          </a:p>
          <a:p>
            <a:r>
              <a:rPr lang="en-US" b="1" dirty="0"/>
              <a:t>			   new </a:t>
            </a:r>
            <a:r>
              <a:rPr lang="en-US" b="1" dirty="0" err="1"/>
              <a:t>TreeNode</a:t>
            </a:r>
            <a:r>
              <a:rPr lang="en-US" b="1" dirty="0"/>
              <a:t>("5", </a:t>
            </a:r>
            <a:r>
              <a:rPr lang="en-US" b="1" dirty="0" err="1"/>
              <a:t>null,null</a:t>
            </a:r>
            <a:r>
              <a:rPr lang="en-US" b="1" dirty="0"/>
              <a:t>),</a:t>
            </a:r>
          </a:p>
          <a:p>
            <a:r>
              <a:rPr lang="en-US" b="1" dirty="0"/>
              <a:t>			   new </a:t>
            </a:r>
            <a:r>
              <a:rPr lang="en-US" b="1" dirty="0" err="1"/>
              <a:t>TreeNode</a:t>
            </a:r>
            <a:r>
              <a:rPr lang="en-US" b="1" dirty="0"/>
              <a:t>("20", </a:t>
            </a:r>
            <a:r>
              <a:rPr lang="en-US" b="1" dirty="0" err="1"/>
              <a:t>null,null</a:t>
            </a:r>
            <a:r>
              <a:rPr lang="en-US" b="1" dirty="0"/>
              <a:t>));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 err="1"/>
              <a:t>out.println</a:t>
            </a:r>
            <a:r>
              <a:rPr lang="en-US" b="1" dirty="0"/>
              <a:t>(</a:t>
            </a:r>
            <a:r>
              <a:rPr lang="en-US" b="1" dirty="0" err="1"/>
              <a:t>node.getValue</a:t>
            </a:r>
            <a:r>
              <a:rPr lang="en-US" b="1" dirty="0"/>
              <a:t>());</a:t>
            </a:r>
          </a:p>
          <a:p>
            <a:r>
              <a:rPr lang="en-US" b="1" dirty="0" err="1"/>
              <a:t>out.println</a:t>
            </a:r>
            <a:r>
              <a:rPr lang="en-US" b="1" dirty="0"/>
              <a:t>(</a:t>
            </a:r>
            <a:r>
              <a:rPr lang="en-US" b="1" dirty="0" err="1"/>
              <a:t>node.getLeft</a:t>
            </a:r>
            <a:r>
              <a:rPr lang="en-US" b="1" dirty="0"/>
              <a:t>().</a:t>
            </a:r>
            <a:r>
              <a:rPr lang="en-US" b="1" dirty="0" err="1"/>
              <a:t>getValue</a:t>
            </a:r>
            <a:r>
              <a:rPr lang="en-US" b="1" dirty="0"/>
              <a:t>());</a:t>
            </a:r>
          </a:p>
          <a:p>
            <a:r>
              <a:rPr lang="en-US" b="1" dirty="0" err="1"/>
              <a:t>out.println</a:t>
            </a:r>
            <a:r>
              <a:rPr lang="en-US" b="1" dirty="0"/>
              <a:t>(</a:t>
            </a:r>
            <a:r>
              <a:rPr lang="en-US" b="1" dirty="0" err="1"/>
              <a:t>node.getRight</a:t>
            </a:r>
            <a:r>
              <a:rPr lang="en-US" b="1" dirty="0"/>
              <a:t>().</a:t>
            </a:r>
            <a:r>
              <a:rPr lang="en-US" b="1" dirty="0" err="1"/>
              <a:t>getValue</a:t>
            </a:r>
            <a:r>
              <a:rPr lang="en-US" b="1" dirty="0"/>
              <a:t>());</a:t>
            </a:r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7010400" y="36576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200" b="1" u="sng">
                <a:solidFill>
                  <a:srgbClr val="FF0000"/>
                </a:solidFill>
              </a:rPr>
              <a:t>OUTPUT</a:t>
            </a:r>
            <a:r>
              <a:rPr lang="en-US" sz="3200" b="1"/>
              <a:t>10</a:t>
            </a:r>
            <a:br>
              <a:rPr lang="en-US" sz="3200" b="1"/>
            </a:br>
            <a:r>
              <a:rPr lang="en-US" sz="3200" b="1"/>
              <a:t>5</a:t>
            </a:r>
            <a:br>
              <a:rPr lang="en-US" sz="3200" b="1"/>
            </a:br>
            <a:r>
              <a:rPr lang="en-US" sz="3200" b="1"/>
              <a:t>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7411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  treeone.java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8458" name="WordArt 29"/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Linking Tree Nodes</a:t>
            </a:r>
          </a:p>
        </p:txBody>
      </p:sp>
      <p:grpSp>
        <p:nvGrpSpPr>
          <p:cNvPr id="2" name="Group 1" descr="An image of three binary tree nodes with their memory locations:&#10;The nodes:&#10;Node(20, 0xCD, 0x57) at 0xAB&#10;Node(10, null, null) at 0xCD&#10;Node(25, null, null) at 0x57">
            <a:extLst>
              <a:ext uri="{FF2B5EF4-FFF2-40B4-BE49-F238E27FC236}">
                <a16:creationId xmlns:a16="http://schemas.microsoft.com/office/drawing/2014/main" id="{54B001D7-1A3E-8C2E-A8CD-EC35E340D6E6}"/>
              </a:ext>
            </a:extLst>
          </p:cNvPr>
          <p:cNvGrpSpPr/>
          <p:nvPr/>
        </p:nvGrpSpPr>
        <p:grpSpPr>
          <a:xfrm>
            <a:off x="1143000" y="1757362"/>
            <a:ext cx="6781800" cy="3805238"/>
            <a:chOff x="1143000" y="1757362"/>
            <a:chExt cx="6781800" cy="3805238"/>
          </a:xfrm>
        </p:grpSpPr>
        <p:sp>
          <p:nvSpPr>
            <p:cNvPr id="18436" name="Rectangle 5"/>
            <p:cNvSpPr>
              <a:spLocks noChangeArrowheads="1"/>
            </p:cNvSpPr>
            <p:nvPr/>
          </p:nvSpPr>
          <p:spPr bwMode="auto">
            <a:xfrm>
              <a:off x="3352800" y="2290762"/>
              <a:ext cx="2057400" cy="75882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37" name="Rectangle 6"/>
            <p:cNvSpPr>
              <a:spLocks noChangeArrowheads="1"/>
            </p:cNvSpPr>
            <p:nvPr/>
          </p:nvSpPr>
          <p:spPr bwMode="auto">
            <a:xfrm>
              <a:off x="3352800" y="3052762"/>
              <a:ext cx="984250" cy="681038"/>
            </a:xfrm>
            <a:prstGeom prst="rect">
              <a:avLst/>
            </a:prstGeom>
            <a:solidFill>
              <a:srgbClr val="3366FF">
                <a:alpha val="25098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38" name="Rectangle 7"/>
            <p:cNvSpPr>
              <a:spLocks noChangeArrowheads="1"/>
            </p:cNvSpPr>
            <p:nvPr/>
          </p:nvSpPr>
          <p:spPr bwMode="auto">
            <a:xfrm>
              <a:off x="4419600" y="3052762"/>
              <a:ext cx="984250" cy="681038"/>
            </a:xfrm>
            <a:prstGeom prst="rect">
              <a:avLst/>
            </a:prstGeom>
            <a:solidFill>
              <a:srgbClr val="339966">
                <a:alpha val="25098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39" name="Line 8"/>
            <p:cNvSpPr>
              <a:spLocks noChangeShapeType="1"/>
            </p:cNvSpPr>
            <p:nvPr/>
          </p:nvSpPr>
          <p:spPr bwMode="auto">
            <a:xfrm>
              <a:off x="5257800" y="3586162"/>
              <a:ext cx="457200" cy="457200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0" name="Line 9"/>
            <p:cNvSpPr>
              <a:spLocks noChangeShapeType="1"/>
            </p:cNvSpPr>
            <p:nvPr/>
          </p:nvSpPr>
          <p:spPr bwMode="auto">
            <a:xfrm flipH="1">
              <a:off x="3124200" y="3586162"/>
              <a:ext cx="381000" cy="457200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1" name="Rectangle 10"/>
            <p:cNvSpPr>
              <a:spLocks noChangeArrowheads="1"/>
            </p:cNvSpPr>
            <p:nvPr/>
          </p:nvSpPr>
          <p:spPr bwMode="auto">
            <a:xfrm>
              <a:off x="4092575" y="2420937"/>
              <a:ext cx="5715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b="1">
                  <a:solidFill>
                    <a:schemeClr val="accent2"/>
                  </a:solidFill>
                </a:rPr>
                <a:t>20</a:t>
              </a:r>
            </a:p>
          </p:txBody>
        </p:sp>
        <p:sp>
          <p:nvSpPr>
            <p:cNvPr id="18442" name="Rectangle 13"/>
            <p:cNvSpPr>
              <a:spLocks noChangeArrowheads="1"/>
            </p:cNvSpPr>
            <p:nvPr/>
          </p:nvSpPr>
          <p:spPr bwMode="auto">
            <a:xfrm>
              <a:off x="1143000" y="4119562"/>
              <a:ext cx="2057400" cy="75882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3" name="Rectangle 14"/>
            <p:cNvSpPr>
              <a:spLocks noChangeArrowheads="1"/>
            </p:cNvSpPr>
            <p:nvPr/>
          </p:nvSpPr>
          <p:spPr bwMode="auto">
            <a:xfrm>
              <a:off x="1143000" y="4881562"/>
              <a:ext cx="984250" cy="681038"/>
            </a:xfrm>
            <a:prstGeom prst="rect">
              <a:avLst/>
            </a:prstGeom>
            <a:solidFill>
              <a:srgbClr val="3366FF">
                <a:alpha val="23921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4" name="Rectangle 15"/>
            <p:cNvSpPr>
              <a:spLocks noChangeArrowheads="1"/>
            </p:cNvSpPr>
            <p:nvPr/>
          </p:nvSpPr>
          <p:spPr bwMode="auto">
            <a:xfrm>
              <a:off x="2209800" y="4881562"/>
              <a:ext cx="984250" cy="681038"/>
            </a:xfrm>
            <a:prstGeom prst="rect">
              <a:avLst/>
            </a:prstGeom>
            <a:solidFill>
              <a:srgbClr val="339966">
                <a:alpha val="25098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7" name="Rectangle 18"/>
            <p:cNvSpPr>
              <a:spLocks noChangeArrowheads="1"/>
            </p:cNvSpPr>
            <p:nvPr/>
          </p:nvSpPr>
          <p:spPr bwMode="auto">
            <a:xfrm>
              <a:off x="1882775" y="4249737"/>
              <a:ext cx="5715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b="1">
                  <a:solidFill>
                    <a:schemeClr val="accent2"/>
                  </a:solidFill>
                </a:rPr>
                <a:t>10</a:t>
              </a:r>
            </a:p>
          </p:txBody>
        </p:sp>
        <p:sp>
          <p:nvSpPr>
            <p:cNvPr id="18450" name="Rectangle 21"/>
            <p:cNvSpPr>
              <a:spLocks noChangeArrowheads="1"/>
            </p:cNvSpPr>
            <p:nvPr/>
          </p:nvSpPr>
          <p:spPr bwMode="auto">
            <a:xfrm>
              <a:off x="5638800" y="4119562"/>
              <a:ext cx="2057400" cy="75882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Rectangle 22"/>
            <p:cNvSpPr>
              <a:spLocks noChangeArrowheads="1"/>
            </p:cNvSpPr>
            <p:nvPr/>
          </p:nvSpPr>
          <p:spPr bwMode="auto">
            <a:xfrm>
              <a:off x="5638800" y="4881562"/>
              <a:ext cx="984250" cy="681038"/>
            </a:xfrm>
            <a:prstGeom prst="rect">
              <a:avLst/>
            </a:prstGeom>
            <a:solidFill>
              <a:srgbClr val="3366FF">
                <a:alpha val="25098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2" name="Rectangle 23"/>
            <p:cNvSpPr>
              <a:spLocks noChangeArrowheads="1"/>
            </p:cNvSpPr>
            <p:nvPr/>
          </p:nvSpPr>
          <p:spPr bwMode="auto">
            <a:xfrm>
              <a:off x="6705600" y="4881562"/>
              <a:ext cx="984250" cy="681038"/>
            </a:xfrm>
            <a:prstGeom prst="rect">
              <a:avLst/>
            </a:prstGeom>
            <a:solidFill>
              <a:srgbClr val="339966">
                <a:alpha val="25098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Rectangle 26"/>
            <p:cNvSpPr>
              <a:spLocks noChangeArrowheads="1"/>
            </p:cNvSpPr>
            <p:nvPr/>
          </p:nvSpPr>
          <p:spPr bwMode="auto">
            <a:xfrm>
              <a:off x="6378575" y="4249737"/>
              <a:ext cx="5715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b="1">
                  <a:solidFill>
                    <a:schemeClr val="accent2"/>
                  </a:solidFill>
                </a:rPr>
                <a:t>25</a:t>
              </a:r>
            </a:p>
          </p:txBody>
        </p:sp>
        <p:sp>
          <p:nvSpPr>
            <p:cNvPr id="18459" name="Text Box 30"/>
            <p:cNvSpPr txBox="1">
              <a:spLocks noChangeArrowheads="1"/>
            </p:cNvSpPr>
            <p:nvPr/>
          </p:nvSpPr>
          <p:spPr bwMode="auto">
            <a:xfrm>
              <a:off x="3886200" y="198596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600" b="1">
                  <a:solidFill>
                    <a:srgbClr val="0000CC"/>
                  </a:solidFill>
                </a:rPr>
                <a:t>0xAB</a:t>
              </a:r>
            </a:p>
          </p:txBody>
        </p:sp>
        <p:sp>
          <p:nvSpPr>
            <p:cNvPr id="18460" name="Text Box 31"/>
            <p:cNvSpPr txBox="1">
              <a:spLocks noChangeArrowheads="1"/>
            </p:cNvSpPr>
            <p:nvPr/>
          </p:nvSpPr>
          <p:spPr bwMode="auto">
            <a:xfrm>
              <a:off x="1676400" y="381476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600" b="1">
                  <a:solidFill>
                    <a:srgbClr val="0000CC"/>
                  </a:solidFill>
                </a:rPr>
                <a:t>0xCD</a:t>
              </a:r>
            </a:p>
          </p:txBody>
        </p:sp>
        <p:sp>
          <p:nvSpPr>
            <p:cNvPr id="18461" name="Text Box 32"/>
            <p:cNvSpPr txBox="1">
              <a:spLocks noChangeArrowheads="1"/>
            </p:cNvSpPr>
            <p:nvPr/>
          </p:nvSpPr>
          <p:spPr bwMode="auto">
            <a:xfrm>
              <a:off x="6172200" y="381476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600" b="1">
                  <a:solidFill>
                    <a:srgbClr val="0000CC"/>
                  </a:solidFill>
                </a:rPr>
                <a:t>0x57</a:t>
              </a:r>
            </a:p>
          </p:txBody>
        </p:sp>
        <p:sp>
          <p:nvSpPr>
            <p:cNvPr id="18462" name="Text Box 33"/>
            <p:cNvSpPr txBox="1">
              <a:spLocks noChangeArrowheads="1"/>
            </p:cNvSpPr>
            <p:nvPr/>
          </p:nvSpPr>
          <p:spPr bwMode="auto">
            <a:xfrm>
              <a:off x="3505200" y="320516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600" b="1">
                  <a:solidFill>
                    <a:srgbClr val="0000CC"/>
                  </a:solidFill>
                </a:rPr>
                <a:t>0xCD</a:t>
              </a:r>
            </a:p>
          </p:txBody>
        </p:sp>
        <p:sp>
          <p:nvSpPr>
            <p:cNvPr id="18463" name="Text Box 34"/>
            <p:cNvSpPr txBox="1">
              <a:spLocks noChangeArrowheads="1"/>
            </p:cNvSpPr>
            <p:nvPr/>
          </p:nvSpPr>
          <p:spPr bwMode="auto">
            <a:xfrm>
              <a:off x="4572000" y="320516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600" b="1">
                  <a:solidFill>
                    <a:srgbClr val="0000CC"/>
                  </a:solidFill>
                </a:rPr>
                <a:t>0x57</a:t>
              </a:r>
            </a:p>
          </p:txBody>
        </p:sp>
        <p:sp>
          <p:nvSpPr>
            <p:cNvPr id="18464" name="Text Box 36"/>
            <p:cNvSpPr txBox="1">
              <a:spLocks noChangeArrowheads="1"/>
            </p:cNvSpPr>
            <p:nvPr/>
          </p:nvSpPr>
          <p:spPr bwMode="auto">
            <a:xfrm>
              <a:off x="1295400" y="503396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600" b="1">
                  <a:solidFill>
                    <a:srgbClr val="0000CC"/>
                  </a:solidFill>
                </a:rPr>
                <a:t>null</a:t>
              </a:r>
            </a:p>
          </p:txBody>
        </p:sp>
        <p:sp>
          <p:nvSpPr>
            <p:cNvPr id="18465" name="Text Box 37"/>
            <p:cNvSpPr txBox="1">
              <a:spLocks noChangeArrowheads="1"/>
            </p:cNvSpPr>
            <p:nvPr/>
          </p:nvSpPr>
          <p:spPr bwMode="auto">
            <a:xfrm>
              <a:off x="2362200" y="503396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600" b="1">
                  <a:solidFill>
                    <a:srgbClr val="0000CC"/>
                  </a:solidFill>
                </a:rPr>
                <a:t>null</a:t>
              </a:r>
            </a:p>
          </p:txBody>
        </p:sp>
        <p:sp>
          <p:nvSpPr>
            <p:cNvPr id="18466" name="Text Box 38"/>
            <p:cNvSpPr txBox="1">
              <a:spLocks noChangeArrowheads="1"/>
            </p:cNvSpPr>
            <p:nvPr/>
          </p:nvSpPr>
          <p:spPr bwMode="auto">
            <a:xfrm>
              <a:off x="5791200" y="503396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600" b="1">
                  <a:solidFill>
                    <a:srgbClr val="0000CC"/>
                  </a:solidFill>
                </a:rPr>
                <a:t>null</a:t>
              </a:r>
            </a:p>
          </p:txBody>
        </p:sp>
        <p:sp>
          <p:nvSpPr>
            <p:cNvPr id="18467" name="Text Box 39"/>
            <p:cNvSpPr txBox="1">
              <a:spLocks noChangeArrowheads="1"/>
            </p:cNvSpPr>
            <p:nvPr/>
          </p:nvSpPr>
          <p:spPr bwMode="auto">
            <a:xfrm>
              <a:off x="6934200" y="503396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600" b="1">
                  <a:solidFill>
                    <a:srgbClr val="0000CC"/>
                  </a:solidFill>
                </a:rPr>
                <a:t>null</a:t>
              </a:r>
            </a:p>
          </p:txBody>
        </p:sp>
        <p:sp>
          <p:nvSpPr>
            <p:cNvPr id="18468" name="Rectangle 40"/>
            <p:cNvSpPr>
              <a:spLocks noChangeArrowheads="1"/>
            </p:cNvSpPr>
            <p:nvPr/>
          </p:nvSpPr>
          <p:spPr bwMode="auto">
            <a:xfrm>
              <a:off x="3962400" y="1757362"/>
              <a:ext cx="600075" cy="284163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</a:rPr>
                <a:t>Root 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9459" name="WordArt 2"/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Linking Tree Nodes</a:t>
            </a: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381000" y="1828800"/>
            <a:ext cx="7070725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TreeNode x = new TreeNode("10",null,null);</a:t>
            </a:r>
          </a:p>
          <a:p>
            <a:r>
              <a:rPr lang="en-US" b="1"/>
              <a:t>TreeNode y = new TreeNode("25", null,null);</a:t>
            </a:r>
          </a:p>
          <a:p>
            <a:r>
              <a:rPr lang="en-US" b="1"/>
              <a:t>TreeNode z =</a:t>
            </a:r>
            <a:r>
              <a:rPr lang="en-US"/>
              <a:t> </a:t>
            </a:r>
            <a:r>
              <a:rPr lang="en-US" b="1"/>
              <a:t>new TreeNode("20", x, y);</a:t>
            </a:r>
          </a:p>
          <a:p>
            <a:endParaRPr lang="en-US" b="1"/>
          </a:p>
          <a:p>
            <a:endParaRPr lang="en-US" b="1"/>
          </a:p>
          <a:p>
            <a:r>
              <a:rPr lang="en-US" b="1"/>
              <a:t>out.println(z.getValue());</a:t>
            </a:r>
          </a:p>
          <a:p>
            <a:r>
              <a:rPr lang="en-US" b="1"/>
              <a:t>out.println(z.getLeft().getValue());</a:t>
            </a:r>
          </a:p>
          <a:p>
            <a:r>
              <a:rPr lang="en-US" b="1"/>
              <a:t>out.println(z.getRight().getValue());</a:t>
            </a:r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7010400" y="36576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200" b="1" u="sng">
                <a:solidFill>
                  <a:srgbClr val="FF0000"/>
                </a:solidFill>
              </a:rPr>
              <a:t>OUTPUT</a:t>
            </a:r>
            <a:r>
              <a:rPr lang="en-US" sz="3200" b="1"/>
              <a:t>20</a:t>
            </a:r>
            <a:br>
              <a:rPr lang="en-US" sz="3200" b="1"/>
            </a:br>
            <a:r>
              <a:rPr lang="en-US" sz="3200" b="1"/>
              <a:t>10</a:t>
            </a:r>
            <a:br>
              <a:rPr lang="en-US" sz="3200" b="1"/>
            </a:br>
            <a:r>
              <a:rPr lang="en-US" sz="3200" b="1"/>
              <a:t>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20483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  treetwo.java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838200" y="2438400"/>
            <a:ext cx="7781925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800" b="1"/>
              <a:t>Every item that is added to a search tree</a:t>
            </a:r>
          </a:p>
          <a:p>
            <a:r>
              <a:rPr lang="en-US" sz="2800" b="1"/>
              <a:t>is first compared to the root.  If the item</a:t>
            </a:r>
          </a:p>
          <a:p>
            <a:r>
              <a:rPr lang="en-US" sz="2800" b="1"/>
              <a:t>is larger than the root, a recursive call is</a:t>
            </a:r>
          </a:p>
          <a:p>
            <a:r>
              <a:rPr lang="en-US" sz="2800" b="1"/>
              <a:t>made on the right sub tree.   If the item is </a:t>
            </a:r>
          </a:p>
          <a:p>
            <a:r>
              <a:rPr lang="en-US" sz="2800" b="1"/>
              <a:t>smaller than the root, a recursive call is</a:t>
            </a:r>
          </a:p>
          <a:p>
            <a:r>
              <a:rPr lang="en-US" sz="2800" b="1"/>
              <a:t>made on the left sub tree.  This process</a:t>
            </a:r>
          </a:p>
          <a:p>
            <a:r>
              <a:rPr lang="en-US" sz="2800" b="1"/>
              <a:t>continues until a null reference is found.</a:t>
            </a:r>
          </a:p>
        </p:txBody>
      </p:sp>
      <p:sp>
        <p:nvSpPr>
          <p:cNvPr id="23556" name="WordArt 3"/>
          <p:cNvSpPr>
            <a:spLocks noChangeArrowheads="1" noChangeShapeType="1" noTextEdit="1"/>
          </p:cNvSpPr>
          <p:nvPr/>
        </p:nvSpPr>
        <p:spPr bwMode="auto">
          <a:xfrm>
            <a:off x="1752600" y="304800"/>
            <a:ext cx="5334000" cy="1828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adding nodes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517525" y="5937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1433513" y="4413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517525" y="20224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>
              <a:latin typeface="Times New Roman" pitchFamily="18" charset="0"/>
            </a:endParaRPr>
          </a:p>
        </p:txBody>
      </p:sp>
      <p:sp>
        <p:nvSpPr>
          <p:cNvPr id="24582" name="Rectangle 5"/>
          <p:cNvSpPr>
            <a:spLocks noChangeArrowheads="1"/>
          </p:cNvSpPr>
          <p:nvPr/>
        </p:nvSpPr>
        <p:spPr bwMode="auto">
          <a:xfrm>
            <a:off x="609600" y="914400"/>
            <a:ext cx="7691438" cy="447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private</a:t>
            </a:r>
            <a:r>
              <a:rPr lang="en-US"/>
              <a:t> TreeNode add(Comparable val, TreeNode tree)</a:t>
            </a:r>
          </a:p>
          <a:p>
            <a:r>
              <a:rPr lang="en-US"/>
              <a:t>{</a:t>
            </a:r>
          </a:p>
          <a:p>
            <a:r>
              <a:rPr lang="en-US" b="1"/>
              <a:t>   if</a:t>
            </a:r>
            <a:r>
              <a:rPr lang="en-US"/>
              <a:t> (tree == null)</a:t>
            </a:r>
          </a:p>
          <a:p>
            <a:r>
              <a:rPr lang="en-US"/>
              <a:t>      </a:t>
            </a:r>
            <a:r>
              <a:rPr lang="en-US" b="1"/>
              <a:t>return</a:t>
            </a:r>
            <a:r>
              <a:rPr lang="en-US"/>
              <a:t> </a:t>
            </a:r>
            <a:r>
              <a:rPr lang="en-US" b="1"/>
              <a:t>new</a:t>
            </a:r>
            <a:r>
              <a:rPr lang="en-US"/>
              <a:t> TreeNode(val, null, null);</a:t>
            </a:r>
          </a:p>
          <a:p>
            <a:endParaRPr lang="en-US"/>
          </a:p>
          <a:p>
            <a:r>
              <a:rPr lang="en-US"/>
              <a:t>   </a:t>
            </a:r>
            <a:r>
              <a:rPr lang="en-US" b="1"/>
              <a:t>int </a:t>
            </a:r>
            <a:r>
              <a:rPr lang="en-US"/>
              <a:t>dirTest = </a:t>
            </a:r>
            <a:r>
              <a:rPr lang="en-US">
                <a:solidFill>
                  <a:schemeClr val="accent2"/>
                </a:solidFill>
              </a:rPr>
              <a:t>val.compareTo(tree.getValue())</a:t>
            </a:r>
            <a:r>
              <a:rPr lang="en-US"/>
              <a:t>;</a:t>
            </a:r>
          </a:p>
          <a:p>
            <a:r>
              <a:rPr lang="en-US"/>
              <a:t>   </a:t>
            </a:r>
            <a:r>
              <a:rPr lang="en-US" b="1"/>
              <a:t>if</a:t>
            </a:r>
            <a:r>
              <a:rPr lang="en-US"/>
              <a:t>(</a:t>
            </a:r>
            <a:r>
              <a:rPr lang="en-US">
                <a:solidFill>
                  <a:srgbClr val="336600"/>
                </a:solidFill>
              </a:rPr>
              <a:t>dirTest&lt;0</a:t>
            </a:r>
            <a:r>
              <a:rPr lang="en-US"/>
              <a:t>)</a:t>
            </a:r>
          </a:p>
          <a:p>
            <a:r>
              <a:rPr lang="en-US"/>
              <a:t>      tree.setLeft(add(val, tree.getLeft()));</a:t>
            </a:r>
          </a:p>
          <a:p>
            <a:r>
              <a:rPr lang="en-US"/>
              <a:t>   </a:t>
            </a:r>
            <a:r>
              <a:rPr lang="en-US" b="1"/>
              <a:t>else if</a:t>
            </a:r>
            <a:r>
              <a:rPr lang="en-US"/>
              <a:t>(</a:t>
            </a:r>
            <a:r>
              <a:rPr lang="en-US">
                <a:solidFill>
                  <a:srgbClr val="336600"/>
                </a:solidFill>
              </a:rPr>
              <a:t>dirTest&gt;0</a:t>
            </a:r>
            <a:r>
              <a:rPr lang="en-US"/>
              <a:t>)</a:t>
            </a:r>
          </a:p>
          <a:p>
            <a:r>
              <a:rPr lang="en-US"/>
              <a:t>      tree.setRight(add(val, tree.getRight()));</a:t>
            </a:r>
          </a:p>
          <a:p>
            <a:r>
              <a:rPr lang="en-US"/>
              <a:t>   </a:t>
            </a:r>
            <a:r>
              <a:rPr lang="en-US" b="1"/>
              <a:t>return</a:t>
            </a:r>
            <a:r>
              <a:rPr lang="en-US"/>
              <a:t> tree;</a:t>
            </a:r>
          </a:p>
          <a:p>
            <a:r>
              <a:rPr lang="en-US"/>
              <a:t>}</a:t>
            </a:r>
          </a:p>
        </p:txBody>
      </p:sp>
      <p:sp>
        <p:nvSpPr>
          <p:cNvPr id="24583" name="WordArt 6"/>
          <p:cNvSpPr>
            <a:spLocks noChangeArrowheads="1" noChangeShapeType="1" noTextEdit="1"/>
          </p:cNvSpPr>
          <p:nvPr/>
        </p:nvSpPr>
        <p:spPr bwMode="auto">
          <a:xfrm>
            <a:off x="685800" y="304800"/>
            <a:ext cx="7543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add - recursive 1</a:t>
            </a:r>
          </a:p>
        </p:txBody>
      </p:sp>
      <p:sp>
        <p:nvSpPr>
          <p:cNvPr id="24584" name="WordArt 7"/>
          <p:cNvSpPr>
            <a:spLocks noChangeArrowheads="1" noChangeShapeType="1" noTextEdit="1"/>
          </p:cNvSpPr>
          <p:nvPr/>
        </p:nvSpPr>
        <p:spPr bwMode="auto">
          <a:xfrm>
            <a:off x="304800" y="5410200"/>
            <a:ext cx="34290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How does </a:t>
            </a:r>
          </a:p>
          <a:p>
            <a:pPr algn="ctr"/>
            <a:r>
              <a:rPr lang="en-US" sz="3600" kern="10">
                <a:ln w="9525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this work?</a:t>
            </a:r>
          </a:p>
        </p:txBody>
      </p:sp>
      <p:sp>
        <p:nvSpPr>
          <p:cNvPr id="24585" name="Text Box 8"/>
          <p:cNvSpPr txBox="1">
            <a:spLocks noChangeArrowheads="1"/>
          </p:cNvSpPr>
          <p:nvPr/>
        </p:nvSpPr>
        <p:spPr bwMode="auto">
          <a:xfrm>
            <a:off x="5486400" y="4495800"/>
            <a:ext cx="312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7239000" y="1981200"/>
            <a:ext cx="1676400" cy="1628775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accent2"/>
                </a:solidFill>
              </a:rPr>
              <a:t>Check to see which direction to go.   Go left or right?</a:t>
            </a:r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 flipH="1">
            <a:off x="5867400" y="2209800"/>
            <a:ext cx="1371600" cy="6096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2971800" y="3200400"/>
            <a:ext cx="1371600" cy="317500"/>
          </a:xfrm>
          <a:prstGeom prst="rect">
            <a:avLst/>
          </a:prstGeom>
          <a:noFill/>
          <a:ln w="12700">
            <a:solidFill>
              <a:srgbClr val="339966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009900"/>
                </a:solidFill>
              </a:rPr>
              <a:t>do I go left?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3505200" y="3962400"/>
            <a:ext cx="1524000" cy="317500"/>
          </a:xfrm>
          <a:prstGeom prst="rect">
            <a:avLst/>
          </a:prstGeom>
          <a:noFill/>
          <a:ln w="12700">
            <a:solidFill>
              <a:srgbClr val="339966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009900"/>
                </a:solidFill>
              </a:rPr>
              <a:t>do I go right?</a:t>
            </a:r>
          </a:p>
        </p:txBody>
      </p:sp>
      <p:sp>
        <p:nvSpPr>
          <p:cNvPr id="24590" name="Text Box 14"/>
          <p:cNvSpPr txBox="1">
            <a:spLocks noChangeArrowheads="1"/>
          </p:cNvSpPr>
          <p:nvPr/>
        </p:nvSpPr>
        <p:spPr bwMode="auto">
          <a:xfrm>
            <a:off x="4267200" y="4876800"/>
            <a:ext cx="4724400" cy="1325563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 u="sng">
                <a:solidFill>
                  <a:srgbClr val="FF3300"/>
                </a:solidFill>
              </a:rPr>
              <a:t>AP NOTE</a:t>
            </a:r>
          </a:p>
          <a:p>
            <a:pPr>
              <a:spcBef>
                <a:spcPct val="50000"/>
              </a:spcBef>
            </a:pPr>
            <a:r>
              <a:rPr lang="en-US" sz="1600" b="1">
                <a:solidFill>
                  <a:srgbClr val="FF3300"/>
                </a:solidFill>
              </a:rPr>
              <a:t>After grading the tree question at the AP reading for several years, I can tell you that you absolutely must know this code!!!!!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517525" y="5937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1433513" y="4413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517525" y="20224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>
              <a:latin typeface="Times New Roman" pitchFamily="18" charset="0"/>
            </a:endParaRPr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457200" y="1295400"/>
            <a:ext cx="7691438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private</a:t>
            </a:r>
            <a:r>
              <a:rPr lang="en-US"/>
              <a:t> TreeNode add(Comparable val, TreeNode tree)</a:t>
            </a:r>
          </a:p>
          <a:p>
            <a:r>
              <a:rPr lang="en-US"/>
              <a:t>{</a:t>
            </a:r>
          </a:p>
          <a:p>
            <a:r>
              <a:rPr lang="en-US" b="1"/>
              <a:t>   if</a:t>
            </a:r>
            <a:r>
              <a:rPr lang="en-US"/>
              <a:t> (tree == null)</a:t>
            </a:r>
          </a:p>
          <a:p>
            <a:r>
              <a:rPr lang="en-US"/>
              <a:t>     tree = </a:t>
            </a:r>
            <a:r>
              <a:rPr lang="en-US" b="1"/>
              <a:t>new</a:t>
            </a:r>
            <a:r>
              <a:rPr lang="en-US"/>
              <a:t> TreeNode(val, null, null);</a:t>
            </a:r>
          </a:p>
          <a:p>
            <a:r>
              <a:rPr lang="en-US" b="1"/>
              <a:t>   else if</a:t>
            </a:r>
            <a:r>
              <a:rPr lang="en-US"/>
              <a:t> (val.compareTo(tree.getValue()) &lt; 0 )</a:t>
            </a:r>
          </a:p>
          <a:p>
            <a:r>
              <a:rPr lang="en-US"/>
              <a:t>     tree.setLeft(add(val, tree.getLeft()));</a:t>
            </a:r>
          </a:p>
          <a:p>
            <a:r>
              <a:rPr lang="en-US" b="1"/>
              <a:t>   else if</a:t>
            </a:r>
            <a:r>
              <a:rPr lang="en-US"/>
              <a:t> (val.compareTo(tree.getValue()) &gt; 0 )</a:t>
            </a:r>
          </a:p>
          <a:p>
            <a:r>
              <a:rPr lang="en-US"/>
              <a:t>     tree.setRight(add(val, tree.getRight()));</a:t>
            </a:r>
          </a:p>
          <a:p>
            <a:r>
              <a:rPr lang="en-US" b="1"/>
              <a:t>   return</a:t>
            </a:r>
            <a:r>
              <a:rPr lang="en-US"/>
              <a:t> tree;</a:t>
            </a:r>
          </a:p>
          <a:p>
            <a:r>
              <a:rPr lang="en-US"/>
              <a:t>}</a:t>
            </a:r>
          </a:p>
        </p:txBody>
      </p:sp>
      <p:sp>
        <p:nvSpPr>
          <p:cNvPr id="25607" name="WordArt 6"/>
          <p:cNvSpPr>
            <a:spLocks noChangeArrowheads="1" noChangeShapeType="1" noTextEdit="1"/>
          </p:cNvSpPr>
          <p:nvPr/>
        </p:nvSpPr>
        <p:spPr bwMode="auto">
          <a:xfrm>
            <a:off x="685800" y="304800"/>
            <a:ext cx="7543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add - recursive 2</a:t>
            </a:r>
          </a:p>
        </p:txBody>
      </p:sp>
      <p:sp>
        <p:nvSpPr>
          <p:cNvPr id="25608" name="Text Box 7"/>
          <p:cNvSpPr txBox="1">
            <a:spLocks noChangeArrowheads="1"/>
          </p:cNvSpPr>
          <p:nvPr/>
        </p:nvSpPr>
        <p:spPr bwMode="auto">
          <a:xfrm>
            <a:off x="5486400" y="4495800"/>
            <a:ext cx="312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5609" name="Text Box 8"/>
          <p:cNvSpPr txBox="1">
            <a:spLocks noChangeArrowheads="1"/>
          </p:cNvSpPr>
          <p:nvPr/>
        </p:nvSpPr>
        <p:spPr bwMode="auto">
          <a:xfrm>
            <a:off x="7162800" y="2133600"/>
            <a:ext cx="1981200" cy="1323975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accent2"/>
                </a:solidFill>
              </a:rPr>
              <a:t>Code works the same as 1, but is more compressed.</a:t>
            </a:r>
          </a:p>
        </p:txBody>
      </p:sp>
      <p:sp>
        <p:nvSpPr>
          <p:cNvPr id="25610" name="WordArt 9"/>
          <p:cNvSpPr>
            <a:spLocks noChangeArrowheads="1" noChangeShapeType="1" noTextEdit="1"/>
          </p:cNvSpPr>
          <p:nvPr/>
        </p:nvSpPr>
        <p:spPr bwMode="auto">
          <a:xfrm>
            <a:off x="304800" y="5410200"/>
            <a:ext cx="34290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How does </a:t>
            </a:r>
          </a:p>
          <a:p>
            <a:pPr algn="ctr"/>
            <a:r>
              <a:rPr lang="en-US" sz="3600" kern="10">
                <a:ln w="9525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this work?</a:t>
            </a:r>
          </a:p>
        </p:txBody>
      </p:sp>
      <p:sp>
        <p:nvSpPr>
          <p:cNvPr id="25611" name="Text Box 10"/>
          <p:cNvSpPr txBox="1">
            <a:spLocks noChangeArrowheads="1"/>
          </p:cNvSpPr>
          <p:nvPr/>
        </p:nvSpPr>
        <p:spPr bwMode="auto">
          <a:xfrm>
            <a:off x="4267200" y="4876800"/>
            <a:ext cx="4724400" cy="1325563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 u="sng">
                <a:solidFill>
                  <a:srgbClr val="FF3300"/>
                </a:solidFill>
              </a:rPr>
              <a:t>AP NOTE</a:t>
            </a:r>
          </a:p>
          <a:p>
            <a:pPr>
              <a:spcBef>
                <a:spcPct val="50000"/>
              </a:spcBef>
            </a:pPr>
            <a:r>
              <a:rPr lang="en-US" sz="1600" b="1">
                <a:solidFill>
                  <a:srgbClr val="FF3300"/>
                </a:solidFill>
              </a:rPr>
              <a:t>After grading the tree question at the AP reading for several years, I can tell you that you absolutely must know this code!!!!!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26627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  addprintone.java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36867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  addprinttwo.java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37891" name="WordArt 2"/>
          <p:cNvSpPr>
            <a:spLocks noChangeArrowheads="1" noChangeShapeType="1" noTextEdit="1"/>
          </p:cNvSpPr>
          <p:nvPr/>
        </p:nvSpPr>
        <p:spPr bwMode="auto">
          <a:xfrm>
            <a:off x="1524000" y="1447800"/>
            <a:ext cx="6248400" cy="3124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Searching a</a:t>
            </a:r>
          </a:p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BST</a:t>
            </a:r>
            <a:endParaRPr lang="en-US" sz="3600" kern="10" dirty="0">
              <a:ln w="9525">
                <a:solidFill>
                  <a:srgbClr val="FFFF99"/>
                </a:solidFill>
                <a:round/>
                <a:headEnd type="none" w="sm" len="sm"/>
                <a:tailEnd type="none" w="sm" len="sm"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latin typeface="Impac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38915" name="Rectangle 2"/>
          <p:cNvSpPr>
            <a:spLocks noChangeArrowheads="1"/>
          </p:cNvSpPr>
          <p:nvPr/>
        </p:nvSpPr>
        <p:spPr bwMode="auto">
          <a:xfrm>
            <a:off x="2193925" y="212725"/>
            <a:ext cx="1841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>
              <a:latin typeface="Times New Roman" pitchFamily="18" charset="0"/>
            </a:endParaRPr>
          </a:p>
          <a:p>
            <a:endParaRPr lang="en-US">
              <a:latin typeface="Times New Roman" pitchFamily="18" charset="0"/>
            </a:endParaRPr>
          </a:p>
        </p:txBody>
      </p:sp>
      <p:sp>
        <p:nvSpPr>
          <p:cNvPr id="38916" name="Rectangle 3"/>
          <p:cNvSpPr>
            <a:spLocks noChangeArrowheads="1"/>
          </p:cNvSpPr>
          <p:nvPr/>
        </p:nvSpPr>
        <p:spPr bwMode="auto">
          <a:xfrm>
            <a:off x="838200" y="1295400"/>
            <a:ext cx="7177088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800" b="1" dirty="0"/>
              <a:t>To search a tree, you will use the same</a:t>
            </a:r>
          </a:p>
          <a:p>
            <a:r>
              <a:rPr lang="en-US" sz="2800" b="1" dirty="0"/>
              <a:t>basic logic that you used to add a new</a:t>
            </a:r>
          </a:p>
          <a:p>
            <a:r>
              <a:rPr lang="en-US" sz="2800" b="1" dirty="0"/>
              <a:t>node.</a:t>
            </a:r>
          </a:p>
          <a:p>
            <a:endParaRPr lang="en-US" sz="2800" b="1" dirty="0"/>
          </a:p>
          <a:p>
            <a:r>
              <a:rPr lang="en-US" sz="2800" b="1" dirty="0"/>
              <a:t>First, compare the current node to the </a:t>
            </a:r>
          </a:p>
          <a:p>
            <a:r>
              <a:rPr lang="en-US" sz="2800" b="1" dirty="0"/>
              <a:t>search value and see if it is a match.  If</a:t>
            </a:r>
          </a:p>
          <a:p>
            <a:r>
              <a:rPr lang="en-US" sz="2800" b="1" dirty="0"/>
              <a:t>it is not a match, check to see if you</a:t>
            </a:r>
          </a:p>
          <a:p>
            <a:r>
              <a:rPr lang="en-US" sz="2800" b="1" dirty="0"/>
              <a:t>need to search the left sub tree or the</a:t>
            </a:r>
          </a:p>
          <a:p>
            <a:r>
              <a:rPr lang="en-US" sz="2800" b="1" dirty="0"/>
              <a:t>right sub tree.  Repeat.</a:t>
            </a:r>
          </a:p>
          <a:p>
            <a:endParaRPr lang="en-US" sz="2800" b="1" dirty="0"/>
          </a:p>
          <a:p>
            <a:r>
              <a:rPr lang="en-US" sz="2800" b="1" dirty="0"/>
              <a:t>Sounds like a binary search.</a:t>
            </a:r>
          </a:p>
        </p:txBody>
      </p:sp>
      <p:sp>
        <p:nvSpPr>
          <p:cNvPr id="38917" name="WordArt 4"/>
          <p:cNvSpPr>
            <a:spLocks noChangeArrowheads="1" noChangeShapeType="1" noTextEdit="1"/>
          </p:cNvSpPr>
          <p:nvPr/>
        </p:nvSpPr>
        <p:spPr bwMode="auto">
          <a:xfrm>
            <a:off x="1143000" y="304800"/>
            <a:ext cx="65532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Searching Trees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762000" y="1295400"/>
            <a:ext cx="7981950" cy="520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b="1" dirty="0"/>
              <a:t>private </a:t>
            </a:r>
            <a:r>
              <a:rPr lang="en-US" b="1" dirty="0" err="1"/>
              <a:t>boolean</a:t>
            </a:r>
            <a:r>
              <a:rPr lang="en-US" dirty="0"/>
              <a:t> search(Comparable </a:t>
            </a:r>
            <a:r>
              <a:rPr lang="en-US" dirty="0" err="1"/>
              <a:t>val</a:t>
            </a:r>
            <a:r>
              <a:rPr lang="en-US" dirty="0"/>
              <a:t>, </a:t>
            </a:r>
            <a:r>
              <a:rPr lang="en-US" dirty="0" err="1"/>
              <a:t>TreeNode</a:t>
            </a:r>
            <a:r>
              <a:rPr lang="en-US" dirty="0"/>
              <a:t> tree)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</a:t>
            </a:r>
            <a:r>
              <a:rPr lang="en-US" b="1" dirty="0"/>
              <a:t>if</a:t>
            </a:r>
            <a:r>
              <a:rPr lang="en-US" dirty="0"/>
              <a:t>(tree != null)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 </a:t>
            </a:r>
            <a:r>
              <a:rPr lang="en-US" b="1" dirty="0" err="1"/>
              <a:t>int</a:t>
            </a:r>
            <a:r>
              <a:rPr lang="en-US" dirty="0"/>
              <a:t> </a:t>
            </a:r>
            <a:r>
              <a:rPr lang="en-US" dirty="0" err="1"/>
              <a:t>dirTest</a:t>
            </a:r>
            <a:r>
              <a:rPr lang="en-US" dirty="0"/>
              <a:t> = </a:t>
            </a:r>
            <a:r>
              <a:rPr lang="en-US" dirty="0" err="1"/>
              <a:t>val.compareTo</a:t>
            </a:r>
            <a:r>
              <a:rPr lang="en-US" dirty="0"/>
              <a:t>(</a:t>
            </a:r>
            <a:r>
              <a:rPr lang="en-US" dirty="0" err="1"/>
              <a:t>tree.getValue</a:t>
            </a:r>
            <a:r>
              <a:rPr lang="en-US" dirty="0"/>
              <a:t>());</a:t>
            </a:r>
          </a:p>
          <a:p>
            <a:r>
              <a:rPr lang="en-US" dirty="0"/>
              <a:t>      </a:t>
            </a:r>
            <a:r>
              <a:rPr lang="en-US" b="1" dirty="0"/>
              <a:t>if</a:t>
            </a:r>
            <a:r>
              <a:rPr lang="en-US" dirty="0"/>
              <a:t>(</a:t>
            </a:r>
            <a:r>
              <a:rPr lang="en-US" dirty="0" err="1"/>
              <a:t>dirTest</a:t>
            </a:r>
            <a:r>
              <a:rPr lang="en-US" dirty="0"/>
              <a:t> == 0 ) </a:t>
            </a:r>
          </a:p>
          <a:p>
            <a:r>
              <a:rPr lang="en-US" dirty="0"/>
              <a:t>         </a:t>
            </a:r>
            <a:r>
              <a:rPr lang="en-US" b="1" dirty="0"/>
              <a:t>return</a:t>
            </a:r>
            <a:r>
              <a:rPr lang="en-US" dirty="0"/>
              <a:t> true;</a:t>
            </a:r>
          </a:p>
          <a:p>
            <a:r>
              <a:rPr lang="en-US" dirty="0"/>
              <a:t>      </a:t>
            </a:r>
            <a:r>
              <a:rPr lang="en-US" b="1" dirty="0"/>
              <a:t>else if</a:t>
            </a:r>
            <a:r>
              <a:rPr lang="en-US" dirty="0"/>
              <a:t> (</a:t>
            </a:r>
            <a:r>
              <a:rPr lang="en-US" dirty="0" err="1"/>
              <a:t>dirTest</a:t>
            </a:r>
            <a:r>
              <a:rPr lang="en-US" dirty="0"/>
              <a:t> &lt; 0)</a:t>
            </a:r>
          </a:p>
          <a:p>
            <a:r>
              <a:rPr lang="en-US" dirty="0"/>
              <a:t>         </a:t>
            </a:r>
            <a:r>
              <a:rPr lang="en-US" b="1" dirty="0"/>
              <a:t>return</a:t>
            </a:r>
            <a:r>
              <a:rPr lang="en-US" dirty="0"/>
              <a:t> search(</a:t>
            </a:r>
            <a:r>
              <a:rPr lang="en-US" dirty="0" err="1"/>
              <a:t>val</a:t>
            </a:r>
            <a:r>
              <a:rPr lang="en-US" dirty="0"/>
              <a:t>, </a:t>
            </a:r>
            <a:r>
              <a:rPr lang="en-US" dirty="0" err="1"/>
              <a:t>tree.getLeft</a:t>
            </a:r>
            <a:r>
              <a:rPr lang="en-US" dirty="0"/>
              <a:t>());</a:t>
            </a:r>
          </a:p>
          <a:p>
            <a:r>
              <a:rPr lang="en-US" dirty="0"/>
              <a:t>      </a:t>
            </a:r>
            <a:r>
              <a:rPr lang="en-US" b="1" dirty="0"/>
              <a:t>else if</a:t>
            </a:r>
            <a:r>
              <a:rPr lang="en-US" dirty="0"/>
              <a:t> (</a:t>
            </a:r>
            <a:r>
              <a:rPr lang="en-US" dirty="0" err="1"/>
              <a:t>dirTest</a:t>
            </a:r>
            <a:r>
              <a:rPr lang="en-US" dirty="0"/>
              <a:t> &gt; 0)</a:t>
            </a:r>
          </a:p>
          <a:p>
            <a:r>
              <a:rPr lang="en-US" dirty="0"/>
              <a:t>         </a:t>
            </a:r>
            <a:r>
              <a:rPr lang="en-US" b="1" dirty="0"/>
              <a:t>return</a:t>
            </a:r>
            <a:r>
              <a:rPr lang="en-US" dirty="0"/>
              <a:t> search(</a:t>
            </a:r>
            <a:r>
              <a:rPr lang="en-US" dirty="0" err="1"/>
              <a:t>val</a:t>
            </a:r>
            <a:r>
              <a:rPr lang="en-US" dirty="0"/>
              <a:t>, </a:t>
            </a:r>
            <a:r>
              <a:rPr lang="en-US" dirty="0" err="1"/>
              <a:t>tree.getRight</a:t>
            </a:r>
            <a:r>
              <a:rPr lang="en-US" dirty="0"/>
              <a:t>());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   </a:t>
            </a:r>
            <a:r>
              <a:rPr lang="en-US" b="1" dirty="0"/>
              <a:t>return</a:t>
            </a:r>
            <a:r>
              <a:rPr lang="en-US" dirty="0"/>
              <a:t> false;</a:t>
            </a:r>
          </a:p>
          <a:p>
            <a:r>
              <a:rPr lang="en-US" dirty="0"/>
              <a:t>}</a:t>
            </a:r>
          </a:p>
        </p:txBody>
      </p:sp>
      <p:sp>
        <p:nvSpPr>
          <p:cNvPr id="39940" name="WordArt 3"/>
          <p:cNvSpPr>
            <a:spLocks noChangeArrowheads="1" noChangeShapeType="1" noTextEdit="1"/>
          </p:cNvSpPr>
          <p:nvPr/>
        </p:nvSpPr>
        <p:spPr bwMode="auto">
          <a:xfrm>
            <a:off x="1143000" y="304800"/>
            <a:ext cx="65532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Searching Trees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40963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  contains.java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0179" name="WordArt 2"/>
          <p:cNvSpPr>
            <a:spLocks noChangeArrowheads="1" noChangeShapeType="1" noTextEdit="1"/>
          </p:cNvSpPr>
          <p:nvPr/>
        </p:nvSpPr>
        <p:spPr bwMode="auto">
          <a:xfrm>
            <a:off x="1752600" y="457200"/>
            <a:ext cx="5486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getNumLevels Algo</a:t>
            </a:r>
          </a:p>
        </p:txBody>
      </p:sp>
      <p:sp>
        <p:nvSpPr>
          <p:cNvPr id="50180" name="Text Box 3"/>
          <p:cNvSpPr txBox="1">
            <a:spLocks noChangeArrowheads="1"/>
          </p:cNvSpPr>
          <p:nvPr/>
        </p:nvSpPr>
        <p:spPr bwMode="auto">
          <a:xfrm>
            <a:off x="1600200" y="1676400"/>
            <a:ext cx="5643563" cy="435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b="1"/>
              <a:t>int  getNumLevels(TreeNode  tree)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    if (tree==null)</a:t>
            </a:r>
          </a:p>
          <a:p>
            <a:r>
              <a:rPr lang="en-US" sz="2000" b="1"/>
              <a:t>       return something;</a:t>
            </a:r>
          </a:p>
          <a:p>
            <a:r>
              <a:rPr lang="en-US" sz="2000" b="1"/>
              <a:t>    else</a:t>
            </a:r>
          </a:p>
          <a:p>
            <a:r>
              <a:rPr lang="en-US" sz="2000" b="1"/>
              <a:t>   {</a:t>
            </a:r>
          </a:p>
          <a:p>
            <a:r>
              <a:rPr lang="en-US" sz="2000" b="1"/>
              <a:t>       numLeft = getNumLevels of the left</a:t>
            </a:r>
          </a:p>
          <a:p>
            <a:r>
              <a:rPr lang="en-US" sz="2000" b="1"/>
              <a:t>       numRight = getNumLevels of the right</a:t>
            </a:r>
          </a:p>
          <a:p>
            <a:r>
              <a:rPr lang="en-US" sz="2000" b="1"/>
              <a:t>       if (numLeft &gt; numRight) </a:t>
            </a:r>
          </a:p>
          <a:p>
            <a:r>
              <a:rPr lang="en-US" sz="2000" b="1"/>
              <a:t>	return 1 + numLeft;      </a:t>
            </a:r>
          </a:p>
          <a:p>
            <a:r>
              <a:rPr lang="en-US" sz="2000" b="1"/>
              <a:t>       else                                   		</a:t>
            </a:r>
          </a:p>
          <a:p>
            <a:r>
              <a:rPr lang="en-US" sz="2000" b="1"/>
              <a:t>	return 1 + numRight;</a:t>
            </a:r>
          </a:p>
          <a:p>
            <a:r>
              <a:rPr lang="en-US" sz="2000" b="1"/>
              <a:t>    }</a:t>
            </a:r>
          </a:p>
          <a:p>
            <a:r>
              <a:rPr lang="en-US" sz="2000" b="1"/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2227" name="Text Box 2"/>
          <p:cNvSpPr txBox="1">
            <a:spLocks noChangeArrowheads="1"/>
          </p:cNvSpPr>
          <p:nvPr/>
        </p:nvSpPr>
        <p:spPr bwMode="auto">
          <a:xfrm>
            <a:off x="1219200" y="1279525"/>
            <a:ext cx="7042150" cy="466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b="1"/>
              <a:t>public int getNumLevels()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     return getNumLevels(root);</a:t>
            </a:r>
          </a:p>
          <a:p>
            <a:r>
              <a:rPr lang="en-US" sz="2000" b="1"/>
              <a:t>}</a:t>
            </a:r>
          </a:p>
          <a:p>
            <a:r>
              <a:rPr lang="en-US" sz="2000" b="1"/>
              <a:t>	</a:t>
            </a:r>
          </a:p>
          <a:p>
            <a:r>
              <a:rPr lang="en-US" sz="2000" b="1"/>
              <a:t>private int getNumLevels(TreeNode tree)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   if(tree==null)   return 0;</a:t>
            </a:r>
          </a:p>
          <a:p>
            <a:r>
              <a:rPr lang="en-US" sz="2000" b="1"/>
              <a:t>   else </a:t>
            </a:r>
            <a:br>
              <a:rPr lang="en-US" sz="2000" b="1"/>
            </a:br>
            <a:r>
              <a:rPr lang="en-US" sz="2000" b="1"/>
              <a:t>   {</a:t>
            </a:r>
          </a:p>
          <a:p>
            <a:r>
              <a:rPr lang="en-US" sz="2000" b="1"/>
              <a:t>      return </a:t>
            </a:r>
          </a:p>
          <a:p>
            <a:r>
              <a:rPr lang="en-US" sz="2000" b="1"/>
              <a:t>              1 + Math.max(getNumLevels(tree.getLeft() , </a:t>
            </a:r>
          </a:p>
          <a:p>
            <a:r>
              <a:rPr lang="en-US" sz="2000" b="1"/>
              <a:t>                                 getNumLevels(tree.getRight());</a:t>
            </a:r>
          </a:p>
          <a:p>
            <a:r>
              <a:rPr lang="en-US" sz="2000" b="1"/>
              <a:t>   }</a:t>
            </a:r>
          </a:p>
          <a:p>
            <a:r>
              <a:rPr lang="en-US" sz="2000" b="1"/>
              <a:t>}</a:t>
            </a:r>
          </a:p>
        </p:txBody>
      </p:sp>
      <p:sp>
        <p:nvSpPr>
          <p:cNvPr id="52228" name="WordArt 3"/>
          <p:cNvSpPr>
            <a:spLocks noChangeArrowheads="1" noChangeShapeType="1" noTextEdit="1"/>
          </p:cNvSpPr>
          <p:nvPr/>
        </p:nvSpPr>
        <p:spPr bwMode="auto">
          <a:xfrm>
            <a:off x="1752600" y="457200"/>
            <a:ext cx="5486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getNumLevels Algo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1219200" y="1279525"/>
            <a:ext cx="6732588" cy="527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b="1"/>
              <a:t>public int getNumLevels()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     return getNumLevels(root);</a:t>
            </a:r>
          </a:p>
          <a:p>
            <a:r>
              <a:rPr lang="en-US" sz="2000" b="1"/>
              <a:t>}</a:t>
            </a:r>
          </a:p>
          <a:p>
            <a:r>
              <a:rPr lang="en-US" sz="2000" b="1"/>
              <a:t>	</a:t>
            </a:r>
          </a:p>
          <a:p>
            <a:r>
              <a:rPr lang="en-US" sz="2000" b="1"/>
              <a:t>private int getNumLevels(TreeNode tree)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   if(tree==null)   return 0;</a:t>
            </a:r>
          </a:p>
          <a:p>
            <a:r>
              <a:rPr lang="en-US" sz="2000" b="1"/>
              <a:t>   else </a:t>
            </a:r>
            <a:br>
              <a:rPr lang="en-US" sz="2000" b="1"/>
            </a:br>
            <a:r>
              <a:rPr lang="en-US" sz="2000" b="1"/>
              <a:t>   {</a:t>
            </a:r>
          </a:p>
          <a:p>
            <a:r>
              <a:rPr lang="en-US" sz="2000" b="1"/>
              <a:t>      int numLeft = getNumLevels(tree.getLeft());</a:t>
            </a:r>
          </a:p>
          <a:p>
            <a:r>
              <a:rPr lang="en-US" sz="2000" b="1"/>
              <a:t>      int numRight = getNumLevels(tree.getRight());</a:t>
            </a:r>
          </a:p>
          <a:p>
            <a:r>
              <a:rPr lang="en-US" sz="2000" b="1"/>
              <a:t>      if(numLeft &gt; numRight)</a:t>
            </a:r>
          </a:p>
          <a:p>
            <a:r>
              <a:rPr lang="en-US" sz="2000" b="1"/>
              <a:t>         return 1 + numLeft; </a:t>
            </a:r>
          </a:p>
          <a:p>
            <a:r>
              <a:rPr lang="en-US" sz="2000" b="1"/>
              <a:t>      return 1 + numRight;</a:t>
            </a:r>
          </a:p>
          <a:p>
            <a:r>
              <a:rPr lang="en-US" sz="2000" b="1"/>
              <a:t>   }</a:t>
            </a:r>
          </a:p>
          <a:p>
            <a:r>
              <a:rPr lang="en-US" sz="2000" b="1"/>
              <a:t>}</a:t>
            </a:r>
          </a:p>
        </p:txBody>
      </p:sp>
      <p:sp>
        <p:nvSpPr>
          <p:cNvPr id="51204" name="WordArt 4"/>
          <p:cNvSpPr>
            <a:spLocks noChangeArrowheads="1" noChangeShapeType="1" noTextEdit="1"/>
          </p:cNvSpPr>
          <p:nvPr/>
        </p:nvSpPr>
        <p:spPr bwMode="auto">
          <a:xfrm>
            <a:off x="1752600" y="457200"/>
            <a:ext cx="5486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getNumLevels Algo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3251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  numlevels.java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9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&quot;/&gt;&lt;property id=&quot;20307&quot; value=&quot;351&quot;/&gt;&lt;/object&gt;&lt;object type=&quot;3&quot; unique_id=&quot;10005&quot;&gt;&lt;property id=&quot;20148&quot; value=&quot;5&quot;/&gt;&lt;property id=&quot;20300&quot; value=&quot;Slide 3&quot;/&gt;&lt;property id=&quot;20307&quot; value=&quot;352&quot;/&gt;&lt;/object&gt;&lt;object type=&quot;3&quot; unique_id=&quot;10006&quot;&gt;&lt;property id=&quot;20148&quot; value=&quot;5&quot;/&gt;&lt;property id=&quot;20300&quot; value=&quot;Slide 4&quot;/&gt;&lt;property id=&quot;20307&quot; value=&quot;364&quot;/&gt;&lt;/object&gt;&lt;object type=&quot;3&quot; unique_id=&quot;10007&quot;&gt;&lt;property id=&quot;20148&quot; value=&quot;5&quot;/&gt;&lt;property id=&quot;20300&quot; value=&quot;Slide 5&quot;/&gt;&lt;property id=&quot;20307&quot; value=&quot;337&quot;/&gt;&lt;/object&gt;&lt;object type=&quot;3&quot; unique_id=&quot;10008&quot;&gt;&lt;property id=&quot;20148&quot; value=&quot;5&quot;/&gt;&lt;property id=&quot;20300&quot; value=&quot;Slide 6&quot;/&gt;&lt;property id=&quot;20307&quot; value=&quot;365&quot;/&gt;&lt;/object&gt;&lt;object type=&quot;3&quot; unique_id=&quot;10009&quot;&gt;&lt;property id=&quot;20148&quot; value=&quot;5&quot;/&gt;&lt;property id=&quot;20300&quot; value=&quot;Slide 7&quot;/&gt;&lt;property id=&quot;20307&quot; value=&quot;356&quot;/&gt;&lt;/object&gt;&lt;object type=&quot;3&quot; unique_id=&quot;10010&quot;&gt;&lt;property id=&quot;20148&quot; value=&quot;5&quot;/&gt;&lt;property id=&quot;20300&quot; value=&quot;Slide 8&quot;/&gt;&lt;property id=&quot;20307&quot; value=&quot;355&quot;/&gt;&lt;/object&gt;&lt;object type=&quot;3&quot; unique_id=&quot;10011&quot;&gt;&lt;property id=&quot;20148&quot; value=&quot;5&quot;/&gt;&lt;property id=&quot;20300&quot; value=&quot;Slide 9&quot;/&gt;&lt;property id=&quot;20307&quot; value=&quot;341&quot;/&gt;&lt;/object&gt;&lt;object type=&quot;3&quot; unique_id=&quot;10012&quot;&gt;&lt;property id=&quot;20148&quot; value=&quot;5&quot;/&gt;&lt;property id=&quot;20300&quot; value=&quot;Slide 10&quot;/&gt;&lt;property id=&quot;20307&quot; value=&quot;264&quot;/&gt;&lt;/object&gt;&lt;object type=&quot;3&quot; unique_id=&quot;10013&quot;&gt;&lt;property id=&quot;20148&quot; value=&quot;5&quot;/&gt;&lt;property id=&quot;20300&quot; value=&quot;Slide 11&quot;/&gt;&lt;property id=&quot;20307&quot; value=&quot;357&quot;/&gt;&lt;/object&gt;&lt;object type=&quot;3&quot; unique_id=&quot;10014&quot;&gt;&lt;property id=&quot;20148&quot; value=&quot;5&quot;/&gt;&lt;property id=&quot;20300&quot; value=&quot;Slide 12&quot;/&gt;&lt;property id=&quot;20307&quot; value=&quot;342&quot;/&gt;&lt;/object&gt;&lt;object type=&quot;3&quot; unique_id=&quot;10015&quot;&gt;&lt;property id=&quot;20148&quot; value=&quot;5&quot;/&gt;&lt;property id=&quot;20300&quot; value=&quot;Slide 13&quot;/&gt;&lt;property id=&quot;20307&quot; value=&quot;349&quot;/&gt;&lt;/object&gt;&lt;object type=&quot;3&quot; unique_id=&quot;10016&quot;&gt;&lt;property id=&quot;20148&quot; value=&quot;5&quot;/&gt;&lt;property id=&quot;20300&quot; value=&quot;Slide 14&quot;/&gt;&lt;property id=&quot;20307&quot; value=&quot;343&quot;/&gt;&lt;/object&gt;&lt;object type=&quot;3&quot; unique_id=&quot;10017&quot;&gt;&lt;property id=&quot;20148&quot; value=&quot;5&quot;/&gt;&lt;property id=&quot;20300&quot; value=&quot;Slide 15&quot;/&gt;&lt;property id=&quot;20307&quot; value=&quot;344&quot;/&gt;&lt;/object&gt;&lt;object type=&quot;3&quot; unique_id=&quot;10018&quot;&gt;&lt;property id=&quot;20148&quot; value=&quot;5&quot;/&gt;&lt;property id=&quot;20300&quot; value=&quot;Slide 16&quot;/&gt;&lt;property id=&quot;20307&quot; value=&quot;345&quot;/&gt;&lt;/object&gt;&lt;object type=&quot;3&quot; unique_id=&quot;10019&quot;&gt;&lt;property id=&quot;20148&quot; value=&quot;5&quot;/&gt;&lt;property id=&quot;20300&quot; value=&quot;Slide 17&quot;/&gt;&lt;property id=&quot;20307&quot; value=&quot;348&quot;/&gt;&lt;/object&gt;&lt;object type=&quot;3&quot; unique_id=&quot;10020&quot;&gt;&lt;property id=&quot;20148&quot; value=&quot;5&quot;/&gt;&lt;property id=&quot;20300&quot; value=&quot;Slide 18&quot;/&gt;&lt;property id=&quot;20307&quot; value=&quot;346&quot;/&gt;&lt;/object&gt;&lt;object type=&quot;3&quot; unique_id=&quot;10021&quot;&gt;&lt;property id=&quot;20148&quot; value=&quot;5&quot;/&gt;&lt;property id=&quot;20300&quot; value=&quot;Slide 19&quot;/&gt;&lt;property id=&quot;20307&quot; value=&quot;347&quot;/&gt;&lt;/object&gt;&lt;object type=&quot;3&quot; unique_id=&quot;10022&quot;&gt;&lt;property id=&quot;20148&quot; value=&quot;5&quot;/&gt;&lt;property id=&quot;20300&quot; value=&quot;Slide 20&quot;/&gt;&lt;property id=&quot;20307&quot; value=&quot;333&quot;/&gt;&lt;/object&gt;&lt;object type=&quot;3&quot; unique_id=&quot;10023&quot;&gt;&lt;property id=&quot;20148&quot; value=&quot;5&quot;/&gt;&lt;property id=&quot;20300&quot; value=&quot;Slide 21&quot;/&gt;&lt;property id=&quot;20307&quot; value=&quot;257&quot;/&gt;&lt;/object&gt;&lt;object type=&quot;3&quot; unique_id=&quot;10024&quot;&gt;&lt;property id=&quot;20148&quot; value=&quot;5&quot;/&gt;&lt;property id=&quot;20300&quot; value=&quot;Slide 22&quot;/&gt;&lt;property id=&quot;20307&quot; value=&quot;334&quot;/&gt;&lt;/object&gt;&lt;object type=&quot;3&quot; unique_id=&quot;10025&quot;&gt;&lt;property id=&quot;20148&quot; value=&quot;5&quot;/&gt;&lt;property id=&quot;20300&quot; value=&quot;Slide 23&quot;/&gt;&lt;property id=&quot;20307&quot; value=&quot;358&quot;/&gt;&lt;/object&gt;&lt;object type=&quot;3&quot; unique_id=&quot;10026&quot;&gt;&lt;property id=&quot;20148&quot; value=&quot;5&quot;/&gt;&lt;property id=&quot;20300&quot; value=&quot;Slide 24&quot;/&gt;&lt;property id=&quot;20307&quot; value=&quot;359&quot;/&gt;&lt;/object&gt;&lt;object type=&quot;3&quot; unique_id=&quot;10027&quot;&gt;&lt;property id=&quot;20148&quot; value=&quot;5&quot;/&gt;&lt;property id=&quot;20300&quot; value=&quot;Slide 25&quot;/&gt;&lt;property id=&quot;20307&quot; value=&quot;360&quot;/&gt;&lt;/object&gt;&lt;object type=&quot;3&quot; unique_id=&quot;10028&quot;&gt;&lt;property id=&quot;20148&quot; value=&quot;5&quot;/&gt;&lt;property id=&quot;20300&quot; value=&quot;Slide 26&quot;/&gt;&lt;property id=&quot;20307&quot; value=&quot;322&quot;/&gt;&lt;/object&gt;&lt;object type=&quot;3&quot; unique_id=&quot;10029&quot;&gt;&lt;property id=&quot;20148&quot; value=&quot;5&quot;/&gt;&lt;property id=&quot;20300&quot; value=&quot;Slide 27&quot;/&gt;&lt;property id=&quot;20307&quot; value=&quot;323&quot;/&gt;&lt;/object&gt;&lt;object type=&quot;3&quot; unique_id=&quot;10030&quot;&gt;&lt;property id=&quot;20148&quot; value=&quot;5&quot;/&gt;&lt;property id=&quot;20300&quot; value=&quot;Slide 28&quot;/&gt;&lt;property id=&quot;20307&quot; value=&quot;379&quot;/&gt;&lt;/object&gt;&lt;object type=&quot;3&quot; unique_id=&quot;10031&quot;&gt;&lt;property id=&quot;20148&quot; value=&quot;5&quot;/&gt;&lt;property id=&quot;20300&quot; value=&quot;Slide 29&quot;/&gt;&lt;property id=&quot;20307&quot; value=&quot;380&quot;/&gt;&lt;/object&gt;&lt;object type=&quot;3&quot; unique_id=&quot;10032&quot;&gt;&lt;property id=&quot;20148&quot; value=&quot;5&quot;/&gt;&lt;property id=&quot;20300&quot; value=&quot;Slide 30&quot;/&gt;&lt;property id=&quot;20307&quot; value=&quot;381&quot;/&gt;&lt;/object&gt;&lt;object type=&quot;3&quot; unique_id=&quot;10033&quot;&gt;&lt;property id=&quot;20148&quot; value=&quot;5&quot;/&gt;&lt;property id=&quot;20300&quot; value=&quot;Slide 31&quot;/&gt;&lt;property id=&quot;20307&quot; value=&quot;362&quot;/&gt;&lt;/object&gt;&lt;object type=&quot;3&quot; unique_id=&quot;10034&quot;&gt;&lt;property id=&quot;20148&quot; value=&quot;5&quot;/&gt;&lt;property id=&quot;20300&quot; value=&quot;Slide 32&quot;/&gt;&lt;property id=&quot;20307&quot; value=&quot;363&quot;/&gt;&lt;/object&gt;&lt;object type=&quot;3&quot; unique_id=&quot;10035&quot;&gt;&lt;property id=&quot;20148&quot; value=&quot;5&quot;/&gt;&lt;property id=&quot;20300&quot; value=&quot;Slide 33&quot;/&gt;&lt;property id=&quot;20307&quot; value=&quot;368&quot;/&gt;&lt;/object&gt;&lt;object type=&quot;3&quot; unique_id=&quot;10036&quot;&gt;&lt;property id=&quot;20148&quot; value=&quot;5&quot;/&gt;&lt;property id=&quot;20300&quot; value=&quot;Slide 34&quot;/&gt;&lt;property id=&quot;20307&quot; value=&quot;328&quot;/&gt;&lt;/object&gt;&lt;object type=&quot;3&quot; unique_id=&quot;10037&quot;&gt;&lt;property id=&quot;20148&quot; value=&quot;5&quot;/&gt;&lt;property id=&quot;20300&quot; value=&quot;Slide 35&quot;/&gt;&lt;property id=&quot;20307&quot; value=&quot;369&quot;/&gt;&lt;/object&gt;&lt;object type=&quot;3&quot; unique_id=&quot;10038&quot;&gt;&lt;property id=&quot;20148&quot; value=&quot;5&quot;/&gt;&lt;property id=&quot;20300&quot; value=&quot;Slide 36&quot;/&gt;&lt;property id=&quot;20307&quot; value=&quot;373&quot;/&gt;&lt;/object&gt;&lt;object type=&quot;3&quot; unique_id=&quot;10039&quot;&gt;&lt;property id=&quot;20148&quot; value=&quot;5&quot;/&gt;&lt;property id=&quot;20300&quot; value=&quot;Slide 37&quot;/&gt;&lt;property id=&quot;20307&quot; value=&quot;374&quot;/&gt;&lt;/object&gt;&lt;object type=&quot;3&quot; unique_id=&quot;10040&quot;&gt;&lt;property id=&quot;20148&quot; value=&quot;5&quot;/&gt;&lt;property id=&quot;20300&quot; value=&quot;Slide 38&quot;/&gt;&lt;property id=&quot;20307&quot; value=&quot;375&quot;/&gt;&lt;/object&gt;&lt;object type=&quot;3&quot; unique_id=&quot;10041&quot;&gt;&lt;property id=&quot;20148&quot; value=&quot;5&quot;/&gt;&lt;property id=&quot;20300&quot; value=&quot;Slide 39&quot;/&gt;&lt;property id=&quot;20307&quot; value=&quot;376&quot;/&gt;&lt;/object&gt;&lt;object type=&quot;3&quot; unique_id=&quot;10042&quot;&gt;&lt;property id=&quot;20148&quot; value=&quot;5&quot;/&gt;&lt;property id=&quot;20300&quot; value=&quot;Slide 40&quot;/&gt;&lt;property id=&quot;20307&quot; value=&quot;329&quot;/&gt;&lt;/object&gt;&lt;object type=&quot;3&quot; unique_id=&quot;10043&quot;&gt;&lt;property id=&quot;20148&quot; value=&quot;5&quot;/&gt;&lt;property id=&quot;20300&quot; value=&quot;Slide 41&quot;/&gt;&lt;property id=&quot;20307&quot; value=&quot;366&quot;/&gt;&lt;/object&gt;&lt;object type=&quot;3&quot; unique_id=&quot;10044&quot;&gt;&lt;property id=&quot;20148&quot; value=&quot;5&quot;/&gt;&lt;property id=&quot;20300&quot; value=&quot;Slide 42&quot;/&gt;&lt;property id=&quot;20307&quot; value=&quot;336&quot;/&gt;&lt;/object&gt;&lt;object type=&quot;3&quot; unique_id=&quot;10045&quot;&gt;&lt;property id=&quot;20148&quot; value=&quot;5&quot;/&gt;&lt;property id=&quot;20300&quot; value=&quot;Slide 43&quot;/&gt;&lt;property id=&quot;20307&quot; value=&quot;330&quot;/&gt;&lt;/object&gt;&lt;object type=&quot;3&quot; unique_id=&quot;10046&quot;&gt;&lt;property id=&quot;20148&quot; value=&quot;5&quot;/&gt;&lt;property id=&quot;20300&quot; value=&quot;Slide 44&quot;/&gt;&lt;property id=&quot;20307&quot; value=&quot;367&quot;/&gt;&lt;/object&gt;&lt;object type=&quot;3&quot; unique_id=&quot;10047&quot;&gt;&lt;property id=&quot;20148&quot; value=&quot;5&quot;/&gt;&lt;property id=&quot;20300&quot; value=&quot;Slide 45&quot;/&gt;&lt;property id=&quot;20307&quot; value=&quot;316&quot;/&gt;&lt;/object&gt;&lt;object type=&quot;3&quot; unique_id=&quot;10048&quot;&gt;&lt;property id=&quot;20148&quot; value=&quot;5&quot;/&gt;&lt;property id=&quot;20300&quot; value=&quot;Slide 46&quot;/&gt;&lt;property id=&quot;20307&quot; value=&quot;279&quot;/&gt;&lt;/object&gt;&lt;object type=&quot;3&quot; unique_id=&quot;10049&quot;&gt;&lt;property id=&quot;20148&quot; value=&quot;5&quot;/&gt;&lt;property id=&quot;20300&quot; value=&quot;Slide 47&quot;/&gt;&lt;property id=&quot;20307&quot; value=&quot;378&quot;/&gt;&lt;/object&gt;&lt;object type=&quot;3&quot; unique_id=&quot;10050&quot;&gt;&lt;property id=&quot;20148&quot; value=&quot;5&quot;/&gt;&lt;property id=&quot;20300&quot; value=&quot;Slide 48&quot;/&gt;&lt;property id=&quot;20307&quot; value=&quot;382&quot;/&gt;&lt;/object&gt;&lt;object type=&quot;3&quot; unique_id=&quot;10051&quot;&gt;&lt;property id=&quot;20148&quot; value=&quot;5&quot;/&gt;&lt;property id=&quot;20300&quot; value=&quot;Slide 49&quot;/&gt;&lt;property id=&quot;20307&quot; value=&quot;307&quot;/&gt;&lt;/object&gt;&lt;object type=&quot;3&quot; unique_id=&quot;10052&quot;&gt;&lt;property id=&quot;20148&quot; value=&quot;5&quot;/&gt;&lt;property id=&quot;20300&quot; value=&quot;Slide 50&quot;/&gt;&lt;property id=&quot;20307&quot; value=&quot;377&quot;/&gt;&lt;/object&gt;&lt;object type=&quot;3&quot; unique_id=&quot;10053&quot;&gt;&lt;property id=&quot;20148&quot; value=&quot;5&quot;/&gt;&lt;property id=&quot;20300&quot; value=&quot;Slide 51&quot;/&gt;&lt;property id=&quot;20307&quot; value=&quot;312&quot;/&gt;&lt;/object&gt;&lt;object type=&quot;3&quot; unique_id=&quot;10054&quot;&gt;&lt;property id=&quot;20148&quot; value=&quot;5&quot;/&gt;&lt;property id=&quot;20300&quot; value=&quot;Slide 52&quot;/&gt;&lt;property id=&quot;20307&quot; value=&quot;372&quot;/&gt;&lt;/object&gt;&lt;object type=&quot;3&quot; unique_id=&quot;10055&quot;&gt;&lt;property id=&quot;20148&quot; value=&quot;5&quot;/&gt;&lt;property id=&quot;20300&quot; value=&quot;Slide 53&quot;/&gt;&lt;property id=&quot;20307&quot; value=&quot;332&quot;/&gt;&lt;/object&gt;&lt;object type=&quot;3&quot; unique_id=&quot;10056&quot;&gt;&lt;property id=&quot;20148&quot; value=&quot;5&quot;/&gt;&lt;property id=&quot;20300&quot; value=&quot;Slide 54&quot;/&gt;&lt;property id=&quot;20307&quot; value=&quot;272&quot;/&gt;&lt;/object&gt;&lt;object type=&quot;3&quot; unique_id=&quot;10057&quot;&gt;&lt;property id=&quot;20148&quot; value=&quot;5&quot;/&gt;&lt;property id=&quot;20300&quot; value=&quot;Slide 55&quot;/&gt;&lt;property id=&quot;20307&quot; value=&quot;280&quot;/&gt;&lt;/object&gt;&lt;object type=&quot;3&quot; unique_id=&quot;10058&quot;&gt;&lt;property id=&quot;20148&quot; value=&quot;5&quot;/&gt;&lt;property id=&quot;20300&quot; value=&quot;Slide 56&quot;/&gt;&lt;property id=&quot;20307&quot; value=&quot;384&quot;/&gt;&lt;/object&gt;&lt;object type=&quot;3&quot; unique_id=&quot;10059&quot;&gt;&lt;property id=&quot;20148&quot; value=&quot;5&quot;/&gt;&lt;property id=&quot;20300&quot; value=&quot;Slide 57&quot;/&gt;&lt;property id=&quot;20307&quot; value=&quot;315&quot;/&gt;&lt;/object&gt;&lt;object type=&quot;3&quot; unique_id=&quot;10060&quot;&gt;&lt;property id=&quot;20148&quot; value=&quot;5&quot;/&gt;&lt;property id=&quot;20300&quot; value=&quot;Slide 58&quot;/&gt;&lt;property id=&quot;20307&quot; value=&quot;314&quot;/&gt;&lt;/object&gt;&lt;object type=&quot;3&quot; unique_id=&quot;10061&quot;&gt;&lt;property id=&quot;20148&quot; value=&quot;5&quot;/&gt;&lt;property id=&quot;20300&quot; value=&quot;Slide 59&quot;/&gt;&lt;property id=&quot;20307&quot; value=&quot;339&quot;/&gt;&lt;/object&gt;&lt;object type=&quot;3&quot; unique_id=&quot;10062&quot;&gt;&lt;property id=&quot;20148&quot; value=&quot;5&quot;/&gt;&lt;property id=&quot;20300&quot; value=&quot;Slide 60&quot;/&gt;&lt;property id=&quot;20307&quot; value=&quot;353&quot;/&gt;&lt;/object&gt;&lt;object type=&quot;3&quot; unique_id=&quot;10063&quot;&gt;&lt;property id=&quot;20148&quot; value=&quot;5&quot;/&gt;&lt;property id=&quot;20300&quot; value=&quot;Slide 61&quot;/&gt;&lt;property id=&quot;20307&quot; value=&quot;338&quot;/&gt;&lt;/object&gt;&lt;object type=&quot;3&quot; unique_id=&quot;10064&quot;&gt;&lt;property id=&quot;20148&quot; value=&quot;5&quot;/&gt;&lt;property id=&quot;20300&quot; value=&quot;Slide 62&quot;/&gt;&lt;property id=&quot;20307&quot; value=&quot;383&quot;/&gt;&lt;/object&gt;&lt;object type=&quot;3&quot; unique_id=&quot;10065&quot;&gt;&lt;property id=&quot;20148&quot; value=&quot;5&quot;/&gt;&lt;property id=&quot;20300&quot; value=&quot;Slide 63&quot;/&gt;&lt;property id=&quot;20307&quot; value=&quot;318&quot;/&gt;&lt;/object&gt;&lt;/object&gt;&lt;object type=&quot;8&quot; unique_id=&quot;10130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2240</TotalTime>
  <Words>1551</Words>
  <Application>Microsoft Office PowerPoint</Application>
  <PresentationFormat>On-screen Show (4:3)</PresentationFormat>
  <Paragraphs>355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Comic Sans MS</vt:lpstr>
      <vt:lpstr>Impact</vt:lpstr>
      <vt:lpstr>MS LineDraw</vt:lpstr>
      <vt:lpstr>Tahoma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Trees</dc:title>
  <dc:subject>Binary Trees</dc:subject>
  <dc:creator>A+ Computer Science</dc:creator>
  <cp:keywords>www.apluscompsci.com</cp:keywords>
  <dc:description>Binary Trees_x000d_
©A+ Computer Science_x000d_
www.apluscompsci.com</dc:description>
  <cp:lastModifiedBy>Weldon Jasik</cp:lastModifiedBy>
  <cp:revision>456</cp:revision>
  <cp:lastPrinted>2000-11-07T14:58:20Z</cp:lastPrinted>
  <dcterms:created xsi:type="dcterms:W3CDTF">2000-01-19T01:43:11Z</dcterms:created>
  <dcterms:modified xsi:type="dcterms:W3CDTF">2025-02-04T00:01:35Z</dcterms:modified>
  <cp:category>www.apluscompsci.com</cp:category>
</cp:coreProperties>
</file>
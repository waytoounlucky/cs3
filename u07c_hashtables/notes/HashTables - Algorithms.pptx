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Default Extension="jpg" ContentType="image/jpg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3004800" cy="9753600"/>
  <p:notesSz cx="13004800" cy="97536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75360" y="3023616"/>
            <a:ext cx="11054080" cy="20482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950720" y="5462016"/>
            <a:ext cx="9103360" cy="2438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46176" y="734741"/>
            <a:ext cx="6066790" cy="4052570"/>
          </a:xfrm>
          <a:custGeom>
            <a:avLst/>
            <a:gdLst/>
            <a:ahLst/>
            <a:cxnLst/>
            <a:rect l="l" t="t" r="r" b="b"/>
            <a:pathLst>
              <a:path w="6066790" h="4052570">
                <a:moveTo>
                  <a:pt x="0" y="4052040"/>
                </a:moveTo>
                <a:lnTo>
                  <a:pt x="6066212" y="4052040"/>
                </a:lnTo>
                <a:lnTo>
                  <a:pt x="6066212" y="0"/>
                </a:lnTo>
                <a:lnTo>
                  <a:pt x="0" y="0"/>
                </a:lnTo>
                <a:lnTo>
                  <a:pt x="0" y="4052040"/>
                </a:lnTo>
                <a:close/>
              </a:path>
            </a:pathLst>
          </a:custGeom>
          <a:solidFill>
            <a:srgbClr val="F5F5F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2064526" y="237123"/>
            <a:ext cx="38735" cy="106680"/>
          </a:xfrm>
          <a:custGeom>
            <a:avLst/>
            <a:gdLst/>
            <a:ahLst/>
            <a:cxnLst/>
            <a:rect l="l" t="t" r="r" b="b"/>
            <a:pathLst>
              <a:path w="38735" h="106679">
                <a:moveTo>
                  <a:pt x="38563" y="0"/>
                </a:moveTo>
                <a:lnTo>
                  <a:pt x="0" y="53541"/>
                </a:lnTo>
                <a:lnTo>
                  <a:pt x="34316" y="106300"/>
                </a:lnTo>
              </a:path>
            </a:pathLst>
          </a:custGeom>
          <a:ln w="7330">
            <a:solidFill>
              <a:srgbClr val="6D6E7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3804061" y="237123"/>
            <a:ext cx="97790" cy="114300"/>
          </a:xfrm>
          <a:custGeom>
            <a:avLst/>
            <a:gdLst/>
            <a:ahLst/>
            <a:cxnLst/>
            <a:rect l="l" t="t" r="r" b="b"/>
            <a:pathLst>
              <a:path w="97789" h="114300">
                <a:moveTo>
                  <a:pt x="0" y="98399"/>
                </a:moveTo>
                <a:lnTo>
                  <a:pt x="39595" y="114216"/>
                </a:lnTo>
                <a:lnTo>
                  <a:pt x="52808" y="111592"/>
                </a:lnTo>
                <a:lnTo>
                  <a:pt x="65991" y="40333"/>
                </a:lnTo>
                <a:lnTo>
                  <a:pt x="95042" y="43001"/>
                </a:lnTo>
                <a:lnTo>
                  <a:pt x="97373" y="0"/>
                </a:lnTo>
              </a:path>
            </a:pathLst>
          </a:custGeom>
          <a:ln w="7330">
            <a:solidFill>
              <a:srgbClr val="6D6E7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4606538" y="237123"/>
            <a:ext cx="53340" cy="132715"/>
          </a:xfrm>
          <a:custGeom>
            <a:avLst/>
            <a:gdLst/>
            <a:ahLst/>
            <a:cxnLst/>
            <a:rect l="l" t="t" r="r" b="b"/>
            <a:pathLst>
              <a:path w="53339" h="132715">
                <a:moveTo>
                  <a:pt x="0" y="132702"/>
                </a:moveTo>
                <a:lnTo>
                  <a:pt x="7918" y="108968"/>
                </a:lnTo>
                <a:lnTo>
                  <a:pt x="5279" y="93121"/>
                </a:lnTo>
                <a:lnTo>
                  <a:pt x="52793" y="72012"/>
                </a:lnTo>
                <a:lnTo>
                  <a:pt x="52792" y="3391"/>
                </a:lnTo>
                <a:lnTo>
                  <a:pt x="45997" y="0"/>
                </a:lnTo>
              </a:path>
            </a:pathLst>
          </a:custGeom>
          <a:ln w="7330">
            <a:solidFill>
              <a:srgbClr val="6D6E7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bg object 20"/>
          <p:cNvSpPr/>
          <p:nvPr/>
        </p:nvSpPr>
        <p:spPr>
          <a:xfrm>
            <a:off x="4366311" y="237123"/>
            <a:ext cx="53340" cy="19685"/>
          </a:xfrm>
          <a:custGeom>
            <a:avLst/>
            <a:gdLst/>
            <a:ahLst/>
            <a:cxnLst/>
            <a:rect l="l" t="t" r="r" b="b"/>
            <a:pathLst>
              <a:path w="53339" h="19685">
                <a:moveTo>
                  <a:pt x="0" y="19238"/>
                </a:moveTo>
                <a:lnTo>
                  <a:pt x="47499" y="19238"/>
                </a:lnTo>
                <a:lnTo>
                  <a:pt x="53322" y="0"/>
                </a:lnTo>
              </a:path>
            </a:pathLst>
          </a:custGeom>
          <a:ln w="7332">
            <a:solidFill>
              <a:srgbClr val="6D6E7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bg object 21"/>
          <p:cNvSpPr/>
          <p:nvPr/>
        </p:nvSpPr>
        <p:spPr>
          <a:xfrm>
            <a:off x="2185045" y="237123"/>
            <a:ext cx="19685" cy="17145"/>
          </a:xfrm>
          <a:custGeom>
            <a:avLst/>
            <a:gdLst/>
            <a:ahLst/>
            <a:cxnLst/>
            <a:rect l="l" t="t" r="r" b="b"/>
            <a:pathLst>
              <a:path w="19685" h="17145">
                <a:moveTo>
                  <a:pt x="19383" y="16614"/>
                </a:moveTo>
                <a:lnTo>
                  <a:pt x="0" y="0"/>
                </a:lnTo>
              </a:path>
            </a:pathLst>
          </a:custGeom>
          <a:ln w="7331">
            <a:solidFill>
              <a:srgbClr val="6D6E7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bg object 22"/>
          <p:cNvSpPr/>
          <p:nvPr/>
        </p:nvSpPr>
        <p:spPr>
          <a:xfrm>
            <a:off x="3323638" y="237123"/>
            <a:ext cx="8255" cy="19685"/>
          </a:xfrm>
          <a:custGeom>
            <a:avLst/>
            <a:gdLst/>
            <a:ahLst/>
            <a:cxnLst/>
            <a:rect l="l" t="t" r="r" b="b"/>
            <a:pathLst>
              <a:path w="8254" h="19685">
                <a:moveTo>
                  <a:pt x="0" y="19238"/>
                </a:moveTo>
                <a:lnTo>
                  <a:pt x="8018" y="0"/>
                </a:lnTo>
              </a:path>
            </a:pathLst>
          </a:custGeom>
          <a:ln w="7330">
            <a:solidFill>
              <a:srgbClr val="6D6E7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bg object 23"/>
          <p:cNvSpPr/>
          <p:nvPr/>
        </p:nvSpPr>
        <p:spPr>
          <a:xfrm>
            <a:off x="5501373" y="237123"/>
            <a:ext cx="42545" cy="29845"/>
          </a:xfrm>
          <a:custGeom>
            <a:avLst/>
            <a:gdLst/>
            <a:ahLst/>
            <a:cxnLst/>
            <a:rect l="l" t="t" r="r" b="b"/>
            <a:pathLst>
              <a:path w="42545" h="29845">
                <a:moveTo>
                  <a:pt x="0" y="21876"/>
                </a:moveTo>
                <a:lnTo>
                  <a:pt x="42249" y="29778"/>
                </a:lnTo>
                <a:lnTo>
                  <a:pt x="38111" y="0"/>
                </a:lnTo>
              </a:path>
            </a:pathLst>
          </a:custGeom>
          <a:ln w="7331">
            <a:solidFill>
              <a:srgbClr val="6D6E7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bg object 24"/>
          <p:cNvSpPr/>
          <p:nvPr/>
        </p:nvSpPr>
        <p:spPr>
          <a:xfrm>
            <a:off x="1861665" y="237123"/>
            <a:ext cx="81915" cy="24765"/>
          </a:xfrm>
          <a:custGeom>
            <a:avLst/>
            <a:gdLst/>
            <a:ahLst/>
            <a:cxnLst/>
            <a:rect l="l" t="t" r="r" b="b"/>
            <a:pathLst>
              <a:path w="81914" h="24764">
                <a:moveTo>
                  <a:pt x="81435" y="24486"/>
                </a:moveTo>
                <a:lnTo>
                  <a:pt x="63914" y="0"/>
                </a:lnTo>
              </a:path>
              <a:path w="81914" h="24764">
                <a:moveTo>
                  <a:pt x="33879" y="0"/>
                </a:moveTo>
                <a:lnTo>
                  <a:pt x="10149" y="13946"/>
                </a:lnTo>
                <a:lnTo>
                  <a:pt x="0" y="0"/>
                </a:lnTo>
              </a:path>
            </a:pathLst>
          </a:custGeom>
          <a:ln w="7331">
            <a:solidFill>
              <a:srgbClr val="6D6E7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bg object 25"/>
          <p:cNvSpPr/>
          <p:nvPr/>
        </p:nvSpPr>
        <p:spPr>
          <a:xfrm>
            <a:off x="346176" y="340785"/>
            <a:ext cx="21590" cy="6350"/>
          </a:xfrm>
          <a:custGeom>
            <a:avLst/>
            <a:gdLst/>
            <a:ahLst/>
            <a:cxnLst/>
            <a:rect l="l" t="t" r="r" b="b"/>
            <a:pathLst>
              <a:path w="21589" h="6350">
                <a:moveTo>
                  <a:pt x="0" y="5781"/>
                </a:moveTo>
                <a:lnTo>
                  <a:pt x="21022" y="0"/>
                </a:lnTo>
              </a:path>
            </a:pathLst>
          </a:custGeom>
          <a:ln w="7332">
            <a:solidFill>
              <a:srgbClr val="6D6E7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bg object 26"/>
          <p:cNvSpPr/>
          <p:nvPr/>
        </p:nvSpPr>
        <p:spPr>
          <a:xfrm>
            <a:off x="4709471" y="237123"/>
            <a:ext cx="43815" cy="114300"/>
          </a:xfrm>
          <a:custGeom>
            <a:avLst/>
            <a:gdLst/>
            <a:ahLst/>
            <a:cxnLst/>
            <a:rect l="l" t="t" r="r" b="b"/>
            <a:pathLst>
              <a:path w="43814" h="114300">
                <a:moveTo>
                  <a:pt x="0" y="114216"/>
                </a:moveTo>
                <a:lnTo>
                  <a:pt x="36969" y="53541"/>
                </a:lnTo>
                <a:lnTo>
                  <a:pt x="43190" y="0"/>
                </a:lnTo>
              </a:path>
            </a:pathLst>
          </a:custGeom>
          <a:ln w="7330">
            <a:solidFill>
              <a:srgbClr val="6D6E7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bg object 27"/>
          <p:cNvSpPr/>
          <p:nvPr/>
        </p:nvSpPr>
        <p:spPr>
          <a:xfrm>
            <a:off x="3440278" y="237123"/>
            <a:ext cx="20955" cy="11430"/>
          </a:xfrm>
          <a:custGeom>
            <a:avLst/>
            <a:gdLst/>
            <a:ahLst/>
            <a:cxnLst/>
            <a:rect l="l" t="t" r="r" b="b"/>
            <a:pathLst>
              <a:path w="20954" h="11429">
                <a:moveTo>
                  <a:pt x="0" y="0"/>
                </a:moveTo>
                <a:lnTo>
                  <a:pt x="20637" y="11307"/>
                </a:lnTo>
              </a:path>
            </a:pathLst>
          </a:custGeom>
          <a:ln w="7331">
            <a:solidFill>
              <a:srgbClr val="6D6E7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bg object 28"/>
          <p:cNvSpPr/>
          <p:nvPr/>
        </p:nvSpPr>
        <p:spPr>
          <a:xfrm>
            <a:off x="1668574" y="237123"/>
            <a:ext cx="116205" cy="111760"/>
          </a:xfrm>
          <a:custGeom>
            <a:avLst/>
            <a:gdLst/>
            <a:ahLst/>
            <a:cxnLst/>
            <a:rect l="l" t="t" r="r" b="b"/>
            <a:pathLst>
              <a:path w="116205" h="111760">
                <a:moveTo>
                  <a:pt x="108227" y="111592"/>
                </a:moveTo>
                <a:lnTo>
                  <a:pt x="116131" y="72012"/>
                </a:lnTo>
                <a:lnTo>
                  <a:pt x="65991" y="13946"/>
                </a:lnTo>
                <a:lnTo>
                  <a:pt x="0" y="24486"/>
                </a:lnTo>
                <a:lnTo>
                  <a:pt x="8650" y="0"/>
                </a:lnTo>
              </a:path>
            </a:pathLst>
          </a:custGeom>
          <a:ln w="7331">
            <a:solidFill>
              <a:srgbClr val="6D6E7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bg object 29"/>
          <p:cNvSpPr/>
          <p:nvPr/>
        </p:nvSpPr>
        <p:spPr>
          <a:xfrm>
            <a:off x="5030512" y="237123"/>
            <a:ext cx="222885" cy="111760"/>
          </a:xfrm>
          <a:custGeom>
            <a:avLst/>
            <a:gdLst/>
            <a:ahLst/>
            <a:cxnLst/>
            <a:rect l="l" t="t" r="r" b="b"/>
            <a:pathLst>
              <a:path w="222885" h="111760">
                <a:moveTo>
                  <a:pt x="222747" y="95775"/>
                </a:moveTo>
                <a:lnTo>
                  <a:pt x="212188" y="98399"/>
                </a:lnTo>
                <a:lnTo>
                  <a:pt x="193725" y="111592"/>
                </a:lnTo>
                <a:lnTo>
                  <a:pt x="122439" y="93121"/>
                </a:lnTo>
                <a:lnTo>
                  <a:pt x="53792" y="35055"/>
                </a:lnTo>
                <a:lnTo>
                  <a:pt x="0" y="0"/>
                </a:lnTo>
              </a:path>
            </a:pathLst>
          </a:custGeom>
          <a:ln w="7331">
            <a:solidFill>
              <a:srgbClr val="6D6E7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bg object 30"/>
          <p:cNvSpPr/>
          <p:nvPr/>
        </p:nvSpPr>
        <p:spPr>
          <a:xfrm>
            <a:off x="3727841" y="237123"/>
            <a:ext cx="18415" cy="93345"/>
          </a:xfrm>
          <a:custGeom>
            <a:avLst/>
            <a:gdLst/>
            <a:ahLst/>
            <a:cxnLst/>
            <a:rect l="l" t="t" r="r" b="b"/>
            <a:pathLst>
              <a:path w="18414" h="93345">
                <a:moveTo>
                  <a:pt x="18176" y="93121"/>
                </a:moveTo>
                <a:lnTo>
                  <a:pt x="12896" y="77275"/>
                </a:lnTo>
                <a:lnTo>
                  <a:pt x="0" y="0"/>
                </a:lnTo>
              </a:path>
            </a:pathLst>
          </a:custGeom>
          <a:ln w="7329">
            <a:solidFill>
              <a:srgbClr val="6D6E7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bg object 31"/>
          <p:cNvSpPr/>
          <p:nvPr/>
        </p:nvSpPr>
        <p:spPr>
          <a:xfrm>
            <a:off x="1087846" y="237123"/>
            <a:ext cx="306705" cy="172720"/>
          </a:xfrm>
          <a:custGeom>
            <a:avLst/>
            <a:gdLst/>
            <a:ahLst/>
            <a:cxnLst/>
            <a:rect l="l" t="t" r="r" b="b"/>
            <a:pathLst>
              <a:path w="306705" h="172720">
                <a:moveTo>
                  <a:pt x="0" y="130034"/>
                </a:moveTo>
                <a:lnTo>
                  <a:pt x="13213" y="127425"/>
                </a:lnTo>
                <a:lnTo>
                  <a:pt x="34315" y="114216"/>
                </a:lnTo>
                <a:lnTo>
                  <a:pt x="63351" y="48249"/>
                </a:lnTo>
                <a:lnTo>
                  <a:pt x="155725" y="32431"/>
                </a:lnTo>
                <a:lnTo>
                  <a:pt x="145420" y="0"/>
                </a:lnTo>
              </a:path>
              <a:path w="306705" h="172720">
                <a:moveTo>
                  <a:pt x="179484" y="172268"/>
                </a:moveTo>
                <a:lnTo>
                  <a:pt x="171579" y="156421"/>
                </a:lnTo>
                <a:lnTo>
                  <a:pt x="195336" y="148520"/>
                </a:lnTo>
                <a:lnTo>
                  <a:pt x="205892" y="58818"/>
                </a:lnTo>
                <a:lnTo>
                  <a:pt x="306187" y="35055"/>
                </a:lnTo>
                <a:lnTo>
                  <a:pt x="302066" y="0"/>
                </a:lnTo>
              </a:path>
            </a:pathLst>
          </a:custGeom>
          <a:ln w="7331">
            <a:solidFill>
              <a:srgbClr val="6D6E7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bg object 32"/>
          <p:cNvSpPr/>
          <p:nvPr/>
        </p:nvSpPr>
        <p:spPr>
          <a:xfrm>
            <a:off x="892508" y="237123"/>
            <a:ext cx="87630" cy="170180"/>
          </a:xfrm>
          <a:custGeom>
            <a:avLst/>
            <a:gdLst/>
            <a:ahLst/>
            <a:cxnLst/>
            <a:rect l="l" t="t" r="r" b="b"/>
            <a:pathLst>
              <a:path w="87630" h="170179">
                <a:moveTo>
                  <a:pt x="73897" y="169629"/>
                </a:moveTo>
                <a:lnTo>
                  <a:pt x="87095" y="101023"/>
                </a:lnTo>
                <a:lnTo>
                  <a:pt x="0" y="53541"/>
                </a:lnTo>
                <a:lnTo>
                  <a:pt x="7427" y="0"/>
                </a:lnTo>
              </a:path>
            </a:pathLst>
          </a:custGeom>
          <a:ln w="7330">
            <a:solidFill>
              <a:srgbClr val="6D6E7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bg object 33"/>
          <p:cNvSpPr/>
          <p:nvPr/>
        </p:nvSpPr>
        <p:spPr>
          <a:xfrm>
            <a:off x="4170515" y="237123"/>
            <a:ext cx="11430" cy="51435"/>
          </a:xfrm>
          <a:custGeom>
            <a:avLst/>
            <a:gdLst/>
            <a:ahLst/>
            <a:cxnLst/>
            <a:rect l="l" t="t" r="r" b="b"/>
            <a:pathLst>
              <a:path w="11429" h="51435">
                <a:moveTo>
                  <a:pt x="11033" y="50902"/>
                </a:moveTo>
                <a:lnTo>
                  <a:pt x="3099" y="8668"/>
                </a:lnTo>
                <a:lnTo>
                  <a:pt x="0" y="0"/>
                </a:lnTo>
              </a:path>
            </a:pathLst>
          </a:custGeom>
          <a:ln w="7329">
            <a:solidFill>
              <a:srgbClr val="6D6E7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bg object 34"/>
          <p:cNvSpPr/>
          <p:nvPr/>
        </p:nvSpPr>
        <p:spPr>
          <a:xfrm>
            <a:off x="625906" y="514939"/>
            <a:ext cx="45085" cy="250825"/>
          </a:xfrm>
          <a:custGeom>
            <a:avLst/>
            <a:gdLst/>
            <a:ahLst/>
            <a:cxnLst/>
            <a:rect l="l" t="t" r="r" b="b"/>
            <a:pathLst>
              <a:path w="45084" h="250825">
                <a:moveTo>
                  <a:pt x="18460" y="0"/>
                </a:moveTo>
                <a:lnTo>
                  <a:pt x="44857" y="13208"/>
                </a:lnTo>
                <a:lnTo>
                  <a:pt x="26396" y="153044"/>
                </a:lnTo>
                <a:lnTo>
                  <a:pt x="0" y="208443"/>
                </a:lnTo>
                <a:lnTo>
                  <a:pt x="2640" y="250691"/>
                </a:lnTo>
              </a:path>
            </a:pathLst>
          </a:custGeom>
          <a:ln w="7329">
            <a:solidFill>
              <a:srgbClr val="6D6E7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bg object 35"/>
          <p:cNvSpPr/>
          <p:nvPr/>
        </p:nvSpPr>
        <p:spPr>
          <a:xfrm>
            <a:off x="6406773" y="613253"/>
            <a:ext cx="5715" cy="33655"/>
          </a:xfrm>
          <a:custGeom>
            <a:avLst/>
            <a:gdLst/>
            <a:ahLst/>
            <a:cxnLst/>
            <a:rect l="l" t="t" r="r" b="b"/>
            <a:pathLst>
              <a:path w="5714" h="33654">
                <a:moveTo>
                  <a:pt x="0" y="33621"/>
                </a:moveTo>
                <a:lnTo>
                  <a:pt x="5615" y="0"/>
                </a:lnTo>
              </a:path>
            </a:pathLst>
          </a:custGeom>
          <a:ln w="7329">
            <a:solidFill>
              <a:srgbClr val="6D6E71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36" name="bg object 3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28915" y="339758"/>
            <a:ext cx="187139" cy="245002"/>
          </a:xfrm>
          <a:prstGeom prst="rect">
            <a:avLst/>
          </a:prstGeom>
        </p:spPr>
      </p:pic>
      <p:sp>
        <p:nvSpPr>
          <p:cNvPr id="37" name="bg object 37"/>
          <p:cNvSpPr/>
          <p:nvPr/>
        </p:nvSpPr>
        <p:spPr>
          <a:xfrm>
            <a:off x="6090042" y="586199"/>
            <a:ext cx="322580" cy="121920"/>
          </a:xfrm>
          <a:custGeom>
            <a:avLst/>
            <a:gdLst/>
            <a:ahLst/>
            <a:cxnLst/>
            <a:rect l="l" t="t" r="r" b="b"/>
            <a:pathLst>
              <a:path w="322579" h="121920">
                <a:moveTo>
                  <a:pt x="0" y="121365"/>
                </a:moveTo>
                <a:lnTo>
                  <a:pt x="79190" y="113464"/>
                </a:lnTo>
                <a:lnTo>
                  <a:pt x="166299" y="73883"/>
                </a:lnTo>
                <a:lnTo>
                  <a:pt x="192680" y="5248"/>
                </a:lnTo>
                <a:lnTo>
                  <a:pt x="216466" y="0"/>
                </a:lnTo>
                <a:lnTo>
                  <a:pt x="261312" y="36927"/>
                </a:lnTo>
                <a:lnTo>
                  <a:pt x="271885" y="47496"/>
                </a:lnTo>
                <a:lnTo>
                  <a:pt x="316760" y="60675"/>
                </a:lnTo>
                <a:lnTo>
                  <a:pt x="322346" y="58750"/>
                </a:lnTo>
              </a:path>
            </a:pathLst>
          </a:custGeom>
          <a:ln w="7332">
            <a:solidFill>
              <a:srgbClr val="6D6E7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bg object 38"/>
          <p:cNvSpPr/>
          <p:nvPr/>
        </p:nvSpPr>
        <p:spPr>
          <a:xfrm>
            <a:off x="6390953" y="932344"/>
            <a:ext cx="21590" cy="10160"/>
          </a:xfrm>
          <a:custGeom>
            <a:avLst/>
            <a:gdLst/>
            <a:ahLst/>
            <a:cxnLst/>
            <a:rect l="l" t="t" r="r" b="b"/>
            <a:pathLst>
              <a:path w="21589" h="10159">
                <a:moveTo>
                  <a:pt x="21435" y="0"/>
                </a:moveTo>
                <a:lnTo>
                  <a:pt x="0" y="10080"/>
                </a:lnTo>
              </a:path>
            </a:pathLst>
          </a:custGeom>
          <a:ln w="7331">
            <a:solidFill>
              <a:srgbClr val="6D6E71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39" name="bg object 3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42510" y="233456"/>
            <a:ext cx="6073544" cy="4556992"/>
          </a:xfrm>
          <a:prstGeom prst="rect">
            <a:avLst/>
          </a:prstGeom>
        </p:spPr>
      </p:pic>
      <p:sp>
        <p:nvSpPr>
          <p:cNvPr id="40" name="bg object 40"/>
          <p:cNvSpPr/>
          <p:nvPr/>
        </p:nvSpPr>
        <p:spPr>
          <a:xfrm>
            <a:off x="749011" y="1806992"/>
            <a:ext cx="1522730" cy="1907539"/>
          </a:xfrm>
          <a:custGeom>
            <a:avLst/>
            <a:gdLst/>
            <a:ahLst/>
            <a:cxnLst/>
            <a:rect l="l" t="t" r="r" b="b"/>
            <a:pathLst>
              <a:path w="1522730" h="1907539">
                <a:moveTo>
                  <a:pt x="1522477" y="0"/>
                </a:moveTo>
                <a:lnTo>
                  <a:pt x="0" y="0"/>
                </a:lnTo>
                <a:lnTo>
                  <a:pt x="0" y="1907539"/>
                </a:lnTo>
                <a:lnTo>
                  <a:pt x="1522477" y="1907539"/>
                </a:lnTo>
                <a:lnTo>
                  <a:pt x="1522477" y="0"/>
                </a:lnTo>
                <a:close/>
              </a:path>
            </a:pathLst>
          </a:custGeom>
          <a:solidFill>
            <a:srgbClr val="9F3826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1" name="bg object 4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136192" y="1858387"/>
            <a:ext cx="89320" cy="69467"/>
          </a:xfrm>
          <a:prstGeom prst="rect">
            <a:avLst/>
          </a:prstGeom>
        </p:spPr>
      </p:pic>
      <p:sp>
        <p:nvSpPr>
          <p:cNvPr id="42" name="bg object 42"/>
          <p:cNvSpPr/>
          <p:nvPr/>
        </p:nvSpPr>
        <p:spPr>
          <a:xfrm>
            <a:off x="749007" y="1806993"/>
            <a:ext cx="1499870" cy="1086485"/>
          </a:xfrm>
          <a:custGeom>
            <a:avLst/>
            <a:gdLst/>
            <a:ahLst/>
            <a:cxnLst/>
            <a:rect l="l" t="t" r="r" b="b"/>
            <a:pathLst>
              <a:path w="1499870" h="1086485">
                <a:moveTo>
                  <a:pt x="1320" y="726338"/>
                </a:moveTo>
                <a:lnTo>
                  <a:pt x="0" y="726338"/>
                </a:lnTo>
                <a:lnTo>
                  <a:pt x="0" y="1051356"/>
                </a:lnTo>
                <a:lnTo>
                  <a:pt x="1320" y="1051356"/>
                </a:lnTo>
                <a:lnTo>
                  <a:pt x="1320" y="726338"/>
                </a:lnTo>
                <a:close/>
              </a:path>
              <a:path w="1499870" h="1086485">
                <a:moveTo>
                  <a:pt x="62471" y="912685"/>
                </a:moveTo>
                <a:lnTo>
                  <a:pt x="24079" y="912685"/>
                </a:lnTo>
                <a:lnTo>
                  <a:pt x="24079" y="1086027"/>
                </a:lnTo>
                <a:lnTo>
                  <a:pt x="62471" y="1086027"/>
                </a:lnTo>
                <a:lnTo>
                  <a:pt x="62471" y="912685"/>
                </a:lnTo>
                <a:close/>
              </a:path>
              <a:path w="1499870" h="1086485">
                <a:moveTo>
                  <a:pt x="134277" y="856348"/>
                </a:moveTo>
                <a:lnTo>
                  <a:pt x="95885" y="856348"/>
                </a:lnTo>
                <a:lnTo>
                  <a:pt x="95885" y="1029690"/>
                </a:lnTo>
                <a:lnTo>
                  <a:pt x="134277" y="1029690"/>
                </a:lnTo>
                <a:lnTo>
                  <a:pt x="134277" y="856348"/>
                </a:lnTo>
                <a:close/>
              </a:path>
              <a:path w="1499870" h="1086485">
                <a:moveTo>
                  <a:pt x="206095" y="827328"/>
                </a:moveTo>
                <a:lnTo>
                  <a:pt x="167703" y="827328"/>
                </a:lnTo>
                <a:lnTo>
                  <a:pt x="167703" y="1074343"/>
                </a:lnTo>
                <a:lnTo>
                  <a:pt x="206095" y="1074343"/>
                </a:lnTo>
                <a:lnTo>
                  <a:pt x="206095" y="827328"/>
                </a:lnTo>
                <a:close/>
              </a:path>
              <a:path w="1499870" h="1086485">
                <a:moveTo>
                  <a:pt x="277914" y="656996"/>
                </a:moveTo>
                <a:lnTo>
                  <a:pt x="239522" y="656996"/>
                </a:lnTo>
                <a:lnTo>
                  <a:pt x="239522" y="982014"/>
                </a:lnTo>
                <a:lnTo>
                  <a:pt x="277914" y="982014"/>
                </a:lnTo>
                <a:lnTo>
                  <a:pt x="277914" y="656996"/>
                </a:lnTo>
                <a:close/>
              </a:path>
              <a:path w="1499870" h="1086485">
                <a:moveTo>
                  <a:pt x="349732" y="778319"/>
                </a:moveTo>
                <a:lnTo>
                  <a:pt x="311327" y="778319"/>
                </a:lnTo>
                <a:lnTo>
                  <a:pt x="311327" y="951661"/>
                </a:lnTo>
                <a:lnTo>
                  <a:pt x="349732" y="951661"/>
                </a:lnTo>
                <a:lnTo>
                  <a:pt x="349732" y="778319"/>
                </a:lnTo>
                <a:close/>
              </a:path>
              <a:path w="1499870" h="1086485">
                <a:moveTo>
                  <a:pt x="421538" y="808659"/>
                </a:moveTo>
                <a:lnTo>
                  <a:pt x="383146" y="808659"/>
                </a:lnTo>
                <a:lnTo>
                  <a:pt x="383146" y="982002"/>
                </a:lnTo>
                <a:lnTo>
                  <a:pt x="421538" y="982002"/>
                </a:lnTo>
                <a:lnTo>
                  <a:pt x="421538" y="808659"/>
                </a:lnTo>
                <a:close/>
              </a:path>
              <a:path w="1499870" h="1086485">
                <a:moveTo>
                  <a:pt x="493356" y="726338"/>
                </a:moveTo>
                <a:lnTo>
                  <a:pt x="454964" y="726338"/>
                </a:lnTo>
                <a:lnTo>
                  <a:pt x="454964" y="1029690"/>
                </a:lnTo>
                <a:lnTo>
                  <a:pt x="493356" y="1029690"/>
                </a:lnTo>
                <a:lnTo>
                  <a:pt x="493356" y="726338"/>
                </a:lnTo>
                <a:close/>
              </a:path>
              <a:path w="1499870" h="1086485">
                <a:moveTo>
                  <a:pt x="565175" y="735012"/>
                </a:moveTo>
                <a:lnTo>
                  <a:pt x="526770" y="735012"/>
                </a:lnTo>
                <a:lnTo>
                  <a:pt x="526770" y="908354"/>
                </a:lnTo>
                <a:lnTo>
                  <a:pt x="565175" y="908354"/>
                </a:lnTo>
                <a:lnTo>
                  <a:pt x="565175" y="735012"/>
                </a:lnTo>
                <a:close/>
              </a:path>
              <a:path w="1499870" h="1086485">
                <a:moveTo>
                  <a:pt x="636981" y="826008"/>
                </a:moveTo>
                <a:lnTo>
                  <a:pt x="598589" y="826008"/>
                </a:lnTo>
                <a:lnTo>
                  <a:pt x="598589" y="999350"/>
                </a:lnTo>
                <a:lnTo>
                  <a:pt x="636981" y="999350"/>
                </a:lnTo>
                <a:lnTo>
                  <a:pt x="636981" y="826008"/>
                </a:lnTo>
                <a:close/>
              </a:path>
              <a:path w="1499870" h="1086485">
                <a:moveTo>
                  <a:pt x="708799" y="851992"/>
                </a:moveTo>
                <a:lnTo>
                  <a:pt x="670407" y="851992"/>
                </a:lnTo>
                <a:lnTo>
                  <a:pt x="670407" y="1025334"/>
                </a:lnTo>
                <a:lnTo>
                  <a:pt x="708799" y="1025334"/>
                </a:lnTo>
                <a:lnTo>
                  <a:pt x="708799" y="851992"/>
                </a:lnTo>
                <a:close/>
              </a:path>
              <a:path w="1499870" h="1086485">
                <a:moveTo>
                  <a:pt x="780618" y="734974"/>
                </a:moveTo>
                <a:lnTo>
                  <a:pt x="742213" y="734974"/>
                </a:lnTo>
                <a:lnTo>
                  <a:pt x="742213" y="908316"/>
                </a:lnTo>
                <a:lnTo>
                  <a:pt x="780618" y="908316"/>
                </a:lnTo>
                <a:lnTo>
                  <a:pt x="780618" y="734974"/>
                </a:lnTo>
                <a:close/>
              </a:path>
              <a:path w="1499870" h="1086485">
                <a:moveTo>
                  <a:pt x="852436" y="843318"/>
                </a:moveTo>
                <a:lnTo>
                  <a:pt x="814031" y="843318"/>
                </a:lnTo>
                <a:lnTo>
                  <a:pt x="814031" y="1016660"/>
                </a:lnTo>
                <a:lnTo>
                  <a:pt x="852436" y="1016660"/>
                </a:lnTo>
                <a:lnTo>
                  <a:pt x="852436" y="843318"/>
                </a:lnTo>
                <a:close/>
              </a:path>
              <a:path w="1499870" h="1086485">
                <a:moveTo>
                  <a:pt x="924242" y="912647"/>
                </a:moveTo>
                <a:lnTo>
                  <a:pt x="885837" y="912647"/>
                </a:lnTo>
                <a:lnTo>
                  <a:pt x="885837" y="1085989"/>
                </a:lnTo>
                <a:lnTo>
                  <a:pt x="924242" y="1085989"/>
                </a:lnTo>
                <a:lnTo>
                  <a:pt x="924242" y="912647"/>
                </a:lnTo>
                <a:close/>
              </a:path>
              <a:path w="1499870" h="1086485">
                <a:moveTo>
                  <a:pt x="996061" y="0"/>
                </a:moveTo>
                <a:lnTo>
                  <a:pt x="957656" y="0"/>
                </a:lnTo>
                <a:lnTo>
                  <a:pt x="957656" y="1085989"/>
                </a:lnTo>
                <a:lnTo>
                  <a:pt x="996061" y="1085989"/>
                </a:lnTo>
                <a:lnTo>
                  <a:pt x="996061" y="0"/>
                </a:lnTo>
                <a:close/>
              </a:path>
              <a:path w="1499870" h="1086485">
                <a:moveTo>
                  <a:pt x="1067866" y="912647"/>
                </a:moveTo>
                <a:lnTo>
                  <a:pt x="1029474" y="912647"/>
                </a:lnTo>
                <a:lnTo>
                  <a:pt x="1029474" y="1085989"/>
                </a:lnTo>
                <a:lnTo>
                  <a:pt x="1067866" y="1085989"/>
                </a:lnTo>
                <a:lnTo>
                  <a:pt x="1067866" y="912647"/>
                </a:lnTo>
                <a:close/>
              </a:path>
              <a:path w="1499870" h="1086485">
                <a:moveTo>
                  <a:pt x="1139685" y="912647"/>
                </a:moveTo>
                <a:lnTo>
                  <a:pt x="1101280" y="912647"/>
                </a:lnTo>
                <a:lnTo>
                  <a:pt x="1101280" y="1085989"/>
                </a:lnTo>
                <a:lnTo>
                  <a:pt x="1139685" y="1085989"/>
                </a:lnTo>
                <a:lnTo>
                  <a:pt x="1139685" y="912647"/>
                </a:lnTo>
                <a:close/>
              </a:path>
              <a:path w="1499870" h="1086485">
                <a:moveTo>
                  <a:pt x="1211491" y="912634"/>
                </a:moveTo>
                <a:lnTo>
                  <a:pt x="1173099" y="912634"/>
                </a:lnTo>
                <a:lnTo>
                  <a:pt x="1173099" y="1085977"/>
                </a:lnTo>
                <a:lnTo>
                  <a:pt x="1211491" y="1085977"/>
                </a:lnTo>
                <a:lnTo>
                  <a:pt x="1211491" y="912634"/>
                </a:lnTo>
                <a:close/>
              </a:path>
              <a:path w="1499870" h="1086485">
                <a:moveTo>
                  <a:pt x="1283309" y="912634"/>
                </a:moveTo>
                <a:lnTo>
                  <a:pt x="1244904" y="912634"/>
                </a:lnTo>
                <a:lnTo>
                  <a:pt x="1244904" y="1085977"/>
                </a:lnTo>
                <a:lnTo>
                  <a:pt x="1283309" y="1085977"/>
                </a:lnTo>
                <a:lnTo>
                  <a:pt x="1283309" y="912634"/>
                </a:lnTo>
                <a:close/>
              </a:path>
              <a:path w="1499870" h="1086485">
                <a:moveTo>
                  <a:pt x="1355115" y="912634"/>
                </a:moveTo>
                <a:lnTo>
                  <a:pt x="1316723" y="912634"/>
                </a:lnTo>
                <a:lnTo>
                  <a:pt x="1316723" y="1085977"/>
                </a:lnTo>
                <a:lnTo>
                  <a:pt x="1355115" y="1085977"/>
                </a:lnTo>
                <a:lnTo>
                  <a:pt x="1355115" y="912634"/>
                </a:lnTo>
                <a:close/>
              </a:path>
              <a:path w="1499870" h="1086485">
                <a:moveTo>
                  <a:pt x="1426933" y="912634"/>
                </a:moveTo>
                <a:lnTo>
                  <a:pt x="1388541" y="912634"/>
                </a:lnTo>
                <a:lnTo>
                  <a:pt x="1388541" y="1085977"/>
                </a:lnTo>
                <a:lnTo>
                  <a:pt x="1426933" y="1085977"/>
                </a:lnTo>
                <a:lnTo>
                  <a:pt x="1426933" y="912634"/>
                </a:lnTo>
                <a:close/>
              </a:path>
              <a:path w="1499870" h="1086485">
                <a:moveTo>
                  <a:pt x="1499438" y="912634"/>
                </a:moveTo>
                <a:lnTo>
                  <a:pt x="1461046" y="912634"/>
                </a:lnTo>
                <a:lnTo>
                  <a:pt x="1461046" y="1085977"/>
                </a:lnTo>
                <a:lnTo>
                  <a:pt x="1499438" y="1085977"/>
                </a:lnTo>
                <a:lnTo>
                  <a:pt x="1499438" y="912634"/>
                </a:lnTo>
                <a:close/>
              </a:path>
            </a:pathLst>
          </a:custGeom>
          <a:solidFill>
            <a:srgbClr val="FFFFFF">
              <a:alpha val="29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bg1"/>
                </a:solidFill>
                <a:latin typeface="Garamond"/>
                <a:cs typeface="Garamond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bg1"/>
                </a:solidFill>
                <a:latin typeface="Garamond"/>
                <a:cs typeface="Garamond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50240" y="2243328"/>
            <a:ext cx="5657088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697472" y="2243328"/>
            <a:ext cx="5657088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bg1"/>
                </a:solidFill>
                <a:latin typeface="Garamond"/>
                <a:cs typeface="Garamond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46176" y="237122"/>
            <a:ext cx="6066790" cy="4549775"/>
          </a:xfrm>
          <a:custGeom>
            <a:avLst/>
            <a:gdLst/>
            <a:ahLst/>
            <a:cxnLst/>
            <a:rect l="l" t="t" r="r" b="b"/>
            <a:pathLst>
              <a:path w="6066790" h="4549775">
                <a:moveTo>
                  <a:pt x="0" y="0"/>
                </a:moveTo>
                <a:lnTo>
                  <a:pt x="6066212" y="0"/>
                </a:lnTo>
                <a:lnTo>
                  <a:pt x="6066212" y="4549659"/>
                </a:lnTo>
                <a:lnTo>
                  <a:pt x="0" y="4549659"/>
                </a:lnTo>
                <a:lnTo>
                  <a:pt x="0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731238" y="699147"/>
            <a:ext cx="5302250" cy="635"/>
          </a:xfrm>
          <a:custGeom>
            <a:avLst/>
            <a:gdLst/>
            <a:ahLst/>
            <a:cxnLst/>
            <a:rect l="l" t="t" r="r" b="b"/>
            <a:pathLst>
              <a:path w="5302250" h="634">
                <a:moveTo>
                  <a:pt x="0" y="49"/>
                </a:moveTo>
                <a:lnTo>
                  <a:pt x="5302012" y="0"/>
                </a:lnTo>
              </a:path>
            </a:pathLst>
          </a:custGeom>
          <a:ln w="592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39997" y="230346"/>
            <a:ext cx="11524805" cy="3956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bg1"/>
                </a:solidFill>
                <a:latin typeface="Garamond"/>
                <a:cs typeface="Garamond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50240" y="2243328"/>
            <a:ext cx="11704320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421632" y="9070848"/>
            <a:ext cx="416153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50240" y="9070848"/>
            <a:ext cx="2991104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9363456" y="9070848"/>
            <a:ext cx="2991104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algs4.cs.princeton.edu/" TargetMode="External"/><Relationship Id="rId3" Type="http://schemas.openxmlformats.org/officeDocument/2006/relationships/image" Target="../media/image4.pn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png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png"/><Relationship Id="rId3" Type="http://schemas.openxmlformats.org/officeDocument/2006/relationships/hyperlink" Target="http://algs4.cs.princeton.edu/" TargetMode="External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image" Target="../media/image18.png"/><Relationship Id="rId9" Type="http://schemas.openxmlformats.org/officeDocument/2006/relationships/image" Target="../media/image4.png"/><Relationship Id="rId10" Type="http://schemas.openxmlformats.org/officeDocument/2006/relationships/hyperlink" Target="http://algs4.cs.princeton.edu/" TargetMode="External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25.jpg"/><Relationship Id="rId5" Type="http://schemas.openxmlformats.org/officeDocument/2006/relationships/image" Target="../media/image26.png"/><Relationship Id="rId6" Type="http://schemas.openxmlformats.org/officeDocument/2006/relationships/image" Target="../media/image27.png"/><Relationship Id="rId7" Type="http://schemas.openxmlformats.org/officeDocument/2006/relationships/image" Target="../media/image28.png"/><Relationship Id="rId8" Type="http://schemas.openxmlformats.org/officeDocument/2006/relationships/image" Target="../media/image29.png"/><Relationship Id="rId9" Type="http://schemas.openxmlformats.org/officeDocument/2006/relationships/image" Target="../media/image30.png"/><Relationship Id="rId10" Type="http://schemas.openxmlformats.org/officeDocument/2006/relationships/image" Target="../media/image31.png"/><Relationship Id="rId11" Type="http://schemas.openxmlformats.org/officeDocument/2006/relationships/image" Target="../media/image32.png"/><Relationship Id="rId12" Type="http://schemas.openxmlformats.org/officeDocument/2006/relationships/image" Target="../media/image33.png"/><Relationship Id="rId13" Type="http://schemas.openxmlformats.org/officeDocument/2006/relationships/image" Target="../media/image34.png"/><Relationship Id="rId14" Type="http://schemas.openxmlformats.org/officeDocument/2006/relationships/image" Target="../media/image35.png"/><Relationship Id="rId15" Type="http://schemas.openxmlformats.org/officeDocument/2006/relationships/image" Target="../media/image36.png"/><Relationship Id="rId16" Type="http://schemas.openxmlformats.org/officeDocument/2006/relationships/image" Target="../media/image37.png"/><Relationship Id="rId17" Type="http://schemas.openxmlformats.org/officeDocument/2006/relationships/image" Target="../media/image38.png"/><Relationship Id="rId18" Type="http://schemas.openxmlformats.org/officeDocument/2006/relationships/image" Target="../media/image39.png"/><Relationship Id="rId19" Type="http://schemas.openxmlformats.org/officeDocument/2006/relationships/image" Target="../media/image40.png"/><Relationship Id="rId20" Type="http://schemas.openxmlformats.org/officeDocument/2006/relationships/image" Target="../media/image41.png"/><Relationship Id="rId21" Type="http://schemas.openxmlformats.org/officeDocument/2006/relationships/image" Target="../media/image42.png"/><Relationship Id="rId22" Type="http://schemas.openxmlformats.org/officeDocument/2006/relationships/image" Target="../media/image43.png"/><Relationship Id="rId23" Type="http://schemas.openxmlformats.org/officeDocument/2006/relationships/image" Target="../media/image44.png"/><Relationship Id="rId24" Type="http://schemas.openxmlformats.org/officeDocument/2006/relationships/image" Target="../media/image45.pn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6.pn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7.png"/><Relationship Id="rId3" Type="http://schemas.openxmlformats.org/officeDocument/2006/relationships/hyperlink" Target="http://algs4.cs.princeton.edu/" TargetMode="External"/><Relationship Id="rId4" Type="http://schemas.openxmlformats.org/officeDocument/2006/relationships/image" Target="../media/image48.png"/><Relationship Id="rId5" Type="http://schemas.openxmlformats.org/officeDocument/2006/relationships/hyperlink" Target="http://docs.oracle.com/javase/6/docs/api/java/util/HashMap.html" TargetMode="External"/><Relationship Id="rId6" Type="http://schemas.openxmlformats.org/officeDocument/2006/relationships/hyperlink" Target="http://docs.oracle.com/javase/6/docs/api/java/util/Hashtable.html" TargetMode="External"/><Relationship Id="rId7" Type="http://schemas.openxmlformats.org/officeDocument/2006/relationships/hyperlink" Target="http://www.cs.rice.edu/~scrosby/hash/CrosbyWallach_UsenixSec2003.pdf" TargetMode="External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9.pn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82286" y="3116852"/>
            <a:ext cx="918210" cy="787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350" spc="100">
                <a:solidFill>
                  <a:srgbClr val="FFFFFF"/>
                </a:solidFill>
                <a:latin typeface="Garamond"/>
                <a:cs typeface="Garamond"/>
              </a:rPr>
              <a:t>F</a:t>
            </a:r>
            <a:r>
              <a:rPr dirty="0" sz="350" spc="90">
                <a:solidFill>
                  <a:srgbClr val="FFFFFF"/>
                </a:solidFill>
                <a:latin typeface="Garamond"/>
                <a:cs typeface="Garamond"/>
              </a:rPr>
              <a:t> </a:t>
            </a:r>
            <a:r>
              <a:rPr dirty="0" sz="350" spc="125">
                <a:solidFill>
                  <a:srgbClr val="FFFFFF"/>
                </a:solidFill>
                <a:latin typeface="Garamond"/>
                <a:cs typeface="Garamond"/>
              </a:rPr>
              <a:t>O</a:t>
            </a:r>
            <a:r>
              <a:rPr dirty="0" sz="350" spc="90">
                <a:solidFill>
                  <a:srgbClr val="FFFFFF"/>
                </a:solidFill>
                <a:latin typeface="Garamond"/>
                <a:cs typeface="Garamond"/>
              </a:rPr>
              <a:t> </a:t>
            </a:r>
            <a:r>
              <a:rPr dirty="0" sz="350" spc="120">
                <a:solidFill>
                  <a:srgbClr val="FFFFFF"/>
                </a:solidFill>
                <a:latin typeface="Garamond"/>
                <a:cs typeface="Garamond"/>
              </a:rPr>
              <a:t>U</a:t>
            </a:r>
            <a:r>
              <a:rPr dirty="0" sz="350" spc="90">
                <a:solidFill>
                  <a:srgbClr val="FFFFFF"/>
                </a:solidFill>
                <a:latin typeface="Garamond"/>
                <a:cs typeface="Garamond"/>
              </a:rPr>
              <a:t> </a:t>
            </a:r>
            <a:r>
              <a:rPr dirty="0" sz="350" spc="75">
                <a:solidFill>
                  <a:srgbClr val="FFFFFF"/>
                </a:solidFill>
                <a:latin typeface="Garamond"/>
                <a:cs typeface="Garamond"/>
              </a:rPr>
              <a:t>R</a:t>
            </a:r>
            <a:r>
              <a:rPr dirty="0" sz="350" spc="100">
                <a:solidFill>
                  <a:srgbClr val="FFFFFF"/>
                </a:solidFill>
                <a:latin typeface="Garamond"/>
                <a:cs typeface="Garamond"/>
              </a:rPr>
              <a:t> </a:t>
            </a:r>
            <a:r>
              <a:rPr dirty="0" sz="350" spc="130">
                <a:solidFill>
                  <a:srgbClr val="FFFFFF"/>
                </a:solidFill>
                <a:latin typeface="Garamond"/>
                <a:cs typeface="Garamond"/>
              </a:rPr>
              <a:t>T</a:t>
            </a:r>
            <a:r>
              <a:rPr dirty="0" sz="350" spc="90">
                <a:solidFill>
                  <a:srgbClr val="FFFFFF"/>
                </a:solidFill>
                <a:latin typeface="Garamond"/>
                <a:cs typeface="Garamond"/>
              </a:rPr>
              <a:t> </a:t>
            </a:r>
            <a:r>
              <a:rPr dirty="0" sz="350" spc="120">
                <a:solidFill>
                  <a:srgbClr val="FFFFFF"/>
                </a:solidFill>
                <a:latin typeface="Garamond"/>
                <a:cs typeface="Garamond"/>
              </a:rPr>
              <a:t>H </a:t>
            </a:r>
            <a:r>
              <a:rPr dirty="0" sz="350" spc="229">
                <a:solidFill>
                  <a:srgbClr val="FFFFFF"/>
                </a:solidFill>
                <a:latin typeface="Garamond"/>
                <a:cs typeface="Garamond"/>
              </a:rPr>
              <a:t> </a:t>
            </a:r>
            <a:r>
              <a:rPr dirty="0" sz="350" spc="110">
                <a:solidFill>
                  <a:srgbClr val="FFFFFF"/>
                </a:solidFill>
                <a:latin typeface="Garamond"/>
                <a:cs typeface="Garamond"/>
              </a:rPr>
              <a:t>E</a:t>
            </a:r>
            <a:r>
              <a:rPr dirty="0" sz="350" spc="75">
                <a:solidFill>
                  <a:srgbClr val="FFFFFF"/>
                </a:solidFill>
                <a:latin typeface="Garamond"/>
                <a:cs typeface="Garamond"/>
              </a:rPr>
              <a:t> </a:t>
            </a:r>
            <a:r>
              <a:rPr dirty="0" sz="350" spc="120">
                <a:solidFill>
                  <a:srgbClr val="FFFFFF"/>
                </a:solidFill>
                <a:latin typeface="Garamond"/>
                <a:cs typeface="Garamond"/>
              </a:rPr>
              <a:t>D</a:t>
            </a:r>
            <a:r>
              <a:rPr dirty="0" sz="350" spc="75">
                <a:solidFill>
                  <a:srgbClr val="FFFFFF"/>
                </a:solidFill>
                <a:latin typeface="Garamond"/>
                <a:cs typeface="Garamond"/>
              </a:rPr>
              <a:t> I </a:t>
            </a:r>
            <a:r>
              <a:rPr dirty="0" sz="350" spc="105">
                <a:solidFill>
                  <a:srgbClr val="FFFFFF"/>
                </a:solidFill>
                <a:latin typeface="Garamond"/>
                <a:cs typeface="Garamond"/>
              </a:rPr>
              <a:t>T</a:t>
            </a:r>
            <a:r>
              <a:rPr dirty="0" sz="350" spc="75">
                <a:solidFill>
                  <a:srgbClr val="FFFFFF"/>
                </a:solidFill>
                <a:latin typeface="Garamond"/>
                <a:cs typeface="Garamond"/>
              </a:rPr>
              <a:t> I </a:t>
            </a:r>
            <a:r>
              <a:rPr dirty="0" sz="350" spc="125">
                <a:solidFill>
                  <a:srgbClr val="FFFFFF"/>
                </a:solidFill>
                <a:latin typeface="Garamond"/>
                <a:cs typeface="Garamond"/>
              </a:rPr>
              <a:t>O</a:t>
            </a:r>
            <a:r>
              <a:rPr dirty="0" sz="350" spc="75">
                <a:solidFill>
                  <a:srgbClr val="FFFFFF"/>
                </a:solidFill>
                <a:latin typeface="Garamond"/>
                <a:cs typeface="Garamond"/>
              </a:rPr>
              <a:t> </a:t>
            </a:r>
            <a:r>
              <a:rPr dirty="0" sz="350" spc="85">
                <a:solidFill>
                  <a:srgbClr val="FFFFFF"/>
                </a:solidFill>
                <a:latin typeface="Garamond"/>
                <a:cs typeface="Garamond"/>
              </a:rPr>
              <a:t>N </a:t>
            </a:r>
            <a:r>
              <a:rPr dirty="0" sz="350" spc="35">
                <a:solidFill>
                  <a:srgbClr val="FFFFFF"/>
                </a:solidFill>
                <a:latin typeface="Garamond"/>
                <a:cs typeface="Garamond"/>
              </a:rPr>
              <a:t> </a:t>
            </a:r>
            <a:endParaRPr sz="350">
              <a:latin typeface="Garamond"/>
              <a:cs typeface="Garamond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11310" y="2803343"/>
            <a:ext cx="1395095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 spc="114">
                <a:solidFill>
                  <a:srgbClr val="FFFFFF"/>
                </a:solidFill>
                <a:latin typeface="Garamond"/>
                <a:cs typeface="Garamond"/>
              </a:rPr>
              <a:t>Algorithms</a:t>
            </a:r>
            <a:endParaRPr sz="2200">
              <a:latin typeface="Garamond"/>
              <a:cs typeface="Garamond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46021" y="3535891"/>
            <a:ext cx="1532255" cy="32067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0"/>
              </a:spcBef>
            </a:pPr>
            <a:r>
              <a:rPr dirty="0" sz="700" spc="35">
                <a:solidFill>
                  <a:srgbClr val="FFFFFF"/>
                </a:solidFill>
                <a:latin typeface="Garamond"/>
                <a:cs typeface="Garamond"/>
              </a:rPr>
              <a:t>R</a:t>
            </a:r>
            <a:r>
              <a:rPr dirty="0" sz="450" spc="35">
                <a:solidFill>
                  <a:srgbClr val="FFFFFF"/>
                </a:solidFill>
                <a:latin typeface="Garamond"/>
                <a:cs typeface="Garamond"/>
              </a:rPr>
              <a:t>OBERT</a:t>
            </a:r>
            <a:r>
              <a:rPr dirty="0" sz="450" spc="80">
                <a:solidFill>
                  <a:srgbClr val="FFFFFF"/>
                </a:solidFill>
                <a:latin typeface="Garamond"/>
                <a:cs typeface="Garamond"/>
              </a:rPr>
              <a:t> </a:t>
            </a:r>
            <a:r>
              <a:rPr dirty="0" sz="700" spc="35">
                <a:solidFill>
                  <a:srgbClr val="FFFFFF"/>
                </a:solidFill>
                <a:latin typeface="Garamond"/>
                <a:cs typeface="Garamond"/>
              </a:rPr>
              <a:t>S</a:t>
            </a:r>
            <a:r>
              <a:rPr dirty="0" sz="450" spc="35">
                <a:solidFill>
                  <a:srgbClr val="FFFFFF"/>
                </a:solidFill>
                <a:latin typeface="Garamond"/>
                <a:cs typeface="Garamond"/>
              </a:rPr>
              <a:t>EDGEWICK </a:t>
            </a:r>
            <a:r>
              <a:rPr dirty="0" sz="450" spc="114">
                <a:solidFill>
                  <a:srgbClr val="FFFFFF"/>
                </a:solidFill>
                <a:latin typeface="Garamond"/>
                <a:cs typeface="Garamond"/>
              </a:rPr>
              <a:t> </a:t>
            </a:r>
            <a:r>
              <a:rPr dirty="0" sz="700" spc="-200">
                <a:solidFill>
                  <a:srgbClr val="FFFFFF"/>
                </a:solidFill>
                <a:latin typeface="Garamond"/>
                <a:cs typeface="Garamond"/>
              </a:rPr>
              <a:t>|</a:t>
            </a:r>
            <a:r>
              <a:rPr dirty="0" sz="700" spc="210">
                <a:solidFill>
                  <a:srgbClr val="FFFFFF"/>
                </a:solidFill>
                <a:latin typeface="Garamond"/>
                <a:cs typeface="Garamond"/>
              </a:rPr>
              <a:t> </a:t>
            </a:r>
            <a:r>
              <a:rPr dirty="0" sz="700" spc="30">
                <a:solidFill>
                  <a:srgbClr val="FFFFFF"/>
                </a:solidFill>
                <a:latin typeface="Garamond"/>
                <a:cs typeface="Garamond"/>
              </a:rPr>
              <a:t>K</a:t>
            </a:r>
            <a:r>
              <a:rPr dirty="0" sz="450" spc="30">
                <a:solidFill>
                  <a:srgbClr val="FFFFFF"/>
                </a:solidFill>
                <a:latin typeface="Garamond"/>
                <a:cs typeface="Garamond"/>
              </a:rPr>
              <a:t>EVIN</a:t>
            </a:r>
            <a:r>
              <a:rPr dirty="0" sz="450" spc="80">
                <a:solidFill>
                  <a:srgbClr val="FFFFFF"/>
                </a:solidFill>
                <a:latin typeface="Garamond"/>
                <a:cs typeface="Garamond"/>
              </a:rPr>
              <a:t> </a:t>
            </a:r>
            <a:r>
              <a:rPr dirty="0" sz="700" spc="40">
                <a:solidFill>
                  <a:srgbClr val="FFFFFF"/>
                </a:solidFill>
                <a:latin typeface="Garamond"/>
                <a:cs typeface="Garamond"/>
              </a:rPr>
              <a:t>W</a:t>
            </a:r>
            <a:r>
              <a:rPr dirty="0" sz="450" spc="40">
                <a:solidFill>
                  <a:srgbClr val="FFFFFF"/>
                </a:solidFill>
                <a:latin typeface="Garamond"/>
                <a:cs typeface="Garamond"/>
              </a:rPr>
              <a:t>AYNE</a:t>
            </a:r>
            <a:endParaRPr sz="45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600">
              <a:latin typeface="Garamond"/>
              <a:cs typeface="Garamond"/>
            </a:endParaRPr>
          </a:p>
          <a:p>
            <a:pPr algn="ctr">
              <a:lnSpc>
                <a:spcPct val="100000"/>
              </a:lnSpc>
            </a:pPr>
            <a:r>
              <a:rPr dirty="0" sz="650" spc="65" b="1">
                <a:latin typeface="Tahoma"/>
                <a:cs typeface="Tahoma"/>
                <a:hlinkClick r:id="rId2"/>
              </a:rPr>
              <a:t>http://algs4.cs.princeton.edu</a:t>
            </a:r>
            <a:r>
              <a:rPr dirty="0" sz="650" spc="-120" b="1">
                <a:latin typeface="Tahoma"/>
                <a:cs typeface="Tahoma"/>
                <a:hlinkClick r:id="rId2"/>
              </a:rPr>
              <a:t> </a:t>
            </a:r>
            <a:endParaRPr sz="650">
              <a:latin typeface="Tahoma"/>
              <a:cs typeface="Tahom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346176" y="237122"/>
            <a:ext cx="6066790" cy="1870710"/>
            <a:chOff x="346176" y="237122"/>
            <a:chExt cx="6066790" cy="1870710"/>
          </a:xfrm>
        </p:grpSpPr>
        <p:sp>
          <p:nvSpPr>
            <p:cNvPr id="6" name="object 6"/>
            <p:cNvSpPr/>
            <p:nvPr/>
          </p:nvSpPr>
          <p:spPr>
            <a:xfrm>
              <a:off x="2976428" y="2103194"/>
              <a:ext cx="3039745" cy="0"/>
            </a:xfrm>
            <a:custGeom>
              <a:avLst/>
              <a:gdLst/>
              <a:ahLst/>
              <a:cxnLst/>
              <a:rect l="l" t="t" r="r" b="b"/>
              <a:pathLst>
                <a:path w="3039745" h="0">
                  <a:moveTo>
                    <a:pt x="0" y="0"/>
                  </a:moveTo>
                  <a:lnTo>
                    <a:pt x="3039461" y="0"/>
                  </a:lnTo>
                </a:path>
              </a:pathLst>
            </a:custGeom>
            <a:ln w="88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346176" y="237122"/>
              <a:ext cx="6066790" cy="497840"/>
            </a:xfrm>
            <a:custGeom>
              <a:avLst/>
              <a:gdLst/>
              <a:ahLst/>
              <a:cxnLst/>
              <a:rect l="l" t="t" r="r" b="b"/>
              <a:pathLst>
                <a:path w="6066790" h="497840">
                  <a:moveTo>
                    <a:pt x="0" y="0"/>
                  </a:moveTo>
                  <a:lnTo>
                    <a:pt x="6066212" y="0"/>
                  </a:lnTo>
                  <a:lnTo>
                    <a:pt x="6066212" y="497619"/>
                  </a:lnTo>
                  <a:lnTo>
                    <a:pt x="0" y="49761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D312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739997" y="230346"/>
            <a:ext cx="1565275" cy="395605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160"/>
              <a:t>Algorithms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985206" y="372523"/>
            <a:ext cx="2127885" cy="1752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950" spc="60">
                <a:solidFill>
                  <a:srgbClr val="FFFFFF"/>
                </a:solidFill>
                <a:latin typeface="Garamond"/>
                <a:cs typeface="Garamond"/>
              </a:rPr>
              <a:t>R</a:t>
            </a:r>
            <a:r>
              <a:rPr dirty="0" sz="750" spc="60">
                <a:solidFill>
                  <a:srgbClr val="FFFFFF"/>
                </a:solidFill>
                <a:latin typeface="Garamond"/>
                <a:cs typeface="Garamond"/>
              </a:rPr>
              <a:t>OBERT</a:t>
            </a:r>
            <a:r>
              <a:rPr dirty="0" sz="750" spc="70">
                <a:solidFill>
                  <a:srgbClr val="FFFFFF"/>
                </a:solidFill>
                <a:latin typeface="Garamond"/>
                <a:cs typeface="Garamond"/>
              </a:rPr>
              <a:t> </a:t>
            </a:r>
            <a:r>
              <a:rPr dirty="0" sz="950" spc="65">
                <a:solidFill>
                  <a:srgbClr val="FFFFFF"/>
                </a:solidFill>
                <a:latin typeface="Garamond"/>
                <a:cs typeface="Garamond"/>
              </a:rPr>
              <a:t>S</a:t>
            </a:r>
            <a:r>
              <a:rPr dirty="0" sz="750" spc="65">
                <a:solidFill>
                  <a:srgbClr val="FFFFFF"/>
                </a:solidFill>
                <a:latin typeface="Garamond"/>
                <a:cs typeface="Garamond"/>
              </a:rPr>
              <a:t>EDGEWICK</a:t>
            </a:r>
            <a:r>
              <a:rPr dirty="0" sz="750" spc="290">
                <a:solidFill>
                  <a:srgbClr val="FFFFFF"/>
                </a:solidFill>
                <a:latin typeface="Garamond"/>
                <a:cs typeface="Garamond"/>
              </a:rPr>
              <a:t> </a:t>
            </a:r>
            <a:r>
              <a:rPr dirty="0" sz="950" spc="-260">
                <a:solidFill>
                  <a:srgbClr val="FFFFFF"/>
                </a:solidFill>
                <a:latin typeface="Garamond"/>
                <a:cs typeface="Garamond"/>
              </a:rPr>
              <a:t>|</a:t>
            </a:r>
            <a:r>
              <a:rPr dirty="0" sz="950" spc="240">
                <a:solidFill>
                  <a:srgbClr val="FFFFFF"/>
                </a:solidFill>
                <a:latin typeface="Garamond"/>
                <a:cs typeface="Garamond"/>
              </a:rPr>
              <a:t> </a:t>
            </a:r>
            <a:r>
              <a:rPr dirty="0" sz="950" spc="60">
                <a:solidFill>
                  <a:srgbClr val="FFFFFF"/>
                </a:solidFill>
                <a:latin typeface="Garamond"/>
                <a:cs typeface="Garamond"/>
              </a:rPr>
              <a:t>K</a:t>
            </a:r>
            <a:r>
              <a:rPr dirty="0" sz="750" spc="60">
                <a:solidFill>
                  <a:srgbClr val="FFFFFF"/>
                </a:solidFill>
                <a:latin typeface="Garamond"/>
                <a:cs typeface="Garamond"/>
              </a:rPr>
              <a:t>EVIN</a:t>
            </a:r>
            <a:r>
              <a:rPr dirty="0" sz="750" spc="70">
                <a:solidFill>
                  <a:srgbClr val="FFFFFF"/>
                </a:solidFill>
                <a:latin typeface="Garamond"/>
                <a:cs typeface="Garamond"/>
              </a:rPr>
              <a:t> </a:t>
            </a:r>
            <a:r>
              <a:rPr dirty="0" sz="950" spc="70">
                <a:solidFill>
                  <a:srgbClr val="FFFFFF"/>
                </a:solidFill>
                <a:latin typeface="Garamond"/>
                <a:cs typeface="Garamond"/>
              </a:rPr>
              <a:t>W</a:t>
            </a:r>
            <a:r>
              <a:rPr dirty="0" sz="750" spc="70">
                <a:solidFill>
                  <a:srgbClr val="FFFFFF"/>
                </a:solidFill>
                <a:latin typeface="Garamond"/>
                <a:cs typeface="Garamond"/>
              </a:rPr>
              <a:t>AYNE</a:t>
            </a:r>
            <a:endParaRPr sz="750">
              <a:latin typeface="Garamond"/>
              <a:cs typeface="Garamond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967434" y="1755786"/>
            <a:ext cx="1696085" cy="2921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80695" algn="l"/>
              </a:tabLst>
            </a:pPr>
            <a:r>
              <a:rPr dirty="0" sz="1750" spc="70" b="1">
                <a:latin typeface="Century Gothic"/>
                <a:cs typeface="Century Gothic"/>
              </a:rPr>
              <a:t>3.4	</a:t>
            </a:r>
            <a:r>
              <a:rPr dirty="0" sz="1750" spc="25" b="1">
                <a:latin typeface="Century Gothic"/>
                <a:cs typeface="Century Gothic"/>
              </a:rPr>
              <a:t>H</a:t>
            </a:r>
            <a:r>
              <a:rPr dirty="0" sz="1400" spc="25" b="1">
                <a:latin typeface="Century Gothic"/>
                <a:cs typeface="Century Gothic"/>
              </a:rPr>
              <a:t>ASH</a:t>
            </a:r>
            <a:r>
              <a:rPr dirty="0" sz="1400" spc="85" b="1">
                <a:latin typeface="Century Gothic"/>
                <a:cs typeface="Century Gothic"/>
              </a:rPr>
              <a:t> </a:t>
            </a:r>
            <a:r>
              <a:rPr dirty="0" sz="1750" spc="40" b="1">
                <a:latin typeface="Century Gothic"/>
                <a:cs typeface="Century Gothic"/>
              </a:rPr>
              <a:t>T</a:t>
            </a:r>
            <a:r>
              <a:rPr dirty="0" sz="1400" spc="40" b="1">
                <a:latin typeface="Century Gothic"/>
                <a:cs typeface="Century Gothic"/>
              </a:rPr>
              <a:t>ABLES</a:t>
            </a:r>
            <a:endParaRPr sz="1400">
              <a:latin typeface="Century Gothic"/>
              <a:cs typeface="Century Gothic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949596" y="2143810"/>
            <a:ext cx="1513205" cy="1163320"/>
          </a:xfrm>
          <a:prstGeom prst="rect">
            <a:avLst/>
          </a:prstGeom>
        </p:spPr>
        <p:txBody>
          <a:bodyPr wrap="square" lIns="0" tIns="83820" rIns="0" bIns="0" rtlCol="0" vert="horz">
            <a:spAutoFit/>
          </a:bodyPr>
          <a:lstStyle/>
          <a:p>
            <a:pPr marL="160655" indent="-148590">
              <a:lnSpc>
                <a:spcPct val="100000"/>
              </a:lnSpc>
              <a:spcBef>
                <a:spcPts val="660"/>
              </a:spcBef>
              <a:buFont typeface="Tahoma"/>
              <a:buChar char="‣"/>
              <a:tabLst>
                <a:tab pos="161290" algn="l"/>
              </a:tabLst>
            </a:pPr>
            <a:r>
              <a:rPr dirty="0" sz="1400" spc="15" i="1">
                <a:latin typeface="Calibri"/>
                <a:cs typeface="Calibri"/>
              </a:rPr>
              <a:t>hash</a:t>
            </a:r>
            <a:r>
              <a:rPr dirty="0" sz="1400" spc="60" i="1">
                <a:latin typeface="Calibri"/>
                <a:cs typeface="Calibri"/>
              </a:rPr>
              <a:t> </a:t>
            </a:r>
            <a:r>
              <a:rPr dirty="0" sz="1400" spc="-10" i="1">
                <a:latin typeface="Calibri"/>
                <a:cs typeface="Calibri"/>
              </a:rPr>
              <a:t>functions</a:t>
            </a:r>
            <a:endParaRPr sz="1400">
              <a:latin typeface="Calibri"/>
              <a:cs typeface="Calibri"/>
            </a:endParaRPr>
          </a:p>
          <a:p>
            <a:pPr marL="160655" indent="-148590">
              <a:lnSpc>
                <a:spcPct val="100000"/>
              </a:lnSpc>
              <a:spcBef>
                <a:spcPts val="555"/>
              </a:spcBef>
              <a:buFont typeface="Tahoma"/>
              <a:buChar char="‣"/>
              <a:tabLst>
                <a:tab pos="161290" algn="l"/>
              </a:tabLst>
            </a:pPr>
            <a:r>
              <a:rPr dirty="0" sz="1400" spc="5" i="1">
                <a:latin typeface="Calibri"/>
                <a:cs typeface="Calibri"/>
              </a:rPr>
              <a:t>separate</a:t>
            </a:r>
            <a:r>
              <a:rPr dirty="0" sz="1400" spc="45" i="1">
                <a:latin typeface="Calibri"/>
                <a:cs typeface="Calibri"/>
              </a:rPr>
              <a:t> </a:t>
            </a:r>
            <a:r>
              <a:rPr dirty="0" sz="1400" spc="30" i="1">
                <a:latin typeface="Calibri"/>
                <a:cs typeface="Calibri"/>
              </a:rPr>
              <a:t>chaining</a:t>
            </a:r>
            <a:endParaRPr sz="1400">
              <a:latin typeface="Calibri"/>
              <a:cs typeface="Calibri"/>
            </a:endParaRPr>
          </a:p>
          <a:p>
            <a:pPr marL="160655" indent="-148590">
              <a:lnSpc>
                <a:spcPct val="100000"/>
              </a:lnSpc>
              <a:spcBef>
                <a:spcPts val="560"/>
              </a:spcBef>
              <a:buFont typeface="Tahoma"/>
              <a:buChar char="‣"/>
              <a:tabLst>
                <a:tab pos="161290" algn="l"/>
              </a:tabLst>
            </a:pPr>
            <a:r>
              <a:rPr dirty="0" sz="1400" spc="20" i="1">
                <a:latin typeface="Calibri"/>
                <a:cs typeface="Calibri"/>
              </a:rPr>
              <a:t>linear</a:t>
            </a:r>
            <a:r>
              <a:rPr dirty="0" sz="1400" spc="50" i="1">
                <a:latin typeface="Calibri"/>
                <a:cs typeface="Calibri"/>
              </a:rPr>
              <a:t> </a:t>
            </a:r>
            <a:r>
              <a:rPr dirty="0" sz="1400" spc="35" i="1">
                <a:latin typeface="Calibri"/>
                <a:cs typeface="Calibri"/>
              </a:rPr>
              <a:t>probing</a:t>
            </a:r>
            <a:endParaRPr sz="1400">
              <a:latin typeface="Calibri"/>
              <a:cs typeface="Calibri"/>
            </a:endParaRPr>
          </a:p>
          <a:p>
            <a:pPr marL="160655" indent="-148590">
              <a:lnSpc>
                <a:spcPct val="100000"/>
              </a:lnSpc>
              <a:spcBef>
                <a:spcPts val="560"/>
              </a:spcBef>
              <a:buFont typeface="Tahoma"/>
              <a:buChar char="‣"/>
              <a:tabLst>
                <a:tab pos="161290" algn="l"/>
              </a:tabLst>
            </a:pPr>
            <a:r>
              <a:rPr dirty="0" sz="1400" spc="-15" i="1">
                <a:latin typeface="Calibri"/>
                <a:cs typeface="Calibri"/>
              </a:rPr>
              <a:t>context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6592379" y="237122"/>
            <a:ext cx="6066790" cy="4549775"/>
            <a:chOff x="6592379" y="237122"/>
            <a:chExt cx="6066790" cy="4549775"/>
          </a:xfrm>
        </p:grpSpPr>
        <p:sp>
          <p:nvSpPr>
            <p:cNvPr id="13" name="object 13"/>
            <p:cNvSpPr/>
            <p:nvPr/>
          </p:nvSpPr>
          <p:spPr>
            <a:xfrm>
              <a:off x="6592379" y="237122"/>
              <a:ext cx="6066790" cy="4549775"/>
            </a:xfrm>
            <a:custGeom>
              <a:avLst/>
              <a:gdLst/>
              <a:ahLst/>
              <a:cxnLst/>
              <a:rect l="l" t="t" r="r" b="b"/>
              <a:pathLst>
                <a:path w="6066790" h="4549775">
                  <a:moveTo>
                    <a:pt x="0" y="0"/>
                  </a:moveTo>
                  <a:lnTo>
                    <a:pt x="6066212" y="0"/>
                  </a:lnTo>
                  <a:lnTo>
                    <a:pt x="6066212" y="4549659"/>
                  </a:lnTo>
                  <a:lnTo>
                    <a:pt x="0" y="45496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6977442" y="699147"/>
              <a:ext cx="5302250" cy="635"/>
            </a:xfrm>
            <a:custGeom>
              <a:avLst/>
              <a:gdLst/>
              <a:ahLst/>
              <a:cxnLst/>
              <a:rect l="l" t="t" r="r" b="b"/>
              <a:pathLst>
                <a:path w="5302250" h="634">
                  <a:moveTo>
                    <a:pt x="0" y="49"/>
                  </a:moveTo>
                  <a:lnTo>
                    <a:pt x="5302012" y="0"/>
                  </a:lnTo>
                </a:path>
              </a:pathLst>
            </a:custGeom>
            <a:ln w="59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6986199" y="396219"/>
            <a:ext cx="3109595" cy="2247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00" spc="5">
                <a:latin typeface="Arial"/>
                <a:cs typeface="Arial"/>
              </a:rPr>
              <a:t>Symbol</a:t>
            </a:r>
            <a:r>
              <a:rPr dirty="0" sz="1300" spc="35">
                <a:latin typeface="Arial"/>
                <a:cs typeface="Arial"/>
              </a:rPr>
              <a:t> </a:t>
            </a:r>
            <a:r>
              <a:rPr dirty="0" sz="1300" spc="30">
                <a:latin typeface="Arial"/>
                <a:cs typeface="Arial"/>
              </a:rPr>
              <a:t>table</a:t>
            </a:r>
            <a:r>
              <a:rPr dirty="0" sz="1300" spc="40">
                <a:latin typeface="Arial"/>
                <a:cs typeface="Arial"/>
              </a:rPr>
              <a:t> </a:t>
            </a:r>
            <a:r>
              <a:rPr dirty="0" sz="1300" spc="5">
                <a:latin typeface="Arial"/>
                <a:cs typeface="Arial"/>
              </a:rPr>
              <a:t>implementations: </a:t>
            </a:r>
            <a:r>
              <a:rPr dirty="0" sz="1300" spc="75">
                <a:latin typeface="Arial"/>
                <a:cs typeface="Arial"/>
              </a:rPr>
              <a:t> </a:t>
            </a:r>
            <a:r>
              <a:rPr dirty="0" sz="1300" spc="-5">
                <a:latin typeface="Arial"/>
                <a:cs typeface="Arial"/>
              </a:rPr>
              <a:t>summary</a:t>
            </a:r>
            <a:endParaRPr sz="13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986199" y="3801355"/>
            <a:ext cx="3121025" cy="487680"/>
          </a:xfrm>
          <a:prstGeom prst="rect">
            <a:avLst/>
          </a:prstGeom>
        </p:spPr>
        <p:txBody>
          <a:bodyPr wrap="square" lIns="0" tIns="755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95"/>
              </a:spcBef>
            </a:pPr>
            <a:r>
              <a:rPr dirty="0" sz="1100" spc="10">
                <a:solidFill>
                  <a:srgbClr val="005493"/>
                </a:solidFill>
                <a:latin typeface="Lucida Sans"/>
                <a:cs typeface="Lucida Sans"/>
              </a:rPr>
              <a:t>Q.</a:t>
            </a:r>
            <a:r>
              <a:rPr dirty="0" sz="1100" spc="335">
                <a:solidFill>
                  <a:srgbClr val="005493"/>
                </a:solidFill>
                <a:latin typeface="Lucida Sans"/>
                <a:cs typeface="Lucida Sans"/>
              </a:rPr>
              <a:t> </a:t>
            </a:r>
            <a:r>
              <a:rPr dirty="0" sz="1100" spc="10">
                <a:latin typeface="Lucida Sans"/>
                <a:cs typeface="Lucida Sans"/>
              </a:rPr>
              <a:t>Can</a:t>
            </a:r>
            <a:r>
              <a:rPr dirty="0" sz="1100">
                <a:latin typeface="Lucida Sans"/>
                <a:cs typeface="Lucida Sans"/>
              </a:rPr>
              <a:t> </a:t>
            </a:r>
            <a:r>
              <a:rPr dirty="0" sz="1100" spc="50">
                <a:latin typeface="Lucida Sans"/>
                <a:cs typeface="Lucida Sans"/>
              </a:rPr>
              <a:t>we</a:t>
            </a:r>
            <a:r>
              <a:rPr dirty="0" sz="1100" spc="-5">
                <a:latin typeface="Lucida Sans"/>
                <a:cs typeface="Lucida Sans"/>
              </a:rPr>
              <a:t> </a:t>
            </a:r>
            <a:r>
              <a:rPr dirty="0" sz="1100" spc="10">
                <a:latin typeface="Lucida Sans"/>
                <a:cs typeface="Lucida Sans"/>
              </a:rPr>
              <a:t>do</a:t>
            </a:r>
            <a:r>
              <a:rPr dirty="0" sz="1100" spc="-5">
                <a:latin typeface="Lucida Sans"/>
                <a:cs typeface="Lucida Sans"/>
              </a:rPr>
              <a:t> </a:t>
            </a:r>
            <a:r>
              <a:rPr dirty="0" sz="1100" spc="5">
                <a:latin typeface="Lucida Sans"/>
                <a:cs typeface="Lucida Sans"/>
              </a:rPr>
              <a:t>better?</a:t>
            </a:r>
            <a:endParaRPr sz="1100">
              <a:latin typeface="Lucida Sans"/>
              <a:cs typeface="Lucida Sans"/>
            </a:endParaRPr>
          </a:p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dirty="0" sz="1100" spc="5">
                <a:solidFill>
                  <a:srgbClr val="005493"/>
                </a:solidFill>
                <a:latin typeface="Lucida Sans"/>
                <a:cs typeface="Lucida Sans"/>
              </a:rPr>
              <a:t>A. </a:t>
            </a:r>
            <a:r>
              <a:rPr dirty="0" sz="1100" spc="10">
                <a:solidFill>
                  <a:srgbClr val="005493"/>
                </a:solidFill>
                <a:latin typeface="Lucida Sans"/>
                <a:cs typeface="Lucida Sans"/>
              </a:rPr>
              <a:t> </a:t>
            </a:r>
            <a:r>
              <a:rPr dirty="0" sz="1100" spc="-20">
                <a:latin typeface="Lucida Sans"/>
                <a:cs typeface="Lucida Sans"/>
              </a:rPr>
              <a:t>Yes,</a:t>
            </a:r>
            <a:r>
              <a:rPr dirty="0" sz="1100" spc="5">
                <a:latin typeface="Lucida Sans"/>
                <a:cs typeface="Lucida Sans"/>
              </a:rPr>
              <a:t> </a:t>
            </a:r>
            <a:r>
              <a:rPr dirty="0" sz="1100" spc="10">
                <a:latin typeface="Lucida Sans"/>
                <a:cs typeface="Lucida Sans"/>
              </a:rPr>
              <a:t>but </a:t>
            </a:r>
            <a:r>
              <a:rPr dirty="0" sz="1100" spc="25">
                <a:latin typeface="Lucida Sans"/>
                <a:cs typeface="Lucida Sans"/>
              </a:rPr>
              <a:t>with</a:t>
            </a:r>
            <a:r>
              <a:rPr dirty="0" sz="1100" spc="10">
                <a:latin typeface="Lucida Sans"/>
                <a:cs typeface="Lucida Sans"/>
              </a:rPr>
              <a:t> </a:t>
            </a:r>
            <a:r>
              <a:rPr dirty="0" sz="1100">
                <a:latin typeface="Lucida Sans"/>
                <a:cs typeface="Lucida Sans"/>
              </a:rPr>
              <a:t>different</a:t>
            </a:r>
            <a:r>
              <a:rPr dirty="0" sz="1100" spc="5">
                <a:latin typeface="Lucida Sans"/>
                <a:cs typeface="Lucida Sans"/>
              </a:rPr>
              <a:t> </a:t>
            </a:r>
            <a:r>
              <a:rPr dirty="0" sz="1100" spc="10">
                <a:latin typeface="Lucida Sans"/>
                <a:cs typeface="Lucida Sans"/>
              </a:rPr>
              <a:t>access </a:t>
            </a:r>
            <a:r>
              <a:rPr dirty="0" sz="1100" spc="5">
                <a:latin typeface="Lucida Sans"/>
                <a:cs typeface="Lucida Sans"/>
              </a:rPr>
              <a:t>to</a:t>
            </a:r>
            <a:r>
              <a:rPr dirty="0" sz="1100" spc="10">
                <a:latin typeface="Lucida Sans"/>
                <a:cs typeface="Lucida Sans"/>
              </a:rPr>
              <a:t> </a:t>
            </a:r>
            <a:r>
              <a:rPr dirty="0" sz="1100" spc="5">
                <a:latin typeface="Lucida Sans"/>
                <a:cs typeface="Lucida Sans"/>
              </a:rPr>
              <a:t>the data.</a:t>
            </a:r>
            <a:endParaRPr sz="1100">
              <a:latin typeface="Lucida Sans"/>
              <a:cs typeface="Lucida San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2514705" y="4615831"/>
            <a:ext cx="70485" cy="1111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550" spc="5">
                <a:latin typeface="Lucida Sans"/>
                <a:cs typeface="Lucida Sans"/>
              </a:rPr>
              <a:t>2</a:t>
            </a:r>
            <a:endParaRPr sz="550">
              <a:latin typeface="Lucida Sans"/>
              <a:cs typeface="Lucida Sans"/>
            </a:endParaRPr>
          </a:p>
        </p:txBody>
      </p:sp>
      <p:graphicFrame>
        <p:nvGraphicFramePr>
          <p:cNvPr id="18" name="object 18"/>
          <p:cNvGraphicFramePr>
            <a:graphicFrameLocks noGrp="1"/>
          </p:cNvGraphicFramePr>
          <p:nvPr/>
        </p:nvGraphicFramePr>
        <p:xfrm>
          <a:off x="6732473" y="995399"/>
          <a:ext cx="5744210" cy="25107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05205"/>
                <a:gridCol w="467994"/>
                <a:gridCol w="467994"/>
                <a:gridCol w="467994"/>
                <a:gridCol w="628014"/>
                <a:gridCol w="628014"/>
                <a:gridCol w="628014"/>
                <a:gridCol w="605154"/>
                <a:gridCol w="846454"/>
              </a:tblGrid>
              <a:tr h="354965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140335">
                        <a:lnSpc>
                          <a:spcPct val="100000"/>
                        </a:lnSpc>
                      </a:pPr>
                      <a:r>
                        <a:rPr dirty="0" sz="750" spc="-5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implementation</a:t>
                      </a:r>
                      <a:endParaRPr sz="750">
                        <a:latin typeface="Lucida Sans"/>
                        <a:cs typeface="Lucida Sans"/>
                      </a:endParaRPr>
                    </a:p>
                  </a:txBody>
                  <a:tcPr marL="0" marR="0" marB="0" marT="0">
                    <a:lnR w="3175">
                      <a:solidFill>
                        <a:srgbClr val="E7EAEB"/>
                      </a:solidFill>
                      <a:prstDash val="solid"/>
                    </a:lnR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606060"/>
                    </a:solidFill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750" spc="-5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guarantee</a:t>
                      </a:r>
                      <a:endParaRPr sz="750">
                        <a:latin typeface="Lucida Sans"/>
                        <a:cs typeface="Lucida Sans"/>
                      </a:endParaRPr>
                    </a:p>
                  </a:txBody>
                  <a:tcPr marL="0" marR="0" marB="0" marT="381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606060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75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average</a:t>
                      </a:r>
                      <a:r>
                        <a:rPr dirty="0" sz="750" spc="-35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 </a:t>
                      </a:r>
                      <a:r>
                        <a:rPr dirty="0" sz="750" spc="-5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case</a:t>
                      </a:r>
                      <a:endParaRPr sz="750">
                        <a:latin typeface="Lucida Sans"/>
                        <a:cs typeface="Lucida Sans"/>
                      </a:endParaRPr>
                    </a:p>
                  </a:txBody>
                  <a:tcPr marL="0" marR="0" marB="0" marT="381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606060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198755" marR="116205" indent="-75565">
                        <a:lnSpc>
                          <a:spcPct val="108800"/>
                        </a:lnSpc>
                        <a:spcBef>
                          <a:spcPts val="655"/>
                        </a:spcBef>
                      </a:pPr>
                      <a:r>
                        <a:rPr dirty="0" sz="75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o</a:t>
                      </a:r>
                      <a:r>
                        <a:rPr dirty="0" sz="750" spc="-15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r</a:t>
                      </a:r>
                      <a:r>
                        <a:rPr dirty="0" sz="75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de</a:t>
                      </a:r>
                      <a:r>
                        <a:rPr dirty="0" sz="750" spc="-15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r</a:t>
                      </a:r>
                      <a:r>
                        <a:rPr dirty="0" sz="75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ed  </a:t>
                      </a:r>
                      <a:r>
                        <a:rPr dirty="0" sz="750" spc="-5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ops?</a:t>
                      </a:r>
                      <a:endParaRPr sz="750">
                        <a:latin typeface="Lucida Sans"/>
                        <a:cs typeface="Lucida Sans"/>
                      </a:endParaRPr>
                    </a:p>
                  </a:txBody>
                  <a:tcPr marL="0" marR="0" marB="0" marT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606060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222250" marR="213360" indent="120014">
                        <a:lnSpc>
                          <a:spcPct val="108800"/>
                        </a:lnSpc>
                        <a:spcBef>
                          <a:spcPts val="655"/>
                        </a:spcBef>
                      </a:pPr>
                      <a:r>
                        <a:rPr dirty="0" sz="750" spc="5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key </a:t>
                      </a:r>
                      <a:r>
                        <a:rPr dirty="0" sz="750" spc="1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 </a:t>
                      </a:r>
                      <a:r>
                        <a:rPr dirty="0" sz="75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interface</a:t>
                      </a:r>
                      <a:endParaRPr sz="750">
                        <a:latin typeface="Lucida Sans"/>
                        <a:cs typeface="Lucida Sans"/>
                      </a:endParaRPr>
                    </a:p>
                  </a:txBody>
                  <a:tcPr marL="0" marR="0" marB="0" marT="0">
                    <a:lnL w="3175">
                      <a:solidFill>
                        <a:srgbClr val="E7EAEB"/>
                      </a:solidFill>
                      <a:prstDash val="solid"/>
                    </a:lnL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606060"/>
                    </a:solidFill>
                  </a:tcPr>
                </a:tc>
              </a:tr>
              <a:tr h="35496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R w="3175">
                      <a:solidFill>
                        <a:srgbClr val="E7EAEB"/>
                      </a:solidFill>
                      <a:prstDash val="solid"/>
                    </a:lnR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6060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750" spc="-5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search</a:t>
                      </a:r>
                      <a:endParaRPr sz="750">
                        <a:latin typeface="Lucida Sans"/>
                        <a:cs typeface="Lucida Sans"/>
                      </a:endParaRPr>
                    </a:p>
                  </a:txBody>
                  <a:tcPr marL="0" marR="0" marB="0" marT="4445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6060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750" spc="-5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insert</a:t>
                      </a:r>
                      <a:endParaRPr sz="750">
                        <a:latin typeface="Lucida Sans"/>
                        <a:cs typeface="Lucida Sans"/>
                      </a:endParaRPr>
                    </a:p>
                  </a:txBody>
                  <a:tcPr marL="0" marR="0" marB="0" marT="4445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6060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750" spc="-5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delete</a:t>
                      </a:r>
                      <a:endParaRPr sz="750">
                        <a:latin typeface="Lucida Sans"/>
                        <a:cs typeface="Lucida Sans"/>
                      </a:endParaRPr>
                    </a:p>
                  </a:txBody>
                  <a:tcPr marL="0" marR="0" marB="0" marT="4445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6060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750" spc="-5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search</a:t>
                      </a:r>
                      <a:r>
                        <a:rPr dirty="0" sz="750" spc="-5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 </a:t>
                      </a:r>
                      <a:r>
                        <a:rPr dirty="0" sz="750" spc="-5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hit</a:t>
                      </a:r>
                      <a:endParaRPr sz="750">
                        <a:latin typeface="Lucida Sans"/>
                        <a:cs typeface="Lucida Sans"/>
                      </a:endParaRPr>
                    </a:p>
                  </a:txBody>
                  <a:tcPr marL="0" marR="0" marB="0" marT="4445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6060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750" spc="-5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insert</a:t>
                      </a:r>
                      <a:endParaRPr sz="750">
                        <a:latin typeface="Lucida Sans"/>
                        <a:cs typeface="Lucida Sans"/>
                      </a:endParaRPr>
                    </a:p>
                  </a:txBody>
                  <a:tcPr marL="0" marR="0" marB="0" marT="4445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6060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750" spc="-5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delete</a:t>
                      </a:r>
                      <a:endParaRPr sz="750">
                        <a:latin typeface="Lucida Sans"/>
                        <a:cs typeface="Lucida Sans"/>
                      </a:endParaRPr>
                    </a:p>
                  </a:txBody>
                  <a:tcPr marL="0" marR="0" marB="0" marT="4445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606060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606060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3175">
                      <a:solidFill>
                        <a:srgbClr val="E7EAEB"/>
                      </a:solidFill>
                      <a:prstDash val="solid"/>
                    </a:lnL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606060"/>
                    </a:solidFill>
                  </a:tcPr>
                </a:tc>
              </a:tr>
              <a:tr h="450215">
                <a:tc>
                  <a:txBody>
                    <a:bodyPr/>
                    <a:lstStyle/>
                    <a:p>
                      <a:pPr marL="120014" marR="67945" indent="-51435">
                        <a:lnSpc>
                          <a:spcPct val="119200"/>
                        </a:lnSpc>
                        <a:spcBef>
                          <a:spcPts val="575"/>
                        </a:spcBef>
                      </a:pPr>
                      <a:r>
                        <a:rPr dirty="0" sz="750" b="1">
                          <a:latin typeface="Tahoma"/>
                          <a:cs typeface="Tahoma"/>
                        </a:rPr>
                        <a:t>sequential</a:t>
                      </a:r>
                      <a:r>
                        <a:rPr dirty="0" sz="750" spc="5" b="1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750" b="1">
                          <a:latin typeface="Tahoma"/>
                          <a:cs typeface="Tahoma"/>
                        </a:rPr>
                        <a:t>search </a:t>
                      </a:r>
                      <a:r>
                        <a:rPr dirty="0" sz="750" spc="-204" b="1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750" b="1">
                          <a:latin typeface="Tahoma"/>
                          <a:cs typeface="Tahoma"/>
                        </a:rPr>
                        <a:t>(unordered </a:t>
                      </a:r>
                      <a:r>
                        <a:rPr dirty="0" sz="750" spc="-5" b="1">
                          <a:latin typeface="Tahoma"/>
                          <a:cs typeface="Tahoma"/>
                        </a:rPr>
                        <a:t>list)</a:t>
                      </a:r>
                      <a:endParaRPr sz="750">
                        <a:latin typeface="Tahoma"/>
                        <a:cs typeface="Tahoma"/>
                      </a:endParaRPr>
                    </a:p>
                  </a:txBody>
                  <a:tcPr marL="0" marR="0" marB="0" marT="73025"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900" i="1">
                          <a:latin typeface="Times New Roman"/>
                          <a:cs typeface="Times New Roman"/>
                        </a:rPr>
                        <a:t>N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900" i="1">
                          <a:latin typeface="Times New Roman"/>
                          <a:cs typeface="Times New Roman"/>
                        </a:rPr>
                        <a:t>N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900" i="1">
                          <a:latin typeface="Times New Roman"/>
                          <a:cs typeface="Times New Roman"/>
                        </a:rPr>
                        <a:t>N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900" spc="20">
                          <a:latin typeface="Times New Roman"/>
                          <a:cs typeface="Times New Roman"/>
                        </a:rPr>
                        <a:t>½</a:t>
                      </a:r>
                      <a:r>
                        <a:rPr dirty="0" sz="9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00" spc="20" i="1">
                          <a:latin typeface="Times New Roman"/>
                          <a:cs typeface="Times New Roman"/>
                        </a:rPr>
                        <a:t>N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900" i="1">
                          <a:latin typeface="Times New Roman"/>
                          <a:cs typeface="Times New Roman"/>
                        </a:rPr>
                        <a:t>N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900" spc="20">
                          <a:latin typeface="Times New Roman"/>
                          <a:cs typeface="Times New Roman"/>
                        </a:rPr>
                        <a:t>½</a:t>
                      </a:r>
                      <a:r>
                        <a:rPr dirty="0" sz="9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00" spc="20" i="1">
                          <a:latin typeface="Times New Roman"/>
                          <a:cs typeface="Times New Roman"/>
                        </a:rPr>
                        <a:t>N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algn="ctr" marL="635">
                        <a:lnSpc>
                          <a:spcPct val="100000"/>
                        </a:lnSpc>
                      </a:pPr>
                      <a:r>
                        <a:rPr dirty="0" sz="750" spc="-5">
                          <a:latin typeface="Lucida Sans Typewriter"/>
                          <a:cs typeface="Lucida Sans Typewriter"/>
                        </a:rPr>
                        <a:t>equals()</a:t>
                      </a:r>
                      <a:endParaRPr sz="750">
                        <a:latin typeface="Lucida Sans Typewriter"/>
                        <a:cs typeface="Lucida Sans Typewriter"/>
                      </a:endParaRPr>
                    </a:p>
                  </a:txBody>
                  <a:tcPr marL="0" marR="0" marB="0" marT="635">
                    <a:lnL w="3175">
                      <a:solidFill>
                        <a:srgbClr val="E7EAEB"/>
                      </a:solidFill>
                      <a:prstDash val="solid"/>
                    </a:lnL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D5D5D5"/>
                    </a:solidFill>
                  </a:tcPr>
                </a:tc>
              </a:tr>
              <a:tr h="450215">
                <a:tc>
                  <a:txBody>
                    <a:bodyPr/>
                    <a:lstStyle/>
                    <a:p>
                      <a:pPr marL="132715" marR="126364" indent="36830">
                        <a:lnSpc>
                          <a:spcPct val="119200"/>
                        </a:lnSpc>
                        <a:spcBef>
                          <a:spcPts val="575"/>
                        </a:spcBef>
                      </a:pPr>
                      <a:r>
                        <a:rPr dirty="0" sz="750" spc="5" b="1">
                          <a:latin typeface="Tahoma"/>
                          <a:cs typeface="Tahoma"/>
                        </a:rPr>
                        <a:t>binary search </a:t>
                      </a:r>
                      <a:r>
                        <a:rPr dirty="0" sz="750" spc="10" b="1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750" b="1">
                          <a:latin typeface="Tahoma"/>
                          <a:cs typeface="Tahoma"/>
                        </a:rPr>
                        <a:t>(</a:t>
                      </a:r>
                      <a:r>
                        <a:rPr dirty="0" sz="750" b="1">
                          <a:latin typeface="Tahoma"/>
                          <a:cs typeface="Tahoma"/>
                        </a:rPr>
                        <a:t>o</a:t>
                      </a:r>
                      <a:r>
                        <a:rPr dirty="0" sz="750" b="1">
                          <a:latin typeface="Tahoma"/>
                          <a:cs typeface="Tahoma"/>
                        </a:rPr>
                        <a:t>r</a:t>
                      </a:r>
                      <a:r>
                        <a:rPr dirty="0" sz="750" b="1">
                          <a:latin typeface="Tahoma"/>
                          <a:cs typeface="Tahoma"/>
                        </a:rPr>
                        <a:t>d</a:t>
                      </a:r>
                      <a:r>
                        <a:rPr dirty="0" sz="750" b="1">
                          <a:latin typeface="Tahoma"/>
                          <a:cs typeface="Tahoma"/>
                        </a:rPr>
                        <a:t>e</a:t>
                      </a:r>
                      <a:r>
                        <a:rPr dirty="0" sz="750" b="1">
                          <a:latin typeface="Tahoma"/>
                          <a:cs typeface="Tahoma"/>
                        </a:rPr>
                        <a:t>r</a:t>
                      </a:r>
                      <a:r>
                        <a:rPr dirty="0" sz="750" b="1">
                          <a:latin typeface="Tahoma"/>
                          <a:cs typeface="Tahoma"/>
                        </a:rPr>
                        <a:t>e</a:t>
                      </a:r>
                      <a:r>
                        <a:rPr dirty="0" sz="750" b="1">
                          <a:latin typeface="Tahoma"/>
                          <a:cs typeface="Tahoma"/>
                        </a:rPr>
                        <a:t>d</a:t>
                      </a:r>
                      <a:r>
                        <a:rPr dirty="0" sz="750" spc="25" b="1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750" b="1">
                          <a:latin typeface="Tahoma"/>
                          <a:cs typeface="Tahoma"/>
                        </a:rPr>
                        <a:t>a</a:t>
                      </a:r>
                      <a:r>
                        <a:rPr dirty="0" sz="750" b="1">
                          <a:latin typeface="Tahoma"/>
                          <a:cs typeface="Tahoma"/>
                        </a:rPr>
                        <a:t>rr</a:t>
                      </a:r>
                      <a:r>
                        <a:rPr dirty="0" sz="750" b="1">
                          <a:latin typeface="Tahoma"/>
                          <a:cs typeface="Tahoma"/>
                        </a:rPr>
                        <a:t>a</a:t>
                      </a:r>
                      <a:r>
                        <a:rPr dirty="0" sz="750" b="1">
                          <a:latin typeface="Tahoma"/>
                          <a:cs typeface="Tahoma"/>
                        </a:rPr>
                        <a:t>y)</a:t>
                      </a:r>
                      <a:endParaRPr sz="750">
                        <a:latin typeface="Tahoma"/>
                        <a:cs typeface="Tahoma"/>
                      </a:endParaRPr>
                    </a:p>
                  </a:txBody>
                  <a:tcPr marL="0" marR="0" marB="0" marT="73025"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900" spc="10">
                          <a:latin typeface="Times New Roman"/>
                          <a:cs typeface="Times New Roman"/>
                        </a:rPr>
                        <a:t>lg</a:t>
                      </a:r>
                      <a:r>
                        <a:rPr dirty="0" sz="9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00" spc="20" i="1">
                          <a:latin typeface="Times New Roman"/>
                          <a:cs typeface="Times New Roman"/>
                        </a:rPr>
                        <a:t>N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900" i="1">
                          <a:latin typeface="Times New Roman"/>
                          <a:cs typeface="Times New Roman"/>
                        </a:rPr>
                        <a:t>N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900" i="1">
                          <a:latin typeface="Times New Roman"/>
                          <a:cs typeface="Times New Roman"/>
                        </a:rPr>
                        <a:t>N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900" spc="10">
                          <a:latin typeface="Times New Roman"/>
                          <a:cs typeface="Times New Roman"/>
                        </a:rPr>
                        <a:t>lg</a:t>
                      </a:r>
                      <a:r>
                        <a:rPr dirty="0" sz="9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00" spc="20" i="1">
                          <a:latin typeface="Times New Roman"/>
                          <a:cs typeface="Times New Roman"/>
                        </a:rPr>
                        <a:t>N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900" spc="20">
                          <a:latin typeface="Times New Roman"/>
                          <a:cs typeface="Times New Roman"/>
                        </a:rPr>
                        <a:t>½</a:t>
                      </a:r>
                      <a:r>
                        <a:rPr dirty="0" sz="9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00" spc="20" i="1">
                          <a:latin typeface="Times New Roman"/>
                          <a:cs typeface="Times New Roman"/>
                        </a:rPr>
                        <a:t>N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900" spc="20">
                          <a:latin typeface="Times New Roman"/>
                          <a:cs typeface="Times New Roman"/>
                        </a:rPr>
                        <a:t>½</a:t>
                      </a:r>
                      <a:r>
                        <a:rPr dirty="0" sz="9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00" spc="20" i="1">
                          <a:latin typeface="Times New Roman"/>
                          <a:cs typeface="Times New Roman"/>
                        </a:rPr>
                        <a:t>N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800">
                          <a:latin typeface="MS UI Gothic"/>
                          <a:cs typeface="MS UI Gothic"/>
                        </a:rPr>
                        <a:t>✔</a:t>
                      </a:r>
                      <a:endParaRPr sz="800">
                        <a:latin typeface="MS UI Gothic"/>
                        <a:cs typeface="MS UI Gothic"/>
                      </a:endParaRPr>
                    </a:p>
                  </a:txBody>
                  <a:tcPr marL="0" marR="0" marB="0" marT="635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algn="ctr" marL="635">
                        <a:lnSpc>
                          <a:spcPct val="100000"/>
                        </a:lnSpc>
                      </a:pPr>
                      <a:r>
                        <a:rPr dirty="0" sz="750" spc="-5">
                          <a:latin typeface="Lucida Sans Typewriter"/>
                          <a:cs typeface="Lucida Sans Typewriter"/>
                        </a:rPr>
                        <a:t>compareTo()</a:t>
                      </a:r>
                      <a:endParaRPr sz="750">
                        <a:latin typeface="Lucida Sans Typewriter"/>
                        <a:cs typeface="Lucida Sans Typewriter"/>
                      </a:endParaRPr>
                    </a:p>
                  </a:txBody>
                  <a:tcPr marL="0" marR="0" marB="0" marT="635">
                    <a:lnL w="3175">
                      <a:solidFill>
                        <a:srgbClr val="E7EAEB"/>
                      </a:solidFill>
                      <a:prstDash val="solid"/>
                    </a:lnL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D5D5D5"/>
                    </a:solidFill>
                  </a:tcPr>
                </a:tc>
              </a:tr>
              <a:tr h="4502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750" spc="-15" b="1">
                          <a:latin typeface="Tahoma"/>
                          <a:cs typeface="Tahoma"/>
                        </a:rPr>
                        <a:t>BST</a:t>
                      </a:r>
                      <a:endParaRPr sz="750">
                        <a:latin typeface="Tahoma"/>
                        <a:cs typeface="Tahoma"/>
                      </a:endParaRPr>
                    </a:p>
                  </a:txBody>
                  <a:tcPr marL="0" marR="0" marB="0" marT="5080"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900" i="1">
                          <a:latin typeface="Times New Roman"/>
                          <a:cs typeface="Times New Roman"/>
                        </a:rPr>
                        <a:t>N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900" i="1">
                          <a:latin typeface="Times New Roman"/>
                          <a:cs typeface="Times New Roman"/>
                        </a:rPr>
                        <a:t>N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900" i="1">
                          <a:latin typeface="Times New Roman"/>
                          <a:cs typeface="Times New Roman"/>
                        </a:rPr>
                        <a:t>N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94615">
                        <a:lnSpc>
                          <a:spcPct val="100000"/>
                        </a:lnSpc>
                      </a:pPr>
                      <a:r>
                        <a:rPr dirty="0" sz="900" spc="10">
                          <a:latin typeface="Times New Roman"/>
                          <a:cs typeface="Times New Roman"/>
                        </a:rPr>
                        <a:t>1.39</a:t>
                      </a:r>
                      <a:r>
                        <a:rPr dirty="0" sz="9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00" spc="10">
                          <a:latin typeface="Times New Roman"/>
                          <a:cs typeface="Times New Roman"/>
                        </a:rPr>
                        <a:t>lg</a:t>
                      </a:r>
                      <a:r>
                        <a:rPr dirty="0" sz="9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00" spc="20" i="1">
                          <a:latin typeface="Times New Roman"/>
                          <a:cs typeface="Times New Roman"/>
                        </a:rPr>
                        <a:t>N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94615">
                        <a:lnSpc>
                          <a:spcPct val="100000"/>
                        </a:lnSpc>
                      </a:pPr>
                      <a:r>
                        <a:rPr dirty="0" sz="900" spc="10">
                          <a:latin typeface="Times New Roman"/>
                          <a:cs typeface="Times New Roman"/>
                        </a:rPr>
                        <a:t>1.39</a:t>
                      </a:r>
                      <a:r>
                        <a:rPr dirty="0" sz="9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00" spc="10">
                          <a:latin typeface="Times New Roman"/>
                          <a:cs typeface="Times New Roman"/>
                        </a:rPr>
                        <a:t>lg</a:t>
                      </a:r>
                      <a:r>
                        <a:rPr dirty="0" sz="9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00" spc="20" i="1">
                          <a:latin typeface="Times New Roman"/>
                          <a:cs typeface="Times New Roman"/>
                        </a:rPr>
                        <a:t>N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900">
                          <a:latin typeface="Times New Roman"/>
                          <a:cs typeface="Times New Roman"/>
                        </a:rPr>
                        <a:t>√</a:t>
                      </a:r>
                      <a:r>
                        <a:rPr dirty="0" sz="900" spc="-7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00" i="1">
                          <a:latin typeface="Times New Roman"/>
                          <a:cs typeface="Times New Roman"/>
                        </a:rPr>
                        <a:t>N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800">
                          <a:latin typeface="MS UI Gothic"/>
                          <a:cs typeface="MS UI Gothic"/>
                        </a:rPr>
                        <a:t>✔</a:t>
                      </a:r>
                      <a:endParaRPr sz="800">
                        <a:latin typeface="MS UI Gothic"/>
                        <a:cs typeface="MS UI Gothic"/>
                      </a:endParaRPr>
                    </a:p>
                  </a:txBody>
                  <a:tcPr marL="0" marR="0" marB="0" marT="635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algn="ctr" marL="635">
                        <a:lnSpc>
                          <a:spcPct val="100000"/>
                        </a:lnSpc>
                      </a:pPr>
                      <a:r>
                        <a:rPr dirty="0" sz="750" spc="-5">
                          <a:latin typeface="Lucida Sans Typewriter"/>
                          <a:cs typeface="Lucida Sans Typewriter"/>
                        </a:rPr>
                        <a:t>compareTo()</a:t>
                      </a:r>
                      <a:endParaRPr sz="750">
                        <a:latin typeface="Lucida Sans Typewriter"/>
                        <a:cs typeface="Lucida Sans Typewriter"/>
                      </a:endParaRPr>
                    </a:p>
                  </a:txBody>
                  <a:tcPr marL="0" marR="0" marB="0" marT="635">
                    <a:lnL w="3175">
                      <a:solidFill>
                        <a:srgbClr val="E7EAEB"/>
                      </a:solidFill>
                      <a:prstDash val="solid"/>
                    </a:lnL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D5D5D5"/>
                    </a:solidFill>
                  </a:tcPr>
                </a:tc>
              </a:tr>
              <a:tr h="4502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750" spc="25" b="1">
                          <a:latin typeface="Tahoma"/>
                          <a:cs typeface="Tahoma"/>
                        </a:rPr>
                        <a:t>red-black</a:t>
                      </a:r>
                      <a:r>
                        <a:rPr dirty="0" sz="750" spc="-25" b="1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750" spc="-15" b="1">
                          <a:latin typeface="Tahoma"/>
                          <a:cs typeface="Tahoma"/>
                        </a:rPr>
                        <a:t>BST</a:t>
                      </a:r>
                      <a:endParaRPr sz="750">
                        <a:latin typeface="Tahoma"/>
                        <a:cs typeface="Tahoma"/>
                      </a:endParaRPr>
                    </a:p>
                  </a:txBody>
                  <a:tcPr marL="0" marR="0" marB="0" marT="5080"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900" spc="15">
                          <a:latin typeface="Times New Roman"/>
                          <a:cs typeface="Times New Roman"/>
                        </a:rPr>
                        <a:t>2</a:t>
                      </a:r>
                      <a:r>
                        <a:rPr dirty="0" sz="9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00" spc="10">
                          <a:latin typeface="Times New Roman"/>
                          <a:cs typeface="Times New Roman"/>
                        </a:rPr>
                        <a:t>lg</a:t>
                      </a:r>
                      <a:r>
                        <a:rPr dirty="0" sz="9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00" spc="20" i="1">
                          <a:latin typeface="Times New Roman"/>
                          <a:cs typeface="Times New Roman"/>
                        </a:rPr>
                        <a:t>N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900" spc="15">
                          <a:latin typeface="Times New Roman"/>
                          <a:cs typeface="Times New Roman"/>
                        </a:rPr>
                        <a:t>2</a:t>
                      </a:r>
                      <a:r>
                        <a:rPr dirty="0" sz="9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00" spc="10">
                          <a:latin typeface="Times New Roman"/>
                          <a:cs typeface="Times New Roman"/>
                        </a:rPr>
                        <a:t>lg</a:t>
                      </a:r>
                      <a:r>
                        <a:rPr dirty="0" sz="9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00" spc="20" i="1">
                          <a:latin typeface="Times New Roman"/>
                          <a:cs typeface="Times New Roman"/>
                        </a:rPr>
                        <a:t>N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900" spc="15">
                          <a:latin typeface="Times New Roman"/>
                          <a:cs typeface="Times New Roman"/>
                        </a:rPr>
                        <a:t>2</a:t>
                      </a:r>
                      <a:r>
                        <a:rPr dirty="0" sz="9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00" spc="10">
                          <a:latin typeface="Times New Roman"/>
                          <a:cs typeface="Times New Roman"/>
                        </a:rPr>
                        <a:t>lg</a:t>
                      </a:r>
                      <a:r>
                        <a:rPr dirty="0" sz="9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00" spc="20" i="1">
                          <a:latin typeface="Times New Roman"/>
                          <a:cs typeface="Times New Roman"/>
                        </a:rPr>
                        <a:t>N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124460">
                        <a:lnSpc>
                          <a:spcPct val="100000"/>
                        </a:lnSpc>
                      </a:pPr>
                      <a:r>
                        <a:rPr dirty="0" sz="900" spc="10">
                          <a:latin typeface="Times New Roman"/>
                          <a:cs typeface="Times New Roman"/>
                        </a:rPr>
                        <a:t>1.0</a:t>
                      </a:r>
                      <a:r>
                        <a:rPr dirty="0" sz="9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00" spc="10">
                          <a:latin typeface="Times New Roman"/>
                          <a:cs typeface="Times New Roman"/>
                        </a:rPr>
                        <a:t>lg</a:t>
                      </a:r>
                      <a:r>
                        <a:rPr dirty="0" sz="9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00" spc="20" i="1">
                          <a:latin typeface="Times New Roman"/>
                          <a:cs typeface="Times New Roman"/>
                        </a:rPr>
                        <a:t>N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124460">
                        <a:lnSpc>
                          <a:spcPct val="100000"/>
                        </a:lnSpc>
                      </a:pPr>
                      <a:r>
                        <a:rPr dirty="0" sz="900" spc="10">
                          <a:latin typeface="Times New Roman"/>
                          <a:cs typeface="Times New Roman"/>
                        </a:rPr>
                        <a:t>1.0</a:t>
                      </a:r>
                      <a:r>
                        <a:rPr dirty="0" sz="9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00" spc="10">
                          <a:latin typeface="Times New Roman"/>
                          <a:cs typeface="Times New Roman"/>
                        </a:rPr>
                        <a:t>lg</a:t>
                      </a:r>
                      <a:r>
                        <a:rPr dirty="0" sz="9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00" spc="20" i="1">
                          <a:latin typeface="Times New Roman"/>
                          <a:cs typeface="Times New Roman"/>
                        </a:rPr>
                        <a:t>N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124460">
                        <a:lnSpc>
                          <a:spcPct val="100000"/>
                        </a:lnSpc>
                      </a:pPr>
                      <a:r>
                        <a:rPr dirty="0" sz="900" spc="10">
                          <a:latin typeface="Times New Roman"/>
                          <a:cs typeface="Times New Roman"/>
                        </a:rPr>
                        <a:t>1.0</a:t>
                      </a:r>
                      <a:r>
                        <a:rPr dirty="0" sz="9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00" spc="10">
                          <a:latin typeface="Times New Roman"/>
                          <a:cs typeface="Times New Roman"/>
                        </a:rPr>
                        <a:t>lg</a:t>
                      </a:r>
                      <a:r>
                        <a:rPr dirty="0" sz="9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00" spc="20" i="1">
                          <a:latin typeface="Times New Roman"/>
                          <a:cs typeface="Times New Roman"/>
                        </a:rPr>
                        <a:t>N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800">
                          <a:latin typeface="MS UI Gothic"/>
                          <a:cs typeface="MS UI Gothic"/>
                        </a:rPr>
                        <a:t>✔</a:t>
                      </a:r>
                      <a:endParaRPr sz="800">
                        <a:latin typeface="MS UI Gothic"/>
                        <a:cs typeface="MS UI Gothic"/>
                      </a:endParaRPr>
                    </a:p>
                  </a:txBody>
                  <a:tcPr marL="0" marR="0" marB="0" marT="635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algn="ctr" marL="635">
                        <a:lnSpc>
                          <a:spcPct val="100000"/>
                        </a:lnSpc>
                      </a:pPr>
                      <a:r>
                        <a:rPr dirty="0" sz="750" spc="-5">
                          <a:latin typeface="Lucida Sans Typewriter"/>
                          <a:cs typeface="Lucida Sans Typewriter"/>
                        </a:rPr>
                        <a:t>compareTo()</a:t>
                      </a:r>
                      <a:endParaRPr sz="750">
                        <a:latin typeface="Lucida Sans Typewriter"/>
                        <a:cs typeface="Lucida Sans Typewriter"/>
                      </a:endParaRPr>
                    </a:p>
                  </a:txBody>
                  <a:tcPr marL="0" marR="0" marB="0" marT="635">
                    <a:lnL w="3175">
                      <a:solidFill>
                        <a:srgbClr val="E7EAEB"/>
                      </a:solidFill>
                      <a:prstDash val="solid"/>
                    </a:lnL>
                    <a:lnT w="3175">
                      <a:solidFill>
                        <a:srgbClr val="E7EAEB"/>
                      </a:solidFill>
                      <a:prstDash val="solid"/>
                    </a:lnT>
                    <a:solidFill>
                      <a:srgbClr val="D5D5D5"/>
                    </a:solidFill>
                  </a:tcPr>
                </a:tc>
              </a:tr>
            </a:tbl>
          </a:graphicData>
        </a:graphic>
      </p:graphicFrame>
      <p:grpSp>
        <p:nvGrpSpPr>
          <p:cNvPr id="19" name="object 19"/>
          <p:cNvGrpSpPr/>
          <p:nvPr/>
        </p:nvGrpSpPr>
        <p:grpSpPr>
          <a:xfrm>
            <a:off x="346176" y="4966780"/>
            <a:ext cx="6066790" cy="4549775"/>
            <a:chOff x="346176" y="4966780"/>
            <a:chExt cx="6066790" cy="4549775"/>
          </a:xfrm>
        </p:grpSpPr>
        <p:sp>
          <p:nvSpPr>
            <p:cNvPr id="20" name="object 20"/>
            <p:cNvSpPr/>
            <p:nvPr/>
          </p:nvSpPr>
          <p:spPr>
            <a:xfrm>
              <a:off x="346176" y="4966780"/>
              <a:ext cx="6066790" cy="4549775"/>
            </a:xfrm>
            <a:custGeom>
              <a:avLst/>
              <a:gdLst/>
              <a:ahLst/>
              <a:cxnLst/>
              <a:rect l="l" t="t" r="r" b="b"/>
              <a:pathLst>
                <a:path w="6066790" h="4549775">
                  <a:moveTo>
                    <a:pt x="0" y="0"/>
                  </a:moveTo>
                  <a:lnTo>
                    <a:pt x="6066212" y="0"/>
                  </a:lnTo>
                  <a:lnTo>
                    <a:pt x="6066212" y="4549659"/>
                  </a:lnTo>
                  <a:lnTo>
                    <a:pt x="0" y="45496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731238" y="5428805"/>
              <a:ext cx="5302250" cy="635"/>
            </a:xfrm>
            <a:custGeom>
              <a:avLst/>
              <a:gdLst/>
              <a:ahLst/>
              <a:cxnLst/>
              <a:rect l="l" t="t" r="r" b="b"/>
              <a:pathLst>
                <a:path w="5302250" h="635">
                  <a:moveTo>
                    <a:pt x="0" y="49"/>
                  </a:moveTo>
                  <a:lnTo>
                    <a:pt x="5302012" y="0"/>
                  </a:lnTo>
                </a:path>
              </a:pathLst>
            </a:custGeom>
            <a:ln w="59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/>
          <p:cNvSpPr txBox="1"/>
          <p:nvPr/>
        </p:nvSpPr>
        <p:spPr>
          <a:xfrm>
            <a:off x="6268503" y="9345489"/>
            <a:ext cx="70485" cy="1111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550" spc="5">
                <a:latin typeface="Lucida Sans"/>
                <a:cs typeface="Lucida Sans"/>
              </a:rPr>
              <a:t>3</a:t>
            </a:r>
            <a:endParaRPr sz="550">
              <a:latin typeface="Lucida Sans"/>
              <a:cs typeface="Lucida Sans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39997" y="5125877"/>
            <a:ext cx="4541520" cy="6584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00" spc="5">
                <a:latin typeface="Arial"/>
                <a:cs typeface="Arial"/>
              </a:rPr>
              <a:t>Hashing: </a:t>
            </a:r>
            <a:r>
              <a:rPr dirty="0" sz="1300" spc="50">
                <a:latin typeface="Arial"/>
                <a:cs typeface="Arial"/>
              </a:rPr>
              <a:t> </a:t>
            </a:r>
            <a:r>
              <a:rPr dirty="0" sz="1300">
                <a:latin typeface="Arial"/>
                <a:cs typeface="Arial"/>
              </a:rPr>
              <a:t>basic</a:t>
            </a:r>
            <a:r>
              <a:rPr dirty="0" sz="1300" spc="25">
                <a:latin typeface="Arial"/>
                <a:cs typeface="Arial"/>
              </a:rPr>
              <a:t> </a:t>
            </a:r>
            <a:r>
              <a:rPr dirty="0" sz="1300" spc="35">
                <a:latin typeface="Arial"/>
                <a:cs typeface="Arial"/>
              </a:rPr>
              <a:t>plan</a:t>
            </a:r>
            <a:endParaRPr sz="13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100" spc="25">
                <a:latin typeface="Lucida Sans"/>
                <a:cs typeface="Lucida Sans"/>
              </a:rPr>
              <a:t>Save</a:t>
            </a:r>
            <a:r>
              <a:rPr dirty="0" sz="1100" spc="5">
                <a:latin typeface="Lucida Sans"/>
                <a:cs typeface="Lucida Sans"/>
              </a:rPr>
              <a:t> </a:t>
            </a:r>
            <a:r>
              <a:rPr dirty="0" sz="1100" spc="10">
                <a:latin typeface="Lucida Sans"/>
                <a:cs typeface="Lucida Sans"/>
              </a:rPr>
              <a:t>items</a:t>
            </a:r>
            <a:r>
              <a:rPr dirty="0" sz="1100" spc="5">
                <a:latin typeface="Lucida Sans"/>
                <a:cs typeface="Lucida Sans"/>
              </a:rPr>
              <a:t> in </a:t>
            </a:r>
            <a:r>
              <a:rPr dirty="0" sz="1100" spc="10">
                <a:latin typeface="Lucida Sans"/>
                <a:cs typeface="Lucida Sans"/>
              </a:rPr>
              <a:t>a </a:t>
            </a:r>
            <a:r>
              <a:rPr dirty="0" sz="1100" spc="15">
                <a:solidFill>
                  <a:srgbClr val="8D3124"/>
                </a:solidFill>
                <a:latin typeface="Lucida Sans"/>
                <a:cs typeface="Lucida Sans"/>
              </a:rPr>
              <a:t>key-indexed</a:t>
            </a:r>
            <a:r>
              <a:rPr dirty="0" sz="1100" spc="5">
                <a:solidFill>
                  <a:srgbClr val="8D3124"/>
                </a:solidFill>
                <a:latin typeface="Lucida Sans"/>
                <a:cs typeface="Lucida Sans"/>
              </a:rPr>
              <a:t> table </a:t>
            </a:r>
            <a:r>
              <a:rPr dirty="0" sz="1100" spc="5">
                <a:latin typeface="Lucida Sans"/>
                <a:cs typeface="Lucida Sans"/>
              </a:rPr>
              <a:t>(index is</a:t>
            </a:r>
            <a:r>
              <a:rPr dirty="0" sz="1100" spc="10">
                <a:latin typeface="Lucida Sans"/>
                <a:cs typeface="Lucida Sans"/>
              </a:rPr>
              <a:t> a</a:t>
            </a:r>
            <a:r>
              <a:rPr dirty="0" sz="1100" spc="5">
                <a:latin typeface="Lucida Sans"/>
                <a:cs typeface="Lucida Sans"/>
              </a:rPr>
              <a:t> </a:t>
            </a:r>
            <a:r>
              <a:rPr dirty="0" sz="1100" spc="10">
                <a:latin typeface="Lucida Sans"/>
                <a:cs typeface="Lucida Sans"/>
              </a:rPr>
              <a:t>function</a:t>
            </a:r>
            <a:r>
              <a:rPr dirty="0" sz="1100" spc="5">
                <a:latin typeface="Lucida Sans"/>
                <a:cs typeface="Lucida Sans"/>
              </a:rPr>
              <a:t> of the</a:t>
            </a:r>
            <a:r>
              <a:rPr dirty="0" sz="1100" spc="10">
                <a:latin typeface="Lucida Sans"/>
                <a:cs typeface="Lucida Sans"/>
              </a:rPr>
              <a:t> </a:t>
            </a:r>
            <a:r>
              <a:rPr dirty="0" sz="1100" spc="15">
                <a:latin typeface="Lucida Sans"/>
                <a:cs typeface="Lucida Sans"/>
              </a:rPr>
              <a:t>key).</a:t>
            </a:r>
            <a:endParaRPr sz="1100">
              <a:latin typeface="Lucida Sans"/>
              <a:cs typeface="Lucida Sans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39997" y="6050027"/>
            <a:ext cx="4191000" cy="1962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100" spc="10">
                <a:solidFill>
                  <a:srgbClr val="005493"/>
                </a:solidFill>
                <a:latin typeface="Lucida Sans"/>
                <a:cs typeface="Lucida Sans"/>
              </a:rPr>
              <a:t>Hash </a:t>
            </a:r>
            <a:r>
              <a:rPr dirty="0" sz="1100" spc="5">
                <a:solidFill>
                  <a:srgbClr val="005493"/>
                </a:solidFill>
                <a:latin typeface="Lucida Sans"/>
                <a:cs typeface="Lucida Sans"/>
              </a:rPr>
              <a:t>function. </a:t>
            </a:r>
            <a:r>
              <a:rPr dirty="0" sz="1100" spc="15">
                <a:solidFill>
                  <a:srgbClr val="005493"/>
                </a:solidFill>
                <a:latin typeface="Lucida Sans"/>
                <a:cs typeface="Lucida Sans"/>
              </a:rPr>
              <a:t> </a:t>
            </a:r>
            <a:r>
              <a:rPr dirty="0" sz="1100" spc="10">
                <a:latin typeface="Lucida Sans"/>
                <a:cs typeface="Lucida Sans"/>
              </a:rPr>
              <a:t>Method </a:t>
            </a:r>
            <a:r>
              <a:rPr dirty="0" sz="1100" spc="5">
                <a:latin typeface="Lucida Sans"/>
                <a:cs typeface="Lucida Sans"/>
              </a:rPr>
              <a:t>for</a:t>
            </a:r>
            <a:r>
              <a:rPr dirty="0" sz="1100" spc="10">
                <a:latin typeface="Lucida Sans"/>
                <a:cs typeface="Lucida Sans"/>
              </a:rPr>
              <a:t> computing </a:t>
            </a:r>
            <a:r>
              <a:rPr dirty="0" sz="1100" spc="15">
                <a:latin typeface="Lucida Sans"/>
                <a:cs typeface="Lucida Sans"/>
              </a:rPr>
              <a:t>array</a:t>
            </a:r>
            <a:r>
              <a:rPr dirty="0" sz="1100" spc="10">
                <a:latin typeface="Lucida Sans"/>
                <a:cs typeface="Lucida Sans"/>
              </a:rPr>
              <a:t> index </a:t>
            </a:r>
            <a:r>
              <a:rPr dirty="0" sz="1100">
                <a:latin typeface="Lucida Sans"/>
                <a:cs typeface="Lucida Sans"/>
              </a:rPr>
              <a:t>from</a:t>
            </a:r>
            <a:r>
              <a:rPr dirty="0" sz="1100" spc="10">
                <a:latin typeface="Lucida Sans"/>
                <a:cs typeface="Lucida Sans"/>
              </a:rPr>
              <a:t> </a:t>
            </a:r>
            <a:r>
              <a:rPr dirty="0" sz="1100" spc="-10">
                <a:latin typeface="Lucida Sans"/>
                <a:cs typeface="Lucida Sans"/>
              </a:rPr>
              <a:t>key.</a:t>
            </a:r>
            <a:endParaRPr sz="1100">
              <a:latin typeface="Lucida Sans"/>
              <a:cs typeface="Lucida Sans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39997" y="6974176"/>
            <a:ext cx="496570" cy="1962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100" spc="5">
                <a:solidFill>
                  <a:srgbClr val="005493"/>
                </a:solidFill>
                <a:latin typeface="Lucida Sans"/>
                <a:cs typeface="Lucida Sans"/>
              </a:rPr>
              <a:t>Issues.</a:t>
            </a:r>
            <a:endParaRPr sz="1100">
              <a:latin typeface="Lucida Sans"/>
              <a:cs typeface="Lucida Sans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46455" y="7110429"/>
            <a:ext cx="2379980" cy="3098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dirty="0" baseline="-12012" sz="2775" spc="22">
                <a:latin typeface="Microsoft JhengHei"/>
                <a:cs typeface="Microsoft JhengHei"/>
              </a:rPr>
              <a:t>・</a:t>
            </a:r>
            <a:r>
              <a:rPr dirty="0" sz="1100" spc="10">
                <a:latin typeface="Lucida Sans"/>
                <a:cs typeface="Lucida Sans"/>
              </a:rPr>
              <a:t>Computing</a:t>
            </a:r>
            <a:r>
              <a:rPr dirty="0" sz="1100" spc="-5">
                <a:latin typeface="Lucida Sans"/>
                <a:cs typeface="Lucida Sans"/>
              </a:rPr>
              <a:t> </a:t>
            </a:r>
            <a:r>
              <a:rPr dirty="0" sz="1100" spc="5">
                <a:latin typeface="Lucida Sans"/>
                <a:cs typeface="Lucida Sans"/>
              </a:rPr>
              <a:t>the</a:t>
            </a:r>
            <a:r>
              <a:rPr dirty="0" sz="1100">
                <a:latin typeface="Lucida Sans"/>
                <a:cs typeface="Lucida Sans"/>
              </a:rPr>
              <a:t> </a:t>
            </a:r>
            <a:r>
              <a:rPr dirty="0" sz="1100" spc="10">
                <a:latin typeface="Lucida Sans"/>
                <a:cs typeface="Lucida Sans"/>
              </a:rPr>
              <a:t>hash</a:t>
            </a:r>
            <a:r>
              <a:rPr dirty="0" sz="1100">
                <a:latin typeface="Lucida Sans"/>
                <a:cs typeface="Lucida Sans"/>
              </a:rPr>
              <a:t> </a:t>
            </a:r>
            <a:r>
              <a:rPr dirty="0" sz="1100" spc="5">
                <a:latin typeface="Lucida Sans"/>
                <a:cs typeface="Lucida Sans"/>
              </a:rPr>
              <a:t>function.</a:t>
            </a:r>
            <a:endParaRPr sz="1100">
              <a:latin typeface="Lucida Sans"/>
              <a:cs typeface="Lucida Sans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46455" y="7341467"/>
            <a:ext cx="4723765" cy="3098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dirty="0" baseline="-12012" sz="2775" spc="22">
                <a:latin typeface="Microsoft JhengHei"/>
                <a:cs typeface="Microsoft JhengHei"/>
              </a:rPr>
              <a:t>・</a:t>
            </a:r>
            <a:r>
              <a:rPr dirty="0" sz="1100" spc="15">
                <a:latin typeface="Lucida Sans"/>
                <a:cs typeface="Lucida Sans"/>
              </a:rPr>
              <a:t>Equality</a:t>
            </a:r>
            <a:r>
              <a:rPr dirty="0" sz="1100" spc="5">
                <a:latin typeface="Lucida Sans"/>
                <a:cs typeface="Lucida Sans"/>
              </a:rPr>
              <a:t> test: </a:t>
            </a:r>
            <a:r>
              <a:rPr dirty="0" sz="1100" spc="10">
                <a:latin typeface="Lucida Sans"/>
                <a:cs typeface="Lucida Sans"/>
              </a:rPr>
              <a:t> Method</a:t>
            </a:r>
            <a:r>
              <a:rPr dirty="0" sz="1100" spc="5">
                <a:latin typeface="Lucida Sans"/>
                <a:cs typeface="Lucida Sans"/>
              </a:rPr>
              <a:t> for</a:t>
            </a:r>
            <a:r>
              <a:rPr dirty="0" sz="1100" spc="10">
                <a:latin typeface="Lucida Sans"/>
                <a:cs typeface="Lucida Sans"/>
              </a:rPr>
              <a:t> checking</a:t>
            </a:r>
            <a:r>
              <a:rPr dirty="0" sz="1100" spc="5">
                <a:latin typeface="Lucida Sans"/>
                <a:cs typeface="Lucida Sans"/>
              </a:rPr>
              <a:t> </a:t>
            </a:r>
            <a:r>
              <a:rPr dirty="0" sz="1100" spc="20">
                <a:latin typeface="Lucida Sans"/>
                <a:cs typeface="Lucida Sans"/>
              </a:rPr>
              <a:t>whether</a:t>
            </a:r>
            <a:r>
              <a:rPr dirty="0" sz="1100" spc="5">
                <a:latin typeface="Lucida Sans"/>
                <a:cs typeface="Lucida Sans"/>
              </a:rPr>
              <a:t> </a:t>
            </a:r>
            <a:r>
              <a:rPr dirty="0" sz="1100" spc="35">
                <a:latin typeface="Lucida Sans"/>
                <a:cs typeface="Lucida Sans"/>
              </a:rPr>
              <a:t>two</a:t>
            </a:r>
            <a:r>
              <a:rPr dirty="0" sz="1100" spc="10">
                <a:latin typeface="Lucida Sans"/>
                <a:cs typeface="Lucida Sans"/>
              </a:rPr>
              <a:t> </a:t>
            </a:r>
            <a:r>
              <a:rPr dirty="0" sz="1100" spc="20">
                <a:latin typeface="Lucida Sans"/>
                <a:cs typeface="Lucida Sans"/>
              </a:rPr>
              <a:t>keys</a:t>
            </a:r>
            <a:r>
              <a:rPr dirty="0" sz="1100" spc="5">
                <a:latin typeface="Lucida Sans"/>
                <a:cs typeface="Lucida Sans"/>
              </a:rPr>
              <a:t> </a:t>
            </a:r>
            <a:r>
              <a:rPr dirty="0" sz="1100">
                <a:latin typeface="Lucida Sans"/>
                <a:cs typeface="Lucida Sans"/>
              </a:rPr>
              <a:t>are</a:t>
            </a:r>
            <a:r>
              <a:rPr dirty="0" sz="1100" spc="10">
                <a:latin typeface="Lucida Sans"/>
                <a:cs typeface="Lucida Sans"/>
              </a:rPr>
              <a:t> </a:t>
            </a:r>
            <a:r>
              <a:rPr dirty="0" sz="1100" spc="5">
                <a:latin typeface="Lucida Sans"/>
                <a:cs typeface="Lucida Sans"/>
              </a:rPr>
              <a:t>equal.</a:t>
            </a:r>
            <a:endParaRPr sz="1100">
              <a:latin typeface="Lucida Sans"/>
              <a:cs typeface="Lucida Sans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46455" y="7503390"/>
            <a:ext cx="4051935" cy="591185"/>
          </a:xfrm>
          <a:prstGeom prst="rect">
            <a:avLst/>
          </a:prstGeom>
        </p:spPr>
        <p:txBody>
          <a:bodyPr wrap="square" lIns="0" tIns="8382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660"/>
              </a:spcBef>
            </a:pPr>
            <a:r>
              <a:rPr dirty="0" baseline="-12012" sz="2775" spc="22">
                <a:latin typeface="Microsoft JhengHei"/>
                <a:cs typeface="Microsoft JhengHei"/>
              </a:rPr>
              <a:t>・</a:t>
            </a:r>
            <a:r>
              <a:rPr dirty="0" sz="1100" spc="5">
                <a:latin typeface="Lucida Sans"/>
                <a:cs typeface="Lucida Sans"/>
              </a:rPr>
              <a:t>Collision</a:t>
            </a:r>
            <a:r>
              <a:rPr dirty="0" sz="1100">
                <a:latin typeface="Lucida Sans"/>
                <a:cs typeface="Lucida Sans"/>
              </a:rPr>
              <a:t> </a:t>
            </a:r>
            <a:r>
              <a:rPr dirty="0" sz="1100" spc="5">
                <a:latin typeface="Lucida Sans"/>
                <a:cs typeface="Lucida Sans"/>
              </a:rPr>
              <a:t>resolution:</a:t>
            </a:r>
            <a:r>
              <a:rPr dirty="0" sz="1100" spc="355">
                <a:latin typeface="Lucida Sans"/>
                <a:cs typeface="Lucida Sans"/>
              </a:rPr>
              <a:t> </a:t>
            </a:r>
            <a:r>
              <a:rPr dirty="0" sz="1100" spc="10">
                <a:latin typeface="Lucida Sans"/>
                <a:cs typeface="Lucida Sans"/>
              </a:rPr>
              <a:t>Algorithm</a:t>
            </a:r>
            <a:r>
              <a:rPr dirty="0" sz="1100" spc="5">
                <a:latin typeface="Lucida Sans"/>
                <a:cs typeface="Lucida Sans"/>
              </a:rPr>
              <a:t> </a:t>
            </a:r>
            <a:r>
              <a:rPr dirty="0" sz="1100" spc="10">
                <a:latin typeface="Lucida Sans"/>
                <a:cs typeface="Lucida Sans"/>
              </a:rPr>
              <a:t>and</a:t>
            </a:r>
            <a:r>
              <a:rPr dirty="0" sz="1100">
                <a:latin typeface="Lucida Sans"/>
                <a:cs typeface="Lucida Sans"/>
              </a:rPr>
              <a:t> </a:t>
            </a:r>
            <a:r>
              <a:rPr dirty="0" sz="1100" spc="10">
                <a:latin typeface="Lucida Sans"/>
                <a:cs typeface="Lucida Sans"/>
              </a:rPr>
              <a:t>data</a:t>
            </a:r>
            <a:r>
              <a:rPr dirty="0" sz="1100" spc="5">
                <a:latin typeface="Lucida Sans"/>
                <a:cs typeface="Lucida Sans"/>
              </a:rPr>
              <a:t> structure</a:t>
            </a:r>
            <a:endParaRPr sz="1100">
              <a:latin typeface="Lucida Sans"/>
              <a:cs typeface="Lucida Sans"/>
            </a:endParaRPr>
          </a:p>
          <a:p>
            <a:pPr marL="274955">
              <a:lnSpc>
                <a:spcPct val="100000"/>
              </a:lnSpc>
              <a:spcBef>
                <a:spcPts val="350"/>
              </a:spcBef>
            </a:pPr>
            <a:r>
              <a:rPr dirty="0" sz="1100" spc="5">
                <a:latin typeface="Lucida Sans"/>
                <a:cs typeface="Lucida Sans"/>
              </a:rPr>
              <a:t>to </a:t>
            </a:r>
            <a:r>
              <a:rPr dirty="0" sz="1100" spc="10">
                <a:latin typeface="Lucida Sans"/>
                <a:cs typeface="Lucida Sans"/>
              </a:rPr>
              <a:t>handle </a:t>
            </a:r>
            <a:r>
              <a:rPr dirty="0" sz="1100" spc="35">
                <a:latin typeface="Lucida Sans"/>
                <a:cs typeface="Lucida Sans"/>
              </a:rPr>
              <a:t>two</a:t>
            </a:r>
            <a:r>
              <a:rPr dirty="0" sz="1100" spc="10">
                <a:latin typeface="Lucida Sans"/>
                <a:cs typeface="Lucida Sans"/>
              </a:rPr>
              <a:t> </a:t>
            </a:r>
            <a:r>
              <a:rPr dirty="0" sz="1100" spc="20">
                <a:latin typeface="Lucida Sans"/>
                <a:cs typeface="Lucida Sans"/>
              </a:rPr>
              <a:t>keys</a:t>
            </a:r>
            <a:r>
              <a:rPr dirty="0" sz="1100" spc="5">
                <a:latin typeface="Lucida Sans"/>
                <a:cs typeface="Lucida Sans"/>
              </a:rPr>
              <a:t> that</a:t>
            </a:r>
            <a:r>
              <a:rPr dirty="0" sz="1100" spc="10">
                <a:latin typeface="Lucida Sans"/>
                <a:cs typeface="Lucida Sans"/>
              </a:rPr>
              <a:t> hash </a:t>
            </a:r>
            <a:r>
              <a:rPr dirty="0" sz="1100" spc="5">
                <a:latin typeface="Lucida Sans"/>
                <a:cs typeface="Lucida Sans"/>
              </a:rPr>
              <a:t>to the</a:t>
            </a:r>
            <a:r>
              <a:rPr dirty="0" sz="1100" spc="10">
                <a:latin typeface="Lucida Sans"/>
                <a:cs typeface="Lucida Sans"/>
              </a:rPr>
              <a:t> same </a:t>
            </a:r>
            <a:r>
              <a:rPr dirty="0" sz="1100" spc="15">
                <a:latin typeface="Lucida Sans"/>
                <a:cs typeface="Lucida Sans"/>
              </a:rPr>
              <a:t>array</a:t>
            </a:r>
            <a:r>
              <a:rPr dirty="0" sz="1100" spc="5">
                <a:latin typeface="Lucida Sans"/>
                <a:cs typeface="Lucida Sans"/>
              </a:rPr>
              <a:t> index.</a:t>
            </a:r>
            <a:endParaRPr sz="1100">
              <a:latin typeface="Lucida Sans"/>
              <a:cs typeface="Lucida Sans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739997" y="8360401"/>
            <a:ext cx="1931670" cy="1962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100" spc="10">
                <a:solidFill>
                  <a:srgbClr val="005493"/>
                </a:solidFill>
                <a:latin typeface="Lucida Sans"/>
                <a:cs typeface="Lucida Sans"/>
              </a:rPr>
              <a:t>Classic</a:t>
            </a:r>
            <a:r>
              <a:rPr dirty="0" sz="1100" spc="-30">
                <a:solidFill>
                  <a:srgbClr val="005493"/>
                </a:solidFill>
                <a:latin typeface="Lucida Sans"/>
                <a:cs typeface="Lucida Sans"/>
              </a:rPr>
              <a:t> </a:t>
            </a:r>
            <a:r>
              <a:rPr dirty="0" sz="1100" spc="10">
                <a:solidFill>
                  <a:srgbClr val="005493"/>
                </a:solidFill>
                <a:latin typeface="Lucida Sans"/>
                <a:cs typeface="Lucida Sans"/>
              </a:rPr>
              <a:t>space-time</a:t>
            </a:r>
            <a:r>
              <a:rPr dirty="0" sz="1100" spc="-30">
                <a:solidFill>
                  <a:srgbClr val="005493"/>
                </a:solidFill>
                <a:latin typeface="Lucida Sans"/>
                <a:cs typeface="Lucida Sans"/>
              </a:rPr>
              <a:t> </a:t>
            </a:r>
            <a:r>
              <a:rPr dirty="0" sz="1100" spc="5">
                <a:solidFill>
                  <a:srgbClr val="005493"/>
                </a:solidFill>
                <a:latin typeface="Lucida Sans"/>
                <a:cs typeface="Lucida Sans"/>
              </a:rPr>
              <a:t>tradeoff.</a:t>
            </a:r>
            <a:endParaRPr sz="1100">
              <a:latin typeface="Lucida Sans"/>
              <a:cs typeface="Lucida Sans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721055" y="8496654"/>
            <a:ext cx="5135245" cy="77216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63500">
              <a:lnSpc>
                <a:spcPts val="2020"/>
              </a:lnSpc>
              <a:spcBef>
                <a:spcPts val="114"/>
              </a:spcBef>
            </a:pPr>
            <a:r>
              <a:rPr dirty="0" baseline="-12012" sz="2775" spc="22">
                <a:latin typeface="Microsoft JhengHei"/>
                <a:cs typeface="Microsoft JhengHei"/>
              </a:rPr>
              <a:t>・</a:t>
            </a:r>
            <a:r>
              <a:rPr dirty="0" sz="1100" spc="10">
                <a:latin typeface="Lucida Sans"/>
                <a:cs typeface="Lucida Sans"/>
              </a:rPr>
              <a:t>No</a:t>
            </a:r>
            <a:r>
              <a:rPr dirty="0" sz="1100" spc="5">
                <a:latin typeface="Lucida Sans"/>
                <a:cs typeface="Lucida Sans"/>
              </a:rPr>
              <a:t> </a:t>
            </a:r>
            <a:r>
              <a:rPr dirty="0" sz="1100" spc="10">
                <a:latin typeface="Lucida Sans"/>
                <a:cs typeface="Lucida Sans"/>
              </a:rPr>
              <a:t>space</a:t>
            </a:r>
            <a:r>
              <a:rPr dirty="0" sz="1100" spc="5">
                <a:latin typeface="Lucida Sans"/>
                <a:cs typeface="Lucida Sans"/>
              </a:rPr>
              <a:t> limitation:</a:t>
            </a:r>
            <a:r>
              <a:rPr dirty="0" sz="1100" spc="15">
                <a:latin typeface="Lucida Sans"/>
                <a:cs typeface="Lucida Sans"/>
              </a:rPr>
              <a:t> trivial</a:t>
            </a:r>
            <a:r>
              <a:rPr dirty="0" sz="1100" spc="10">
                <a:latin typeface="Lucida Sans"/>
                <a:cs typeface="Lucida Sans"/>
              </a:rPr>
              <a:t> hash</a:t>
            </a:r>
            <a:r>
              <a:rPr dirty="0" sz="1100" spc="5">
                <a:latin typeface="Lucida Sans"/>
                <a:cs typeface="Lucida Sans"/>
              </a:rPr>
              <a:t> </a:t>
            </a:r>
            <a:r>
              <a:rPr dirty="0" sz="1100" spc="10">
                <a:latin typeface="Lucida Sans"/>
                <a:cs typeface="Lucida Sans"/>
              </a:rPr>
              <a:t>function </a:t>
            </a:r>
            <a:r>
              <a:rPr dirty="0" sz="1100" spc="25">
                <a:latin typeface="Lucida Sans"/>
                <a:cs typeface="Lucida Sans"/>
              </a:rPr>
              <a:t>with</a:t>
            </a:r>
            <a:r>
              <a:rPr dirty="0" sz="1100" spc="5">
                <a:latin typeface="Lucida Sans"/>
                <a:cs typeface="Lucida Sans"/>
              </a:rPr>
              <a:t> </a:t>
            </a:r>
            <a:r>
              <a:rPr dirty="0" sz="1100" spc="25">
                <a:latin typeface="Lucida Sans"/>
                <a:cs typeface="Lucida Sans"/>
              </a:rPr>
              <a:t>key</a:t>
            </a:r>
            <a:r>
              <a:rPr dirty="0" sz="1100" spc="10">
                <a:latin typeface="Lucida Sans"/>
                <a:cs typeface="Lucida Sans"/>
              </a:rPr>
              <a:t> as</a:t>
            </a:r>
            <a:r>
              <a:rPr dirty="0" sz="1100" spc="5">
                <a:latin typeface="Lucida Sans"/>
                <a:cs typeface="Lucida Sans"/>
              </a:rPr>
              <a:t> index.</a:t>
            </a:r>
            <a:endParaRPr sz="1100">
              <a:latin typeface="Lucida Sans"/>
              <a:cs typeface="Lucida Sans"/>
            </a:endParaRPr>
          </a:p>
          <a:p>
            <a:pPr marL="63500">
              <a:lnSpc>
                <a:spcPts val="1820"/>
              </a:lnSpc>
            </a:pPr>
            <a:r>
              <a:rPr dirty="0" baseline="-12012" sz="2775" spc="22">
                <a:latin typeface="Microsoft JhengHei"/>
                <a:cs typeface="Microsoft JhengHei"/>
              </a:rPr>
              <a:t>・</a:t>
            </a:r>
            <a:r>
              <a:rPr dirty="0" sz="1100" spc="10">
                <a:latin typeface="Lucida Sans"/>
                <a:cs typeface="Lucida Sans"/>
              </a:rPr>
              <a:t>No time</a:t>
            </a:r>
            <a:r>
              <a:rPr dirty="0" sz="1100" spc="15">
                <a:latin typeface="Lucida Sans"/>
                <a:cs typeface="Lucida Sans"/>
              </a:rPr>
              <a:t> </a:t>
            </a:r>
            <a:r>
              <a:rPr dirty="0" sz="1100" spc="5">
                <a:latin typeface="Lucida Sans"/>
                <a:cs typeface="Lucida Sans"/>
              </a:rPr>
              <a:t>limitation:</a:t>
            </a:r>
            <a:r>
              <a:rPr dirty="0" sz="1100" spc="25">
                <a:latin typeface="Lucida Sans"/>
                <a:cs typeface="Lucida Sans"/>
              </a:rPr>
              <a:t> </a:t>
            </a:r>
            <a:r>
              <a:rPr dirty="0" sz="1100" spc="15">
                <a:latin typeface="Lucida Sans"/>
                <a:cs typeface="Lucida Sans"/>
              </a:rPr>
              <a:t>trivial </a:t>
            </a:r>
            <a:r>
              <a:rPr dirty="0" sz="1100" spc="5">
                <a:latin typeface="Lucida Sans"/>
                <a:cs typeface="Lucida Sans"/>
              </a:rPr>
              <a:t>collision</a:t>
            </a:r>
            <a:r>
              <a:rPr dirty="0" sz="1100" spc="15">
                <a:latin typeface="Lucida Sans"/>
                <a:cs typeface="Lucida Sans"/>
              </a:rPr>
              <a:t> </a:t>
            </a:r>
            <a:r>
              <a:rPr dirty="0" sz="1100" spc="5">
                <a:latin typeface="Lucida Sans"/>
                <a:cs typeface="Lucida Sans"/>
              </a:rPr>
              <a:t>resolution</a:t>
            </a:r>
            <a:r>
              <a:rPr dirty="0" sz="1100" spc="10">
                <a:latin typeface="Lucida Sans"/>
                <a:cs typeface="Lucida Sans"/>
              </a:rPr>
              <a:t> </a:t>
            </a:r>
            <a:r>
              <a:rPr dirty="0" sz="1100" spc="25">
                <a:latin typeface="Lucida Sans"/>
                <a:cs typeface="Lucida Sans"/>
              </a:rPr>
              <a:t>with</a:t>
            </a:r>
            <a:r>
              <a:rPr dirty="0" sz="1100" spc="15">
                <a:latin typeface="Lucida Sans"/>
                <a:cs typeface="Lucida Sans"/>
              </a:rPr>
              <a:t> </a:t>
            </a:r>
            <a:r>
              <a:rPr dirty="0" sz="1100" spc="5">
                <a:latin typeface="Lucida Sans"/>
                <a:cs typeface="Lucida Sans"/>
              </a:rPr>
              <a:t>sequential</a:t>
            </a:r>
            <a:r>
              <a:rPr dirty="0" sz="1100" spc="15">
                <a:latin typeface="Lucida Sans"/>
                <a:cs typeface="Lucida Sans"/>
              </a:rPr>
              <a:t> </a:t>
            </a:r>
            <a:r>
              <a:rPr dirty="0" sz="1100" spc="5">
                <a:latin typeface="Lucida Sans"/>
                <a:cs typeface="Lucida Sans"/>
              </a:rPr>
              <a:t>search.</a:t>
            </a:r>
            <a:endParaRPr sz="1100">
              <a:latin typeface="Lucida Sans"/>
              <a:cs typeface="Lucida Sans"/>
            </a:endParaRPr>
          </a:p>
          <a:p>
            <a:pPr marL="63500">
              <a:lnSpc>
                <a:spcPts val="2020"/>
              </a:lnSpc>
            </a:pPr>
            <a:r>
              <a:rPr dirty="0" baseline="-12012" sz="2775" spc="22">
                <a:latin typeface="Microsoft JhengHei"/>
                <a:cs typeface="Microsoft JhengHei"/>
              </a:rPr>
              <a:t>・</a:t>
            </a:r>
            <a:r>
              <a:rPr dirty="0" sz="1100" spc="10">
                <a:latin typeface="Lucida Sans"/>
                <a:cs typeface="Lucida Sans"/>
              </a:rPr>
              <a:t>Space</a:t>
            </a:r>
            <a:r>
              <a:rPr dirty="0" sz="1100">
                <a:latin typeface="Lucida Sans"/>
                <a:cs typeface="Lucida Sans"/>
              </a:rPr>
              <a:t> </a:t>
            </a:r>
            <a:r>
              <a:rPr dirty="0" sz="1100" spc="10">
                <a:latin typeface="Lucida Sans"/>
                <a:cs typeface="Lucida Sans"/>
              </a:rPr>
              <a:t>and</a:t>
            </a:r>
            <a:r>
              <a:rPr dirty="0" sz="1100" spc="5">
                <a:latin typeface="Lucida Sans"/>
                <a:cs typeface="Lucida Sans"/>
              </a:rPr>
              <a:t> </a:t>
            </a:r>
            <a:r>
              <a:rPr dirty="0" sz="1100" spc="10">
                <a:latin typeface="Lucida Sans"/>
                <a:cs typeface="Lucida Sans"/>
              </a:rPr>
              <a:t>time</a:t>
            </a:r>
            <a:r>
              <a:rPr dirty="0" sz="1100" spc="5">
                <a:latin typeface="Lucida Sans"/>
                <a:cs typeface="Lucida Sans"/>
              </a:rPr>
              <a:t> limitations:  </a:t>
            </a:r>
            <a:r>
              <a:rPr dirty="0" sz="1100" spc="10">
                <a:latin typeface="Lucida Sans"/>
                <a:cs typeface="Lucida Sans"/>
              </a:rPr>
              <a:t>hashing</a:t>
            </a:r>
            <a:r>
              <a:rPr dirty="0" sz="1100" spc="5">
                <a:latin typeface="Lucida Sans"/>
                <a:cs typeface="Lucida Sans"/>
              </a:rPr>
              <a:t> (the </a:t>
            </a:r>
            <a:r>
              <a:rPr dirty="0" sz="1100">
                <a:latin typeface="Lucida Sans"/>
                <a:cs typeface="Lucida Sans"/>
              </a:rPr>
              <a:t>real</a:t>
            </a:r>
            <a:r>
              <a:rPr dirty="0" sz="1100" spc="5">
                <a:latin typeface="Lucida Sans"/>
                <a:cs typeface="Lucida Sans"/>
              </a:rPr>
              <a:t> </a:t>
            </a:r>
            <a:r>
              <a:rPr dirty="0" sz="1100" spc="20">
                <a:latin typeface="Lucida Sans"/>
                <a:cs typeface="Lucida Sans"/>
              </a:rPr>
              <a:t>world).</a:t>
            </a:r>
            <a:endParaRPr sz="1100">
              <a:latin typeface="Lucida Sans"/>
              <a:cs typeface="Lucida Sans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636850" y="7051188"/>
            <a:ext cx="1116965" cy="15367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800" spc="20">
                <a:solidFill>
                  <a:srgbClr val="8D3124"/>
                </a:solidFill>
                <a:latin typeface="Lucida Sans Typewriter"/>
                <a:cs typeface="Lucida Sans Typewriter"/>
              </a:rPr>
              <a:t>hash("times")</a:t>
            </a:r>
            <a:r>
              <a:rPr dirty="0" sz="800" spc="-5">
                <a:solidFill>
                  <a:srgbClr val="8D3124"/>
                </a:solidFill>
                <a:latin typeface="Lucida Sans Typewriter"/>
                <a:cs typeface="Lucida Sans Typewriter"/>
              </a:rPr>
              <a:t> </a:t>
            </a:r>
            <a:r>
              <a:rPr dirty="0" sz="800" spc="20">
                <a:solidFill>
                  <a:srgbClr val="8D3124"/>
                </a:solidFill>
                <a:latin typeface="Lucida Sans Typewriter"/>
                <a:cs typeface="Lucida Sans Typewriter"/>
              </a:rPr>
              <a:t>=</a:t>
            </a:r>
            <a:r>
              <a:rPr dirty="0" sz="800">
                <a:solidFill>
                  <a:srgbClr val="8D3124"/>
                </a:solidFill>
                <a:latin typeface="Lucida Sans Typewriter"/>
                <a:cs typeface="Lucida Sans Typewriter"/>
              </a:rPr>
              <a:t> </a:t>
            </a:r>
            <a:r>
              <a:rPr dirty="0" sz="800" spc="20">
                <a:solidFill>
                  <a:srgbClr val="8D3124"/>
                </a:solidFill>
                <a:latin typeface="Lucida Sans Typewriter"/>
                <a:cs typeface="Lucida Sans Typewriter"/>
              </a:rPr>
              <a:t>3</a:t>
            </a:r>
            <a:endParaRPr sz="800">
              <a:latin typeface="Lucida Sans Typewriter"/>
              <a:cs typeface="Lucida Sans Typewriter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4815661" y="6933210"/>
            <a:ext cx="410845" cy="196850"/>
            <a:chOff x="4815661" y="6933210"/>
            <a:chExt cx="410845" cy="196850"/>
          </a:xfrm>
        </p:grpSpPr>
        <p:sp>
          <p:nvSpPr>
            <p:cNvPr id="33" name="object 33"/>
            <p:cNvSpPr/>
            <p:nvPr/>
          </p:nvSpPr>
          <p:spPr>
            <a:xfrm>
              <a:off x="4821693" y="6950461"/>
              <a:ext cx="371475" cy="173355"/>
            </a:xfrm>
            <a:custGeom>
              <a:avLst/>
              <a:gdLst/>
              <a:ahLst/>
              <a:cxnLst/>
              <a:rect l="l" t="t" r="r" b="b"/>
              <a:pathLst>
                <a:path w="371475" h="173354">
                  <a:moveTo>
                    <a:pt x="371130" y="0"/>
                  </a:moveTo>
                  <a:lnTo>
                    <a:pt x="365762" y="2505"/>
                  </a:lnTo>
                  <a:lnTo>
                    <a:pt x="0" y="173195"/>
                  </a:lnTo>
                </a:path>
              </a:pathLst>
            </a:custGeom>
            <a:ln w="11848">
              <a:solidFill>
                <a:srgbClr val="8D312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5162547" y="6933210"/>
              <a:ext cx="64135" cy="52069"/>
            </a:xfrm>
            <a:custGeom>
              <a:avLst/>
              <a:gdLst/>
              <a:ahLst/>
              <a:cxnLst/>
              <a:rect l="l" t="t" r="r" b="b"/>
              <a:pathLst>
                <a:path w="64135" h="52070">
                  <a:moveTo>
                    <a:pt x="0" y="0"/>
                  </a:moveTo>
                  <a:lnTo>
                    <a:pt x="24908" y="19756"/>
                  </a:lnTo>
                  <a:lnTo>
                    <a:pt x="24048" y="51536"/>
                  </a:lnTo>
                  <a:lnTo>
                    <a:pt x="63560" y="171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D312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5" name="object 35"/>
          <p:cNvSpPr txBox="1"/>
          <p:nvPr/>
        </p:nvSpPr>
        <p:spPr>
          <a:xfrm>
            <a:off x="5242264" y="6796455"/>
            <a:ext cx="115570" cy="15367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800" spc="15">
                <a:solidFill>
                  <a:srgbClr val="8D3124"/>
                </a:solidFill>
                <a:latin typeface="Lucida Sans"/>
                <a:cs typeface="Lucida Sans"/>
              </a:rPr>
              <a:t>??</a:t>
            </a:r>
            <a:endParaRPr sz="800">
              <a:latin typeface="Lucida Sans"/>
              <a:cs typeface="Lucida Sans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5503020" y="6020406"/>
            <a:ext cx="85725" cy="3498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50" spc="-5">
                <a:latin typeface="Lucida Sans"/>
                <a:cs typeface="Lucida Sans"/>
              </a:rPr>
              <a:t>0</a:t>
            </a:r>
            <a:endParaRPr sz="750">
              <a:latin typeface="Lucida Sans"/>
              <a:cs typeface="Lucida Sans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dirty="0" sz="750" spc="-5">
                <a:latin typeface="Lucida Sans"/>
                <a:cs typeface="Lucida Sans"/>
              </a:rPr>
              <a:t>1</a:t>
            </a:r>
            <a:endParaRPr sz="750">
              <a:latin typeface="Lucida Sans"/>
              <a:cs typeface="Lucida Sans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5503020" y="6441013"/>
            <a:ext cx="85725" cy="3498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50" spc="-5">
                <a:latin typeface="Lucida Sans"/>
                <a:cs typeface="Lucida Sans"/>
              </a:rPr>
              <a:t>2</a:t>
            </a:r>
            <a:endParaRPr sz="750">
              <a:latin typeface="Lucida Sans"/>
              <a:cs typeface="Lucida Sans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dirty="0" sz="750" spc="-5">
                <a:latin typeface="Lucida Sans"/>
                <a:cs typeface="Lucida Sans"/>
              </a:rPr>
              <a:t>3</a:t>
            </a:r>
            <a:endParaRPr sz="750">
              <a:latin typeface="Lucida Sans"/>
              <a:cs typeface="Lucida Sans"/>
            </a:endParaRPr>
          </a:p>
        </p:txBody>
      </p:sp>
      <p:graphicFrame>
        <p:nvGraphicFramePr>
          <p:cNvPr id="38" name="object 38"/>
          <p:cNvGraphicFramePr>
            <a:graphicFrameLocks noGrp="1"/>
          </p:cNvGraphicFramePr>
          <p:nvPr/>
        </p:nvGraphicFramePr>
        <p:xfrm>
          <a:off x="5629134" y="5997562"/>
          <a:ext cx="398780" cy="12611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98145"/>
              </a:tblGrid>
              <a:tr h="2101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</a:tr>
              <a:tr h="2101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</a:tr>
              <a:tr h="2101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</a:tr>
              <a:tr h="210185"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800" spc="20">
                          <a:latin typeface="Lucida Sans Typewriter"/>
                          <a:cs typeface="Lucida Sans Typewriter"/>
                        </a:rPr>
                        <a:t>"it"</a:t>
                      </a:r>
                      <a:endParaRPr sz="800">
                        <a:latin typeface="Lucida Sans Typewriter"/>
                        <a:cs typeface="Lucida Sans Typewriter"/>
                      </a:endParaRPr>
                    </a:p>
                  </a:txBody>
                  <a:tcPr marL="0" marR="0" marB="0" marT="34925"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</a:tr>
              <a:tr h="2101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</a:tr>
              <a:tr h="2101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3175">
                      <a:solidFill>
                        <a:srgbClr val="E7EAEB"/>
                      </a:solidFill>
                      <a:prstDash val="solid"/>
                    </a:lnT>
                    <a:solidFill>
                      <a:srgbClr val="CBCBCB"/>
                    </a:solidFill>
                  </a:tcPr>
                </a:tc>
              </a:tr>
            </a:tbl>
          </a:graphicData>
        </a:graphic>
      </p:graphicFrame>
      <p:sp>
        <p:nvSpPr>
          <p:cNvPr id="39" name="object 39"/>
          <p:cNvSpPr txBox="1"/>
          <p:nvPr/>
        </p:nvSpPr>
        <p:spPr>
          <a:xfrm>
            <a:off x="5503020" y="6861619"/>
            <a:ext cx="85725" cy="3498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50" spc="-5">
                <a:latin typeface="Lucida Sans"/>
                <a:cs typeface="Lucida Sans"/>
              </a:rPr>
              <a:t>4</a:t>
            </a:r>
            <a:endParaRPr sz="750">
              <a:latin typeface="Lucida Sans"/>
              <a:cs typeface="Lucida Sans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dirty="0" sz="750" spc="-5">
                <a:latin typeface="Lucida Sans"/>
                <a:cs typeface="Lucida Sans"/>
              </a:rPr>
              <a:t>5</a:t>
            </a:r>
            <a:endParaRPr sz="750">
              <a:latin typeface="Lucida Sans"/>
              <a:cs typeface="Lucida Sans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3873811" y="6464709"/>
            <a:ext cx="924560" cy="15367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800" spc="20">
                <a:solidFill>
                  <a:srgbClr val="8D3124"/>
                </a:solidFill>
                <a:latin typeface="Lucida Sans Typewriter"/>
                <a:cs typeface="Lucida Sans Typewriter"/>
              </a:rPr>
              <a:t>hash("it")</a:t>
            </a:r>
            <a:r>
              <a:rPr dirty="0" sz="800" spc="-10">
                <a:solidFill>
                  <a:srgbClr val="8D3124"/>
                </a:solidFill>
                <a:latin typeface="Lucida Sans Typewriter"/>
                <a:cs typeface="Lucida Sans Typewriter"/>
              </a:rPr>
              <a:t> </a:t>
            </a:r>
            <a:r>
              <a:rPr dirty="0" sz="800" spc="20">
                <a:solidFill>
                  <a:srgbClr val="8D3124"/>
                </a:solidFill>
                <a:latin typeface="Lucida Sans Typewriter"/>
                <a:cs typeface="Lucida Sans Typewriter"/>
              </a:rPr>
              <a:t>=</a:t>
            </a:r>
            <a:r>
              <a:rPr dirty="0" sz="800" spc="-5">
                <a:solidFill>
                  <a:srgbClr val="8D3124"/>
                </a:solidFill>
                <a:latin typeface="Lucida Sans Typewriter"/>
                <a:cs typeface="Lucida Sans Typewriter"/>
              </a:rPr>
              <a:t> </a:t>
            </a:r>
            <a:r>
              <a:rPr dirty="0" sz="800" spc="20">
                <a:solidFill>
                  <a:srgbClr val="8D3124"/>
                </a:solidFill>
                <a:latin typeface="Lucida Sans Typewriter"/>
                <a:cs typeface="Lucida Sans Typewriter"/>
              </a:rPr>
              <a:t>3</a:t>
            </a:r>
            <a:endParaRPr sz="800">
              <a:latin typeface="Lucida Sans Typewriter"/>
              <a:cs typeface="Lucida Sans Typewriter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4874003" y="6575507"/>
            <a:ext cx="586105" cy="168275"/>
            <a:chOff x="4874003" y="6575507"/>
            <a:chExt cx="586105" cy="168275"/>
          </a:xfrm>
        </p:grpSpPr>
        <p:sp>
          <p:nvSpPr>
            <p:cNvPr id="42" name="object 42"/>
            <p:cNvSpPr/>
            <p:nvPr/>
          </p:nvSpPr>
          <p:spPr>
            <a:xfrm>
              <a:off x="4879927" y="6581431"/>
              <a:ext cx="544830" cy="139700"/>
            </a:xfrm>
            <a:custGeom>
              <a:avLst/>
              <a:gdLst/>
              <a:ahLst/>
              <a:cxnLst/>
              <a:rect l="l" t="t" r="r" b="b"/>
              <a:pathLst>
                <a:path w="544829" h="139700">
                  <a:moveTo>
                    <a:pt x="544400" y="139346"/>
                  </a:moveTo>
                  <a:lnTo>
                    <a:pt x="538661" y="137878"/>
                  </a:lnTo>
                  <a:lnTo>
                    <a:pt x="0" y="0"/>
                  </a:lnTo>
                </a:path>
              </a:pathLst>
            </a:custGeom>
            <a:ln w="11848">
              <a:solidFill>
                <a:srgbClr val="8D312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5397765" y="6688237"/>
              <a:ext cx="62230" cy="55244"/>
            </a:xfrm>
            <a:custGeom>
              <a:avLst/>
              <a:gdLst/>
              <a:ahLst/>
              <a:cxnLst/>
              <a:rect l="l" t="t" r="r" b="b"/>
              <a:pathLst>
                <a:path w="62229" h="55245">
                  <a:moveTo>
                    <a:pt x="14100" y="0"/>
                  </a:moveTo>
                  <a:lnTo>
                    <a:pt x="20824" y="31072"/>
                  </a:lnTo>
                  <a:lnTo>
                    <a:pt x="0" y="55094"/>
                  </a:lnTo>
                  <a:lnTo>
                    <a:pt x="62145" y="41648"/>
                  </a:lnTo>
                  <a:lnTo>
                    <a:pt x="14100" y="0"/>
                  </a:lnTo>
                  <a:close/>
                </a:path>
              </a:pathLst>
            </a:custGeom>
            <a:solidFill>
              <a:srgbClr val="8D3124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4" name="object 44"/>
          <p:cNvGrpSpPr/>
          <p:nvPr/>
        </p:nvGrpSpPr>
        <p:grpSpPr>
          <a:xfrm>
            <a:off x="6588569" y="4962970"/>
            <a:ext cx="6073775" cy="4557395"/>
            <a:chOff x="6588569" y="4962970"/>
            <a:chExt cx="6073775" cy="4557395"/>
          </a:xfrm>
        </p:grpSpPr>
        <p:sp>
          <p:nvSpPr>
            <p:cNvPr id="45" name="object 45"/>
            <p:cNvSpPr/>
            <p:nvPr/>
          </p:nvSpPr>
          <p:spPr>
            <a:xfrm>
              <a:off x="6592379" y="4966780"/>
              <a:ext cx="6066790" cy="4549775"/>
            </a:xfrm>
            <a:custGeom>
              <a:avLst/>
              <a:gdLst/>
              <a:ahLst/>
              <a:cxnLst/>
              <a:rect l="l" t="t" r="r" b="b"/>
              <a:pathLst>
                <a:path w="6066790" h="4549775">
                  <a:moveTo>
                    <a:pt x="0" y="0"/>
                  </a:moveTo>
                  <a:lnTo>
                    <a:pt x="6066212" y="0"/>
                  </a:lnTo>
                  <a:lnTo>
                    <a:pt x="6066212" y="4549659"/>
                  </a:lnTo>
                  <a:lnTo>
                    <a:pt x="0" y="45496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5F5F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/>
            <p:cNvSpPr/>
            <p:nvPr/>
          </p:nvSpPr>
          <p:spPr>
            <a:xfrm>
              <a:off x="6592379" y="4966780"/>
              <a:ext cx="5197475" cy="156845"/>
            </a:xfrm>
            <a:custGeom>
              <a:avLst/>
              <a:gdLst/>
              <a:ahLst/>
              <a:cxnLst/>
              <a:rect l="l" t="t" r="r" b="b"/>
              <a:pathLst>
                <a:path w="5197475" h="156845">
                  <a:moveTo>
                    <a:pt x="4400264" y="53541"/>
                  </a:moveTo>
                  <a:lnTo>
                    <a:pt x="4458336" y="32432"/>
                  </a:lnTo>
                </a:path>
                <a:path w="5197475" h="156845">
                  <a:moveTo>
                    <a:pt x="2180278" y="0"/>
                  </a:moveTo>
                  <a:lnTo>
                    <a:pt x="2180278" y="13946"/>
                  </a:lnTo>
                </a:path>
                <a:path w="5197475" h="156845">
                  <a:moveTo>
                    <a:pt x="4260361" y="132702"/>
                  </a:moveTo>
                  <a:lnTo>
                    <a:pt x="4268280" y="108969"/>
                  </a:lnTo>
                  <a:lnTo>
                    <a:pt x="4265641" y="93122"/>
                  </a:lnTo>
                  <a:lnTo>
                    <a:pt x="4313154" y="72012"/>
                  </a:lnTo>
                  <a:lnTo>
                    <a:pt x="4313154" y="3391"/>
                  </a:lnTo>
                  <a:lnTo>
                    <a:pt x="4306359" y="0"/>
                  </a:lnTo>
                </a:path>
                <a:path w="5197475" h="156845">
                  <a:moveTo>
                    <a:pt x="123968" y="11307"/>
                  </a:moveTo>
                  <a:lnTo>
                    <a:pt x="124482" y="0"/>
                  </a:lnTo>
                </a:path>
                <a:path w="5197475" h="156845">
                  <a:moveTo>
                    <a:pt x="1858252" y="16614"/>
                  </a:moveTo>
                  <a:lnTo>
                    <a:pt x="1838868" y="0"/>
                  </a:lnTo>
                </a:path>
                <a:path w="5197475" h="156845">
                  <a:moveTo>
                    <a:pt x="2977461" y="19238"/>
                  </a:moveTo>
                  <a:lnTo>
                    <a:pt x="2985480" y="0"/>
                  </a:lnTo>
                </a:path>
                <a:path w="5197475" h="156845">
                  <a:moveTo>
                    <a:pt x="5155197" y="21877"/>
                  </a:moveTo>
                  <a:lnTo>
                    <a:pt x="5197446" y="29778"/>
                  </a:lnTo>
                  <a:lnTo>
                    <a:pt x="5193308" y="0"/>
                  </a:lnTo>
                </a:path>
                <a:path w="5197475" h="156845">
                  <a:moveTo>
                    <a:pt x="0" y="109443"/>
                  </a:moveTo>
                  <a:lnTo>
                    <a:pt x="21021" y="103662"/>
                  </a:lnTo>
                </a:path>
                <a:path w="5197475" h="156845">
                  <a:moveTo>
                    <a:pt x="4363294" y="114217"/>
                  </a:moveTo>
                  <a:lnTo>
                    <a:pt x="4400264" y="53541"/>
                  </a:lnTo>
                  <a:lnTo>
                    <a:pt x="4406484" y="0"/>
                  </a:lnTo>
                </a:path>
                <a:path w="5197475" h="156845">
                  <a:moveTo>
                    <a:pt x="3035535" y="66735"/>
                  </a:moveTo>
                  <a:lnTo>
                    <a:pt x="3033777" y="0"/>
                  </a:lnTo>
                </a:path>
                <a:path w="5197475" h="156845">
                  <a:moveTo>
                    <a:pt x="3094101" y="0"/>
                  </a:moveTo>
                  <a:lnTo>
                    <a:pt x="3114739" y="11307"/>
                  </a:lnTo>
                </a:path>
                <a:path w="5197475" h="156845">
                  <a:moveTo>
                    <a:pt x="4313154" y="72012"/>
                  </a:moveTo>
                  <a:lnTo>
                    <a:pt x="4363294" y="114217"/>
                  </a:lnTo>
                  <a:lnTo>
                    <a:pt x="4431941" y="156421"/>
                  </a:lnTo>
                </a:path>
              </a:pathLst>
            </a:custGeom>
            <a:ln w="7331">
              <a:solidFill>
                <a:srgbClr val="6D6E7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7" name="object 4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588713" y="4963114"/>
              <a:ext cx="6073544" cy="4556992"/>
            </a:xfrm>
            <a:prstGeom prst="rect">
              <a:avLst/>
            </a:prstGeom>
          </p:spPr>
        </p:pic>
      </p:grpSp>
      <p:sp>
        <p:nvSpPr>
          <p:cNvPr id="48" name="object 48"/>
          <p:cNvSpPr txBox="1"/>
          <p:nvPr/>
        </p:nvSpPr>
        <p:spPr>
          <a:xfrm>
            <a:off x="6992224" y="8461109"/>
            <a:ext cx="1532255" cy="1250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50" spc="65" b="1">
                <a:latin typeface="Tahoma"/>
                <a:cs typeface="Tahoma"/>
                <a:hlinkClick r:id="rId2"/>
              </a:rPr>
              <a:t>http://algs4.cs.princeton.edu</a:t>
            </a:r>
            <a:r>
              <a:rPr dirty="0" sz="650" spc="-120" b="1">
                <a:latin typeface="Tahoma"/>
                <a:cs typeface="Tahoma"/>
                <a:hlinkClick r:id="rId2"/>
              </a:rPr>
              <a:t> </a:t>
            </a:r>
            <a:endParaRPr sz="650">
              <a:latin typeface="Tahoma"/>
              <a:cs typeface="Tahoma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6995214" y="6536649"/>
            <a:ext cx="5271770" cy="1907539"/>
            <a:chOff x="6995214" y="6536649"/>
            <a:chExt cx="5271770" cy="1907539"/>
          </a:xfrm>
        </p:grpSpPr>
        <p:sp>
          <p:nvSpPr>
            <p:cNvPr id="50" name="object 50"/>
            <p:cNvSpPr/>
            <p:nvPr/>
          </p:nvSpPr>
          <p:spPr>
            <a:xfrm>
              <a:off x="9222631" y="6832852"/>
              <a:ext cx="3039745" cy="0"/>
            </a:xfrm>
            <a:custGeom>
              <a:avLst/>
              <a:gdLst/>
              <a:ahLst/>
              <a:cxnLst/>
              <a:rect l="l" t="t" r="r" b="b"/>
              <a:pathLst>
                <a:path w="3039745" h="0">
                  <a:moveTo>
                    <a:pt x="0" y="0"/>
                  </a:moveTo>
                  <a:lnTo>
                    <a:pt x="3039461" y="0"/>
                  </a:lnTo>
                </a:path>
              </a:pathLst>
            </a:custGeom>
            <a:ln w="88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/>
            <p:cNvSpPr/>
            <p:nvPr/>
          </p:nvSpPr>
          <p:spPr>
            <a:xfrm>
              <a:off x="6995214" y="6536649"/>
              <a:ext cx="1522730" cy="1907539"/>
            </a:xfrm>
            <a:custGeom>
              <a:avLst/>
              <a:gdLst/>
              <a:ahLst/>
              <a:cxnLst/>
              <a:rect l="l" t="t" r="r" b="b"/>
              <a:pathLst>
                <a:path w="1522729" h="1907540">
                  <a:moveTo>
                    <a:pt x="1522477" y="0"/>
                  </a:moveTo>
                  <a:lnTo>
                    <a:pt x="0" y="0"/>
                  </a:lnTo>
                  <a:lnTo>
                    <a:pt x="0" y="1907539"/>
                  </a:lnTo>
                  <a:lnTo>
                    <a:pt x="1522477" y="1907539"/>
                  </a:lnTo>
                  <a:lnTo>
                    <a:pt x="1522477" y="0"/>
                  </a:lnTo>
                  <a:close/>
                </a:path>
              </a:pathLst>
            </a:custGeom>
            <a:solidFill>
              <a:srgbClr val="E6E7E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2" name="object 52"/>
          <p:cNvSpPr txBox="1"/>
          <p:nvPr/>
        </p:nvSpPr>
        <p:spPr>
          <a:xfrm>
            <a:off x="7073097" y="8265549"/>
            <a:ext cx="1367155" cy="1314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700" spc="35">
                <a:solidFill>
                  <a:srgbClr val="231F20"/>
                </a:solidFill>
                <a:latin typeface="Garamond"/>
                <a:cs typeface="Garamond"/>
              </a:rPr>
              <a:t>R</a:t>
            </a:r>
            <a:r>
              <a:rPr dirty="0" sz="450" spc="35">
                <a:solidFill>
                  <a:srgbClr val="231F20"/>
                </a:solidFill>
                <a:latin typeface="Garamond"/>
                <a:cs typeface="Garamond"/>
              </a:rPr>
              <a:t>OBERT</a:t>
            </a:r>
            <a:r>
              <a:rPr dirty="0" sz="450" spc="80">
                <a:solidFill>
                  <a:srgbClr val="231F20"/>
                </a:solidFill>
                <a:latin typeface="Garamond"/>
                <a:cs typeface="Garamond"/>
              </a:rPr>
              <a:t> </a:t>
            </a:r>
            <a:r>
              <a:rPr dirty="0" sz="700" spc="35">
                <a:solidFill>
                  <a:srgbClr val="231F20"/>
                </a:solidFill>
                <a:latin typeface="Garamond"/>
                <a:cs typeface="Garamond"/>
              </a:rPr>
              <a:t>S</a:t>
            </a:r>
            <a:r>
              <a:rPr dirty="0" sz="450" spc="35">
                <a:solidFill>
                  <a:srgbClr val="231F20"/>
                </a:solidFill>
                <a:latin typeface="Garamond"/>
                <a:cs typeface="Garamond"/>
              </a:rPr>
              <a:t>EDGEWICK </a:t>
            </a:r>
            <a:r>
              <a:rPr dirty="0" sz="450" spc="114">
                <a:solidFill>
                  <a:srgbClr val="231F20"/>
                </a:solidFill>
                <a:latin typeface="Garamond"/>
                <a:cs typeface="Garamond"/>
              </a:rPr>
              <a:t> </a:t>
            </a:r>
            <a:r>
              <a:rPr dirty="0" sz="700" spc="-200">
                <a:solidFill>
                  <a:srgbClr val="231F20"/>
                </a:solidFill>
                <a:latin typeface="Garamond"/>
                <a:cs typeface="Garamond"/>
              </a:rPr>
              <a:t>|</a:t>
            </a:r>
            <a:r>
              <a:rPr dirty="0" sz="700" spc="210">
                <a:solidFill>
                  <a:srgbClr val="231F20"/>
                </a:solidFill>
                <a:latin typeface="Garamond"/>
                <a:cs typeface="Garamond"/>
              </a:rPr>
              <a:t> </a:t>
            </a:r>
            <a:r>
              <a:rPr dirty="0" sz="700" spc="30">
                <a:solidFill>
                  <a:srgbClr val="231F20"/>
                </a:solidFill>
                <a:latin typeface="Garamond"/>
                <a:cs typeface="Garamond"/>
              </a:rPr>
              <a:t>K</a:t>
            </a:r>
            <a:r>
              <a:rPr dirty="0" sz="450" spc="30">
                <a:solidFill>
                  <a:srgbClr val="231F20"/>
                </a:solidFill>
                <a:latin typeface="Garamond"/>
                <a:cs typeface="Garamond"/>
              </a:rPr>
              <a:t>EVIN</a:t>
            </a:r>
            <a:r>
              <a:rPr dirty="0" sz="450" spc="80">
                <a:solidFill>
                  <a:srgbClr val="231F20"/>
                </a:solidFill>
                <a:latin typeface="Garamond"/>
                <a:cs typeface="Garamond"/>
              </a:rPr>
              <a:t> </a:t>
            </a:r>
            <a:r>
              <a:rPr dirty="0" sz="700" spc="40">
                <a:solidFill>
                  <a:srgbClr val="231F20"/>
                </a:solidFill>
                <a:latin typeface="Garamond"/>
                <a:cs typeface="Garamond"/>
              </a:rPr>
              <a:t>W</a:t>
            </a:r>
            <a:r>
              <a:rPr dirty="0" sz="450" spc="40">
                <a:solidFill>
                  <a:srgbClr val="231F20"/>
                </a:solidFill>
                <a:latin typeface="Garamond"/>
                <a:cs typeface="Garamond"/>
              </a:rPr>
              <a:t>AYNE</a:t>
            </a:r>
            <a:endParaRPr sz="450">
              <a:latin typeface="Garamond"/>
              <a:cs typeface="Garamond"/>
            </a:endParaRPr>
          </a:p>
        </p:txBody>
      </p:sp>
      <p:sp>
        <p:nvSpPr>
          <p:cNvPr id="53" name="object 53"/>
          <p:cNvSpPr/>
          <p:nvPr/>
        </p:nvSpPr>
        <p:spPr>
          <a:xfrm>
            <a:off x="6995211" y="6536651"/>
            <a:ext cx="1499870" cy="1086485"/>
          </a:xfrm>
          <a:custGeom>
            <a:avLst/>
            <a:gdLst/>
            <a:ahLst/>
            <a:cxnLst/>
            <a:rect l="l" t="t" r="r" b="b"/>
            <a:pathLst>
              <a:path w="1499870" h="1086484">
                <a:moveTo>
                  <a:pt x="1320" y="726338"/>
                </a:moveTo>
                <a:lnTo>
                  <a:pt x="0" y="726338"/>
                </a:lnTo>
                <a:lnTo>
                  <a:pt x="0" y="1051356"/>
                </a:lnTo>
                <a:lnTo>
                  <a:pt x="1320" y="1051356"/>
                </a:lnTo>
                <a:lnTo>
                  <a:pt x="1320" y="726338"/>
                </a:lnTo>
                <a:close/>
              </a:path>
              <a:path w="1499870" h="1086484">
                <a:moveTo>
                  <a:pt x="62471" y="912685"/>
                </a:moveTo>
                <a:lnTo>
                  <a:pt x="24079" y="912685"/>
                </a:lnTo>
                <a:lnTo>
                  <a:pt x="24079" y="1086027"/>
                </a:lnTo>
                <a:lnTo>
                  <a:pt x="62471" y="1086027"/>
                </a:lnTo>
                <a:lnTo>
                  <a:pt x="62471" y="912685"/>
                </a:lnTo>
                <a:close/>
              </a:path>
              <a:path w="1499870" h="1086484">
                <a:moveTo>
                  <a:pt x="134277" y="856348"/>
                </a:moveTo>
                <a:lnTo>
                  <a:pt x="95885" y="856348"/>
                </a:lnTo>
                <a:lnTo>
                  <a:pt x="95885" y="1029690"/>
                </a:lnTo>
                <a:lnTo>
                  <a:pt x="134277" y="1029690"/>
                </a:lnTo>
                <a:lnTo>
                  <a:pt x="134277" y="856348"/>
                </a:lnTo>
                <a:close/>
              </a:path>
              <a:path w="1499870" h="1086484">
                <a:moveTo>
                  <a:pt x="206095" y="827328"/>
                </a:moveTo>
                <a:lnTo>
                  <a:pt x="167703" y="827328"/>
                </a:lnTo>
                <a:lnTo>
                  <a:pt x="167703" y="1074343"/>
                </a:lnTo>
                <a:lnTo>
                  <a:pt x="206095" y="1074343"/>
                </a:lnTo>
                <a:lnTo>
                  <a:pt x="206095" y="827328"/>
                </a:lnTo>
                <a:close/>
              </a:path>
              <a:path w="1499870" h="1086484">
                <a:moveTo>
                  <a:pt x="277914" y="656996"/>
                </a:moveTo>
                <a:lnTo>
                  <a:pt x="239522" y="656996"/>
                </a:lnTo>
                <a:lnTo>
                  <a:pt x="239522" y="982014"/>
                </a:lnTo>
                <a:lnTo>
                  <a:pt x="277914" y="982014"/>
                </a:lnTo>
                <a:lnTo>
                  <a:pt x="277914" y="656996"/>
                </a:lnTo>
                <a:close/>
              </a:path>
              <a:path w="1499870" h="1086484">
                <a:moveTo>
                  <a:pt x="349732" y="778319"/>
                </a:moveTo>
                <a:lnTo>
                  <a:pt x="311327" y="778319"/>
                </a:lnTo>
                <a:lnTo>
                  <a:pt x="311327" y="951661"/>
                </a:lnTo>
                <a:lnTo>
                  <a:pt x="349732" y="951661"/>
                </a:lnTo>
                <a:lnTo>
                  <a:pt x="349732" y="778319"/>
                </a:lnTo>
                <a:close/>
              </a:path>
              <a:path w="1499870" h="1086484">
                <a:moveTo>
                  <a:pt x="421538" y="808659"/>
                </a:moveTo>
                <a:lnTo>
                  <a:pt x="383146" y="808659"/>
                </a:lnTo>
                <a:lnTo>
                  <a:pt x="383146" y="982002"/>
                </a:lnTo>
                <a:lnTo>
                  <a:pt x="421538" y="982002"/>
                </a:lnTo>
                <a:lnTo>
                  <a:pt x="421538" y="808659"/>
                </a:lnTo>
                <a:close/>
              </a:path>
              <a:path w="1499870" h="1086484">
                <a:moveTo>
                  <a:pt x="493356" y="726338"/>
                </a:moveTo>
                <a:lnTo>
                  <a:pt x="454964" y="726338"/>
                </a:lnTo>
                <a:lnTo>
                  <a:pt x="454964" y="1029690"/>
                </a:lnTo>
                <a:lnTo>
                  <a:pt x="493356" y="1029690"/>
                </a:lnTo>
                <a:lnTo>
                  <a:pt x="493356" y="726338"/>
                </a:lnTo>
                <a:close/>
              </a:path>
              <a:path w="1499870" h="1086484">
                <a:moveTo>
                  <a:pt x="565175" y="735012"/>
                </a:moveTo>
                <a:lnTo>
                  <a:pt x="526770" y="735012"/>
                </a:lnTo>
                <a:lnTo>
                  <a:pt x="526770" y="908354"/>
                </a:lnTo>
                <a:lnTo>
                  <a:pt x="565175" y="908354"/>
                </a:lnTo>
                <a:lnTo>
                  <a:pt x="565175" y="735012"/>
                </a:lnTo>
                <a:close/>
              </a:path>
              <a:path w="1499870" h="1086484">
                <a:moveTo>
                  <a:pt x="636981" y="826008"/>
                </a:moveTo>
                <a:lnTo>
                  <a:pt x="598589" y="826008"/>
                </a:lnTo>
                <a:lnTo>
                  <a:pt x="598589" y="999350"/>
                </a:lnTo>
                <a:lnTo>
                  <a:pt x="636981" y="999350"/>
                </a:lnTo>
                <a:lnTo>
                  <a:pt x="636981" y="826008"/>
                </a:lnTo>
                <a:close/>
              </a:path>
              <a:path w="1499870" h="1086484">
                <a:moveTo>
                  <a:pt x="708799" y="851992"/>
                </a:moveTo>
                <a:lnTo>
                  <a:pt x="670407" y="851992"/>
                </a:lnTo>
                <a:lnTo>
                  <a:pt x="670407" y="1025334"/>
                </a:lnTo>
                <a:lnTo>
                  <a:pt x="708799" y="1025334"/>
                </a:lnTo>
                <a:lnTo>
                  <a:pt x="708799" y="851992"/>
                </a:lnTo>
                <a:close/>
              </a:path>
              <a:path w="1499870" h="1086484">
                <a:moveTo>
                  <a:pt x="780618" y="734974"/>
                </a:moveTo>
                <a:lnTo>
                  <a:pt x="742213" y="734974"/>
                </a:lnTo>
                <a:lnTo>
                  <a:pt x="742213" y="908316"/>
                </a:lnTo>
                <a:lnTo>
                  <a:pt x="780618" y="908316"/>
                </a:lnTo>
                <a:lnTo>
                  <a:pt x="780618" y="734974"/>
                </a:lnTo>
                <a:close/>
              </a:path>
              <a:path w="1499870" h="1086484">
                <a:moveTo>
                  <a:pt x="852436" y="843318"/>
                </a:moveTo>
                <a:lnTo>
                  <a:pt x="814031" y="843318"/>
                </a:lnTo>
                <a:lnTo>
                  <a:pt x="814031" y="1016660"/>
                </a:lnTo>
                <a:lnTo>
                  <a:pt x="852436" y="1016660"/>
                </a:lnTo>
                <a:lnTo>
                  <a:pt x="852436" y="843318"/>
                </a:lnTo>
                <a:close/>
              </a:path>
              <a:path w="1499870" h="1086484">
                <a:moveTo>
                  <a:pt x="924242" y="912647"/>
                </a:moveTo>
                <a:lnTo>
                  <a:pt x="885837" y="912647"/>
                </a:lnTo>
                <a:lnTo>
                  <a:pt x="885837" y="1085989"/>
                </a:lnTo>
                <a:lnTo>
                  <a:pt x="924242" y="1085989"/>
                </a:lnTo>
                <a:lnTo>
                  <a:pt x="924242" y="912647"/>
                </a:lnTo>
                <a:close/>
              </a:path>
              <a:path w="1499870" h="1086484">
                <a:moveTo>
                  <a:pt x="996061" y="0"/>
                </a:moveTo>
                <a:lnTo>
                  <a:pt x="957656" y="0"/>
                </a:lnTo>
                <a:lnTo>
                  <a:pt x="957656" y="1085989"/>
                </a:lnTo>
                <a:lnTo>
                  <a:pt x="996061" y="1085989"/>
                </a:lnTo>
                <a:lnTo>
                  <a:pt x="996061" y="0"/>
                </a:lnTo>
                <a:close/>
              </a:path>
              <a:path w="1499870" h="1086484">
                <a:moveTo>
                  <a:pt x="1067866" y="912647"/>
                </a:moveTo>
                <a:lnTo>
                  <a:pt x="1029474" y="912647"/>
                </a:lnTo>
                <a:lnTo>
                  <a:pt x="1029474" y="1085989"/>
                </a:lnTo>
                <a:lnTo>
                  <a:pt x="1067866" y="1085989"/>
                </a:lnTo>
                <a:lnTo>
                  <a:pt x="1067866" y="912647"/>
                </a:lnTo>
                <a:close/>
              </a:path>
              <a:path w="1499870" h="1086484">
                <a:moveTo>
                  <a:pt x="1139685" y="912647"/>
                </a:moveTo>
                <a:lnTo>
                  <a:pt x="1101280" y="912647"/>
                </a:lnTo>
                <a:lnTo>
                  <a:pt x="1101280" y="1085989"/>
                </a:lnTo>
                <a:lnTo>
                  <a:pt x="1139685" y="1085989"/>
                </a:lnTo>
                <a:lnTo>
                  <a:pt x="1139685" y="912647"/>
                </a:lnTo>
                <a:close/>
              </a:path>
              <a:path w="1499870" h="1086484">
                <a:moveTo>
                  <a:pt x="1211491" y="912634"/>
                </a:moveTo>
                <a:lnTo>
                  <a:pt x="1173099" y="912634"/>
                </a:lnTo>
                <a:lnTo>
                  <a:pt x="1173099" y="1085977"/>
                </a:lnTo>
                <a:lnTo>
                  <a:pt x="1211491" y="1085977"/>
                </a:lnTo>
                <a:lnTo>
                  <a:pt x="1211491" y="912634"/>
                </a:lnTo>
                <a:close/>
              </a:path>
              <a:path w="1499870" h="1086484">
                <a:moveTo>
                  <a:pt x="1283309" y="912634"/>
                </a:moveTo>
                <a:lnTo>
                  <a:pt x="1244904" y="912634"/>
                </a:lnTo>
                <a:lnTo>
                  <a:pt x="1244904" y="1085977"/>
                </a:lnTo>
                <a:lnTo>
                  <a:pt x="1283309" y="1085977"/>
                </a:lnTo>
                <a:lnTo>
                  <a:pt x="1283309" y="912634"/>
                </a:lnTo>
                <a:close/>
              </a:path>
              <a:path w="1499870" h="1086484">
                <a:moveTo>
                  <a:pt x="1355115" y="912634"/>
                </a:moveTo>
                <a:lnTo>
                  <a:pt x="1316723" y="912634"/>
                </a:lnTo>
                <a:lnTo>
                  <a:pt x="1316723" y="1085977"/>
                </a:lnTo>
                <a:lnTo>
                  <a:pt x="1355115" y="1085977"/>
                </a:lnTo>
                <a:lnTo>
                  <a:pt x="1355115" y="912634"/>
                </a:lnTo>
                <a:close/>
              </a:path>
              <a:path w="1499870" h="1086484">
                <a:moveTo>
                  <a:pt x="1426933" y="912634"/>
                </a:moveTo>
                <a:lnTo>
                  <a:pt x="1388541" y="912634"/>
                </a:lnTo>
                <a:lnTo>
                  <a:pt x="1388541" y="1085977"/>
                </a:lnTo>
                <a:lnTo>
                  <a:pt x="1426933" y="1085977"/>
                </a:lnTo>
                <a:lnTo>
                  <a:pt x="1426933" y="912634"/>
                </a:lnTo>
                <a:close/>
              </a:path>
              <a:path w="1499870" h="1086484">
                <a:moveTo>
                  <a:pt x="1499438" y="912634"/>
                </a:moveTo>
                <a:lnTo>
                  <a:pt x="1461046" y="912634"/>
                </a:lnTo>
                <a:lnTo>
                  <a:pt x="1461046" y="1085977"/>
                </a:lnTo>
                <a:lnTo>
                  <a:pt x="1499438" y="1085977"/>
                </a:lnTo>
                <a:lnTo>
                  <a:pt x="1499438" y="912634"/>
                </a:lnTo>
                <a:close/>
              </a:path>
            </a:pathLst>
          </a:custGeom>
          <a:solidFill>
            <a:srgbClr val="808285">
              <a:alpha val="29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 txBox="1"/>
          <p:nvPr/>
        </p:nvSpPr>
        <p:spPr>
          <a:xfrm>
            <a:off x="7057512" y="7533001"/>
            <a:ext cx="1395095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 spc="114">
                <a:solidFill>
                  <a:srgbClr val="231F20"/>
                </a:solidFill>
                <a:latin typeface="Garamond"/>
                <a:cs typeface="Garamond"/>
              </a:rPr>
              <a:t>Algorithms</a:t>
            </a:r>
            <a:endParaRPr sz="2200">
              <a:latin typeface="Garamond"/>
              <a:cs typeface="Garamond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9195799" y="6873468"/>
            <a:ext cx="1513205" cy="1163320"/>
          </a:xfrm>
          <a:prstGeom prst="rect">
            <a:avLst/>
          </a:prstGeom>
        </p:spPr>
        <p:txBody>
          <a:bodyPr wrap="square" lIns="0" tIns="83820" rIns="0" bIns="0" rtlCol="0" vert="horz">
            <a:spAutoFit/>
          </a:bodyPr>
          <a:lstStyle/>
          <a:p>
            <a:pPr marL="160655" indent="-148590">
              <a:lnSpc>
                <a:spcPct val="100000"/>
              </a:lnSpc>
              <a:spcBef>
                <a:spcPts val="660"/>
              </a:spcBef>
              <a:buFont typeface="Tahoma"/>
              <a:buChar char="‣"/>
              <a:tabLst>
                <a:tab pos="161290" algn="l"/>
              </a:tabLst>
            </a:pPr>
            <a:r>
              <a:rPr dirty="0" sz="1400" spc="15" i="1">
                <a:latin typeface="Calibri"/>
                <a:cs typeface="Calibri"/>
              </a:rPr>
              <a:t>hash</a:t>
            </a:r>
            <a:r>
              <a:rPr dirty="0" sz="1400" spc="60" i="1">
                <a:latin typeface="Calibri"/>
                <a:cs typeface="Calibri"/>
              </a:rPr>
              <a:t> </a:t>
            </a:r>
            <a:r>
              <a:rPr dirty="0" sz="1400" spc="-10" i="1">
                <a:latin typeface="Calibri"/>
                <a:cs typeface="Calibri"/>
              </a:rPr>
              <a:t>functions</a:t>
            </a:r>
            <a:endParaRPr sz="1400">
              <a:latin typeface="Calibri"/>
              <a:cs typeface="Calibri"/>
            </a:endParaRPr>
          </a:p>
          <a:p>
            <a:pPr marL="160655" indent="-148590">
              <a:lnSpc>
                <a:spcPct val="100000"/>
              </a:lnSpc>
              <a:spcBef>
                <a:spcPts val="555"/>
              </a:spcBef>
              <a:buFont typeface="Tahoma"/>
              <a:buChar char="‣"/>
              <a:tabLst>
                <a:tab pos="161290" algn="l"/>
              </a:tabLst>
            </a:pPr>
            <a:r>
              <a:rPr dirty="0" sz="1400" spc="5" i="1">
                <a:solidFill>
                  <a:srgbClr val="BABABA"/>
                </a:solidFill>
                <a:latin typeface="Calibri"/>
                <a:cs typeface="Calibri"/>
              </a:rPr>
              <a:t>separate</a:t>
            </a:r>
            <a:r>
              <a:rPr dirty="0" sz="1400" spc="45" i="1">
                <a:solidFill>
                  <a:srgbClr val="BABABA"/>
                </a:solidFill>
                <a:latin typeface="Calibri"/>
                <a:cs typeface="Calibri"/>
              </a:rPr>
              <a:t> </a:t>
            </a:r>
            <a:r>
              <a:rPr dirty="0" sz="1400" spc="30" i="1">
                <a:solidFill>
                  <a:srgbClr val="BABABA"/>
                </a:solidFill>
                <a:latin typeface="Calibri"/>
                <a:cs typeface="Calibri"/>
              </a:rPr>
              <a:t>chaining</a:t>
            </a:r>
            <a:endParaRPr sz="1400">
              <a:latin typeface="Calibri"/>
              <a:cs typeface="Calibri"/>
            </a:endParaRPr>
          </a:p>
          <a:p>
            <a:pPr marL="160655" indent="-148590">
              <a:lnSpc>
                <a:spcPct val="100000"/>
              </a:lnSpc>
              <a:spcBef>
                <a:spcPts val="560"/>
              </a:spcBef>
              <a:buFont typeface="Tahoma"/>
              <a:buChar char="‣"/>
              <a:tabLst>
                <a:tab pos="161290" algn="l"/>
              </a:tabLst>
            </a:pPr>
            <a:r>
              <a:rPr dirty="0" sz="1400" spc="20" i="1">
                <a:solidFill>
                  <a:srgbClr val="BABABA"/>
                </a:solidFill>
                <a:latin typeface="Calibri"/>
                <a:cs typeface="Calibri"/>
              </a:rPr>
              <a:t>linear</a:t>
            </a:r>
            <a:r>
              <a:rPr dirty="0" sz="1400" spc="50" i="1">
                <a:solidFill>
                  <a:srgbClr val="BABABA"/>
                </a:solidFill>
                <a:latin typeface="Calibri"/>
                <a:cs typeface="Calibri"/>
              </a:rPr>
              <a:t> </a:t>
            </a:r>
            <a:r>
              <a:rPr dirty="0" sz="1400" spc="35" i="1">
                <a:solidFill>
                  <a:srgbClr val="BABABA"/>
                </a:solidFill>
                <a:latin typeface="Calibri"/>
                <a:cs typeface="Calibri"/>
              </a:rPr>
              <a:t>probing</a:t>
            </a:r>
            <a:endParaRPr sz="1400">
              <a:latin typeface="Calibri"/>
              <a:cs typeface="Calibri"/>
            </a:endParaRPr>
          </a:p>
          <a:p>
            <a:pPr marL="160655" indent="-148590">
              <a:lnSpc>
                <a:spcPct val="100000"/>
              </a:lnSpc>
              <a:spcBef>
                <a:spcPts val="560"/>
              </a:spcBef>
              <a:buFont typeface="Tahoma"/>
              <a:buChar char="‣"/>
              <a:tabLst>
                <a:tab pos="161290" algn="l"/>
              </a:tabLst>
            </a:pPr>
            <a:r>
              <a:rPr dirty="0" sz="1400" spc="-15" i="1">
                <a:solidFill>
                  <a:srgbClr val="BABABA"/>
                </a:solidFill>
                <a:latin typeface="Calibri"/>
                <a:cs typeface="Calibri"/>
              </a:rPr>
              <a:t>context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9213637" y="6485444"/>
            <a:ext cx="1696085" cy="2921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80695" algn="l"/>
              </a:tabLst>
            </a:pPr>
            <a:r>
              <a:rPr dirty="0" sz="1750" spc="70" b="1">
                <a:latin typeface="Century Gothic"/>
                <a:cs typeface="Century Gothic"/>
              </a:rPr>
              <a:t>3.4	</a:t>
            </a:r>
            <a:r>
              <a:rPr dirty="0" sz="1750" spc="25" b="1">
                <a:latin typeface="Century Gothic"/>
                <a:cs typeface="Century Gothic"/>
              </a:rPr>
              <a:t>H</a:t>
            </a:r>
            <a:r>
              <a:rPr dirty="0" sz="1400" spc="25" b="1">
                <a:latin typeface="Century Gothic"/>
                <a:cs typeface="Century Gothic"/>
              </a:rPr>
              <a:t>ASH</a:t>
            </a:r>
            <a:r>
              <a:rPr dirty="0" sz="1400" spc="85" b="1">
                <a:latin typeface="Century Gothic"/>
                <a:cs typeface="Century Gothic"/>
              </a:rPr>
              <a:t> </a:t>
            </a:r>
            <a:r>
              <a:rPr dirty="0" sz="1750" spc="40" b="1">
                <a:latin typeface="Century Gothic"/>
                <a:cs typeface="Century Gothic"/>
              </a:rPr>
              <a:t>T</a:t>
            </a:r>
            <a:r>
              <a:rPr dirty="0" sz="1400" spc="40" b="1">
                <a:latin typeface="Century Gothic"/>
                <a:cs typeface="Century Gothic"/>
              </a:rPr>
              <a:t>ABLES</a:t>
            </a:r>
            <a:endParaRPr sz="14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268503" y="4615831"/>
            <a:ext cx="70485" cy="1111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550" spc="5">
                <a:latin typeface="Lucida Sans"/>
                <a:cs typeface="Lucida Sans"/>
              </a:rPr>
              <a:t>5</a:t>
            </a:r>
            <a:endParaRPr sz="550">
              <a:latin typeface="Lucida Sans"/>
              <a:cs typeface="Lucida San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39997" y="396219"/>
            <a:ext cx="2162175" cy="2247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00" spc="15">
                <a:latin typeface="Arial"/>
                <a:cs typeface="Arial"/>
              </a:rPr>
              <a:t>Computing</a:t>
            </a:r>
            <a:r>
              <a:rPr dirty="0" sz="1300" spc="20">
                <a:latin typeface="Arial"/>
                <a:cs typeface="Arial"/>
              </a:rPr>
              <a:t> </a:t>
            </a:r>
            <a:r>
              <a:rPr dirty="0" sz="1300">
                <a:latin typeface="Arial"/>
                <a:cs typeface="Arial"/>
              </a:rPr>
              <a:t>the</a:t>
            </a:r>
            <a:r>
              <a:rPr dirty="0" sz="1300" spc="20">
                <a:latin typeface="Arial"/>
                <a:cs typeface="Arial"/>
              </a:rPr>
              <a:t> </a:t>
            </a:r>
            <a:r>
              <a:rPr dirty="0" sz="1300" spc="-20">
                <a:latin typeface="Arial"/>
                <a:cs typeface="Arial"/>
              </a:rPr>
              <a:t>hash</a:t>
            </a:r>
            <a:r>
              <a:rPr dirty="0" sz="1300" spc="20">
                <a:latin typeface="Arial"/>
                <a:cs typeface="Arial"/>
              </a:rPr>
              <a:t> </a:t>
            </a:r>
            <a:r>
              <a:rPr dirty="0" sz="1300" spc="5">
                <a:latin typeface="Arial"/>
                <a:cs typeface="Arial"/>
              </a:rPr>
              <a:t>function</a:t>
            </a:r>
            <a:endParaRPr sz="13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39997" y="858294"/>
            <a:ext cx="4859655" cy="1962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100" spc="5">
                <a:solidFill>
                  <a:srgbClr val="005493"/>
                </a:solidFill>
                <a:latin typeface="Lucida Sans"/>
                <a:cs typeface="Lucida Sans"/>
              </a:rPr>
              <a:t>Idealistic</a:t>
            </a:r>
            <a:r>
              <a:rPr dirty="0" sz="1100" spc="10">
                <a:solidFill>
                  <a:srgbClr val="005493"/>
                </a:solidFill>
                <a:latin typeface="Lucida Sans"/>
                <a:cs typeface="Lucida Sans"/>
              </a:rPr>
              <a:t> </a:t>
            </a:r>
            <a:r>
              <a:rPr dirty="0" sz="1100" spc="5">
                <a:solidFill>
                  <a:srgbClr val="005493"/>
                </a:solidFill>
                <a:latin typeface="Lucida Sans"/>
                <a:cs typeface="Lucida Sans"/>
              </a:rPr>
              <a:t>goal. </a:t>
            </a:r>
            <a:r>
              <a:rPr dirty="0" sz="1100" spc="20">
                <a:solidFill>
                  <a:srgbClr val="005493"/>
                </a:solidFill>
                <a:latin typeface="Lucida Sans"/>
                <a:cs typeface="Lucida Sans"/>
              </a:rPr>
              <a:t> </a:t>
            </a:r>
            <a:r>
              <a:rPr dirty="0" sz="1100" spc="10">
                <a:latin typeface="Lucida Sans"/>
                <a:cs typeface="Lucida Sans"/>
              </a:rPr>
              <a:t>Scramble</a:t>
            </a:r>
            <a:r>
              <a:rPr dirty="0" sz="1100" spc="15">
                <a:latin typeface="Lucida Sans"/>
                <a:cs typeface="Lucida Sans"/>
              </a:rPr>
              <a:t> </a:t>
            </a:r>
            <a:r>
              <a:rPr dirty="0" sz="1100" spc="5">
                <a:latin typeface="Lucida Sans"/>
                <a:cs typeface="Lucida Sans"/>
              </a:rPr>
              <a:t>the</a:t>
            </a:r>
            <a:r>
              <a:rPr dirty="0" sz="1100" spc="15">
                <a:latin typeface="Lucida Sans"/>
                <a:cs typeface="Lucida Sans"/>
              </a:rPr>
              <a:t> </a:t>
            </a:r>
            <a:r>
              <a:rPr dirty="0" sz="1100" spc="20">
                <a:latin typeface="Lucida Sans"/>
                <a:cs typeface="Lucida Sans"/>
              </a:rPr>
              <a:t>keys</a:t>
            </a:r>
            <a:r>
              <a:rPr dirty="0" sz="1100" spc="10">
                <a:latin typeface="Lucida Sans"/>
                <a:cs typeface="Lucida Sans"/>
              </a:rPr>
              <a:t> </a:t>
            </a:r>
            <a:r>
              <a:rPr dirty="0" sz="1100" spc="15">
                <a:latin typeface="Lucida Sans"/>
                <a:cs typeface="Lucida Sans"/>
              </a:rPr>
              <a:t>uniformly </a:t>
            </a:r>
            <a:r>
              <a:rPr dirty="0" sz="1100" spc="5">
                <a:latin typeface="Lucida Sans"/>
                <a:cs typeface="Lucida Sans"/>
              </a:rPr>
              <a:t>to</a:t>
            </a:r>
            <a:r>
              <a:rPr dirty="0" sz="1100" spc="10">
                <a:latin typeface="Lucida Sans"/>
                <a:cs typeface="Lucida Sans"/>
              </a:rPr>
              <a:t> </a:t>
            </a:r>
            <a:r>
              <a:rPr dirty="0" sz="1100" spc="5">
                <a:latin typeface="Lucida Sans"/>
                <a:cs typeface="Lucida Sans"/>
              </a:rPr>
              <a:t>produce</a:t>
            </a:r>
            <a:r>
              <a:rPr dirty="0" sz="1100" spc="15">
                <a:latin typeface="Lucida Sans"/>
                <a:cs typeface="Lucida Sans"/>
              </a:rPr>
              <a:t> </a:t>
            </a:r>
            <a:r>
              <a:rPr dirty="0" sz="1100" spc="10">
                <a:latin typeface="Lucida Sans"/>
                <a:cs typeface="Lucida Sans"/>
              </a:rPr>
              <a:t>a</a:t>
            </a:r>
            <a:r>
              <a:rPr dirty="0" sz="1100" spc="15">
                <a:latin typeface="Lucida Sans"/>
                <a:cs typeface="Lucida Sans"/>
              </a:rPr>
              <a:t> </a:t>
            </a:r>
            <a:r>
              <a:rPr dirty="0" sz="1100" spc="5">
                <a:latin typeface="Lucida Sans"/>
                <a:cs typeface="Lucida Sans"/>
              </a:rPr>
              <a:t>table</a:t>
            </a:r>
            <a:r>
              <a:rPr dirty="0" sz="1100" spc="10">
                <a:latin typeface="Lucida Sans"/>
                <a:cs typeface="Lucida Sans"/>
              </a:rPr>
              <a:t> </a:t>
            </a:r>
            <a:r>
              <a:rPr dirty="0" sz="1100" spc="5">
                <a:latin typeface="Lucida Sans"/>
                <a:cs typeface="Lucida Sans"/>
              </a:rPr>
              <a:t>index.</a:t>
            </a:r>
            <a:endParaRPr sz="1100">
              <a:latin typeface="Lucida Sans"/>
              <a:cs typeface="Lucida San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46455" y="994547"/>
            <a:ext cx="1893570" cy="3098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dirty="0" baseline="-12012" sz="2775" spc="22">
                <a:latin typeface="Microsoft JhengHei"/>
                <a:cs typeface="Microsoft JhengHei"/>
              </a:rPr>
              <a:t>・</a:t>
            </a:r>
            <a:r>
              <a:rPr dirty="0" sz="1100" spc="10">
                <a:latin typeface="Lucida Sans"/>
                <a:cs typeface="Lucida Sans"/>
              </a:rPr>
              <a:t>Efficiently</a:t>
            </a:r>
            <a:r>
              <a:rPr dirty="0" sz="1100" spc="-35">
                <a:latin typeface="Lucida Sans"/>
                <a:cs typeface="Lucida Sans"/>
              </a:rPr>
              <a:t> </a:t>
            </a:r>
            <a:r>
              <a:rPr dirty="0" sz="1100" spc="10">
                <a:latin typeface="Lucida Sans"/>
                <a:cs typeface="Lucida Sans"/>
              </a:rPr>
              <a:t>computable.</a:t>
            </a:r>
            <a:endParaRPr sz="1100">
              <a:latin typeface="Lucida Sans"/>
              <a:cs typeface="Lucida San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39997" y="2013481"/>
            <a:ext cx="1579245" cy="1962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100" spc="10">
                <a:solidFill>
                  <a:srgbClr val="005493"/>
                </a:solidFill>
                <a:latin typeface="Lucida Sans"/>
                <a:cs typeface="Lucida Sans"/>
              </a:rPr>
              <a:t>Ex</a:t>
            </a:r>
            <a:r>
              <a:rPr dirty="0" sz="1100" spc="-15">
                <a:solidFill>
                  <a:srgbClr val="005493"/>
                </a:solidFill>
                <a:latin typeface="Lucida Sans"/>
                <a:cs typeface="Lucida Sans"/>
              </a:rPr>
              <a:t> </a:t>
            </a:r>
            <a:r>
              <a:rPr dirty="0" sz="1100" spc="5">
                <a:solidFill>
                  <a:srgbClr val="005493"/>
                </a:solidFill>
                <a:latin typeface="Lucida Sans"/>
                <a:cs typeface="Lucida Sans"/>
              </a:rPr>
              <a:t>1.</a:t>
            </a:r>
            <a:r>
              <a:rPr dirty="0" sz="1100" spc="325">
                <a:solidFill>
                  <a:srgbClr val="005493"/>
                </a:solidFill>
                <a:latin typeface="Lucida Sans"/>
                <a:cs typeface="Lucida Sans"/>
              </a:rPr>
              <a:t> </a:t>
            </a:r>
            <a:r>
              <a:rPr dirty="0" sz="1100" spc="10">
                <a:solidFill>
                  <a:srgbClr val="005493"/>
                </a:solidFill>
                <a:latin typeface="Lucida Sans"/>
                <a:cs typeface="Lucida Sans"/>
              </a:rPr>
              <a:t>Phone</a:t>
            </a:r>
            <a:r>
              <a:rPr dirty="0" sz="1100" spc="-15">
                <a:solidFill>
                  <a:srgbClr val="005493"/>
                </a:solidFill>
                <a:latin typeface="Lucida Sans"/>
                <a:cs typeface="Lucida Sans"/>
              </a:rPr>
              <a:t> </a:t>
            </a:r>
            <a:r>
              <a:rPr dirty="0" sz="1100" spc="10">
                <a:solidFill>
                  <a:srgbClr val="005493"/>
                </a:solidFill>
                <a:latin typeface="Lucida Sans"/>
                <a:cs typeface="Lucida Sans"/>
              </a:rPr>
              <a:t>numbers.</a:t>
            </a:r>
            <a:endParaRPr sz="1100">
              <a:latin typeface="Lucida Sans"/>
              <a:cs typeface="Lucida San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46455" y="2149734"/>
            <a:ext cx="1851025" cy="3098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dirty="0" baseline="-12012" sz="2775" spc="22">
                <a:latin typeface="Microsoft JhengHei"/>
                <a:cs typeface="Microsoft JhengHei"/>
              </a:rPr>
              <a:t>・</a:t>
            </a:r>
            <a:r>
              <a:rPr dirty="0" sz="1100" spc="10">
                <a:latin typeface="Lucida Sans"/>
                <a:cs typeface="Lucida Sans"/>
              </a:rPr>
              <a:t>Bad:</a:t>
            </a:r>
            <a:r>
              <a:rPr dirty="0" sz="1100" spc="340">
                <a:latin typeface="Lucida Sans"/>
                <a:cs typeface="Lucida Sans"/>
              </a:rPr>
              <a:t> </a:t>
            </a:r>
            <a:r>
              <a:rPr dirty="0" sz="1100" spc="5">
                <a:latin typeface="Lucida Sans"/>
                <a:cs typeface="Lucida Sans"/>
              </a:rPr>
              <a:t>first</a:t>
            </a:r>
            <a:r>
              <a:rPr dirty="0" sz="1100" spc="-5">
                <a:latin typeface="Lucida Sans"/>
                <a:cs typeface="Lucida Sans"/>
              </a:rPr>
              <a:t> </a:t>
            </a:r>
            <a:r>
              <a:rPr dirty="0" sz="1100">
                <a:latin typeface="Lucida Sans"/>
                <a:cs typeface="Lucida Sans"/>
              </a:rPr>
              <a:t>three </a:t>
            </a:r>
            <a:r>
              <a:rPr dirty="0" sz="1100" spc="5">
                <a:latin typeface="Lucida Sans"/>
                <a:cs typeface="Lucida Sans"/>
              </a:rPr>
              <a:t>digits.</a:t>
            </a:r>
            <a:endParaRPr sz="1100">
              <a:latin typeface="Lucida Sans"/>
              <a:cs typeface="Lucida San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46455" y="2380771"/>
            <a:ext cx="1974214" cy="3098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dirty="0" baseline="-12012" sz="2775" spc="22">
                <a:latin typeface="Microsoft JhengHei"/>
                <a:cs typeface="Microsoft JhengHei"/>
              </a:rPr>
              <a:t>・</a:t>
            </a:r>
            <a:r>
              <a:rPr dirty="0" sz="1100" spc="5">
                <a:latin typeface="Lucida Sans"/>
                <a:cs typeface="Lucida Sans"/>
              </a:rPr>
              <a:t>Better:</a:t>
            </a:r>
            <a:r>
              <a:rPr dirty="0" sz="1100" spc="350">
                <a:latin typeface="Lucida Sans"/>
                <a:cs typeface="Lucida Sans"/>
              </a:rPr>
              <a:t> </a:t>
            </a:r>
            <a:r>
              <a:rPr dirty="0" sz="1100" spc="5">
                <a:latin typeface="Lucida Sans"/>
                <a:cs typeface="Lucida Sans"/>
              </a:rPr>
              <a:t>last</a:t>
            </a:r>
            <a:r>
              <a:rPr dirty="0" sz="1100">
                <a:latin typeface="Lucida Sans"/>
                <a:cs typeface="Lucida Sans"/>
              </a:rPr>
              <a:t> three</a:t>
            </a:r>
            <a:r>
              <a:rPr dirty="0" sz="1100" spc="5">
                <a:latin typeface="Lucida Sans"/>
                <a:cs typeface="Lucida Sans"/>
              </a:rPr>
              <a:t> digits.</a:t>
            </a:r>
            <a:endParaRPr sz="1100">
              <a:latin typeface="Lucida Sans"/>
              <a:cs typeface="Lucida San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39997" y="2937631"/>
            <a:ext cx="2152015" cy="1962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100" spc="10">
                <a:solidFill>
                  <a:srgbClr val="005493"/>
                </a:solidFill>
                <a:latin typeface="Lucida Sans"/>
                <a:cs typeface="Lucida Sans"/>
              </a:rPr>
              <a:t>Ex</a:t>
            </a:r>
            <a:r>
              <a:rPr dirty="0" sz="1100" spc="-10">
                <a:solidFill>
                  <a:srgbClr val="005493"/>
                </a:solidFill>
                <a:latin typeface="Lucida Sans"/>
                <a:cs typeface="Lucida Sans"/>
              </a:rPr>
              <a:t> </a:t>
            </a:r>
            <a:r>
              <a:rPr dirty="0" sz="1100" spc="5">
                <a:solidFill>
                  <a:srgbClr val="005493"/>
                </a:solidFill>
                <a:latin typeface="Lucida Sans"/>
                <a:cs typeface="Lucida Sans"/>
              </a:rPr>
              <a:t>2.</a:t>
            </a:r>
            <a:r>
              <a:rPr dirty="0" sz="1100" spc="330">
                <a:solidFill>
                  <a:srgbClr val="005493"/>
                </a:solidFill>
                <a:latin typeface="Lucida Sans"/>
                <a:cs typeface="Lucida Sans"/>
              </a:rPr>
              <a:t> </a:t>
            </a:r>
            <a:r>
              <a:rPr dirty="0" sz="1100" spc="10">
                <a:solidFill>
                  <a:srgbClr val="005493"/>
                </a:solidFill>
                <a:latin typeface="Lucida Sans"/>
                <a:cs typeface="Lucida Sans"/>
              </a:rPr>
              <a:t>Social</a:t>
            </a:r>
            <a:r>
              <a:rPr dirty="0" sz="1100" spc="-5">
                <a:solidFill>
                  <a:srgbClr val="005493"/>
                </a:solidFill>
                <a:latin typeface="Lucida Sans"/>
                <a:cs typeface="Lucida Sans"/>
              </a:rPr>
              <a:t> </a:t>
            </a:r>
            <a:r>
              <a:rPr dirty="0" sz="1100" spc="15">
                <a:solidFill>
                  <a:srgbClr val="005493"/>
                </a:solidFill>
                <a:latin typeface="Lucida Sans"/>
                <a:cs typeface="Lucida Sans"/>
              </a:rPr>
              <a:t>Security</a:t>
            </a:r>
            <a:r>
              <a:rPr dirty="0" sz="1100" spc="-10">
                <a:solidFill>
                  <a:srgbClr val="005493"/>
                </a:solidFill>
                <a:latin typeface="Lucida Sans"/>
                <a:cs typeface="Lucida Sans"/>
              </a:rPr>
              <a:t> </a:t>
            </a:r>
            <a:r>
              <a:rPr dirty="0" sz="1100" spc="10">
                <a:solidFill>
                  <a:srgbClr val="005493"/>
                </a:solidFill>
                <a:latin typeface="Lucida Sans"/>
                <a:cs typeface="Lucida Sans"/>
              </a:rPr>
              <a:t>numbers.</a:t>
            </a:r>
            <a:endParaRPr sz="1100">
              <a:latin typeface="Lucida Sans"/>
              <a:cs typeface="Lucida San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46455" y="3073884"/>
            <a:ext cx="1851025" cy="3098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dirty="0" baseline="-12012" sz="2775" spc="22">
                <a:latin typeface="Microsoft JhengHei"/>
                <a:cs typeface="Microsoft JhengHei"/>
              </a:rPr>
              <a:t>・</a:t>
            </a:r>
            <a:r>
              <a:rPr dirty="0" sz="1100" spc="10">
                <a:latin typeface="Lucida Sans"/>
                <a:cs typeface="Lucida Sans"/>
              </a:rPr>
              <a:t>Bad:</a:t>
            </a:r>
            <a:r>
              <a:rPr dirty="0" sz="1100" spc="340">
                <a:latin typeface="Lucida Sans"/>
                <a:cs typeface="Lucida Sans"/>
              </a:rPr>
              <a:t> </a:t>
            </a:r>
            <a:r>
              <a:rPr dirty="0" sz="1100" spc="5">
                <a:latin typeface="Lucida Sans"/>
                <a:cs typeface="Lucida Sans"/>
              </a:rPr>
              <a:t>first</a:t>
            </a:r>
            <a:r>
              <a:rPr dirty="0" sz="1100" spc="-5">
                <a:latin typeface="Lucida Sans"/>
                <a:cs typeface="Lucida Sans"/>
              </a:rPr>
              <a:t> </a:t>
            </a:r>
            <a:r>
              <a:rPr dirty="0" sz="1100">
                <a:latin typeface="Lucida Sans"/>
                <a:cs typeface="Lucida Sans"/>
              </a:rPr>
              <a:t>three </a:t>
            </a:r>
            <a:r>
              <a:rPr dirty="0" sz="1100" spc="5">
                <a:latin typeface="Lucida Sans"/>
                <a:cs typeface="Lucida Sans"/>
              </a:rPr>
              <a:t>digits.</a:t>
            </a:r>
            <a:endParaRPr sz="1100">
              <a:latin typeface="Lucida Sans"/>
              <a:cs typeface="Lucida San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46455" y="3304921"/>
            <a:ext cx="1974214" cy="3098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dirty="0" baseline="-12012" sz="2775" spc="22">
                <a:latin typeface="Microsoft JhengHei"/>
                <a:cs typeface="Microsoft JhengHei"/>
              </a:rPr>
              <a:t>・</a:t>
            </a:r>
            <a:r>
              <a:rPr dirty="0" sz="1100" spc="5">
                <a:latin typeface="Lucida Sans"/>
                <a:cs typeface="Lucida Sans"/>
              </a:rPr>
              <a:t>Better:</a:t>
            </a:r>
            <a:r>
              <a:rPr dirty="0" sz="1100" spc="350">
                <a:latin typeface="Lucida Sans"/>
                <a:cs typeface="Lucida Sans"/>
              </a:rPr>
              <a:t> </a:t>
            </a:r>
            <a:r>
              <a:rPr dirty="0" sz="1100" spc="5">
                <a:latin typeface="Lucida Sans"/>
                <a:cs typeface="Lucida Sans"/>
              </a:rPr>
              <a:t>last</a:t>
            </a:r>
            <a:r>
              <a:rPr dirty="0" sz="1100">
                <a:latin typeface="Lucida Sans"/>
                <a:cs typeface="Lucida Sans"/>
              </a:rPr>
              <a:t> three</a:t>
            </a:r>
            <a:r>
              <a:rPr dirty="0" sz="1100" spc="5">
                <a:latin typeface="Lucida Sans"/>
                <a:cs typeface="Lucida Sans"/>
              </a:rPr>
              <a:t> digits.</a:t>
            </a:r>
            <a:endParaRPr sz="1100">
              <a:latin typeface="Lucida Sans"/>
              <a:cs typeface="Lucida San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39997" y="4323855"/>
            <a:ext cx="1349375" cy="1962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100" spc="10">
                <a:solidFill>
                  <a:srgbClr val="005493"/>
                </a:solidFill>
                <a:latin typeface="Lucida Sans"/>
                <a:cs typeface="Lucida Sans"/>
              </a:rPr>
              <a:t>Practical</a:t>
            </a:r>
            <a:r>
              <a:rPr dirty="0" sz="1100" spc="-75">
                <a:solidFill>
                  <a:srgbClr val="005493"/>
                </a:solidFill>
                <a:latin typeface="Lucida Sans"/>
                <a:cs typeface="Lucida Sans"/>
              </a:rPr>
              <a:t> </a:t>
            </a:r>
            <a:r>
              <a:rPr dirty="0" sz="1100" spc="10">
                <a:solidFill>
                  <a:srgbClr val="005493"/>
                </a:solidFill>
                <a:latin typeface="Lucida Sans"/>
                <a:cs typeface="Lucida Sans"/>
              </a:rPr>
              <a:t>challenge.</a:t>
            </a:r>
            <a:endParaRPr sz="1100">
              <a:latin typeface="Lucida Sans"/>
              <a:cs typeface="Lucida San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198588" y="4323855"/>
            <a:ext cx="2984500" cy="1962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100" spc="10">
                <a:latin typeface="Lucida Sans"/>
                <a:cs typeface="Lucida Sans"/>
              </a:rPr>
              <a:t>Need</a:t>
            </a:r>
            <a:r>
              <a:rPr dirty="0" sz="1100" spc="5">
                <a:latin typeface="Lucida Sans"/>
                <a:cs typeface="Lucida Sans"/>
              </a:rPr>
              <a:t> </a:t>
            </a:r>
            <a:r>
              <a:rPr dirty="0" sz="1100">
                <a:latin typeface="Lucida Sans"/>
                <a:cs typeface="Lucida Sans"/>
              </a:rPr>
              <a:t>different</a:t>
            </a:r>
            <a:r>
              <a:rPr dirty="0" sz="1100" spc="10">
                <a:latin typeface="Lucida Sans"/>
                <a:cs typeface="Lucida Sans"/>
              </a:rPr>
              <a:t> </a:t>
            </a:r>
            <a:r>
              <a:rPr dirty="0" sz="1100" spc="5">
                <a:latin typeface="Lucida Sans"/>
                <a:cs typeface="Lucida Sans"/>
              </a:rPr>
              <a:t>approach</a:t>
            </a:r>
            <a:r>
              <a:rPr dirty="0" sz="1100" spc="10">
                <a:latin typeface="Lucida Sans"/>
                <a:cs typeface="Lucida Sans"/>
              </a:rPr>
              <a:t> </a:t>
            </a:r>
            <a:r>
              <a:rPr dirty="0" sz="1100" spc="5">
                <a:latin typeface="Lucida Sans"/>
                <a:cs typeface="Lucida Sans"/>
              </a:rPr>
              <a:t>for </a:t>
            </a:r>
            <a:r>
              <a:rPr dirty="0" sz="1100" spc="10">
                <a:latin typeface="Lucida Sans"/>
                <a:cs typeface="Lucida Sans"/>
              </a:rPr>
              <a:t>each </a:t>
            </a:r>
            <a:r>
              <a:rPr dirty="0" sz="1100" spc="25">
                <a:latin typeface="Lucida Sans"/>
                <a:cs typeface="Lucida Sans"/>
              </a:rPr>
              <a:t>key</a:t>
            </a:r>
            <a:r>
              <a:rPr dirty="0" sz="1100" spc="10">
                <a:latin typeface="Lucida Sans"/>
                <a:cs typeface="Lucida Sans"/>
              </a:rPr>
              <a:t> </a:t>
            </a:r>
            <a:r>
              <a:rPr dirty="0" sz="1100" spc="15">
                <a:latin typeface="Lucida Sans"/>
                <a:cs typeface="Lucida Sans"/>
              </a:rPr>
              <a:t>type.</a:t>
            </a:r>
            <a:endParaRPr sz="1100">
              <a:latin typeface="Lucida Sans"/>
              <a:cs typeface="Lucida San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46455" y="1225584"/>
            <a:ext cx="4223385" cy="65849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dirty="0" baseline="-12012" sz="2775" spc="22">
                <a:latin typeface="Microsoft JhengHei"/>
                <a:cs typeface="Microsoft JhengHei"/>
              </a:rPr>
              <a:t>・</a:t>
            </a:r>
            <a:r>
              <a:rPr dirty="0" sz="1100" spc="10">
                <a:latin typeface="Lucida Sans"/>
                <a:cs typeface="Lucida Sans"/>
              </a:rPr>
              <a:t>Each</a:t>
            </a:r>
            <a:r>
              <a:rPr dirty="0" sz="1100">
                <a:latin typeface="Lucida Sans"/>
                <a:cs typeface="Lucida Sans"/>
              </a:rPr>
              <a:t> </a:t>
            </a:r>
            <a:r>
              <a:rPr dirty="0" sz="1100" spc="5">
                <a:latin typeface="Lucida Sans"/>
                <a:cs typeface="Lucida Sans"/>
              </a:rPr>
              <a:t>table </a:t>
            </a:r>
            <a:r>
              <a:rPr dirty="0" sz="1100" spc="10">
                <a:latin typeface="Lucida Sans"/>
                <a:cs typeface="Lucida Sans"/>
              </a:rPr>
              <a:t>index</a:t>
            </a:r>
            <a:r>
              <a:rPr dirty="0" sz="1100" spc="5">
                <a:latin typeface="Lucida Sans"/>
                <a:cs typeface="Lucida Sans"/>
              </a:rPr>
              <a:t> </a:t>
            </a:r>
            <a:r>
              <a:rPr dirty="0" sz="1100" spc="15">
                <a:latin typeface="Lucida Sans"/>
                <a:cs typeface="Lucida Sans"/>
              </a:rPr>
              <a:t>equally</a:t>
            </a:r>
            <a:r>
              <a:rPr dirty="0" sz="1100" spc="5">
                <a:latin typeface="Lucida Sans"/>
                <a:cs typeface="Lucida Sans"/>
              </a:rPr>
              <a:t> </a:t>
            </a:r>
            <a:r>
              <a:rPr dirty="0" sz="1100" spc="15">
                <a:latin typeface="Lucida Sans"/>
                <a:cs typeface="Lucida Sans"/>
              </a:rPr>
              <a:t>likely</a:t>
            </a:r>
            <a:r>
              <a:rPr dirty="0" sz="1100" spc="5">
                <a:latin typeface="Lucida Sans"/>
                <a:cs typeface="Lucida Sans"/>
              </a:rPr>
              <a:t> for</a:t>
            </a:r>
            <a:r>
              <a:rPr dirty="0" sz="1100">
                <a:latin typeface="Lucida Sans"/>
                <a:cs typeface="Lucida Sans"/>
              </a:rPr>
              <a:t> </a:t>
            </a:r>
            <a:r>
              <a:rPr dirty="0" sz="1100" spc="10">
                <a:latin typeface="Lucida Sans"/>
                <a:cs typeface="Lucida Sans"/>
              </a:rPr>
              <a:t>each</a:t>
            </a:r>
            <a:r>
              <a:rPr dirty="0" sz="1100" spc="5">
                <a:latin typeface="Lucida Sans"/>
                <a:cs typeface="Lucida Sans"/>
              </a:rPr>
              <a:t> </a:t>
            </a:r>
            <a:r>
              <a:rPr dirty="0" sz="1100" spc="-10">
                <a:latin typeface="Lucida Sans"/>
                <a:cs typeface="Lucida Sans"/>
              </a:rPr>
              <a:t>key.</a:t>
            </a:r>
            <a:endParaRPr sz="1100">
              <a:latin typeface="Lucida Sans"/>
              <a:cs typeface="Lucida Sans"/>
            </a:endParaRPr>
          </a:p>
          <a:p>
            <a:pPr marL="2317750">
              <a:lnSpc>
                <a:spcPct val="100000"/>
              </a:lnSpc>
              <a:spcBef>
                <a:spcPts val="775"/>
              </a:spcBef>
            </a:pPr>
            <a:r>
              <a:rPr dirty="0" sz="750" spc="-5">
                <a:solidFill>
                  <a:srgbClr val="8D3124"/>
                </a:solidFill>
                <a:latin typeface="Lucida Sans"/>
                <a:cs typeface="Lucida Sans"/>
              </a:rPr>
              <a:t>thoroughly</a:t>
            </a:r>
            <a:r>
              <a:rPr dirty="0" sz="750" spc="-20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dirty="0" sz="750" spc="-5">
                <a:solidFill>
                  <a:srgbClr val="8D3124"/>
                </a:solidFill>
                <a:latin typeface="Lucida Sans"/>
                <a:cs typeface="Lucida Sans"/>
              </a:rPr>
              <a:t>researched</a:t>
            </a:r>
            <a:r>
              <a:rPr dirty="0" sz="750" spc="-20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dirty="0" sz="750" spc="-5">
                <a:solidFill>
                  <a:srgbClr val="8D3124"/>
                </a:solidFill>
                <a:latin typeface="Lucida Sans"/>
                <a:cs typeface="Lucida Sans"/>
              </a:rPr>
              <a:t>problem,</a:t>
            </a:r>
            <a:endParaRPr sz="750">
              <a:latin typeface="Lucida Sans"/>
              <a:cs typeface="Lucida Sans"/>
            </a:endParaRPr>
          </a:p>
          <a:p>
            <a:pPr marL="2317750">
              <a:lnSpc>
                <a:spcPct val="100000"/>
              </a:lnSpc>
              <a:spcBef>
                <a:spcPts val="170"/>
              </a:spcBef>
            </a:pPr>
            <a:r>
              <a:rPr dirty="0" sz="750" spc="-5">
                <a:solidFill>
                  <a:srgbClr val="8D3124"/>
                </a:solidFill>
                <a:latin typeface="Lucida Sans"/>
                <a:cs typeface="Lucida Sans"/>
              </a:rPr>
              <a:t>still</a:t>
            </a:r>
            <a:r>
              <a:rPr dirty="0" sz="750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dirty="0" sz="750" spc="-5">
                <a:solidFill>
                  <a:srgbClr val="8D3124"/>
                </a:solidFill>
                <a:latin typeface="Lucida Sans"/>
                <a:cs typeface="Lucida Sans"/>
              </a:rPr>
              <a:t>problematic</a:t>
            </a:r>
            <a:r>
              <a:rPr dirty="0" sz="750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dirty="0" sz="750" spc="-5">
                <a:solidFill>
                  <a:srgbClr val="8D3124"/>
                </a:solidFill>
                <a:latin typeface="Lucida Sans"/>
                <a:cs typeface="Lucida Sans"/>
              </a:rPr>
              <a:t>in</a:t>
            </a:r>
            <a:r>
              <a:rPr dirty="0" sz="750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dirty="0" sz="750" spc="-5">
                <a:solidFill>
                  <a:srgbClr val="8D3124"/>
                </a:solidFill>
                <a:latin typeface="Lucida Sans"/>
                <a:cs typeface="Lucida Sans"/>
              </a:rPr>
              <a:t>practical</a:t>
            </a:r>
            <a:r>
              <a:rPr dirty="0" sz="750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dirty="0" sz="750" spc="-5">
                <a:solidFill>
                  <a:srgbClr val="8D3124"/>
                </a:solidFill>
                <a:latin typeface="Lucida Sans"/>
                <a:cs typeface="Lucida Sans"/>
              </a:rPr>
              <a:t>applications</a:t>
            </a:r>
            <a:endParaRPr sz="750">
              <a:latin typeface="Lucida Sans"/>
              <a:cs typeface="Lucida Sans"/>
            </a:endParaRPr>
          </a:p>
        </p:txBody>
      </p:sp>
      <p:pic>
        <p:nvPicPr>
          <p:cNvPr id="15" name="object 1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21937" y="1554118"/>
            <a:ext cx="231077" cy="184494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3201368" y="3143393"/>
            <a:ext cx="2722880" cy="298450"/>
          </a:xfrm>
          <a:prstGeom prst="rect">
            <a:avLst/>
          </a:prstGeom>
        </p:spPr>
        <p:txBody>
          <a:bodyPr wrap="square" lIns="0" tIns="342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dirty="0" sz="750" spc="-5">
                <a:solidFill>
                  <a:srgbClr val="8D3124"/>
                </a:solidFill>
                <a:latin typeface="Lucida Sans"/>
                <a:cs typeface="Lucida Sans"/>
              </a:rPr>
              <a:t>573</a:t>
            </a:r>
            <a:r>
              <a:rPr dirty="0" sz="750" spc="-10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dirty="0" sz="750" spc="-5">
                <a:solidFill>
                  <a:srgbClr val="8D3124"/>
                </a:solidFill>
                <a:latin typeface="Lucida Sans"/>
                <a:cs typeface="Lucida Sans"/>
              </a:rPr>
              <a:t>=</a:t>
            </a:r>
            <a:r>
              <a:rPr dirty="0" sz="750" spc="-10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dirty="0" sz="750" spc="-5">
                <a:solidFill>
                  <a:srgbClr val="8D3124"/>
                </a:solidFill>
                <a:latin typeface="Lucida Sans"/>
                <a:cs typeface="Lucida Sans"/>
              </a:rPr>
              <a:t>California,</a:t>
            </a:r>
            <a:r>
              <a:rPr dirty="0" sz="750" spc="-10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dirty="0" sz="750" spc="-5">
                <a:solidFill>
                  <a:srgbClr val="8D3124"/>
                </a:solidFill>
                <a:latin typeface="Lucida Sans"/>
                <a:cs typeface="Lucida Sans"/>
              </a:rPr>
              <a:t>574 =</a:t>
            </a:r>
            <a:r>
              <a:rPr dirty="0" sz="750" spc="-10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dirty="0" sz="750" spc="-5">
                <a:solidFill>
                  <a:srgbClr val="8D3124"/>
                </a:solidFill>
                <a:latin typeface="Lucida Sans"/>
                <a:cs typeface="Lucida Sans"/>
              </a:rPr>
              <a:t>Alaska</a:t>
            </a:r>
            <a:endParaRPr sz="750">
              <a:latin typeface="Lucida Sans"/>
              <a:cs typeface="Lucida Sans"/>
            </a:endParaRPr>
          </a:p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dirty="0" sz="750" spc="-5">
                <a:solidFill>
                  <a:srgbClr val="8D3124"/>
                </a:solidFill>
                <a:latin typeface="Lucida Sans"/>
                <a:cs typeface="Lucida Sans"/>
              </a:rPr>
              <a:t>(assigned in chronological</a:t>
            </a:r>
            <a:r>
              <a:rPr dirty="0" sz="750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dirty="0" sz="750" spc="-5">
                <a:solidFill>
                  <a:srgbClr val="8D3124"/>
                </a:solidFill>
                <a:latin typeface="Lucida Sans"/>
                <a:cs typeface="Lucida Sans"/>
              </a:rPr>
              <a:t>order </a:t>
            </a:r>
            <a:r>
              <a:rPr dirty="0" sz="750" spc="5">
                <a:solidFill>
                  <a:srgbClr val="8D3124"/>
                </a:solidFill>
                <a:latin typeface="Lucida Sans"/>
                <a:cs typeface="Lucida Sans"/>
              </a:rPr>
              <a:t>within</a:t>
            </a:r>
            <a:r>
              <a:rPr dirty="0" sz="750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dirty="0" sz="750" spc="-5">
                <a:solidFill>
                  <a:srgbClr val="8D3124"/>
                </a:solidFill>
                <a:latin typeface="Lucida Sans"/>
                <a:cs typeface="Lucida Sans"/>
              </a:rPr>
              <a:t>geographic region)</a:t>
            </a:r>
            <a:endParaRPr sz="750">
              <a:latin typeface="Lucida Sans"/>
              <a:cs typeface="Lucida Sans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2745411" y="3247726"/>
            <a:ext cx="375920" cy="57150"/>
            <a:chOff x="2745411" y="3247726"/>
            <a:chExt cx="375920" cy="57150"/>
          </a:xfrm>
        </p:grpSpPr>
        <p:sp>
          <p:nvSpPr>
            <p:cNvPr id="18" name="object 18"/>
            <p:cNvSpPr/>
            <p:nvPr/>
          </p:nvSpPr>
          <p:spPr>
            <a:xfrm>
              <a:off x="2782140" y="3276159"/>
              <a:ext cx="339090" cy="635"/>
            </a:xfrm>
            <a:custGeom>
              <a:avLst/>
              <a:gdLst/>
              <a:ahLst/>
              <a:cxnLst/>
              <a:rect l="l" t="t" r="r" b="b"/>
              <a:pathLst>
                <a:path w="339089" h="635">
                  <a:moveTo>
                    <a:pt x="0" y="0"/>
                  </a:moveTo>
                  <a:lnTo>
                    <a:pt x="5924" y="0"/>
                  </a:lnTo>
                  <a:lnTo>
                    <a:pt x="339083" y="53"/>
                  </a:lnTo>
                </a:path>
              </a:pathLst>
            </a:custGeom>
            <a:ln w="11848">
              <a:solidFill>
                <a:srgbClr val="8D312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2745411" y="3247726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>
                  <a:moveTo>
                    <a:pt x="56874" y="0"/>
                  </a:moveTo>
                  <a:lnTo>
                    <a:pt x="0" y="28426"/>
                  </a:lnTo>
                  <a:lnTo>
                    <a:pt x="56866" y="56870"/>
                  </a:lnTo>
                  <a:lnTo>
                    <a:pt x="42656" y="28426"/>
                  </a:lnTo>
                  <a:lnTo>
                    <a:pt x="56874" y="0"/>
                  </a:lnTo>
                  <a:close/>
                </a:path>
              </a:pathLst>
            </a:custGeom>
            <a:solidFill>
              <a:srgbClr val="8D312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/>
          <p:cNvSpPr/>
          <p:nvPr/>
        </p:nvSpPr>
        <p:spPr>
          <a:xfrm>
            <a:off x="5434923" y="1641119"/>
            <a:ext cx="592455" cy="592455"/>
          </a:xfrm>
          <a:custGeom>
            <a:avLst/>
            <a:gdLst/>
            <a:ahLst/>
            <a:cxnLst/>
            <a:rect l="l" t="t" r="r" b="b"/>
            <a:pathLst>
              <a:path w="592454" h="592455">
                <a:moveTo>
                  <a:pt x="0" y="0"/>
                </a:moveTo>
                <a:lnTo>
                  <a:pt x="592403" y="0"/>
                </a:lnTo>
                <a:lnTo>
                  <a:pt x="592403" y="592403"/>
                </a:lnTo>
                <a:lnTo>
                  <a:pt x="0" y="59240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5634435" y="1247042"/>
            <a:ext cx="196215" cy="1397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50" spc="5" b="1">
                <a:latin typeface="Tahoma"/>
                <a:cs typeface="Tahoma"/>
              </a:rPr>
              <a:t>key</a:t>
            </a:r>
            <a:endParaRPr sz="750">
              <a:latin typeface="Tahoma"/>
              <a:cs typeface="Tahoma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5701017" y="1417649"/>
            <a:ext cx="57150" cy="204470"/>
            <a:chOff x="5701017" y="1417649"/>
            <a:chExt cx="57150" cy="204470"/>
          </a:xfrm>
        </p:grpSpPr>
        <p:sp>
          <p:nvSpPr>
            <p:cNvPr id="23" name="object 23"/>
            <p:cNvSpPr/>
            <p:nvPr/>
          </p:nvSpPr>
          <p:spPr>
            <a:xfrm>
              <a:off x="5729430" y="1423681"/>
              <a:ext cx="635" cy="161925"/>
            </a:xfrm>
            <a:custGeom>
              <a:avLst/>
              <a:gdLst/>
              <a:ahLst/>
              <a:cxnLst/>
              <a:rect l="l" t="t" r="r" b="b"/>
              <a:pathLst>
                <a:path w="635" h="161925">
                  <a:moveTo>
                    <a:pt x="26" y="161303"/>
                  </a:moveTo>
                  <a:lnTo>
                    <a:pt x="24" y="155379"/>
                  </a:lnTo>
                  <a:lnTo>
                    <a:pt x="0" y="0"/>
                  </a:lnTo>
                </a:path>
              </a:pathLst>
            </a:custGeom>
            <a:ln w="118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5701017" y="1564838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>
                  <a:moveTo>
                    <a:pt x="0" y="9"/>
                  </a:moveTo>
                  <a:lnTo>
                    <a:pt x="28444" y="56875"/>
                  </a:lnTo>
                  <a:lnTo>
                    <a:pt x="49762" y="14222"/>
                  </a:lnTo>
                  <a:lnTo>
                    <a:pt x="28437" y="14222"/>
                  </a:lnTo>
                  <a:lnTo>
                    <a:pt x="0" y="9"/>
                  </a:lnTo>
                  <a:close/>
                </a:path>
                <a:path w="57150" h="57150">
                  <a:moveTo>
                    <a:pt x="56870" y="0"/>
                  </a:moveTo>
                  <a:lnTo>
                    <a:pt x="28437" y="14222"/>
                  </a:lnTo>
                  <a:lnTo>
                    <a:pt x="49762" y="14222"/>
                  </a:lnTo>
                  <a:lnTo>
                    <a:pt x="5687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/>
          <p:cNvSpPr txBox="1"/>
          <p:nvPr/>
        </p:nvSpPr>
        <p:spPr>
          <a:xfrm>
            <a:off x="5585902" y="2444882"/>
            <a:ext cx="292735" cy="2984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11430">
              <a:lnSpc>
                <a:spcPct val="119200"/>
              </a:lnSpc>
              <a:spcBef>
                <a:spcPts val="100"/>
              </a:spcBef>
            </a:pPr>
            <a:r>
              <a:rPr dirty="0" sz="750" b="1">
                <a:latin typeface="Tahoma"/>
                <a:cs typeface="Tahoma"/>
              </a:rPr>
              <a:t>ta</a:t>
            </a:r>
            <a:r>
              <a:rPr dirty="0" sz="750" spc="-5" b="1">
                <a:latin typeface="Tahoma"/>
                <a:cs typeface="Tahoma"/>
              </a:rPr>
              <a:t>b</a:t>
            </a:r>
            <a:r>
              <a:rPr dirty="0" sz="750" b="1">
                <a:latin typeface="Tahoma"/>
                <a:cs typeface="Tahoma"/>
              </a:rPr>
              <a:t>le  </a:t>
            </a:r>
            <a:r>
              <a:rPr dirty="0" sz="750" spc="5" b="1">
                <a:latin typeface="Tahoma"/>
                <a:cs typeface="Tahoma"/>
              </a:rPr>
              <a:t>i</a:t>
            </a:r>
            <a:r>
              <a:rPr dirty="0" sz="750" spc="10" b="1">
                <a:latin typeface="Tahoma"/>
                <a:cs typeface="Tahoma"/>
              </a:rPr>
              <a:t>n</a:t>
            </a:r>
            <a:r>
              <a:rPr dirty="0" sz="750" spc="15" b="1">
                <a:latin typeface="Tahoma"/>
                <a:cs typeface="Tahoma"/>
              </a:rPr>
              <a:t>d</a:t>
            </a:r>
            <a:r>
              <a:rPr dirty="0" sz="750" spc="-15" b="1">
                <a:latin typeface="Tahoma"/>
                <a:cs typeface="Tahoma"/>
              </a:rPr>
              <a:t>ex</a:t>
            </a:r>
            <a:endParaRPr sz="750">
              <a:latin typeface="Tahoma"/>
              <a:cs typeface="Tahoma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5701017" y="2253046"/>
            <a:ext cx="57150" cy="198120"/>
            <a:chOff x="5701017" y="2253046"/>
            <a:chExt cx="57150" cy="198120"/>
          </a:xfrm>
        </p:grpSpPr>
        <p:sp>
          <p:nvSpPr>
            <p:cNvPr id="27" name="object 27"/>
            <p:cNvSpPr/>
            <p:nvPr/>
          </p:nvSpPr>
          <p:spPr>
            <a:xfrm>
              <a:off x="5729430" y="2253046"/>
              <a:ext cx="635" cy="161925"/>
            </a:xfrm>
            <a:custGeom>
              <a:avLst/>
              <a:gdLst/>
              <a:ahLst/>
              <a:cxnLst/>
              <a:rect l="l" t="t" r="r" b="b"/>
              <a:pathLst>
                <a:path w="635" h="161925">
                  <a:moveTo>
                    <a:pt x="26" y="161303"/>
                  </a:moveTo>
                  <a:lnTo>
                    <a:pt x="24" y="155379"/>
                  </a:lnTo>
                  <a:lnTo>
                    <a:pt x="0" y="0"/>
                  </a:lnTo>
                </a:path>
              </a:pathLst>
            </a:custGeom>
            <a:ln w="118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5701017" y="2394203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>
                  <a:moveTo>
                    <a:pt x="0" y="9"/>
                  </a:moveTo>
                  <a:lnTo>
                    <a:pt x="28444" y="56875"/>
                  </a:lnTo>
                  <a:lnTo>
                    <a:pt x="49762" y="14222"/>
                  </a:lnTo>
                  <a:lnTo>
                    <a:pt x="28437" y="14222"/>
                  </a:lnTo>
                  <a:lnTo>
                    <a:pt x="0" y="9"/>
                  </a:lnTo>
                  <a:close/>
                </a:path>
                <a:path w="57150" h="57150">
                  <a:moveTo>
                    <a:pt x="56870" y="0"/>
                  </a:moveTo>
                  <a:lnTo>
                    <a:pt x="28437" y="14222"/>
                  </a:lnTo>
                  <a:lnTo>
                    <a:pt x="49762" y="14222"/>
                  </a:lnTo>
                  <a:lnTo>
                    <a:pt x="5687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9" name="object 29"/>
          <p:cNvGrpSpPr/>
          <p:nvPr/>
        </p:nvGrpSpPr>
        <p:grpSpPr>
          <a:xfrm>
            <a:off x="6592379" y="237122"/>
            <a:ext cx="6066790" cy="4549775"/>
            <a:chOff x="6592379" y="237122"/>
            <a:chExt cx="6066790" cy="4549775"/>
          </a:xfrm>
        </p:grpSpPr>
        <p:sp>
          <p:nvSpPr>
            <p:cNvPr id="30" name="object 30"/>
            <p:cNvSpPr/>
            <p:nvPr/>
          </p:nvSpPr>
          <p:spPr>
            <a:xfrm>
              <a:off x="6592379" y="237122"/>
              <a:ext cx="6066790" cy="4549775"/>
            </a:xfrm>
            <a:custGeom>
              <a:avLst/>
              <a:gdLst/>
              <a:ahLst/>
              <a:cxnLst/>
              <a:rect l="l" t="t" r="r" b="b"/>
              <a:pathLst>
                <a:path w="6066790" h="4549775">
                  <a:moveTo>
                    <a:pt x="0" y="0"/>
                  </a:moveTo>
                  <a:lnTo>
                    <a:pt x="6066212" y="0"/>
                  </a:lnTo>
                  <a:lnTo>
                    <a:pt x="6066212" y="4549659"/>
                  </a:lnTo>
                  <a:lnTo>
                    <a:pt x="0" y="45496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6977442" y="699147"/>
              <a:ext cx="5302250" cy="635"/>
            </a:xfrm>
            <a:custGeom>
              <a:avLst/>
              <a:gdLst/>
              <a:ahLst/>
              <a:cxnLst/>
              <a:rect l="l" t="t" r="r" b="b"/>
              <a:pathLst>
                <a:path w="5302250" h="634">
                  <a:moveTo>
                    <a:pt x="0" y="49"/>
                  </a:moveTo>
                  <a:lnTo>
                    <a:pt x="5302012" y="0"/>
                  </a:lnTo>
                </a:path>
              </a:pathLst>
            </a:custGeom>
            <a:ln w="59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" name="object 32"/>
          <p:cNvSpPr txBox="1"/>
          <p:nvPr/>
        </p:nvSpPr>
        <p:spPr>
          <a:xfrm>
            <a:off x="12527405" y="4615831"/>
            <a:ext cx="57785" cy="1111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dirty="0" sz="550" spc="5">
                <a:latin typeface="Lucida Sans"/>
                <a:cs typeface="Lucida Sans"/>
              </a:rPr>
              <a:t>6</a:t>
            </a:r>
            <a:endParaRPr sz="550">
              <a:latin typeface="Lucida Sans"/>
              <a:cs typeface="Lucida Sans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998899" y="396219"/>
            <a:ext cx="2233295" cy="2247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dirty="0" sz="1300" spc="5">
                <a:latin typeface="Arial"/>
                <a:cs typeface="Arial"/>
              </a:rPr>
              <a:t>Java’s</a:t>
            </a:r>
            <a:r>
              <a:rPr dirty="0" sz="1300" spc="25">
                <a:latin typeface="Arial"/>
                <a:cs typeface="Arial"/>
              </a:rPr>
              <a:t> </a:t>
            </a:r>
            <a:r>
              <a:rPr dirty="0" sz="1300" spc="-20">
                <a:latin typeface="Arial"/>
                <a:cs typeface="Arial"/>
              </a:rPr>
              <a:t>hash</a:t>
            </a:r>
            <a:r>
              <a:rPr dirty="0" sz="1300" spc="30">
                <a:latin typeface="Arial"/>
                <a:cs typeface="Arial"/>
              </a:rPr>
              <a:t> </a:t>
            </a:r>
            <a:r>
              <a:rPr dirty="0" sz="1300" spc="20">
                <a:latin typeface="Arial"/>
                <a:cs typeface="Arial"/>
              </a:rPr>
              <a:t>code</a:t>
            </a:r>
            <a:r>
              <a:rPr dirty="0" sz="1300" spc="30">
                <a:latin typeface="Arial"/>
                <a:cs typeface="Arial"/>
              </a:rPr>
              <a:t> </a:t>
            </a:r>
            <a:r>
              <a:rPr dirty="0" sz="1300" spc="-10">
                <a:latin typeface="Arial"/>
                <a:cs typeface="Arial"/>
              </a:rPr>
              <a:t>conventions</a:t>
            </a:r>
            <a:endParaRPr sz="130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6998899" y="858294"/>
            <a:ext cx="4928235" cy="1962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dirty="0" sz="1100" spc="5">
                <a:latin typeface="Lucida Sans"/>
                <a:cs typeface="Lucida Sans"/>
              </a:rPr>
              <a:t>All </a:t>
            </a:r>
            <a:r>
              <a:rPr dirty="0" sz="1100" spc="20">
                <a:latin typeface="Lucida Sans"/>
                <a:cs typeface="Lucida Sans"/>
              </a:rPr>
              <a:t>Java</a:t>
            </a:r>
            <a:r>
              <a:rPr dirty="0" sz="1100" spc="10">
                <a:latin typeface="Lucida Sans"/>
                <a:cs typeface="Lucida Sans"/>
              </a:rPr>
              <a:t> classes </a:t>
            </a:r>
            <a:r>
              <a:rPr dirty="0" sz="1100" spc="5">
                <a:latin typeface="Lucida Sans"/>
                <a:cs typeface="Lucida Sans"/>
              </a:rPr>
              <a:t>inherit</a:t>
            </a:r>
            <a:r>
              <a:rPr dirty="0" sz="1100" spc="10">
                <a:latin typeface="Lucida Sans"/>
                <a:cs typeface="Lucida Sans"/>
              </a:rPr>
              <a:t> a method </a:t>
            </a:r>
            <a:r>
              <a:rPr dirty="0" sz="900" spc="15">
                <a:latin typeface="Lucida Sans Typewriter"/>
                <a:cs typeface="Lucida Sans Typewriter"/>
              </a:rPr>
              <a:t>hashCode()</a:t>
            </a:r>
            <a:r>
              <a:rPr dirty="0" sz="1100" spc="15">
                <a:latin typeface="Lucida Sans"/>
                <a:cs typeface="Lucida Sans"/>
              </a:rPr>
              <a:t>,</a:t>
            </a:r>
            <a:r>
              <a:rPr dirty="0" sz="1100" spc="10">
                <a:latin typeface="Lucida Sans"/>
                <a:cs typeface="Lucida Sans"/>
              </a:rPr>
              <a:t> </a:t>
            </a:r>
            <a:r>
              <a:rPr dirty="0" sz="1100" spc="25">
                <a:latin typeface="Lucida Sans"/>
                <a:cs typeface="Lucida Sans"/>
              </a:rPr>
              <a:t>which</a:t>
            </a:r>
            <a:r>
              <a:rPr dirty="0" sz="1100" spc="10">
                <a:latin typeface="Lucida Sans"/>
                <a:cs typeface="Lucida Sans"/>
              </a:rPr>
              <a:t> </a:t>
            </a:r>
            <a:r>
              <a:rPr dirty="0" sz="1100" spc="5">
                <a:latin typeface="Lucida Sans"/>
                <a:cs typeface="Lucida Sans"/>
              </a:rPr>
              <a:t>returns</a:t>
            </a:r>
            <a:r>
              <a:rPr dirty="0" sz="1100" spc="10">
                <a:latin typeface="Lucida Sans"/>
                <a:cs typeface="Lucida Sans"/>
              </a:rPr>
              <a:t> a </a:t>
            </a:r>
            <a:r>
              <a:rPr dirty="0" sz="1100" spc="5">
                <a:latin typeface="Lucida Sans"/>
                <a:cs typeface="Lucida Sans"/>
              </a:rPr>
              <a:t>32-bit</a:t>
            </a:r>
            <a:r>
              <a:rPr dirty="0" sz="1100" spc="10">
                <a:latin typeface="Lucida Sans"/>
                <a:cs typeface="Lucida Sans"/>
              </a:rPr>
              <a:t> </a:t>
            </a:r>
            <a:r>
              <a:rPr dirty="0" sz="900" spc="15">
                <a:latin typeface="Lucida Sans Typewriter"/>
                <a:cs typeface="Lucida Sans Typewriter"/>
              </a:rPr>
              <a:t>int</a:t>
            </a:r>
            <a:r>
              <a:rPr dirty="0" sz="1100" spc="15">
                <a:latin typeface="Lucida Sans"/>
                <a:cs typeface="Lucida Sans"/>
              </a:rPr>
              <a:t>.</a:t>
            </a:r>
            <a:endParaRPr sz="1100">
              <a:latin typeface="Lucida Sans"/>
              <a:cs typeface="Lucida Sans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6998899" y="1490980"/>
            <a:ext cx="4932680" cy="487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R="5080">
              <a:lnSpc>
                <a:spcPct val="137800"/>
              </a:lnSpc>
              <a:spcBef>
                <a:spcPts val="95"/>
              </a:spcBef>
              <a:tabLst>
                <a:tab pos="1297305" algn="l"/>
              </a:tabLst>
            </a:pPr>
            <a:r>
              <a:rPr dirty="0" sz="1100" spc="5">
                <a:solidFill>
                  <a:srgbClr val="005493"/>
                </a:solidFill>
                <a:latin typeface="Lucida Sans"/>
                <a:cs typeface="Lucida Sans"/>
              </a:rPr>
              <a:t>Requirement.</a:t>
            </a:r>
            <a:r>
              <a:rPr dirty="0" sz="1100" spc="20">
                <a:solidFill>
                  <a:srgbClr val="005493"/>
                </a:solidFill>
                <a:latin typeface="Lucida Sans"/>
                <a:cs typeface="Lucida Sans"/>
              </a:rPr>
              <a:t> </a:t>
            </a:r>
            <a:r>
              <a:rPr dirty="0" sz="1100" spc="5">
                <a:latin typeface="Lucida Sans"/>
                <a:cs typeface="Lucida Sans"/>
              </a:rPr>
              <a:t>If</a:t>
            </a:r>
            <a:r>
              <a:rPr dirty="0" sz="1100" spc="10">
                <a:latin typeface="Lucida Sans"/>
                <a:cs typeface="Lucida Sans"/>
              </a:rPr>
              <a:t> </a:t>
            </a:r>
            <a:r>
              <a:rPr dirty="0" sz="900" spc="15">
                <a:latin typeface="Lucida Sans Typewriter"/>
                <a:cs typeface="Lucida Sans Typewriter"/>
              </a:rPr>
              <a:t>x.equals(y)</a:t>
            </a:r>
            <a:r>
              <a:rPr dirty="0" sz="1100" spc="15">
                <a:latin typeface="Lucida Sans"/>
                <a:cs typeface="Lucida Sans"/>
              </a:rPr>
              <a:t>,</a:t>
            </a:r>
            <a:r>
              <a:rPr dirty="0" sz="1100" spc="10">
                <a:latin typeface="Lucida Sans"/>
                <a:cs typeface="Lucida Sans"/>
              </a:rPr>
              <a:t> then </a:t>
            </a:r>
            <a:r>
              <a:rPr dirty="0" sz="900" spc="15">
                <a:latin typeface="Lucida Sans Typewriter"/>
                <a:cs typeface="Lucida Sans Typewriter"/>
              </a:rPr>
              <a:t>(x.hashCode()</a:t>
            </a:r>
            <a:r>
              <a:rPr dirty="0" sz="900" spc="25">
                <a:latin typeface="Lucida Sans Typewriter"/>
                <a:cs typeface="Lucida Sans Typewriter"/>
              </a:rPr>
              <a:t> </a:t>
            </a:r>
            <a:r>
              <a:rPr dirty="0" sz="900" spc="15">
                <a:latin typeface="Lucida Sans Typewriter"/>
                <a:cs typeface="Lucida Sans Typewriter"/>
              </a:rPr>
              <a:t>==</a:t>
            </a:r>
            <a:r>
              <a:rPr dirty="0" sz="900" spc="25">
                <a:latin typeface="Lucida Sans Typewriter"/>
                <a:cs typeface="Lucida Sans Typewriter"/>
              </a:rPr>
              <a:t> </a:t>
            </a:r>
            <a:r>
              <a:rPr dirty="0" sz="900" spc="15">
                <a:latin typeface="Lucida Sans Typewriter"/>
                <a:cs typeface="Lucida Sans Typewriter"/>
              </a:rPr>
              <a:t>y.hashCode())</a:t>
            </a:r>
            <a:r>
              <a:rPr dirty="0" sz="1100" spc="15">
                <a:latin typeface="Lucida Sans"/>
                <a:cs typeface="Lucida Sans"/>
              </a:rPr>
              <a:t>. </a:t>
            </a:r>
            <a:r>
              <a:rPr dirty="0" sz="1100" spc="20">
                <a:latin typeface="Lucida Sans"/>
                <a:cs typeface="Lucida Sans"/>
              </a:rPr>
              <a:t> </a:t>
            </a:r>
            <a:r>
              <a:rPr dirty="0" sz="1100" spc="15">
                <a:solidFill>
                  <a:srgbClr val="005493"/>
                </a:solidFill>
                <a:latin typeface="Lucida Sans"/>
                <a:cs typeface="Lucida Sans"/>
              </a:rPr>
              <a:t>Highly</a:t>
            </a:r>
            <a:r>
              <a:rPr dirty="0" sz="1100" spc="25">
                <a:solidFill>
                  <a:srgbClr val="005493"/>
                </a:solidFill>
                <a:latin typeface="Lucida Sans"/>
                <a:cs typeface="Lucida Sans"/>
              </a:rPr>
              <a:t> </a:t>
            </a:r>
            <a:r>
              <a:rPr dirty="0" sz="1100" spc="5">
                <a:solidFill>
                  <a:srgbClr val="005493"/>
                </a:solidFill>
                <a:latin typeface="Lucida Sans"/>
                <a:cs typeface="Lucida Sans"/>
              </a:rPr>
              <a:t>desirable.	</a:t>
            </a:r>
            <a:r>
              <a:rPr dirty="0" sz="1100" spc="5">
                <a:latin typeface="Lucida Sans"/>
                <a:cs typeface="Lucida Sans"/>
              </a:rPr>
              <a:t>If</a:t>
            </a:r>
            <a:r>
              <a:rPr dirty="0" sz="1100" spc="15">
                <a:latin typeface="Lucida Sans"/>
                <a:cs typeface="Lucida Sans"/>
              </a:rPr>
              <a:t> </a:t>
            </a:r>
            <a:r>
              <a:rPr dirty="0" sz="900" spc="15">
                <a:latin typeface="Lucida Sans Typewriter"/>
                <a:cs typeface="Lucida Sans Typewriter"/>
              </a:rPr>
              <a:t>!x.equals(y)</a:t>
            </a:r>
            <a:r>
              <a:rPr dirty="0" sz="1100" spc="15">
                <a:latin typeface="Lucida Sans"/>
                <a:cs typeface="Lucida Sans"/>
              </a:rPr>
              <a:t>, </a:t>
            </a:r>
            <a:r>
              <a:rPr dirty="0" sz="1100" spc="10">
                <a:latin typeface="Lucida Sans"/>
                <a:cs typeface="Lucida Sans"/>
              </a:rPr>
              <a:t>then </a:t>
            </a:r>
            <a:r>
              <a:rPr dirty="0" sz="900" spc="15">
                <a:latin typeface="Lucida Sans Typewriter"/>
                <a:cs typeface="Lucida Sans Typewriter"/>
              </a:rPr>
              <a:t>(x.hashCode()</a:t>
            </a:r>
            <a:r>
              <a:rPr dirty="0" sz="900" spc="30">
                <a:latin typeface="Lucida Sans Typewriter"/>
                <a:cs typeface="Lucida Sans Typewriter"/>
              </a:rPr>
              <a:t> </a:t>
            </a:r>
            <a:r>
              <a:rPr dirty="0" sz="900" spc="15">
                <a:latin typeface="Lucida Sans Typewriter"/>
                <a:cs typeface="Lucida Sans Typewriter"/>
              </a:rPr>
              <a:t>!=</a:t>
            </a:r>
            <a:r>
              <a:rPr dirty="0" sz="900" spc="30">
                <a:latin typeface="Lucida Sans Typewriter"/>
                <a:cs typeface="Lucida Sans Typewriter"/>
              </a:rPr>
              <a:t> </a:t>
            </a:r>
            <a:r>
              <a:rPr dirty="0" sz="900" spc="15">
                <a:latin typeface="Lucida Sans Typewriter"/>
                <a:cs typeface="Lucida Sans Typewriter"/>
              </a:rPr>
              <a:t>y.hashCode())</a:t>
            </a:r>
            <a:r>
              <a:rPr dirty="0" sz="1100" spc="15">
                <a:latin typeface="Lucida Sans"/>
                <a:cs typeface="Lucida Sans"/>
              </a:rPr>
              <a:t>.</a:t>
            </a:r>
            <a:endParaRPr sz="1100">
              <a:latin typeface="Lucida Sans"/>
              <a:cs typeface="Lucida Sans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6998899" y="3570318"/>
            <a:ext cx="4994910" cy="9499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R="1433195">
              <a:lnSpc>
                <a:spcPct val="137800"/>
              </a:lnSpc>
              <a:spcBef>
                <a:spcPts val="95"/>
              </a:spcBef>
            </a:pPr>
            <a:r>
              <a:rPr dirty="0" sz="1100" spc="5">
                <a:solidFill>
                  <a:srgbClr val="005493"/>
                </a:solidFill>
                <a:latin typeface="Lucida Sans"/>
                <a:cs typeface="Lucida Sans"/>
              </a:rPr>
              <a:t>Default </a:t>
            </a:r>
            <a:r>
              <a:rPr dirty="0" sz="1100" spc="10">
                <a:solidFill>
                  <a:srgbClr val="005493"/>
                </a:solidFill>
                <a:latin typeface="Lucida Sans"/>
                <a:cs typeface="Lucida Sans"/>
              </a:rPr>
              <a:t>implementation.</a:t>
            </a:r>
            <a:r>
              <a:rPr dirty="0" sz="1100" spc="15">
                <a:solidFill>
                  <a:srgbClr val="005493"/>
                </a:solidFill>
                <a:latin typeface="Lucida Sans"/>
                <a:cs typeface="Lucida Sans"/>
              </a:rPr>
              <a:t> </a:t>
            </a:r>
            <a:r>
              <a:rPr dirty="0" sz="1100" spc="20">
                <a:latin typeface="Lucida Sans"/>
                <a:cs typeface="Lucida Sans"/>
              </a:rPr>
              <a:t>Memory </a:t>
            </a:r>
            <a:r>
              <a:rPr dirty="0" sz="1100" spc="5">
                <a:latin typeface="Lucida Sans"/>
                <a:cs typeface="Lucida Sans"/>
              </a:rPr>
              <a:t>address of </a:t>
            </a:r>
            <a:r>
              <a:rPr dirty="0" sz="900" spc="10">
                <a:latin typeface="Lucida Sans Typewriter"/>
                <a:cs typeface="Lucida Sans Typewriter"/>
              </a:rPr>
              <a:t>x</a:t>
            </a:r>
            <a:r>
              <a:rPr dirty="0" sz="1100" spc="10">
                <a:latin typeface="Lucida Sans"/>
                <a:cs typeface="Lucida Sans"/>
              </a:rPr>
              <a:t>. </a:t>
            </a:r>
            <a:r>
              <a:rPr dirty="0" sz="1100" spc="15">
                <a:latin typeface="Lucida Sans"/>
                <a:cs typeface="Lucida Sans"/>
              </a:rPr>
              <a:t> </a:t>
            </a:r>
            <a:r>
              <a:rPr dirty="0" sz="1100" spc="5">
                <a:solidFill>
                  <a:srgbClr val="005493"/>
                </a:solidFill>
                <a:latin typeface="Lucida Sans"/>
                <a:cs typeface="Lucida Sans"/>
              </a:rPr>
              <a:t>Legal</a:t>
            </a:r>
            <a:r>
              <a:rPr dirty="0" sz="1100">
                <a:solidFill>
                  <a:srgbClr val="005493"/>
                </a:solidFill>
                <a:latin typeface="Lucida Sans"/>
                <a:cs typeface="Lucida Sans"/>
              </a:rPr>
              <a:t> </a:t>
            </a:r>
            <a:r>
              <a:rPr dirty="0" sz="1100" spc="5">
                <a:solidFill>
                  <a:srgbClr val="005493"/>
                </a:solidFill>
                <a:latin typeface="Lucida Sans"/>
                <a:cs typeface="Lucida Sans"/>
              </a:rPr>
              <a:t>(but</a:t>
            </a:r>
            <a:r>
              <a:rPr dirty="0" sz="1100">
                <a:solidFill>
                  <a:srgbClr val="005493"/>
                </a:solidFill>
                <a:latin typeface="Lucida Sans"/>
                <a:cs typeface="Lucida Sans"/>
              </a:rPr>
              <a:t> </a:t>
            </a:r>
            <a:r>
              <a:rPr dirty="0" sz="1100" spc="10">
                <a:solidFill>
                  <a:srgbClr val="005493"/>
                </a:solidFill>
                <a:latin typeface="Lucida Sans"/>
                <a:cs typeface="Lucida Sans"/>
              </a:rPr>
              <a:t>poor)</a:t>
            </a:r>
            <a:r>
              <a:rPr dirty="0" sz="1100">
                <a:solidFill>
                  <a:srgbClr val="005493"/>
                </a:solidFill>
                <a:latin typeface="Lucida Sans"/>
                <a:cs typeface="Lucida Sans"/>
              </a:rPr>
              <a:t> </a:t>
            </a:r>
            <a:r>
              <a:rPr dirty="0" sz="1100" spc="10">
                <a:solidFill>
                  <a:srgbClr val="005493"/>
                </a:solidFill>
                <a:latin typeface="Lucida Sans"/>
                <a:cs typeface="Lucida Sans"/>
              </a:rPr>
              <a:t>implementation.</a:t>
            </a:r>
            <a:r>
              <a:rPr dirty="0" sz="1100" spc="355">
                <a:solidFill>
                  <a:srgbClr val="005493"/>
                </a:solidFill>
                <a:latin typeface="Lucida Sans"/>
                <a:cs typeface="Lucida Sans"/>
              </a:rPr>
              <a:t> </a:t>
            </a:r>
            <a:r>
              <a:rPr dirty="0" sz="1100" spc="30">
                <a:latin typeface="Lucida Sans"/>
                <a:cs typeface="Lucida Sans"/>
              </a:rPr>
              <a:t>Always</a:t>
            </a:r>
            <a:r>
              <a:rPr dirty="0" sz="1100">
                <a:latin typeface="Lucida Sans"/>
                <a:cs typeface="Lucida Sans"/>
              </a:rPr>
              <a:t> </a:t>
            </a:r>
            <a:r>
              <a:rPr dirty="0" sz="1100" spc="5">
                <a:latin typeface="Lucida Sans"/>
                <a:cs typeface="Lucida Sans"/>
              </a:rPr>
              <a:t>return</a:t>
            </a:r>
            <a:r>
              <a:rPr dirty="0" sz="1100">
                <a:latin typeface="Lucida Sans"/>
                <a:cs typeface="Lucida Sans"/>
              </a:rPr>
              <a:t> </a:t>
            </a:r>
            <a:r>
              <a:rPr dirty="0" sz="900" spc="10">
                <a:latin typeface="Lucida Sans Typewriter"/>
                <a:cs typeface="Lucida Sans Typewriter"/>
              </a:rPr>
              <a:t>17</a:t>
            </a:r>
            <a:r>
              <a:rPr dirty="0" sz="1100" spc="10">
                <a:latin typeface="Lucida Sans"/>
                <a:cs typeface="Lucida Sans"/>
              </a:rPr>
              <a:t>.</a:t>
            </a:r>
            <a:endParaRPr sz="1100">
              <a:latin typeface="Lucida Sans"/>
              <a:cs typeface="Lucida Sans"/>
            </a:endParaRPr>
          </a:p>
          <a:p>
            <a:pPr marR="5080">
              <a:lnSpc>
                <a:spcPct val="137800"/>
              </a:lnSpc>
            </a:pPr>
            <a:r>
              <a:rPr dirty="0" sz="1100" spc="10">
                <a:solidFill>
                  <a:srgbClr val="005493"/>
                </a:solidFill>
                <a:latin typeface="Lucida Sans"/>
                <a:cs typeface="Lucida Sans"/>
              </a:rPr>
              <a:t>Customized</a:t>
            </a:r>
            <a:r>
              <a:rPr dirty="0" sz="1100">
                <a:solidFill>
                  <a:srgbClr val="005493"/>
                </a:solidFill>
                <a:latin typeface="Lucida Sans"/>
                <a:cs typeface="Lucida Sans"/>
              </a:rPr>
              <a:t> </a:t>
            </a:r>
            <a:r>
              <a:rPr dirty="0" sz="1100" spc="10">
                <a:solidFill>
                  <a:srgbClr val="005493"/>
                </a:solidFill>
                <a:latin typeface="Lucida Sans"/>
                <a:cs typeface="Lucida Sans"/>
              </a:rPr>
              <a:t>implementations.</a:t>
            </a:r>
            <a:r>
              <a:rPr dirty="0" sz="1100" spc="360">
                <a:solidFill>
                  <a:srgbClr val="005493"/>
                </a:solidFill>
                <a:latin typeface="Lucida Sans"/>
                <a:cs typeface="Lucida Sans"/>
              </a:rPr>
              <a:t> </a:t>
            </a:r>
            <a:r>
              <a:rPr dirty="0" sz="900" spc="15">
                <a:latin typeface="Lucida Sans Typewriter"/>
                <a:cs typeface="Lucida Sans Typewriter"/>
              </a:rPr>
              <a:t>Integer</a:t>
            </a:r>
            <a:r>
              <a:rPr dirty="0" sz="1100" spc="15">
                <a:latin typeface="Lucida Sans"/>
                <a:cs typeface="Lucida Sans"/>
              </a:rPr>
              <a:t>,</a:t>
            </a:r>
            <a:r>
              <a:rPr dirty="0" sz="1100" spc="5">
                <a:latin typeface="Lucida Sans"/>
                <a:cs typeface="Lucida Sans"/>
              </a:rPr>
              <a:t> </a:t>
            </a:r>
            <a:r>
              <a:rPr dirty="0" sz="900" spc="15">
                <a:latin typeface="Lucida Sans Typewriter"/>
                <a:cs typeface="Lucida Sans Typewriter"/>
              </a:rPr>
              <a:t>Double</a:t>
            </a:r>
            <a:r>
              <a:rPr dirty="0" sz="1100" spc="15">
                <a:latin typeface="Lucida Sans"/>
                <a:cs typeface="Lucida Sans"/>
              </a:rPr>
              <a:t>,</a:t>
            </a:r>
            <a:r>
              <a:rPr dirty="0" sz="1100" spc="5">
                <a:latin typeface="Lucida Sans"/>
                <a:cs typeface="Lucida Sans"/>
              </a:rPr>
              <a:t> </a:t>
            </a:r>
            <a:r>
              <a:rPr dirty="0" sz="900" spc="15">
                <a:latin typeface="Lucida Sans Typewriter"/>
                <a:cs typeface="Lucida Sans Typewriter"/>
              </a:rPr>
              <a:t>String</a:t>
            </a:r>
            <a:r>
              <a:rPr dirty="0" sz="1100" spc="15">
                <a:latin typeface="Lucida Sans"/>
                <a:cs typeface="Lucida Sans"/>
              </a:rPr>
              <a:t>,</a:t>
            </a:r>
            <a:r>
              <a:rPr dirty="0" sz="1100" spc="5">
                <a:latin typeface="Lucida Sans"/>
                <a:cs typeface="Lucida Sans"/>
              </a:rPr>
              <a:t> </a:t>
            </a:r>
            <a:r>
              <a:rPr dirty="0" sz="900" spc="15">
                <a:latin typeface="Lucida Sans Typewriter"/>
                <a:cs typeface="Lucida Sans Typewriter"/>
              </a:rPr>
              <a:t>File</a:t>
            </a:r>
            <a:r>
              <a:rPr dirty="0" sz="1100" spc="15">
                <a:latin typeface="Lucida Sans"/>
                <a:cs typeface="Lucida Sans"/>
              </a:rPr>
              <a:t>,</a:t>
            </a:r>
            <a:r>
              <a:rPr dirty="0" sz="1100">
                <a:latin typeface="Lucida Sans"/>
                <a:cs typeface="Lucida Sans"/>
              </a:rPr>
              <a:t> </a:t>
            </a:r>
            <a:r>
              <a:rPr dirty="0" sz="900" spc="15">
                <a:latin typeface="Lucida Sans Typewriter"/>
                <a:cs typeface="Lucida Sans Typewriter"/>
              </a:rPr>
              <a:t>URL</a:t>
            </a:r>
            <a:r>
              <a:rPr dirty="0" sz="1100" spc="15">
                <a:latin typeface="Lucida Sans"/>
                <a:cs typeface="Lucida Sans"/>
              </a:rPr>
              <a:t>,</a:t>
            </a:r>
            <a:r>
              <a:rPr dirty="0" sz="1100" spc="5">
                <a:latin typeface="Lucida Sans"/>
                <a:cs typeface="Lucida Sans"/>
              </a:rPr>
              <a:t> </a:t>
            </a:r>
            <a:r>
              <a:rPr dirty="0" sz="900" spc="15">
                <a:latin typeface="Lucida Sans Typewriter"/>
                <a:cs typeface="Lucida Sans Typewriter"/>
              </a:rPr>
              <a:t>Date</a:t>
            </a:r>
            <a:r>
              <a:rPr dirty="0" sz="1100" spc="15">
                <a:latin typeface="Lucida Sans"/>
                <a:cs typeface="Lucida Sans"/>
              </a:rPr>
              <a:t>,</a:t>
            </a:r>
            <a:r>
              <a:rPr dirty="0" sz="1100" spc="5">
                <a:latin typeface="Lucida Sans"/>
                <a:cs typeface="Lucida Sans"/>
              </a:rPr>
              <a:t> </a:t>
            </a:r>
            <a:r>
              <a:rPr dirty="0" sz="1100" spc="15">
                <a:latin typeface="Lucida Sans"/>
                <a:cs typeface="Lucida Sans"/>
              </a:rPr>
              <a:t>… </a:t>
            </a:r>
            <a:r>
              <a:rPr dirty="0" sz="1100" spc="-330">
                <a:latin typeface="Lucida Sans"/>
                <a:cs typeface="Lucida Sans"/>
              </a:rPr>
              <a:t> </a:t>
            </a:r>
            <a:r>
              <a:rPr dirty="0" sz="1100">
                <a:solidFill>
                  <a:srgbClr val="005493"/>
                </a:solidFill>
                <a:latin typeface="Lucida Sans"/>
                <a:cs typeface="Lucida Sans"/>
              </a:rPr>
              <a:t>User-defined </a:t>
            </a:r>
            <a:r>
              <a:rPr dirty="0" sz="1100" spc="15">
                <a:solidFill>
                  <a:srgbClr val="005493"/>
                </a:solidFill>
                <a:latin typeface="Lucida Sans"/>
                <a:cs typeface="Lucida Sans"/>
              </a:rPr>
              <a:t>types.</a:t>
            </a:r>
            <a:r>
              <a:rPr dirty="0" sz="1100" spc="360">
                <a:solidFill>
                  <a:srgbClr val="005493"/>
                </a:solidFill>
                <a:latin typeface="Lucida Sans"/>
                <a:cs typeface="Lucida Sans"/>
              </a:rPr>
              <a:t> </a:t>
            </a:r>
            <a:r>
              <a:rPr dirty="0" sz="1100" spc="10">
                <a:latin typeface="Lucida Sans"/>
                <a:cs typeface="Lucida Sans"/>
              </a:rPr>
              <a:t>Users</a:t>
            </a:r>
            <a:r>
              <a:rPr dirty="0" sz="1100" spc="5">
                <a:latin typeface="Lucida Sans"/>
                <a:cs typeface="Lucida Sans"/>
              </a:rPr>
              <a:t> </a:t>
            </a:r>
            <a:r>
              <a:rPr dirty="0" sz="1100">
                <a:latin typeface="Lucida Sans"/>
                <a:cs typeface="Lucida Sans"/>
              </a:rPr>
              <a:t>are</a:t>
            </a:r>
            <a:r>
              <a:rPr dirty="0" sz="1100" spc="5">
                <a:latin typeface="Lucida Sans"/>
                <a:cs typeface="Lucida Sans"/>
              </a:rPr>
              <a:t> </a:t>
            </a:r>
            <a:r>
              <a:rPr dirty="0" sz="1100" spc="10">
                <a:latin typeface="Lucida Sans"/>
                <a:cs typeface="Lucida Sans"/>
              </a:rPr>
              <a:t>on</a:t>
            </a:r>
            <a:r>
              <a:rPr dirty="0" sz="1100" spc="5">
                <a:latin typeface="Lucida Sans"/>
                <a:cs typeface="Lucida Sans"/>
              </a:rPr>
              <a:t> their </a:t>
            </a:r>
            <a:r>
              <a:rPr dirty="0" sz="1100" spc="30">
                <a:latin typeface="Lucida Sans"/>
                <a:cs typeface="Lucida Sans"/>
              </a:rPr>
              <a:t>own.</a:t>
            </a:r>
            <a:endParaRPr sz="1100">
              <a:latin typeface="Lucida Sans"/>
              <a:cs typeface="Lucida Sans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8759109" y="2471022"/>
            <a:ext cx="480059" cy="347980"/>
          </a:xfrm>
          <a:custGeom>
            <a:avLst/>
            <a:gdLst/>
            <a:ahLst/>
            <a:cxnLst/>
            <a:rect l="l" t="t" r="r" b="b"/>
            <a:pathLst>
              <a:path w="480059" h="347980">
                <a:moveTo>
                  <a:pt x="0" y="0"/>
                </a:moveTo>
                <a:lnTo>
                  <a:pt x="479670" y="0"/>
                </a:lnTo>
                <a:lnTo>
                  <a:pt x="479670" y="347902"/>
                </a:lnTo>
                <a:lnTo>
                  <a:pt x="0" y="34790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 txBox="1"/>
          <p:nvPr/>
        </p:nvSpPr>
        <p:spPr>
          <a:xfrm>
            <a:off x="8633825" y="3001449"/>
            <a:ext cx="697865" cy="1397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750" spc="-5">
                <a:latin typeface="Lucida Sans Typewriter"/>
                <a:cs typeface="Lucida Sans Typewriter"/>
              </a:rPr>
              <a:t>x.hashCode()</a:t>
            </a:r>
            <a:endParaRPr sz="750">
              <a:latin typeface="Lucida Sans Typewriter"/>
              <a:cs typeface="Lucida Sans Typewriter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8973255" y="2149734"/>
            <a:ext cx="69850" cy="1397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750" spc="-5">
                <a:latin typeface="Lucida Sans Typewriter"/>
                <a:cs typeface="Lucida Sans Typewriter"/>
              </a:rPr>
              <a:t>x</a:t>
            </a:r>
            <a:endParaRPr sz="750">
              <a:latin typeface="Lucida Sans Typewriter"/>
              <a:cs typeface="Lucida Sans Typewriter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8971058" y="2326034"/>
            <a:ext cx="1259840" cy="650240"/>
            <a:chOff x="8971058" y="2326034"/>
            <a:chExt cx="1259840" cy="650240"/>
          </a:xfrm>
        </p:grpSpPr>
        <p:sp>
          <p:nvSpPr>
            <p:cNvPr id="41" name="object 41"/>
            <p:cNvSpPr/>
            <p:nvPr/>
          </p:nvSpPr>
          <p:spPr>
            <a:xfrm>
              <a:off x="8999484" y="2332066"/>
              <a:ext cx="635" cy="91440"/>
            </a:xfrm>
            <a:custGeom>
              <a:avLst/>
              <a:gdLst/>
              <a:ahLst/>
              <a:cxnLst/>
              <a:rect l="l" t="t" r="r" b="b"/>
              <a:pathLst>
                <a:path w="634" h="91439">
                  <a:moveTo>
                    <a:pt x="0" y="91335"/>
                  </a:moveTo>
                  <a:lnTo>
                    <a:pt x="2" y="85410"/>
                  </a:lnTo>
                  <a:lnTo>
                    <a:pt x="42" y="0"/>
                  </a:lnTo>
                </a:path>
              </a:pathLst>
            </a:custGeom>
            <a:ln w="118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8971058" y="2403246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>
                  <a:moveTo>
                    <a:pt x="0" y="0"/>
                  </a:moveTo>
                  <a:lnTo>
                    <a:pt x="28408" y="56883"/>
                  </a:lnTo>
                  <a:lnTo>
                    <a:pt x="49760" y="14230"/>
                  </a:lnTo>
                  <a:lnTo>
                    <a:pt x="28428" y="14230"/>
                  </a:lnTo>
                  <a:lnTo>
                    <a:pt x="0" y="0"/>
                  </a:lnTo>
                  <a:close/>
                </a:path>
                <a:path w="57150" h="57150">
                  <a:moveTo>
                    <a:pt x="56870" y="26"/>
                  </a:moveTo>
                  <a:lnTo>
                    <a:pt x="28428" y="14230"/>
                  </a:lnTo>
                  <a:lnTo>
                    <a:pt x="49760" y="14230"/>
                  </a:lnTo>
                  <a:lnTo>
                    <a:pt x="56870" y="2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8999484" y="2847852"/>
              <a:ext cx="635" cy="91440"/>
            </a:xfrm>
            <a:custGeom>
              <a:avLst/>
              <a:gdLst/>
              <a:ahLst/>
              <a:cxnLst/>
              <a:rect l="l" t="t" r="r" b="b"/>
              <a:pathLst>
                <a:path w="634" h="91439">
                  <a:moveTo>
                    <a:pt x="0" y="91335"/>
                  </a:moveTo>
                  <a:lnTo>
                    <a:pt x="2" y="85411"/>
                  </a:lnTo>
                  <a:lnTo>
                    <a:pt x="42" y="0"/>
                  </a:lnTo>
                </a:path>
              </a:pathLst>
            </a:custGeom>
            <a:ln w="118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8971051" y="2471025"/>
              <a:ext cx="1259840" cy="505459"/>
            </a:xfrm>
            <a:custGeom>
              <a:avLst/>
              <a:gdLst/>
              <a:ahLst/>
              <a:cxnLst/>
              <a:rect l="l" t="t" r="r" b="b"/>
              <a:pathLst>
                <a:path w="1259840" h="505460">
                  <a:moveTo>
                    <a:pt x="56870" y="448043"/>
                  </a:moveTo>
                  <a:lnTo>
                    <a:pt x="28435" y="462241"/>
                  </a:lnTo>
                  <a:lnTo>
                    <a:pt x="0" y="448017"/>
                  </a:lnTo>
                  <a:lnTo>
                    <a:pt x="28409" y="504901"/>
                  </a:lnTo>
                  <a:lnTo>
                    <a:pt x="49758" y="462241"/>
                  </a:lnTo>
                  <a:lnTo>
                    <a:pt x="56870" y="448043"/>
                  </a:lnTo>
                  <a:close/>
                </a:path>
                <a:path w="1259840" h="505460">
                  <a:moveTo>
                    <a:pt x="1259268" y="0"/>
                  </a:moveTo>
                  <a:lnTo>
                    <a:pt x="779589" y="0"/>
                  </a:lnTo>
                  <a:lnTo>
                    <a:pt x="779589" y="347903"/>
                  </a:lnTo>
                  <a:lnTo>
                    <a:pt x="1259268" y="347903"/>
                  </a:lnTo>
                  <a:lnTo>
                    <a:pt x="12592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5" name="object 45"/>
          <p:cNvSpPr txBox="1"/>
          <p:nvPr/>
        </p:nvSpPr>
        <p:spPr>
          <a:xfrm>
            <a:off x="9637324" y="2996332"/>
            <a:ext cx="697865" cy="1397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750" spc="-5">
                <a:latin typeface="Lucida Sans Typewriter"/>
                <a:cs typeface="Lucida Sans Typewriter"/>
              </a:rPr>
              <a:t>y.hashCode()</a:t>
            </a:r>
            <a:endParaRPr sz="750">
              <a:latin typeface="Lucida Sans Typewriter"/>
              <a:cs typeface="Lucida Sans Typewriter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9964870" y="2332066"/>
            <a:ext cx="57150" cy="643890"/>
            <a:chOff x="9964870" y="2332066"/>
            <a:chExt cx="57150" cy="643890"/>
          </a:xfrm>
        </p:grpSpPr>
        <p:sp>
          <p:nvSpPr>
            <p:cNvPr id="47" name="object 47"/>
            <p:cNvSpPr/>
            <p:nvPr/>
          </p:nvSpPr>
          <p:spPr>
            <a:xfrm>
              <a:off x="9993295" y="2332066"/>
              <a:ext cx="635" cy="91440"/>
            </a:xfrm>
            <a:custGeom>
              <a:avLst/>
              <a:gdLst/>
              <a:ahLst/>
              <a:cxnLst/>
              <a:rect l="l" t="t" r="r" b="b"/>
              <a:pathLst>
                <a:path w="634" h="91439">
                  <a:moveTo>
                    <a:pt x="0" y="91335"/>
                  </a:moveTo>
                  <a:lnTo>
                    <a:pt x="2" y="85410"/>
                  </a:lnTo>
                  <a:lnTo>
                    <a:pt x="42" y="0"/>
                  </a:lnTo>
                </a:path>
              </a:pathLst>
            </a:custGeom>
            <a:ln w="118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/>
            <p:cNvSpPr/>
            <p:nvPr/>
          </p:nvSpPr>
          <p:spPr>
            <a:xfrm>
              <a:off x="9964870" y="2403247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>
                  <a:moveTo>
                    <a:pt x="0" y="0"/>
                  </a:moveTo>
                  <a:lnTo>
                    <a:pt x="28408" y="56883"/>
                  </a:lnTo>
                  <a:lnTo>
                    <a:pt x="49759" y="14230"/>
                  </a:lnTo>
                  <a:lnTo>
                    <a:pt x="28428" y="14230"/>
                  </a:lnTo>
                  <a:lnTo>
                    <a:pt x="0" y="0"/>
                  </a:lnTo>
                  <a:close/>
                </a:path>
                <a:path w="57150" h="57150">
                  <a:moveTo>
                    <a:pt x="56870" y="26"/>
                  </a:moveTo>
                  <a:lnTo>
                    <a:pt x="28428" y="14230"/>
                  </a:lnTo>
                  <a:lnTo>
                    <a:pt x="49759" y="14230"/>
                  </a:lnTo>
                  <a:lnTo>
                    <a:pt x="56870" y="2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/>
            <p:cNvSpPr/>
            <p:nvPr/>
          </p:nvSpPr>
          <p:spPr>
            <a:xfrm>
              <a:off x="9993295" y="2847852"/>
              <a:ext cx="635" cy="91440"/>
            </a:xfrm>
            <a:custGeom>
              <a:avLst/>
              <a:gdLst/>
              <a:ahLst/>
              <a:cxnLst/>
              <a:rect l="l" t="t" r="r" b="b"/>
              <a:pathLst>
                <a:path w="634" h="91439">
                  <a:moveTo>
                    <a:pt x="0" y="91335"/>
                  </a:moveTo>
                  <a:lnTo>
                    <a:pt x="2" y="85411"/>
                  </a:lnTo>
                  <a:lnTo>
                    <a:pt x="42" y="0"/>
                  </a:lnTo>
                </a:path>
              </a:pathLst>
            </a:custGeom>
            <a:ln w="118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/>
            <p:cNvSpPr/>
            <p:nvPr/>
          </p:nvSpPr>
          <p:spPr>
            <a:xfrm>
              <a:off x="9964870" y="2919032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>
                  <a:moveTo>
                    <a:pt x="0" y="0"/>
                  </a:moveTo>
                  <a:lnTo>
                    <a:pt x="28408" y="56883"/>
                  </a:lnTo>
                  <a:lnTo>
                    <a:pt x="49759" y="14231"/>
                  </a:lnTo>
                  <a:lnTo>
                    <a:pt x="28428" y="14231"/>
                  </a:lnTo>
                  <a:lnTo>
                    <a:pt x="0" y="0"/>
                  </a:lnTo>
                  <a:close/>
                </a:path>
                <a:path w="57150" h="57150">
                  <a:moveTo>
                    <a:pt x="56870" y="26"/>
                  </a:moveTo>
                  <a:lnTo>
                    <a:pt x="28428" y="14231"/>
                  </a:lnTo>
                  <a:lnTo>
                    <a:pt x="49759" y="14231"/>
                  </a:lnTo>
                  <a:lnTo>
                    <a:pt x="56870" y="2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1" name="object 51"/>
          <p:cNvSpPr txBox="1"/>
          <p:nvPr/>
        </p:nvSpPr>
        <p:spPr>
          <a:xfrm>
            <a:off x="9963977" y="2148926"/>
            <a:ext cx="69850" cy="1397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750" spc="-5">
                <a:latin typeface="Lucida Sans Typewriter"/>
                <a:cs typeface="Lucida Sans Typewriter"/>
              </a:rPr>
              <a:t>y</a:t>
            </a:r>
            <a:endParaRPr sz="750">
              <a:latin typeface="Lucida Sans Typewriter"/>
              <a:cs typeface="Lucida Sans Typewriter"/>
            </a:endParaRPr>
          </a:p>
        </p:txBody>
      </p:sp>
      <p:grpSp>
        <p:nvGrpSpPr>
          <p:cNvPr id="52" name="object 52"/>
          <p:cNvGrpSpPr/>
          <p:nvPr/>
        </p:nvGrpSpPr>
        <p:grpSpPr>
          <a:xfrm>
            <a:off x="346176" y="4966780"/>
            <a:ext cx="6066790" cy="4549775"/>
            <a:chOff x="346176" y="4966780"/>
            <a:chExt cx="6066790" cy="4549775"/>
          </a:xfrm>
        </p:grpSpPr>
        <p:sp>
          <p:nvSpPr>
            <p:cNvPr id="53" name="object 53"/>
            <p:cNvSpPr/>
            <p:nvPr/>
          </p:nvSpPr>
          <p:spPr>
            <a:xfrm>
              <a:off x="346176" y="4966780"/>
              <a:ext cx="6066790" cy="4549775"/>
            </a:xfrm>
            <a:custGeom>
              <a:avLst/>
              <a:gdLst/>
              <a:ahLst/>
              <a:cxnLst/>
              <a:rect l="l" t="t" r="r" b="b"/>
              <a:pathLst>
                <a:path w="6066790" h="4549775">
                  <a:moveTo>
                    <a:pt x="0" y="0"/>
                  </a:moveTo>
                  <a:lnTo>
                    <a:pt x="6066212" y="0"/>
                  </a:lnTo>
                  <a:lnTo>
                    <a:pt x="6066212" y="4549659"/>
                  </a:lnTo>
                  <a:lnTo>
                    <a:pt x="0" y="45496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/>
            <p:cNvSpPr/>
            <p:nvPr/>
          </p:nvSpPr>
          <p:spPr>
            <a:xfrm>
              <a:off x="731238" y="5428805"/>
              <a:ext cx="5302250" cy="635"/>
            </a:xfrm>
            <a:custGeom>
              <a:avLst/>
              <a:gdLst/>
              <a:ahLst/>
              <a:cxnLst/>
              <a:rect l="l" t="t" r="r" b="b"/>
              <a:pathLst>
                <a:path w="5302250" h="635">
                  <a:moveTo>
                    <a:pt x="0" y="49"/>
                  </a:moveTo>
                  <a:lnTo>
                    <a:pt x="5302012" y="0"/>
                  </a:lnTo>
                </a:path>
              </a:pathLst>
            </a:custGeom>
            <a:ln w="59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5" name="object 55"/>
          <p:cNvSpPr txBox="1"/>
          <p:nvPr/>
        </p:nvSpPr>
        <p:spPr>
          <a:xfrm>
            <a:off x="713466" y="6723102"/>
            <a:ext cx="2038350" cy="29083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26034" rIns="0" bIns="0" rtlCol="0" vert="horz">
            <a:spAutoFit/>
          </a:bodyPr>
          <a:lstStyle/>
          <a:p>
            <a:pPr marL="195580">
              <a:lnSpc>
                <a:spcPct val="100000"/>
              </a:lnSpc>
              <a:spcBef>
                <a:spcPts val="204"/>
              </a:spcBef>
            </a:pPr>
            <a:r>
              <a:rPr dirty="0" sz="800" spc="20">
                <a:latin typeface="Lucida Sans Typewriter"/>
                <a:cs typeface="Lucida Sans Typewriter"/>
              </a:rPr>
              <a:t>public</a:t>
            </a:r>
            <a:r>
              <a:rPr dirty="0" sz="800" spc="5"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int</a:t>
            </a:r>
            <a:r>
              <a:rPr dirty="0" sz="800" spc="5"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hashCode()</a:t>
            </a:r>
            <a:endParaRPr sz="800">
              <a:latin typeface="Lucida Sans Typewriter"/>
              <a:cs typeface="Lucida Sans Typewriter"/>
            </a:endParaRPr>
          </a:p>
          <a:p>
            <a:pPr marL="195580">
              <a:lnSpc>
                <a:spcPct val="100000"/>
              </a:lnSpc>
              <a:spcBef>
                <a:spcPts val="155"/>
              </a:spcBef>
              <a:tabLst>
                <a:tab pos="387985" algn="l"/>
                <a:tab pos="1351280" algn="l"/>
              </a:tabLst>
            </a:pPr>
            <a:r>
              <a:rPr dirty="0" sz="800" spc="20">
                <a:latin typeface="Lucida Sans Typewriter"/>
                <a:cs typeface="Lucida Sans Typewriter"/>
              </a:rPr>
              <a:t>{	return</a:t>
            </a:r>
            <a:r>
              <a:rPr dirty="0" sz="800" spc="40"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value;	}</a:t>
            </a:r>
            <a:endParaRPr sz="800">
              <a:latin typeface="Lucida Sans Typewriter"/>
              <a:cs typeface="Lucida Sans Typewriter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618682" y="5938322"/>
            <a:ext cx="2227580" cy="1321435"/>
          </a:xfrm>
          <a:prstGeom prst="rect">
            <a:avLst/>
          </a:prstGeom>
          <a:solidFill>
            <a:srgbClr val="CBCBCB"/>
          </a:solidFill>
        </p:spPr>
        <p:txBody>
          <a:bodyPr wrap="square" lIns="0" tIns="76200" rIns="0" bIns="0" rtlCol="0" vert="horz">
            <a:spAutoFit/>
          </a:bodyPr>
          <a:lstStyle/>
          <a:p>
            <a:pPr marL="97790">
              <a:lnSpc>
                <a:spcPct val="100000"/>
              </a:lnSpc>
              <a:spcBef>
                <a:spcPts val="600"/>
              </a:spcBef>
            </a:pPr>
            <a:r>
              <a:rPr dirty="0" sz="800" spc="20">
                <a:latin typeface="Lucida Sans Typewriter"/>
                <a:cs typeface="Lucida Sans Typewriter"/>
              </a:rPr>
              <a:t>public</a:t>
            </a:r>
            <a:r>
              <a:rPr dirty="0" sz="800" spc="10"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final</a:t>
            </a:r>
            <a:r>
              <a:rPr dirty="0" sz="800" spc="15"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class</a:t>
            </a:r>
            <a:r>
              <a:rPr dirty="0" sz="800" spc="15"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Integer</a:t>
            </a:r>
            <a:endParaRPr sz="800">
              <a:latin typeface="Lucida Sans Typewriter"/>
              <a:cs typeface="Lucida Sans Typewriter"/>
            </a:endParaRPr>
          </a:p>
          <a:p>
            <a:pPr marL="97790">
              <a:lnSpc>
                <a:spcPct val="100000"/>
              </a:lnSpc>
              <a:spcBef>
                <a:spcPts val="155"/>
              </a:spcBef>
            </a:pPr>
            <a:r>
              <a:rPr dirty="0" sz="800" spc="20">
                <a:latin typeface="Lucida Sans Typewriter"/>
                <a:cs typeface="Lucida Sans Typewriter"/>
              </a:rPr>
              <a:t>{</a:t>
            </a:r>
            <a:endParaRPr sz="800">
              <a:latin typeface="Lucida Sans Typewriter"/>
              <a:cs typeface="Lucida Sans Typewriter"/>
            </a:endParaRPr>
          </a:p>
          <a:p>
            <a:pPr marL="290195">
              <a:lnSpc>
                <a:spcPct val="100000"/>
              </a:lnSpc>
              <a:spcBef>
                <a:spcPts val="210"/>
              </a:spcBef>
            </a:pPr>
            <a:r>
              <a:rPr dirty="0" sz="800" spc="20">
                <a:latin typeface="Lucida Sans Typewriter"/>
                <a:cs typeface="Lucida Sans Typewriter"/>
              </a:rPr>
              <a:t>private</a:t>
            </a:r>
            <a:r>
              <a:rPr dirty="0" sz="800" spc="10"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final</a:t>
            </a:r>
            <a:r>
              <a:rPr dirty="0" sz="800" spc="10"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int</a:t>
            </a:r>
            <a:r>
              <a:rPr dirty="0" sz="800" spc="15"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value;</a:t>
            </a:r>
            <a:endParaRPr sz="800">
              <a:latin typeface="Lucida Sans Typewriter"/>
              <a:cs typeface="Lucida Sans Typewriter"/>
            </a:endParaRPr>
          </a:p>
          <a:p>
            <a:pPr marL="290195">
              <a:lnSpc>
                <a:spcPct val="100000"/>
              </a:lnSpc>
              <a:spcBef>
                <a:spcPts val="204"/>
              </a:spcBef>
            </a:pPr>
            <a:r>
              <a:rPr dirty="0" sz="800" spc="20">
                <a:latin typeface="Lucida Sans Typewriter"/>
                <a:cs typeface="Lucida Sans Typewriter"/>
              </a:rPr>
              <a:t>...</a:t>
            </a:r>
            <a:endParaRPr sz="800">
              <a:latin typeface="Lucida Sans Typewriter"/>
              <a:cs typeface="Lucida Sans Typewriter"/>
            </a:endParaRPr>
          </a:p>
          <a:p>
            <a:pPr>
              <a:lnSpc>
                <a:spcPct val="100000"/>
              </a:lnSpc>
            </a:pPr>
            <a:endParaRPr sz="1000">
              <a:latin typeface="Lucida Sans Typewriter"/>
              <a:cs typeface="Lucida Sans Typewriter"/>
            </a:endParaRPr>
          </a:p>
          <a:p>
            <a:pPr>
              <a:lnSpc>
                <a:spcPct val="100000"/>
              </a:lnSpc>
            </a:pPr>
            <a:endParaRPr sz="1000">
              <a:latin typeface="Lucida Sans Typewriter"/>
              <a:cs typeface="Lucida Sans Typewriter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100">
              <a:latin typeface="Lucida Sans Typewriter"/>
              <a:cs typeface="Lucida Sans Typewriter"/>
            </a:endParaRPr>
          </a:p>
          <a:p>
            <a:pPr marL="97790">
              <a:lnSpc>
                <a:spcPct val="100000"/>
              </a:lnSpc>
            </a:pPr>
            <a:r>
              <a:rPr dirty="0" sz="800" spc="20">
                <a:latin typeface="Lucida Sans Typewriter"/>
                <a:cs typeface="Lucida Sans Typewriter"/>
              </a:rPr>
              <a:t>}</a:t>
            </a:r>
            <a:endParaRPr sz="800">
              <a:latin typeface="Lucida Sans Typewriter"/>
              <a:cs typeface="Lucida Sans Typewriter"/>
            </a:endParaRPr>
          </a:p>
        </p:txBody>
      </p:sp>
      <p:grpSp>
        <p:nvGrpSpPr>
          <p:cNvPr id="57" name="object 57"/>
          <p:cNvGrpSpPr/>
          <p:nvPr/>
        </p:nvGrpSpPr>
        <p:grpSpPr>
          <a:xfrm>
            <a:off x="3112701" y="5938322"/>
            <a:ext cx="3039110" cy="1975485"/>
            <a:chOff x="3112701" y="5938322"/>
            <a:chExt cx="3039110" cy="1975485"/>
          </a:xfrm>
        </p:grpSpPr>
        <p:sp>
          <p:nvSpPr>
            <p:cNvPr id="58" name="object 58"/>
            <p:cNvSpPr/>
            <p:nvPr/>
          </p:nvSpPr>
          <p:spPr>
            <a:xfrm>
              <a:off x="3112701" y="5938322"/>
              <a:ext cx="3039110" cy="1759585"/>
            </a:xfrm>
            <a:custGeom>
              <a:avLst/>
              <a:gdLst/>
              <a:ahLst/>
              <a:cxnLst/>
              <a:rect l="l" t="t" r="r" b="b"/>
              <a:pathLst>
                <a:path w="3039110" h="1759584">
                  <a:moveTo>
                    <a:pt x="0" y="0"/>
                  </a:moveTo>
                  <a:lnTo>
                    <a:pt x="3039030" y="0"/>
                  </a:lnTo>
                  <a:lnTo>
                    <a:pt x="3039030" y="1759438"/>
                  </a:lnTo>
                  <a:lnTo>
                    <a:pt x="0" y="17594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BCBC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/>
            <p:cNvSpPr/>
            <p:nvPr/>
          </p:nvSpPr>
          <p:spPr>
            <a:xfrm>
              <a:off x="3207486" y="6723103"/>
              <a:ext cx="2849880" cy="734695"/>
            </a:xfrm>
            <a:custGeom>
              <a:avLst/>
              <a:gdLst/>
              <a:ahLst/>
              <a:cxnLst/>
              <a:rect l="l" t="t" r="r" b="b"/>
              <a:pathLst>
                <a:path w="2849879" h="734695">
                  <a:moveTo>
                    <a:pt x="0" y="0"/>
                  </a:moveTo>
                  <a:lnTo>
                    <a:pt x="2849461" y="0"/>
                  </a:lnTo>
                  <a:lnTo>
                    <a:pt x="2849461" y="734580"/>
                  </a:lnTo>
                  <a:lnTo>
                    <a:pt x="0" y="7345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/>
            <p:cNvSpPr/>
            <p:nvPr/>
          </p:nvSpPr>
          <p:spPr>
            <a:xfrm>
              <a:off x="4828987" y="7367083"/>
              <a:ext cx="635" cy="546735"/>
            </a:xfrm>
            <a:custGeom>
              <a:avLst/>
              <a:gdLst/>
              <a:ahLst/>
              <a:cxnLst/>
              <a:rect l="l" t="t" r="r" b="b"/>
              <a:pathLst>
                <a:path w="635" h="546734">
                  <a:moveTo>
                    <a:pt x="55" y="0"/>
                  </a:moveTo>
                  <a:lnTo>
                    <a:pt x="55" y="5924"/>
                  </a:lnTo>
                  <a:lnTo>
                    <a:pt x="0" y="546152"/>
                  </a:lnTo>
                </a:path>
              </a:pathLst>
            </a:custGeom>
            <a:ln w="11848">
              <a:solidFill>
                <a:srgbClr val="8D312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/>
            <p:cNvSpPr/>
            <p:nvPr/>
          </p:nvSpPr>
          <p:spPr>
            <a:xfrm>
              <a:off x="4800605" y="7330354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>
                  <a:moveTo>
                    <a:pt x="49762" y="42653"/>
                  </a:moveTo>
                  <a:lnTo>
                    <a:pt x="28437" y="42653"/>
                  </a:lnTo>
                  <a:lnTo>
                    <a:pt x="56870" y="56873"/>
                  </a:lnTo>
                  <a:lnTo>
                    <a:pt x="49762" y="42653"/>
                  </a:lnTo>
                  <a:close/>
                </a:path>
                <a:path w="57150" h="57150">
                  <a:moveTo>
                    <a:pt x="28441" y="0"/>
                  </a:moveTo>
                  <a:lnTo>
                    <a:pt x="0" y="56867"/>
                  </a:lnTo>
                  <a:lnTo>
                    <a:pt x="28437" y="42653"/>
                  </a:lnTo>
                  <a:lnTo>
                    <a:pt x="49762" y="42653"/>
                  </a:lnTo>
                  <a:lnTo>
                    <a:pt x="28441" y="0"/>
                  </a:lnTo>
                  <a:close/>
                </a:path>
              </a:pathLst>
            </a:custGeom>
            <a:solidFill>
              <a:srgbClr val="8D312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2" name="object 62"/>
          <p:cNvSpPr txBox="1"/>
          <p:nvPr/>
        </p:nvSpPr>
        <p:spPr>
          <a:xfrm>
            <a:off x="713466" y="8310744"/>
            <a:ext cx="2038350" cy="734695"/>
          </a:xfrm>
          <a:prstGeom prst="rect">
            <a:avLst/>
          </a:prstGeom>
          <a:solidFill>
            <a:srgbClr val="FFFFFF"/>
          </a:solidFill>
        </p:spPr>
        <p:txBody>
          <a:bodyPr wrap="square" lIns="0" tIns="26034" rIns="0" bIns="0" rtlCol="0" vert="horz">
            <a:spAutoFit/>
          </a:bodyPr>
          <a:lstStyle/>
          <a:p>
            <a:pPr marL="195580">
              <a:lnSpc>
                <a:spcPct val="100000"/>
              </a:lnSpc>
              <a:spcBef>
                <a:spcPts val="204"/>
              </a:spcBef>
            </a:pPr>
            <a:r>
              <a:rPr dirty="0" sz="800" spc="20">
                <a:latin typeface="Lucida Sans Typewriter"/>
                <a:cs typeface="Lucida Sans Typewriter"/>
              </a:rPr>
              <a:t>public</a:t>
            </a:r>
            <a:r>
              <a:rPr dirty="0" sz="800" spc="5"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int</a:t>
            </a:r>
            <a:r>
              <a:rPr dirty="0" sz="800" spc="5"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hashCode()</a:t>
            </a:r>
            <a:endParaRPr sz="800">
              <a:latin typeface="Lucida Sans Typewriter"/>
              <a:cs typeface="Lucida Sans Typewriter"/>
            </a:endParaRPr>
          </a:p>
          <a:p>
            <a:pPr marL="195580">
              <a:lnSpc>
                <a:spcPct val="100000"/>
              </a:lnSpc>
              <a:spcBef>
                <a:spcPts val="155"/>
              </a:spcBef>
            </a:pPr>
            <a:r>
              <a:rPr dirty="0" sz="800" spc="20">
                <a:latin typeface="Lucida Sans Typewriter"/>
                <a:cs typeface="Lucida Sans Typewriter"/>
              </a:rPr>
              <a:t>{</a:t>
            </a:r>
            <a:endParaRPr sz="800">
              <a:latin typeface="Lucida Sans Typewriter"/>
              <a:cs typeface="Lucida Sans Typewriter"/>
            </a:endParaRPr>
          </a:p>
          <a:p>
            <a:pPr marL="387985" marR="165100">
              <a:lnSpc>
                <a:spcPct val="121500"/>
              </a:lnSpc>
              <a:tabLst>
                <a:tab pos="1094105" algn="l"/>
              </a:tabLst>
            </a:pPr>
            <a:r>
              <a:rPr dirty="0" sz="800" spc="20">
                <a:latin typeface="Lucida Sans Typewriter"/>
                <a:cs typeface="Lucida Sans Typewriter"/>
              </a:rPr>
              <a:t>if</a:t>
            </a:r>
            <a:r>
              <a:rPr dirty="0" sz="800" spc="5"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(value)</a:t>
            </a:r>
            <a:r>
              <a:rPr dirty="0" sz="800" spc="10"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return</a:t>
            </a:r>
            <a:r>
              <a:rPr dirty="0" sz="800" spc="10"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1231; </a:t>
            </a:r>
            <a:r>
              <a:rPr dirty="0" sz="800" spc="-465"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else	return</a:t>
            </a:r>
            <a:r>
              <a:rPr dirty="0" sz="800" spc="-40"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1237;</a:t>
            </a:r>
            <a:endParaRPr sz="800">
              <a:latin typeface="Lucida Sans Typewriter"/>
              <a:cs typeface="Lucida Sans Typewriter"/>
            </a:endParaRPr>
          </a:p>
          <a:p>
            <a:pPr marL="195580">
              <a:lnSpc>
                <a:spcPct val="100000"/>
              </a:lnSpc>
              <a:spcBef>
                <a:spcPts val="209"/>
              </a:spcBef>
            </a:pPr>
            <a:r>
              <a:rPr dirty="0" sz="800" spc="20">
                <a:latin typeface="Lucida Sans Typewriter"/>
                <a:cs typeface="Lucida Sans Typewriter"/>
              </a:rPr>
              <a:t>}</a:t>
            </a:r>
            <a:endParaRPr sz="800">
              <a:latin typeface="Lucida Sans Typewriter"/>
              <a:cs typeface="Lucida Sans Typewriter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618682" y="7525963"/>
            <a:ext cx="2227580" cy="1759585"/>
          </a:xfrm>
          <a:prstGeom prst="rect">
            <a:avLst/>
          </a:prstGeom>
          <a:solidFill>
            <a:srgbClr val="CBCBCB"/>
          </a:solidFill>
        </p:spPr>
        <p:txBody>
          <a:bodyPr wrap="square" lIns="0" tIns="76200" rIns="0" bIns="0" rtlCol="0" vert="horz">
            <a:spAutoFit/>
          </a:bodyPr>
          <a:lstStyle/>
          <a:p>
            <a:pPr marL="97790">
              <a:lnSpc>
                <a:spcPct val="100000"/>
              </a:lnSpc>
              <a:spcBef>
                <a:spcPts val="600"/>
              </a:spcBef>
            </a:pPr>
            <a:r>
              <a:rPr dirty="0" sz="800" spc="20">
                <a:latin typeface="Lucida Sans Typewriter"/>
                <a:cs typeface="Lucida Sans Typewriter"/>
              </a:rPr>
              <a:t>public</a:t>
            </a:r>
            <a:r>
              <a:rPr dirty="0" sz="800" spc="10"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final</a:t>
            </a:r>
            <a:r>
              <a:rPr dirty="0" sz="800" spc="15"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class</a:t>
            </a:r>
            <a:r>
              <a:rPr dirty="0" sz="800" spc="15"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Boolean</a:t>
            </a:r>
            <a:endParaRPr sz="800">
              <a:latin typeface="Lucida Sans Typewriter"/>
              <a:cs typeface="Lucida Sans Typewriter"/>
            </a:endParaRPr>
          </a:p>
          <a:p>
            <a:pPr marL="97790">
              <a:lnSpc>
                <a:spcPct val="100000"/>
              </a:lnSpc>
              <a:spcBef>
                <a:spcPts val="155"/>
              </a:spcBef>
            </a:pPr>
            <a:r>
              <a:rPr dirty="0" sz="800" spc="20">
                <a:latin typeface="Lucida Sans Typewriter"/>
                <a:cs typeface="Lucida Sans Typewriter"/>
              </a:rPr>
              <a:t>{</a:t>
            </a:r>
            <a:endParaRPr sz="800">
              <a:latin typeface="Lucida Sans Typewriter"/>
              <a:cs typeface="Lucida Sans Typewriter"/>
            </a:endParaRPr>
          </a:p>
          <a:p>
            <a:pPr marL="290195">
              <a:lnSpc>
                <a:spcPct val="100000"/>
              </a:lnSpc>
              <a:spcBef>
                <a:spcPts val="210"/>
              </a:spcBef>
            </a:pPr>
            <a:r>
              <a:rPr dirty="0" sz="800" spc="20">
                <a:latin typeface="Lucida Sans Typewriter"/>
                <a:cs typeface="Lucida Sans Typewriter"/>
              </a:rPr>
              <a:t>private</a:t>
            </a:r>
            <a:r>
              <a:rPr dirty="0" sz="800" spc="15"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final</a:t>
            </a:r>
            <a:r>
              <a:rPr dirty="0" sz="800" spc="15"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boolean</a:t>
            </a:r>
            <a:r>
              <a:rPr dirty="0" sz="800" spc="15"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value;</a:t>
            </a:r>
            <a:endParaRPr sz="800">
              <a:latin typeface="Lucida Sans Typewriter"/>
              <a:cs typeface="Lucida Sans Typewriter"/>
            </a:endParaRPr>
          </a:p>
          <a:p>
            <a:pPr marL="290195">
              <a:lnSpc>
                <a:spcPct val="100000"/>
              </a:lnSpc>
              <a:spcBef>
                <a:spcPts val="204"/>
              </a:spcBef>
            </a:pPr>
            <a:r>
              <a:rPr dirty="0" sz="800" spc="20">
                <a:latin typeface="Lucida Sans Typewriter"/>
                <a:cs typeface="Lucida Sans Typewriter"/>
              </a:rPr>
              <a:t>...</a:t>
            </a:r>
            <a:endParaRPr sz="800">
              <a:latin typeface="Lucida Sans Typewriter"/>
              <a:cs typeface="Lucida Sans Typewriter"/>
            </a:endParaRPr>
          </a:p>
          <a:p>
            <a:pPr>
              <a:lnSpc>
                <a:spcPct val="100000"/>
              </a:lnSpc>
            </a:pPr>
            <a:endParaRPr sz="1000">
              <a:latin typeface="Lucida Sans Typewriter"/>
              <a:cs typeface="Lucida Sans Typewriter"/>
            </a:endParaRPr>
          </a:p>
          <a:p>
            <a:pPr>
              <a:lnSpc>
                <a:spcPct val="100000"/>
              </a:lnSpc>
            </a:pPr>
            <a:endParaRPr sz="1000">
              <a:latin typeface="Lucida Sans Typewriter"/>
              <a:cs typeface="Lucida Sans Typewriter"/>
            </a:endParaRPr>
          </a:p>
          <a:p>
            <a:pPr>
              <a:lnSpc>
                <a:spcPct val="100000"/>
              </a:lnSpc>
            </a:pPr>
            <a:endParaRPr sz="1000">
              <a:latin typeface="Lucida Sans Typewriter"/>
              <a:cs typeface="Lucida Sans Typewriter"/>
            </a:endParaRPr>
          </a:p>
          <a:p>
            <a:pPr>
              <a:lnSpc>
                <a:spcPct val="100000"/>
              </a:lnSpc>
            </a:pPr>
            <a:endParaRPr sz="1000">
              <a:latin typeface="Lucida Sans Typewriter"/>
              <a:cs typeface="Lucida Sans Typewriter"/>
            </a:endParaRPr>
          </a:p>
          <a:p>
            <a:pPr>
              <a:lnSpc>
                <a:spcPct val="100000"/>
              </a:lnSpc>
            </a:pPr>
            <a:endParaRPr sz="1000">
              <a:latin typeface="Lucida Sans Typewriter"/>
              <a:cs typeface="Lucida Sans Typewriter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050">
              <a:latin typeface="Lucida Sans Typewriter"/>
              <a:cs typeface="Lucida Sans Typewriter"/>
            </a:endParaRPr>
          </a:p>
          <a:p>
            <a:pPr marL="97790">
              <a:lnSpc>
                <a:spcPct val="100000"/>
              </a:lnSpc>
            </a:pPr>
            <a:r>
              <a:rPr dirty="0" sz="800" spc="20">
                <a:latin typeface="Lucida Sans Typewriter"/>
                <a:cs typeface="Lucida Sans Typewriter"/>
              </a:rPr>
              <a:t>}</a:t>
            </a:r>
            <a:endParaRPr sz="800">
              <a:latin typeface="Lucida Sans Typewriter"/>
              <a:cs typeface="Lucida Sans Typewriter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346176" y="4966780"/>
            <a:ext cx="6066790" cy="4549775"/>
          </a:xfrm>
          <a:prstGeom prst="rect">
            <a:avLst/>
          </a:prstGeom>
        </p:spPr>
        <p:txBody>
          <a:bodyPr wrap="square" lIns="0" tIns="172085" rIns="0" bIns="0" rtlCol="0" vert="horz">
            <a:spAutoFit/>
          </a:bodyPr>
          <a:lstStyle/>
          <a:p>
            <a:pPr marL="406400">
              <a:lnSpc>
                <a:spcPct val="100000"/>
              </a:lnSpc>
              <a:spcBef>
                <a:spcPts val="1355"/>
              </a:spcBef>
            </a:pPr>
            <a:r>
              <a:rPr dirty="0" sz="1300" spc="5">
                <a:latin typeface="Arial"/>
                <a:cs typeface="Arial"/>
              </a:rPr>
              <a:t>Implementing</a:t>
            </a:r>
            <a:r>
              <a:rPr dirty="0" sz="1300" spc="40">
                <a:latin typeface="Arial"/>
                <a:cs typeface="Arial"/>
              </a:rPr>
              <a:t> </a:t>
            </a:r>
            <a:r>
              <a:rPr dirty="0" sz="1300" spc="-20">
                <a:latin typeface="Arial"/>
                <a:cs typeface="Arial"/>
              </a:rPr>
              <a:t>hash</a:t>
            </a:r>
            <a:r>
              <a:rPr dirty="0" sz="1300" spc="40">
                <a:latin typeface="Arial"/>
                <a:cs typeface="Arial"/>
              </a:rPr>
              <a:t> </a:t>
            </a:r>
            <a:r>
              <a:rPr dirty="0" sz="1300" spc="25">
                <a:latin typeface="Arial"/>
                <a:cs typeface="Arial"/>
              </a:rPr>
              <a:t>code: </a:t>
            </a:r>
            <a:r>
              <a:rPr dirty="0" sz="1300" spc="60">
                <a:latin typeface="Arial"/>
                <a:cs typeface="Arial"/>
              </a:rPr>
              <a:t> </a:t>
            </a:r>
            <a:r>
              <a:rPr dirty="0" sz="1300" spc="5">
                <a:latin typeface="Arial"/>
                <a:cs typeface="Arial"/>
              </a:rPr>
              <a:t>integers,</a:t>
            </a:r>
            <a:r>
              <a:rPr dirty="0" sz="1300" spc="40">
                <a:latin typeface="Arial"/>
                <a:cs typeface="Arial"/>
              </a:rPr>
              <a:t> </a:t>
            </a:r>
            <a:r>
              <a:rPr dirty="0" sz="1300" spc="20">
                <a:latin typeface="Arial"/>
                <a:cs typeface="Arial"/>
              </a:rPr>
              <a:t>booleans,</a:t>
            </a:r>
            <a:r>
              <a:rPr dirty="0" sz="1300" spc="40">
                <a:latin typeface="Arial"/>
                <a:cs typeface="Arial"/>
              </a:rPr>
              <a:t> </a:t>
            </a:r>
            <a:r>
              <a:rPr dirty="0" sz="1300" spc="35">
                <a:latin typeface="Arial"/>
                <a:cs typeface="Arial"/>
              </a:rPr>
              <a:t>and</a:t>
            </a:r>
            <a:r>
              <a:rPr dirty="0" sz="1300" spc="45">
                <a:latin typeface="Arial"/>
                <a:cs typeface="Arial"/>
              </a:rPr>
              <a:t> </a:t>
            </a:r>
            <a:r>
              <a:rPr dirty="0" sz="1300" spc="10">
                <a:latin typeface="Arial"/>
                <a:cs typeface="Arial"/>
              </a:rPr>
              <a:t>doubles</a:t>
            </a:r>
            <a:endParaRPr sz="13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250">
              <a:latin typeface="Arial"/>
              <a:cs typeface="Arial"/>
            </a:endParaRPr>
          </a:p>
          <a:p>
            <a:pPr marL="287655">
              <a:lnSpc>
                <a:spcPct val="100000"/>
              </a:lnSpc>
              <a:spcBef>
                <a:spcPts val="5"/>
              </a:spcBef>
            </a:pPr>
            <a:r>
              <a:rPr dirty="0" sz="750" spc="-20" b="1">
                <a:latin typeface="Tahoma"/>
                <a:cs typeface="Tahoma"/>
              </a:rPr>
              <a:t>Java</a:t>
            </a:r>
            <a:r>
              <a:rPr dirty="0" sz="750" spc="5" b="1">
                <a:latin typeface="Tahoma"/>
                <a:cs typeface="Tahoma"/>
              </a:rPr>
              <a:t> </a:t>
            </a:r>
            <a:r>
              <a:rPr dirty="0" sz="750" spc="10" b="1">
                <a:latin typeface="Tahoma"/>
                <a:cs typeface="Tahoma"/>
              </a:rPr>
              <a:t>library </a:t>
            </a:r>
            <a:r>
              <a:rPr dirty="0" sz="750" spc="5" b="1">
                <a:latin typeface="Tahoma"/>
                <a:cs typeface="Tahoma"/>
              </a:rPr>
              <a:t>implementations</a:t>
            </a:r>
            <a:endParaRPr sz="75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900">
              <a:latin typeface="Tahoma"/>
              <a:cs typeface="Tahoma"/>
            </a:endParaRPr>
          </a:p>
          <a:p>
            <a:pPr marL="2864485">
              <a:lnSpc>
                <a:spcPct val="100000"/>
              </a:lnSpc>
              <a:spcBef>
                <a:spcPts val="715"/>
              </a:spcBef>
            </a:pPr>
            <a:r>
              <a:rPr dirty="0" sz="800" spc="20">
                <a:latin typeface="Lucida Sans Typewriter"/>
                <a:cs typeface="Lucida Sans Typewriter"/>
              </a:rPr>
              <a:t>public</a:t>
            </a:r>
            <a:r>
              <a:rPr dirty="0" sz="800" spc="10"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final</a:t>
            </a:r>
            <a:r>
              <a:rPr dirty="0" sz="800" spc="15"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class</a:t>
            </a:r>
            <a:r>
              <a:rPr dirty="0" sz="800" spc="10"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Double</a:t>
            </a:r>
            <a:endParaRPr sz="800">
              <a:latin typeface="Lucida Sans Typewriter"/>
              <a:cs typeface="Lucida Sans Typewriter"/>
            </a:endParaRPr>
          </a:p>
          <a:p>
            <a:pPr marL="2864485">
              <a:lnSpc>
                <a:spcPct val="100000"/>
              </a:lnSpc>
              <a:spcBef>
                <a:spcPts val="160"/>
              </a:spcBef>
            </a:pPr>
            <a:r>
              <a:rPr dirty="0" sz="800" spc="20">
                <a:latin typeface="Lucida Sans Typewriter"/>
                <a:cs typeface="Lucida Sans Typewriter"/>
              </a:rPr>
              <a:t>{</a:t>
            </a:r>
            <a:endParaRPr sz="800">
              <a:latin typeface="Lucida Sans Typewriter"/>
              <a:cs typeface="Lucida Sans Typewriter"/>
            </a:endParaRPr>
          </a:p>
          <a:p>
            <a:pPr marL="3056890">
              <a:lnSpc>
                <a:spcPct val="100000"/>
              </a:lnSpc>
              <a:spcBef>
                <a:spcPts val="204"/>
              </a:spcBef>
            </a:pPr>
            <a:r>
              <a:rPr dirty="0" sz="800" spc="20">
                <a:latin typeface="Lucida Sans Typewriter"/>
                <a:cs typeface="Lucida Sans Typewriter"/>
              </a:rPr>
              <a:t>private</a:t>
            </a:r>
            <a:r>
              <a:rPr dirty="0" sz="800" spc="10"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final</a:t>
            </a:r>
            <a:r>
              <a:rPr dirty="0" sz="800" spc="15"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double</a:t>
            </a:r>
            <a:r>
              <a:rPr dirty="0" sz="800" spc="15"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value;</a:t>
            </a:r>
            <a:endParaRPr sz="800">
              <a:latin typeface="Lucida Sans Typewriter"/>
              <a:cs typeface="Lucida Sans Typewriter"/>
            </a:endParaRPr>
          </a:p>
          <a:p>
            <a:pPr marL="3056890">
              <a:lnSpc>
                <a:spcPct val="100000"/>
              </a:lnSpc>
              <a:spcBef>
                <a:spcPts val="204"/>
              </a:spcBef>
            </a:pPr>
            <a:r>
              <a:rPr dirty="0" sz="800" spc="20">
                <a:latin typeface="Lucida Sans Typewriter"/>
                <a:cs typeface="Lucida Sans Typewriter"/>
              </a:rPr>
              <a:t>...</a:t>
            </a:r>
            <a:endParaRPr sz="800">
              <a:latin typeface="Lucida Sans Typewriter"/>
              <a:cs typeface="Lucida Sans Typewriter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150">
              <a:latin typeface="Lucida Sans Typewriter"/>
              <a:cs typeface="Lucida Sans Typewriter"/>
            </a:endParaRPr>
          </a:p>
          <a:p>
            <a:pPr marL="3056890">
              <a:lnSpc>
                <a:spcPct val="100000"/>
              </a:lnSpc>
            </a:pPr>
            <a:r>
              <a:rPr dirty="0" sz="800" spc="20">
                <a:latin typeface="Lucida Sans Typewriter"/>
                <a:cs typeface="Lucida Sans Typewriter"/>
              </a:rPr>
              <a:t>public</a:t>
            </a:r>
            <a:r>
              <a:rPr dirty="0" sz="800" spc="5"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int</a:t>
            </a:r>
            <a:r>
              <a:rPr dirty="0" sz="800" spc="5"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hashCode()</a:t>
            </a:r>
            <a:endParaRPr sz="800">
              <a:latin typeface="Lucida Sans Typewriter"/>
              <a:cs typeface="Lucida Sans Typewriter"/>
            </a:endParaRPr>
          </a:p>
          <a:p>
            <a:pPr marL="3056890">
              <a:lnSpc>
                <a:spcPct val="100000"/>
              </a:lnSpc>
              <a:spcBef>
                <a:spcPts val="160"/>
              </a:spcBef>
            </a:pPr>
            <a:r>
              <a:rPr dirty="0" sz="800" spc="20">
                <a:latin typeface="Lucida Sans Typewriter"/>
                <a:cs typeface="Lucida Sans Typewriter"/>
              </a:rPr>
              <a:t>{</a:t>
            </a:r>
            <a:endParaRPr sz="800">
              <a:latin typeface="Lucida Sans Typewriter"/>
              <a:cs typeface="Lucida Sans Typewriter"/>
            </a:endParaRPr>
          </a:p>
          <a:p>
            <a:pPr marL="3249295" marR="497205">
              <a:lnSpc>
                <a:spcPct val="121500"/>
              </a:lnSpc>
            </a:pPr>
            <a:r>
              <a:rPr dirty="0" sz="800" spc="20">
                <a:latin typeface="Lucida Sans Typewriter"/>
                <a:cs typeface="Lucida Sans Typewriter"/>
              </a:rPr>
              <a:t>long bits</a:t>
            </a:r>
            <a:r>
              <a:rPr dirty="0" sz="800" spc="25"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=</a:t>
            </a:r>
            <a:r>
              <a:rPr dirty="0" sz="800" spc="25"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doubleToLongBits(value); </a:t>
            </a:r>
            <a:r>
              <a:rPr dirty="0" sz="800" spc="-465"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return (int) (bits ^ (bits &gt;&gt;&gt; 32));</a:t>
            </a:r>
            <a:endParaRPr sz="800">
              <a:latin typeface="Lucida Sans Typewriter"/>
              <a:cs typeface="Lucida Sans Typewriter"/>
            </a:endParaRPr>
          </a:p>
          <a:p>
            <a:pPr marL="3056890">
              <a:lnSpc>
                <a:spcPct val="100000"/>
              </a:lnSpc>
              <a:spcBef>
                <a:spcPts val="209"/>
              </a:spcBef>
            </a:pPr>
            <a:r>
              <a:rPr dirty="0" sz="800" spc="20">
                <a:latin typeface="Lucida Sans Typewriter"/>
                <a:cs typeface="Lucida Sans Typewriter"/>
              </a:rPr>
              <a:t>}</a:t>
            </a:r>
            <a:endParaRPr sz="800">
              <a:latin typeface="Lucida Sans Typewriter"/>
              <a:cs typeface="Lucida Sans Typewriter"/>
            </a:endParaRPr>
          </a:p>
          <a:p>
            <a:pPr marL="2864485">
              <a:lnSpc>
                <a:spcPct val="100000"/>
              </a:lnSpc>
              <a:spcBef>
                <a:spcPts val="204"/>
              </a:spcBef>
            </a:pPr>
            <a:r>
              <a:rPr dirty="0" sz="800" spc="20">
                <a:latin typeface="Lucida Sans Typewriter"/>
                <a:cs typeface="Lucida Sans Typewriter"/>
              </a:rPr>
              <a:t>}</a:t>
            </a:r>
            <a:endParaRPr sz="800">
              <a:latin typeface="Lucida Sans Typewriter"/>
              <a:cs typeface="Lucida Sans Typewriter"/>
            </a:endParaRPr>
          </a:p>
          <a:p>
            <a:pPr>
              <a:lnSpc>
                <a:spcPct val="100000"/>
              </a:lnSpc>
            </a:pPr>
            <a:endParaRPr sz="1000">
              <a:latin typeface="Lucida Sans Typewriter"/>
              <a:cs typeface="Lucida Sans Typewriter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100">
              <a:latin typeface="Lucida Sans Typewriter"/>
              <a:cs typeface="Lucida Sans Typewriter"/>
            </a:endParaRPr>
          </a:p>
          <a:p>
            <a:pPr algn="ctr" marL="3549015" marR="796925">
              <a:lnSpc>
                <a:spcPct val="119200"/>
              </a:lnSpc>
            </a:pPr>
            <a:r>
              <a:rPr dirty="0" sz="750">
                <a:solidFill>
                  <a:srgbClr val="8D3124"/>
                </a:solidFill>
                <a:latin typeface="Lucida Sans"/>
                <a:cs typeface="Lucida Sans"/>
              </a:rPr>
              <a:t>convert </a:t>
            </a:r>
            <a:r>
              <a:rPr dirty="0" sz="750" spc="-5">
                <a:solidFill>
                  <a:srgbClr val="8D3124"/>
                </a:solidFill>
                <a:latin typeface="Lucida Sans"/>
                <a:cs typeface="Lucida Sans"/>
              </a:rPr>
              <a:t>to IEEE 64-bit representation; </a:t>
            </a:r>
            <a:r>
              <a:rPr dirty="0" sz="750" spc="-225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dirty="0" sz="750" spc="-5">
                <a:solidFill>
                  <a:srgbClr val="8D3124"/>
                </a:solidFill>
                <a:latin typeface="Lucida Sans"/>
                <a:cs typeface="Lucida Sans"/>
              </a:rPr>
              <a:t>xor</a:t>
            </a:r>
            <a:r>
              <a:rPr dirty="0" sz="750" spc="-10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dirty="0" sz="750" spc="-5">
                <a:solidFill>
                  <a:srgbClr val="8D3124"/>
                </a:solidFill>
                <a:latin typeface="Lucida Sans"/>
                <a:cs typeface="Lucida Sans"/>
              </a:rPr>
              <a:t>most significant 32-bits</a:t>
            </a:r>
            <a:endParaRPr sz="750">
              <a:latin typeface="Lucida Sans"/>
              <a:cs typeface="Lucida Sans"/>
            </a:endParaRPr>
          </a:p>
          <a:p>
            <a:pPr algn="ctr" marL="2744470">
              <a:lnSpc>
                <a:spcPct val="100000"/>
              </a:lnSpc>
              <a:spcBef>
                <a:spcPts val="220"/>
              </a:spcBef>
            </a:pPr>
            <a:r>
              <a:rPr dirty="0" sz="750" spc="10">
                <a:solidFill>
                  <a:srgbClr val="8D3124"/>
                </a:solidFill>
                <a:latin typeface="Lucida Sans"/>
                <a:cs typeface="Lucida Sans"/>
              </a:rPr>
              <a:t>with</a:t>
            </a:r>
            <a:r>
              <a:rPr dirty="0" sz="750" spc="-15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dirty="0" sz="750" spc="-5">
                <a:solidFill>
                  <a:srgbClr val="8D3124"/>
                </a:solidFill>
                <a:latin typeface="Lucida Sans"/>
                <a:cs typeface="Lucida Sans"/>
              </a:rPr>
              <a:t>least</a:t>
            </a:r>
            <a:r>
              <a:rPr dirty="0" sz="750" spc="-10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dirty="0" sz="750" spc="-5">
                <a:solidFill>
                  <a:srgbClr val="8D3124"/>
                </a:solidFill>
                <a:latin typeface="Lucida Sans"/>
                <a:cs typeface="Lucida Sans"/>
              </a:rPr>
              <a:t>significant</a:t>
            </a:r>
            <a:r>
              <a:rPr dirty="0" sz="750" spc="-10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dirty="0" sz="750" spc="-5">
                <a:solidFill>
                  <a:srgbClr val="8D3124"/>
                </a:solidFill>
                <a:latin typeface="Lucida Sans"/>
                <a:cs typeface="Lucida Sans"/>
              </a:rPr>
              <a:t>32-bits</a:t>
            </a:r>
            <a:endParaRPr sz="750">
              <a:latin typeface="Lucida Sans"/>
              <a:cs typeface="Lucida Sans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050">
              <a:latin typeface="Lucida Sans"/>
              <a:cs typeface="Lucida Sans"/>
            </a:endParaRPr>
          </a:p>
          <a:p>
            <a:pPr algn="ctr" marL="2744470">
              <a:lnSpc>
                <a:spcPct val="100000"/>
              </a:lnSpc>
            </a:pPr>
            <a:r>
              <a:rPr dirty="0" sz="750" spc="-10">
                <a:solidFill>
                  <a:srgbClr val="8D3124"/>
                </a:solidFill>
                <a:latin typeface="Lucida Sans"/>
                <a:cs typeface="Lucida Sans"/>
              </a:rPr>
              <a:t>Warning:</a:t>
            </a:r>
            <a:r>
              <a:rPr dirty="0" sz="750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dirty="0" sz="750" spc="-5">
                <a:solidFill>
                  <a:srgbClr val="8D3124"/>
                </a:solidFill>
                <a:latin typeface="Lucida Sans"/>
                <a:cs typeface="Lucida Sans"/>
              </a:rPr>
              <a:t>-0.0</a:t>
            </a:r>
            <a:r>
              <a:rPr dirty="0" sz="750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dirty="0" sz="750" spc="-5">
                <a:solidFill>
                  <a:srgbClr val="8D3124"/>
                </a:solidFill>
                <a:latin typeface="Lucida Sans"/>
                <a:cs typeface="Lucida Sans"/>
              </a:rPr>
              <a:t>and</a:t>
            </a:r>
            <a:r>
              <a:rPr dirty="0" sz="750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dirty="0" sz="750" spc="-5">
                <a:solidFill>
                  <a:srgbClr val="8D3124"/>
                </a:solidFill>
                <a:latin typeface="Lucida Sans"/>
                <a:cs typeface="Lucida Sans"/>
              </a:rPr>
              <a:t>+0.0</a:t>
            </a:r>
            <a:r>
              <a:rPr dirty="0" sz="750" spc="5">
                <a:solidFill>
                  <a:srgbClr val="8D3124"/>
                </a:solidFill>
                <a:latin typeface="Lucida Sans"/>
                <a:cs typeface="Lucida Sans"/>
              </a:rPr>
              <a:t> have</a:t>
            </a:r>
            <a:r>
              <a:rPr dirty="0" sz="750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dirty="0" sz="750" spc="-10">
                <a:solidFill>
                  <a:srgbClr val="8D3124"/>
                </a:solidFill>
                <a:latin typeface="Lucida Sans"/>
                <a:cs typeface="Lucida Sans"/>
              </a:rPr>
              <a:t>different</a:t>
            </a:r>
            <a:r>
              <a:rPr dirty="0" sz="750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dirty="0" sz="750" spc="-5">
                <a:solidFill>
                  <a:srgbClr val="8D3124"/>
                </a:solidFill>
                <a:latin typeface="Lucida Sans"/>
                <a:cs typeface="Lucida Sans"/>
              </a:rPr>
              <a:t>hash</a:t>
            </a:r>
            <a:r>
              <a:rPr dirty="0" sz="750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dirty="0" sz="750" spc="-5">
                <a:solidFill>
                  <a:srgbClr val="8D3124"/>
                </a:solidFill>
                <a:latin typeface="Lucida Sans"/>
                <a:cs typeface="Lucida Sans"/>
              </a:rPr>
              <a:t>codes</a:t>
            </a:r>
            <a:endParaRPr sz="750">
              <a:latin typeface="Lucida Sans"/>
              <a:cs typeface="Lucida Sans"/>
            </a:endParaRPr>
          </a:p>
          <a:p>
            <a:pPr>
              <a:lnSpc>
                <a:spcPct val="100000"/>
              </a:lnSpc>
            </a:pPr>
            <a:endParaRPr sz="900">
              <a:latin typeface="Lucida Sans"/>
              <a:cs typeface="Lucida Sans"/>
            </a:endParaRPr>
          </a:p>
          <a:p>
            <a:pPr>
              <a:lnSpc>
                <a:spcPct val="100000"/>
              </a:lnSpc>
            </a:pPr>
            <a:endParaRPr sz="900">
              <a:latin typeface="Lucida Sans"/>
              <a:cs typeface="Lucida Sans"/>
            </a:endParaRPr>
          </a:p>
          <a:p>
            <a:pPr>
              <a:lnSpc>
                <a:spcPct val="100000"/>
              </a:lnSpc>
            </a:pPr>
            <a:endParaRPr sz="900">
              <a:latin typeface="Lucida Sans"/>
              <a:cs typeface="Lucida Sans"/>
            </a:endParaRPr>
          </a:p>
          <a:p>
            <a:pPr>
              <a:lnSpc>
                <a:spcPct val="100000"/>
              </a:lnSpc>
            </a:pPr>
            <a:endParaRPr sz="900">
              <a:latin typeface="Lucida Sans"/>
              <a:cs typeface="Lucida Sans"/>
            </a:endParaRPr>
          </a:p>
          <a:p>
            <a:pPr>
              <a:lnSpc>
                <a:spcPct val="100000"/>
              </a:lnSpc>
            </a:pPr>
            <a:endParaRPr sz="900">
              <a:latin typeface="Lucida Sans"/>
              <a:cs typeface="Lucida Sans"/>
            </a:endParaRPr>
          </a:p>
          <a:p>
            <a:pPr algn="r" marR="78105">
              <a:lnSpc>
                <a:spcPct val="100000"/>
              </a:lnSpc>
              <a:spcBef>
                <a:spcPts val="555"/>
              </a:spcBef>
            </a:pPr>
            <a:r>
              <a:rPr dirty="0" sz="550" spc="5">
                <a:latin typeface="Lucida Sans"/>
                <a:cs typeface="Lucida Sans"/>
              </a:rPr>
              <a:t>7</a:t>
            </a:r>
            <a:endParaRPr sz="550">
              <a:latin typeface="Lucida Sans"/>
              <a:cs typeface="Lucida Sans"/>
            </a:endParaRPr>
          </a:p>
        </p:txBody>
      </p:sp>
      <p:grpSp>
        <p:nvGrpSpPr>
          <p:cNvPr id="65" name="object 65"/>
          <p:cNvGrpSpPr/>
          <p:nvPr/>
        </p:nvGrpSpPr>
        <p:grpSpPr>
          <a:xfrm>
            <a:off x="6592379" y="4966780"/>
            <a:ext cx="6066790" cy="4549775"/>
            <a:chOff x="6592379" y="4966780"/>
            <a:chExt cx="6066790" cy="4549775"/>
          </a:xfrm>
        </p:grpSpPr>
        <p:sp>
          <p:nvSpPr>
            <p:cNvPr id="66" name="object 66"/>
            <p:cNvSpPr/>
            <p:nvPr/>
          </p:nvSpPr>
          <p:spPr>
            <a:xfrm>
              <a:off x="6592379" y="4966780"/>
              <a:ext cx="6066790" cy="4549775"/>
            </a:xfrm>
            <a:custGeom>
              <a:avLst/>
              <a:gdLst/>
              <a:ahLst/>
              <a:cxnLst/>
              <a:rect l="l" t="t" r="r" b="b"/>
              <a:pathLst>
                <a:path w="6066790" h="4549775">
                  <a:moveTo>
                    <a:pt x="0" y="0"/>
                  </a:moveTo>
                  <a:lnTo>
                    <a:pt x="6066212" y="0"/>
                  </a:lnTo>
                  <a:lnTo>
                    <a:pt x="6066212" y="4549659"/>
                  </a:lnTo>
                  <a:lnTo>
                    <a:pt x="0" y="45496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/>
            <p:cNvSpPr/>
            <p:nvPr/>
          </p:nvSpPr>
          <p:spPr>
            <a:xfrm>
              <a:off x="6977442" y="5428805"/>
              <a:ext cx="5302250" cy="635"/>
            </a:xfrm>
            <a:custGeom>
              <a:avLst/>
              <a:gdLst/>
              <a:ahLst/>
              <a:cxnLst/>
              <a:rect l="l" t="t" r="r" b="b"/>
              <a:pathLst>
                <a:path w="5302250" h="635">
                  <a:moveTo>
                    <a:pt x="0" y="49"/>
                  </a:moveTo>
                  <a:lnTo>
                    <a:pt x="5302012" y="0"/>
                  </a:lnTo>
                </a:path>
              </a:pathLst>
            </a:custGeom>
            <a:ln w="59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8" name="object 68"/>
          <p:cNvSpPr txBox="1"/>
          <p:nvPr/>
        </p:nvSpPr>
        <p:spPr>
          <a:xfrm>
            <a:off x="6992658" y="8034579"/>
            <a:ext cx="3309620" cy="3098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dirty="0" baseline="-10510" sz="2775" spc="22">
                <a:latin typeface="Microsoft JhengHei"/>
                <a:cs typeface="Microsoft JhengHei"/>
              </a:rPr>
              <a:t>・</a:t>
            </a:r>
            <a:r>
              <a:rPr dirty="0" sz="1100" spc="5">
                <a:latin typeface="Lucida Sans"/>
                <a:cs typeface="Lucida Sans"/>
              </a:rPr>
              <a:t>Horner's </a:t>
            </a:r>
            <a:r>
              <a:rPr dirty="0" sz="1100" spc="10">
                <a:latin typeface="Lucida Sans"/>
                <a:cs typeface="Lucida Sans"/>
              </a:rPr>
              <a:t>method </a:t>
            </a:r>
            <a:r>
              <a:rPr dirty="0" sz="1100" spc="5">
                <a:latin typeface="Lucida Sans"/>
                <a:cs typeface="Lucida Sans"/>
              </a:rPr>
              <a:t>to</a:t>
            </a:r>
            <a:r>
              <a:rPr dirty="0" sz="1100" spc="10">
                <a:latin typeface="Lucida Sans"/>
                <a:cs typeface="Lucida Sans"/>
              </a:rPr>
              <a:t> hash </a:t>
            </a:r>
            <a:r>
              <a:rPr dirty="0" sz="1100" spc="5">
                <a:latin typeface="Lucida Sans"/>
                <a:cs typeface="Lucida Sans"/>
              </a:rPr>
              <a:t>string of</a:t>
            </a:r>
            <a:r>
              <a:rPr dirty="0" sz="1100" spc="10">
                <a:latin typeface="Lucida Sans"/>
                <a:cs typeface="Lucida Sans"/>
              </a:rPr>
              <a:t> </a:t>
            </a:r>
            <a:r>
              <a:rPr dirty="0" sz="1100" spc="5">
                <a:latin typeface="Lucida Sans"/>
                <a:cs typeface="Lucida Sans"/>
              </a:rPr>
              <a:t>length</a:t>
            </a:r>
            <a:r>
              <a:rPr dirty="0" sz="1100" spc="10">
                <a:latin typeface="Lucida Sans"/>
                <a:cs typeface="Lucida Sans"/>
              </a:rPr>
              <a:t> </a:t>
            </a:r>
            <a:r>
              <a:rPr dirty="0" sz="1100" spc="5" i="1">
                <a:latin typeface="Times New Roman"/>
                <a:cs typeface="Times New Roman"/>
              </a:rPr>
              <a:t>L</a:t>
            </a:r>
            <a:r>
              <a:rPr dirty="0" sz="1100" spc="5">
                <a:latin typeface="Lucida Sans"/>
                <a:cs typeface="Lucida Sans"/>
              </a:rPr>
              <a:t>:</a:t>
            </a:r>
            <a:endParaRPr sz="1100">
              <a:latin typeface="Lucida Sans"/>
              <a:cs typeface="Lucida Sans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10341272" y="8129363"/>
            <a:ext cx="1274445" cy="1962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100" spc="10" i="1">
                <a:latin typeface="Times New Roman"/>
                <a:cs typeface="Times New Roman"/>
              </a:rPr>
              <a:t>L</a:t>
            </a:r>
            <a:r>
              <a:rPr dirty="0" sz="1100" spc="55" i="1">
                <a:latin typeface="Times New Roman"/>
                <a:cs typeface="Times New Roman"/>
              </a:rPr>
              <a:t> </a:t>
            </a:r>
            <a:r>
              <a:rPr dirty="0" sz="1100" spc="5">
                <a:latin typeface="Lucida Sans"/>
                <a:cs typeface="Lucida Sans"/>
              </a:rPr>
              <a:t>multiplies/adds.</a:t>
            </a:r>
            <a:endParaRPr sz="1100">
              <a:latin typeface="Lucida Sans"/>
              <a:cs typeface="Lucida Sans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6992658" y="8265616"/>
            <a:ext cx="5253990" cy="3098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dirty="0" baseline="-10510" sz="2775" spc="22">
                <a:latin typeface="Microsoft JhengHei"/>
                <a:cs typeface="Microsoft JhengHei"/>
              </a:rPr>
              <a:t>・</a:t>
            </a:r>
            <a:r>
              <a:rPr dirty="0" sz="1100" spc="15">
                <a:latin typeface="Lucida Sans"/>
                <a:cs typeface="Lucida Sans"/>
              </a:rPr>
              <a:t>Equivalent</a:t>
            </a:r>
            <a:r>
              <a:rPr dirty="0" sz="1100" spc="5">
                <a:latin typeface="Lucida Sans"/>
                <a:cs typeface="Lucida Sans"/>
              </a:rPr>
              <a:t> </a:t>
            </a:r>
            <a:r>
              <a:rPr dirty="0" sz="1100" spc="5">
                <a:latin typeface="Lucida Sans"/>
                <a:cs typeface="Lucida Sans"/>
              </a:rPr>
              <a:t>to</a:t>
            </a:r>
            <a:r>
              <a:rPr dirty="0" sz="1100">
                <a:latin typeface="Lucida Sans"/>
                <a:cs typeface="Lucida Sans"/>
              </a:rPr>
              <a:t> </a:t>
            </a:r>
            <a:r>
              <a:rPr dirty="0" sz="1100" spc="10">
                <a:latin typeface="Lucida Sans"/>
                <a:cs typeface="Lucida Sans"/>
              </a:rPr>
              <a:t> </a:t>
            </a:r>
            <a:r>
              <a:rPr dirty="0" sz="1100" spc="5" i="1">
                <a:latin typeface="Times New Roman"/>
                <a:cs typeface="Times New Roman"/>
              </a:rPr>
              <a:t>h</a:t>
            </a:r>
            <a:r>
              <a:rPr dirty="0" sz="1100" i="1">
                <a:latin typeface="Times New Roman"/>
                <a:cs typeface="Times New Roman"/>
              </a:rPr>
              <a:t> </a:t>
            </a:r>
            <a:r>
              <a:rPr dirty="0" sz="1100" spc="10">
                <a:latin typeface="Times New Roman"/>
                <a:cs typeface="Times New Roman"/>
              </a:rPr>
              <a:t>=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5" i="1">
                <a:latin typeface="Times New Roman"/>
                <a:cs typeface="Times New Roman"/>
              </a:rPr>
              <a:t>s</a:t>
            </a:r>
            <a:r>
              <a:rPr dirty="0" sz="1000" spc="5">
                <a:latin typeface="Times New Roman"/>
                <a:cs typeface="Times New Roman"/>
              </a:rPr>
              <a:t>[</a:t>
            </a:r>
            <a:r>
              <a:rPr dirty="0" sz="900" spc="15">
                <a:latin typeface="Times New Roman"/>
                <a:cs typeface="Times New Roman"/>
              </a:rPr>
              <a:t>0</a:t>
            </a:r>
            <a:r>
              <a:rPr dirty="0" sz="1000" spc="5">
                <a:latin typeface="Times New Roman"/>
                <a:cs typeface="Times New Roman"/>
              </a:rPr>
              <a:t>]</a:t>
            </a:r>
            <a:r>
              <a:rPr dirty="0" sz="1000" spc="120">
                <a:latin typeface="Times New Roman"/>
                <a:cs typeface="Times New Roman"/>
              </a:rPr>
              <a:t> </a:t>
            </a:r>
            <a:r>
              <a:rPr dirty="0" sz="1100" spc="5">
                <a:latin typeface="Times New Roman"/>
                <a:cs typeface="Times New Roman"/>
              </a:rPr>
              <a:t>·</a:t>
            </a:r>
            <a:r>
              <a:rPr dirty="0" sz="1100" spc="-90">
                <a:latin typeface="Times New Roman"/>
                <a:cs typeface="Times New Roman"/>
              </a:rPr>
              <a:t> </a:t>
            </a:r>
            <a:r>
              <a:rPr dirty="0" sz="1100" spc="5">
                <a:latin typeface="Times New Roman"/>
                <a:cs typeface="Times New Roman"/>
              </a:rPr>
              <a:t>31</a:t>
            </a:r>
            <a:r>
              <a:rPr dirty="0" baseline="25925" sz="1125" spc="-7" i="1">
                <a:latin typeface="Times New Roman"/>
                <a:cs typeface="Times New Roman"/>
              </a:rPr>
              <a:t>L</a:t>
            </a:r>
            <a:r>
              <a:rPr dirty="0" baseline="25925" sz="1125" spc="-7">
                <a:latin typeface="Times New Roman"/>
                <a:cs typeface="Times New Roman"/>
              </a:rPr>
              <a:t>–1</a:t>
            </a:r>
            <a:r>
              <a:rPr dirty="0" baseline="25925" sz="1125">
                <a:latin typeface="Times New Roman"/>
                <a:cs typeface="Times New Roman"/>
              </a:rPr>
              <a:t>   </a:t>
            </a:r>
            <a:r>
              <a:rPr dirty="0" baseline="25925" sz="1125" spc="-7">
                <a:latin typeface="Times New Roman"/>
                <a:cs typeface="Times New Roman"/>
              </a:rPr>
              <a:t> </a:t>
            </a:r>
            <a:r>
              <a:rPr dirty="0" sz="1100" spc="10">
                <a:latin typeface="Times New Roman"/>
                <a:cs typeface="Times New Roman"/>
              </a:rPr>
              <a:t>+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15">
                <a:latin typeface="Times New Roman"/>
                <a:cs typeface="Times New Roman"/>
              </a:rPr>
              <a:t>…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10">
                <a:latin typeface="Times New Roman"/>
                <a:cs typeface="Times New Roman"/>
              </a:rPr>
              <a:t>+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5" i="1">
                <a:latin typeface="Times New Roman"/>
                <a:cs typeface="Times New Roman"/>
              </a:rPr>
              <a:t>s</a:t>
            </a:r>
            <a:r>
              <a:rPr dirty="0" sz="1000" spc="5">
                <a:latin typeface="Times New Roman"/>
                <a:cs typeface="Times New Roman"/>
              </a:rPr>
              <a:t>[</a:t>
            </a:r>
            <a:r>
              <a:rPr dirty="0" sz="900" spc="15" i="1">
                <a:latin typeface="Times New Roman"/>
                <a:cs typeface="Times New Roman"/>
              </a:rPr>
              <a:t>L</a:t>
            </a:r>
            <a:r>
              <a:rPr dirty="0" sz="900" spc="-10" i="1">
                <a:latin typeface="Times New Roman"/>
                <a:cs typeface="Times New Roman"/>
              </a:rPr>
              <a:t> </a:t>
            </a:r>
            <a:r>
              <a:rPr dirty="0" sz="900" spc="15">
                <a:latin typeface="Times New Roman"/>
                <a:cs typeface="Times New Roman"/>
              </a:rPr>
              <a:t>–</a:t>
            </a:r>
            <a:r>
              <a:rPr dirty="0" sz="900" spc="5">
                <a:latin typeface="Times New Roman"/>
                <a:cs typeface="Times New Roman"/>
              </a:rPr>
              <a:t> </a:t>
            </a:r>
            <a:r>
              <a:rPr dirty="0" sz="900" spc="15">
                <a:latin typeface="Times New Roman"/>
                <a:cs typeface="Times New Roman"/>
              </a:rPr>
              <a:t>3</a:t>
            </a:r>
            <a:r>
              <a:rPr dirty="0" sz="1000" spc="5">
                <a:latin typeface="Times New Roman"/>
                <a:cs typeface="Times New Roman"/>
              </a:rPr>
              <a:t>]</a:t>
            </a:r>
            <a:r>
              <a:rPr dirty="0" sz="1000" spc="120">
                <a:latin typeface="Times New Roman"/>
                <a:cs typeface="Times New Roman"/>
              </a:rPr>
              <a:t> </a:t>
            </a:r>
            <a:r>
              <a:rPr dirty="0" sz="1100" spc="5">
                <a:latin typeface="Times New Roman"/>
                <a:cs typeface="Times New Roman"/>
              </a:rPr>
              <a:t>·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5">
                <a:latin typeface="Times New Roman"/>
                <a:cs typeface="Times New Roman"/>
              </a:rPr>
              <a:t>31</a:t>
            </a:r>
            <a:r>
              <a:rPr dirty="0" baseline="25925" sz="1125" spc="-7">
                <a:latin typeface="Times New Roman"/>
                <a:cs typeface="Times New Roman"/>
              </a:rPr>
              <a:t>2</a:t>
            </a:r>
            <a:r>
              <a:rPr dirty="0" baseline="25925" sz="1125">
                <a:latin typeface="Times New Roman"/>
                <a:cs typeface="Times New Roman"/>
              </a:rPr>
              <a:t>   </a:t>
            </a:r>
            <a:r>
              <a:rPr dirty="0" baseline="25925" sz="1125" spc="-7">
                <a:latin typeface="Times New Roman"/>
                <a:cs typeface="Times New Roman"/>
              </a:rPr>
              <a:t> </a:t>
            </a:r>
            <a:r>
              <a:rPr dirty="0" sz="1100" spc="10">
                <a:latin typeface="Times New Roman"/>
                <a:cs typeface="Times New Roman"/>
              </a:rPr>
              <a:t>+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5" i="1">
                <a:latin typeface="Times New Roman"/>
                <a:cs typeface="Times New Roman"/>
              </a:rPr>
              <a:t>s</a:t>
            </a:r>
            <a:r>
              <a:rPr dirty="0" sz="1000" spc="5">
                <a:latin typeface="Times New Roman"/>
                <a:cs typeface="Times New Roman"/>
              </a:rPr>
              <a:t>[</a:t>
            </a:r>
            <a:r>
              <a:rPr dirty="0" sz="900" spc="15" i="1">
                <a:latin typeface="Times New Roman"/>
                <a:cs typeface="Times New Roman"/>
              </a:rPr>
              <a:t>L</a:t>
            </a:r>
            <a:r>
              <a:rPr dirty="0" sz="900" spc="-10" i="1">
                <a:latin typeface="Times New Roman"/>
                <a:cs typeface="Times New Roman"/>
              </a:rPr>
              <a:t> </a:t>
            </a:r>
            <a:r>
              <a:rPr dirty="0" sz="900" spc="15">
                <a:latin typeface="Times New Roman"/>
                <a:cs typeface="Times New Roman"/>
              </a:rPr>
              <a:t>–</a:t>
            </a:r>
            <a:r>
              <a:rPr dirty="0" sz="900" spc="5">
                <a:latin typeface="Times New Roman"/>
                <a:cs typeface="Times New Roman"/>
              </a:rPr>
              <a:t> </a:t>
            </a:r>
            <a:r>
              <a:rPr dirty="0" sz="900" spc="15">
                <a:latin typeface="Times New Roman"/>
                <a:cs typeface="Times New Roman"/>
              </a:rPr>
              <a:t>2</a:t>
            </a:r>
            <a:r>
              <a:rPr dirty="0" sz="1000" spc="5">
                <a:latin typeface="Times New Roman"/>
                <a:cs typeface="Times New Roman"/>
              </a:rPr>
              <a:t>]</a:t>
            </a:r>
            <a:r>
              <a:rPr dirty="0" sz="1000" spc="-65">
                <a:latin typeface="Times New Roman"/>
                <a:cs typeface="Times New Roman"/>
              </a:rPr>
              <a:t> </a:t>
            </a:r>
            <a:r>
              <a:rPr dirty="0" sz="1100" spc="5">
                <a:latin typeface="Times New Roman"/>
                <a:cs typeface="Times New Roman"/>
              </a:rPr>
              <a:t>·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 spc="5">
                <a:latin typeface="Times New Roman"/>
                <a:cs typeface="Times New Roman"/>
              </a:rPr>
              <a:t>31</a:t>
            </a:r>
            <a:r>
              <a:rPr dirty="0" baseline="25925" sz="1125" spc="-7">
                <a:latin typeface="Times New Roman"/>
                <a:cs typeface="Times New Roman"/>
              </a:rPr>
              <a:t>1</a:t>
            </a:r>
            <a:r>
              <a:rPr dirty="0" baseline="25925" sz="1125">
                <a:latin typeface="Times New Roman"/>
                <a:cs typeface="Times New Roman"/>
              </a:rPr>
              <a:t>  </a:t>
            </a:r>
            <a:r>
              <a:rPr dirty="0" baseline="25925" sz="1125" spc="-7">
                <a:latin typeface="Times New Roman"/>
                <a:cs typeface="Times New Roman"/>
              </a:rPr>
              <a:t> </a:t>
            </a:r>
            <a:r>
              <a:rPr dirty="0" sz="1100" spc="10">
                <a:latin typeface="Times New Roman"/>
                <a:cs typeface="Times New Roman"/>
              </a:rPr>
              <a:t>+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5" i="1">
                <a:latin typeface="Times New Roman"/>
                <a:cs typeface="Times New Roman"/>
              </a:rPr>
              <a:t>s</a:t>
            </a:r>
            <a:r>
              <a:rPr dirty="0" sz="1000" spc="5">
                <a:latin typeface="Times New Roman"/>
                <a:cs typeface="Times New Roman"/>
              </a:rPr>
              <a:t>[</a:t>
            </a:r>
            <a:r>
              <a:rPr dirty="0" sz="900" spc="15" i="1">
                <a:latin typeface="Times New Roman"/>
                <a:cs typeface="Times New Roman"/>
              </a:rPr>
              <a:t>L</a:t>
            </a:r>
            <a:r>
              <a:rPr dirty="0" sz="900" spc="-10" i="1">
                <a:latin typeface="Times New Roman"/>
                <a:cs typeface="Times New Roman"/>
              </a:rPr>
              <a:t> </a:t>
            </a:r>
            <a:r>
              <a:rPr dirty="0" sz="900" spc="15">
                <a:latin typeface="Times New Roman"/>
                <a:cs typeface="Times New Roman"/>
              </a:rPr>
              <a:t>–</a:t>
            </a:r>
            <a:r>
              <a:rPr dirty="0" sz="900" spc="5">
                <a:latin typeface="Times New Roman"/>
                <a:cs typeface="Times New Roman"/>
              </a:rPr>
              <a:t> </a:t>
            </a:r>
            <a:r>
              <a:rPr dirty="0" sz="900" spc="15">
                <a:latin typeface="Times New Roman"/>
                <a:cs typeface="Times New Roman"/>
              </a:rPr>
              <a:t>1</a:t>
            </a:r>
            <a:r>
              <a:rPr dirty="0" sz="1000" spc="5">
                <a:latin typeface="Times New Roman"/>
                <a:cs typeface="Times New Roman"/>
              </a:rPr>
              <a:t>]</a:t>
            </a:r>
            <a:r>
              <a:rPr dirty="0" sz="1000" spc="-65">
                <a:latin typeface="Times New Roman"/>
                <a:cs typeface="Times New Roman"/>
              </a:rPr>
              <a:t> </a:t>
            </a:r>
            <a:r>
              <a:rPr dirty="0" sz="1100" spc="5">
                <a:latin typeface="Times New Roman"/>
                <a:cs typeface="Times New Roman"/>
              </a:rPr>
              <a:t>·</a:t>
            </a:r>
            <a:r>
              <a:rPr dirty="0" sz="1100" spc="-90">
                <a:latin typeface="Times New Roman"/>
                <a:cs typeface="Times New Roman"/>
              </a:rPr>
              <a:t> </a:t>
            </a:r>
            <a:r>
              <a:rPr dirty="0" sz="1100" spc="5">
                <a:latin typeface="Times New Roman"/>
                <a:cs typeface="Times New Roman"/>
              </a:rPr>
              <a:t>31</a:t>
            </a:r>
            <a:r>
              <a:rPr dirty="0" baseline="25925" sz="1125" spc="-7">
                <a:latin typeface="Times New Roman"/>
                <a:cs typeface="Times New Roman"/>
              </a:rPr>
              <a:t>0</a:t>
            </a:r>
            <a:r>
              <a:rPr dirty="0" sz="1100" spc="5">
                <a:latin typeface="Lucida Sans"/>
                <a:cs typeface="Lucida Sans"/>
              </a:rPr>
              <a:t>.</a:t>
            </a:r>
            <a:endParaRPr sz="1100">
              <a:latin typeface="Lucida Sans"/>
              <a:cs typeface="Lucida Sans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6986199" y="8822476"/>
            <a:ext cx="234950" cy="1962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100" spc="5">
                <a:solidFill>
                  <a:srgbClr val="005493"/>
                </a:solidFill>
                <a:latin typeface="Lucida Sans"/>
                <a:cs typeface="Lucida Sans"/>
              </a:rPr>
              <a:t>Ex.</a:t>
            </a:r>
            <a:endParaRPr sz="1100">
              <a:latin typeface="Lucida Sans"/>
              <a:cs typeface="Lucida Sans"/>
            </a:endParaRPr>
          </a:p>
        </p:txBody>
      </p:sp>
      <p:grpSp>
        <p:nvGrpSpPr>
          <p:cNvPr id="72" name="object 72"/>
          <p:cNvGrpSpPr/>
          <p:nvPr/>
        </p:nvGrpSpPr>
        <p:grpSpPr>
          <a:xfrm>
            <a:off x="7190706" y="5754677"/>
            <a:ext cx="3039110" cy="2056130"/>
            <a:chOff x="7190706" y="5754677"/>
            <a:chExt cx="3039110" cy="2056130"/>
          </a:xfrm>
        </p:grpSpPr>
        <p:sp>
          <p:nvSpPr>
            <p:cNvPr id="73" name="object 73"/>
            <p:cNvSpPr/>
            <p:nvPr/>
          </p:nvSpPr>
          <p:spPr>
            <a:xfrm>
              <a:off x="7190706" y="5754677"/>
              <a:ext cx="3039110" cy="2056130"/>
            </a:xfrm>
            <a:custGeom>
              <a:avLst/>
              <a:gdLst/>
              <a:ahLst/>
              <a:cxnLst/>
              <a:rect l="l" t="t" r="r" b="b"/>
              <a:pathLst>
                <a:path w="3039109" h="2056129">
                  <a:moveTo>
                    <a:pt x="0" y="0"/>
                  </a:moveTo>
                  <a:lnTo>
                    <a:pt x="3039030" y="0"/>
                  </a:lnTo>
                  <a:lnTo>
                    <a:pt x="3039030" y="2055640"/>
                  </a:lnTo>
                  <a:lnTo>
                    <a:pt x="0" y="20556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/>
            <p:cNvSpPr/>
            <p:nvPr/>
          </p:nvSpPr>
          <p:spPr>
            <a:xfrm>
              <a:off x="7285491" y="6829735"/>
              <a:ext cx="2849880" cy="592455"/>
            </a:xfrm>
            <a:custGeom>
              <a:avLst/>
              <a:gdLst/>
              <a:ahLst/>
              <a:cxnLst/>
              <a:rect l="l" t="t" r="r" b="b"/>
              <a:pathLst>
                <a:path w="2849879" h="592454">
                  <a:moveTo>
                    <a:pt x="0" y="0"/>
                  </a:moveTo>
                  <a:lnTo>
                    <a:pt x="2849461" y="0"/>
                  </a:lnTo>
                  <a:lnTo>
                    <a:pt x="2849461" y="592403"/>
                  </a:lnTo>
                  <a:lnTo>
                    <a:pt x="0" y="5924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5" name="object 75"/>
          <p:cNvSpPr txBox="1"/>
          <p:nvPr/>
        </p:nvSpPr>
        <p:spPr>
          <a:xfrm>
            <a:off x="12514705" y="9345489"/>
            <a:ext cx="70485" cy="1111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550" spc="5">
                <a:latin typeface="Lucida Sans"/>
                <a:cs typeface="Lucida Sans"/>
              </a:rPr>
              <a:t>8</a:t>
            </a:r>
            <a:endParaRPr sz="550">
              <a:latin typeface="Lucida Sans"/>
              <a:cs typeface="Lucida Sans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6986199" y="5125877"/>
            <a:ext cx="2482215" cy="2247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00" spc="5">
                <a:latin typeface="Arial"/>
                <a:cs typeface="Arial"/>
              </a:rPr>
              <a:t>Implementing</a:t>
            </a:r>
            <a:r>
              <a:rPr dirty="0" sz="1300" spc="35">
                <a:latin typeface="Arial"/>
                <a:cs typeface="Arial"/>
              </a:rPr>
              <a:t> </a:t>
            </a:r>
            <a:r>
              <a:rPr dirty="0" sz="1300" spc="-20">
                <a:latin typeface="Arial"/>
                <a:cs typeface="Arial"/>
              </a:rPr>
              <a:t>hash</a:t>
            </a:r>
            <a:r>
              <a:rPr dirty="0" sz="1300" spc="35">
                <a:latin typeface="Arial"/>
                <a:cs typeface="Arial"/>
              </a:rPr>
              <a:t> </a:t>
            </a:r>
            <a:r>
              <a:rPr dirty="0" sz="1300" spc="25">
                <a:latin typeface="Arial"/>
                <a:cs typeface="Arial"/>
              </a:rPr>
              <a:t>code: </a:t>
            </a:r>
            <a:r>
              <a:rPr dirty="0" sz="1300" spc="45">
                <a:latin typeface="Arial"/>
                <a:cs typeface="Arial"/>
              </a:rPr>
              <a:t> </a:t>
            </a:r>
            <a:r>
              <a:rPr dirty="0" sz="1300" spc="-15">
                <a:latin typeface="Arial"/>
                <a:cs typeface="Arial"/>
              </a:rPr>
              <a:t>strings</a:t>
            </a:r>
            <a:endParaRPr sz="1300">
              <a:latin typeface="Arial"/>
              <a:cs typeface="Arial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9686645" y="8965969"/>
            <a:ext cx="2359660" cy="298450"/>
          </a:xfrm>
          <a:prstGeom prst="rect">
            <a:avLst/>
          </a:prstGeom>
        </p:spPr>
        <p:txBody>
          <a:bodyPr wrap="square" lIns="0" tIns="34290" rIns="0" bIns="0" rtlCol="0" vert="horz">
            <a:spAutoFit/>
          </a:bodyPr>
          <a:lstStyle/>
          <a:p>
            <a:pPr algn="r" marR="53975">
              <a:lnSpc>
                <a:spcPct val="100000"/>
              </a:lnSpc>
              <a:spcBef>
                <a:spcPts val="270"/>
              </a:spcBef>
            </a:pPr>
            <a:r>
              <a:rPr dirty="0" sz="750" spc="-5">
                <a:solidFill>
                  <a:srgbClr val="8D3124"/>
                </a:solidFill>
                <a:latin typeface="Lucida Sans"/>
                <a:cs typeface="Lucida Sans"/>
              </a:rPr>
              <a:t>3045982 =</a:t>
            </a:r>
            <a:r>
              <a:rPr dirty="0" sz="750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dirty="0" sz="750" spc="-50">
                <a:solidFill>
                  <a:srgbClr val="8D3124"/>
                </a:solidFill>
                <a:latin typeface="Lucida Sans"/>
                <a:cs typeface="Lucida Sans"/>
              </a:rPr>
              <a:t>99·31</a:t>
            </a:r>
            <a:r>
              <a:rPr dirty="0" baseline="22222" sz="750" spc="-75">
                <a:solidFill>
                  <a:srgbClr val="8D3124"/>
                </a:solidFill>
                <a:latin typeface="Lucida Sans"/>
                <a:cs typeface="Lucida Sans"/>
              </a:rPr>
              <a:t>3</a:t>
            </a:r>
            <a:r>
              <a:rPr dirty="0" baseline="22222" sz="750" spc="112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dirty="0" sz="750" spc="-5">
                <a:solidFill>
                  <a:srgbClr val="8D3124"/>
                </a:solidFill>
                <a:latin typeface="Lucida Sans"/>
                <a:cs typeface="Lucida Sans"/>
              </a:rPr>
              <a:t>+</a:t>
            </a:r>
            <a:r>
              <a:rPr dirty="0" sz="750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dirty="0" sz="750" spc="-50">
                <a:solidFill>
                  <a:srgbClr val="8D3124"/>
                </a:solidFill>
                <a:latin typeface="Lucida Sans"/>
                <a:cs typeface="Lucida Sans"/>
              </a:rPr>
              <a:t>97·31</a:t>
            </a:r>
            <a:r>
              <a:rPr dirty="0" baseline="22222" sz="750" spc="-75">
                <a:solidFill>
                  <a:srgbClr val="8D3124"/>
                </a:solidFill>
                <a:latin typeface="Lucida Sans"/>
                <a:cs typeface="Lucida Sans"/>
              </a:rPr>
              <a:t>2</a:t>
            </a:r>
            <a:r>
              <a:rPr dirty="0" baseline="22222" sz="750" spc="120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dirty="0" sz="750" spc="-5">
                <a:solidFill>
                  <a:srgbClr val="8D3124"/>
                </a:solidFill>
                <a:latin typeface="Lucida Sans"/>
                <a:cs typeface="Lucida Sans"/>
              </a:rPr>
              <a:t>+ </a:t>
            </a:r>
            <a:r>
              <a:rPr dirty="0" sz="750" spc="-40">
                <a:solidFill>
                  <a:srgbClr val="8D3124"/>
                </a:solidFill>
                <a:latin typeface="Lucida Sans"/>
                <a:cs typeface="Lucida Sans"/>
              </a:rPr>
              <a:t>108·31</a:t>
            </a:r>
            <a:r>
              <a:rPr dirty="0" baseline="22222" sz="750" spc="-60">
                <a:solidFill>
                  <a:srgbClr val="8D3124"/>
                </a:solidFill>
                <a:latin typeface="Lucida Sans"/>
                <a:cs typeface="Lucida Sans"/>
              </a:rPr>
              <a:t>1</a:t>
            </a:r>
            <a:r>
              <a:rPr dirty="0" baseline="22222" sz="750" spc="120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dirty="0" sz="750" spc="-5">
                <a:solidFill>
                  <a:srgbClr val="8D3124"/>
                </a:solidFill>
                <a:latin typeface="Lucida Sans"/>
                <a:cs typeface="Lucida Sans"/>
              </a:rPr>
              <a:t>+</a:t>
            </a:r>
            <a:r>
              <a:rPr dirty="0" sz="750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dirty="0" sz="750" spc="-145">
                <a:solidFill>
                  <a:srgbClr val="8D3124"/>
                </a:solidFill>
                <a:latin typeface="Lucida Sans"/>
                <a:cs typeface="Lucida Sans"/>
              </a:rPr>
              <a:t>108·31</a:t>
            </a:r>
            <a:r>
              <a:rPr dirty="0" baseline="22222" sz="750" spc="-217">
                <a:solidFill>
                  <a:srgbClr val="8D3124"/>
                </a:solidFill>
                <a:latin typeface="Lucida Sans"/>
                <a:cs typeface="Lucida Sans"/>
              </a:rPr>
              <a:t>0</a:t>
            </a:r>
            <a:endParaRPr baseline="22222" sz="750">
              <a:latin typeface="Lucida Sans"/>
              <a:cs typeface="Lucida Sans"/>
            </a:endParaRPr>
          </a:p>
          <a:p>
            <a:pPr algn="r" marR="30480">
              <a:lnSpc>
                <a:spcPct val="100000"/>
              </a:lnSpc>
              <a:spcBef>
                <a:spcPts val="175"/>
              </a:spcBef>
            </a:pPr>
            <a:r>
              <a:rPr dirty="0" sz="750" spc="-5">
                <a:solidFill>
                  <a:srgbClr val="8D3124"/>
                </a:solidFill>
                <a:latin typeface="Lucida Sans"/>
                <a:cs typeface="Lucida Sans"/>
              </a:rPr>
              <a:t>=</a:t>
            </a:r>
            <a:r>
              <a:rPr dirty="0" sz="750" spc="-5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dirty="0" sz="750" spc="-5">
                <a:solidFill>
                  <a:srgbClr val="8D3124"/>
                </a:solidFill>
                <a:latin typeface="Lucida Sans"/>
                <a:cs typeface="Lucida Sans"/>
              </a:rPr>
              <a:t>108</a:t>
            </a:r>
            <a:r>
              <a:rPr dirty="0" sz="750" spc="-5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dirty="0" sz="750" spc="-5">
                <a:solidFill>
                  <a:srgbClr val="8D3124"/>
                </a:solidFill>
                <a:latin typeface="Lucida Sans"/>
                <a:cs typeface="Lucida Sans"/>
              </a:rPr>
              <a:t>+</a:t>
            </a:r>
            <a:r>
              <a:rPr dirty="0" sz="750" spc="-5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dirty="0" sz="750" spc="-100">
                <a:solidFill>
                  <a:srgbClr val="8D3124"/>
                </a:solidFill>
                <a:latin typeface="Lucida Sans"/>
                <a:cs typeface="Lucida Sans"/>
              </a:rPr>
              <a:t>31·</a:t>
            </a:r>
            <a:r>
              <a:rPr dirty="0" sz="750" spc="-5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dirty="0" sz="750" spc="-5">
                <a:solidFill>
                  <a:srgbClr val="8D3124"/>
                </a:solidFill>
                <a:latin typeface="Lucida Sans"/>
                <a:cs typeface="Lucida Sans"/>
              </a:rPr>
              <a:t>(108</a:t>
            </a:r>
            <a:r>
              <a:rPr dirty="0" sz="750" spc="-5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dirty="0" sz="750" spc="-5">
                <a:solidFill>
                  <a:srgbClr val="8D3124"/>
                </a:solidFill>
                <a:latin typeface="Lucida Sans"/>
                <a:cs typeface="Lucida Sans"/>
              </a:rPr>
              <a:t>+</a:t>
            </a:r>
            <a:r>
              <a:rPr dirty="0" sz="750" spc="-5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dirty="0" sz="750" spc="-5">
                <a:solidFill>
                  <a:srgbClr val="8D3124"/>
                </a:solidFill>
                <a:latin typeface="Lucida Sans"/>
                <a:cs typeface="Lucida Sans"/>
              </a:rPr>
              <a:t>31</a:t>
            </a:r>
            <a:r>
              <a:rPr dirty="0" sz="750" spc="-5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dirty="0" sz="750" spc="-380">
                <a:solidFill>
                  <a:srgbClr val="8D3124"/>
                </a:solidFill>
                <a:latin typeface="Lucida Sans"/>
                <a:cs typeface="Lucida Sans"/>
              </a:rPr>
              <a:t>·</a:t>
            </a:r>
            <a:r>
              <a:rPr dirty="0" sz="750" spc="-5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dirty="0" sz="750" spc="-5">
                <a:solidFill>
                  <a:srgbClr val="8D3124"/>
                </a:solidFill>
                <a:latin typeface="Lucida Sans"/>
                <a:cs typeface="Lucida Sans"/>
              </a:rPr>
              <a:t>(97</a:t>
            </a:r>
            <a:r>
              <a:rPr dirty="0" sz="750" spc="-5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dirty="0" sz="750" spc="-5">
                <a:solidFill>
                  <a:srgbClr val="8D3124"/>
                </a:solidFill>
                <a:latin typeface="Lucida Sans"/>
                <a:cs typeface="Lucida Sans"/>
              </a:rPr>
              <a:t>+</a:t>
            </a:r>
            <a:r>
              <a:rPr dirty="0" sz="750" spc="-5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dirty="0" sz="750" spc="-5">
                <a:solidFill>
                  <a:srgbClr val="8D3124"/>
                </a:solidFill>
                <a:latin typeface="Lucida Sans"/>
                <a:cs typeface="Lucida Sans"/>
              </a:rPr>
              <a:t>31</a:t>
            </a:r>
            <a:r>
              <a:rPr dirty="0" sz="750" spc="-5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dirty="0" sz="750" spc="-380">
                <a:solidFill>
                  <a:srgbClr val="8D3124"/>
                </a:solidFill>
                <a:latin typeface="Lucida Sans"/>
                <a:cs typeface="Lucida Sans"/>
              </a:rPr>
              <a:t>·</a:t>
            </a:r>
            <a:r>
              <a:rPr dirty="0" sz="750" spc="-5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dirty="0" sz="750" spc="-5">
                <a:solidFill>
                  <a:srgbClr val="8D3124"/>
                </a:solidFill>
                <a:latin typeface="Lucida Sans"/>
                <a:cs typeface="Lucida Sans"/>
              </a:rPr>
              <a:t>(99)))</a:t>
            </a:r>
            <a:endParaRPr sz="750">
              <a:latin typeface="Lucida Sans"/>
              <a:cs typeface="Lucida Sans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10245209" y="9266910"/>
            <a:ext cx="857885" cy="1397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50" spc="-5">
                <a:solidFill>
                  <a:srgbClr val="8D3124"/>
                </a:solidFill>
                <a:latin typeface="Lucida Sans"/>
                <a:cs typeface="Lucida Sans"/>
              </a:rPr>
              <a:t>(Horner's</a:t>
            </a:r>
            <a:r>
              <a:rPr dirty="0" sz="750" spc="-45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dirty="0" sz="750" spc="-5">
                <a:solidFill>
                  <a:srgbClr val="8D3124"/>
                </a:solidFill>
                <a:latin typeface="Lucida Sans"/>
                <a:cs typeface="Lucida Sans"/>
              </a:rPr>
              <a:t>method)</a:t>
            </a:r>
            <a:endParaRPr sz="750">
              <a:latin typeface="Lucida Sans"/>
              <a:cs typeface="Lucida Sans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7190706" y="5754677"/>
            <a:ext cx="3039110" cy="2056130"/>
          </a:xfrm>
          <a:prstGeom prst="rect">
            <a:avLst/>
          </a:prstGeom>
        </p:spPr>
        <p:txBody>
          <a:bodyPr wrap="square" lIns="0" tIns="76200" rIns="0" bIns="0" rtlCol="0" vert="horz">
            <a:spAutoFit/>
          </a:bodyPr>
          <a:lstStyle/>
          <a:p>
            <a:pPr marL="97790">
              <a:lnSpc>
                <a:spcPct val="100000"/>
              </a:lnSpc>
              <a:spcBef>
                <a:spcPts val="600"/>
              </a:spcBef>
            </a:pPr>
            <a:r>
              <a:rPr dirty="0" sz="800" spc="20">
                <a:latin typeface="Lucida Sans Typewriter"/>
                <a:cs typeface="Lucida Sans Typewriter"/>
              </a:rPr>
              <a:t>public</a:t>
            </a:r>
            <a:r>
              <a:rPr dirty="0" sz="800" spc="10"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final</a:t>
            </a:r>
            <a:r>
              <a:rPr dirty="0" sz="800" spc="15"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class</a:t>
            </a:r>
            <a:r>
              <a:rPr dirty="0" sz="800" spc="10"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String</a:t>
            </a:r>
            <a:endParaRPr sz="800">
              <a:latin typeface="Lucida Sans Typewriter"/>
              <a:cs typeface="Lucida Sans Typewriter"/>
            </a:endParaRPr>
          </a:p>
          <a:p>
            <a:pPr marL="97790">
              <a:lnSpc>
                <a:spcPct val="100000"/>
              </a:lnSpc>
              <a:spcBef>
                <a:spcPts val="155"/>
              </a:spcBef>
            </a:pPr>
            <a:r>
              <a:rPr dirty="0" sz="800" spc="20">
                <a:latin typeface="Lucida Sans Typewriter"/>
                <a:cs typeface="Lucida Sans Typewriter"/>
              </a:rPr>
              <a:t>{</a:t>
            </a:r>
            <a:endParaRPr sz="800">
              <a:latin typeface="Lucida Sans Typewriter"/>
              <a:cs typeface="Lucida Sans Typewriter"/>
            </a:endParaRPr>
          </a:p>
          <a:p>
            <a:pPr marL="290195">
              <a:lnSpc>
                <a:spcPct val="100000"/>
              </a:lnSpc>
              <a:spcBef>
                <a:spcPts val="210"/>
              </a:spcBef>
            </a:pPr>
            <a:r>
              <a:rPr dirty="0" sz="800" spc="20">
                <a:latin typeface="Lucida Sans Typewriter"/>
                <a:cs typeface="Lucida Sans Typewriter"/>
              </a:rPr>
              <a:t>private</a:t>
            </a:r>
            <a:r>
              <a:rPr dirty="0" sz="800" spc="10"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final</a:t>
            </a:r>
            <a:r>
              <a:rPr dirty="0" sz="800" spc="10"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char[]</a:t>
            </a:r>
            <a:r>
              <a:rPr dirty="0" sz="800" spc="10"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s;</a:t>
            </a:r>
            <a:endParaRPr sz="800">
              <a:latin typeface="Lucida Sans Typewriter"/>
              <a:cs typeface="Lucida Sans Typewriter"/>
            </a:endParaRPr>
          </a:p>
          <a:p>
            <a:pPr marL="290195">
              <a:lnSpc>
                <a:spcPct val="100000"/>
              </a:lnSpc>
              <a:spcBef>
                <a:spcPts val="204"/>
              </a:spcBef>
            </a:pPr>
            <a:r>
              <a:rPr dirty="0" sz="800" spc="20">
                <a:latin typeface="Lucida Sans Typewriter"/>
                <a:cs typeface="Lucida Sans Typewriter"/>
              </a:rPr>
              <a:t>...</a:t>
            </a:r>
            <a:endParaRPr sz="800">
              <a:latin typeface="Lucida Sans Typewriter"/>
              <a:cs typeface="Lucida Sans Typewriter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150">
              <a:latin typeface="Lucida Sans Typewriter"/>
              <a:cs typeface="Lucida Sans Typewriter"/>
            </a:endParaRPr>
          </a:p>
          <a:p>
            <a:pPr marL="290195">
              <a:lnSpc>
                <a:spcPct val="100000"/>
              </a:lnSpc>
            </a:pPr>
            <a:r>
              <a:rPr dirty="0" sz="800" spc="20">
                <a:latin typeface="Lucida Sans Typewriter"/>
                <a:cs typeface="Lucida Sans Typewriter"/>
              </a:rPr>
              <a:t>public</a:t>
            </a:r>
            <a:r>
              <a:rPr dirty="0" sz="800" spc="5"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int</a:t>
            </a:r>
            <a:r>
              <a:rPr dirty="0" sz="800" spc="5"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hashCode()</a:t>
            </a:r>
            <a:endParaRPr sz="800">
              <a:latin typeface="Lucida Sans Typewriter"/>
              <a:cs typeface="Lucida Sans Typewriter"/>
            </a:endParaRPr>
          </a:p>
          <a:p>
            <a:pPr marL="290195">
              <a:lnSpc>
                <a:spcPct val="100000"/>
              </a:lnSpc>
              <a:spcBef>
                <a:spcPts val="160"/>
              </a:spcBef>
            </a:pPr>
            <a:r>
              <a:rPr dirty="0" sz="800" spc="20">
                <a:latin typeface="Lucida Sans Typewriter"/>
                <a:cs typeface="Lucida Sans Typewriter"/>
              </a:rPr>
              <a:t>{</a:t>
            </a:r>
            <a:endParaRPr sz="800">
              <a:latin typeface="Lucida Sans Typewriter"/>
              <a:cs typeface="Lucida Sans Typewriter"/>
            </a:endParaRPr>
          </a:p>
          <a:p>
            <a:pPr marL="483234">
              <a:lnSpc>
                <a:spcPct val="100000"/>
              </a:lnSpc>
              <a:spcBef>
                <a:spcPts val="204"/>
              </a:spcBef>
            </a:pPr>
            <a:r>
              <a:rPr dirty="0" sz="800" spc="20">
                <a:latin typeface="Lucida Sans Typewriter"/>
                <a:cs typeface="Lucida Sans Typewriter"/>
              </a:rPr>
              <a:t>int</a:t>
            </a:r>
            <a:r>
              <a:rPr dirty="0" sz="800"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hash</a:t>
            </a:r>
            <a:r>
              <a:rPr dirty="0" sz="800"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=</a:t>
            </a:r>
            <a:r>
              <a:rPr dirty="0" sz="800"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0;</a:t>
            </a:r>
            <a:endParaRPr sz="800">
              <a:latin typeface="Lucida Sans Typewriter"/>
              <a:cs typeface="Lucida Sans Typewriter"/>
            </a:endParaRPr>
          </a:p>
          <a:p>
            <a:pPr marL="675640" marR="365125" indent="-193040">
              <a:lnSpc>
                <a:spcPct val="121500"/>
              </a:lnSpc>
            </a:pPr>
            <a:r>
              <a:rPr dirty="0" sz="800" spc="20">
                <a:latin typeface="Lucida Sans Typewriter"/>
                <a:cs typeface="Lucida Sans Typewriter"/>
              </a:rPr>
              <a:t>for (int i = 0; i &lt; length(); i++) </a:t>
            </a:r>
            <a:r>
              <a:rPr dirty="0" sz="800" spc="-470"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hash</a:t>
            </a:r>
            <a:r>
              <a:rPr dirty="0" sz="800" spc="15"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=</a:t>
            </a:r>
            <a:r>
              <a:rPr dirty="0" sz="800" spc="15"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s[i] +</a:t>
            </a:r>
            <a:r>
              <a:rPr dirty="0" sz="800" spc="15"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(31 *</a:t>
            </a:r>
            <a:r>
              <a:rPr dirty="0" sz="800" spc="15"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hash);</a:t>
            </a:r>
            <a:endParaRPr sz="800">
              <a:latin typeface="Lucida Sans Typewriter"/>
              <a:cs typeface="Lucida Sans Typewriter"/>
            </a:endParaRPr>
          </a:p>
          <a:p>
            <a:pPr marL="483234">
              <a:lnSpc>
                <a:spcPct val="100000"/>
              </a:lnSpc>
              <a:spcBef>
                <a:spcPts val="209"/>
              </a:spcBef>
            </a:pPr>
            <a:r>
              <a:rPr dirty="0" sz="800" spc="20">
                <a:latin typeface="Lucida Sans Typewriter"/>
                <a:cs typeface="Lucida Sans Typewriter"/>
              </a:rPr>
              <a:t>return</a:t>
            </a:r>
            <a:r>
              <a:rPr dirty="0" sz="800" spc="-25"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hash;</a:t>
            </a:r>
            <a:endParaRPr sz="800">
              <a:latin typeface="Lucida Sans Typewriter"/>
              <a:cs typeface="Lucida Sans Typewriter"/>
            </a:endParaRPr>
          </a:p>
          <a:p>
            <a:pPr marL="290195">
              <a:lnSpc>
                <a:spcPct val="100000"/>
              </a:lnSpc>
              <a:spcBef>
                <a:spcPts val="275"/>
              </a:spcBef>
              <a:tabLst>
                <a:tab pos="1718310" algn="l"/>
              </a:tabLst>
            </a:pPr>
            <a:r>
              <a:rPr dirty="0" baseline="6944" sz="1200" spc="30">
                <a:latin typeface="Lucida Sans Typewriter"/>
                <a:cs typeface="Lucida Sans Typewriter"/>
              </a:rPr>
              <a:t>}	</a:t>
            </a:r>
            <a:r>
              <a:rPr dirty="0" sz="750" spc="-5">
                <a:solidFill>
                  <a:srgbClr val="8D3124"/>
                </a:solidFill>
                <a:latin typeface="Lucida Sans"/>
                <a:cs typeface="Lucida Sans"/>
              </a:rPr>
              <a:t>i</a:t>
            </a:r>
            <a:r>
              <a:rPr dirty="0" baseline="22222" sz="750" spc="-7">
                <a:solidFill>
                  <a:srgbClr val="8D3124"/>
                </a:solidFill>
                <a:latin typeface="Lucida Sans"/>
                <a:cs typeface="Lucida Sans"/>
              </a:rPr>
              <a:t>th</a:t>
            </a:r>
            <a:r>
              <a:rPr dirty="0" baseline="22222" sz="750" spc="89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dirty="0" sz="750" spc="-5">
                <a:solidFill>
                  <a:srgbClr val="8D3124"/>
                </a:solidFill>
                <a:latin typeface="Lucida Sans"/>
                <a:cs typeface="Lucida Sans"/>
              </a:rPr>
              <a:t>character</a:t>
            </a:r>
            <a:r>
              <a:rPr dirty="0" sz="750" spc="-15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dirty="0" sz="750" spc="-5">
                <a:solidFill>
                  <a:srgbClr val="8D3124"/>
                </a:solidFill>
                <a:latin typeface="Lucida Sans"/>
                <a:cs typeface="Lucida Sans"/>
              </a:rPr>
              <a:t>of</a:t>
            </a:r>
            <a:r>
              <a:rPr dirty="0" sz="750" spc="-15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dirty="0" sz="750" spc="-5">
                <a:solidFill>
                  <a:srgbClr val="8D3124"/>
                </a:solidFill>
                <a:latin typeface="Lucida Sans"/>
                <a:cs typeface="Lucida Sans"/>
              </a:rPr>
              <a:t>s</a:t>
            </a:r>
            <a:endParaRPr sz="750">
              <a:latin typeface="Lucida Sans"/>
              <a:cs typeface="Lucida Sans"/>
            </a:endParaRPr>
          </a:p>
          <a:p>
            <a:pPr marL="97790">
              <a:lnSpc>
                <a:spcPct val="100000"/>
              </a:lnSpc>
              <a:spcBef>
                <a:spcPts val="90"/>
              </a:spcBef>
            </a:pPr>
            <a:r>
              <a:rPr dirty="0" sz="800" spc="20">
                <a:latin typeface="Lucida Sans Typewriter"/>
                <a:cs typeface="Lucida Sans Typewriter"/>
              </a:rPr>
              <a:t>}</a:t>
            </a:r>
            <a:endParaRPr sz="800">
              <a:latin typeface="Lucida Sans Typewriter"/>
              <a:cs typeface="Lucida Sans Typewriter"/>
            </a:endParaRPr>
          </a:p>
        </p:txBody>
      </p:sp>
      <p:grpSp>
        <p:nvGrpSpPr>
          <p:cNvPr id="80" name="object 80"/>
          <p:cNvGrpSpPr/>
          <p:nvPr/>
        </p:nvGrpSpPr>
        <p:grpSpPr>
          <a:xfrm>
            <a:off x="8523615" y="7289002"/>
            <a:ext cx="1096645" cy="1811655"/>
            <a:chOff x="8523615" y="7289002"/>
            <a:chExt cx="1096645" cy="1811655"/>
          </a:xfrm>
        </p:grpSpPr>
        <p:sp>
          <p:nvSpPr>
            <p:cNvPr id="81" name="object 81"/>
            <p:cNvSpPr/>
            <p:nvPr/>
          </p:nvSpPr>
          <p:spPr>
            <a:xfrm>
              <a:off x="8552628" y="7311525"/>
              <a:ext cx="265430" cy="205740"/>
            </a:xfrm>
            <a:custGeom>
              <a:avLst/>
              <a:gdLst/>
              <a:ahLst/>
              <a:cxnLst/>
              <a:rect l="l" t="t" r="r" b="b"/>
              <a:pathLst>
                <a:path w="265429" h="205740">
                  <a:moveTo>
                    <a:pt x="0" y="0"/>
                  </a:moveTo>
                  <a:lnTo>
                    <a:pt x="4679" y="3632"/>
                  </a:lnTo>
                  <a:lnTo>
                    <a:pt x="264921" y="205658"/>
                  </a:lnTo>
                </a:path>
              </a:pathLst>
            </a:custGeom>
            <a:ln w="11848">
              <a:solidFill>
                <a:srgbClr val="8D312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/>
            <p:cNvSpPr/>
            <p:nvPr/>
          </p:nvSpPr>
          <p:spPr>
            <a:xfrm>
              <a:off x="8523615" y="7289002"/>
              <a:ext cx="62865" cy="57785"/>
            </a:xfrm>
            <a:custGeom>
              <a:avLst/>
              <a:gdLst/>
              <a:ahLst/>
              <a:cxnLst/>
              <a:rect l="l" t="t" r="r" b="b"/>
              <a:pathLst>
                <a:path w="62865" h="57784">
                  <a:moveTo>
                    <a:pt x="0" y="0"/>
                  </a:moveTo>
                  <a:lnTo>
                    <a:pt x="27486" y="57335"/>
                  </a:lnTo>
                  <a:lnTo>
                    <a:pt x="33692" y="26155"/>
                  </a:lnTo>
                  <a:lnTo>
                    <a:pt x="62359" y="1241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D31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3" name="object 83"/>
            <p:cNvSpPr/>
            <p:nvPr/>
          </p:nvSpPr>
          <p:spPr>
            <a:xfrm>
              <a:off x="9277152" y="9072143"/>
              <a:ext cx="343535" cy="635"/>
            </a:xfrm>
            <a:custGeom>
              <a:avLst/>
              <a:gdLst/>
              <a:ahLst/>
              <a:cxnLst/>
              <a:rect l="l" t="t" r="r" b="b"/>
              <a:pathLst>
                <a:path w="343534" h="634">
                  <a:moveTo>
                    <a:pt x="0" y="0"/>
                  </a:moveTo>
                  <a:lnTo>
                    <a:pt x="5924" y="1"/>
                  </a:lnTo>
                  <a:lnTo>
                    <a:pt x="343082" y="53"/>
                  </a:lnTo>
                </a:path>
              </a:pathLst>
            </a:custGeom>
            <a:ln w="11848">
              <a:solidFill>
                <a:srgbClr val="8D312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/>
            <p:cNvSpPr/>
            <p:nvPr/>
          </p:nvSpPr>
          <p:spPr>
            <a:xfrm>
              <a:off x="9240423" y="9043710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>
                  <a:moveTo>
                    <a:pt x="56875" y="0"/>
                  </a:moveTo>
                  <a:lnTo>
                    <a:pt x="0" y="28426"/>
                  </a:lnTo>
                  <a:lnTo>
                    <a:pt x="56866" y="56870"/>
                  </a:lnTo>
                  <a:lnTo>
                    <a:pt x="42656" y="28426"/>
                  </a:lnTo>
                  <a:lnTo>
                    <a:pt x="56875" y="0"/>
                  </a:lnTo>
                  <a:close/>
                </a:path>
              </a:pathLst>
            </a:custGeom>
            <a:solidFill>
              <a:srgbClr val="8D312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5" name="object 85"/>
          <p:cNvSpPr txBox="1"/>
          <p:nvPr/>
        </p:nvSpPr>
        <p:spPr>
          <a:xfrm>
            <a:off x="7524970" y="8831954"/>
            <a:ext cx="1566545" cy="309880"/>
          </a:xfrm>
          <a:prstGeom prst="rect">
            <a:avLst/>
          </a:prstGeom>
        </p:spPr>
        <p:txBody>
          <a:bodyPr wrap="square" lIns="0" tIns="317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0"/>
              </a:spcBef>
            </a:pPr>
            <a:r>
              <a:rPr dirty="0" sz="800" spc="20">
                <a:latin typeface="Lucida Sans Typewriter"/>
                <a:cs typeface="Lucida Sans Typewriter"/>
              </a:rPr>
              <a:t>String</a:t>
            </a:r>
            <a:r>
              <a:rPr dirty="0" sz="800" spc="5"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s</a:t>
            </a:r>
            <a:r>
              <a:rPr dirty="0" sz="800" spc="5"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=</a:t>
            </a:r>
            <a:r>
              <a:rPr dirty="0" sz="800" spc="5"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"call";</a:t>
            </a:r>
            <a:endParaRPr sz="800">
              <a:latin typeface="Lucida Sans Typewriter"/>
              <a:cs typeface="Lucida Sans Typewriter"/>
            </a:endParaRPr>
          </a:p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dirty="0" sz="800" spc="20">
                <a:latin typeface="Lucida Sans Typewriter"/>
                <a:cs typeface="Lucida Sans Typewriter"/>
              </a:rPr>
              <a:t>int</a:t>
            </a:r>
            <a:r>
              <a:rPr dirty="0" sz="800" spc="10"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code</a:t>
            </a:r>
            <a:r>
              <a:rPr dirty="0" sz="800" spc="10"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=</a:t>
            </a:r>
            <a:r>
              <a:rPr dirty="0" sz="800" spc="10"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s.hashCode();</a:t>
            </a:r>
            <a:endParaRPr sz="800">
              <a:latin typeface="Lucida Sans Typewriter"/>
              <a:cs typeface="Lucida Sans Typewriter"/>
            </a:endParaRPr>
          </a:p>
        </p:txBody>
      </p:sp>
      <p:graphicFrame>
        <p:nvGraphicFramePr>
          <p:cNvPr id="86" name="object 86"/>
          <p:cNvGraphicFramePr>
            <a:graphicFrameLocks noGrp="1"/>
          </p:cNvGraphicFramePr>
          <p:nvPr/>
        </p:nvGraphicFramePr>
        <p:xfrm>
          <a:off x="10922849" y="5753566"/>
          <a:ext cx="1113790" cy="13893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6895"/>
                <a:gridCol w="556895"/>
              </a:tblGrid>
              <a:tr h="230504">
                <a:tc>
                  <a:txBody>
                    <a:bodyPr/>
                    <a:lstStyle/>
                    <a:p>
                      <a:pPr algn="r" marR="15875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800" spc="2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char</a:t>
                      </a:r>
                      <a:endParaRPr sz="800">
                        <a:latin typeface="Lucida Sans"/>
                        <a:cs typeface="Lucida Sans"/>
                      </a:endParaRPr>
                    </a:p>
                  </a:txBody>
                  <a:tcPr marL="0" marR="0" marB="0" marT="40640">
                    <a:lnR w="3175">
                      <a:solidFill>
                        <a:srgbClr val="E7EAEB"/>
                      </a:solidFill>
                      <a:prstDash val="solid"/>
                    </a:lnR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800" spc="2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Unicode</a:t>
                      </a:r>
                      <a:endParaRPr sz="800">
                        <a:latin typeface="Lucida Sans"/>
                        <a:cs typeface="Lucida Sans"/>
                      </a:endParaRPr>
                    </a:p>
                  </a:txBody>
                  <a:tcPr marL="0" marR="0" marB="0" marT="40640">
                    <a:lnL w="3175">
                      <a:solidFill>
                        <a:srgbClr val="E7EAEB"/>
                      </a:solidFill>
                      <a:prstDash val="solid"/>
                    </a:lnL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</a:tr>
              <a:tr h="231775">
                <a:tc>
                  <a:txBody>
                    <a:bodyPr/>
                    <a:lstStyle/>
                    <a:p>
                      <a:pPr algn="r" marR="217804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800">
                          <a:latin typeface="Lucida Sans"/>
                          <a:cs typeface="Lucida Sans"/>
                        </a:rPr>
                        <a:t>…</a:t>
                      </a:r>
                      <a:endParaRPr sz="800">
                        <a:latin typeface="Lucida Sans"/>
                        <a:cs typeface="Lucida Sans"/>
                      </a:endParaRPr>
                    </a:p>
                  </a:txBody>
                  <a:tcPr marL="0" marR="0" marB="0" marT="41275"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800">
                          <a:latin typeface="Lucida Sans"/>
                          <a:cs typeface="Lucida Sans"/>
                        </a:rPr>
                        <a:t>…</a:t>
                      </a:r>
                      <a:endParaRPr sz="800">
                        <a:latin typeface="Lucida Sans"/>
                        <a:cs typeface="Lucida Sans"/>
                      </a:endParaRPr>
                    </a:p>
                  </a:txBody>
                  <a:tcPr marL="0" marR="0" marB="0" marT="41275">
                    <a:lnL w="3175">
                      <a:solidFill>
                        <a:srgbClr val="E7EAEB"/>
                      </a:solidFill>
                      <a:prstDash val="solid"/>
                    </a:lnL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31775">
                <a:tc>
                  <a:txBody>
                    <a:bodyPr/>
                    <a:lstStyle/>
                    <a:p>
                      <a:pPr algn="r" marR="17462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800" spc="20">
                          <a:latin typeface="Lucida Sans Typewriter"/>
                          <a:cs typeface="Lucida Sans Typewriter"/>
                        </a:rPr>
                        <a:t>'a'</a:t>
                      </a:r>
                      <a:endParaRPr sz="800">
                        <a:latin typeface="Lucida Sans Typewriter"/>
                        <a:cs typeface="Lucida Sans Typewriter"/>
                      </a:endParaRPr>
                    </a:p>
                  </a:txBody>
                  <a:tcPr marL="0" marR="0" marB="0" marT="41275"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79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800" spc="20">
                          <a:latin typeface="Lucida Sans Typewriter"/>
                          <a:cs typeface="Lucida Sans Typewriter"/>
                        </a:rPr>
                        <a:t>97</a:t>
                      </a:r>
                      <a:endParaRPr sz="800">
                        <a:latin typeface="Lucida Sans Typewriter"/>
                        <a:cs typeface="Lucida Sans Typewriter"/>
                      </a:endParaRPr>
                    </a:p>
                  </a:txBody>
                  <a:tcPr marL="0" marR="0" marB="0" marT="41275">
                    <a:lnL w="3175">
                      <a:solidFill>
                        <a:srgbClr val="E7EAEB"/>
                      </a:solidFill>
                      <a:prstDash val="solid"/>
                    </a:lnL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31775">
                <a:tc>
                  <a:txBody>
                    <a:bodyPr/>
                    <a:lstStyle/>
                    <a:p>
                      <a:pPr algn="r" marR="17462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800" spc="20">
                          <a:latin typeface="Lucida Sans Typewriter"/>
                          <a:cs typeface="Lucida Sans Typewriter"/>
                        </a:rPr>
                        <a:t>'b'</a:t>
                      </a:r>
                      <a:endParaRPr sz="800">
                        <a:latin typeface="Lucida Sans Typewriter"/>
                        <a:cs typeface="Lucida Sans Typewriter"/>
                      </a:endParaRPr>
                    </a:p>
                  </a:txBody>
                  <a:tcPr marL="0" marR="0" marB="0" marT="41275"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79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800" spc="20">
                          <a:latin typeface="Lucida Sans Typewriter"/>
                          <a:cs typeface="Lucida Sans Typewriter"/>
                        </a:rPr>
                        <a:t>98</a:t>
                      </a:r>
                      <a:endParaRPr sz="800">
                        <a:latin typeface="Lucida Sans Typewriter"/>
                        <a:cs typeface="Lucida Sans Typewriter"/>
                      </a:endParaRPr>
                    </a:p>
                  </a:txBody>
                  <a:tcPr marL="0" marR="0" marB="0" marT="41275">
                    <a:lnL w="3175">
                      <a:solidFill>
                        <a:srgbClr val="E7EAEB"/>
                      </a:solidFill>
                      <a:prstDash val="solid"/>
                    </a:lnL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31775">
                <a:tc>
                  <a:txBody>
                    <a:bodyPr/>
                    <a:lstStyle/>
                    <a:p>
                      <a:pPr algn="r" marR="17462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800" spc="20">
                          <a:latin typeface="Lucida Sans Typewriter"/>
                          <a:cs typeface="Lucida Sans Typewriter"/>
                        </a:rPr>
                        <a:t>'c'</a:t>
                      </a:r>
                      <a:endParaRPr sz="800">
                        <a:latin typeface="Lucida Sans Typewriter"/>
                        <a:cs typeface="Lucida Sans Typewriter"/>
                      </a:endParaRPr>
                    </a:p>
                  </a:txBody>
                  <a:tcPr marL="0" marR="0" marB="0" marT="41275"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79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800" spc="20">
                          <a:latin typeface="Lucida Sans Typewriter"/>
                          <a:cs typeface="Lucida Sans Typewriter"/>
                        </a:rPr>
                        <a:t>99</a:t>
                      </a:r>
                      <a:endParaRPr sz="800">
                        <a:latin typeface="Lucida Sans Typewriter"/>
                        <a:cs typeface="Lucida Sans Typewriter"/>
                      </a:endParaRPr>
                    </a:p>
                  </a:txBody>
                  <a:tcPr marL="0" marR="0" marB="0" marT="41275">
                    <a:lnL w="3175">
                      <a:solidFill>
                        <a:srgbClr val="E7EAEB"/>
                      </a:solidFill>
                      <a:prstDash val="solid"/>
                    </a:lnL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31775">
                <a:tc>
                  <a:txBody>
                    <a:bodyPr/>
                    <a:lstStyle/>
                    <a:p>
                      <a:pPr algn="r" marR="217804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dirty="0" sz="800">
                          <a:latin typeface="Lucida Sans"/>
                          <a:cs typeface="Lucida Sans"/>
                        </a:rPr>
                        <a:t>…</a:t>
                      </a:r>
                      <a:endParaRPr sz="800">
                        <a:latin typeface="Lucida Sans"/>
                        <a:cs typeface="Lucida Sans"/>
                      </a:endParaRPr>
                    </a:p>
                  </a:txBody>
                  <a:tcPr marL="0" marR="0" marB="0" marT="46990"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dirty="0" sz="800" spc="10">
                          <a:latin typeface="Lucida Sans"/>
                          <a:cs typeface="Lucida Sans"/>
                        </a:rPr>
                        <a:t>...</a:t>
                      </a:r>
                      <a:endParaRPr sz="800">
                        <a:latin typeface="Lucida Sans"/>
                        <a:cs typeface="Lucida Sans"/>
                      </a:endParaRPr>
                    </a:p>
                  </a:txBody>
                  <a:tcPr marL="0" marR="0" marB="0" marT="46990">
                    <a:lnL w="3175">
                      <a:solidFill>
                        <a:srgbClr val="E7EAEB"/>
                      </a:solidFill>
                      <a:prstDash val="solid"/>
                    </a:lnL>
                    <a:lnT w="3175">
                      <a:solidFill>
                        <a:srgbClr val="E7EAEB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7" name="object 87"/>
          <p:cNvSpPr txBox="1"/>
          <p:nvPr/>
        </p:nvSpPr>
        <p:spPr>
          <a:xfrm>
            <a:off x="7205389" y="5546484"/>
            <a:ext cx="1384935" cy="1397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50" spc="-20" b="1">
                <a:latin typeface="Tahoma"/>
                <a:cs typeface="Tahoma"/>
              </a:rPr>
              <a:t>Java</a:t>
            </a:r>
            <a:r>
              <a:rPr dirty="0" sz="750" spc="-10" b="1">
                <a:latin typeface="Tahoma"/>
                <a:cs typeface="Tahoma"/>
              </a:rPr>
              <a:t> </a:t>
            </a:r>
            <a:r>
              <a:rPr dirty="0" sz="750" spc="10" b="1">
                <a:latin typeface="Tahoma"/>
                <a:cs typeface="Tahoma"/>
              </a:rPr>
              <a:t>library</a:t>
            </a:r>
            <a:r>
              <a:rPr dirty="0" sz="750" spc="-10" b="1">
                <a:latin typeface="Tahoma"/>
                <a:cs typeface="Tahoma"/>
              </a:rPr>
              <a:t> </a:t>
            </a:r>
            <a:r>
              <a:rPr dirty="0" sz="750" spc="5" b="1">
                <a:latin typeface="Tahoma"/>
                <a:cs typeface="Tahoma"/>
              </a:rPr>
              <a:t>implementation</a:t>
            </a:r>
            <a:endParaRPr sz="7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39997" y="858294"/>
            <a:ext cx="1856105" cy="1962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100" spc="10">
                <a:solidFill>
                  <a:srgbClr val="005493"/>
                </a:solidFill>
                <a:latin typeface="Lucida Sans"/>
                <a:cs typeface="Lucida Sans"/>
              </a:rPr>
              <a:t>Performance</a:t>
            </a:r>
            <a:r>
              <a:rPr dirty="0" sz="1100" spc="-20">
                <a:solidFill>
                  <a:srgbClr val="005493"/>
                </a:solidFill>
                <a:latin typeface="Lucida Sans"/>
                <a:cs typeface="Lucida Sans"/>
              </a:rPr>
              <a:t> </a:t>
            </a:r>
            <a:r>
              <a:rPr dirty="0" sz="1100" spc="5">
                <a:solidFill>
                  <a:srgbClr val="005493"/>
                </a:solidFill>
                <a:latin typeface="Lucida Sans"/>
                <a:cs typeface="Lucida Sans"/>
              </a:rPr>
              <a:t>optimization.</a:t>
            </a:r>
            <a:endParaRPr sz="1100">
              <a:latin typeface="Lucida Sans"/>
              <a:cs typeface="Lucida San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46455" y="994547"/>
            <a:ext cx="3424554" cy="3098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dirty="0" baseline="-12012" sz="2775" spc="22">
                <a:latin typeface="Microsoft JhengHei"/>
                <a:cs typeface="Microsoft JhengHei"/>
              </a:rPr>
              <a:t>・</a:t>
            </a:r>
            <a:r>
              <a:rPr dirty="0" sz="1100" spc="10">
                <a:latin typeface="Lucida Sans"/>
                <a:cs typeface="Lucida Sans"/>
              </a:rPr>
              <a:t>Cache</a:t>
            </a:r>
            <a:r>
              <a:rPr dirty="0" sz="1100" spc="-5">
                <a:latin typeface="Lucida Sans"/>
                <a:cs typeface="Lucida Sans"/>
              </a:rPr>
              <a:t> </a:t>
            </a:r>
            <a:r>
              <a:rPr dirty="0" sz="1100" spc="5">
                <a:latin typeface="Lucida Sans"/>
                <a:cs typeface="Lucida Sans"/>
              </a:rPr>
              <a:t>the</a:t>
            </a:r>
            <a:r>
              <a:rPr dirty="0" sz="1100">
                <a:latin typeface="Lucida Sans"/>
                <a:cs typeface="Lucida Sans"/>
              </a:rPr>
              <a:t> </a:t>
            </a:r>
            <a:r>
              <a:rPr dirty="0" sz="1100" spc="10">
                <a:latin typeface="Lucida Sans"/>
                <a:cs typeface="Lucida Sans"/>
              </a:rPr>
              <a:t>hash</a:t>
            </a:r>
            <a:r>
              <a:rPr dirty="0" sz="1100">
                <a:latin typeface="Lucida Sans"/>
                <a:cs typeface="Lucida Sans"/>
              </a:rPr>
              <a:t> </a:t>
            </a:r>
            <a:r>
              <a:rPr dirty="0" sz="1100" spc="20">
                <a:latin typeface="Lucida Sans"/>
                <a:cs typeface="Lucida Sans"/>
              </a:rPr>
              <a:t>value</a:t>
            </a:r>
            <a:r>
              <a:rPr dirty="0" sz="1100">
                <a:latin typeface="Lucida Sans"/>
                <a:cs typeface="Lucida Sans"/>
              </a:rPr>
              <a:t> </a:t>
            </a:r>
            <a:r>
              <a:rPr dirty="0" sz="1100" spc="5">
                <a:latin typeface="Lucida Sans"/>
                <a:cs typeface="Lucida Sans"/>
              </a:rPr>
              <a:t>in</a:t>
            </a:r>
            <a:r>
              <a:rPr dirty="0" sz="1100">
                <a:latin typeface="Lucida Sans"/>
                <a:cs typeface="Lucida Sans"/>
              </a:rPr>
              <a:t> </a:t>
            </a:r>
            <a:r>
              <a:rPr dirty="0" sz="1100" spc="10">
                <a:latin typeface="Lucida Sans"/>
                <a:cs typeface="Lucida Sans"/>
              </a:rPr>
              <a:t>an</a:t>
            </a:r>
            <a:r>
              <a:rPr dirty="0" sz="1100">
                <a:latin typeface="Lucida Sans"/>
                <a:cs typeface="Lucida Sans"/>
              </a:rPr>
              <a:t> </a:t>
            </a:r>
            <a:r>
              <a:rPr dirty="0" sz="1100" spc="10">
                <a:latin typeface="Lucida Sans"/>
                <a:cs typeface="Lucida Sans"/>
              </a:rPr>
              <a:t>instance</a:t>
            </a:r>
            <a:r>
              <a:rPr dirty="0" sz="1100">
                <a:latin typeface="Lucida Sans"/>
                <a:cs typeface="Lucida Sans"/>
              </a:rPr>
              <a:t> </a:t>
            </a:r>
            <a:r>
              <a:rPr dirty="0" sz="1100" spc="15">
                <a:latin typeface="Lucida Sans"/>
                <a:cs typeface="Lucida Sans"/>
              </a:rPr>
              <a:t>variable.</a:t>
            </a:r>
            <a:endParaRPr sz="1100">
              <a:latin typeface="Lucida Sans"/>
              <a:cs typeface="Lucida San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46455" y="1225584"/>
            <a:ext cx="1755775" cy="3098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dirty="0" baseline="-12012" sz="2775" spc="22">
                <a:latin typeface="Microsoft JhengHei"/>
                <a:cs typeface="Microsoft JhengHei"/>
              </a:rPr>
              <a:t>・</a:t>
            </a:r>
            <a:r>
              <a:rPr dirty="0" sz="1100" spc="10">
                <a:latin typeface="Lucida Sans"/>
                <a:cs typeface="Lucida Sans"/>
              </a:rPr>
              <a:t>Return</a:t>
            </a:r>
            <a:r>
              <a:rPr dirty="0" sz="1100" spc="-15">
                <a:latin typeface="Lucida Sans"/>
                <a:cs typeface="Lucida Sans"/>
              </a:rPr>
              <a:t> </a:t>
            </a:r>
            <a:r>
              <a:rPr dirty="0" sz="1100" spc="10">
                <a:latin typeface="Lucida Sans"/>
                <a:cs typeface="Lucida Sans"/>
              </a:rPr>
              <a:t>cached</a:t>
            </a:r>
            <a:r>
              <a:rPr dirty="0" sz="1100" spc="-15">
                <a:latin typeface="Lucida Sans"/>
                <a:cs typeface="Lucida Sans"/>
              </a:rPr>
              <a:t> </a:t>
            </a:r>
            <a:r>
              <a:rPr dirty="0" sz="1100" spc="15">
                <a:latin typeface="Lucida Sans"/>
                <a:cs typeface="Lucida Sans"/>
              </a:rPr>
              <a:t>value.</a:t>
            </a:r>
            <a:endParaRPr sz="1100">
              <a:latin typeface="Lucida Sans"/>
              <a:cs typeface="Lucida San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39997" y="4323855"/>
            <a:ext cx="2493010" cy="1962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100" spc="10">
                <a:solidFill>
                  <a:srgbClr val="005493"/>
                </a:solidFill>
                <a:latin typeface="Lucida Sans"/>
                <a:cs typeface="Lucida Sans"/>
              </a:rPr>
              <a:t>Q.</a:t>
            </a:r>
            <a:r>
              <a:rPr dirty="0" sz="1100" spc="10">
                <a:solidFill>
                  <a:srgbClr val="005493"/>
                </a:solidFill>
                <a:latin typeface="Lucida Sans"/>
                <a:cs typeface="Lucida Sans"/>
              </a:rPr>
              <a:t> </a:t>
            </a:r>
            <a:r>
              <a:rPr dirty="0" sz="1100" spc="10">
                <a:solidFill>
                  <a:srgbClr val="005493"/>
                </a:solidFill>
                <a:latin typeface="Lucida Sans"/>
                <a:cs typeface="Lucida Sans"/>
              </a:rPr>
              <a:t> </a:t>
            </a:r>
            <a:r>
              <a:rPr dirty="0" sz="1100" spc="10">
                <a:latin typeface="Lucida Sans"/>
                <a:cs typeface="Lucida Sans"/>
              </a:rPr>
              <a:t>What</a:t>
            </a:r>
            <a:r>
              <a:rPr dirty="0" sz="1100" spc="5">
                <a:latin typeface="Lucida Sans"/>
                <a:cs typeface="Lucida Sans"/>
              </a:rPr>
              <a:t> </a:t>
            </a:r>
            <a:r>
              <a:rPr dirty="0" sz="1100" spc="5">
                <a:latin typeface="Lucida Sans"/>
                <a:cs typeface="Lucida Sans"/>
              </a:rPr>
              <a:t>if</a:t>
            </a:r>
            <a:r>
              <a:rPr dirty="0" sz="1100" spc="5">
                <a:latin typeface="Lucida Sans"/>
                <a:cs typeface="Lucida Sans"/>
              </a:rPr>
              <a:t> </a:t>
            </a:r>
            <a:r>
              <a:rPr dirty="0" sz="900" spc="15">
                <a:latin typeface="Lucida Sans Typewriter"/>
                <a:cs typeface="Lucida Sans Typewriter"/>
              </a:rPr>
              <a:t>hashCode()</a:t>
            </a:r>
            <a:r>
              <a:rPr dirty="0" sz="900" spc="-190">
                <a:latin typeface="Lucida Sans Typewriter"/>
                <a:cs typeface="Lucida Sans Typewriter"/>
              </a:rPr>
              <a:t> </a:t>
            </a:r>
            <a:r>
              <a:rPr dirty="0" sz="1100" spc="5">
                <a:latin typeface="Lucida Sans"/>
                <a:cs typeface="Lucida Sans"/>
              </a:rPr>
              <a:t>of</a:t>
            </a:r>
            <a:r>
              <a:rPr dirty="0" sz="1100" spc="5">
                <a:latin typeface="Lucida Sans"/>
                <a:cs typeface="Lucida Sans"/>
              </a:rPr>
              <a:t> </a:t>
            </a:r>
            <a:r>
              <a:rPr dirty="0" sz="1100" spc="5">
                <a:latin typeface="Lucida Sans"/>
                <a:cs typeface="Lucida Sans"/>
              </a:rPr>
              <a:t>string</a:t>
            </a:r>
            <a:r>
              <a:rPr dirty="0" sz="1100" spc="5">
                <a:latin typeface="Lucida Sans"/>
                <a:cs typeface="Lucida Sans"/>
              </a:rPr>
              <a:t> </a:t>
            </a:r>
            <a:r>
              <a:rPr dirty="0" sz="1100" spc="5">
                <a:latin typeface="Lucida Sans"/>
                <a:cs typeface="Lucida Sans"/>
              </a:rPr>
              <a:t>is</a:t>
            </a:r>
            <a:r>
              <a:rPr dirty="0" sz="1100" spc="5">
                <a:latin typeface="Lucida Sans"/>
                <a:cs typeface="Lucida Sans"/>
              </a:rPr>
              <a:t> </a:t>
            </a:r>
            <a:r>
              <a:rPr dirty="0" sz="1100" spc="10">
                <a:latin typeface="Lucida Sans"/>
                <a:cs typeface="Lucida Sans"/>
              </a:rPr>
              <a:t>0?</a:t>
            </a:r>
            <a:endParaRPr sz="1100">
              <a:latin typeface="Lucida Sans"/>
              <a:cs typeface="Lucida Sans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211085" y="1682587"/>
            <a:ext cx="3039110" cy="2494280"/>
            <a:chOff x="1211085" y="1682587"/>
            <a:chExt cx="3039110" cy="2494280"/>
          </a:xfrm>
        </p:grpSpPr>
        <p:sp>
          <p:nvSpPr>
            <p:cNvPr id="7" name="object 7"/>
            <p:cNvSpPr/>
            <p:nvPr/>
          </p:nvSpPr>
          <p:spPr>
            <a:xfrm>
              <a:off x="1211085" y="1682587"/>
              <a:ext cx="3039110" cy="2494280"/>
            </a:xfrm>
            <a:custGeom>
              <a:avLst/>
              <a:gdLst/>
              <a:ahLst/>
              <a:cxnLst/>
              <a:rect l="l" t="t" r="r" b="b"/>
              <a:pathLst>
                <a:path w="3039110" h="2494279">
                  <a:moveTo>
                    <a:pt x="0" y="0"/>
                  </a:moveTo>
                  <a:lnTo>
                    <a:pt x="3039030" y="0"/>
                  </a:lnTo>
                  <a:lnTo>
                    <a:pt x="3039030" y="2494019"/>
                  </a:lnTo>
                  <a:lnTo>
                    <a:pt x="0" y="249401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1305864" y="2023071"/>
              <a:ext cx="2849880" cy="1617345"/>
            </a:xfrm>
            <a:custGeom>
              <a:avLst/>
              <a:gdLst/>
              <a:ahLst/>
              <a:cxnLst/>
              <a:rect l="l" t="t" r="r" b="b"/>
              <a:pathLst>
                <a:path w="2849879" h="1617345">
                  <a:moveTo>
                    <a:pt x="2849461" y="1469161"/>
                  </a:moveTo>
                  <a:lnTo>
                    <a:pt x="0" y="1469161"/>
                  </a:lnTo>
                  <a:lnTo>
                    <a:pt x="0" y="1617256"/>
                  </a:lnTo>
                  <a:lnTo>
                    <a:pt x="2849461" y="1617256"/>
                  </a:lnTo>
                  <a:lnTo>
                    <a:pt x="2849461" y="1469161"/>
                  </a:lnTo>
                  <a:close/>
                </a:path>
                <a:path w="2849879" h="1617345">
                  <a:moveTo>
                    <a:pt x="2849461" y="882675"/>
                  </a:moveTo>
                  <a:lnTo>
                    <a:pt x="0" y="882675"/>
                  </a:lnTo>
                  <a:lnTo>
                    <a:pt x="0" y="1178877"/>
                  </a:lnTo>
                  <a:lnTo>
                    <a:pt x="2849461" y="1178877"/>
                  </a:lnTo>
                  <a:lnTo>
                    <a:pt x="2849461" y="882675"/>
                  </a:lnTo>
                  <a:close/>
                </a:path>
                <a:path w="2849879" h="1617345">
                  <a:moveTo>
                    <a:pt x="2849461" y="0"/>
                  </a:moveTo>
                  <a:lnTo>
                    <a:pt x="0" y="0"/>
                  </a:lnTo>
                  <a:lnTo>
                    <a:pt x="0" y="148094"/>
                  </a:lnTo>
                  <a:lnTo>
                    <a:pt x="2849461" y="148094"/>
                  </a:lnTo>
                  <a:lnTo>
                    <a:pt x="284946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1296540" y="1726758"/>
            <a:ext cx="1630680" cy="309880"/>
          </a:xfrm>
          <a:prstGeom prst="rect">
            <a:avLst/>
          </a:prstGeom>
        </p:spPr>
        <p:txBody>
          <a:bodyPr wrap="square" lIns="0" tIns="317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0"/>
              </a:spcBef>
            </a:pPr>
            <a:r>
              <a:rPr dirty="0" sz="800" spc="20">
                <a:latin typeface="Lucida Sans Typewriter"/>
                <a:cs typeface="Lucida Sans Typewriter"/>
              </a:rPr>
              <a:t>public</a:t>
            </a:r>
            <a:r>
              <a:rPr dirty="0" sz="800" spc="10"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final</a:t>
            </a:r>
            <a:r>
              <a:rPr dirty="0" sz="800" spc="10"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class</a:t>
            </a:r>
            <a:r>
              <a:rPr dirty="0" sz="800" spc="15"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String</a:t>
            </a:r>
            <a:endParaRPr sz="800">
              <a:latin typeface="Lucida Sans Typewriter"/>
              <a:cs typeface="Lucida Sans Typewriter"/>
            </a:endParaRPr>
          </a:p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dirty="0" sz="800" spc="20">
                <a:latin typeface="Lucida Sans Typewriter"/>
                <a:cs typeface="Lucida Sans Typewriter"/>
              </a:rPr>
              <a:t>{</a:t>
            </a:r>
            <a:endParaRPr sz="800">
              <a:latin typeface="Lucida Sans Typewriter"/>
              <a:cs typeface="Lucida Sans Typewriter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489119" y="2031253"/>
            <a:ext cx="1373505" cy="15367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800" spc="20">
                <a:latin typeface="Lucida Sans Typewriter"/>
                <a:cs typeface="Lucida Sans Typewriter"/>
              </a:rPr>
              <a:t>private</a:t>
            </a:r>
            <a:r>
              <a:rPr dirty="0" sz="800" spc="10"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int</a:t>
            </a:r>
            <a:r>
              <a:rPr dirty="0" sz="800" spc="10"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hash</a:t>
            </a:r>
            <a:r>
              <a:rPr dirty="0" sz="800" spc="10"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=</a:t>
            </a:r>
            <a:r>
              <a:rPr dirty="0" sz="800" spc="10"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0;</a:t>
            </a:r>
            <a:endParaRPr sz="800">
              <a:latin typeface="Lucida Sans Typewriter"/>
              <a:cs typeface="Lucida Sans Typewriter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489119" y="2159213"/>
            <a:ext cx="1502410" cy="321945"/>
          </a:xfrm>
          <a:prstGeom prst="rect">
            <a:avLst/>
          </a:prstGeom>
        </p:spPr>
        <p:txBody>
          <a:bodyPr wrap="square" lIns="0" tIns="374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95"/>
              </a:spcBef>
            </a:pPr>
            <a:r>
              <a:rPr dirty="0" sz="800" spc="20">
                <a:latin typeface="Lucida Sans Typewriter"/>
                <a:cs typeface="Lucida Sans Typewriter"/>
              </a:rPr>
              <a:t>private</a:t>
            </a:r>
            <a:r>
              <a:rPr dirty="0" sz="800" spc="10"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final</a:t>
            </a:r>
            <a:r>
              <a:rPr dirty="0" sz="800" spc="10"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char[]</a:t>
            </a:r>
            <a:r>
              <a:rPr dirty="0" sz="800" spc="10"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s;</a:t>
            </a:r>
            <a:endParaRPr sz="800">
              <a:latin typeface="Lucida Sans Typewriter"/>
              <a:cs typeface="Lucida Sans Typewriter"/>
            </a:endParaRPr>
          </a:p>
          <a:p>
            <a:pPr marL="12700">
              <a:lnSpc>
                <a:spcPct val="100000"/>
              </a:lnSpc>
              <a:spcBef>
                <a:spcPts val="209"/>
              </a:spcBef>
            </a:pPr>
            <a:r>
              <a:rPr dirty="0" sz="800" spc="20">
                <a:latin typeface="Lucida Sans Typewriter"/>
                <a:cs typeface="Lucida Sans Typewriter"/>
              </a:rPr>
              <a:t>...</a:t>
            </a:r>
            <a:endParaRPr sz="800">
              <a:latin typeface="Lucida Sans Typewriter"/>
              <a:cs typeface="Lucida Sans Typewriter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489119" y="2597592"/>
            <a:ext cx="1373505" cy="321945"/>
          </a:xfrm>
          <a:prstGeom prst="rect">
            <a:avLst/>
          </a:prstGeom>
        </p:spPr>
        <p:txBody>
          <a:bodyPr wrap="square" lIns="0" tIns="374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95"/>
              </a:spcBef>
            </a:pPr>
            <a:r>
              <a:rPr dirty="0" sz="800" spc="20">
                <a:latin typeface="Lucida Sans Typewriter"/>
                <a:cs typeface="Lucida Sans Typewriter"/>
              </a:rPr>
              <a:t>public</a:t>
            </a:r>
            <a:r>
              <a:rPr dirty="0" sz="800"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int</a:t>
            </a:r>
            <a:r>
              <a:rPr dirty="0" sz="800" spc="5"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hashCode()</a:t>
            </a:r>
            <a:endParaRPr sz="800">
              <a:latin typeface="Lucida Sans Typewriter"/>
              <a:cs typeface="Lucida Sans Typewriter"/>
            </a:endParaRPr>
          </a:p>
          <a:p>
            <a:pPr marL="12700">
              <a:lnSpc>
                <a:spcPct val="100000"/>
              </a:lnSpc>
              <a:spcBef>
                <a:spcPts val="209"/>
              </a:spcBef>
            </a:pPr>
            <a:r>
              <a:rPr dirty="0" sz="800" spc="20">
                <a:latin typeface="Lucida Sans Typewriter"/>
                <a:cs typeface="Lucida Sans Typewriter"/>
              </a:rPr>
              <a:t>{</a:t>
            </a:r>
            <a:endParaRPr sz="800">
              <a:latin typeface="Lucida Sans Typewriter"/>
              <a:cs typeface="Lucida Sans Typewriter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681697" y="2893793"/>
            <a:ext cx="1373505" cy="321945"/>
          </a:xfrm>
          <a:prstGeom prst="rect">
            <a:avLst/>
          </a:prstGeom>
        </p:spPr>
        <p:txBody>
          <a:bodyPr wrap="square" lIns="0" tIns="374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95"/>
              </a:spcBef>
            </a:pPr>
            <a:r>
              <a:rPr dirty="0" sz="800" spc="20">
                <a:latin typeface="Lucida Sans Typewriter"/>
                <a:cs typeface="Lucida Sans Typewriter"/>
              </a:rPr>
              <a:t>int</a:t>
            </a:r>
            <a:r>
              <a:rPr dirty="0" sz="800"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h</a:t>
            </a:r>
            <a:r>
              <a:rPr dirty="0" sz="800"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=</a:t>
            </a:r>
            <a:r>
              <a:rPr dirty="0" sz="800"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hash;</a:t>
            </a:r>
            <a:endParaRPr sz="800">
              <a:latin typeface="Lucida Sans Typewriter"/>
              <a:cs typeface="Lucida Sans Typewriter"/>
            </a:endParaRPr>
          </a:p>
          <a:p>
            <a:pPr marL="12700">
              <a:lnSpc>
                <a:spcPct val="100000"/>
              </a:lnSpc>
              <a:spcBef>
                <a:spcPts val="209"/>
              </a:spcBef>
            </a:pPr>
            <a:r>
              <a:rPr dirty="0" sz="800" spc="20">
                <a:latin typeface="Lucida Sans Typewriter"/>
                <a:cs typeface="Lucida Sans Typewriter"/>
              </a:rPr>
              <a:t>if</a:t>
            </a:r>
            <a:r>
              <a:rPr dirty="0" sz="800" spc="10"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(h</a:t>
            </a:r>
            <a:r>
              <a:rPr dirty="0" sz="800" spc="10"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!=</a:t>
            </a:r>
            <a:r>
              <a:rPr dirty="0" sz="800" spc="10"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0)</a:t>
            </a:r>
            <a:r>
              <a:rPr dirty="0" sz="800" spc="15"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return</a:t>
            </a:r>
            <a:r>
              <a:rPr dirty="0" sz="800" spc="10"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h;</a:t>
            </a:r>
            <a:endParaRPr sz="800">
              <a:latin typeface="Lucida Sans Typewriter"/>
              <a:cs typeface="Lucida Sans Typewriter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681697" y="3195919"/>
            <a:ext cx="2208530" cy="30988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205104" marR="5080" indent="-193040">
              <a:lnSpc>
                <a:spcPct val="116599"/>
              </a:lnSpc>
              <a:spcBef>
                <a:spcPts val="90"/>
              </a:spcBef>
            </a:pPr>
            <a:r>
              <a:rPr dirty="0" sz="800" spc="20">
                <a:latin typeface="Lucida Sans Typewriter"/>
                <a:cs typeface="Lucida Sans Typewriter"/>
              </a:rPr>
              <a:t>for (int i = 0; i &lt; length(); i++) </a:t>
            </a:r>
            <a:r>
              <a:rPr dirty="0" sz="800" spc="-470">
                <a:latin typeface="Lucida Sans Typewriter"/>
                <a:cs typeface="Lucida Sans Typewriter"/>
              </a:rPr>
              <a:t> </a:t>
            </a:r>
            <a:r>
              <a:rPr dirty="0" sz="800"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h</a:t>
            </a:r>
            <a:r>
              <a:rPr dirty="0" sz="800" spc="15"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=</a:t>
            </a:r>
            <a:r>
              <a:rPr dirty="0" sz="800" spc="15"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s[i] +</a:t>
            </a:r>
            <a:r>
              <a:rPr dirty="0" sz="800" spc="15"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(31</a:t>
            </a:r>
            <a:r>
              <a:rPr dirty="0" sz="800" spc="15"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* h);</a:t>
            </a:r>
            <a:endParaRPr sz="800">
              <a:latin typeface="Lucida Sans Typewriter"/>
              <a:cs typeface="Lucida Sans Typewriter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681697" y="3500414"/>
            <a:ext cx="603250" cy="15367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800" spc="20">
                <a:latin typeface="Lucida Sans Typewriter"/>
                <a:cs typeface="Lucida Sans Typewriter"/>
              </a:rPr>
              <a:t>hash</a:t>
            </a:r>
            <a:r>
              <a:rPr dirty="0" sz="800" spc="-15"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=</a:t>
            </a:r>
            <a:r>
              <a:rPr dirty="0" sz="800" spc="-15"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h;</a:t>
            </a:r>
            <a:endParaRPr sz="800">
              <a:latin typeface="Lucida Sans Typewriter"/>
              <a:cs typeface="Lucida Sans Typewriter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681697" y="3648515"/>
            <a:ext cx="603250" cy="15367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800" spc="20">
                <a:latin typeface="Lucida Sans Typewriter"/>
                <a:cs typeface="Lucida Sans Typewriter"/>
              </a:rPr>
              <a:t>return</a:t>
            </a:r>
            <a:r>
              <a:rPr dirty="0" sz="800" spc="-45"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h;</a:t>
            </a:r>
            <a:endParaRPr sz="800">
              <a:latin typeface="Lucida Sans Typewriter"/>
              <a:cs typeface="Lucida Sans Typewriter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489119" y="3796616"/>
            <a:ext cx="90170" cy="15367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800" spc="20">
                <a:latin typeface="Lucida Sans Typewriter"/>
                <a:cs typeface="Lucida Sans Typewriter"/>
              </a:rPr>
              <a:t>}</a:t>
            </a:r>
            <a:endParaRPr sz="800">
              <a:latin typeface="Lucida Sans Typewriter"/>
              <a:cs typeface="Lucida Sans Typewriter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296540" y="3944717"/>
            <a:ext cx="90170" cy="15367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800" spc="20">
                <a:latin typeface="Lucida Sans Typewriter"/>
                <a:cs typeface="Lucida Sans Typewriter"/>
              </a:rPr>
              <a:t>}</a:t>
            </a:r>
            <a:endParaRPr sz="800">
              <a:latin typeface="Lucida Sans Typewriter"/>
              <a:cs typeface="Lucida Sans Typewriter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268503" y="4615831"/>
            <a:ext cx="70485" cy="1111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550" spc="5">
                <a:latin typeface="Lucida Sans"/>
                <a:cs typeface="Lucida Sans"/>
              </a:rPr>
              <a:t>9</a:t>
            </a:r>
            <a:endParaRPr sz="550">
              <a:latin typeface="Lucida Sans"/>
              <a:cs typeface="Lucida Sans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39997" y="396219"/>
            <a:ext cx="2482215" cy="2247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00" spc="5">
                <a:latin typeface="Arial"/>
                <a:cs typeface="Arial"/>
              </a:rPr>
              <a:t>Implementing</a:t>
            </a:r>
            <a:r>
              <a:rPr dirty="0" sz="1300" spc="35">
                <a:latin typeface="Arial"/>
                <a:cs typeface="Arial"/>
              </a:rPr>
              <a:t> </a:t>
            </a:r>
            <a:r>
              <a:rPr dirty="0" sz="1300" spc="-20">
                <a:latin typeface="Arial"/>
                <a:cs typeface="Arial"/>
              </a:rPr>
              <a:t>hash</a:t>
            </a:r>
            <a:r>
              <a:rPr dirty="0" sz="1300" spc="35">
                <a:latin typeface="Arial"/>
                <a:cs typeface="Arial"/>
              </a:rPr>
              <a:t> </a:t>
            </a:r>
            <a:r>
              <a:rPr dirty="0" sz="1300" spc="25">
                <a:latin typeface="Arial"/>
                <a:cs typeface="Arial"/>
              </a:rPr>
              <a:t>code: </a:t>
            </a:r>
            <a:r>
              <a:rPr dirty="0" sz="1300" spc="45">
                <a:latin typeface="Arial"/>
                <a:cs typeface="Arial"/>
              </a:rPr>
              <a:t> </a:t>
            </a:r>
            <a:r>
              <a:rPr dirty="0" sz="1300" spc="-15">
                <a:latin typeface="Arial"/>
                <a:cs typeface="Arial"/>
              </a:rPr>
              <a:t>strings</a:t>
            </a:r>
            <a:endParaRPr sz="13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561789" y="2931838"/>
            <a:ext cx="934085" cy="1397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50" spc="-5">
                <a:solidFill>
                  <a:srgbClr val="8D3124"/>
                </a:solidFill>
                <a:latin typeface="Lucida Sans"/>
                <a:cs typeface="Lucida Sans"/>
              </a:rPr>
              <a:t>return</a:t>
            </a:r>
            <a:r>
              <a:rPr dirty="0" sz="750" spc="-35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dirty="0" sz="750" spc="-5">
                <a:solidFill>
                  <a:srgbClr val="8D3124"/>
                </a:solidFill>
                <a:latin typeface="Lucida Sans"/>
                <a:cs typeface="Lucida Sans"/>
              </a:rPr>
              <a:t>cached</a:t>
            </a:r>
            <a:r>
              <a:rPr dirty="0" sz="750" spc="-30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dirty="0" sz="750" spc="5">
                <a:solidFill>
                  <a:srgbClr val="8D3124"/>
                </a:solidFill>
                <a:latin typeface="Lucida Sans"/>
                <a:cs typeface="Lucida Sans"/>
              </a:rPr>
              <a:t>value</a:t>
            </a:r>
            <a:endParaRPr sz="750">
              <a:latin typeface="Lucida Sans"/>
              <a:cs typeface="Lucida Sans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4001306" y="2062919"/>
            <a:ext cx="454025" cy="1532255"/>
            <a:chOff x="4001306" y="2062919"/>
            <a:chExt cx="454025" cy="1532255"/>
          </a:xfrm>
        </p:grpSpPr>
        <p:sp>
          <p:nvSpPr>
            <p:cNvPr id="23" name="object 23"/>
            <p:cNvSpPr/>
            <p:nvPr/>
          </p:nvSpPr>
          <p:spPr>
            <a:xfrm>
              <a:off x="4038035" y="3021425"/>
              <a:ext cx="411480" cy="635"/>
            </a:xfrm>
            <a:custGeom>
              <a:avLst/>
              <a:gdLst/>
              <a:ahLst/>
              <a:cxnLst/>
              <a:rect l="l" t="t" r="r" b="b"/>
              <a:pathLst>
                <a:path w="411479" h="635">
                  <a:moveTo>
                    <a:pt x="0" y="0"/>
                  </a:moveTo>
                  <a:lnTo>
                    <a:pt x="5924" y="1"/>
                  </a:lnTo>
                  <a:lnTo>
                    <a:pt x="411324" y="63"/>
                  </a:lnTo>
                </a:path>
              </a:pathLst>
            </a:custGeom>
            <a:ln w="11848">
              <a:solidFill>
                <a:srgbClr val="8D312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4001306" y="2992993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>
                  <a:moveTo>
                    <a:pt x="56875" y="0"/>
                  </a:moveTo>
                  <a:lnTo>
                    <a:pt x="0" y="28426"/>
                  </a:lnTo>
                  <a:lnTo>
                    <a:pt x="56866" y="56870"/>
                  </a:lnTo>
                  <a:lnTo>
                    <a:pt x="42656" y="28426"/>
                  </a:lnTo>
                  <a:lnTo>
                    <a:pt x="56875" y="0"/>
                  </a:lnTo>
                  <a:close/>
                </a:path>
              </a:pathLst>
            </a:custGeom>
            <a:solidFill>
              <a:srgbClr val="8D31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4043959" y="2091352"/>
              <a:ext cx="411480" cy="635"/>
            </a:xfrm>
            <a:custGeom>
              <a:avLst/>
              <a:gdLst/>
              <a:ahLst/>
              <a:cxnLst/>
              <a:rect l="l" t="t" r="r" b="b"/>
              <a:pathLst>
                <a:path w="411479" h="635">
                  <a:moveTo>
                    <a:pt x="0" y="0"/>
                  </a:moveTo>
                  <a:lnTo>
                    <a:pt x="5924" y="1"/>
                  </a:lnTo>
                  <a:lnTo>
                    <a:pt x="411324" y="63"/>
                  </a:lnTo>
                </a:path>
              </a:pathLst>
            </a:custGeom>
            <a:ln w="11848">
              <a:solidFill>
                <a:srgbClr val="8D312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4007230" y="2062919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>
                  <a:moveTo>
                    <a:pt x="56875" y="0"/>
                  </a:moveTo>
                  <a:lnTo>
                    <a:pt x="0" y="28426"/>
                  </a:lnTo>
                  <a:lnTo>
                    <a:pt x="56866" y="56870"/>
                  </a:lnTo>
                  <a:lnTo>
                    <a:pt x="42656" y="28426"/>
                  </a:lnTo>
                  <a:lnTo>
                    <a:pt x="56875" y="0"/>
                  </a:lnTo>
                  <a:close/>
                </a:path>
              </a:pathLst>
            </a:custGeom>
            <a:solidFill>
              <a:srgbClr val="8D31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4043959" y="3566436"/>
              <a:ext cx="411480" cy="635"/>
            </a:xfrm>
            <a:custGeom>
              <a:avLst/>
              <a:gdLst/>
              <a:ahLst/>
              <a:cxnLst/>
              <a:rect l="l" t="t" r="r" b="b"/>
              <a:pathLst>
                <a:path w="411479" h="635">
                  <a:moveTo>
                    <a:pt x="0" y="0"/>
                  </a:moveTo>
                  <a:lnTo>
                    <a:pt x="5924" y="0"/>
                  </a:lnTo>
                  <a:lnTo>
                    <a:pt x="411324" y="63"/>
                  </a:lnTo>
                </a:path>
              </a:pathLst>
            </a:custGeom>
            <a:ln w="11848">
              <a:solidFill>
                <a:srgbClr val="8D312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4007231" y="3538004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>
                  <a:moveTo>
                    <a:pt x="56874" y="0"/>
                  </a:moveTo>
                  <a:lnTo>
                    <a:pt x="0" y="28426"/>
                  </a:lnTo>
                  <a:lnTo>
                    <a:pt x="56866" y="56870"/>
                  </a:lnTo>
                  <a:lnTo>
                    <a:pt x="42655" y="28426"/>
                  </a:lnTo>
                  <a:lnTo>
                    <a:pt x="56874" y="0"/>
                  </a:lnTo>
                  <a:close/>
                </a:path>
              </a:pathLst>
            </a:custGeom>
            <a:solidFill>
              <a:srgbClr val="8D312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" name="object 29"/>
          <p:cNvSpPr txBox="1"/>
          <p:nvPr/>
        </p:nvSpPr>
        <p:spPr>
          <a:xfrm>
            <a:off x="4566923" y="2013481"/>
            <a:ext cx="908685" cy="1397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50" spc="-5">
                <a:solidFill>
                  <a:srgbClr val="8D3124"/>
                </a:solidFill>
                <a:latin typeface="Lucida Sans"/>
                <a:cs typeface="Lucida Sans"/>
              </a:rPr>
              <a:t>cache</a:t>
            </a:r>
            <a:r>
              <a:rPr dirty="0" sz="750" spc="-20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dirty="0" sz="750" spc="-5">
                <a:solidFill>
                  <a:srgbClr val="8D3124"/>
                </a:solidFill>
                <a:latin typeface="Lucida Sans"/>
                <a:cs typeface="Lucida Sans"/>
              </a:rPr>
              <a:t>of</a:t>
            </a:r>
            <a:r>
              <a:rPr dirty="0" sz="750" spc="-20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dirty="0" sz="750" spc="-5">
                <a:solidFill>
                  <a:srgbClr val="8D3124"/>
                </a:solidFill>
                <a:latin typeface="Lucida Sans"/>
                <a:cs typeface="Lucida Sans"/>
              </a:rPr>
              <a:t>hash</a:t>
            </a:r>
            <a:r>
              <a:rPr dirty="0" sz="750" spc="-15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dirty="0" sz="750" spc="-5">
                <a:solidFill>
                  <a:srgbClr val="8D3124"/>
                </a:solidFill>
                <a:latin typeface="Lucida Sans"/>
                <a:cs typeface="Lucida Sans"/>
              </a:rPr>
              <a:t>code</a:t>
            </a:r>
            <a:endParaRPr sz="750">
              <a:latin typeface="Lucida Sans"/>
              <a:cs typeface="Lucida Sans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566923" y="3488566"/>
            <a:ext cx="1170305" cy="1397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50" spc="-5">
                <a:solidFill>
                  <a:srgbClr val="8D3124"/>
                </a:solidFill>
                <a:latin typeface="Lucida Sans"/>
                <a:cs typeface="Lucida Sans"/>
              </a:rPr>
              <a:t>store</a:t>
            </a:r>
            <a:r>
              <a:rPr dirty="0" sz="750" spc="-15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dirty="0" sz="750" spc="-5">
                <a:solidFill>
                  <a:srgbClr val="8D3124"/>
                </a:solidFill>
                <a:latin typeface="Lucida Sans"/>
                <a:cs typeface="Lucida Sans"/>
              </a:rPr>
              <a:t>cache</a:t>
            </a:r>
            <a:r>
              <a:rPr dirty="0" sz="750" spc="-15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dirty="0" sz="750" spc="-5">
                <a:solidFill>
                  <a:srgbClr val="8D3124"/>
                </a:solidFill>
                <a:latin typeface="Lucida Sans"/>
                <a:cs typeface="Lucida Sans"/>
              </a:rPr>
              <a:t>of</a:t>
            </a:r>
            <a:r>
              <a:rPr dirty="0" sz="750" spc="-15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dirty="0" sz="750" spc="-5">
                <a:solidFill>
                  <a:srgbClr val="8D3124"/>
                </a:solidFill>
                <a:latin typeface="Lucida Sans"/>
                <a:cs typeface="Lucida Sans"/>
              </a:rPr>
              <a:t>hash</a:t>
            </a:r>
            <a:r>
              <a:rPr dirty="0" sz="750" spc="-15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dirty="0" sz="750" spc="-5">
                <a:solidFill>
                  <a:srgbClr val="8D3124"/>
                </a:solidFill>
                <a:latin typeface="Lucida Sans"/>
                <a:cs typeface="Lucida Sans"/>
              </a:rPr>
              <a:t>code</a:t>
            </a:r>
            <a:endParaRPr sz="750">
              <a:latin typeface="Lucida Sans"/>
              <a:cs typeface="Lucida Sans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6592379" y="237122"/>
            <a:ext cx="6066790" cy="4549775"/>
            <a:chOff x="6592379" y="237122"/>
            <a:chExt cx="6066790" cy="4549775"/>
          </a:xfrm>
        </p:grpSpPr>
        <p:sp>
          <p:nvSpPr>
            <p:cNvPr id="32" name="object 32"/>
            <p:cNvSpPr/>
            <p:nvPr/>
          </p:nvSpPr>
          <p:spPr>
            <a:xfrm>
              <a:off x="6592379" y="237122"/>
              <a:ext cx="6066790" cy="4549775"/>
            </a:xfrm>
            <a:custGeom>
              <a:avLst/>
              <a:gdLst/>
              <a:ahLst/>
              <a:cxnLst/>
              <a:rect l="l" t="t" r="r" b="b"/>
              <a:pathLst>
                <a:path w="6066790" h="4549775">
                  <a:moveTo>
                    <a:pt x="0" y="0"/>
                  </a:moveTo>
                  <a:lnTo>
                    <a:pt x="6066212" y="0"/>
                  </a:lnTo>
                  <a:lnTo>
                    <a:pt x="6066212" y="4549659"/>
                  </a:lnTo>
                  <a:lnTo>
                    <a:pt x="0" y="45496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6977442" y="699147"/>
              <a:ext cx="5302250" cy="635"/>
            </a:xfrm>
            <a:custGeom>
              <a:avLst/>
              <a:gdLst/>
              <a:ahLst/>
              <a:cxnLst/>
              <a:rect l="l" t="t" r="r" b="b"/>
              <a:pathLst>
                <a:path w="5302250" h="634">
                  <a:moveTo>
                    <a:pt x="0" y="49"/>
                  </a:moveTo>
                  <a:lnTo>
                    <a:pt x="5302012" y="0"/>
                  </a:lnTo>
                </a:path>
              </a:pathLst>
            </a:custGeom>
            <a:ln w="59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4" name="object 34"/>
          <p:cNvSpPr txBox="1"/>
          <p:nvPr/>
        </p:nvSpPr>
        <p:spPr>
          <a:xfrm>
            <a:off x="12504906" y="4615831"/>
            <a:ext cx="102870" cy="1111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dirty="0" sz="550" spc="5">
                <a:latin typeface="Lucida Sans"/>
                <a:cs typeface="Lucida Sans"/>
              </a:rPr>
              <a:t>10</a:t>
            </a:r>
            <a:endParaRPr sz="550">
              <a:latin typeface="Lucida Sans"/>
              <a:cs typeface="Lucida Sans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6998899" y="396219"/>
            <a:ext cx="3345815" cy="2247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dirty="0" sz="1300" spc="5">
                <a:latin typeface="Arial"/>
                <a:cs typeface="Arial"/>
              </a:rPr>
              <a:t>Implementing</a:t>
            </a:r>
            <a:r>
              <a:rPr dirty="0" sz="1300" spc="40">
                <a:latin typeface="Arial"/>
                <a:cs typeface="Arial"/>
              </a:rPr>
              <a:t> </a:t>
            </a:r>
            <a:r>
              <a:rPr dirty="0" sz="1300" spc="-20">
                <a:latin typeface="Arial"/>
                <a:cs typeface="Arial"/>
              </a:rPr>
              <a:t>hash</a:t>
            </a:r>
            <a:r>
              <a:rPr dirty="0" sz="1300" spc="40">
                <a:latin typeface="Arial"/>
                <a:cs typeface="Arial"/>
              </a:rPr>
              <a:t> </a:t>
            </a:r>
            <a:r>
              <a:rPr dirty="0" sz="1300" spc="25">
                <a:latin typeface="Arial"/>
                <a:cs typeface="Arial"/>
              </a:rPr>
              <a:t>code: </a:t>
            </a:r>
            <a:r>
              <a:rPr dirty="0" sz="1300" spc="60">
                <a:latin typeface="Arial"/>
                <a:cs typeface="Arial"/>
              </a:rPr>
              <a:t> </a:t>
            </a:r>
            <a:r>
              <a:rPr dirty="0" sz="1300" spc="-10">
                <a:latin typeface="Arial"/>
                <a:cs typeface="Arial"/>
              </a:rPr>
              <a:t>user-defined</a:t>
            </a:r>
            <a:r>
              <a:rPr dirty="0" sz="1300" spc="45">
                <a:latin typeface="Arial"/>
                <a:cs typeface="Arial"/>
              </a:rPr>
              <a:t> </a:t>
            </a:r>
            <a:r>
              <a:rPr dirty="0" sz="1300" spc="-5">
                <a:latin typeface="Arial"/>
                <a:cs typeface="Arial"/>
              </a:rPr>
              <a:t>types</a:t>
            </a:r>
            <a:endParaRPr sz="1300">
              <a:latin typeface="Arial"/>
              <a:cs typeface="Arial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6906353" y="953931"/>
            <a:ext cx="4508500" cy="3643629"/>
            <a:chOff x="6906353" y="953931"/>
            <a:chExt cx="4508500" cy="3643629"/>
          </a:xfrm>
        </p:grpSpPr>
        <p:pic>
          <p:nvPicPr>
            <p:cNvPr id="37" name="object 3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06353" y="953931"/>
              <a:ext cx="4508191" cy="3643281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6941897" y="989475"/>
              <a:ext cx="4389755" cy="3524885"/>
            </a:xfrm>
            <a:custGeom>
              <a:avLst/>
              <a:gdLst/>
              <a:ahLst/>
              <a:cxnLst/>
              <a:rect l="l" t="t" r="r" b="b"/>
              <a:pathLst>
                <a:path w="4389755" h="3524885">
                  <a:moveTo>
                    <a:pt x="0" y="0"/>
                  </a:moveTo>
                  <a:lnTo>
                    <a:pt x="4389710" y="0"/>
                  </a:lnTo>
                  <a:lnTo>
                    <a:pt x="4389710" y="3524801"/>
                  </a:lnTo>
                  <a:lnTo>
                    <a:pt x="0" y="35248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BCBC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7036682" y="3095315"/>
              <a:ext cx="4200525" cy="1173480"/>
            </a:xfrm>
            <a:custGeom>
              <a:avLst/>
              <a:gdLst/>
              <a:ahLst/>
              <a:cxnLst/>
              <a:rect l="l" t="t" r="r" b="b"/>
              <a:pathLst>
                <a:path w="4200525" h="1173479">
                  <a:moveTo>
                    <a:pt x="0" y="0"/>
                  </a:moveTo>
                  <a:lnTo>
                    <a:pt x="4200141" y="0"/>
                  </a:lnTo>
                  <a:lnTo>
                    <a:pt x="4200141" y="1172959"/>
                  </a:lnTo>
                  <a:lnTo>
                    <a:pt x="0" y="11729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0" name="object 40"/>
          <p:cNvSpPr txBox="1"/>
          <p:nvPr/>
        </p:nvSpPr>
        <p:spPr>
          <a:xfrm>
            <a:off x="7040052" y="1033645"/>
            <a:ext cx="4185285" cy="1927225"/>
          </a:xfrm>
          <a:prstGeom prst="rect">
            <a:avLst/>
          </a:prstGeom>
        </p:spPr>
        <p:txBody>
          <a:bodyPr wrap="square" lIns="0" tIns="3175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250"/>
              </a:spcBef>
            </a:pPr>
            <a:r>
              <a:rPr dirty="0" sz="800" spc="20">
                <a:latin typeface="Lucida Sans Typewriter"/>
                <a:cs typeface="Lucida Sans Typewriter"/>
              </a:rPr>
              <a:t>public</a:t>
            </a:r>
            <a:r>
              <a:rPr dirty="0" sz="800" spc="40"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final</a:t>
            </a:r>
            <a:r>
              <a:rPr dirty="0" sz="800" spc="40"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class</a:t>
            </a:r>
            <a:r>
              <a:rPr dirty="0" sz="800" spc="40"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Transaction</a:t>
            </a:r>
            <a:r>
              <a:rPr dirty="0" sz="800" spc="40"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implements</a:t>
            </a:r>
            <a:r>
              <a:rPr dirty="0" sz="800" spc="40"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Comparable&lt;Transaction&gt;</a:t>
            </a:r>
            <a:endParaRPr sz="800">
              <a:latin typeface="Lucida Sans Typewriter"/>
              <a:cs typeface="Lucida Sans Typewriter"/>
            </a:endParaRPr>
          </a:p>
          <a:p>
            <a:pPr>
              <a:lnSpc>
                <a:spcPct val="100000"/>
              </a:lnSpc>
              <a:spcBef>
                <a:spcPts val="160"/>
              </a:spcBef>
            </a:pPr>
            <a:r>
              <a:rPr dirty="0" sz="800" spc="20">
                <a:latin typeface="Lucida Sans Typewriter"/>
                <a:cs typeface="Lucida Sans Typewriter"/>
              </a:rPr>
              <a:t>{</a:t>
            </a:r>
            <a:endParaRPr sz="800">
              <a:latin typeface="Lucida Sans Typewriter"/>
              <a:cs typeface="Lucida Sans Typewriter"/>
            </a:endParaRPr>
          </a:p>
          <a:p>
            <a:pPr marL="192405" marR="2123440">
              <a:lnSpc>
                <a:spcPct val="121500"/>
              </a:lnSpc>
              <a:tabLst>
                <a:tab pos="1604645" algn="l"/>
              </a:tabLst>
            </a:pPr>
            <a:r>
              <a:rPr dirty="0" sz="800" spc="20">
                <a:latin typeface="Lucida Sans Typewriter"/>
                <a:cs typeface="Lucida Sans Typewriter"/>
              </a:rPr>
              <a:t>private</a:t>
            </a:r>
            <a:r>
              <a:rPr dirty="0" sz="800" spc="40"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final</a:t>
            </a:r>
            <a:r>
              <a:rPr dirty="0" sz="800" spc="40"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String	who; </a:t>
            </a:r>
            <a:r>
              <a:rPr dirty="0" sz="800" spc="25"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private</a:t>
            </a:r>
            <a:r>
              <a:rPr dirty="0" sz="800" spc="35"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final</a:t>
            </a:r>
            <a:r>
              <a:rPr dirty="0" sz="800" spc="40"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Date	when; </a:t>
            </a:r>
            <a:r>
              <a:rPr dirty="0" sz="800" spc="25"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private</a:t>
            </a:r>
            <a:r>
              <a:rPr dirty="0" sz="800" spc="20"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final</a:t>
            </a:r>
            <a:r>
              <a:rPr dirty="0" sz="800" spc="20"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double</a:t>
            </a:r>
            <a:r>
              <a:rPr dirty="0" sz="800">
                <a:latin typeface="Lucida Sans Typewriter"/>
                <a:cs typeface="Lucida Sans Typewriter"/>
              </a:rPr>
              <a:t>	</a:t>
            </a:r>
            <a:r>
              <a:rPr dirty="0" sz="800" spc="20">
                <a:latin typeface="Lucida Sans Typewriter"/>
                <a:cs typeface="Lucida Sans Typewriter"/>
              </a:rPr>
              <a:t>amount;</a:t>
            </a:r>
            <a:endParaRPr sz="800">
              <a:latin typeface="Lucida Sans Typewriter"/>
              <a:cs typeface="Lucida Sans Typewriter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100">
              <a:latin typeface="Lucida Sans Typewriter"/>
              <a:cs typeface="Lucida Sans Typewriter"/>
            </a:endParaRPr>
          </a:p>
          <a:p>
            <a:pPr marL="192405">
              <a:lnSpc>
                <a:spcPct val="100000"/>
              </a:lnSpc>
              <a:spcBef>
                <a:spcPts val="5"/>
              </a:spcBef>
            </a:pPr>
            <a:r>
              <a:rPr dirty="0" sz="800" spc="20">
                <a:latin typeface="Lucida Sans Typewriter"/>
                <a:cs typeface="Lucida Sans Typewriter"/>
              </a:rPr>
              <a:t>public</a:t>
            </a:r>
            <a:r>
              <a:rPr dirty="0" sz="800" spc="30"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Transaction(String</a:t>
            </a:r>
            <a:r>
              <a:rPr dirty="0" sz="800" spc="30"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who,</a:t>
            </a:r>
            <a:r>
              <a:rPr dirty="0" sz="800" spc="30"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Date</a:t>
            </a:r>
            <a:r>
              <a:rPr dirty="0" sz="800" spc="30"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when,</a:t>
            </a:r>
            <a:r>
              <a:rPr dirty="0" sz="800" spc="30"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double</a:t>
            </a:r>
            <a:r>
              <a:rPr dirty="0" sz="800" spc="35"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amount)</a:t>
            </a:r>
            <a:endParaRPr sz="800">
              <a:latin typeface="Lucida Sans Typewriter"/>
              <a:cs typeface="Lucida Sans Typewriter"/>
            </a:endParaRPr>
          </a:p>
          <a:p>
            <a:pPr marL="192405">
              <a:lnSpc>
                <a:spcPct val="100000"/>
              </a:lnSpc>
              <a:spcBef>
                <a:spcPts val="204"/>
              </a:spcBef>
              <a:tabLst>
                <a:tab pos="384810" algn="l"/>
                <a:tab pos="1476375" algn="l"/>
              </a:tabLst>
            </a:pPr>
            <a:r>
              <a:rPr dirty="0" sz="800" spc="20">
                <a:latin typeface="Lucida Sans Typewriter"/>
                <a:cs typeface="Lucida Sans Typewriter"/>
              </a:rPr>
              <a:t>{	</a:t>
            </a:r>
            <a:r>
              <a:rPr dirty="0" sz="800" spc="20">
                <a:solidFill>
                  <a:srgbClr val="606060"/>
                </a:solidFill>
                <a:latin typeface="Lucida Sans Typewriter"/>
                <a:cs typeface="Lucida Sans Typewriter"/>
              </a:rPr>
              <a:t>/*</a:t>
            </a:r>
            <a:r>
              <a:rPr dirty="0" sz="800" spc="30">
                <a:solidFill>
                  <a:srgbClr val="606060"/>
                </a:solidFill>
                <a:latin typeface="Lucida Sans Typewriter"/>
                <a:cs typeface="Lucida Sans Typewriter"/>
              </a:rPr>
              <a:t> </a:t>
            </a:r>
            <a:r>
              <a:rPr dirty="0" sz="800" spc="20">
                <a:solidFill>
                  <a:srgbClr val="606060"/>
                </a:solidFill>
                <a:latin typeface="Lucida Sans Typewriter"/>
                <a:cs typeface="Lucida Sans Typewriter"/>
              </a:rPr>
              <a:t>as</a:t>
            </a:r>
            <a:r>
              <a:rPr dirty="0" sz="800" spc="30">
                <a:solidFill>
                  <a:srgbClr val="606060"/>
                </a:solidFill>
                <a:latin typeface="Lucida Sans Typewriter"/>
                <a:cs typeface="Lucida Sans Typewriter"/>
              </a:rPr>
              <a:t> </a:t>
            </a:r>
            <a:r>
              <a:rPr dirty="0" sz="800" spc="20">
                <a:solidFill>
                  <a:srgbClr val="606060"/>
                </a:solidFill>
                <a:latin typeface="Lucida Sans Typewriter"/>
                <a:cs typeface="Lucida Sans Typewriter"/>
              </a:rPr>
              <a:t>before</a:t>
            </a:r>
            <a:r>
              <a:rPr dirty="0" sz="800" spc="30">
                <a:solidFill>
                  <a:srgbClr val="606060"/>
                </a:solidFill>
                <a:latin typeface="Lucida Sans Typewriter"/>
                <a:cs typeface="Lucida Sans Typewriter"/>
              </a:rPr>
              <a:t> </a:t>
            </a:r>
            <a:r>
              <a:rPr dirty="0" sz="800" spc="20">
                <a:solidFill>
                  <a:srgbClr val="606060"/>
                </a:solidFill>
                <a:latin typeface="Lucida Sans Typewriter"/>
                <a:cs typeface="Lucida Sans Typewriter"/>
              </a:rPr>
              <a:t>*/	</a:t>
            </a:r>
            <a:r>
              <a:rPr dirty="0" sz="800" spc="20">
                <a:latin typeface="Lucida Sans Typewriter"/>
                <a:cs typeface="Lucida Sans Typewriter"/>
              </a:rPr>
              <a:t>}</a:t>
            </a:r>
            <a:endParaRPr sz="800">
              <a:latin typeface="Lucida Sans Typewriter"/>
              <a:cs typeface="Lucida Sans Typewriter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150">
              <a:latin typeface="Lucida Sans Typewriter"/>
              <a:cs typeface="Lucida Sans Typewriter"/>
            </a:endParaRPr>
          </a:p>
          <a:p>
            <a:pPr marL="192405">
              <a:lnSpc>
                <a:spcPct val="100000"/>
              </a:lnSpc>
            </a:pPr>
            <a:r>
              <a:rPr dirty="0" sz="800" spc="20">
                <a:latin typeface="Lucida Sans Typewriter"/>
                <a:cs typeface="Lucida Sans Typewriter"/>
              </a:rPr>
              <a:t>...</a:t>
            </a:r>
            <a:endParaRPr sz="800">
              <a:latin typeface="Lucida Sans Typewriter"/>
              <a:cs typeface="Lucida Sans Typewriter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100">
              <a:latin typeface="Lucida Sans Typewriter"/>
              <a:cs typeface="Lucida Sans Typewriter"/>
            </a:endParaRPr>
          </a:p>
          <a:p>
            <a:pPr marL="192405">
              <a:lnSpc>
                <a:spcPct val="100000"/>
              </a:lnSpc>
            </a:pPr>
            <a:r>
              <a:rPr dirty="0" sz="800" spc="20">
                <a:latin typeface="Lucida Sans Typewriter"/>
                <a:cs typeface="Lucida Sans Typewriter"/>
              </a:rPr>
              <a:t>public</a:t>
            </a:r>
            <a:r>
              <a:rPr dirty="0" sz="800" spc="15"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boolean equals(Object y)</a:t>
            </a:r>
            <a:endParaRPr sz="800">
              <a:latin typeface="Lucida Sans Typewriter"/>
              <a:cs typeface="Lucida Sans Typewriter"/>
            </a:endParaRPr>
          </a:p>
          <a:p>
            <a:pPr marL="192405">
              <a:lnSpc>
                <a:spcPct val="100000"/>
              </a:lnSpc>
              <a:spcBef>
                <a:spcPts val="204"/>
              </a:spcBef>
              <a:tabLst>
                <a:tab pos="384810" algn="l"/>
                <a:tab pos="1476375" algn="l"/>
              </a:tabLst>
            </a:pPr>
            <a:r>
              <a:rPr dirty="0" sz="800" spc="20">
                <a:latin typeface="Lucida Sans Typewriter"/>
                <a:cs typeface="Lucida Sans Typewriter"/>
              </a:rPr>
              <a:t>{	</a:t>
            </a:r>
            <a:r>
              <a:rPr dirty="0" sz="800" spc="20">
                <a:solidFill>
                  <a:srgbClr val="606060"/>
                </a:solidFill>
                <a:latin typeface="Lucida Sans Typewriter"/>
                <a:cs typeface="Lucida Sans Typewriter"/>
              </a:rPr>
              <a:t>/*</a:t>
            </a:r>
            <a:r>
              <a:rPr dirty="0" sz="800" spc="30">
                <a:solidFill>
                  <a:srgbClr val="606060"/>
                </a:solidFill>
                <a:latin typeface="Lucida Sans Typewriter"/>
                <a:cs typeface="Lucida Sans Typewriter"/>
              </a:rPr>
              <a:t> </a:t>
            </a:r>
            <a:r>
              <a:rPr dirty="0" sz="800" spc="20">
                <a:solidFill>
                  <a:srgbClr val="606060"/>
                </a:solidFill>
                <a:latin typeface="Lucida Sans Typewriter"/>
                <a:cs typeface="Lucida Sans Typewriter"/>
              </a:rPr>
              <a:t>as</a:t>
            </a:r>
            <a:r>
              <a:rPr dirty="0" sz="800" spc="30">
                <a:solidFill>
                  <a:srgbClr val="606060"/>
                </a:solidFill>
                <a:latin typeface="Lucida Sans Typewriter"/>
                <a:cs typeface="Lucida Sans Typewriter"/>
              </a:rPr>
              <a:t> </a:t>
            </a:r>
            <a:r>
              <a:rPr dirty="0" sz="800" spc="20">
                <a:solidFill>
                  <a:srgbClr val="606060"/>
                </a:solidFill>
                <a:latin typeface="Lucida Sans Typewriter"/>
                <a:cs typeface="Lucida Sans Typewriter"/>
              </a:rPr>
              <a:t>before</a:t>
            </a:r>
            <a:r>
              <a:rPr dirty="0" sz="800" spc="30">
                <a:solidFill>
                  <a:srgbClr val="606060"/>
                </a:solidFill>
                <a:latin typeface="Lucida Sans Typewriter"/>
                <a:cs typeface="Lucida Sans Typewriter"/>
              </a:rPr>
              <a:t> </a:t>
            </a:r>
            <a:r>
              <a:rPr dirty="0" sz="800" spc="20">
                <a:solidFill>
                  <a:srgbClr val="606060"/>
                </a:solidFill>
                <a:latin typeface="Lucida Sans Typewriter"/>
                <a:cs typeface="Lucida Sans Typewriter"/>
              </a:rPr>
              <a:t>*/	</a:t>
            </a:r>
            <a:r>
              <a:rPr dirty="0" sz="800" spc="20">
                <a:latin typeface="Lucida Sans Typewriter"/>
                <a:cs typeface="Lucida Sans Typewriter"/>
              </a:rPr>
              <a:t>}</a:t>
            </a:r>
            <a:endParaRPr sz="800">
              <a:latin typeface="Lucida Sans Typewriter"/>
              <a:cs typeface="Lucida Sans Typewriter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7232630" y="3083362"/>
            <a:ext cx="1360805" cy="464184"/>
          </a:xfrm>
          <a:prstGeom prst="rect">
            <a:avLst/>
          </a:prstGeom>
        </p:spPr>
        <p:txBody>
          <a:bodyPr wrap="square" lIns="0" tIns="374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295"/>
              </a:spcBef>
            </a:pPr>
            <a:r>
              <a:rPr dirty="0" sz="800" spc="20">
                <a:latin typeface="Lucida Sans Typewriter"/>
                <a:cs typeface="Lucida Sans Typewriter"/>
              </a:rPr>
              <a:t>public</a:t>
            </a:r>
            <a:r>
              <a:rPr dirty="0" sz="800"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int</a:t>
            </a:r>
            <a:r>
              <a:rPr dirty="0" sz="800" spc="5"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hashCode()</a:t>
            </a:r>
            <a:endParaRPr sz="800">
              <a:latin typeface="Lucida Sans Typewriter"/>
              <a:cs typeface="Lucida Sans Typewriter"/>
            </a:endParaRPr>
          </a:p>
          <a:p>
            <a:pPr>
              <a:lnSpc>
                <a:spcPct val="100000"/>
              </a:lnSpc>
              <a:spcBef>
                <a:spcPts val="209"/>
              </a:spcBef>
            </a:pPr>
            <a:r>
              <a:rPr dirty="0" sz="800" spc="20">
                <a:latin typeface="Lucida Sans Typewriter"/>
                <a:cs typeface="Lucida Sans Typewriter"/>
              </a:rPr>
              <a:t>{</a:t>
            </a:r>
            <a:endParaRPr sz="800">
              <a:latin typeface="Lucida Sans Typewriter"/>
              <a:cs typeface="Lucida Sans Typewriter"/>
            </a:endParaRPr>
          </a:p>
          <a:p>
            <a:pPr marL="192405">
              <a:lnSpc>
                <a:spcPct val="100000"/>
              </a:lnSpc>
              <a:spcBef>
                <a:spcPts val="155"/>
              </a:spcBef>
            </a:pPr>
            <a:r>
              <a:rPr dirty="0" sz="800" spc="20">
                <a:latin typeface="Lucida Sans Typewriter"/>
                <a:cs typeface="Lucida Sans Typewriter"/>
              </a:rPr>
              <a:t>int</a:t>
            </a:r>
            <a:r>
              <a:rPr dirty="0" sz="800"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hash</a:t>
            </a:r>
            <a:r>
              <a:rPr dirty="0" sz="800"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=</a:t>
            </a:r>
            <a:r>
              <a:rPr dirty="0" sz="800" spc="5"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17;</a:t>
            </a:r>
            <a:endParaRPr sz="800">
              <a:latin typeface="Lucida Sans Typewriter"/>
              <a:cs typeface="Lucida Sans Typewriter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7425209" y="3521740"/>
            <a:ext cx="2966085" cy="61785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R="839469">
              <a:lnSpc>
                <a:spcPct val="121500"/>
              </a:lnSpc>
              <a:spcBef>
                <a:spcPts val="90"/>
              </a:spcBef>
            </a:pPr>
            <a:r>
              <a:rPr dirty="0" sz="800" spc="20">
                <a:latin typeface="Lucida Sans Typewriter"/>
                <a:cs typeface="Lucida Sans Typewriter"/>
              </a:rPr>
              <a:t>hash = 31*hash + who.hashCode(); </a:t>
            </a:r>
            <a:r>
              <a:rPr dirty="0" sz="800" spc="25"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hash</a:t>
            </a:r>
            <a:r>
              <a:rPr dirty="0" sz="800" spc="15"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= 31*hash + when.hashCode();</a:t>
            </a:r>
            <a:endParaRPr sz="800">
              <a:latin typeface="Lucida Sans Typewriter"/>
              <a:cs typeface="Lucida Sans Typewriter"/>
            </a:endParaRPr>
          </a:p>
          <a:p>
            <a:pPr marR="5080">
              <a:lnSpc>
                <a:spcPct val="121500"/>
              </a:lnSpc>
            </a:pPr>
            <a:r>
              <a:rPr dirty="0" sz="800" spc="20">
                <a:latin typeface="Lucida Sans Typewriter"/>
                <a:cs typeface="Lucida Sans Typewriter"/>
              </a:rPr>
              <a:t>hash</a:t>
            </a:r>
            <a:r>
              <a:rPr dirty="0" sz="800" spc="25"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=</a:t>
            </a:r>
            <a:r>
              <a:rPr dirty="0" sz="800" spc="30"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31*hash</a:t>
            </a:r>
            <a:r>
              <a:rPr dirty="0" sz="800" spc="25"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+</a:t>
            </a:r>
            <a:r>
              <a:rPr dirty="0" sz="800" spc="30"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((Double)</a:t>
            </a:r>
            <a:r>
              <a:rPr dirty="0" sz="800" spc="25"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amount).hashCode(); </a:t>
            </a:r>
            <a:r>
              <a:rPr dirty="0" sz="800" spc="-465"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return</a:t>
            </a:r>
            <a:r>
              <a:rPr dirty="0" sz="800" spc="15"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hash;</a:t>
            </a:r>
            <a:endParaRPr sz="800">
              <a:latin typeface="Lucida Sans Typewriter"/>
              <a:cs typeface="Lucida Sans Typewriter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7232630" y="4128362"/>
            <a:ext cx="77470" cy="15367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40"/>
              </a:spcBef>
            </a:pPr>
            <a:r>
              <a:rPr dirty="0" sz="800" spc="20">
                <a:latin typeface="Lucida Sans Typewriter"/>
                <a:cs typeface="Lucida Sans Typewriter"/>
              </a:rPr>
              <a:t>}</a:t>
            </a:r>
            <a:endParaRPr sz="800">
              <a:latin typeface="Lucida Sans Typewriter"/>
              <a:cs typeface="Lucida Sans Typewriter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7040052" y="4276463"/>
            <a:ext cx="77470" cy="15367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40"/>
              </a:spcBef>
            </a:pPr>
            <a:r>
              <a:rPr dirty="0" sz="800" spc="20">
                <a:latin typeface="Lucida Sans Typewriter"/>
                <a:cs typeface="Lucida Sans Typewriter"/>
              </a:rPr>
              <a:t>}</a:t>
            </a:r>
            <a:endParaRPr sz="800">
              <a:latin typeface="Lucida Sans Typewriter"/>
              <a:cs typeface="Lucida Sans Typewriter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8514680" y="4282387"/>
            <a:ext cx="1052830" cy="1397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750" spc="5">
                <a:solidFill>
                  <a:srgbClr val="8D3124"/>
                </a:solidFill>
                <a:latin typeface="Lucida Sans"/>
                <a:cs typeface="Lucida Sans"/>
              </a:rPr>
              <a:t>typically</a:t>
            </a:r>
            <a:r>
              <a:rPr dirty="0" sz="750" spc="-25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dirty="0" sz="750" spc="-5">
                <a:solidFill>
                  <a:srgbClr val="8D3124"/>
                </a:solidFill>
                <a:latin typeface="Lucida Sans"/>
                <a:cs typeface="Lucida Sans"/>
              </a:rPr>
              <a:t>a</a:t>
            </a:r>
            <a:r>
              <a:rPr dirty="0" sz="750" spc="-20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dirty="0" sz="750" spc="-5">
                <a:solidFill>
                  <a:srgbClr val="8D3124"/>
                </a:solidFill>
                <a:latin typeface="Lucida Sans"/>
                <a:cs typeface="Lucida Sans"/>
              </a:rPr>
              <a:t>small</a:t>
            </a:r>
            <a:r>
              <a:rPr dirty="0" sz="750" spc="-20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dirty="0" sz="750" spc="-5">
                <a:solidFill>
                  <a:srgbClr val="8D3124"/>
                </a:solidFill>
                <a:latin typeface="Lucida Sans"/>
                <a:cs typeface="Lucida Sans"/>
              </a:rPr>
              <a:t>prime</a:t>
            </a:r>
            <a:endParaRPr sz="750">
              <a:latin typeface="Lucida Sans"/>
              <a:cs typeface="Lucida Sans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7951668" y="3269223"/>
            <a:ext cx="3494404" cy="1116965"/>
            <a:chOff x="7951668" y="3269223"/>
            <a:chExt cx="3494404" cy="1116965"/>
          </a:xfrm>
        </p:grpSpPr>
        <p:sp>
          <p:nvSpPr>
            <p:cNvPr id="47" name="object 47"/>
            <p:cNvSpPr/>
            <p:nvPr/>
          </p:nvSpPr>
          <p:spPr>
            <a:xfrm>
              <a:off x="7978438" y="4008846"/>
              <a:ext cx="394970" cy="370840"/>
            </a:xfrm>
            <a:custGeom>
              <a:avLst/>
              <a:gdLst/>
              <a:ahLst/>
              <a:cxnLst/>
              <a:rect l="l" t="t" r="r" b="b"/>
              <a:pathLst>
                <a:path w="394970" h="370839">
                  <a:moveTo>
                    <a:pt x="0" y="0"/>
                  </a:moveTo>
                  <a:lnTo>
                    <a:pt x="4318" y="4055"/>
                  </a:lnTo>
                  <a:lnTo>
                    <a:pt x="394757" y="370817"/>
                  </a:lnTo>
                </a:path>
              </a:pathLst>
            </a:custGeom>
            <a:ln w="11848">
              <a:solidFill>
                <a:srgbClr val="8D312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/>
            <p:cNvSpPr/>
            <p:nvPr/>
          </p:nvSpPr>
          <p:spPr>
            <a:xfrm>
              <a:off x="7951668" y="3983699"/>
              <a:ext cx="60960" cy="59690"/>
            </a:xfrm>
            <a:custGeom>
              <a:avLst/>
              <a:gdLst/>
              <a:ahLst/>
              <a:cxnLst/>
              <a:rect l="l" t="t" r="r" b="b"/>
              <a:pathLst>
                <a:path w="60959" h="59689">
                  <a:moveTo>
                    <a:pt x="0" y="0"/>
                  </a:moveTo>
                  <a:lnTo>
                    <a:pt x="21982" y="59662"/>
                  </a:lnTo>
                  <a:lnTo>
                    <a:pt x="31088" y="29202"/>
                  </a:lnTo>
                  <a:lnTo>
                    <a:pt x="60919" y="182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D31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/>
            <p:cNvSpPr/>
            <p:nvPr/>
          </p:nvSpPr>
          <p:spPr>
            <a:xfrm>
              <a:off x="8393996" y="3275147"/>
              <a:ext cx="616585" cy="134620"/>
            </a:xfrm>
            <a:custGeom>
              <a:avLst/>
              <a:gdLst/>
              <a:ahLst/>
              <a:cxnLst/>
              <a:rect l="l" t="t" r="r" b="b"/>
              <a:pathLst>
                <a:path w="616584" h="134620">
                  <a:moveTo>
                    <a:pt x="0" y="134575"/>
                  </a:moveTo>
                  <a:lnTo>
                    <a:pt x="5787" y="133310"/>
                  </a:lnTo>
                  <a:lnTo>
                    <a:pt x="616209" y="0"/>
                  </a:lnTo>
                </a:path>
              </a:pathLst>
            </a:custGeom>
            <a:ln w="11848">
              <a:solidFill>
                <a:srgbClr val="8D312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/>
            <p:cNvSpPr/>
            <p:nvPr/>
          </p:nvSpPr>
          <p:spPr>
            <a:xfrm>
              <a:off x="8358113" y="3377644"/>
              <a:ext cx="62230" cy="55880"/>
            </a:xfrm>
            <a:custGeom>
              <a:avLst/>
              <a:gdLst/>
              <a:ahLst/>
              <a:cxnLst/>
              <a:rect l="l" t="t" r="r" b="b"/>
              <a:pathLst>
                <a:path w="62229" h="55879">
                  <a:moveTo>
                    <a:pt x="49494" y="0"/>
                  </a:moveTo>
                  <a:lnTo>
                    <a:pt x="0" y="39914"/>
                  </a:lnTo>
                  <a:lnTo>
                    <a:pt x="61627" y="55561"/>
                  </a:lnTo>
                  <a:lnTo>
                    <a:pt x="41670" y="30814"/>
                  </a:lnTo>
                  <a:lnTo>
                    <a:pt x="49494" y="0"/>
                  </a:lnTo>
                  <a:close/>
                </a:path>
              </a:pathLst>
            </a:custGeom>
            <a:solidFill>
              <a:srgbClr val="8D31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/>
            <p:cNvSpPr/>
            <p:nvPr/>
          </p:nvSpPr>
          <p:spPr>
            <a:xfrm>
              <a:off x="10647640" y="3851003"/>
              <a:ext cx="776605" cy="635"/>
            </a:xfrm>
            <a:custGeom>
              <a:avLst/>
              <a:gdLst/>
              <a:ahLst/>
              <a:cxnLst/>
              <a:rect l="l" t="t" r="r" b="b"/>
              <a:pathLst>
                <a:path w="776604" h="635">
                  <a:moveTo>
                    <a:pt x="0" y="12"/>
                  </a:moveTo>
                  <a:lnTo>
                    <a:pt x="5924" y="12"/>
                  </a:lnTo>
                  <a:lnTo>
                    <a:pt x="776452" y="0"/>
                  </a:lnTo>
                </a:path>
              </a:pathLst>
            </a:custGeom>
            <a:ln w="11848">
              <a:solidFill>
                <a:srgbClr val="8D312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/>
            <p:cNvSpPr/>
            <p:nvPr/>
          </p:nvSpPr>
          <p:spPr>
            <a:xfrm>
              <a:off x="10610911" y="3822580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>
                  <a:moveTo>
                    <a:pt x="56870" y="0"/>
                  </a:moveTo>
                  <a:lnTo>
                    <a:pt x="0" y="28436"/>
                  </a:lnTo>
                  <a:lnTo>
                    <a:pt x="56871" y="56870"/>
                  </a:lnTo>
                  <a:lnTo>
                    <a:pt x="42653" y="28435"/>
                  </a:lnTo>
                  <a:lnTo>
                    <a:pt x="56870" y="0"/>
                  </a:lnTo>
                  <a:close/>
                </a:path>
              </a:pathLst>
            </a:custGeom>
            <a:solidFill>
              <a:srgbClr val="8D31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/>
            <p:cNvSpPr/>
            <p:nvPr/>
          </p:nvSpPr>
          <p:spPr>
            <a:xfrm>
              <a:off x="10153880" y="3613786"/>
              <a:ext cx="1292225" cy="635"/>
            </a:xfrm>
            <a:custGeom>
              <a:avLst/>
              <a:gdLst/>
              <a:ahLst/>
              <a:cxnLst/>
              <a:rect l="l" t="t" r="r" b="b"/>
              <a:pathLst>
                <a:path w="1292225" h="635">
                  <a:moveTo>
                    <a:pt x="0" y="34"/>
                  </a:moveTo>
                  <a:lnTo>
                    <a:pt x="5924" y="34"/>
                  </a:lnTo>
                  <a:lnTo>
                    <a:pt x="1291823" y="0"/>
                  </a:lnTo>
                </a:path>
              </a:pathLst>
            </a:custGeom>
            <a:ln w="11848">
              <a:solidFill>
                <a:srgbClr val="8D312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/>
            <p:cNvSpPr/>
            <p:nvPr/>
          </p:nvSpPr>
          <p:spPr>
            <a:xfrm>
              <a:off x="10117152" y="3585385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>
                  <a:moveTo>
                    <a:pt x="56869" y="0"/>
                  </a:moveTo>
                  <a:lnTo>
                    <a:pt x="0" y="28437"/>
                  </a:lnTo>
                  <a:lnTo>
                    <a:pt x="56871" y="56870"/>
                  </a:lnTo>
                  <a:lnTo>
                    <a:pt x="42653" y="28436"/>
                  </a:lnTo>
                  <a:lnTo>
                    <a:pt x="56869" y="0"/>
                  </a:lnTo>
                  <a:close/>
                </a:path>
              </a:pathLst>
            </a:custGeom>
            <a:solidFill>
              <a:srgbClr val="8D312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5" name="object 55"/>
          <p:cNvSpPr txBox="1"/>
          <p:nvPr/>
        </p:nvSpPr>
        <p:spPr>
          <a:xfrm>
            <a:off x="9107593" y="3162744"/>
            <a:ext cx="817244" cy="1397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750" spc="-5">
                <a:solidFill>
                  <a:srgbClr val="8D3124"/>
                </a:solidFill>
                <a:latin typeface="Lucida Sans"/>
                <a:cs typeface="Lucida Sans"/>
              </a:rPr>
              <a:t>nonzero</a:t>
            </a:r>
            <a:r>
              <a:rPr dirty="0" sz="750" spc="-55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dirty="0" sz="750" spc="-5">
                <a:solidFill>
                  <a:srgbClr val="8D3124"/>
                </a:solidFill>
                <a:latin typeface="Lucida Sans"/>
                <a:cs typeface="Lucida Sans"/>
              </a:rPr>
              <a:t>constant</a:t>
            </a:r>
            <a:endParaRPr sz="750">
              <a:latin typeface="Lucida Sans"/>
              <a:cs typeface="Lucida Sans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11495243" y="3744484"/>
            <a:ext cx="896619" cy="440690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R="5080">
              <a:lnSpc>
                <a:spcPct val="121800"/>
              </a:lnSpc>
              <a:spcBef>
                <a:spcPts val="75"/>
              </a:spcBef>
            </a:pPr>
            <a:r>
              <a:rPr dirty="0" sz="750" spc="-5">
                <a:solidFill>
                  <a:srgbClr val="8D3124"/>
                </a:solidFill>
                <a:latin typeface="Lucida Sans"/>
                <a:cs typeface="Lucida Sans"/>
              </a:rPr>
              <a:t>for</a:t>
            </a:r>
            <a:r>
              <a:rPr dirty="0" sz="750" spc="-30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dirty="0" sz="750">
                <a:solidFill>
                  <a:srgbClr val="8D3124"/>
                </a:solidFill>
                <a:latin typeface="Lucida Sans"/>
                <a:cs typeface="Lucida Sans"/>
              </a:rPr>
              <a:t>primitive</a:t>
            </a:r>
            <a:r>
              <a:rPr dirty="0" sz="750" spc="-25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dirty="0" sz="750">
                <a:solidFill>
                  <a:srgbClr val="8D3124"/>
                </a:solidFill>
                <a:latin typeface="Lucida Sans"/>
                <a:cs typeface="Lucida Sans"/>
              </a:rPr>
              <a:t>types, </a:t>
            </a:r>
            <a:r>
              <a:rPr dirty="0" sz="750" spc="-220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dirty="0" sz="750" spc="-5">
                <a:solidFill>
                  <a:srgbClr val="8D3124"/>
                </a:solidFill>
                <a:latin typeface="Lucida Sans"/>
                <a:cs typeface="Lucida Sans"/>
              </a:rPr>
              <a:t>use</a:t>
            </a:r>
            <a:r>
              <a:rPr dirty="0" sz="750" spc="280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dirty="0" sz="750" spc="-5">
                <a:solidFill>
                  <a:srgbClr val="8D3124"/>
                </a:solidFill>
                <a:latin typeface="Lucida Sans Typewriter"/>
                <a:cs typeface="Lucida Sans Typewriter"/>
              </a:rPr>
              <a:t>hashCode() </a:t>
            </a:r>
            <a:r>
              <a:rPr dirty="0" sz="750">
                <a:solidFill>
                  <a:srgbClr val="8D3124"/>
                </a:solidFill>
                <a:latin typeface="Lucida Sans Typewriter"/>
                <a:cs typeface="Lucida Sans Typewriter"/>
              </a:rPr>
              <a:t> </a:t>
            </a:r>
            <a:r>
              <a:rPr dirty="0" sz="750" spc="-5">
                <a:solidFill>
                  <a:srgbClr val="8D3124"/>
                </a:solidFill>
                <a:latin typeface="Lucida Sans"/>
                <a:cs typeface="Lucida Sans"/>
              </a:rPr>
              <a:t>of</a:t>
            </a:r>
            <a:r>
              <a:rPr dirty="0" sz="750" spc="-20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dirty="0" sz="750" spc="5">
                <a:solidFill>
                  <a:srgbClr val="8D3124"/>
                </a:solidFill>
                <a:latin typeface="Lucida Sans"/>
                <a:cs typeface="Lucida Sans"/>
              </a:rPr>
              <a:t>wrapper</a:t>
            </a:r>
            <a:r>
              <a:rPr dirty="0" sz="750" spc="-15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dirty="0" sz="750" spc="5">
                <a:solidFill>
                  <a:srgbClr val="8D3124"/>
                </a:solidFill>
                <a:latin typeface="Lucida Sans"/>
                <a:cs typeface="Lucida Sans"/>
              </a:rPr>
              <a:t>type</a:t>
            </a:r>
            <a:endParaRPr sz="750">
              <a:latin typeface="Lucida Sans"/>
              <a:cs typeface="Lucida Sans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11513015" y="3347574"/>
            <a:ext cx="912494" cy="2984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R="5080">
              <a:lnSpc>
                <a:spcPct val="119200"/>
              </a:lnSpc>
              <a:spcBef>
                <a:spcPts val="100"/>
              </a:spcBef>
            </a:pPr>
            <a:r>
              <a:rPr dirty="0" sz="750" spc="-5">
                <a:solidFill>
                  <a:srgbClr val="8D3124"/>
                </a:solidFill>
                <a:latin typeface="Lucida Sans"/>
                <a:cs typeface="Lucida Sans"/>
              </a:rPr>
              <a:t>for</a:t>
            </a:r>
            <a:r>
              <a:rPr dirty="0" sz="750" spc="-40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dirty="0" sz="750" spc="-5">
                <a:solidFill>
                  <a:srgbClr val="8D3124"/>
                </a:solidFill>
                <a:latin typeface="Lucida Sans"/>
                <a:cs typeface="Lucida Sans"/>
              </a:rPr>
              <a:t>reference</a:t>
            </a:r>
            <a:r>
              <a:rPr dirty="0" sz="750" spc="-35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dirty="0" sz="750">
                <a:solidFill>
                  <a:srgbClr val="8D3124"/>
                </a:solidFill>
                <a:latin typeface="Lucida Sans"/>
                <a:cs typeface="Lucida Sans"/>
              </a:rPr>
              <a:t>types, </a:t>
            </a:r>
            <a:r>
              <a:rPr dirty="0" sz="750" spc="-225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dirty="0" sz="750" spc="-5">
                <a:solidFill>
                  <a:srgbClr val="8D3124"/>
                </a:solidFill>
                <a:latin typeface="Lucida Sans"/>
                <a:cs typeface="Lucida Sans"/>
              </a:rPr>
              <a:t>use</a:t>
            </a:r>
            <a:r>
              <a:rPr dirty="0" sz="750" spc="-20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dirty="0" sz="750" spc="-5">
                <a:solidFill>
                  <a:srgbClr val="8D3124"/>
                </a:solidFill>
                <a:latin typeface="Lucida Sans Typewriter"/>
                <a:cs typeface="Lucida Sans Typewriter"/>
              </a:rPr>
              <a:t>hashCode()</a:t>
            </a:r>
            <a:endParaRPr sz="750">
              <a:latin typeface="Lucida Sans Typewriter"/>
              <a:cs typeface="Lucida Sans Typewriter"/>
            </a:endParaRPr>
          </a:p>
        </p:txBody>
      </p:sp>
      <p:grpSp>
        <p:nvGrpSpPr>
          <p:cNvPr id="58" name="object 58"/>
          <p:cNvGrpSpPr/>
          <p:nvPr/>
        </p:nvGrpSpPr>
        <p:grpSpPr>
          <a:xfrm>
            <a:off x="346176" y="4966780"/>
            <a:ext cx="6066790" cy="4549775"/>
            <a:chOff x="346176" y="4966780"/>
            <a:chExt cx="6066790" cy="4549775"/>
          </a:xfrm>
        </p:grpSpPr>
        <p:sp>
          <p:nvSpPr>
            <p:cNvPr id="59" name="object 59"/>
            <p:cNvSpPr/>
            <p:nvPr/>
          </p:nvSpPr>
          <p:spPr>
            <a:xfrm>
              <a:off x="346176" y="4966780"/>
              <a:ext cx="6066790" cy="4549775"/>
            </a:xfrm>
            <a:custGeom>
              <a:avLst/>
              <a:gdLst/>
              <a:ahLst/>
              <a:cxnLst/>
              <a:rect l="l" t="t" r="r" b="b"/>
              <a:pathLst>
                <a:path w="6066790" h="4549775">
                  <a:moveTo>
                    <a:pt x="0" y="0"/>
                  </a:moveTo>
                  <a:lnTo>
                    <a:pt x="6066212" y="0"/>
                  </a:lnTo>
                  <a:lnTo>
                    <a:pt x="6066212" y="4549659"/>
                  </a:lnTo>
                  <a:lnTo>
                    <a:pt x="0" y="45496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/>
            <p:cNvSpPr/>
            <p:nvPr/>
          </p:nvSpPr>
          <p:spPr>
            <a:xfrm>
              <a:off x="731238" y="5428805"/>
              <a:ext cx="5302250" cy="635"/>
            </a:xfrm>
            <a:custGeom>
              <a:avLst/>
              <a:gdLst/>
              <a:ahLst/>
              <a:cxnLst/>
              <a:rect l="l" t="t" r="r" b="b"/>
              <a:pathLst>
                <a:path w="5302250" h="635">
                  <a:moveTo>
                    <a:pt x="0" y="49"/>
                  </a:moveTo>
                  <a:lnTo>
                    <a:pt x="5302012" y="0"/>
                  </a:lnTo>
                </a:path>
              </a:pathLst>
            </a:custGeom>
            <a:ln w="59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1" name="object 61"/>
          <p:cNvSpPr txBox="1"/>
          <p:nvPr/>
        </p:nvSpPr>
        <p:spPr>
          <a:xfrm>
            <a:off x="752697" y="5125877"/>
            <a:ext cx="1354455" cy="2247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dirty="0" sz="1300" spc="-15">
                <a:latin typeface="Arial"/>
                <a:cs typeface="Arial"/>
              </a:rPr>
              <a:t>Hash</a:t>
            </a:r>
            <a:r>
              <a:rPr dirty="0" sz="1300" spc="15">
                <a:latin typeface="Arial"/>
                <a:cs typeface="Arial"/>
              </a:rPr>
              <a:t> </a:t>
            </a:r>
            <a:r>
              <a:rPr dirty="0" sz="1300" spc="20">
                <a:latin typeface="Arial"/>
                <a:cs typeface="Arial"/>
              </a:rPr>
              <a:t>code </a:t>
            </a:r>
            <a:r>
              <a:rPr dirty="0" sz="1300">
                <a:latin typeface="Arial"/>
                <a:cs typeface="Arial"/>
              </a:rPr>
              <a:t>design</a:t>
            </a:r>
            <a:endParaRPr sz="1300">
              <a:latin typeface="Arial"/>
              <a:cs typeface="Arial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752697" y="5587952"/>
            <a:ext cx="2798445" cy="1962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dirty="0" sz="1100" spc="5">
                <a:solidFill>
                  <a:srgbClr val="005493"/>
                </a:solidFill>
                <a:latin typeface="Lucida Sans"/>
                <a:cs typeface="Lucida Sans"/>
              </a:rPr>
              <a:t>"Standard" recipe for</a:t>
            </a:r>
            <a:r>
              <a:rPr dirty="0" sz="1100" spc="10">
                <a:solidFill>
                  <a:srgbClr val="005493"/>
                </a:solidFill>
                <a:latin typeface="Lucida Sans"/>
                <a:cs typeface="Lucida Sans"/>
              </a:rPr>
              <a:t> </a:t>
            </a:r>
            <a:r>
              <a:rPr dirty="0" sz="1100">
                <a:solidFill>
                  <a:srgbClr val="005493"/>
                </a:solidFill>
                <a:latin typeface="Lucida Sans"/>
                <a:cs typeface="Lucida Sans"/>
              </a:rPr>
              <a:t>user-defined</a:t>
            </a:r>
            <a:r>
              <a:rPr dirty="0" sz="1100" spc="5">
                <a:solidFill>
                  <a:srgbClr val="005493"/>
                </a:solidFill>
                <a:latin typeface="Lucida Sans"/>
                <a:cs typeface="Lucida Sans"/>
              </a:rPr>
              <a:t> </a:t>
            </a:r>
            <a:r>
              <a:rPr dirty="0" sz="1100" spc="15">
                <a:solidFill>
                  <a:srgbClr val="005493"/>
                </a:solidFill>
                <a:latin typeface="Lucida Sans"/>
                <a:cs typeface="Lucida Sans"/>
              </a:rPr>
              <a:t>types.</a:t>
            </a:r>
            <a:endParaRPr sz="1100">
              <a:latin typeface="Lucida Sans"/>
              <a:cs typeface="Lucida Sans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759155" y="5724205"/>
            <a:ext cx="3902710" cy="3098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14"/>
              </a:spcBef>
            </a:pPr>
            <a:r>
              <a:rPr dirty="0" baseline="-10510" sz="2775" spc="22">
                <a:latin typeface="Microsoft JhengHei"/>
                <a:cs typeface="Microsoft JhengHei"/>
              </a:rPr>
              <a:t>・</a:t>
            </a:r>
            <a:r>
              <a:rPr dirty="0" sz="1100" spc="10">
                <a:latin typeface="Lucida Sans"/>
                <a:cs typeface="Lucida Sans"/>
              </a:rPr>
              <a:t>Combine</a:t>
            </a:r>
            <a:r>
              <a:rPr dirty="0" sz="1100" spc="5">
                <a:latin typeface="Lucida Sans"/>
                <a:cs typeface="Lucida Sans"/>
              </a:rPr>
              <a:t> </a:t>
            </a:r>
            <a:r>
              <a:rPr dirty="0" sz="1100" spc="10">
                <a:latin typeface="Lucida Sans"/>
                <a:cs typeface="Lucida Sans"/>
              </a:rPr>
              <a:t>each </a:t>
            </a:r>
            <a:r>
              <a:rPr dirty="0" sz="1100" spc="5">
                <a:latin typeface="Lucida Sans"/>
                <a:cs typeface="Lucida Sans"/>
              </a:rPr>
              <a:t>significant</a:t>
            </a:r>
            <a:r>
              <a:rPr dirty="0" sz="1100" spc="10">
                <a:latin typeface="Lucida Sans"/>
                <a:cs typeface="Lucida Sans"/>
              </a:rPr>
              <a:t> </a:t>
            </a:r>
            <a:r>
              <a:rPr dirty="0" sz="1100" spc="5">
                <a:latin typeface="Lucida Sans"/>
                <a:cs typeface="Lucida Sans"/>
              </a:rPr>
              <a:t>field</a:t>
            </a:r>
            <a:r>
              <a:rPr dirty="0" sz="1100" spc="10">
                <a:latin typeface="Lucida Sans"/>
                <a:cs typeface="Lucida Sans"/>
              </a:rPr>
              <a:t> using</a:t>
            </a:r>
            <a:r>
              <a:rPr dirty="0" sz="1100" spc="5">
                <a:latin typeface="Lucida Sans"/>
                <a:cs typeface="Lucida Sans"/>
              </a:rPr>
              <a:t> the</a:t>
            </a:r>
            <a:r>
              <a:rPr dirty="0" sz="1100" spc="10">
                <a:latin typeface="Lucida Sans"/>
                <a:cs typeface="Lucida Sans"/>
              </a:rPr>
              <a:t> </a:t>
            </a:r>
            <a:r>
              <a:rPr dirty="0" sz="1100" spc="5">
                <a:latin typeface="Times New Roman"/>
                <a:cs typeface="Times New Roman"/>
              </a:rPr>
              <a:t>31</a:t>
            </a:r>
            <a:r>
              <a:rPr dirty="0" sz="1100" spc="5" i="1">
                <a:latin typeface="Times New Roman"/>
                <a:cs typeface="Times New Roman"/>
              </a:rPr>
              <a:t>x </a:t>
            </a:r>
            <a:r>
              <a:rPr dirty="0" sz="1100" spc="10">
                <a:latin typeface="Times New Roman"/>
                <a:cs typeface="Times New Roman"/>
              </a:rPr>
              <a:t>+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5" i="1">
                <a:latin typeface="Times New Roman"/>
                <a:cs typeface="Times New Roman"/>
              </a:rPr>
              <a:t>y</a:t>
            </a:r>
            <a:r>
              <a:rPr dirty="0" sz="1100" spc="80" i="1">
                <a:latin typeface="Times New Roman"/>
                <a:cs typeface="Times New Roman"/>
              </a:rPr>
              <a:t> </a:t>
            </a:r>
            <a:r>
              <a:rPr dirty="0" sz="1100" spc="5">
                <a:latin typeface="Lucida Sans"/>
                <a:cs typeface="Lucida Sans"/>
              </a:rPr>
              <a:t>rule.</a:t>
            </a:r>
            <a:endParaRPr sz="1100">
              <a:latin typeface="Lucida Sans"/>
              <a:cs typeface="Lucida Sans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759155" y="5955242"/>
            <a:ext cx="4131945" cy="3098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14"/>
              </a:spcBef>
            </a:pPr>
            <a:r>
              <a:rPr dirty="0" baseline="-12012" sz="2775" spc="22">
                <a:latin typeface="Microsoft JhengHei"/>
                <a:cs typeface="Microsoft JhengHei"/>
              </a:rPr>
              <a:t>・</a:t>
            </a:r>
            <a:r>
              <a:rPr dirty="0" sz="1100" spc="5">
                <a:latin typeface="Lucida Sans"/>
                <a:cs typeface="Lucida Sans"/>
              </a:rPr>
              <a:t>If field is</a:t>
            </a:r>
            <a:r>
              <a:rPr dirty="0" sz="1100" spc="10">
                <a:latin typeface="Lucida Sans"/>
                <a:cs typeface="Lucida Sans"/>
              </a:rPr>
              <a:t> a</a:t>
            </a:r>
            <a:r>
              <a:rPr dirty="0" sz="1100" spc="5">
                <a:latin typeface="Lucida Sans"/>
                <a:cs typeface="Lucida Sans"/>
              </a:rPr>
              <a:t> </a:t>
            </a:r>
            <a:r>
              <a:rPr dirty="0" sz="1100" spc="15">
                <a:latin typeface="Lucida Sans"/>
                <a:cs typeface="Lucida Sans"/>
              </a:rPr>
              <a:t>primitive</a:t>
            </a:r>
            <a:r>
              <a:rPr dirty="0" sz="1100" spc="10">
                <a:latin typeface="Lucida Sans"/>
                <a:cs typeface="Lucida Sans"/>
              </a:rPr>
              <a:t> </a:t>
            </a:r>
            <a:r>
              <a:rPr dirty="0" sz="1100" spc="15">
                <a:latin typeface="Lucida Sans"/>
                <a:cs typeface="Lucida Sans"/>
              </a:rPr>
              <a:t>type,</a:t>
            </a:r>
            <a:r>
              <a:rPr dirty="0" sz="1100" spc="5">
                <a:latin typeface="Lucida Sans"/>
                <a:cs typeface="Lucida Sans"/>
              </a:rPr>
              <a:t> </a:t>
            </a:r>
            <a:r>
              <a:rPr dirty="0" sz="1100" spc="10">
                <a:latin typeface="Lucida Sans"/>
                <a:cs typeface="Lucida Sans"/>
              </a:rPr>
              <a:t>use </a:t>
            </a:r>
            <a:r>
              <a:rPr dirty="0" sz="1100" spc="20">
                <a:latin typeface="Lucida Sans"/>
                <a:cs typeface="Lucida Sans"/>
              </a:rPr>
              <a:t>wrapper</a:t>
            </a:r>
            <a:r>
              <a:rPr dirty="0" sz="1100" spc="5">
                <a:latin typeface="Lucida Sans"/>
                <a:cs typeface="Lucida Sans"/>
              </a:rPr>
              <a:t> </a:t>
            </a:r>
            <a:r>
              <a:rPr dirty="0" sz="1100" spc="20">
                <a:latin typeface="Lucida Sans"/>
                <a:cs typeface="Lucida Sans"/>
              </a:rPr>
              <a:t>type</a:t>
            </a:r>
            <a:r>
              <a:rPr dirty="0" sz="1100" spc="10">
                <a:latin typeface="Lucida Sans"/>
                <a:cs typeface="Lucida Sans"/>
              </a:rPr>
              <a:t> </a:t>
            </a:r>
            <a:r>
              <a:rPr dirty="0" sz="900" spc="15">
                <a:latin typeface="Lucida Sans Typewriter"/>
                <a:cs typeface="Lucida Sans Typewriter"/>
              </a:rPr>
              <a:t>hashCode()</a:t>
            </a:r>
            <a:r>
              <a:rPr dirty="0" sz="1100" spc="15">
                <a:latin typeface="Lucida Sans"/>
                <a:cs typeface="Lucida Sans"/>
              </a:rPr>
              <a:t>.</a:t>
            </a:r>
            <a:endParaRPr sz="1100">
              <a:latin typeface="Lucida Sans"/>
              <a:cs typeface="Lucida Sans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759155" y="6186280"/>
            <a:ext cx="1903730" cy="3098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14"/>
              </a:spcBef>
            </a:pPr>
            <a:r>
              <a:rPr dirty="0" baseline="-10510" sz="2775" spc="22">
                <a:latin typeface="Microsoft JhengHei"/>
                <a:cs typeface="Microsoft JhengHei"/>
              </a:rPr>
              <a:t>・</a:t>
            </a:r>
            <a:r>
              <a:rPr dirty="0" sz="1100" spc="5">
                <a:latin typeface="Lucida Sans"/>
                <a:cs typeface="Lucida Sans"/>
              </a:rPr>
              <a:t>If</a:t>
            </a:r>
            <a:r>
              <a:rPr dirty="0" sz="1100" spc="-10">
                <a:latin typeface="Lucida Sans"/>
                <a:cs typeface="Lucida Sans"/>
              </a:rPr>
              <a:t> </a:t>
            </a:r>
            <a:r>
              <a:rPr dirty="0" sz="1100" spc="5">
                <a:latin typeface="Lucida Sans"/>
                <a:cs typeface="Lucida Sans"/>
              </a:rPr>
              <a:t>field</a:t>
            </a:r>
            <a:r>
              <a:rPr dirty="0" sz="1100" spc="-5">
                <a:latin typeface="Lucida Sans"/>
                <a:cs typeface="Lucida Sans"/>
              </a:rPr>
              <a:t> </a:t>
            </a:r>
            <a:r>
              <a:rPr dirty="0" sz="1100" spc="5">
                <a:latin typeface="Lucida Sans"/>
                <a:cs typeface="Lucida Sans"/>
              </a:rPr>
              <a:t>is</a:t>
            </a:r>
            <a:r>
              <a:rPr dirty="0" sz="1100" spc="-5">
                <a:latin typeface="Lucida Sans"/>
                <a:cs typeface="Lucida Sans"/>
              </a:rPr>
              <a:t> </a:t>
            </a:r>
            <a:r>
              <a:rPr dirty="0" sz="900" spc="15">
                <a:latin typeface="Lucida Sans Typewriter"/>
                <a:cs typeface="Lucida Sans Typewriter"/>
              </a:rPr>
              <a:t>null</a:t>
            </a:r>
            <a:r>
              <a:rPr dirty="0" sz="1100" spc="15">
                <a:latin typeface="Lucida Sans"/>
                <a:cs typeface="Lucida Sans"/>
              </a:rPr>
              <a:t>,</a:t>
            </a:r>
            <a:r>
              <a:rPr dirty="0" sz="1100" spc="-5">
                <a:latin typeface="Lucida Sans"/>
                <a:cs typeface="Lucida Sans"/>
              </a:rPr>
              <a:t> </a:t>
            </a:r>
            <a:r>
              <a:rPr dirty="0" sz="1100" spc="5">
                <a:latin typeface="Lucida Sans"/>
                <a:cs typeface="Lucida Sans"/>
              </a:rPr>
              <a:t>return</a:t>
            </a:r>
            <a:r>
              <a:rPr dirty="0" sz="1100" spc="-5">
                <a:latin typeface="Lucida Sans"/>
                <a:cs typeface="Lucida Sans"/>
              </a:rPr>
              <a:t> </a:t>
            </a:r>
            <a:r>
              <a:rPr dirty="0" sz="1100" spc="5">
                <a:latin typeface="Times New Roman"/>
                <a:cs typeface="Times New Roman"/>
              </a:rPr>
              <a:t>0</a:t>
            </a:r>
            <a:r>
              <a:rPr dirty="0" sz="1100" spc="5">
                <a:latin typeface="Lucida Sans"/>
                <a:cs typeface="Lucida Sans"/>
              </a:rPr>
              <a:t>.</a:t>
            </a:r>
            <a:endParaRPr sz="1100">
              <a:latin typeface="Lucida Sans"/>
              <a:cs typeface="Lucida Sans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759155" y="6417317"/>
            <a:ext cx="3190875" cy="3098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14"/>
              </a:spcBef>
            </a:pPr>
            <a:r>
              <a:rPr dirty="0" baseline="-12012" sz="2775" spc="22">
                <a:latin typeface="Microsoft JhengHei"/>
                <a:cs typeface="Microsoft JhengHei"/>
              </a:rPr>
              <a:t>・</a:t>
            </a:r>
            <a:r>
              <a:rPr dirty="0" sz="1100" spc="5">
                <a:latin typeface="Lucida Sans"/>
                <a:cs typeface="Lucida Sans"/>
              </a:rPr>
              <a:t>If field</a:t>
            </a:r>
            <a:r>
              <a:rPr dirty="0" sz="1100" spc="10">
                <a:latin typeface="Lucida Sans"/>
                <a:cs typeface="Lucida Sans"/>
              </a:rPr>
              <a:t> </a:t>
            </a:r>
            <a:r>
              <a:rPr dirty="0" sz="1100" spc="5">
                <a:latin typeface="Lucida Sans"/>
                <a:cs typeface="Lucida Sans"/>
              </a:rPr>
              <a:t>is</a:t>
            </a:r>
            <a:r>
              <a:rPr dirty="0" sz="1100" spc="10">
                <a:latin typeface="Lucida Sans"/>
                <a:cs typeface="Lucida Sans"/>
              </a:rPr>
              <a:t> a</a:t>
            </a:r>
            <a:r>
              <a:rPr dirty="0" sz="1100" spc="5">
                <a:latin typeface="Lucida Sans"/>
                <a:cs typeface="Lucida Sans"/>
              </a:rPr>
              <a:t> </a:t>
            </a:r>
            <a:r>
              <a:rPr dirty="0" sz="1100">
                <a:latin typeface="Lucida Sans"/>
                <a:cs typeface="Lucida Sans"/>
              </a:rPr>
              <a:t>reference</a:t>
            </a:r>
            <a:r>
              <a:rPr dirty="0" sz="1100" spc="10">
                <a:latin typeface="Lucida Sans"/>
                <a:cs typeface="Lucida Sans"/>
              </a:rPr>
              <a:t> </a:t>
            </a:r>
            <a:r>
              <a:rPr dirty="0" sz="1100" spc="15">
                <a:latin typeface="Lucida Sans"/>
                <a:cs typeface="Lucida Sans"/>
              </a:rPr>
              <a:t>type,</a:t>
            </a:r>
            <a:r>
              <a:rPr dirty="0" sz="1100" spc="10">
                <a:latin typeface="Lucida Sans"/>
                <a:cs typeface="Lucida Sans"/>
              </a:rPr>
              <a:t> use</a:t>
            </a:r>
            <a:r>
              <a:rPr dirty="0" sz="1100" spc="5">
                <a:latin typeface="Lucida Sans"/>
                <a:cs typeface="Lucida Sans"/>
              </a:rPr>
              <a:t> </a:t>
            </a:r>
            <a:r>
              <a:rPr dirty="0" sz="900" spc="15">
                <a:latin typeface="Lucida Sans Typewriter"/>
                <a:cs typeface="Lucida Sans Typewriter"/>
              </a:rPr>
              <a:t>hashCode()</a:t>
            </a:r>
            <a:r>
              <a:rPr dirty="0" sz="1100" spc="15">
                <a:latin typeface="Lucida Sans"/>
                <a:cs typeface="Lucida Sans"/>
              </a:rPr>
              <a:t>.</a:t>
            </a:r>
            <a:endParaRPr sz="1100">
              <a:latin typeface="Lucida Sans"/>
              <a:cs typeface="Lucida Sans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759155" y="6648354"/>
            <a:ext cx="2950845" cy="3098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14"/>
              </a:spcBef>
            </a:pPr>
            <a:r>
              <a:rPr dirty="0" baseline="-12012" sz="2775" spc="22">
                <a:latin typeface="Microsoft JhengHei"/>
                <a:cs typeface="Microsoft JhengHei"/>
              </a:rPr>
              <a:t>・</a:t>
            </a:r>
            <a:r>
              <a:rPr dirty="0" sz="1100" spc="5">
                <a:latin typeface="Lucida Sans"/>
                <a:cs typeface="Lucida Sans"/>
              </a:rPr>
              <a:t>If</a:t>
            </a:r>
            <a:r>
              <a:rPr dirty="0" sz="1100">
                <a:latin typeface="Lucida Sans"/>
                <a:cs typeface="Lucida Sans"/>
              </a:rPr>
              <a:t> </a:t>
            </a:r>
            <a:r>
              <a:rPr dirty="0" sz="1100" spc="5">
                <a:latin typeface="Lucida Sans"/>
                <a:cs typeface="Lucida Sans"/>
              </a:rPr>
              <a:t>field is </a:t>
            </a:r>
            <a:r>
              <a:rPr dirty="0" sz="1100" spc="10">
                <a:latin typeface="Lucida Sans"/>
                <a:cs typeface="Lucida Sans"/>
              </a:rPr>
              <a:t>an</a:t>
            </a:r>
            <a:r>
              <a:rPr dirty="0" sz="1100">
                <a:latin typeface="Lucida Sans"/>
                <a:cs typeface="Lucida Sans"/>
              </a:rPr>
              <a:t> </a:t>
            </a:r>
            <a:r>
              <a:rPr dirty="0" sz="1100" spc="-5">
                <a:latin typeface="Lucida Sans"/>
                <a:cs typeface="Lucida Sans"/>
              </a:rPr>
              <a:t>array,</a:t>
            </a:r>
            <a:r>
              <a:rPr dirty="0" sz="1100" spc="5">
                <a:latin typeface="Lucida Sans"/>
                <a:cs typeface="Lucida Sans"/>
              </a:rPr>
              <a:t> </a:t>
            </a:r>
            <a:r>
              <a:rPr dirty="0" sz="1100" spc="20">
                <a:latin typeface="Lucida Sans"/>
                <a:cs typeface="Lucida Sans"/>
              </a:rPr>
              <a:t>apply</a:t>
            </a:r>
            <a:r>
              <a:rPr dirty="0" sz="1100" spc="5">
                <a:latin typeface="Lucida Sans"/>
                <a:cs typeface="Lucida Sans"/>
              </a:rPr>
              <a:t> to</a:t>
            </a:r>
            <a:r>
              <a:rPr dirty="0" sz="1100">
                <a:latin typeface="Lucida Sans"/>
                <a:cs typeface="Lucida Sans"/>
              </a:rPr>
              <a:t> </a:t>
            </a:r>
            <a:r>
              <a:rPr dirty="0" sz="1100" spc="10">
                <a:latin typeface="Lucida Sans"/>
                <a:cs typeface="Lucida Sans"/>
              </a:rPr>
              <a:t>each</a:t>
            </a:r>
            <a:r>
              <a:rPr dirty="0" sz="1100" spc="5">
                <a:latin typeface="Lucida Sans"/>
                <a:cs typeface="Lucida Sans"/>
              </a:rPr>
              <a:t> </a:t>
            </a:r>
            <a:r>
              <a:rPr dirty="0" sz="1100" spc="-5">
                <a:latin typeface="Lucida Sans"/>
                <a:cs typeface="Lucida Sans"/>
              </a:rPr>
              <a:t>entry.</a:t>
            </a:r>
            <a:endParaRPr sz="1100">
              <a:latin typeface="Lucida Sans"/>
              <a:cs typeface="Lucida Sans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752697" y="7606863"/>
            <a:ext cx="4523740" cy="487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R="5080">
              <a:lnSpc>
                <a:spcPct val="137800"/>
              </a:lnSpc>
              <a:spcBef>
                <a:spcPts val="95"/>
              </a:spcBef>
              <a:tabLst>
                <a:tab pos="900430" algn="l"/>
              </a:tabLst>
            </a:pPr>
            <a:r>
              <a:rPr dirty="0" sz="1100" spc="5">
                <a:solidFill>
                  <a:srgbClr val="005493"/>
                </a:solidFill>
                <a:latin typeface="Lucida Sans"/>
                <a:cs typeface="Lucida Sans"/>
              </a:rPr>
              <a:t>In </a:t>
            </a:r>
            <a:r>
              <a:rPr dirty="0" sz="1100" spc="10">
                <a:solidFill>
                  <a:srgbClr val="005493"/>
                </a:solidFill>
                <a:latin typeface="Lucida Sans"/>
                <a:cs typeface="Lucida Sans"/>
              </a:rPr>
              <a:t>practice.	</a:t>
            </a:r>
            <a:r>
              <a:rPr dirty="0" sz="1100" spc="10">
                <a:latin typeface="Lucida Sans"/>
                <a:cs typeface="Lucida Sans"/>
              </a:rPr>
              <a:t>Recipe </a:t>
            </a:r>
            <a:r>
              <a:rPr dirty="0" sz="1100" spc="25">
                <a:latin typeface="Lucida Sans"/>
                <a:cs typeface="Lucida Sans"/>
              </a:rPr>
              <a:t>works</a:t>
            </a:r>
            <a:r>
              <a:rPr dirty="0" sz="1100" spc="10">
                <a:latin typeface="Lucida Sans"/>
                <a:cs typeface="Lucida Sans"/>
              </a:rPr>
              <a:t> reasonably </a:t>
            </a:r>
            <a:r>
              <a:rPr dirty="0" sz="1100" spc="20">
                <a:latin typeface="Lucida Sans"/>
                <a:cs typeface="Lucida Sans"/>
              </a:rPr>
              <a:t>well;</a:t>
            </a:r>
            <a:r>
              <a:rPr dirty="0" sz="1100" spc="10">
                <a:latin typeface="Lucida Sans"/>
                <a:cs typeface="Lucida Sans"/>
              </a:rPr>
              <a:t> used</a:t>
            </a:r>
            <a:r>
              <a:rPr dirty="0" sz="1100" spc="5">
                <a:latin typeface="Lucida Sans"/>
                <a:cs typeface="Lucida Sans"/>
              </a:rPr>
              <a:t> in</a:t>
            </a:r>
            <a:r>
              <a:rPr dirty="0" sz="1100" spc="10">
                <a:latin typeface="Lucida Sans"/>
                <a:cs typeface="Lucida Sans"/>
              </a:rPr>
              <a:t> </a:t>
            </a:r>
            <a:r>
              <a:rPr dirty="0" sz="1100" spc="20">
                <a:latin typeface="Lucida Sans"/>
                <a:cs typeface="Lucida Sans"/>
              </a:rPr>
              <a:t>Java</a:t>
            </a:r>
            <a:r>
              <a:rPr dirty="0" sz="1100" spc="10">
                <a:latin typeface="Lucida Sans"/>
                <a:cs typeface="Lucida Sans"/>
              </a:rPr>
              <a:t> </a:t>
            </a:r>
            <a:r>
              <a:rPr dirty="0" sz="1100" spc="5">
                <a:latin typeface="Lucida Sans"/>
                <a:cs typeface="Lucida Sans"/>
              </a:rPr>
              <a:t>libraries. </a:t>
            </a:r>
            <a:r>
              <a:rPr dirty="0" sz="1100" spc="-335">
                <a:latin typeface="Lucida Sans"/>
                <a:cs typeface="Lucida Sans"/>
              </a:rPr>
              <a:t> </a:t>
            </a:r>
            <a:r>
              <a:rPr dirty="0" sz="1100" spc="5">
                <a:solidFill>
                  <a:srgbClr val="005493"/>
                </a:solidFill>
                <a:latin typeface="Lucida Sans"/>
                <a:cs typeface="Lucida Sans"/>
              </a:rPr>
              <a:t>In </a:t>
            </a:r>
            <a:r>
              <a:rPr dirty="0" sz="1100">
                <a:solidFill>
                  <a:srgbClr val="005493"/>
                </a:solidFill>
                <a:latin typeface="Lucida Sans"/>
                <a:cs typeface="Lucida Sans"/>
              </a:rPr>
              <a:t>theory.</a:t>
            </a:r>
            <a:r>
              <a:rPr dirty="0" sz="1100" spc="20">
                <a:solidFill>
                  <a:srgbClr val="005493"/>
                </a:solidFill>
                <a:latin typeface="Lucida Sans"/>
                <a:cs typeface="Lucida Sans"/>
              </a:rPr>
              <a:t> </a:t>
            </a:r>
            <a:r>
              <a:rPr dirty="0" sz="1100" spc="20">
                <a:latin typeface="Lucida Sans"/>
                <a:cs typeface="Lucida Sans"/>
              </a:rPr>
              <a:t>Keys</a:t>
            </a:r>
            <a:r>
              <a:rPr dirty="0" sz="1100" spc="10">
                <a:latin typeface="Lucida Sans"/>
                <a:cs typeface="Lucida Sans"/>
              </a:rPr>
              <a:t> </a:t>
            </a:r>
            <a:r>
              <a:rPr dirty="0" sz="1100">
                <a:latin typeface="Lucida Sans"/>
                <a:cs typeface="Lucida Sans"/>
              </a:rPr>
              <a:t>are</a:t>
            </a:r>
            <a:r>
              <a:rPr dirty="0" sz="1100" spc="5">
                <a:latin typeface="Lucida Sans"/>
                <a:cs typeface="Lucida Sans"/>
              </a:rPr>
              <a:t> bitstring; </a:t>
            </a:r>
            <a:r>
              <a:rPr dirty="0" sz="1100" spc="10">
                <a:latin typeface="Lucida Sans"/>
                <a:cs typeface="Lucida Sans"/>
              </a:rPr>
              <a:t>"universal" hash</a:t>
            </a:r>
            <a:r>
              <a:rPr dirty="0" sz="1100" spc="5">
                <a:latin typeface="Lucida Sans"/>
                <a:cs typeface="Lucida Sans"/>
              </a:rPr>
              <a:t> </a:t>
            </a:r>
            <a:r>
              <a:rPr dirty="0" sz="1100" spc="10">
                <a:latin typeface="Lucida Sans"/>
                <a:cs typeface="Lucida Sans"/>
              </a:rPr>
              <a:t>functions </a:t>
            </a:r>
            <a:r>
              <a:rPr dirty="0" sz="1100" spc="5">
                <a:latin typeface="Lucida Sans"/>
                <a:cs typeface="Lucida Sans"/>
              </a:rPr>
              <a:t>exist.</a:t>
            </a:r>
            <a:endParaRPr sz="1100">
              <a:latin typeface="Lucida Sans"/>
              <a:cs typeface="Lucida Sans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752697" y="8762050"/>
            <a:ext cx="4269740" cy="487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R="5080">
              <a:lnSpc>
                <a:spcPct val="137800"/>
              </a:lnSpc>
              <a:spcBef>
                <a:spcPts val="95"/>
              </a:spcBef>
            </a:pPr>
            <a:r>
              <a:rPr dirty="0" sz="1100" spc="10">
                <a:solidFill>
                  <a:srgbClr val="005493"/>
                </a:solidFill>
                <a:latin typeface="Lucida Sans"/>
                <a:cs typeface="Lucida Sans"/>
              </a:rPr>
              <a:t>Basic</a:t>
            </a:r>
            <a:r>
              <a:rPr dirty="0" sz="1100" spc="5">
                <a:solidFill>
                  <a:srgbClr val="005493"/>
                </a:solidFill>
                <a:latin typeface="Lucida Sans"/>
                <a:cs typeface="Lucida Sans"/>
              </a:rPr>
              <a:t> rule.</a:t>
            </a:r>
            <a:r>
              <a:rPr dirty="0" sz="1100" spc="10">
                <a:solidFill>
                  <a:srgbClr val="005493"/>
                </a:solidFill>
                <a:latin typeface="Lucida Sans"/>
                <a:cs typeface="Lucida Sans"/>
              </a:rPr>
              <a:t> </a:t>
            </a:r>
            <a:r>
              <a:rPr dirty="0" sz="1100" spc="10">
                <a:latin typeface="Lucida Sans"/>
                <a:cs typeface="Lucida Sans"/>
              </a:rPr>
              <a:t>Need</a:t>
            </a:r>
            <a:r>
              <a:rPr dirty="0" sz="1100" spc="5">
                <a:latin typeface="Lucida Sans"/>
                <a:cs typeface="Lucida Sans"/>
              </a:rPr>
              <a:t> to </a:t>
            </a:r>
            <a:r>
              <a:rPr dirty="0" sz="1100" spc="10">
                <a:latin typeface="Lucida Sans"/>
                <a:cs typeface="Lucida Sans"/>
              </a:rPr>
              <a:t>use</a:t>
            </a:r>
            <a:r>
              <a:rPr dirty="0" sz="1100" spc="5">
                <a:latin typeface="Lucida Sans"/>
                <a:cs typeface="Lucida Sans"/>
              </a:rPr>
              <a:t> the</a:t>
            </a:r>
            <a:r>
              <a:rPr dirty="0" sz="1100" spc="10">
                <a:latin typeface="Lucida Sans"/>
                <a:cs typeface="Lucida Sans"/>
              </a:rPr>
              <a:t> </a:t>
            </a:r>
            <a:r>
              <a:rPr dirty="0" sz="1100" spc="25">
                <a:latin typeface="Lucida Sans"/>
                <a:cs typeface="Lucida Sans"/>
              </a:rPr>
              <a:t>whole</a:t>
            </a:r>
            <a:r>
              <a:rPr dirty="0" sz="1100" spc="5">
                <a:latin typeface="Lucida Sans"/>
                <a:cs typeface="Lucida Sans"/>
              </a:rPr>
              <a:t> </a:t>
            </a:r>
            <a:r>
              <a:rPr dirty="0" sz="1100" spc="25">
                <a:latin typeface="Lucida Sans"/>
                <a:cs typeface="Lucida Sans"/>
              </a:rPr>
              <a:t>key</a:t>
            </a:r>
            <a:r>
              <a:rPr dirty="0" sz="1100" spc="5">
                <a:latin typeface="Lucida Sans"/>
                <a:cs typeface="Lucida Sans"/>
              </a:rPr>
              <a:t> to </a:t>
            </a:r>
            <a:r>
              <a:rPr dirty="0" sz="1100" spc="10">
                <a:latin typeface="Lucida Sans"/>
                <a:cs typeface="Lucida Sans"/>
              </a:rPr>
              <a:t>compute</a:t>
            </a:r>
            <a:r>
              <a:rPr dirty="0" sz="1100" spc="5">
                <a:latin typeface="Lucida Sans"/>
                <a:cs typeface="Lucida Sans"/>
              </a:rPr>
              <a:t> </a:t>
            </a:r>
            <a:r>
              <a:rPr dirty="0" sz="1100" spc="10">
                <a:latin typeface="Lucida Sans"/>
                <a:cs typeface="Lucida Sans"/>
              </a:rPr>
              <a:t>hash code; </a:t>
            </a:r>
            <a:r>
              <a:rPr dirty="0" sz="1100" spc="-335">
                <a:latin typeface="Lucida Sans"/>
                <a:cs typeface="Lucida Sans"/>
              </a:rPr>
              <a:t> </a:t>
            </a:r>
            <a:r>
              <a:rPr dirty="0" sz="1100" spc="10">
                <a:latin typeface="Lucida Sans"/>
                <a:cs typeface="Lucida Sans"/>
              </a:rPr>
              <a:t>consult</a:t>
            </a:r>
            <a:r>
              <a:rPr dirty="0" sz="1100">
                <a:latin typeface="Lucida Sans"/>
                <a:cs typeface="Lucida Sans"/>
              </a:rPr>
              <a:t> </a:t>
            </a:r>
            <a:r>
              <a:rPr dirty="0" sz="1100" spc="10">
                <a:latin typeface="Lucida Sans"/>
                <a:cs typeface="Lucida Sans"/>
              </a:rPr>
              <a:t>an</a:t>
            </a:r>
            <a:r>
              <a:rPr dirty="0" sz="1100" spc="5">
                <a:latin typeface="Lucida Sans"/>
                <a:cs typeface="Lucida Sans"/>
              </a:rPr>
              <a:t> </a:t>
            </a:r>
            <a:r>
              <a:rPr dirty="0" sz="1100" spc="10">
                <a:latin typeface="Lucida Sans"/>
                <a:cs typeface="Lucida Sans"/>
              </a:rPr>
              <a:t>expert</a:t>
            </a:r>
            <a:r>
              <a:rPr dirty="0" sz="1100" spc="5">
                <a:latin typeface="Lucida Sans"/>
                <a:cs typeface="Lucida Sans"/>
              </a:rPr>
              <a:t> for state-of-the-art </a:t>
            </a:r>
            <a:r>
              <a:rPr dirty="0" sz="1100" spc="10">
                <a:latin typeface="Lucida Sans"/>
                <a:cs typeface="Lucida Sans"/>
              </a:rPr>
              <a:t>hash</a:t>
            </a:r>
            <a:r>
              <a:rPr dirty="0" sz="1100" spc="5">
                <a:latin typeface="Lucida Sans"/>
                <a:cs typeface="Lucida Sans"/>
              </a:rPr>
              <a:t> </a:t>
            </a:r>
            <a:r>
              <a:rPr dirty="0" sz="1100" spc="10">
                <a:latin typeface="Lucida Sans"/>
                <a:cs typeface="Lucida Sans"/>
              </a:rPr>
              <a:t>codes.</a:t>
            </a:r>
            <a:endParaRPr sz="1100">
              <a:latin typeface="Lucida Sans"/>
              <a:cs typeface="Lucida Sans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4407827" y="6541722"/>
            <a:ext cx="1536700" cy="3854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750" spc="-5">
                <a:solidFill>
                  <a:srgbClr val="8D3124"/>
                </a:solidFill>
                <a:latin typeface="Lucida Sans"/>
                <a:cs typeface="Lucida Sans"/>
              </a:rPr>
              <a:t>applies</a:t>
            </a:r>
            <a:r>
              <a:rPr dirty="0" sz="750" spc="-15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dirty="0" sz="750" spc="-5">
                <a:solidFill>
                  <a:srgbClr val="8D3124"/>
                </a:solidFill>
                <a:latin typeface="Lucida Sans"/>
                <a:cs typeface="Lucida Sans"/>
              </a:rPr>
              <a:t>rule</a:t>
            </a:r>
            <a:r>
              <a:rPr dirty="0" sz="750" spc="-10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dirty="0" sz="750">
                <a:solidFill>
                  <a:srgbClr val="8D3124"/>
                </a:solidFill>
                <a:latin typeface="Lucida Sans"/>
                <a:cs typeface="Lucida Sans"/>
              </a:rPr>
              <a:t>recursively</a:t>
            </a:r>
            <a:endParaRPr sz="750">
              <a:latin typeface="Lucida Sans"/>
              <a:cs typeface="Lucida Sans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850">
              <a:latin typeface="Lucida Sans"/>
              <a:cs typeface="Lucida Sans"/>
            </a:endParaRPr>
          </a:p>
          <a:p>
            <a:pPr marL="8255">
              <a:lnSpc>
                <a:spcPct val="100000"/>
              </a:lnSpc>
            </a:pPr>
            <a:r>
              <a:rPr dirty="0" sz="750" spc="-5">
                <a:solidFill>
                  <a:srgbClr val="8D3124"/>
                </a:solidFill>
                <a:latin typeface="Lucida Sans"/>
                <a:cs typeface="Lucida Sans"/>
              </a:rPr>
              <a:t>or</a:t>
            </a:r>
            <a:r>
              <a:rPr dirty="0" sz="750" spc="-20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dirty="0" sz="750" spc="-5">
                <a:solidFill>
                  <a:srgbClr val="8D3124"/>
                </a:solidFill>
                <a:latin typeface="Lucida Sans"/>
                <a:cs typeface="Lucida Sans"/>
              </a:rPr>
              <a:t>use</a:t>
            </a:r>
            <a:r>
              <a:rPr dirty="0" sz="750" spc="-20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dirty="0" sz="750" spc="-5">
                <a:solidFill>
                  <a:srgbClr val="8D3124"/>
                </a:solidFill>
                <a:latin typeface="Lucida Sans Typewriter"/>
                <a:cs typeface="Lucida Sans Typewriter"/>
              </a:rPr>
              <a:t>Arrays.deepHashCode()</a:t>
            </a:r>
            <a:endParaRPr sz="750">
              <a:latin typeface="Lucida Sans Typewriter"/>
              <a:cs typeface="Lucida Sans Typewriter"/>
            </a:endParaRPr>
          </a:p>
        </p:txBody>
      </p:sp>
      <p:grpSp>
        <p:nvGrpSpPr>
          <p:cNvPr id="71" name="object 71"/>
          <p:cNvGrpSpPr/>
          <p:nvPr/>
        </p:nvGrpSpPr>
        <p:grpSpPr>
          <a:xfrm>
            <a:off x="3989459" y="6602999"/>
            <a:ext cx="321945" cy="294005"/>
            <a:chOff x="3989459" y="6602999"/>
            <a:chExt cx="321945" cy="294005"/>
          </a:xfrm>
        </p:grpSpPr>
        <p:sp>
          <p:nvSpPr>
            <p:cNvPr id="72" name="object 72"/>
            <p:cNvSpPr/>
            <p:nvPr/>
          </p:nvSpPr>
          <p:spPr>
            <a:xfrm>
              <a:off x="4026187" y="6631434"/>
              <a:ext cx="285115" cy="0"/>
            </a:xfrm>
            <a:custGeom>
              <a:avLst/>
              <a:gdLst/>
              <a:ahLst/>
              <a:cxnLst/>
              <a:rect l="l" t="t" r="r" b="b"/>
              <a:pathLst>
                <a:path w="285114" h="0">
                  <a:moveTo>
                    <a:pt x="0" y="0"/>
                  </a:moveTo>
                  <a:lnTo>
                    <a:pt x="5924" y="0"/>
                  </a:lnTo>
                  <a:lnTo>
                    <a:pt x="284932" y="0"/>
                  </a:lnTo>
                </a:path>
              </a:pathLst>
            </a:custGeom>
            <a:ln w="11848">
              <a:solidFill>
                <a:srgbClr val="8D312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/>
            <p:cNvSpPr/>
            <p:nvPr/>
          </p:nvSpPr>
          <p:spPr>
            <a:xfrm>
              <a:off x="3989459" y="6602999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>
                  <a:moveTo>
                    <a:pt x="56870" y="0"/>
                  </a:moveTo>
                  <a:lnTo>
                    <a:pt x="0" y="28435"/>
                  </a:lnTo>
                  <a:lnTo>
                    <a:pt x="56870" y="56870"/>
                  </a:lnTo>
                  <a:lnTo>
                    <a:pt x="42652" y="28435"/>
                  </a:lnTo>
                  <a:lnTo>
                    <a:pt x="56870" y="0"/>
                  </a:lnTo>
                  <a:close/>
                </a:path>
              </a:pathLst>
            </a:custGeom>
            <a:solidFill>
              <a:srgbClr val="8D31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/>
            <p:cNvSpPr/>
            <p:nvPr/>
          </p:nvSpPr>
          <p:spPr>
            <a:xfrm>
              <a:off x="4026187" y="6868396"/>
              <a:ext cx="285115" cy="0"/>
            </a:xfrm>
            <a:custGeom>
              <a:avLst/>
              <a:gdLst/>
              <a:ahLst/>
              <a:cxnLst/>
              <a:rect l="l" t="t" r="r" b="b"/>
              <a:pathLst>
                <a:path w="285114" h="0">
                  <a:moveTo>
                    <a:pt x="0" y="0"/>
                  </a:moveTo>
                  <a:lnTo>
                    <a:pt x="5924" y="0"/>
                  </a:lnTo>
                  <a:lnTo>
                    <a:pt x="284932" y="0"/>
                  </a:lnTo>
                </a:path>
              </a:pathLst>
            </a:custGeom>
            <a:ln w="11848">
              <a:solidFill>
                <a:srgbClr val="8D312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/>
            <p:cNvSpPr/>
            <p:nvPr/>
          </p:nvSpPr>
          <p:spPr>
            <a:xfrm>
              <a:off x="3989459" y="6839960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>
                  <a:moveTo>
                    <a:pt x="56870" y="0"/>
                  </a:moveTo>
                  <a:lnTo>
                    <a:pt x="0" y="28435"/>
                  </a:lnTo>
                  <a:lnTo>
                    <a:pt x="56870" y="56870"/>
                  </a:lnTo>
                  <a:lnTo>
                    <a:pt x="42652" y="28435"/>
                  </a:lnTo>
                  <a:lnTo>
                    <a:pt x="56870" y="0"/>
                  </a:lnTo>
                  <a:close/>
                </a:path>
              </a:pathLst>
            </a:custGeom>
            <a:solidFill>
              <a:srgbClr val="8D3124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6" name="object 76"/>
          <p:cNvGrpSpPr/>
          <p:nvPr/>
        </p:nvGrpSpPr>
        <p:grpSpPr>
          <a:xfrm>
            <a:off x="6592379" y="4966780"/>
            <a:ext cx="6066790" cy="4549775"/>
            <a:chOff x="6592379" y="4966780"/>
            <a:chExt cx="6066790" cy="4549775"/>
          </a:xfrm>
        </p:grpSpPr>
        <p:sp>
          <p:nvSpPr>
            <p:cNvPr id="77" name="object 77"/>
            <p:cNvSpPr/>
            <p:nvPr/>
          </p:nvSpPr>
          <p:spPr>
            <a:xfrm>
              <a:off x="6592379" y="4966780"/>
              <a:ext cx="6066790" cy="4549775"/>
            </a:xfrm>
            <a:custGeom>
              <a:avLst/>
              <a:gdLst/>
              <a:ahLst/>
              <a:cxnLst/>
              <a:rect l="l" t="t" r="r" b="b"/>
              <a:pathLst>
                <a:path w="6066790" h="4549775">
                  <a:moveTo>
                    <a:pt x="0" y="0"/>
                  </a:moveTo>
                  <a:lnTo>
                    <a:pt x="6066212" y="0"/>
                  </a:lnTo>
                  <a:lnTo>
                    <a:pt x="6066212" y="4549659"/>
                  </a:lnTo>
                  <a:lnTo>
                    <a:pt x="0" y="45496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8" name="object 78"/>
            <p:cNvSpPr/>
            <p:nvPr/>
          </p:nvSpPr>
          <p:spPr>
            <a:xfrm>
              <a:off x="6977442" y="5428805"/>
              <a:ext cx="5302250" cy="635"/>
            </a:xfrm>
            <a:custGeom>
              <a:avLst/>
              <a:gdLst/>
              <a:ahLst/>
              <a:cxnLst/>
              <a:rect l="l" t="t" r="r" b="b"/>
              <a:pathLst>
                <a:path w="5302250" h="635">
                  <a:moveTo>
                    <a:pt x="0" y="49"/>
                  </a:moveTo>
                  <a:lnTo>
                    <a:pt x="5302012" y="0"/>
                  </a:lnTo>
                </a:path>
              </a:pathLst>
            </a:custGeom>
            <a:ln w="59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9" name="object 7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740727" y="6035693"/>
              <a:ext cx="240386" cy="180873"/>
            </a:xfrm>
            <a:prstGeom prst="rect">
              <a:avLst/>
            </a:prstGeom>
          </p:spPr>
        </p:pic>
      </p:grpSp>
      <p:sp>
        <p:nvSpPr>
          <p:cNvPr id="80" name="object 80"/>
          <p:cNvSpPr txBox="1"/>
          <p:nvPr/>
        </p:nvSpPr>
        <p:spPr>
          <a:xfrm>
            <a:off x="7771262" y="6524801"/>
            <a:ext cx="2613025" cy="438784"/>
          </a:xfrm>
          <a:prstGeom prst="rect">
            <a:avLst/>
          </a:prstGeom>
          <a:solidFill>
            <a:srgbClr val="CBCBCB"/>
          </a:solidFill>
        </p:spPr>
        <p:txBody>
          <a:bodyPr wrap="square" lIns="0" tIns="76200" rIns="0" bIns="0" rtlCol="0" vert="horz">
            <a:spAutoFit/>
          </a:bodyPr>
          <a:lstStyle/>
          <a:p>
            <a:pPr marL="161925">
              <a:lnSpc>
                <a:spcPct val="100000"/>
              </a:lnSpc>
              <a:spcBef>
                <a:spcPts val="600"/>
              </a:spcBef>
            </a:pPr>
            <a:r>
              <a:rPr dirty="0" sz="800" spc="20">
                <a:latin typeface="Lucida Sans Typewriter"/>
                <a:cs typeface="Lucida Sans Typewriter"/>
              </a:rPr>
              <a:t>private</a:t>
            </a:r>
            <a:r>
              <a:rPr dirty="0" sz="800" spc="10"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int</a:t>
            </a:r>
            <a:r>
              <a:rPr dirty="0" sz="800" spc="15"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hash(Key</a:t>
            </a:r>
            <a:r>
              <a:rPr dirty="0" sz="800" spc="10"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key)</a:t>
            </a:r>
            <a:endParaRPr sz="800">
              <a:latin typeface="Lucida Sans Typewriter"/>
              <a:cs typeface="Lucida Sans Typewriter"/>
            </a:endParaRPr>
          </a:p>
          <a:p>
            <a:pPr marL="161925">
              <a:lnSpc>
                <a:spcPct val="100000"/>
              </a:lnSpc>
              <a:spcBef>
                <a:spcPts val="155"/>
              </a:spcBef>
              <a:tabLst>
                <a:tab pos="354330" algn="l"/>
                <a:tab pos="2152015" algn="l"/>
              </a:tabLst>
            </a:pPr>
            <a:r>
              <a:rPr dirty="0" sz="800" spc="20">
                <a:latin typeface="Lucida Sans Typewriter"/>
                <a:cs typeface="Lucida Sans Typewriter"/>
              </a:rPr>
              <a:t>{	return</a:t>
            </a:r>
            <a:r>
              <a:rPr dirty="0" sz="800" spc="40"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key.hashCode()</a:t>
            </a:r>
            <a:r>
              <a:rPr dirty="0" sz="800" spc="40"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%</a:t>
            </a:r>
            <a:r>
              <a:rPr dirty="0" sz="800" spc="40"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M;	}</a:t>
            </a:r>
            <a:endParaRPr sz="800">
              <a:latin typeface="Lucida Sans Typewriter"/>
              <a:cs typeface="Lucida Sans Typewriter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7771262" y="7508192"/>
            <a:ext cx="3086735" cy="438784"/>
          </a:xfrm>
          <a:prstGeom prst="rect">
            <a:avLst/>
          </a:prstGeom>
          <a:solidFill>
            <a:srgbClr val="CBCBCB"/>
          </a:solidFill>
        </p:spPr>
        <p:txBody>
          <a:bodyPr wrap="square" lIns="0" tIns="76200" rIns="0" bIns="0" rtlCol="0" vert="horz">
            <a:spAutoFit/>
          </a:bodyPr>
          <a:lstStyle/>
          <a:p>
            <a:pPr marL="161925">
              <a:lnSpc>
                <a:spcPct val="100000"/>
              </a:lnSpc>
              <a:spcBef>
                <a:spcPts val="600"/>
              </a:spcBef>
            </a:pPr>
            <a:r>
              <a:rPr dirty="0" sz="800" spc="20">
                <a:latin typeface="Lucida Sans Typewriter"/>
                <a:cs typeface="Lucida Sans Typewriter"/>
              </a:rPr>
              <a:t>private</a:t>
            </a:r>
            <a:r>
              <a:rPr dirty="0" sz="800" spc="10"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int</a:t>
            </a:r>
            <a:r>
              <a:rPr dirty="0" sz="800" spc="15"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hash(Key</a:t>
            </a:r>
            <a:r>
              <a:rPr dirty="0" sz="800" spc="10"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key)</a:t>
            </a:r>
            <a:endParaRPr sz="800">
              <a:latin typeface="Lucida Sans Typewriter"/>
              <a:cs typeface="Lucida Sans Typewriter"/>
            </a:endParaRPr>
          </a:p>
          <a:p>
            <a:pPr marL="161925">
              <a:lnSpc>
                <a:spcPct val="100000"/>
              </a:lnSpc>
              <a:spcBef>
                <a:spcPts val="155"/>
              </a:spcBef>
              <a:tabLst>
                <a:tab pos="354330" algn="l"/>
                <a:tab pos="2794000" algn="l"/>
              </a:tabLst>
            </a:pPr>
            <a:r>
              <a:rPr dirty="0" sz="800" spc="20">
                <a:latin typeface="Lucida Sans Typewriter"/>
                <a:cs typeface="Lucida Sans Typewriter"/>
              </a:rPr>
              <a:t>{	return</a:t>
            </a:r>
            <a:r>
              <a:rPr dirty="0" sz="800" spc="45"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Math.abs(key.hashCode())</a:t>
            </a:r>
            <a:r>
              <a:rPr dirty="0" sz="800" spc="50"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%</a:t>
            </a:r>
            <a:r>
              <a:rPr dirty="0" sz="800" spc="50"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M;	}</a:t>
            </a:r>
            <a:endParaRPr sz="800">
              <a:latin typeface="Lucida Sans Typewriter"/>
              <a:cs typeface="Lucida Sans Typewriter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7771262" y="8556745"/>
            <a:ext cx="3613785" cy="438784"/>
          </a:xfrm>
          <a:prstGeom prst="rect">
            <a:avLst/>
          </a:prstGeom>
          <a:solidFill>
            <a:srgbClr val="CBCBCB"/>
          </a:solidFill>
        </p:spPr>
        <p:txBody>
          <a:bodyPr wrap="square" lIns="0" tIns="76200" rIns="0" bIns="0" rtlCol="0" vert="horz">
            <a:spAutoFit/>
          </a:bodyPr>
          <a:lstStyle/>
          <a:p>
            <a:pPr marL="161925">
              <a:lnSpc>
                <a:spcPct val="100000"/>
              </a:lnSpc>
              <a:spcBef>
                <a:spcPts val="600"/>
              </a:spcBef>
            </a:pPr>
            <a:r>
              <a:rPr dirty="0" sz="800" spc="20">
                <a:latin typeface="Lucida Sans Typewriter"/>
                <a:cs typeface="Lucida Sans Typewriter"/>
              </a:rPr>
              <a:t>private</a:t>
            </a:r>
            <a:r>
              <a:rPr dirty="0" sz="800" spc="10"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int</a:t>
            </a:r>
            <a:r>
              <a:rPr dirty="0" sz="800" spc="15"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hash(Key</a:t>
            </a:r>
            <a:r>
              <a:rPr dirty="0" sz="800" spc="10"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key)</a:t>
            </a:r>
            <a:endParaRPr sz="800">
              <a:latin typeface="Lucida Sans Typewriter"/>
              <a:cs typeface="Lucida Sans Typewriter"/>
            </a:endParaRPr>
          </a:p>
          <a:p>
            <a:pPr marL="161925">
              <a:lnSpc>
                <a:spcPct val="100000"/>
              </a:lnSpc>
              <a:spcBef>
                <a:spcPts val="155"/>
              </a:spcBef>
              <a:tabLst>
                <a:tab pos="354330" algn="l"/>
                <a:tab pos="3114675" algn="l"/>
              </a:tabLst>
            </a:pPr>
            <a:r>
              <a:rPr dirty="0" sz="800" spc="20">
                <a:latin typeface="Lucida Sans Typewriter"/>
                <a:cs typeface="Lucida Sans Typewriter"/>
              </a:rPr>
              <a:t>{	return</a:t>
            </a:r>
            <a:r>
              <a:rPr dirty="0" sz="800" spc="40"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(key.hashCode()</a:t>
            </a:r>
            <a:r>
              <a:rPr dirty="0" sz="800" spc="40"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&amp;</a:t>
            </a:r>
            <a:r>
              <a:rPr dirty="0" sz="800" spc="40"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0x7fffffff)</a:t>
            </a:r>
            <a:r>
              <a:rPr dirty="0" sz="800" spc="40"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%</a:t>
            </a:r>
            <a:r>
              <a:rPr dirty="0" sz="800" spc="40"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M;	}</a:t>
            </a:r>
            <a:endParaRPr sz="800">
              <a:latin typeface="Lucida Sans Typewriter"/>
              <a:cs typeface="Lucida Sans Typewriter"/>
            </a:endParaRPr>
          </a:p>
        </p:txBody>
      </p:sp>
      <p:grpSp>
        <p:nvGrpSpPr>
          <p:cNvPr id="83" name="object 83"/>
          <p:cNvGrpSpPr/>
          <p:nvPr/>
        </p:nvGrpSpPr>
        <p:grpSpPr>
          <a:xfrm>
            <a:off x="8772425" y="6516604"/>
            <a:ext cx="3489325" cy="1806575"/>
            <a:chOff x="8772425" y="6516604"/>
            <a:chExt cx="3489325" cy="1806575"/>
          </a:xfrm>
        </p:grpSpPr>
        <p:pic>
          <p:nvPicPr>
            <p:cNvPr id="84" name="object 8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772425" y="8142063"/>
              <a:ext cx="240386" cy="180873"/>
            </a:xfrm>
            <a:prstGeom prst="rect">
              <a:avLst/>
            </a:prstGeom>
          </p:spPr>
        </p:pic>
        <p:sp>
          <p:nvSpPr>
            <p:cNvPr id="85" name="object 85"/>
            <p:cNvSpPr/>
            <p:nvPr/>
          </p:nvSpPr>
          <p:spPr>
            <a:xfrm>
              <a:off x="11780368" y="6691213"/>
              <a:ext cx="480059" cy="347980"/>
            </a:xfrm>
            <a:custGeom>
              <a:avLst/>
              <a:gdLst/>
              <a:ahLst/>
              <a:cxnLst/>
              <a:rect l="l" t="t" r="r" b="b"/>
              <a:pathLst>
                <a:path w="480059" h="347979">
                  <a:moveTo>
                    <a:pt x="0" y="0"/>
                  </a:moveTo>
                  <a:lnTo>
                    <a:pt x="479671" y="0"/>
                  </a:lnTo>
                  <a:lnTo>
                    <a:pt x="479671" y="347902"/>
                  </a:lnTo>
                  <a:lnTo>
                    <a:pt x="0" y="3479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6" name="object 86"/>
            <p:cNvSpPr/>
            <p:nvPr/>
          </p:nvSpPr>
          <p:spPr>
            <a:xfrm>
              <a:off x="12020743" y="6522637"/>
              <a:ext cx="635" cy="91440"/>
            </a:xfrm>
            <a:custGeom>
              <a:avLst/>
              <a:gdLst/>
              <a:ahLst/>
              <a:cxnLst/>
              <a:rect l="l" t="t" r="r" b="b"/>
              <a:pathLst>
                <a:path w="634" h="91440">
                  <a:moveTo>
                    <a:pt x="0" y="91335"/>
                  </a:moveTo>
                  <a:lnTo>
                    <a:pt x="2" y="85410"/>
                  </a:lnTo>
                  <a:lnTo>
                    <a:pt x="42" y="0"/>
                  </a:lnTo>
                </a:path>
              </a:pathLst>
            </a:custGeom>
            <a:ln w="118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7" name="object 87"/>
            <p:cNvSpPr/>
            <p:nvPr/>
          </p:nvSpPr>
          <p:spPr>
            <a:xfrm>
              <a:off x="11992317" y="6593817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>
                  <a:moveTo>
                    <a:pt x="0" y="0"/>
                  </a:moveTo>
                  <a:lnTo>
                    <a:pt x="28408" y="56883"/>
                  </a:lnTo>
                  <a:lnTo>
                    <a:pt x="49760" y="14230"/>
                  </a:lnTo>
                  <a:lnTo>
                    <a:pt x="28428" y="14230"/>
                  </a:lnTo>
                  <a:lnTo>
                    <a:pt x="0" y="0"/>
                  </a:lnTo>
                  <a:close/>
                </a:path>
                <a:path w="57150" h="57150">
                  <a:moveTo>
                    <a:pt x="56870" y="26"/>
                  </a:moveTo>
                  <a:lnTo>
                    <a:pt x="28428" y="14230"/>
                  </a:lnTo>
                  <a:lnTo>
                    <a:pt x="49760" y="14230"/>
                  </a:lnTo>
                  <a:lnTo>
                    <a:pt x="56870" y="2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8" name="object 88"/>
            <p:cNvSpPr/>
            <p:nvPr/>
          </p:nvSpPr>
          <p:spPr>
            <a:xfrm>
              <a:off x="12020743" y="7079890"/>
              <a:ext cx="635" cy="91440"/>
            </a:xfrm>
            <a:custGeom>
              <a:avLst/>
              <a:gdLst/>
              <a:ahLst/>
              <a:cxnLst/>
              <a:rect l="l" t="t" r="r" b="b"/>
              <a:pathLst>
                <a:path w="634" h="91440">
                  <a:moveTo>
                    <a:pt x="0" y="91335"/>
                  </a:moveTo>
                  <a:lnTo>
                    <a:pt x="2" y="85411"/>
                  </a:lnTo>
                  <a:lnTo>
                    <a:pt x="42" y="0"/>
                  </a:lnTo>
                </a:path>
              </a:pathLst>
            </a:custGeom>
            <a:ln w="118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9" name="object 89"/>
            <p:cNvSpPr/>
            <p:nvPr/>
          </p:nvSpPr>
          <p:spPr>
            <a:xfrm>
              <a:off x="11781828" y="7151077"/>
              <a:ext cx="480059" cy="776605"/>
            </a:xfrm>
            <a:custGeom>
              <a:avLst/>
              <a:gdLst/>
              <a:ahLst/>
              <a:cxnLst/>
              <a:rect l="l" t="t" r="r" b="b"/>
              <a:pathLst>
                <a:path w="480059" h="776604">
                  <a:moveTo>
                    <a:pt x="267347" y="25"/>
                  </a:moveTo>
                  <a:lnTo>
                    <a:pt x="238912" y="14236"/>
                  </a:lnTo>
                  <a:lnTo>
                    <a:pt x="210477" y="0"/>
                  </a:lnTo>
                  <a:lnTo>
                    <a:pt x="238887" y="56883"/>
                  </a:lnTo>
                  <a:lnTo>
                    <a:pt x="260248" y="14236"/>
                  </a:lnTo>
                  <a:lnTo>
                    <a:pt x="267347" y="25"/>
                  </a:lnTo>
                  <a:close/>
                </a:path>
                <a:path w="480059" h="776604">
                  <a:moveTo>
                    <a:pt x="479666" y="428205"/>
                  </a:moveTo>
                  <a:lnTo>
                    <a:pt x="0" y="428205"/>
                  </a:lnTo>
                  <a:lnTo>
                    <a:pt x="0" y="776109"/>
                  </a:lnTo>
                  <a:lnTo>
                    <a:pt x="479666" y="776109"/>
                  </a:lnTo>
                  <a:lnTo>
                    <a:pt x="479666" y="42820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0" name="object 90"/>
          <p:cNvSpPr txBox="1"/>
          <p:nvPr/>
        </p:nvSpPr>
        <p:spPr>
          <a:xfrm>
            <a:off x="6592379" y="4966780"/>
            <a:ext cx="6066790" cy="4549775"/>
          </a:xfrm>
          <a:prstGeom prst="rect">
            <a:avLst/>
          </a:prstGeom>
        </p:spPr>
        <p:txBody>
          <a:bodyPr wrap="square" lIns="0" tIns="172085" rIns="0" bIns="0" rtlCol="0" vert="horz">
            <a:spAutoFit/>
          </a:bodyPr>
          <a:lstStyle/>
          <a:p>
            <a:pPr marL="406400">
              <a:lnSpc>
                <a:spcPct val="100000"/>
              </a:lnSpc>
              <a:spcBef>
                <a:spcPts val="1355"/>
              </a:spcBef>
            </a:pPr>
            <a:r>
              <a:rPr dirty="0" sz="1300" spc="60">
                <a:latin typeface="Arial"/>
                <a:cs typeface="Arial"/>
              </a:rPr>
              <a:t>Modular</a:t>
            </a:r>
            <a:r>
              <a:rPr dirty="0" sz="1300" spc="-5">
                <a:latin typeface="Arial"/>
                <a:cs typeface="Arial"/>
              </a:rPr>
              <a:t> </a:t>
            </a:r>
            <a:r>
              <a:rPr dirty="0" sz="1300">
                <a:latin typeface="Arial"/>
                <a:cs typeface="Arial"/>
              </a:rPr>
              <a:t>hashing</a:t>
            </a:r>
            <a:endParaRPr sz="13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800">
              <a:latin typeface="Arial"/>
              <a:cs typeface="Arial"/>
            </a:endParaRPr>
          </a:p>
          <a:p>
            <a:pPr marL="406400">
              <a:lnSpc>
                <a:spcPct val="100000"/>
              </a:lnSpc>
            </a:pPr>
            <a:r>
              <a:rPr dirty="0" sz="1100" spc="10">
                <a:solidFill>
                  <a:srgbClr val="005493"/>
                </a:solidFill>
                <a:latin typeface="Lucida Sans"/>
                <a:cs typeface="Lucida Sans"/>
              </a:rPr>
              <a:t>Hash</a:t>
            </a:r>
            <a:r>
              <a:rPr dirty="0" sz="1100" spc="5">
                <a:solidFill>
                  <a:srgbClr val="005493"/>
                </a:solidFill>
                <a:latin typeface="Lucida Sans"/>
                <a:cs typeface="Lucida Sans"/>
              </a:rPr>
              <a:t> </a:t>
            </a:r>
            <a:r>
              <a:rPr dirty="0" sz="1100" spc="10">
                <a:solidFill>
                  <a:srgbClr val="005493"/>
                </a:solidFill>
                <a:latin typeface="Lucida Sans"/>
                <a:cs typeface="Lucida Sans"/>
              </a:rPr>
              <a:t>code.</a:t>
            </a:r>
            <a:r>
              <a:rPr dirty="0" sz="1100">
                <a:solidFill>
                  <a:srgbClr val="005493"/>
                </a:solidFill>
                <a:latin typeface="Lucida Sans"/>
                <a:cs typeface="Lucida Sans"/>
              </a:rPr>
              <a:t> </a:t>
            </a:r>
            <a:r>
              <a:rPr dirty="0" sz="1100" spc="10">
                <a:solidFill>
                  <a:srgbClr val="005493"/>
                </a:solidFill>
                <a:latin typeface="Lucida Sans"/>
                <a:cs typeface="Lucida Sans"/>
              </a:rPr>
              <a:t> </a:t>
            </a:r>
            <a:r>
              <a:rPr dirty="0" sz="1100" spc="10">
                <a:latin typeface="Lucida Sans"/>
                <a:cs typeface="Lucida Sans"/>
              </a:rPr>
              <a:t>An</a:t>
            </a:r>
            <a:r>
              <a:rPr dirty="0" sz="1100" spc="5">
                <a:latin typeface="Lucida Sans"/>
                <a:cs typeface="Lucida Sans"/>
              </a:rPr>
              <a:t> </a:t>
            </a:r>
            <a:r>
              <a:rPr dirty="0" sz="900" spc="15">
                <a:latin typeface="Lucida Sans Typewriter"/>
                <a:cs typeface="Lucida Sans Typewriter"/>
              </a:rPr>
              <a:t>int</a:t>
            </a:r>
            <a:r>
              <a:rPr dirty="0" sz="900" spc="-190">
                <a:latin typeface="Lucida Sans Typewriter"/>
                <a:cs typeface="Lucida Sans Typewriter"/>
              </a:rPr>
              <a:t> </a:t>
            </a:r>
            <a:r>
              <a:rPr dirty="0" sz="1100" spc="20">
                <a:latin typeface="Lucida Sans"/>
                <a:cs typeface="Lucida Sans"/>
              </a:rPr>
              <a:t>between</a:t>
            </a:r>
            <a:r>
              <a:rPr dirty="0" sz="1100" spc="5">
                <a:latin typeface="Lucida Sans"/>
                <a:cs typeface="Lucida Sans"/>
              </a:rPr>
              <a:t> </a:t>
            </a:r>
            <a:r>
              <a:rPr dirty="0" sz="900" spc="15">
                <a:latin typeface="Lucida Sans Typewriter"/>
                <a:cs typeface="Lucida Sans Typewriter"/>
              </a:rPr>
              <a:t>-2</a:t>
            </a:r>
            <a:r>
              <a:rPr dirty="0" baseline="23148" sz="900" spc="15">
                <a:latin typeface="Lucida Sans Typewriter"/>
                <a:cs typeface="Lucida Sans Typewriter"/>
              </a:rPr>
              <a:t>31</a:t>
            </a:r>
            <a:r>
              <a:rPr dirty="0" baseline="23148" sz="900" spc="-15">
                <a:latin typeface="Lucida Sans Typewriter"/>
                <a:cs typeface="Lucida Sans Typewriter"/>
              </a:rPr>
              <a:t> </a:t>
            </a:r>
            <a:r>
              <a:rPr dirty="0" sz="1100" spc="10">
                <a:latin typeface="Lucida Sans"/>
                <a:cs typeface="Lucida Sans"/>
              </a:rPr>
              <a:t>and</a:t>
            </a:r>
            <a:r>
              <a:rPr dirty="0" sz="1100" spc="5">
                <a:latin typeface="Lucida Sans"/>
                <a:cs typeface="Lucida Sans"/>
              </a:rPr>
              <a:t> </a:t>
            </a:r>
            <a:r>
              <a:rPr dirty="0" sz="900" spc="15">
                <a:latin typeface="Lucida Sans Typewriter"/>
                <a:cs typeface="Lucida Sans Typewriter"/>
              </a:rPr>
              <a:t>2</a:t>
            </a:r>
            <a:r>
              <a:rPr dirty="0" baseline="23148" sz="900" spc="15">
                <a:latin typeface="Lucida Sans Typewriter"/>
                <a:cs typeface="Lucida Sans Typewriter"/>
              </a:rPr>
              <a:t>31</a:t>
            </a:r>
            <a:r>
              <a:rPr dirty="0" baseline="23148" sz="900" spc="15">
                <a:latin typeface="Lucida Sans Typewriter"/>
                <a:cs typeface="Lucida Sans Typewriter"/>
              </a:rPr>
              <a:t> </a:t>
            </a:r>
            <a:r>
              <a:rPr dirty="0" sz="900" spc="15">
                <a:latin typeface="Lucida Sans Typewriter"/>
                <a:cs typeface="Lucida Sans Typewriter"/>
              </a:rPr>
              <a:t>-</a:t>
            </a:r>
            <a:r>
              <a:rPr dirty="0" sz="900" spc="15">
                <a:latin typeface="Lucida Sans Typewriter"/>
                <a:cs typeface="Lucida Sans Typewriter"/>
              </a:rPr>
              <a:t> </a:t>
            </a:r>
            <a:r>
              <a:rPr dirty="0" sz="900" spc="15">
                <a:latin typeface="Lucida Sans Typewriter"/>
                <a:cs typeface="Lucida Sans Typewriter"/>
              </a:rPr>
              <a:t>1</a:t>
            </a:r>
            <a:r>
              <a:rPr dirty="0" sz="1100" spc="5">
                <a:latin typeface="Lucida Sans"/>
                <a:cs typeface="Lucida Sans"/>
              </a:rPr>
              <a:t>.</a:t>
            </a:r>
            <a:endParaRPr sz="1100">
              <a:latin typeface="Lucida Sans"/>
              <a:cs typeface="Lucida Sans"/>
            </a:endParaRPr>
          </a:p>
          <a:p>
            <a:pPr marL="406400">
              <a:lnSpc>
                <a:spcPct val="100000"/>
              </a:lnSpc>
              <a:spcBef>
                <a:spcPts val="500"/>
              </a:spcBef>
            </a:pPr>
            <a:r>
              <a:rPr dirty="0" sz="1100" spc="10">
                <a:solidFill>
                  <a:srgbClr val="005493"/>
                </a:solidFill>
                <a:latin typeface="Lucida Sans"/>
                <a:cs typeface="Lucida Sans"/>
              </a:rPr>
              <a:t>Hash</a:t>
            </a:r>
            <a:r>
              <a:rPr dirty="0" sz="1100" spc="5">
                <a:solidFill>
                  <a:srgbClr val="005493"/>
                </a:solidFill>
                <a:latin typeface="Lucida Sans"/>
                <a:cs typeface="Lucida Sans"/>
              </a:rPr>
              <a:t> function. </a:t>
            </a:r>
            <a:r>
              <a:rPr dirty="0" sz="1100" spc="15">
                <a:solidFill>
                  <a:srgbClr val="005493"/>
                </a:solidFill>
                <a:latin typeface="Lucida Sans"/>
                <a:cs typeface="Lucida Sans"/>
              </a:rPr>
              <a:t> </a:t>
            </a:r>
            <a:r>
              <a:rPr dirty="0" sz="1100" spc="10">
                <a:latin typeface="Lucida Sans"/>
                <a:cs typeface="Lucida Sans"/>
              </a:rPr>
              <a:t>An </a:t>
            </a:r>
            <a:r>
              <a:rPr dirty="0" sz="900" spc="15">
                <a:latin typeface="Lucida Sans Typewriter"/>
                <a:cs typeface="Lucida Sans Typewriter"/>
              </a:rPr>
              <a:t>int</a:t>
            </a:r>
            <a:r>
              <a:rPr dirty="0" sz="900" spc="-185">
                <a:latin typeface="Lucida Sans Typewriter"/>
                <a:cs typeface="Lucida Sans Typewriter"/>
              </a:rPr>
              <a:t> </a:t>
            </a:r>
            <a:r>
              <a:rPr dirty="0" sz="1100" spc="20">
                <a:latin typeface="Lucida Sans"/>
                <a:cs typeface="Lucida Sans"/>
              </a:rPr>
              <a:t>between</a:t>
            </a:r>
            <a:r>
              <a:rPr dirty="0" sz="1100" spc="10">
                <a:latin typeface="Lucida Sans"/>
                <a:cs typeface="Lucida Sans"/>
              </a:rPr>
              <a:t> </a:t>
            </a:r>
            <a:r>
              <a:rPr dirty="0" sz="900" spc="15">
                <a:latin typeface="Lucida Sans Typewriter"/>
                <a:cs typeface="Lucida Sans Typewriter"/>
              </a:rPr>
              <a:t>0</a:t>
            </a:r>
            <a:r>
              <a:rPr dirty="0" sz="900" spc="-190">
                <a:latin typeface="Lucida Sans Typewriter"/>
                <a:cs typeface="Lucida Sans Typewriter"/>
              </a:rPr>
              <a:t> </a:t>
            </a:r>
            <a:r>
              <a:rPr dirty="0" sz="1100" spc="10">
                <a:latin typeface="Lucida Sans"/>
                <a:cs typeface="Lucida Sans"/>
              </a:rPr>
              <a:t>and </a:t>
            </a:r>
            <a:r>
              <a:rPr dirty="0" sz="900" spc="15">
                <a:latin typeface="Lucida Sans Typewriter"/>
                <a:cs typeface="Lucida Sans Typewriter"/>
              </a:rPr>
              <a:t>M</a:t>
            </a:r>
            <a:r>
              <a:rPr dirty="0" sz="900" spc="25">
                <a:latin typeface="Lucida Sans Typewriter"/>
                <a:cs typeface="Lucida Sans Typewriter"/>
              </a:rPr>
              <a:t> </a:t>
            </a:r>
            <a:r>
              <a:rPr dirty="0" sz="900" spc="15">
                <a:latin typeface="Lucida Sans Typewriter"/>
                <a:cs typeface="Lucida Sans Typewriter"/>
              </a:rPr>
              <a:t>-</a:t>
            </a:r>
            <a:r>
              <a:rPr dirty="0" sz="900" spc="20">
                <a:latin typeface="Lucida Sans Typewriter"/>
                <a:cs typeface="Lucida Sans Typewriter"/>
              </a:rPr>
              <a:t> </a:t>
            </a:r>
            <a:r>
              <a:rPr dirty="0" sz="900" spc="15">
                <a:latin typeface="Lucida Sans Typewriter"/>
                <a:cs typeface="Lucida Sans Typewriter"/>
              </a:rPr>
              <a:t>1</a:t>
            </a:r>
            <a:r>
              <a:rPr dirty="0" sz="900" spc="-185">
                <a:latin typeface="Lucida Sans Typewriter"/>
                <a:cs typeface="Lucida Sans Typewriter"/>
              </a:rPr>
              <a:t> </a:t>
            </a:r>
            <a:r>
              <a:rPr dirty="0" sz="1100" spc="5">
                <a:latin typeface="Lucida Sans"/>
                <a:cs typeface="Lucida Sans"/>
              </a:rPr>
              <a:t>(for</a:t>
            </a:r>
            <a:r>
              <a:rPr dirty="0" sz="1100" spc="10">
                <a:latin typeface="Lucida Sans"/>
                <a:cs typeface="Lucida Sans"/>
              </a:rPr>
              <a:t> use</a:t>
            </a:r>
            <a:r>
              <a:rPr dirty="0" sz="1100" spc="5">
                <a:latin typeface="Lucida Sans"/>
                <a:cs typeface="Lucida Sans"/>
              </a:rPr>
              <a:t> </a:t>
            </a:r>
            <a:r>
              <a:rPr dirty="0" sz="1100" spc="10">
                <a:latin typeface="Lucida Sans"/>
                <a:cs typeface="Lucida Sans"/>
              </a:rPr>
              <a:t>as </a:t>
            </a:r>
            <a:r>
              <a:rPr dirty="0" sz="1100" spc="15">
                <a:latin typeface="Lucida Sans"/>
                <a:cs typeface="Lucida Sans"/>
              </a:rPr>
              <a:t>array</a:t>
            </a:r>
            <a:r>
              <a:rPr dirty="0" sz="1100" spc="10">
                <a:latin typeface="Lucida Sans"/>
                <a:cs typeface="Lucida Sans"/>
              </a:rPr>
              <a:t> </a:t>
            </a:r>
            <a:r>
              <a:rPr dirty="0" sz="1100" spc="5">
                <a:latin typeface="Lucida Sans"/>
                <a:cs typeface="Lucida Sans"/>
              </a:rPr>
              <a:t>index).</a:t>
            </a:r>
            <a:endParaRPr sz="1100">
              <a:latin typeface="Lucida Sans"/>
              <a:cs typeface="Lucida Sans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050">
              <a:latin typeface="Lucida Sans"/>
              <a:cs typeface="Lucida Sans"/>
            </a:endParaRPr>
          </a:p>
          <a:p>
            <a:pPr marL="3480435">
              <a:lnSpc>
                <a:spcPct val="100000"/>
              </a:lnSpc>
            </a:pPr>
            <a:r>
              <a:rPr dirty="0" sz="750" spc="5">
                <a:solidFill>
                  <a:srgbClr val="8D3124"/>
                </a:solidFill>
                <a:latin typeface="Lucida Sans"/>
                <a:cs typeface="Lucida Sans"/>
              </a:rPr>
              <a:t>typically</a:t>
            </a:r>
            <a:r>
              <a:rPr dirty="0" sz="750" spc="-15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dirty="0" sz="750" spc="-5">
                <a:solidFill>
                  <a:srgbClr val="8D3124"/>
                </a:solidFill>
                <a:latin typeface="Lucida Sans"/>
                <a:cs typeface="Lucida Sans"/>
              </a:rPr>
              <a:t>a</a:t>
            </a:r>
            <a:r>
              <a:rPr dirty="0" sz="750" spc="-10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dirty="0" sz="750" spc="-5">
                <a:solidFill>
                  <a:srgbClr val="8D3124"/>
                </a:solidFill>
                <a:latin typeface="Lucida Sans"/>
                <a:cs typeface="Lucida Sans"/>
              </a:rPr>
              <a:t>prime</a:t>
            </a:r>
            <a:r>
              <a:rPr dirty="0" sz="750" spc="-10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dirty="0" sz="750" spc="-5">
                <a:solidFill>
                  <a:srgbClr val="8D3124"/>
                </a:solidFill>
                <a:latin typeface="Lucida Sans"/>
                <a:cs typeface="Lucida Sans"/>
              </a:rPr>
              <a:t>or</a:t>
            </a:r>
            <a:r>
              <a:rPr dirty="0" sz="750" spc="-10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dirty="0" sz="750" spc="5">
                <a:solidFill>
                  <a:srgbClr val="8D3124"/>
                </a:solidFill>
                <a:latin typeface="Lucida Sans"/>
                <a:cs typeface="Lucida Sans"/>
              </a:rPr>
              <a:t>power</a:t>
            </a:r>
            <a:r>
              <a:rPr dirty="0" sz="750" spc="-10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dirty="0" sz="750" spc="-5">
                <a:solidFill>
                  <a:srgbClr val="8D3124"/>
                </a:solidFill>
                <a:latin typeface="Lucida Sans"/>
                <a:cs typeface="Lucida Sans"/>
              </a:rPr>
              <a:t>of</a:t>
            </a:r>
            <a:r>
              <a:rPr dirty="0" sz="750" spc="-10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dirty="0" sz="750" spc="-5">
                <a:solidFill>
                  <a:srgbClr val="8D3124"/>
                </a:solidFill>
                <a:latin typeface="Lucida Sans"/>
                <a:cs typeface="Lucida Sans"/>
              </a:rPr>
              <a:t>2</a:t>
            </a:r>
            <a:endParaRPr sz="750">
              <a:latin typeface="Lucida Sans"/>
              <a:cs typeface="Lucida Sans"/>
            </a:endParaRPr>
          </a:p>
          <a:p>
            <a:pPr algn="ctr" marL="4794885">
              <a:lnSpc>
                <a:spcPct val="100000"/>
              </a:lnSpc>
              <a:spcBef>
                <a:spcPts val="595"/>
              </a:spcBef>
            </a:pPr>
            <a:r>
              <a:rPr dirty="0" sz="750" spc="-5">
                <a:latin typeface="Lucida Sans Typewriter"/>
                <a:cs typeface="Lucida Sans Typewriter"/>
              </a:rPr>
              <a:t>x</a:t>
            </a:r>
            <a:endParaRPr sz="750">
              <a:latin typeface="Lucida Sans Typewriter"/>
              <a:cs typeface="Lucida Sans Typewriter"/>
            </a:endParaRPr>
          </a:p>
          <a:p>
            <a:pPr>
              <a:lnSpc>
                <a:spcPct val="100000"/>
              </a:lnSpc>
            </a:pPr>
            <a:endParaRPr sz="900">
              <a:latin typeface="Lucida Sans Typewriter"/>
              <a:cs typeface="Lucida Sans Typewriter"/>
            </a:endParaRPr>
          </a:p>
          <a:p>
            <a:pPr>
              <a:lnSpc>
                <a:spcPct val="100000"/>
              </a:lnSpc>
            </a:pPr>
            <a:endParaRPr sz="900">
              <a:latin typeface="Lucida Sans Typewriter"/>
              <a:cs typeface="Lucida Sans Typewriter"/>
            </a:endParaRPr>
          </a:p>
          <a:p>
            <a:pPr>
              <a:lnSpc>
                <a:spcPct val="100000"/>
              </a:lnSpc>
            </a:pPr>
            <a:endParaRPr sz="900">
              <a:latin typeface="Lucida Sans Typewriter"/>
              <a:cs typeface="Lucida Sans Typewriter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000">
              <a:latin typeface="Lucida Sans Typewriter"/>
              <a:cs typeface="Lucida Sans Typewriter"/>
            </a:endParaRPr>
          </a:p>
          <a:p>
            <a:pPr marL="1229360">
              <a:lnSpc>
                <a:spcPct val="100000"/>
              </a:lnSpc>
              <a:spcBef>
                <a:spcPts val="5"/>
              </a:spcBef>
            </a:pPr>
            <a:r>
              <a:rPr dirty="0" sz="750" spc="15" b="1">
                <a:latin typeface="Tahoma"/>
                <a:cs typeface="Tahoma"/>
              </a:rPr>
              <a:t>bug</a:t>
            </a:r>
            <a:endParaRPr sz="750">
              <a:latin typeface="Tahoma"/>
              <a:cs typeface="Tahoma"/>
            </a:endParaRPr>
          </a:p>
          <a:p>
            <a:pPr algn="ctr" marL="4773930">
              <a:lnSpc>
                <a:spcPct val="100000"/>
              </a:lnSpc>
              <a:spcBef>
                <a:spcPts val="765"/>
              </a:spcBef>
            </a:pPr>
            <a:r>
              <a:rPr dirty="0" sz="750" spc="-5">
                <a:latin typeface="Lucida Sans Typewriter"/>
                <a:cs typeface="Lucida Sans Typewriter"/>
              </a:rPr>
              <a:t>x.hashCode()</a:t>
            </a:r>
            <a:endParaRPr sz="750">
              <a:latin typeface="Lucida Sans Typewriter"/>
              <a:cs typeface="Lucida Sans Typewriter"/>
            </a:endParaRPr>
          </a:p>
          <a:p>
            <a:pPr>
              <a:lnSpc>
                <a:spcPct val="100000"/>
              </a:lnSpc>
            </a:pPr>
            <a:endParaRPr sz="900">
              <a:latin typeface="Lucida Sans Typewriter"/>
              <a:cs typeface="Lucida Sans Typewriter"/>
            </a:endParaRPr>
          </a:p>
          <a:p>
            <a:pPr>
              <a:lnSpc>
                <a:spcPct val="100000"/>
              </a:lnSpc>
            </a:pPr>
            <a:endParaRPr sz="900">
              <a:latin typeface="Lucida Sans Typewriter"/>
              <a:cs typeface="Lucida Sans Typewriter"/>
            </a:endParaRPr>
          </a:p>
          <a:p>
            <a:pPr>
              <a:lnSpc>
                <a:spcPct val="100000"/>
              </a:lnSpc>
            </a:pPr>
            <a:endParaRPr sz="900">
              <a:latin typeface="Lucida Sans Typewriter"/>
              <a:cs typeface="Lucida Sans Typewriter"/>
            </a:endParaRPr>
          </a:p>
          <a:p>
            <a:pPr>
              <a:lnSpc>
                <a:spcPct val="100000"/>
              </a:lnSpc>
            </a:pPr>
            <a:endParaRPr sz="900">
              <a:latin typeface="Lucida Sans Typewriter"/>
              <a:cs typeface="Lucida Sans Typewriter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800">
              <a:latin typeface="Lucida Sans Typewriter"/>
              <a:cs typeface="Lucida Sans Typewriter"/>
            </a:endParaRPr>
          </a:p>
          <a:p>
            <a:pPr marL="1229360">
              <a:lnSpc>
                <a:spcPts val="894"/>
              </a:lnSpc>
            </a:pPr>
            <a:r>
              <a:rPr dirty="0" sz="750" spc="40" b="1">
                <a:latin typeface="Tahoma"/>
                <a:cs typeface="Tahoma"/>
              </a:rPr>
              <a:t>1-in-a-billion</a:t>
            </a:r>
            <a:r>
              <a:rPr dirty="0" sz="750" spc="-5" b="1">
                <a:latin typeface="Tahoma"/>
                <a:cs typeface="Tahoma"/>
              </a:rPr>
              <a:t> </a:t>
            </a:r>
            <a:r>
              <a:rPr dirty="0" sz="750" spc="15" b="1">
                <a:latin typeface="Tahoma"/>
                <a:cs typeface="Tahoma"/>
              </a:rPr>
              <a:t>bug</a:t>
            </a:r>
            <a:endParaRPr sz="750">
              <a:latin typeface="Tahoma"/>
              <a:cs typeface="Tahoma"/>
            </a:endParaRPr>
          </a:p>
          <a:p>
            <a:pPr algn="ctr" marL="4774565">
              <a:lnSpc>
                <a:spcPts val="894"/>
              </a:lnSpc>
            </a:pPr>
            <a:r>
              <a:rPr dirty="0" sz="750" spc="-5">
                <a:latin typeface="Lucida Sans Typewriter"/>
                <a:cs typeface="Lucida Sans Typewriter"/>
              </a:rPr>
              <a:t>hash(x)</a:t>
            </a:r>
            <a:endParaRPr sz="750">
              <a:latin typeface="Lucida Sans Typewriter"/>
              <a:cs typeface="Lucida Sans Typewriter"/>
            </a:endParaRPr>
          </a:p>
          <a:p>
            <a:pPr marL="2503170">
              <a:lnSpc>
                <a:spcPct val="100000"/>
              </a:lnSpc>
              <a:spcBef>
                <a:spcPts val="80"/>
              </a:spcBef>
            </a:pPr>
            <a:r>
              <a:rPr dirty="0" sz="650">
                <a:solidFill>
                  <a:srgbClr val="8D3124"/>
                </a:solidFill>
                <a:latin typeface="Lucida Sans Typewriter"/>
                <a:cs typeface="Lucida Sans Typewriter"/>
              </a:rPr>
              <a:t>hashCode()</a:t>
            </a:r>
            <a:r>
              <a:rPr dirty="0" sz="650" spc="-160">
                <a:solidFill>
                  <a:srgbClr val="8D3124"/>
                </a:solidFill>
                <a:latin typeface="Lucida Sans Typewriter"/>
                <a:cs typeface="Lucida Sans Typewriter"/>
              </a:rPr>
              <a:t> </a:t>
            </a:r>
            <a:r>
              <a:rPr dirty="0" sz="750" spc="-5">
                <a:solidFill>
                  <a:srgbClr val="8D3124"/>
                </a:solidFill>
                <a:latin typeface="Lucida Sans"/>
                <a:cs typeface="Lucida Sans"/>
              </a:rPr>
              <a:t>of</a:t>
            </a:r>
            <a:r>
              <a:rPr dirty="0" sz="750" spc="-5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dirty="0" sz="650">
                <a:solidFill>
                  <a:srgbClr val="8D3124"/>
                </a:solidFill>
                <a:latin typeface="Lucida Sans Typewriter"/>
                <a:cs typeface="Lucida Sans Typewriter"/>
              </a:rPr>
              <a:t>"polygenelubricants"</a:t>
            </a:r>
            <a:r>
              <a:rPr dirty="0" sz="650" spc="-160">
                <a:solidFill>
                  <a:srgbClr val="8D3124"/>
                </a:solidFill>
                <a:latin typeface="Lucida Sans Typewriter"/>
                <a:cs typeface="Lucida Sans Typewriter"/>
              </a:rPr>
              <a:t> </a:t>
            </a:r>
            <a:r>
              <a:rPr dirty="0" sz="750" spc="-5">
                <a:solidFill>
                  <a:srgbClr val="8D3124"/>
                </a:solidFill>
                <a:latin typeface="Lucida Sans"/>
                <a:cs typeface="Lucida Sans"/>
              </a:rPr>
              <a:t>is</a:t>
            </a:r>
            <a:r>
              <a:rPr dirty="0" sz="750" spc="-5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dirty="0" sz="750" spc="-5">
                <a:solidFill>
                  <a:srgbClr val="8D3124"/>
                </a:solidFill>
                <a:latin typeface="Lucida Sans Unicode"/>
                <a:cs typeface="Lucida Sans Unicode"/>
              </a:rPr>
              <a:t>-</a:t>
            </a:r>
            <a:r>
              <a:rPr dirty="0" sz="750" spc="-5">
                <a:solidFill>
                  <a:srgbClr val="8D3124"/>
                </a:solidFill>
                <a:latin typeface="Lucida Sans"/>
                <a:cs typeface="Lucida Sans"/>
              </a:rPr>
              <a:t>2</a:t>
            </a:r>
            <a:r>
              <a:rPr dirty="0" baseline="22222" sz="750" spc="-7">
                <a:solidFill>
                  <a:srgbClr val="8D3124"/>
                </a:solidFill>
                <a:latin typeface="Lucida Sans"/>
                <a:cs typeface="Lucida Sans"/>
              </a:rPr>
              <a:t>31</a:t>
            </a:r>
            <a:endParaRPr baseline="22222" sz="750">
              <a:latin typeface="Lucida Sans"/>
              <a:cs typeface="Lucida Sans"/>
            </a:endParaRPr>
          </a:p>
          <a:p>
            <a:pPr>
              <a:lnSpc>
                <a:spcPct val="100000"/>
              </a:lnSpc>
            </a:pPr>
            <a:endParaRPr sz="900">
              <a:latin typeface="Lucida Sans"/>
              <a:cs typeface="Lucida Sans"/>
            </a:endParaRPr>
          </a:p>
          <a:p>
            <a:pPr>
              <a:lnSpc>
                <a:spcPct val="100000"/>
              </a:lnSpc>
            </a:pPr>
            <a:endParaRPr sz="900">
              <a:latin typeface="Lucida Sans"/>
              <a:cs typeface="Lucida Sans"/>
            </a:endParaRPr>
          </a:p>
          <a:p>
            <a:pPr>
              <a:lnSpc>
                <a:spcPct val="100000"/>
              </a:lnSpc>
            </a:pPr>
            <a:endParaRPr sz="900">
              <a:latin typeface="Lucida Sans"/>
              <a:cs typeface="Lucida Sans"/>
            </a:endParaRPr>
          </a:p>
          <a:p>
            <a:pPr>
              <a:lnSpc>
                <a:spcPct val="100000"/>
              </a:lnSpc>
            </a:pPr>
            <a:endParaRPr sz="900">
              <a:latin typeface="Lucida Sans"/>
              <a:cs typeface="Lucida Sans"/>
            </a:endParaRPr>
          </a:p>
          <a:p>
            <a:pPr>
              <a:lnSpc>
                <a:spcPct val="100000"/>
              </a:lnSpc>
            </a:pPr>
            <a:endParaRPr sz="900">
              <a:latin typeface="Lucida Sans"/>
              <a:cs typeface="Lucida Sans"/>
            </a:endParaRPr>
          </a:p>
          <a:p>
            <a:pPr marL="1229360">
              <a:lnSpc>
                <a:spcPct val="100000"/>
              </a:lnSpc>
            </a:pPr>
            <a:r>
              <a:rPr dirty="0" sz="750" b="1">
                <a:latin typeface="Tahoma"/>
                <a:cs typeface="Tahoma"/>
              </a:rPr>
              <a:t>correct</a:t>
            </a:r>
            <a:endParaRPr sz="750">
              <a:latin typeface="Tahoma"/>
              <a:cs typeface="Tahoma"/>
            </a:endParaRPr>
          </a:p>
        </p:txBody>
      </p:sp>
      <p:grpSp>
        <p:nvGrpSpPr>
          <p:cNvPr id="91" name="object 91"/>
          <p:cNvGrpSpPr/>
          <p:nvPr/>
        </p:nvGrpSpPr>
        <p:grpSpPr>
          <a:xfrm>
            <a:off x="11990387" y="7419331"/>
            <a:ext cx="57150" cy="673100"/>
            <a:chOff x="11990387" y="7419331"/>
            <a:chExt cx="57150" cy="673100"/>
          </a:xfrm>
        </p:grpSpPr>
        <p:sp>
          <p:nvSpPr>
            <p:cNvPr id="92" name="object 92"/>
            <p:cNvSpPr/>
            <p:nvPr/>
          </p:nvSpPr>
          <p:spPr>
            <a:xfrm>
              <a:off x="12018813" y="7419331"/>
              <a:ext cx="635" cy="91440"/>
            </a:xfrm>
            <a:custGeom>
              <a:avLst/>
              <a:gdLst/>
              <a:ahLst/>
              <a:cxnLst/>
              <a:rect l="l" t="t" r="r" b="b"/>
              <a:pathLst>
                <a:path w="634" h="91440">
                  <a:moveTo>
                    <a:pt x="0" y="91335"/>
                  </a:moveTo>
                  <a:lnTo>
                    <a:pt x="2" y="85410"/>
                  </a:lnTo>
                  <a:lnTo>
                    <a:pt x="42" y="0"/>
                  </a:lnTo>
                </a:path>
              </a:pathLst>
            </a:custGeom>
            <a:ln w="118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3" name="object 93"/>
            <p:cNvSpPr/>
            <p:nvPr/>
          </p:nvSpPr>
          <p:spPr>
            <a:xfrm>
              <a:off x="11990387" y="7490511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>
                  <a:moveTo>
                    <a:pt x="0" y="0"/>
                  </a:moveTo>
                  <a:lnTo>
                    <a:pt x="28409" y="56883"/>
                  </a:lnTo>
                  <a:lnTo>
                    <a:pt x="49760" y="14230"/>
                  </a:lnTo>
                  <a:lnTo>
                    <a:pt x="28428" y="14230"/>
                  </a:lnTo>
                  <a:lnTo>
                    <a:pt x="0" y="0"/>
                  </a:lnTo>
                  <a:close/>
                </a:path>
                <a:path w="57150" h="57150">
                  <a:moveTo>
                    <a:pt x="56870" y="26"/>
                  </a:moveTo>
                  <a:lnTo>
                    <a:pt x="28428" y="14230"/>
                  </a:lnTo>
                  <a:lnTo>
                    <a:pt x="49760" y="14230"/>
                  </a:lnTo>
                  <a:lnTo>
                    <a:pt x="56870" y="2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4" name="object 94"/>
            <p:cNvSpPr/>
            <p:nvPr/>
          </p:nvSpPr>
          <p:spPr>
            <a:xfrm>
              <a:off x="12018813" y="7964342"/>
              <a:ext cx="635" cy="91440"/>
            </a:xfrm>
            <a:custGeom>
              <a:avLst/>
              <a:gdLst/>
              <a:ahLst/>
              <a:cxnLst/>
              <a:rect l="l" t="t" r="r" b="b"/>
              <a:pathLst>
                <a:path w="634" h="91440">
                  <a:moveTo>
                    <a:pt x="0" y="91335"/>
                  </a:moveTo>
                  <a:lnTo>
                    <a:pt x="2" y="85410"/>
                  </a:lnTo>
                  <a:lnTo>
                    <a:pt x="42" y="0"/>
                  </a:lnTo>
                </a:path>
              </a:pathLst>
            </a:custGeom>
            <a:ln w="118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5" name="object 95"/>
            <p:cNvSpPr/>
            <p:nvPr/>
          </p:nvSpPr>
          <p:spPr>
            <a:xfrm>
              <a:off x="11990387" y="8035522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>
                  <a:moveTo>
                    <a:pt x="0" y="0"/>
                  </a:moveTo>
                  <a:lnTo>
                    <a:pt x="28409" y="56883"/>
                  </a:lnTo>
                  <a:lnTo>
                    <a:pt x="49760" y="14230"/>
                  </a:lnTo>
                  <a:lnTo>
                    <a:pt x="28428" y="14230"/>
                  </a:lnTo>
                  <a:lnTo>
                    <a:pt x="0" y="0"/>
                  </a:lnTo>
                  <a:close/>
                </a:path>
                <a:path w="57150" h="57150">
                  <a:moveTo>
                    <a:pt x="56870" y="26"/>
                  </a:moveTo>
                  <a:lnTo>
                    <a:pt x="28428" y="14230"/>
                  </a:lnTo>
                  <a:lnTo>
                    <a:pt x="49760" y="14230"/>
                  </a:lnTo>
                  <a:lnTo>
                    <a:pt x="56870" y="2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6" name="object 96"/>
          <p:cNvSpPr txBox="1"/>
          <p:nvPr/>
        </p:nvSpPr>
        <p:spPr>
          <a:xfrm>
            <a:off x="6246003" y="9350039"/>
            <a:ext cx="115570" cy="109855"/>
          </a:xfrm>
          <a:prstGeom prst="rect">
            <a:avLst/>
          </a:prstGeom>
        </p:spPr>
        <p:txBody>
          <a:bodyPr wrap="square" lIns="0" tIns="88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dirty="0" sz="550" spc="5">
                <a:latin typeface="Lucida Sans"/>
                <a:cs typeface="Lucida Sans"/>
              </a:rPr>
              <a:t>11</a:t>
            </a:r>
            <a:endParaRPr sz="550">
              <a:latin typeface="Lucida Sans"/>
              <a:cs typeface="Lucida Sans"/>
            </a:endParaRPr>
          </a:p>
        </p:txBody>
      </p:sp>
      <p:sp>
        <p:nvSpPr>
          <p:cNvPr id="97" name="object 97"/>
          <p:cNvSpPr txBox="1"/>
          <p:nvPr/>
        </p:nvSpPr>
        <p:spPr>
          <a:xfrm>
            <a:off x="12492206" y="9350039"/>
            <a:ext cx="115570" cy="109855"/>
          </a:xfrm>
          <a:prstGeom prst="rect">
            <a:avLst/>
          </a:prstGeom>
        </p:spPr>
        <p:txBody>
          <a:bodyPr wrap="square" lIns="0" tIns="88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dirty="0" sz="550" spc="5">
                <a:latin typeface="Lucida Sans"/>
                <a:cs typeface="Lucida Sans"/>
              </a:rPr>
              <a:t>12</a:t>
            </a:r>
            <a:endParaRPr sz="550">
              <a:latin typeface="Lucida Sans"/>
              <a:cs typeface="Lucida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246003" y="4615831"/>
            <a:ext cx="115570" cy="1111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550" spc="5">
                <a:latin typeface="Lucida Sans"/>
                <a:cs typeface="Lucida Sans"/>
              </a:rPr>
              <a:t>13</a:t>
            </a:r>
            <a:endParaRPr sz="550">
              <a:latin typeface="Lucida Sans"/>
              <a:cs typeface="Lucida San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39997" y="396219"/>
            <a:ext cx="2146935" cy="2247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00" spc="25">
                <a:latin typeface="Arial"/>
                <a:cs typeface="Arial"/>
              </a:rPr>
              <a:t>Uniform</a:t>
            </a:r>
            <a:r>
              <a:rPr dirty="0" sz="1300" spc="15">
                <a:latin typeface="Arial"/>
                <a:cs typeface="Arial"/>
              </a:rPr>
              <a:t> </a:t>
            </a:r>
            <a:r>
              <a:rPr dirty="0" sz="1300">
                <a:latin typeface="Arial"/>
                <a:cs typeface="Arial"/>
              </a:rPr>
              <a:t>hashing</a:t>
            </a:r>
            <a:r>
              <a:rPr dirty="0" sz="1300" spc="15">
                <a:latin typeface="Arial"/>
                <a:cs typeface="Arial"/>
              </a:rPr>
              <a:t> </a:t>
            </a:r>
            <a:r>
              <a:rPr dirty="0" sz="1300" spc="-10">
                <a:latin typeface="Arial"/>
                <a:cs typeface="Arial"/>
              </a:rPr>
              <a:t>assumption</a:t>
            </a:r>
            <a:endParaRPr sz="13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39997" y="797869"/>
            <a:ext cx="4830445" cy="487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37800"/>
              </a:lnSpc>
              <a:spcBef>
                <a:spcPts val="95"/>
              </a:spcBef>
            </a:pPr>
            <a:r>
              <a:rPr dirty="0" sz="1100" spc="10">
                <a:solidFill>
                  <a:srgbClr val="005493"/>
                </a:solidFill>
                <a:latin typeface="Lucida Sans"/>
                <a:cs typeface="Lucida Sans"/>
              </a:rPr>
              <a:t>Uniform</a:t>
            </a:r>
            <a:r>
              <a:rPr dirty="0" sz="1100">
                <a:solidFill>
                  <a:srgbClr val="005493"/>
                </a:solidFill>
                <a:latin typeface="Lucida Sans"/>
                <a:cs typeface="Lucida Sans"/>
              </a:rPr>
              <a:t> </a:t>
            </a:r>
            <a:r>
              <a:rPr dirty="0" sz="1100" spc="10">
                <a:solidFill>
                  <a:srgbClr val="005493"/>
                </a:solidFill>
                <a:latin typeface="Lucida Sans"/>
                <a:cs typeface="Lucida Sans"/>
              </a:rPr>
              <a:t>hashing</a:t>
            </a:r>
            <a:r>
              <a:rPr dirty="0" sz="1100" spc="5">
                <a:solidFill>
                  <a:srgbClr val="005493"/>
                </a:solidFill>
                <a:latin typeface="Lucida Sans"/>
                <a:cs typeface="Lucida Sans"/>
              </a:rPr>
              <a:t> </a:t>
            </a:r>
            <a:r>
              <a:rPr dirty="0" sz="1100" spc="10">
                <a:solidFill>
                  <a:srgbClr val="005493"/>
                </a:solidFill>
                <a:latin typeface="Lucida Sans"/>
                <a:cs typeface="Lucida Sans"/>
              </a:rPr>
              <a:t>assumption.</a:t>
            </a:r>
            <a:r>
              <a:rPr dirty="0" sz="1100" spc="355">
                <a:solidFill>
                  <a:srgbClr val="005493"/>
                </a:solidFill>
                <a:latin typeface="Lucida Sans"/>
                <a:cs typeface="Lucida Sans"/>
              </a:rPr>
              <a:t> </a:t>
            </a:r>
            <a:r>
              <a:rPr dirty="0" sz="1100" spc="10">
                <a:latin typeface="Lucida Sans"/>
                <a:cs typeface="Lucida Sans"/>
              </a:rPr>
              <a:t>Each</a:t>
            </a:r>
            <a:r>
              <a:rPr dirty="0" sz="1100" spc="5">
                <a:latin typeface="Lucida Sans"/>
                <a:cs typeface="Lucida Sans"/>
              </a:rPr>
              <a:t> </a:t>
            </a:r>
            <a:r>
              <a:rPr dirty="0" sz="1100" spc="25">
                <a:latin typeface="Lucida Sans"/>
                <a:cs typeface="Lucida Sans"/>
              </a:rPr>
              <a:t>key</a:t>
            </a:r>
            <a:r>
              <a:rPr dirty="0" sz="1100">
                <a:latin typeface="Lucida Sans"/>
                <a:cs typeface="Lucida Sans"/>
              </a:rPr>
              <a:t> </a:t>
            </a:r>
            <a:r>
              <a:rPr dirty="0" sz="1100" spc="5">
                <a:latin typeface="Lucida Sans"/>
                <a:cs typeface="Lucida Sans"/>
              </a:rPr>
              <a:t>is </a:t>
            </a:r>
            <a:r>
              <a:rPr dirty="0" sz="1100" spc="15">
                <a:latin typeface="Lucida Sans"/>
                <a:cs typeface="Lucida Sans"/>
              </a:rPr>
              <a:t>equally</a:t>
            </a:r>
            <a:r>
              <a:rPr dirty="0" sz="1100" spc="5">
                <a:latin typeface="Lucida Sans"/>
                <a:cs typeface="Lucida Sans"/>
              </a:rPr>
              <a:t> </a:t>
            </a:r>
            <a:r>
              <a:rPr dirty="0" sz="1100" spc="15">
                <a:latin typeface="Lucida Sans"/>
                <a:cs typeface="Lucida Sans"/>
              </a:rPr>
              <a:t>likely</a:t>
            </a:r>
            <a:r>
              <a:rPr dirty="0" sz="1100" spc="5">
                <a:latin typeface="Lucida Sans"/>
                <a:cs typeface="Lucida Sans"/>
              </a:rPr>
              <a:t> to</a:t>
            </a:r>
            <a:r>
              <a:rPr dirty="0" sz="1100">
                <a:latin typeface="Lucida Sans"/>
                <a:cs typeface="Lucida Sans"/>
              </a:rPr>
              <a:t> </a:t>
            </a:r>
            <a:r>
              <a:rPr dirty="0" sz="1100" spc="10">
                <a:latin typeface="Lucida Sans"/>
                <a:cs typeface="Lucida Sans"/>
              </a:rPr>
              <a:t>hash</a:t>
            </a:r>
            <a:r>
              <a:rPr dirty="0" sz="1100" spc="5">
                <a:latin typeface="Lucida Sans"/>
                <a:cs typeface="Lucida Sans"/>
              </a:rPr>
              <a:t> to </a:t>
            </a:r>
            <a:r>
              <a:rPr dirty="0" sz="1100" spc="10">
                <a:latin typeface="Lucida Sans"/>
                <a:cs typeface="Lucida Sans"/>
              </a:rPr>
              <a:t>an </a:t>
            </a:r>
            <a:r>
              <a:rPr dirty="0" sz="1100" spc="-335">
                <a:latin typeface="Lucida Sans"/>
                <a:cs typeface="Lucida Sans"/>
              </a:rPr>
              <a:t> </a:t>
            </a:r>
            <a:r>
              <a:rPr dirty="0" sz="1100" spc="5">
                <a:latin typeface="Lucida Sans"/>
                <a:cs typeface="Lucida Sans"/>
              </a:rPr>
              <a:t>integer</a:t>
            </a:r>
            <a:r>
              <a:rPr dirty="0" sz="1100">
                <a:latin typeface="Lucida Sans"/>
                <a:cs typeface="Lucida Sans"/>
              </a:rPr>
              <a:t> </a:t>
            </a:r>
            <a:r>
              <a:rPr dirty="0" sz="1100" spc="20">
                <a:latin typeface="Lucida Sans"/>
                <a:cs typeface="Lucida Sans"/>
              </a:rPr>
              <a:t>between</a:t>
            </a:r>
            <a:r>
              <a:rPr dirty="0" sz="1100" spc="5">
                <a:latin typeface="Lucida Sans"/>
                <a:cs typeface="Lucida Sans"/>
              </a:rPr>
              <a:t> </a:t>
            </a:r>
            <a:r>
              <a:rPr dirty="0" sz="1100" spc="5">
                <a:latin typeface="Times New Roman"/>
                <a:cs typeface="Times New Roman"/>
              </a:rPr>
              <a:t>0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10">
                <a:latin typeface="Lucida Sans"/>
                <a:cs typeface="Lucida Sans"/>
              </a:rPr>
              <a:t>and</a:t>
            </a:r>
            <a:r>
              <a:rPr dirty="0" sz="1100" spc="5">
                <a:latin typeface="Lucida Sans"/>
                <a:cs typeface="Lucida Sans"/>
              </a:rPr>
              <a:t> </a:t>
            </a:r>
            <a:r>
              <a:rPr dirty="0" sz="1100" spc="15" i="1">
                <a:latin typeface="Times New Roman"/>
                <a:cs typeface="Times New Roman"/>
              </a:rPr>
              <a:t>M</a:t>
            </a:r>
            <a:r>
              <a:rPr dirty="0" sz="1100" i="1">
                <a:latin typeface="Times New Roman"/>
                <a:cs typeface="Times New Roman"/>
              </a:rPr>
              <a:t> </a:t>
            </a:r>
            <a:r>
              <a:rPr dirty="0" sz="1100" spc="10">
                <a:latin typeface="Lucida Sans Unicode"/>
                <a:cs typeface="Lucida Sans Unicode"/>
              </a:rPr>
              <a:t>-</a:t>
            </a:r>
            <a:r>
              <a:rPr dirty="0" sz="1100" spc="-70">
                <a:latin typeface="Lucida Sans Unicode"/>
                <a:cs typeface="Lucida Sans Unicode"/>
              </a:rPr>
              <a:t> </a:t>
            </a:r>
            <a:r>
              <a:rPr dirty="0" sz="1100" spc="5">
                <a:latin typeface="Times New Roman"/>
                <a:cs typeface="Times New Roman"/>
              </a:rPr>
              <a:t>1</a:t>
            </a:r>
            <a:r>
              <a:rPr dirty="0" sz="1100" spc="5">
                <a:latin typeface="Lucida Sans"/>
                <a:cs typeface="Lucida Sans"/>
              </a:rPr>
              <a:t>.</a:t>
            </a:r>
            <a:endParaRPr sz="1100">
              <a:latin typeface="Lucida Sans"/>
              <a:cs typeface="Lucida San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39997" y="1782444"/>
            <a:ext cx="4250055" cy="1962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100" spc="5">
                <a:solidFill>
                  <a:srgbClr val="005493"/>
                </a:solidFill>
                <a:latin typeface="Lucida Sans"/>
                <a:cs typeface="Lucida Sans"/>
              </a:rPr>
              <a:t>Bins </a:t>
            </a:r>
            <a:r>
              <a:rPr dirty="0" sz="1100" spc="10">
                <a:solidFill>
                  <a:srgbClr val="005493"/>
                </a:solidFill>
                <a:latin typeface="Lucida Sans"/>
                <a:cs typeface="Lucida Sans"/>
              </a:rPr>
              <a:t>and </a:t>
            </a:r>
            <a:r>
              <a:rPr dirty="0" sz="1100" spc="5">
                <a:solidFill>
                  <a:srgbClr val="005493"/>
                </a:solidFill>
                <a:latin typeface="Lucida Sans"/>
                <a:cs typeface="Lucida Sans"/>
              </a:rPr>
              <a:t>balls. </a:t>
            </a:r>
            <a:r>
              <a:rPr dirty="0" sz="1100" spc="10">
                <a:solidFill>
                  <a:srgbClr val="005493"/>
                </a:solidFill>
                <a:latin typeface="Lucida Sans"/>
                <a:cs typeface="Lucida Sans"/>
              </a:rPr>
              <a:t> </a:t>
            </a:r>
            <a:r>
              <a:rPr dirty="0" sz="1100" spc="20">
                <a:latin typeface="Lucida Sans"/>
                <a:cs typeface="Lucida Sans"/>
              </a:rPr>
              <a:t>Throw</a:t>
            </a:r>
            <a:r>
              <a:rPr dirty="0" sz="1100" spc="10">
                <a:latin typeface="Lucida Sans"/>
                <a:cs typeface="Lucida Sans"/>
              </a:rPr>
              <a:t> </a:t>
            </a:r>
            <a:r>
              <a:rPr dirty="0" sz="1100" spc="5">
                <a:latin typeface="Lucida Sans"/>
                <a:cs typeface="Lucida Sans"/>
              </a:rPr>
              <a:t>balls</a:t>
            </a:r>
            <a:r>
              <a:rPr dirty="0" sz="1100" spc="10">
                <a:latin typeface="Lucida Sans"/>
                <a:cs typeface="Lucida Sans"/>
              </a:rPr>
              <a:t> </a:t>
            </a:r>
            <a:r>
              <a:rPr dirty="0" sz="1100" spc="15">
                <a:latin typeface="Lucida Sans"/>
                <a:cs typeface="Lucida Sans"/>
              </a:rPr>
              <a:t>uniformly</a:t>
            </a:r>
            <a:r>
              <a:rPr dirty="0" sz="1100" spc="5">
                <a:latin typeface="Lucida Sans"/>
                <a:cs typeface="Lucida Sans"/>
              </a:rPr>
              <a:t> at</a:t>
            </a:r>
            <a:r>
              <a:rPr dirty="0" sz="1100" spc="10">
                <a:latin typeface="Lucida Sans"/>
                <a:cs typeface="Lucida Sans"/>
              </a:rPr>
              <a:t> random </a:t>
            </a:r>
            <a:r>
              <a:rPr dirty="0" sz="1100" spc="5">
                <a:latin typeface="Lucida Sans"/>
                <a:cs typeface="Lucida Sans"/>
              </a:rPr>
              <a:t>into </a:t>
            </a:r>
            <a:r>
              <a:rPr dirty="0" sz="1100" spc="15" i="1">
                <a:latin typeface="Times New Roman"/>
                <a:cs typeface="Times New Roman"/>
              </a:rPr>
              <a:t>M</a:t>
            </a:r>
            <a:r>
              <a:rPr dirty="0" sz="1100" spc="80" i="1">
                <a:latin typeface="Times New Roman"/>
                <a:cs typeface="Times New Roman"/>
              </a:rPr>
              <a:t> </a:t>
            </a:r>
            <a:r>
              <a:rPr dirty="0" sz="1100" spc="5">
                <a:latin typeface="Lucida Sans"/>
                <a:cs typeface="Lucida Sans"/>
              </a:rPr>
              <a:t>bins.</a:t>
            </a:r>
            <a:endParaRPr sz="1100">
              <a:latin typeface="Lucida Sans"/>
              <a:cs typeface="Lucida San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39997" y="3168668"/>
            <a:ext cx="4083050" cy="1962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100" spc="15">
                <a:solidFill>
                  <a:srgbClr val="005493"/>
                </a:solidFill>
                <a:latin typeface="Lucida Sans"/>
                <a:cs typeface="Lucida Sans"/>
              </a:rPr>
              <a:t>Birthday</a:t>
            </a:r>
            <a:r>
              <a:rPr dirty="0" sz="1100" spc="5">
                <a:solidFill>
                  <a:srgbClr val="005493"/>
                </a:solidFill>
                <a:latin typeface="Lucida Sans"/>
                <a:cs typeface="Lucida Sans"/>
              </a:rPr>
              <a:t> problem.  </a:t>
            </a:r>
            <a:r>
              <a:rPr dirty="0" sz="1100" spc="10">
                <a:latin typeface="Lucida Sans"/>
                <a:cs typeface="Lucida Sans"/>
              </a:rPr>
              <a:t>Expect </a:t>
            </a:r>
            <a:r>
              <a:rPr dirty="0" sz="1100" spc="35">
                <a:latin typeface="Lucida Sans"/>
                <a:cs typeface="Lucida Sans"/>
              </a:rPr>
              <a:t>two</a:t>
            </a:r>
            <a:r>
              <a:rPr dirty="0" sz="1100" spc="5">
                <a:latin typeface="Lucida Sans"/>
                <a:cs typeface="Lucida Sans"/>
              </a:rPr>
              <a:t> balls in the</a:t>
            </a:r>
            <a:r>
              <a:rPr dirty="0" sz="1100" spc="10">
                <a:latin typeface="Lucida Sans"/>
                <a:cs typeface="Lucida Sans"/>
              </a:rPr>
              <a:t> same</a:t>
            </a:r>
            <a:r>
              <a:rPr dirty="0" sz="1100" spc="5">
                <a:latin typeface="Lucida Sans"/>
                <a:cs typeface="Lucida Sans"/>
              </a:rPr>
              <a:t> </a:t>
            </a:r>
            <a:r>
              <a:rPr dirty="0" sz="1100" spc="10">
                <a:latin typeface="Lucida Sans"/>
                <a:cs typeface="Lucida Sans"/>
              </a:rPr>
              <a:t>bin</a:t>
            </a:r>
            <a:r>
              <a:rPr dirty="0" sz="1100" spc="5">
                <a:latin typeface="Lucida Sans"/>
                <a:cs typeface="Lucida Sans"/>
              </a:rPr>
              <a:t> after </a:t>
            </a:r>
            <a:r>
              <a:rPr dirty="0" sz="1100" spc="10">
                <a:latin typeface="Times New Roman"/>
                <a:cs typeface="Times New Roman"/>
              </a:rPr>
              <a:t>~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974872" y="3168668"/>
            <a:ext cx="1002030" cy="1962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100" spc="55">
                <a:latin typeface="Times New Roman"/>
                <a:cs typeface="Times New Roman"/>
              </a:rPr>
              <a:t>π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15" i="1">
                <a:latin typeface="Times New Roman"/>
                <a:cs typeface="Times New Roman"/>
              </a:rPr>
              <a:t>M</a:t>
            </a:r>
            <a:r>
              <a:rPr dirty="0" sz="1100" spc="-10" i="1">
                <a:latin typeface="Times New Roman"/>
                <a:cs typeface="Times New Roman"/>
              </a:rPr>
              <a:t> </a:t>
            </a:r>
            <a:r>
              <a:rPr dirty="0" sz="1100" spc="5" i="1">
                <a:latin typeface="Times New Roman"/>
                <a:cs typeface="Times New Roman"/>
              </a:rPr>
              <a:t>/</a:t>
            </a:r>
            <a:r>
              <a:rPr dirty="0" sz="1100" spc="260" i="1">
                <a:latin typeface="Times New Roman"/>
                <a:cs typeface="Times New Roman"/>
              </a:rPr>
              <a:t> </a:t>
            </a:r>
            <a:r>
              <a:rPr dirty="0" sz="1100" spc="5">
                <a:latin typeface="Times New Roman"/>
                <a:cs typeface="Times New Roman"/>
              </a:rPr>
              <a:t>2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5">
                <a:latin typeface="Lucida Sans"/>
                <a:cs typeface="Lucida Sans"/>
              </a:rPr>
              <a:t>tosses.</a:t>
            </a:r>
            <a:endParaRPr sz="1100">
              <a:latin typeface="Lucida Sans"/>
              <a:cs typeface="Lucida San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39997" y="3630743"/>
            <a:ext cx="4745990" cy="1962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100" spc="10">
                <a:solidFill>
                  <a:srgbClr val="005493"/>
                </a:solidFill>
                <a:latin typeface="Lucida Sans"/>
                <a:cs typeface="Lucida Sans"/>
              </a:rPr>
              <a:t>Coupon</a:t>
            </a:r>
            <a:r>
              <a:rPr dirty="0" sz="1100" spc="5">
                <a:solidFill>
                  <a:srgbClr val="005493"/>
                </a:solidFill>
                <a:latin typeface="Lucida Sans"/>
                <a:cs typeface="Lucida Sans"/>
              </a:rPr>
              <a:t> </a:t>
            </a:r>
            <a:r>
              <a:rPr dirty="0" sz="1100" spc="-5">
                <a:solidFill>
                  <a:srgbClr val="005493"/>
                </a:solidFill>
                <a:latin typeface="Lucida Sans"/>
                <a:cs typeface="Lucida Sans"/>
              </a:rPr>
              <a:t>collector.</a:t>
            </a:r>
            <a:r>
              <a:rPr dirty="0" sz="1100" spc="360">
                <a:solidFill>
                  <a:srgbClr val="005493"/>
                </a:solidFill>
                <a:latin typeface="Lucida Sans"/>
                <a:cs typeface="Lucida Sans"/>
              </a:rPr>
              <a:t> </a:t>
            </a:r>
            <a:r>
              <a:rPr dirty="0" sz="1100" spc="10">
                <a:latin typeface="Lucida Sans"/>
                <a:cs typeface="Lucida Sans"/>
              </a:rPr>
              <a:t>Expect</a:t>
            </a:r>
            <a:r>
              <a:rPr dirty="0" sz="1100" spc="5">
                <a:latin typeface="Lucida Sans"/>
                <a:cs typeface="Lucida Sans"/>
              </a:rPr>
              <a:t> </a:t>
            </a:r>
            <a:r>
              <a:rPr dirty="0" sz="1100" spc="30">
                <a:latin typeface="Lucida Sans"/>
                <a:cs typeface="Lucida Sans"/>
              </a:rPr>
              <a:t>every</a:t>
            </a:r>
            <a:r>
              <a:rPr dirty="0" sz="1100" spc="10">
                <a:latin typeface="Lucida Sans"/>
                <a:cs typeface="Lucida Sans"/>
              </a:rPr>
              <a:t> bin</a:t>
            </a:r>
            <a:r>
              <a:rPr dirty="0" sz="1100" spc="5">
                <a:latin typeface="Lucida Sans"/>
                <a:cs typeface="Lucida Sans"/>
              </a:rPr>
              <a:t> </a:t>
            </a:r>
            <a:r>
              <a:rPr dirty="0" sz="1100" spc="10">
                <a:latin typeface="Lucida Sans"/>
                <a:cs typeface="Lucida Sans"/>
              </a:rPr>
              <a:t>has</a:t>
            </a:r>
            <a:r>
              <a:rPr dirty="0" sz="1100" spc="5">
                <a:latin typeface="Lucida Sans"/>
                <a:cs typeface="Lucida Sans"/>
              </a:rPr>
              <a:t> </a:t>
            </a:r>
            <a:r>
              <a:rPr dirty="0" sz="1100" spc="10">
                <a:latin typeface="Times New Roman"/>
                <a:cs typeface="Times New Roman"/>
              </a:rPr>
              <a:t>≥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5">
                <a:latin typeface="Times New Roman"/>
                <a:cs typeface="Times New Roman"/>
              </a:rPr>
              <a:t>1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5">
                <a:latin typeface="Lucida Sans"/>
                <a:cs typeface="Lucida Sans"/>
              </a:rPr>
              <a:t>ball after </a:t>
            </a:r>
            <a:r>
              <a:rPr dirty="0" sz="1100" spc="10">
                <a:latin typeface="Times New Roman"/>
                <a:cs typeface="Times New Roman"/>
              </a:rPr>
              <a:t>~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15" i="1">
                <a:latin typeface="Times New Roman"/>
                <a:cs typeface="Times New Roman"/>
              </a:rPr>
              <a:t>M</a:t>
            </a:r>
            <a:r>
              <a:rPr dirty="0" sz="1100" i="1">
                <a:latin typeface="Times New Roman"/>
                <a:cs typeface="Times New Roman"/>
              </a:rPr>
              <a:t> </a:t>
            </a:r>
            <a:r>
              <a:rPr dirty="0" sz="1100" spc="5">
                <a:latin typeface="Times New Roman"/>
                <a:cs typeface="Times New Roman"/>
              </a:rPr>
              <a:t>ln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15" i="1">
                <a:latin typeface="Times New Roman"/>
                <a:cs typeface="Times New Roman"/>
              </a:rPr>
              <a:t>M</a:t>
            </a:r>
            <a:r>
              <a:rPr dirty="0" sz="1100" spc="75" i="1">
                <a:latin typeface="Times New Roman"/>
                <a:cs typeface="Times New Roman"/>
              </a:rPr>
              <a:t> </a:t>
            </a:r>
            <a:r>
              <a:rPr dirty="0" sz="1100" spc="5">
                <a:latin typeface="Lucida Sans"/>
                <a:cs typeface="Lucida Sans"/>
              </a:rPr>
              <a:t>tosses.</a:t>
            </a:r>
            <a:endParaRPr sz="1100">
              <a:latin typeface="Lucida Sans"/>
              <a:cs typeface="Lucida San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39997" y="4032393"/>
            <a:ext cx="4190365" cy="487680"/>
          </a:xfrm>
          <a:prstGeom prst="rect">
            <a:avLst/>
          </a:prstGeom>
        </p:spPr>
        <p:txBody>
          <a:bodyPr wrap="square" lIns="0" tIns="755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95"/>
              </a:spcBef>
            </a:pPr>
            <a:r>
              <a:rPr dirty="0" sz="1100" spc="10">
                <a:solidFill>
                  <a:srgbClr val="005493"/>
                </a:solidFill>
                <a:latin typeface="Lucida Sans"/>
                <a:cs typeface="Lucida Sans"/>
              </a:rPr>
              <a:t>Load</a:t>
            </a:r>
            <a:r>
              <a:rPr dirty="0" sz="1100">
                <a:solidFill>
                  <a:srgbClr val="005493"/>
                </a:solidFill>
                <a:latin typeface="Lucida Sans"/>
                <a:cs typeface="Lucida Sans"/>
              </a:rPr>
              <a:t> </a:t>
            </a:r>
            <a:r>
              <a:rPr dirty="0" sz="1100" spc="10">
                <a:solidFill>
                  <a:srgbClr val="005493"/>
                </a:solidFill>
                <a:latin typeface="Lucida Sans"/>
                <a:cs typeface="Lucida Sans"/>
              </a:rPr>
              <a:t>balancing.</a:t>
            </a:r>
            <a:r>
              <a:rPr dirty="0" sz="1100" spc="355">
                <a:solidFill>
                  <a:srgbClr val="005493"/>
                </a:solidFill>
                <a:latin typeface="Lucida Sans"/>
                <a:cs typeface="Lucida Sans"/>
              </a:rPr>
              <a:t> </a:t>
            </a:r>
            <a:r>
              <a:rPr dirty="0" sz="1100" spc="5">
                <a:latin typeface="Lucida Sans"/>
                <a:cs typeface="Lucida Sans"/>
              </a:rPr>
              <a:t>After </a:t>
            </a:r>
            <a:r>
              <a:rPr dirty="0" sz="1100" spc="15" i="1">
                <a:latin typeface="Times New Roman"/>
                <a:cs typeface="Times New Roman"/>
              </a:rPr>
              <a:t>M</a:t>
            </a:r>
            <a:r>
              <a:rPr dirty="0" sz="1100" spc="75" i="1">
                <a:latin typeface="Times New Roman"/>
                <a:cs typeface="Times New Roman"/>
              </a:rPr>
              <a:t> </a:t>
            </a:r>
            <a:r>
              <a:rPr dirty="0" sz="1100" spc="5">
                <a:latin typeface="Lucida Sans"/>
                <a:cs typeface="Lucida Sans"/>
              </a:rPr>
              <a:t>tosses,</a:t>
            </a:r>
            <a:r>
              <a:rPr dirty="0" sz="1100">
                <a:latin typeface="Lucida Sans"/>
                <a:cs typeface="Lucida Sans"/>
              </a:rPr>
              <a:t> </a:t>
            </a:r>
            <a:r>
              <a:rPr dirty="0" sz="1100" spc="10">
                <a:latin typeface="Lucida Sans"/>
                <a:cs typeface="Lucida Sans"/>
              </a:rPr>
              <a:t>expect</a:t>
            </a:r>
            <a:r>
              <a:rPr dirty="0" sz="1100" spc="5">
                <a:latin typeface="Lucida Sans"/>
                <a:cs typeface="Lucida Sans"/>
              </a:rPr>
              <a:t> </a:t>
            </a:r>
            <a:r>
              <a:rPr dirty="0" sz="1100" spc="10">
                <a:latin typeface="Lucida Sans"/>
                <a:cs typeface="Lucida Sans"/>
              </a:rPr>
              <a:t>most</a:t>
            </a:r>
            <a:r>
              <a:rPr dirty="0" sz="1100" spc="5">
                <a:latin typeface="Lucida Sans"/>
                <a:cs typeface="Lucida Sans"/>
              </a:rPr>
              <a:t> </a:t>
            </a:r>
            <a:r>
              <a:rPr dirty="0" sz="1100" spc="10">
                <a:latin typeface="Lucida Sans"/>
                <a:cs typeface="Lucida Sans"/>
              </a:rPr>
              <a:t>loaded</a:t>
            </a:r>
            <a:r>
              <a:rPr dirty="0" sz="1100">
                <a:latin typeface="Lucida Sans"/>
                <a:cs typeface="Lucida Sans"/>
              </a:rPr>
              <a:t> </a:t>
            </a:r>
            <a:r>
              <a:rPr dirty="0" sz="1100" spc="10">
                <a:latin typeface="Lucida Sans"/>
                <a:cs typeface="Lucida Sans"/>
              </a:rPr>
              <a:t>bin</a:t>
            </a:r>
            <a:r>
              <a:rPr dirty="0" sz="1100" spc="5">
                <a:latin typeface="Lucida Sans"/>
                <a:cs typeface="Lucida Sans"/>
              </a:rPr>
              <a:t> </a:t>
            </a:r>
            <a:r>
              <a:rPr dirty="0" sz="1100" spc="10">
                <a:latin typeface="Lucida Sans"/>
                <a:cs typeface="Lucida Sans"/>
              </a:rPr>
              <a:t>has</a:t>
            </a:r>
            <a:endParaRPr sz="1100">
              <a:latin typeface="Lucida Sans"/>
              <a:cs typeface="Lucida Sans"/>
            </a:endParaRPr>
          </a:p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dirty="0" sz="1100" spc="10">
                <a:latin typeface="Symbol"/>
                <a:cs typeface="Symbol"/>
              </a:rPr>
              <a:t>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 spc="5">
                <a:latin typeface="Times New Roman"/>
                <a:cs typeface="Times New Roman"/>
              </a:rPr>
              <a:t>(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 spc="5">
                <a:latin typeface="Times New Roman"/>
                <a:cs typeface="Times New Roman"/>
              </a:rPr>
              <a:t>log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 spc="15" i="1">
                <a:latin typeface="Times New Roman"/>
                <a:cs typeface="Times New Roman"/>
              </a:rPr>
              <a:t>M</a:t>
            </a:r>
            <a:r>
              <a:rPr dirty="0" sz="1100" i="1">
                <a:latin typeface="Times New Roman"/>
                <a:cs typeface="Times New Roman"/>
              </a:rPr>
              <a:t> </a:t>
            </a:r>
            <a:r>
              <a:rPr dirty="0" sz="1100" spc="5" i="1">
                <a:latin typeface="Times New Roman"/>
                <a:cs typeface="Times New Roman"/>
              </a:rPr>
              <a:t>/</a:t>
            </a:r>
            <a:r>
              <a:rPr dirty="0" sz="1100" spc="-5" i="1">
                <a:latin typeface="Times New Roman"/>
                <a:cs typeface="Times New Roman"/>
              </a:rPr>
              <a:t> </a:t>
            </a:r>
            <a:r>
              <a:rPr dirty="0" sz="1100" spc="5">
                <a:latin typeface="Times New Roman"/>
                <a:cs typeface="Times New Roman"/>
              </a:rPr>
              <a:t>log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 spc="5">
                <a:latin typeface="Times New Roman"/>
                <a:cs typeface="Times New Roman"/>
              </a:rPr>
              <a:t>log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 spc="15" i="1">
                <a:latin typeface="Times New Roman"/>
                <a:cs typeface="Times New Roman"/>
              </a:rPr>
              <a:t>M</a:t>
            </a:r>
            <a:r>
              <a:rPr dirty="0" sz="1100" i="1">
                <a:latin typeface="Times New Roman"/>
                <a:cs typeface="Times New Roman"/>
              </a:rPr>
              <a:t> </a:t>
            </a:r>
            <a:r>
              <a:rPr dirty="0" sz="1100" spc="5">
                <a:latin typeface="Times New Roman"/>
                <a:cs typeface="Times New Roman"/>
              </a:rPr>
              <a:t>)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5">
                <a:latin typeface="Lucida Sans"/>
                <a:cs typeface="Lucida Sans"/>
              </a:rPr>
              <a:t>balls.</a:t>
            </a:r>
            <a:endParaRPr sz="1100">
              <a:latin typeface="Lucida Sans"/>
              <a:cs typeface="Lucida Sans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833067" y="3175444"/>
            <a:ext cx="633730" cy="201930"/>
          </a:xfrm>
          <a:custGeom>
            <a:avLst/>
            <a:gdLst/>
            <a:ahLst/>
            <a:cxnLst/>
            <a:rect l="l" t="t" r="r" b="b"/>
            <a:pathLst>
              <a:path w="633729" h="201929">
                <a:moveTo>
                  <a:pt x="0" y="95433"/>
                </a:moveTo>
                <a:lnTo>
                  <a:pt x="39809" y="95433"/>
                </a:lnTo>
                <a:lnTo>
                  <a:pt x="72984" y="201417"/>
                </a:lnTo>
                <a:lnTo>
                  <a:pt x="145968" y="1918"/>
                </a:lnTo>
                <a:lnTo>
                  <a:pt x="572928" y="165"/>
                </a:lnTo>
                <a:lnTo>
                  <a:pt x="633582" y="0"/>
                </a:lnTo>
              </a:path>
            </a:pathLst>
          </a:custGeom>
          <a:ln w="888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1" name="object 11"/>
          <p:cNvGrpSpPr/>
          <p:nvPr/>
        </p:nvGrpSpPr>
        <p:grpSpPr>
          <a:xfrm>
            <a:off x="1907752" y="2168358"/>
            <a:ext cx="2735580" cy="367665"/>
            <a:chOff x="1907752" y="2168358"/>
            <a:chExt cx="2735580" cy="367665"/>
          </a:xfrm>
        </p:grpSpPr>
        <p:sp>
          <p:nvSpPr>
            <p:cNvPr id="12" name="object 12"/>
            <p:cNvSpPr/>
            <p:nvPr/>
          </p:nvSpPr>
          <p:spPr>
            <a:xfrm>
              <a:off x="1913676" y="2174282"/>
              <a:ext cx="2723515" cy="355600"/>
            </a:xfrm>
            <a:custGeom>
              <a:avLst/>
              <a:gdLst/>
              <a:ahLst/>
              <a:cxnLst/>
              <a:rect l="l" t="t" r="r" b="b"/>
              <a:pathLst>
                <a:path w="2723515" h="355600">
                  <a:moveTo>
                    <a:pt x="0" y="353862"/>
                  </a:moveTo>
                  <a:lnTo>
                    <a:pt x="2723477" y="354915"/>
                  </a:lnTo>
                </a:path>
                <a:path w="2723515" h="355600">
                  <a:moveTo>
                    <a:pt x="151655" y="0"/>
                  </a:moveTo>
                  <a:lnTo>
                    <a:pt x="152713" y="355440"/>
                  </a:lnTo>
                </a:path>
                <a:path w="2723515" h="355600">
                  <a:moveTo>
                    <a:pt x="303310" y="0"/>
                  </a:moveTo>
                  <a:lnTo>
                    <a:pt x="304368" y="355440"/>
                  </a:lnTo>
                </a:path>
                <a:path w="2723515" h="355600">
                  <a:moveTo>
                    <a:pt x="454965" y="0"/>
                  </a:moveTo>
                  <a:lnTo>
                    <a:pt x="456023" y="355440"/>
                  </a:lnTo>
                </a:path>
                <a:path w="2723515" h="355600">
                  <a:moveTo>
                    <a:pt x="606621" y="0"/>
                  </a:moveTo>
                  <a:lnTo>
                    <a:pt x="607679" y="355440"/>
                  </a:lnTo>
                </a:path>
                <a:path w="2723515" h="355600">
                  <a:moveTo>
                    <a:pt x="758276" y="0"/>
                  </a:moveTo>
                  <a:lnTo>
                    <a:pt x="759334" y="355440"/>
                  </a:lnTo>
                </a:path>
                <a:path w="2723515" h="355600">
                  <a:moveTo>
                    <a:pt x="909931" y="0"/>
                  </a:moveTo>
                  <a:lnTo>
                    <a:pt x="910989" y="355440"/>
                  </a:lnTo>
                </a:path>
                <a:path w="2723515" h="355600">
                  <a:moveTo>
                    <a:pt x="1061587" y="0"/>
                  </a:moveTo>
                  <a:lnTo>
                    <a:pt x="1062645" y="355440"/>
                  </a:lnTo>
                </a:path>
                <a:path w="2723515" h="355600">
                  <a:moveTo>
                    <a:pt x="1213242" y="0"/>
                  </a:moveTo>
                  <a:lnTo>
                    <a:pt x="1214300" y="355440"/>
                  </a:lnTo>
                </a:path>
                <a:path w="2723515" h="355600">
                  <a:moveTo>
                    <a:pt x="1364897" y="0"/>
                  </a:moveTo>
                  <a:lnTo>
                    <a:pt x="1365955" y="355440"/>
                  </a:lnTo>
                </a:path>
                <a:path w="2723515" h="355600">
                  <a:moveTo>
                    <a:pt x="1516553" y="0"/>
                  </a:moveTo>
                  <a:lnTo>
                    <a:pt x="1517611" y="355440"/>
                  </a:lnTo>
                </a:path>
                <a:path w="2723515" h="355600">
                  <a:moveTo>
                    <a:pt x="1668208" y="0"/>
                  </a:moveTo>
                  <a:lnTo>
                    <a:pt x="1669266" y="355440"/>
                  </a:lnTo>
                </a:path>
                <a:path w="2723515" h="355600">
                  <a:moveTo>
                    <a:pt x="1819863" y="0"/>
                  </a:moveTo>
                  <a:lnTo>
                    <a:pt x="1820921" y="355440"/>
                  </a:lnTo>
                </a:path>
                <a:path w="2723515" h="355600">
                  <a:moveTo>
                    <a:pt x="1971519" y="0"/>
                  </a:moveTo>
                  <a:lnTo>
                    <a:pt x="1972577" y="355440"/>
                  </a:lnTo>
                </a:path>
                <a:path w="2723515" h="355600">
                  <a:moveTo>
                    <a:pt x="2123174" y="0"/>
                  </a:moveTo>
                  <a:lnTo>
                    <a:pt x="2124232" y="355440"/>
                  </a:lnTo>
                </a:path>
                <a:path w="2723515" h="355600">
                  <a:moveTo>
                    <a:pt x="2274829" y="0"/>
                  </a:moveTo>
                  <a:lnTo>
                    <a:pt x="2275887" y="355440"/>
                  </a:lnTo>
                </a:path>
                <a:path w="2723515" h="355600">
                  <a:moveTo>
                    <a:pt x="2426485" y="0"/>
                  </a:moveTo>
                  <a:lnTo>
                    <a:pt x="2427543" y="355440"/>
                  </a:lnTo>
                </a:path>
                <a:path w="2723515" h="355600">
                  <a:moveTo>
                    <a:pt x="2573401" y="0"/>
                  </a:moveTo>
                  <a:lnTo>
                    <a:pt x="2574459" y="355440"/>
                  </a:lnTo>
                </a:path>
              </a:pathLst>
            </a:custGeom>
            <a:ln w="11848">
              <a:solidFill>
                <a:srgbClr val="AB332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2103234" y="2233269"/>
              <a:ext cx="2193290" cy="242570"/>
            </a:xfrm>
            <a:custGeom>
              <a:avLst/>
              <a:gdLst/>
              <a:ahLst/>
              <a:cxnLst/>
              <a:rect l="l" t="t" r="r" b="b"/>
              <a:pathLst>
                <a:path w="2193290" h="242569">
                  <a:moveTo>
                    <a:pt x="61087" y="211683"/>
                  </a:moveTo>
                  <a:lnTo>
                    <a:pt x="58851" y="200190"/>
                  </a:lnTo>
                  <a:lnTo>
                    <a:pt x="52146" y="190080"/>
                  </a:lnTo>
                  <a:lnTo>
                    <a:pt x="42037" y="183375"/>
                  </a:lnTo>
                  <a:lnTo>
                    <a:pt x="30543" y="181140"/>
                  </a:lnTo>
                  <a:lnTo>
                    <a:pt x="19050" y="183375"/>
                  </a:lnTo>
                  <a:lnTo>
                    <a:pt x="8953" y="190080"/>
                  </a:lnTo>
                  <a:lnTo>
                    <a:pt x="2235" y="200190"/>
                  </a:lnTo>
                  <a:lnTo>
                    <a:pt x="0" y="211683"/>
                  </a:lnTo>
                  <a:lnTo>
                    <a:pt x="2235" y="223177"/>
                  </a:lnTo>
                  <a:lnTo>
                    <a:pt x="8953" y="233273"/>
                  </a:lnTo>
                  <a:lnTo>
                    <a:pt x="19050" y="239991"/>
                  </a:lnTo>
                  <a:lnTo>
                    <a:pt x="30543" y="242227"/>
                  </a:lnTo>
                  <a:lnTo>
                    <a:pt x="42037" y="239991"/>
                  </a:lnTo>
                  <a:lnTo>
                    <a:pt x="52146" y="233273"/>
                  </a:lnTo>
                  <a:lnTo>
                    <a:pt x="58851" y="223177"/>
                  </a:lnTo>
                  <a:lnTo>
                    <a:pt x="61087" y="211683"/>
                  </a:lnTo>
                  <a:close/>
                </a:path>
                <a:path w="2193290" h="242569">
                  <a:moveTo>
                    <a:pt x="372821" y="211683"/>
                  </a:moveTo>
                  <a:lnTo>
                    <a:pt x="370586" y="200190"/>
                  </a:lnTo>
                  <a:lnTo>
                    <a:pt x="363880" y="190080"/>
                  </a:lnTo>
                  <a:lnTo>
                    <a:pt x="353771" y="183375"/>
                  </a:lnTo>
                  <a:lnTo>
                    <a:pt x="342277" y="181140"/>
                  </a:lnTo>
                  <a:lnTo>
                    <a:pt x="330784" y="183375"/>
                  </a:lnTo>
                  <a:lnTo>
                    <a:pt x="320687" y="190080"/>
                  </a:lnTo>
                  <a:lnTo>
                    <a:pt x="313982" y="200190"/>
                  </a:lnTo>
                  <a:lnTo>
                    <a:pt x="311746" y="211683"/>
                  </a:lnTo>
                  <a:lnTo>
                    <a:pt x="313982" y="223177"/>
                  </a:lnTo>
                  <a:lnTo>
                    <a:pt x="320687" y="233273"/>
                  </a:lnTo>
                  <a:lnTo>
                    <a:pt x="330784" y="239991"/>
                  </a:lnTo>
                  <a:lnTo>
                    <a:pt x="342277" y="242227"/>
                  </a:lnTo>
                  <a:lnTo>
                    <a:pt x="353771" y="239991"/>
                  </a:lnTo>
                  <a:lnTo>
                    <a:pt x="363880" y="233273"/>
                  </a:lnTo>
                  <a:lnTo>
                    <a:pt x="370586" y="223177"/>
                  </a:lnTo>
                  <a:lnTo>
                    <a:pt x="372821" y="211683"/>
                  </a:lnTo>
                  <a:close/>
                </a:path>
                <a:path w="2193290" h="242569">
                  <a:moveTo>
                    <a:pt x="673633" y="211683"/>
                  </a:moveTo>
                  <a:lnTo>
                    <a:pt x="671398" y="200190"/>
                  </a:lnTo>
                  <a:lnTo>
                    <a:pt x="664692" y="190080"/>
                  </a:lnTo>
                  <a:lnTo>
                    <a:pt x="654583" y="183375"/>
                  </a:lnTo>
                  <a:lnTo>
                    <a:pt x="643089" y="181140"/>
                  </a:lnTo>
                  <a:lnTo>
                    <a:pt x="631596" y="183375"/>
                  </a:lnTo>
                  <a:lnTo>
                    <a:pt x="621499" y="190080"/>
                  </a:lnTo>
                  <a:lnTo>
                    <a:pt x="614781" y="200190"/>
                  </a:lnTo>
                  <a:lnTo>
                    <a:pt x="612546" y="211683"/>
                  </a:lnTo>
                  <a:lnTo>
                    <a:pt x="614781" y="223177"/>
                  </a:lnTo>
                  <a:lnTo>
                    <a:pt x="621499" y="233273"/>
                  </a:lnTo>
                  <a:lnTo>
                    <a:pt x="631596" y="239991"/>
                  </a:lnTo>
                  <a:lnTo>
                    <a:pt x="643089" y="242227"/>
                  </a:lnTo>
                  <a:lnTo>
                    <a:pt x="654583" y="239991"/>
                  </a:lnTo>
                  <a:lnTo>
                    <a:pt x="664692" y="233273"/>
                  </a:lnTo>
                  <a:lnTo>
                    <a:pt x="671398" y="223177"/>
                  </a:lnTo>
                  <a:lnTo>
                    <a:pt x="673633" y="211683"/>
                  </a:lnTo>
                  <a:close/>
                </a:path>
                <a:path w="2193290" h="242569">
                  <a:moveTo>
                    <a:pt x="676135" y="123215"/>
                  </a:moveTo>
                  <a:lnTo>
                    <a:pt x="673900" y="111721"/>
                  </a:lnTo>
                  <a:lnTo>
                    <a:pt x="667194" y="101625"/>
                  </a:lnTo>
                  <a:lnTo>
                    <a:pt x="657085" y="94907"/>
                  </a:lnTo>
                  <a:lnTo>
                    <a:pt x="645591" y="92671"/>
                  </a:lnTo>
                  <a:lnTo>
                    <a:pt x="634098" y="94907"/>
                  </a:lnTo>
                  <a:lnTo>
                    <a:pt x="624001" y="101625"/>
                  </a:lnTo>
                  <a:lnTo>
                    <a:pt x="617283" y="111721"/>
                  </a:lnTo>
                  <a:lnTo>
                    <a:pt x="615048" y="123215"/>
                  </a:lnTo>
                  <a:lnTo>
                    <a:pt x="617283" y="134708"/>
                  </a:lnTo>
                  <a:lnTo>
                    <a:pt x="624001" y="144818"/>
                  </a:lnTo>
                  <a:lnTo>
                    <a:pt x="634098" y="151523"/>
                  </a:lnTo>
                  <a:lnTo>
                    <a:pt x="645591" y="153758"/>
                  </a:lnTo>
                  <a:lnTo>
                    <a:pt x="657085" y="151523"/>
                  </a:lnTo>
                  <a:lnTo>
                    <a:pt x="667194" y="144818"/>
                  </a:lnTo>
                  <a:lnTo>
                    <a:pt x="673900" y="134708"/>
                  </a:lnTo>
                  <a:lnTo>
                    <a:pt x="676135" y="123215"/>
                  </a:lnTo>
                  <a:close/>
                </a:path>
                <a:path w="2193290" h="242569">
                  <a:moveTo>
                    <a:pt x="827659" y="211683"/>
                  </a:moveTo>
                  <a:lnTo>
                    <a:pt x="825423" y="200190"/>
                  </a:lnTo>
                  <a:lnTo>
                    <a:pt x="818718" y="190080"/>
                  </a:lnTo>
                  <a:lnTo>
                    <a:pt x="808609" y="183375"/>
                  </a:lnTo>
                  <a:lnTo>
                    <a:pt x="797115" y="181140"/>
                  </a:lnTo>
                  <a:lnTo>
                    <a:pt x="785622" y="183375"/>
                  </a:lnTo>
                  <a:lnTo>
                    <a:pt x="775525" y="190080"/>
                  </a:lnTo>
                  <a:lnTo>
                    <a:pt x="768807" y="200190"/>
                  </a:lnTo>
                  <a:lnTo>
                    <a:pt x="766572" y="211683"/>
                  </a:lnTo>
                  <a:lnTo>
                    <a:pt x="768807" y="223177"/>
                  </a:lnTo>
                  <a:lnTo>
                    <a:pt x="775525" y="233273"/>
                  </a:lnTo>
                  <a:lnTo>
                    <a:pt x="785622" y="239991"/>
                  </a:lnTo>
                  <a:lnTo>
                    <a:pt x="797115" y="242227"/>
                  </a:lnTo>
                  <a:lnTo>
                    <a:pt x="808609" y="239991"/>
                  </a:lnTo>
                  <a:lnTo>
                    <a:pt x="818718" y="233273"/>
                  </a:lnTo>
                  <a:lnTo>
                    <a:pt x="825423" y="223177"/>
                  </a:lnTo>
                  <a:lnTo>
                    <a:pt x="827659" y="211683"/>
                  </a:lnTo>
                  <a:close/>
                </a:path>
                <a:path w="2193290" h="242569">
                  <a:moveTo>
                    <a:pt x="1129779" y="211683"/>
                  </a:moveTo>
                  <a:lnTo>
                    <a:pt x="1127544" y="200190"/>
                  </a:lnTo>
                  <a:lnTo>
                    <a:pt x="1120838" y="190080"/>
                  </a:lnTo>
                  <a:lnTo>
                    <a:pt x="1110729" y="183375"/>
                  </a:lnTo>
                  <a:lnTo>
                    <a:pt x="1099248" y="181140"/>
                  </a:lnTo>
                  <a:lnTo>
                    <a:pt x="1087755" y="183375"/>
                  </a:lnTo>
                  <a:lnTo>
                    <a:pt x="1077645" y="190080"/>
                  </a:lnTo>
                  <a:lnTo>
                    <a:pt x="1070940" y="200190"/>
                  </a:lnTo>
                  <a:lnTo>
                    <a:pt x="1068705" y="211683"/>
                  </a:lnTo>
                  <a:lnTo>
                    <a:pt x="1070940" y="223177"/>
                  </a:lnTo>
                  <a:lnTo>
                    <a:pt x="1077645" y="233273"/>
                  </a:lnTo>
                  <a:lnTo>
                    <a:pt x="1087755" y="239991"/>
                  </a:lnTo>
                  <a:lnTo>
                    <a:pt x="1099248" y="242227"/>
                  </a:lnTo>
                  <a:lnTo>
                    <a:pt x="1110729" y="239991"/>
                  </a:lnTo>
                  <a:lnTo>
                    <a:pt x="1120838" y="233273"/>
                  </a:lnTo>
                  <a:lnTo>
                    <a:pt x="1127544" y="223177"/>
                  </a:lnTo>
                  <a:lnTo>
                    <a:pt x="1129779" y="211683"/>
                  </a:lnTo>
                  <a:close/>
                </a:path>
                <a:path w="2193290" h="242569">
                  <a:moveTo>
                    <a:pt x="1586064" y="209575"/>
                  </a:moveTo>
                  <a:lnTo>
                    <a:pt x="1583829" y="198081"/>
                  </a:lnTo>
                  <a:lnTo>
                    <a:pt x="1577124" y="187985"/>
                  </a:lnTo>
                  <a:lnTo>
                    <a:pt x="1567014" y="181267"/>
                  </a:lnTo>
                  <a:lnTo>
                    <a:pt x="1555521" y="179031"/>
                  </a:lnTo>
                  <a:lnTo>
                    <a:pt x="1544027" y="181267"/>
                  </a:lnTo>
                  <a:lnTo>
                    <a:pt x="1533931" y="187985"/>
                  </a:lnTo>
                  <a:lnTo>
                    <a:pt x="1527225" y="198081"/>
                  </a:lnTo>
                  <a:lnTo>
                    <a:pt x="1524977" y="209575"/>
                  </a:lnTo>
                  <a:lnTo>
                    <a:pt x="1527225" y="221068"/>
                  </a:lnTo>
                  <a:lnTo>
                    <a:pt x="1533931" y="231178"/>
                  </a:lnTo>
                  <a:lnTo>
                    <a:pt x="1544027" y="237883"/>
                  </a:lnTo>
                  <a:lnTo>
                    <a:pt x="1555521" y="240118"/>
                  </a:lnTo>
                  <a:lnTo>
                    <a:pt x="1567014" y="237883"/>
                  </a:lnTo>
                  <a:lnTo>
                    <a:pt x="1577124" y="231178"/>
                  </a:lnTo>
                  <a:lnTo>
                    <a:pt x="1583829" y="221068"/>
                  </a:lnTo>
                  <a:lnTo>
                    <a:pt x="1586064" y="209575"/>
                  </a:lnTo>
                  <a:close/>
                </a:path>
                <a:path w="2193290" h="242569">
                  <a:moveTo>
                    <a:pt x="1741932" y="211683"/>
                  </a:moveTo>
                  <a:lnTo>
                    <a:pt x="1739696" y="200190"/>
                  </a:lnTo>
                  <a:lnTo>
                    <a:pt x="1732991" y="190080"/>
                  </a:lnTo>
                  <a:lnTo>
                    <a:pt x="1722882" y="183375"/>
                  </a:lnTo>
                  <a:lnTo>
                    <a:pt x="1711388" y="181140"/>
                  </a:lnTo>
                  <a:lnTo>
                    <a:pt x="1699895" y="183375"/>
                  </a:lnTo>
                  <a:lnTo>
                    <a:pt x="1689798" y="190080"/>
                  </a:lnTo>
                  <a:lnTo>
                    <a:pt x="1683092" y="200190"/>
                  </a:lnTo>
                  <a:lnTo>
                    <a:pt x="1680857" y="211683"/>
                  </a:lnTo>
                  <a:lnTo>
                    <a:pt x="1683092" y="223177"/>
                  </a:lnTo>
                  <a:lnTo>
                    <a:pt x="1689798" y="233273"/>
                  </a:lnTo>
                  <a:lnTo>
                    <a:pt x="1699895" y="239991"/>
                  </a:lnTo>
                  <a:lnTo>
                    <a:pt x="1711388" y="242227"/>
                  </a:lnTo>
                  <a:lnTo>
                    <a:pt x="1722882" y="239991"/>
                  </a:lnTo>
                  <a:lnTo>
                    <a:pt x="1732991" y="233273"/>
                  </a:lnTo>
                  <a:lnTo>
                    <a:pt x="1739696" y="223177"/>
                  </a:lnTo>
                  <a:lnTo>
                    <a:pt x="1741932" y="211683"/>
                  </a:lnTo>
                  <a:close/>
                </a:path>
                <a:path w="2193290" h="242569">
                  <a:moveTo>
                    <a:pt x="2190191" y="116903"/>
                  </a:moveTo>
                  <a:lnTo>
                    <a:pt x="2187956" y="105410"/>
                  </a:lnTo>
                  <a:lnTo>
                    <a:pt x="2181237" y="95300"/>
                  </a:lnTo>
                  <a:lnTo>
                    <a:pt x="2171141" y="88595"/>
                  </a:lnTo>
                  <a:lnTo>
                    <a:pt x="2159647" y="86360"/>
                  </a:lnTo>
                  <a:lnTo>
                    <a:pt x="2148154" y="88595"/>
                  </a:lnTo>
                  <a:lnTo>
                    <a:pt x="2138045" y="95300"/>
                  </a:lnTo>
                  <a:lnTo>
                    <a:pt x="2131339" y="105410"/>
                  </a:lnTo>
                  <a:lnTo>
                    <a:pt x="2129104" y="116903"/>
                  </a:lnTo>
                  <a:lnTo>
                    <a:pt x="2131339" y="128384"/>
                  </a:lnTo>
                  <a:lnTo>
                    <a:pt x="2138045" y="138493"/>
                  </a:lnTo>
                  <a:lnTo>
                    <a:pt x="2148154" y="145199"/>
                  </a:lnTo>
                  <a:lnTo>
                    <a:pt x="2159647" y="147434"/>
                  </a:lnTo>
                  <a:lnTo>
                    <a:pt x="2171141" y="145199"/>
                  </a:lnTo>
                  <a:lnTo>
                    <a:pt x="2181237" y="138493"/>
                  </a:lnTo>
                  <a:lnTo>
                    <a:pt x="2187956" y="128384"/>
                  </a:lnTo>
                  <a:lnTo>
                    <a:pt x="2190191" y="116903"/>
                  </a:lnTo>
                  <a:close/>
                </a:path>
                <a:path w="2193290" h="242569">
                  <a:moveTo>
                    <a:pt x="2192693" y="202603"/>
                  </a:moveTo>
                  <a:lnTo>
                    <a:pt x="2190458" y="191109"/>
                  </a:lnTo>
                  <a:lnTo>
                    <a:pt x="2183739" y="181000"/>
                  </a:lnTo>
                  <a:lnTo>
                    <a:pt x="2173643" y="174294"/>
                  </a:lnTo>
                  <a:lnTo>
                    <a:pt x="2162149" y="172059"/>
                  </a:lnTo>
                  <a:lnTo>
                    <a:pt x="2150656" y="174294"/>
                  </a:lnTo>
                  <a:lnTo>
                    <a:pt x="2140547" y="181000"/>
                  </a:lnTo>
                  <a:lnTo>
                    <a:pt x="2133841" y="191109"/>
                  </a:lnTo>
                  <a:lnTo>
                    <a:pt x="2131606" y="202603"/>
                  </a:lnTo>
                  <a:lnTo>
                    <a:pt x="2133841" y="214096"/>
                  </a:lnTo>
                  <a:lnTo>
                    <a:pt x="2140547" y="224193"/>
                  </a:lnTo>
                  <a:lnTo>
                    <a:pt x="2150656" y="230898"/>
                  </a:lnTo>
                  <a:lnTo>
                    <a:pt x="2162149" y="233146"/>
                  </a:lnTo>
                  <a:lnTo>
                    <a:pt x="2173643" y="230898"/>
                  </a:lnTo>
                  <a:lnTo>
                    <a:pt x="2183739" y="224193"/>
                  </a:lnTo>
                  <a:lnTo>
                    <a:pt x="2190458" y="214096"/>
                  </a:lnTo>
                  <a:lnTo>
                    <a:pt x="2192693" y="202603"/>
                  </a:lnTo>
                  <a:close/>
                </a:path>
                <a:path w="2193290" h="242569">
                  <a:moveTo>
                    <a:pt x="2192693" y="30543"/>
                  </a:moveTo>
                  <a:lnTo>
                    <a:pt x="2190458" y="19050"/>
                  </a:lnTo>
                  <a:lnTo>
                    <a:pt x="2183739" y="8940"/>
                  </a:lnTo>
                  <a:lnTo>
                    <a:pt x="2173643" y="2235"/>
                  </a:lnTo>
                  <a:lnTo>
                    <a:pt x="2162149" y="0"/>
                  </a:lnTo>
                  <a:lnTo>
                    <a:pt x="2150656" y="2235"/>
                  </a:lnTo>
                  <a:lnTo>
                    <a:pt x="2140547" y="8940"/>
                  </a:lnTo>
                  <a:lnTo>
                    <a:pt x="2133841" y="19050"/>
                  </a:lnTo>
                  <a:lnTo>
                    <a:pt x="2131606" y="30543"/>
                  </a:lnTo>
                  <a:lnTo>
                    <a:pt x="2133841" y="42037"/>
                  </a:lnTo>
                  <a:lnTo>
                    <a:pt x="2140547" y="52133"/>
                  </a:lnTo>
                  <a:lnTo>
                    <a:pt x="2150656" y="58839"/>
                  </a:lnTo>
                  <a:lnTo>
                    <a:pt x="2162149" y="61074"/>
                  </a:lnTo>
                  <a:lnTo>
                    <a:pt x="2173643" y="58839"/>
                  </a:lnTo>
                  <a:lnTo>
                    <a:pt x="2183739" y="52133"/>
                  </a:lnTo>
                  <a:lnTo>
                    <a:pt x="2190458" y="42037"/>
                  </a:lnTo>
                  <a:lnTo>
                    <a:pt x="2192693" y="3054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2096686" y="2576264"/>
            <a:ext cx="2388870" cy="1111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550" spc="5">
                <a:latin typeface="Lucida Sans Typewriter"/>
                <a:cs typeface="Lucida Sans Typewriter"/>
              </a:rPr>
              <a:t>0 </a:t>
            </a:r>
            <a:r>
              <a:rPr dirty="0" sz="550" spc="190">
                <a:latin typeface="Lucida Sans Typewriter"/>
                <a:cs typeface="Lucida Sans Typewriter"/>
              </a:rPr>
              <a:t> </a:t>
            </a:r>
            <a:r>
              <a:rPr dirty="0" sz="550" spc="5">
                <a:latin typeface="Lucida Sans Typewriter"/>
                <a:cs typeface="Lucida Sans Typewriter"/>
              </a:rPr>
              <a:t>1 </a:t>
            </a:r>
            <a:r>
              <a:rPr dirty="0" sz="550" spc="195">
                <a:latin typeface="Lucida Sans Typewriter"/>
                <a:cs typeface="Lucida Sans Typewriter"/>
              </a:rPr>
              <a:t> </a:t>
            </a:r>
            <a:r>
              <a:rPr dirty="0" sz="550" spc="5">
                <a:latin typeface="Lucida Sans Typewriter"/>
                <a:cs typeface="Lucida Sans Typewriter"/>
              </a:rPr>
              <a:t>2 </a:t>
            </a:r>
            <a:r>
              <a:rPr dirty="0" sz="550" spc="195">
                <a:latin typeface="Lucida Sans Typewriter"/>
                <a:cs typeface="Lucida Sans Typewriter"/>
              </a:rPr>
              <a:t> </a:t>
            </a:r>
            <a:r>
              <a:rPr dirty="0" sz="550" spc="5">
                <a:latin typeface="Lucida Sans Typewriter"/>
                <a:cs typeface="Lucida Sans Typewriter"/>
              </a:rPr>
              <a:t>3 </a:t>
            </a:r>
            <a:r>
              <a:rPr dirty="0" sz="550" spc="195">
                <a:latin typeface="Lucida Sans Typewriter"/>
                <a:cs typeface="Lucida Sans Typewriter"/>
              </a:rPr>
              <a:t> </a:t>
            </a:r>
            <a:r>
              <a:rPr dirty="0" sz="550" spc="5">
                <a:latin typeface="Lucida Sans Typewriter"/>
                <a:cs typeface="Lucida Sans Typewriter"/>
              </a:rPr>
              <a:t>4 </a:t>
            </a:r>
            <a:r>
              <a:rPr dirty="0" sz="550" spc="195">
                <a:latin typeface="Lucida Sans Typewriter"/>
                <a:cs typeface="Lucida Sans Typewriter"/>
              </a:rPr>
              <a:t> </a:t>
            </a:r>
            <a:r>
              <a:rPr dirty="0" sz="550" spc="5">
                <a:latin typeface="Lucida Sans Typewriter"/>
                <a:cs typeface="Lucida Sans Typewriter"/>
              </a:rPr>
              <a:t>5 </a:t>
            </a:r>
            <a:r>
              <a:rPr dirty="0" sz="550" spc="195">
                <a:latin typeface="Lucida Sans Typewriter"/>
                <a:cs typeface="Lucida Sans Typewriter"/>
              </a:rPr>
              <a:t> </a:t>
            </a:r>
            <a:r>
              <a:rPr dirty="0" sz="550" spc="5">
                <a:latin typeface="Lucida Sans Typewriter"/>
                <a:cs typeface="Lucida Sans Typewriter"/>
              </a:rPr>
              <a:t>6 </a:t>
            </a:r>
            <a:r>
              <a:rPr dirty="0" sz="550" spc="195">
                <a:latin typeface="Lucida Sans Typewriter"/>
                <a:cs typeface="Lucida Sans Typewriter"/>
              </a:rPr>
              <a:t> </a:t>
            </a:r>
            <a:r>
              <a:rPr dirty="0" sz="550" spc="5">
                <a:latin typeface="Lucida Sans Typewriter"/>
                <a:cs typeface="Lucida Sans Typewriter"/>
              </a:rPr>
              <a:t>7 </a:t>
            </a:r>
            <a:r>
              <a:rPr dirty="0" sz="550" spc="195">
                <a:latin typeface="Lucida Sans Typewriter"/>
                <a:cs typeface="Lucida Sans Typewriter"/>
              </a:rPr>
              <a:t> </a:t>
            </a:r>
            <a:r>
              <a:rPr dirty="0" sz="550" spc="5">
                <a:latin typeface="Lucida Sans Typewriter"/>
                <a:cs typeface="Lucida Sans Typewriter"/>
              </a:rPr>
              <a:t>8 </a:t>
            </a:r>
            <a:r>
              <a:rPr dirty="0" sz="550" spc="195">
                <a:latin typeface="Lucida Sans Typewriter"/>
                <a:cs typeface="Lucida Sans Typewriter"/>
              </a:rPr>
              <a:t> </a:t>
            </a:r>
            <a:r>
              <a:rPr dirty="0" sz="550" spc="5">
                <a:latin typeface="Lucida Sans Typewriter"/>
                <a:cs typeface="Lucida Sans Typewriter"/>
              </a:rPr>
              <a:t>9 </a:t>
            </a:r>
            <a:r>
              <a:rPr dirty="0" sz="550" spc="25">
                <a:latin typeface="Lucida Sans Typewriter"/>
                <a:cs typeface="Lucida Sans Typewriter"/>
              </a:rPr>
              <a:t> </a:t>
            </a:r>
            <a:r>
              <a:rPr dirty="0" sz="550" spc="5">
                <a:latin typeface="Lucida Sans Typewriter"/>
                <a:cs typeface="Lucida Sans Typewriter"/>
              </a:rPr>
              <a:t>10</a:t>
            </a:r>
            <a:r>
              <a:rPr dirty="0" sz="550" spc="195">
                <a:latin typeface="Lucida Sans Typewriter"/>
                <a:cs typeface="Lucida Sans Typewriter"/>
              </a:rPr>
              <a:t> </a:t>
            </a:r>
            <a:r>
              <a:rPr dirty="0" sz="550" spc="5">
                <a:latin typeface="Lucida Sans Typewriter"/>
                <a:cs typeface="Lucida Sans Typewriter"/>
              </a:rPr>
              <a:t>11</a:t>
            </a:r>
            <a:r>
              <a:rPr dirty="0" sz="550" spc="200">
                <a:latin typeface="Lucida Sans Typewriter"/>
                <a:cs typeface="Lucida Sans Typewriter"/>
              </a:rPr>
              <a:t> </a:t>
            </a:r>
            <a:r>
              <a:rPr dirty="0" sz="550" spc="5">
                <a:latin typeface="Lucida Sans Typewriter"/>
                <a:cs typeface="Lucida Sans Typewriter"/>
              </a:rPr>
              <a:t>12</a:t>
            </a:r>
            <a:r>
              <a:rPr dirty="0" sz="550" spc="195">
                <a:latin typeface="Lucida Sans Typewriter"/>
                <a:cs typeface="Lucida Sans Typewriter"/>
              </a:rPr>
              <a:t> </a:t>
            </a:r>
            <a:r>
              <a:rPr dirty="0" sz="550" spc="5">
                <a:latin typeface="Lucida Sans Typewriter"/>
                <a:cs typeface="Lucida Sans Typewriter"/>
              </a:rPr>
              <a:t>13</a:t>
            </a:r>
            <a:r>
              <a:rPr dirty="0" sz="550" spc="200">
                <a:latin typeface="Lucida Sans Typewriter"/>
                <a:cs typeface="Lucida Sans Typewriter"/>
              </a:rPr>
              <a:t> </a:t>
            </a:r>
            <a:r>
              <a:rPr dirty="0" sz="550" spc="5">
                <a:latin typeface="Lucida Sans Typewriter"/>
                <a:cs typeface="Lucida Sans Typewriter"/>
              </a:rPr>
              <a:t>14</a:t>
            </a:r>
            <a:r>
              <a:rPr dirty="0" sz="550" spc="195">
                <a:latin typeface="Lucida Sans Typewriter"/>
                <a:cs typeface="Lucida Sans Typewriter"/>
              </a:rPr>
              <a:t> </a:t>
            </a:r>
            <a:r>
              <a:rPr dirty="0" sz="550" spc="5">
                <a:latin typeface="Lucida Sans Typewriter"/>
                <a:cs typeface="Lucida Sans Typewriter"/>
              </a:rPr>
              <a:t>15</a:t>
            </a:r>
            <a:endParaRPr sz="550">
              <a:latin typeface="Lucida Sans Typewriter"/>
              <a:cs typeface="Lucida Sans Typewriter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6592379" y="237122"/>
            <a:ext cx="6066790" cy="4549775"/>
            <a:chOff x="6592379" y="237122"/>
            <a:chExt cx="6066790" cy="4549775"/>
          </a:xfrm>
        </p:grpSpPr>
        <p:sp>
          <p:nvSpPr>
            <p:cNvPr id="16" name="object 16"/>
            <p:cNvSpPr/>
            <p:nvPr/>
          </p:nvSpPr>
          <p:spPr>
            <a:xfrm>
              <a:off x="6592379" y="237122"/>
              <a:ext cx="6066790" cy="4549775"/>
            </a:xfrm>
            <a:custGeom>
              <a:avLst/>
              <a:gdLst/>
              <a:ahLst/>
              <a:cxnLst/>
              <a:rect l="l" t="t" r="r" b="b"/>
              <a:pathLst>
                <a:path w="6066790" h="4549775">
                  <a:moveTo>
                    <a:pt x="0" y="0"/>
                  </a:moveTo>
                  <a:lnTo>
                    <a:pt x="6066212" y="0"/>
                  </a:lnTo>
                  <a:lnTo>
                    <a:pt x="6066212" y="4549659"/>
                  </a:lnTo>
                  <a:lnTo>
                    <a:pt x="0" y="45496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6977442" y="699147"/>
              <a:ext cx="5302250" cy="635"/>
            </a:xfrm>
            <a:custGeom>
              <a:avLst/>
              <a:gdLst/>
              <a:ahLst/>
              <a:cxnLst/>
              <a:rect l="l" t="t" r="r" b="b"/>
              <a:pathLst>
                <a:path w="5302250" h="634">
                  <a:moveTo>
                    <a:pt x="0" y="49"/>
                  </a:moveTo>
                  <a:lnTo>
                    <a:pt x="5302012" y="0"/>
                  </a:lnTo>
                </a:path>
              </a:pathLst>
            </a:custGeom>
            <a:ln w="59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7234451" y="2993843"/>
              <a:ext cx="4429125" cy="1290320"/>
            </a:xfrm>
            <a:custGeom>
              <a:avLst/>
              <a:gdLst/>
              <a:ahLst/>
              <a:cxnLst/>
              <a:rect l="l" t="t" r="r" b="b"/>
              <a:pathLst>
                <a:path w="4429125" h="1290320">
                  <a:moveTo>
                    <a:pt x="0" y="0"/>
                  </a:moveTo>
                  <a:lnTo>
                    <a:pt x="4428902" y="0"/>
                  </a:lnTo>
                  <a:lnTo>
                    <a:pt x="4428902" y="1289917"/>
                  </a:lnTo>
                  <a:lnTo>
                    <a:pt x="0" y="128991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7234451" y="2993843"/>
            <a:ext cx="4429125" cy="12903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150">
              <a:latin typeface="Times New Roman"/>
              <a:cs typeface="Times New Roman"/>
            </a:endParaRPr>
          </a:p>
          <a:p>
            <a:pPr algn="ctr" marR="48260">
              <a:lnSpc>
                <a:spcPct val="100000"/>
              </a:lnSpc>
            </a:pPr>
            <a:r>
              <a:rPr dirty="0" sz="750" spc="20" b="1">
                <a:solidFill>
                  <a:srgbClr val="231F20"/>
                </a:solidFill>
                <a:latin typeface="Calibri"/>
                <a:cs typeface="Calibri"/>
              </a:rPr>
              <a:t>Hash</a:t>
            </a:r>
            <a:r>
              <a:rPr dirty="0" sz="750" spc="-15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750" spc="15" b="1">
                <a:solidFill>
                  <a:srgbClr val="231F20"/>
                </a:solidFill>
                <a:latin typeface="Calibri"/>
                <a:cs typeface="Calibri"/>
              </a:rPr>
              <a:t>value</a:t>
            </a:r>
            <a:r>
              <a:rPr dirty="0" sz="750" spc="-15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750" spc="15" b="1">
                <a:solidFill>
                  <a:srgbClr val="231F20"/>
                </a:solidFill>
                <a:latin typeface="Calibri"/>
                <a:cs typeface="Calibri"/>
              </a:rPr>
              <a:t>frequencies</a:t>
            </a:r>
            <a:r>
              <a:rPr dirty="0" sz="750" spc="-15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750" spc="5" b="1">
                <a:solidFill>
                  <a:srgbClr val="231F20"/>
                </a:solidFill>
                <a:latin typeface="Calibri"/>
                <a:cs typeface="Calibri"/>
              </a:rPr>
              <a:t>for</a:t>
            </a:r>
            <a:r>
              <a:rPr dirty="0" sz="750" spc="-15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750" spc="10" b="1">
                <a:solidFill>
                  <a:srgbClr val="231F20"/>
                </a:solidFill>
                <a:latin typeface="Calibri"/>
                <a:cs typeface="Calibri"/>
              </a:rPr>
              <a:t>words</a:t>
            </a:r>
            <a:r>
              <a:rPr dirty="0" sz="750" spc="-15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750" spc="15" b="1">
                <a:solidFill>
                  <a:srgbClr val="231F20"/>
                </a:solidFill>
                <a:latin typeface="Calibri"/>
                <a:cs typeface="Calibri"/>
              </a:rPr>
              <a:t>in</a:t>
            </a:r>
            <a:r>
              <a:rPr dirty="0" sz="750" spc="-45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750" b="1">
                <a:solidFill>
                  <a:srgbClr val="231F20"/>
                </a:solidFill>
                <a:latin typeface="Calibri"/>
                <a:cs typeface="Calibri"/>
              </a:rPr>
              <a:t>Tale</a:t>
            </a:r>
            <a:r>
              <a:rPr dirty="0" sz="750" spc="-15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750" spc="10" b="1">
                <a:solidFill>
                  <a:srgbClr val="231F20"/>
                </a:solidFill>
                <a:latin typeface="Calibri"/>
                <a:cs typeface="Calibri"/>
              </a:rPr>
              <a:t>of</a:t>
            </a:r>
            <a:r>
              <a:rPr dirty="0" sz="750" spc="-45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750" b="1">
                <a:solidFill>
                  <a:srgbClr val="231F20"/>
                </a:solidFill>
                <a:latin typeface="Calibri"/>
                <a:cs typeface="Calibri"/>
              </a:rPr>
              <a:t>Two</a:t>
            </a:r>
            <a:r>
              <a:rPr dirty="0" sz="750" spc="-15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750" spc="15" b="1">
                <a:solidFill>
                  <a:srgbClr val="231F20"/>
                </a:solidFill>
                <a:latin typeface="Calibri"/>
                <a:cs typeface="Calibri"/>
              </a:rPr>
              <a:t>Cities</a:t>
            </a:r>
            <a:r>
              <a:rPr dirty="0" sz="750" spc="-15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750" spc="-20" b="1">
                <a:solidFill>
                  <a:srgbClr val="231F20"/>
                </a:solidFill>
                <a:latin typeface="Calibri"/>
                <a:cs typeface="Calibri"/>
              </a:rPr>
              <a:t>(M</a:t>
            </a:r>
            <a:r>
              <a:rPr dirty="0" sz="750" spc="-15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750" spc="75" b="1">
                <a:solidFill>
                  <a:srgbClr val="231F20"/>
                </a:solidFill>
                <a:latin typeface="Calibri"/>
                <a:cs typeface="Calibri"/>
              </a:rPr>
              <a:t>=</a:t>
            </a:r>
            <a:r>
              <a:rPr dirty="0" sz="750" spc="-15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750" spc="10" b="1">
                <a:solidFill>
                  <a:srgbClr val="231F20"/>
                </a:solidFill>
                <a:latin typeface="Calibri"/>
                <a:cs typeface="Calibri"/>
              </a:rPr>
              <a:t>97)</a:t>
            </a:r>
            <a:endParaRPr sz="750">
              <a:latin typeface="Calibri"/>
              <a:cs typeface="Calibri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7403972" y="2168358"/>
            <a:ext cx="4117340" cy="1786889"/>
            <a:chOff x="7403972" y="2168358"/>
            <a:chExt cx="4117340" cy="1786889"/>
          </a:xfrm>
        </p:grpSpPr>
        <p:sp>
          <p:nvSpPr>
            <p:cNvPr id="21" name="object 21"/>
            <p:cNvSpPr/>
            <p:nvPr/>
          </p:nvSpPr>
          <p:spPr>
            <a:xfrm>
              <a:off x="7419785" y="3137815"/>
              <a:ext cx="4085590" cy="817244"/>
            </a:xfrm>
            <a:custGeom>
              <a:avLst/>
              <a:gdLst/>
              <a:ahLst/>
              <a:cxnLst/>
              <a:rect l="l" t="t" r="r" b="b"/>
              <a:pathLst>
                <a:path w="4085590" h="817245">
                  <a:moveTo>
                    <a:pt x="4085586" y="816813"/>
                  </a:moveTo>
                  <a:lnTo>
                    <a:pt x="4085586" y="292580"/>
                  </a:lnTo>
                </a:path>
                <a:path w="4085590" h="817245">
                  <a:moveTo>
                    <a:pt x="4043005" y="816813"/>
                  </a:moveTo>
                  <a:lnTo>
                    <a:pt x="4043005" y="36586"/>
                  </a:lnTo>
                </a:path>
                <a:path w="4085590" h="817245">
                  <a:moveTo>
                    <a:pt x="4000448" y="816813"/>
                  </a:moveTo>
                  <a:lnTo>
                    <a:pt x="4000448" y="274299"/>
                  </a:lnTo>
                </a:path>
                <a:path w="4085590" h="817245">
                  <a:moveTo>
                    <a:pt x="3957904" y="816813"/>
                  </a:moveTo>
                  <a:lnTo>
                    <a:pt x="3957904" y="225530"/>
                  </a:lnTo>
                </a:path>
                <a:path w="4085590" h="817245">
                  <a:moveTo>
                    <a:pt x="3915348" y="816813"/>
                  </a:moveTo>
                  <a:lnTo>
                    <a:pt x="3915348" y="164589"/>
                  </a:lnTo>
                </a:path>
                <a:path w="4085590" h="817245">
                  <a:moveTo>
                    <a:pt x="3872779" y="816813"/>
                  </a:moveTo>
                  <a:lnTo>
                    <a:pt x="3872779" y="207261"/>
                  </a:lnTo>
                </a:path>
                <a:path w="4085590" h="817245">
                  <a:moveTo>
                    <a:pt x="3830223" y="816813"/>
                  </a:moveTo>
                  <a:lnTo>
                    <a:pt x="3830223" y="176784"/>
                  </a:lnTo>
                </a:path>
                <a:path w="4085590" h="817245">
                  <a:moveTo>
                    <a:pt x="3787679" y="816813"/>
                  </a:moveTo>
                  <a:lnTo>
                    <a:pt x="3787679" y="170675"/>
                  </a:lnTo>
                </a:path>
                <a:path w="4085590" h="817245">
                  <a:moveTo>
                    <a:pt x="3745122" y="816813"/>
                  </a:moveTo>
                  <a:lnTo>
                    <a:pt x="3745122" y="213346"/>
                  </a:lnTo>
                </a:path>
                <a:path w="4085590" h="817245">
                  <a:moveTo>
                    <a:pt x="3702553" y="816813"/>
                  </a:moveTo>
                  <a:lnTo>
                    <a:pt x="3702553" y="152393"/>
                  </a:lnTo>
                </a:path>
                <a:path w="4085590" h="817245">
                  <a:moveTo>
                    <a:pt x="3659997" y="816813"/>
                  </a:moveTo>
                  <a:lnTo>
                    <a:pt x="3659997" y="243835"/>
                  </a:lnTo>
                </a:path>
                <a:path w="4085590" h="817245">
                  <a:moveTo>
                    <a:pt x="3617441" y="816813"/>
                  </a:moveTo>
                  <a:lnTo>
                    <a:pt x="3617441" y="54867"/>
                  </a:lnTo>
                </a:path>
                <a:path w="4085590" h="817245">
                  <a:moveTo>
                    <a:pt x="3574896" y="816813"/>
                  </a:moveTo>
                  <a:lnTo>
                    <a:pt x="3574896" y="188956"/>
                  </a:lnTo>
                </a:path>
                <a:path w="4085590" h="817245">
                  <a:moveTo>
                    <a:pt x="3532315" y="816813"/>
                  </a:moveTo>
                  <a:lnTo>
                    <a:pt x="3532315" y="0"/>
                  </a:lnTo>
                </a:path>
                <a:path w="4085590" h="817245">
                  <a:moveTo>
                    <a:pt x="3489759" y="816813"/>
                  </a:moveTo>
                  <a:lnTo>
                    <a:pt x="3489759" y="207261"/>
                  </a:lnTo>
                </a:path>
                <a:path w="4085590" h="817245">
                  <a:moveTo>
                    <a:pt x="3447203" y="816813"/>
                  </a:moveTo>
                  <a:lnTo>
                    <a:pt x="3447203" y="188956"/>
                  </a:lnTo>
                </a:path>
                <a:path w="4085590" h="817245">
                  <a:moveTo>
                    <a:pt x="3404659" y="816813"/>
                  </a:moveTo>
                  <a:lnTo>
                    <a:pt x="3404659" y="170675"/>
                  </a:lnTo>
                </a:path>
                <a:path w="4085590" h="817245">
                  <a:moveTo>
                    <a:pt x="3362078" y="816813"/>
                  </a:moveTo>
                  <a:lnTo>
                    <a:pt x="3362078" y="158479"/>
                  </a:lnTo>
                </a:path>
                <a:path w="4085590" h="817245">
                  <a:moveTo>
                    <a:pt x="3319522" y="816813"/>
                  </a:moveTo>
                  <a:lnTo>
                    <a:pt x="3319522" y="121917"/>
                  </a:lnTo>
                </a:path>
                <a:path w="4085590" h="817245">
                  <a:moveTo>
                    <a:pt x="3276965" y="816813"/>
                  </a:moveTo>
                  <a:lnTo>
                    <a:pt x="3276965" y="219444"/>
                  </a:lnTo>
                </a:path>
                <a:path w="4085590" h="817245">
                  <a:moveTo>
                    <a:pt x="3234421" y="816813"/>
                  </a:moveTo>
                  <a:lnTo>
                    <a:pt x="3234421" y="256006"/>
                  </a:lnTo>
                </a:path>
                <a:path w="4085590" h="817245">
                  <a:moveTo>
                    <a:pt x="3191852" y="816813"/>
                  </a:moveTo>
                  <a:lnTo>
                    <a:pt x="3191852" y="213346"/>
                  </a:lnTo>
                </a:path>
                <a:path w="4085590" h="817245">
                  <a:moveTo>
                    <a:pt x="3149296" y="816813"/>
                  </a:moveTo>
                  <a:lnTo>
                    <a:pt x="3149296" y="237725"/>
                  </a:lnTo>
                </a:path>
                <a:path w="4085590" h="817245">
                  <a:moveTo>
                    <a:pt x="3106739" y="816813"/>
                  </a:moveTo>
                  <a:lnTo>
                    <a:pt x="3106739" y="182870"/>
                  </a:lnTo>
                </a:path>
                <a:path w="4085590" h="817245">
                  <a:moveTo>
                    <a:pt x="3064183" y="816813"/>
                  </a:moveTo>
                  <a:lnTo>
                    <a:pt x="3064183" y="158479"/>
                  </a:lnTo>
                </a:path>
                <a:path w="4085590" h="817245">
                  <a:moveTo>
                    <a:pt x="3021627" y="816813"/>
                  </a:moveTo>
                  <a:lnTo>
                    <a:pt x="3021627" y="195065"/>
                  </a:lnTo>
                </a:path>
                <a:path w="4085590" h="817245">
                  <a:moveTo>
                    <a:pt x="2979070" y="816813"/>
                  </a:moveTo>
                  <a:lnTo>
                    <a:pt x="2979070" y="280409"/>
                  </a:lnTo>
                </a:path>
                <a:path w="4085590" h="817245">
                  <a:moveTo>
                    <a:pt x="2936514" y="816813"/>
                  </a:moveTo>
                  <a:lnTo>
                    <a:pt x="2936514" y="207261"/>
                  </a:lnTo>
                </a:path>
                <a:path w="4085590" h="817245">
                  <a:moveTo>
                    <a:pt x="2893957" y="816813"/>
                  </a:moveTo>
                  <a:lnTo>
                    <a:pt x="2893957" y="219444"/>
                  </a:lnTo>
                </a:path>
                <a:path w="4085590" h="817245">
                  <a:moveTo>
                    <a:pt x="2851389" y="816813"/>
                  </a:moveTo>
                  <a:lnTo>
                    <a:pt x="2851389" y="170675"/>
                  </a:lnTo>
                </a:path>
                <a:path w="4085590" h="817245">
                  <a:moveTo>
                    <a:pt x="2808832" y="816813"/>
                  </a:moveTo>
                  <a:lnTo>
                    <a:pt x="2808832" y="115820"/>
                  </a:lnTo>
                </a:path>
                <a:path w="4085590" h="817245">
                  <a:moveTo>
                    <a:pt x="2766276" y="816813"/>
                  </a:moveTo>
                  <a:lnTo>
                    <a:pt x="2766276" y="103624"/>
                  </a:lnTo>
                </a:path>
                <a:path w="4085590" h="817245">
                  <a:moveTo>
                    <a:pt x="2723719" y="816813"/>
                  </a:moveTo>
                  <a:lnTo>
                    <a:pt x="2723719" y="286494"/>
                  </a:lnTo>
                </a:path>
                <a:path w="4085590" h="817245">
                  <a:moveTo>
                    <a:pt x="2681163" y="816813"/>
                  </a:moveTo>
                  <a:lnTo>
                    <a:pt x="2681163" y="298690"/>
                  </a:lnTo>
                </a:path>
                <a:path w="4085590" h="817245">
                  <a:moveTo>
                    <a:pt x="2638595" y="816813"/>
                  </a:moveTo>
                  <a:lnTo>
                    <a:pt x="2638595" y="256006"/>
                  </a:lnTo>
                </a:path>
                <a:path w="4085590" h="817245">
                  <a:moveTo>
                    <a:pt x="2596038" y="816813"/>
                  </a:moveTo>
                  <a:lnTo>
                    <a:pt x="2596038" y="170675"/>
                  </a:lnTo>
                </a:path>
                <a:path w="4085590" h="817245">
                  <a:moveTo>
                    <a:pt x="2553482" y="816813"/>
                  </a:moveTo>
                  <a:lnTo>
                    <a:pt x="2553482" y="231639"/>
                  </a:lnTo>
                </a:path>
                <a:path w="4085590" h="817245">
                  <a:moveTo>
                    <a:pt x="2510925" y="816813"/>
                  </a:moveTo>
                  <a:lnTo>
                    <a:pt x="2510925" y="103624"/>
                  </a:lnTo>
                </a:path>
                <a:path w="4085590" h="817245">
                  <a:moveTo>
                    <a:pt x="2468369" y="816813"/>
                  </a:moveTo>
                  <a:lnTo>
                    <a:pt x="2468369" y="170675"/>
                  </a:lnTo>
                </a:path>
                <a:path w="4085590" h="817245">
                  <a:moveTo>
                    <a:pt x="2425812" y="816813"/>
                  </a:moveTo>
                  <a:lnTo>
                    <a:pt x="2425812" y="140198"/>
                  </a:lnTo>
                </a:path>
                <a:path w="4085590" h="817245">
                  <a:moveTo>
                    <a:pt x="2383256" y="816813"/>
                  </a:moveTo>
                  <a:lnTo>
                    <a:pt x="2383256" y="231639"/>
                  </a:lnTo>
                </a:path>
                <a:path w="4085590" h="817245">
                  <a:moveTo>
                    <a:pt x="2340700" y="816813"/>
                  </a:moveTo>
                  <a:lnTo>
                    <a:pt x="2340700" y="48769"/>
                  </a:lnTo>
                </a:path>
                <a:path w="4085590" h="817245">
                  <a:moveTo>
                    <a:pt x="2298143" y="816813"/>
                  </a:moveTo>
                  <a:lnTo>
                    <a:pt x="2298143" y="286494"/>
                  </a:lnTo>
                </a:path>
                <a:path w="4085590" h="817245">
                  <a:moveTo>
                    <a:pt x="2255587" y="816813"/>
                  </a:moveTo>
                  <a:lnTo>
                    <a:pt x="2255587" y="158479"/>
                  </a:lnTo>
                </a:path>
                <a:path w="4085590" h="817245">
                  <a:moveTo>
                    <a:pt x="2213030" y="816813"/>
                  </a:moveTo>
                  <a:lnTo>
                    <a:pt x="2213030" y="176784"/>
                  </a:lnTo>
                </a:path>
                <a:path w="4085590" h="817245">
                  <a:moveTo>
                    <a:pt x="2170474" y="816813"/>
                  </a:moveTo>
                  <a:lnTo>
                    <a:pt x="2170474" y="170675"/>
                  </a:lnTo>
                </a:path>
                <a:path w="4085590" h="817245">
                  <a:moveTo>
                    <a:pt x="2127893" y="816813"/>
                  </a:moveTo>
                  <a:lnTo>
                    <a:pt x="2127893" y="237725"/>
                  </a:lnTo>
                </a:path>
                <a:path w="4085590" h="817245">
                  <a:moveTo>
                    <a:pt x="2085349" y="816813"/>
                  </a:moveTo>
                  <a:lnTo>
                    <a:pt x="2085349" y="225530"/>
                  </a:lnTo>
                </a:path>
                <a:path w="4085590" h="817245">
                  <a:moveTo>
                    <a:pt x="2042792" y="816813"/>
                  </a:moveTo>
                  <a:lnTo>
                    <a:pt x="2042792" y="158479"/>
                  </a:lnTo>
                </a:path>
                <a:path w="4085590" h="817245">
                  <a:moveTo>
                    <a:pt x="2000236" y="816813"/>
                  </a:moveTo>
                  <a:lnTo>
                    <a:pt x="2000236" y="85331"/>
                  </a:lnTo>
                </a:path>
                <a:path w="4085590" h="817245">
                  <a:moveTo>
                    <a:pt x="1957668" y="816813"/>
                  </a:moveTo>
                  <a:lnTo>
                    <a:pt x="1957668" y="164589"/>
                  </a:lnTo>
                </a:path>
                <a:path w="4085590" h="817245">
                  <a:moveTo>
                    <a:pt x="1915123" y="816813"/>
                  </a:moveTo>
                  <a:lnTo>
                    <a:pt x="1915123" y="146296"/>
                  </a:lnTo>
                </a:path>
                <a:path w="4085590" h="817245">
                  <a:moveTo>
                    <a:pt x="1872555" y="816813"/>
                  </a:moveTo>
                  <a:lnTo>
                    <a:pt x="1872555" y="176784"/>
                  </a:lnTo>
                </a:path>
                <a:path w="4085590" h="817245">
                  <a:moveTo>
                    <a:pt x="1829998" y="816813"/>
                  </a:moveTo>
                  <a:lnTo>
                    <a:pt x="1829998" y="213346"/>
                  </a:lnTo>
                </a:path>
                <a:path w="4085590" h="817245">
                  <a:moveTo>
                    <a:pt x="1787442" y="816813"/>
                  </a:moveTo>
                  <a:lnTo>
                    <a:pt x="1787442" y="304776"/>
                  </a:lnTo>
                </a:path>
                <a:path w="4085590" h="817245">
                  <a:moveTo>
                    <a:pt x="1744885" y="816813"/>
                  </a:moveTo>
                  <a:lnTo>
                    <a:pt x="1744885" y="268213"/>
                  </a:lnTo>
                </a:path>
                <a:path w="4085590" h="817245">
                  <a:moveTo>
                    <a:pt x="1702317" y="816813"/>
                  </a:moveTo>
                  <a:lnTo>
                    <a:pt x="1702317" y="262116"/>
                  </a:lnTo>
                </a:path>
                <a:path w="4085590" h="817245">
                  <a:moveTo>
                    <a:pt x="1659761" y="816813"/>
                  </a:moveTo>
                  <a:lnTo>
                    <a:pt x="1659761" y="280409"/>
                  </a:lnTo>
                </a:path>
                <a:path w="4085590" h="817245">
                  <a:moveTo>
                    <a:pt x="1617204" y="816813"/>
                  </a:moveTo>
                  <a:lnTo>
                    <a:pt x="1617204" y="152393"/>
                  </a:lnTo>
                </a:path>
                <a:path w="4085590" h="817245">
                  <a:moveTo>
                    <a:pt x="1574648" y="816813"/>
                  </a:moveTo>
                  <a:lnTo>
                    <a:pt x="1574648" y="237725"/>
                  </a:lnTo>
                </a:path>
                <a:path w="4085590" h="817245">
                  <a:moveTo>
                    <a:pt x="1532091" y="816813"/>
                  </a:moveTo>
                  <a:lnTo>
                    <a:pt x="1532091" y="280409"/>
                  </a:lnTo>
                </a:path>
                <a:path w="4085590" h="817245">
                  <a:moveTo>
                    <a:pt x="1489535" y="816813"/>
                  </a:moveTo>
                  <a:lnTo>
                    <a:pt x="1489535" y="176784"/>
                  </a:lnTo>
                </a:path>
                <a:path w="4085590" h="817245">
                  <a:moveTo>
                    <a:pt x="1446978" y="816813"/>
                  </a:moveTo>
                  <a:lnTo>
                    <a:pt x="1446978" y="207261"/>
                  </a:lnTo>
                </a:path>
                <a:path w="4085590" h="817245">
                  <a:moveTo>
                    <a:pt x="1404422" y="816813"/>
                  </a:moveTo>
                  <a:lnTo>
                    <a:pt x="1404422" y="158479"/>
                  </a:lnTo>
                </a:path>
                <a:path w="4085590" h="817245">
                  <a:moveTo>
                    <a:pt x="1361865" y="816813"/>
                  </a:moveTo>
                  <a:lnTo>
                    <a:pt x="1361865" y="304776"/>
                  </a:lnTo>
                </a:path>
                <a:path w="4085590" h="817245">
                  <a:moveTo>
                    <a:pt x="1319297" y="816813"/>
                  </a:moveTo>
                  <a:lnTo>
                    <a:pt x="1319297" y="225530"/>
                  </a:lnTo>
                </a:path>
                <a:path w="4085590" h="817245">
                  <a:moveTo>
                    <a:pt x="1276741" y="816813"/>
                  </a:moveTo>
                  <a:lnTo>
                    <a:pt x="1276741" y="249920"/>
                  </a:lnTo>
                </a:path>
                <a:path w="4085590" h="817245">
                  <a:moveTo>
                    <a:pt x="1234184" y="816813"/>
                  </a:moveTo>
                  <a:lnTo>
                    <a:pt x="1234184" y="79245"/>
                  </a:lnTo>
                </a:path>
                <a:path w="4085590" h="817245">
                  <a:moveTo>
                    <a:pt x="1191628" y="816813"/>
                  </a:moveTo>
                  <a:lnTo>
                    <a:pt x="1191628" y="213346"/>
                  </a:lnTo>
                </a:path>
                <a:path w="4085590" h="817245">
                  <a:moveTo>
                    <a:pt x="1149071" y="816813"/>
                  </a:moveTo>
                  <a:lnTo>
                    <a:pt x="1149071" y="195065"/>
                  </a:lnTo>
                </a:path>
                <a:path w="4085590" h="817245">
                  <a:moveTo>
                    <a:pt x="1106515" y="816813"/>
                  </a:moveTo>
                  <a:lnTo>
                    <a:pt x="1106515" y="128015"/>
                  </a:lnTo>
                </a:path>
                <a:path w="4085590" h="817245">
                  <a:moveTo>
                    <a:pt x="1063958" y="816813"/>
                  </a:moveTo>
                  <a:lnTo>
                    <a:pt x="1063958" y="225530"/>
                  </a:lnTo>
                </a:path>
                <a:path w="4085590" h="817245">
                  <a:moveTo>
                    <a:pt x="1021390" y="816813"/>
                  </a:moveTo>
                  <a:lnTo>
                    <a:pt x="1021390" y="201151"/>
                  </a:lnTo>
                </a:path>
                <a:path w="4085590" h="817245">
                  <a:moveTo>
                    <a:pt x="978834" y="816813"/>
                  </a:moveTo>
                  <a:lnTo>
                    <a:pt x="978834" y="158479"/>
                  </a:lnTo>
                </a:path>
                <a:path w="4085590" h="817245">
                  <a:moveTo>
                    <a:pt x="936277" y="816813"/>
                  </a:moveTo>
                  <a:lnTo>
                    <a:pt x="936277" y="207261"/>
                  </a:lnTo>
                </a:path>
                <a:path w="4085590" h="817245">
                  <a:moveTo>
                    <a:pt x="893721" y="816813"/>
                  </a:moveTo>
                  <a:lnTo>
                    <a:pt x="893721" y="207261"/>
                  </a:lnTo>
                </a:path>
                <a:path w="4085590" h="817245">
                  <a:moveTo>
                    <a:pt x="851164" y="816813"/>
                  </a:moveTo>
                  <a:lnTo>
                    <a:pt x="851164" y="36586"/>
                  </a:lnTo>
                </a:path>
                <a:path w="4085590" h="817245">
                  <a:moveTo>
                    <a:pt x="808608" y="816813"/>
                  </a:moveTo>
                  <a:lnTo>
                    <a:pt x="808608" y="170675"/>
                  </a:lnTo>
                </a:path>
                <a:path w="4085590" h="817245">
                  <a:moveTo>
                    <a:pt x="766051" y="816813"/>
                  </a:moveTo>
                  <a:lnTo>
                    <a:pt x="766051" y="164589"/>
                  </a:lnTo>
                </a:path>
                <a:path w="4085590" h="817245">
                  <a:moveTo>
                    <a:pt x="723483" y="816813"/>
                  </a:moveTo>
                  <a:lnTo>
                    <a:pt x="723483" y="237725"/>
                  </a:lnTo>
                </a:path>
                <a:path w="4085590" h="817245">
                  <a:moveTo>
                    <a:pt x="680938" y="816813"/>
                  </a:moveTo>
                  <a:lnTo>
                    <a:pt x="680938" y="268213"/>
                  </a:lnTo>
                </a:path>
                <a:path w="4085590" h="817245">
                  <a:moveTo>
                    <a:pt x="638370" y="816813"/>
                  </a:moveTo>
                  <a:lnTo>
                    <a:pt x="638370" y="201151"/>
                  </a:lnTo>
                </a:path>
                <a:path w="4085590" h="817245">
                  <a:moveTo>
                    <a:pt x="595814" y="816813"/>
                  </a:moveTo>
                  <a:lnTo>
                    <a:pt x="595814" y="115820"/>
                  </a:lnTo>
                </a:path>
                <a:path w="4085590" h="817245">
                  <a:moveTo>
                    <a:pt x="553257" y="816813"/>
                  </a:moveTo>
                  <a:lnTo>
                    <a:pt x="553257" y="201151"/>
                  </a:lnTo>
                </a:path>
                <a:path w="4085590" h="817245">
                  <a:moveTo>
                    <a:pt x="510701" y="816813"/>
                  </a:moveTo>
                  <a:lnTo>
                    <a:pt x="510701" y="97526"/>
                  </a:lnTo>
                </a:path>
                <a:path w="4085590" h="817245">
                  <a:moveTo>
                    <a:pt x="468144" y="816813"/>
                  </a:moveTo>
                  <a:lnTo>
                    <a:pt x="468144" y="103624"/>
                  </a:lnTo>
                </a:path>
                <a:path w="4085590" h="817245">
                  <a:moveTo>
                    <a:pt x="425588" y="816813"/>
                  </a:moveTo>
                  <a:lnTo>
                    <a:pt x="425588" y="201151"/>
                  </a:lnTo>
                </a:path>
                <a:path w="4085590" h="817245">
                  <a:moveTo>
                    <a:pt x="383031" y="816813"/>
                  </a:moveTo>
                  <a:lnTo>
                    <a:pt x="383031" y="152393"/>
                  </a:lnTo>
                </a:path>
                <a:path w="4085590" h="817245">
                  <a:moveTo>
                    <a:pt x="340475" y="816813"/>
                  </a:moveTo>
                  <a:lnTo>
                    <a:pt x="340475" y="182870"/>
                  </a:lnTo>
                </a:path>
                <a:path w="4085590" h="817245">
                  <a:moveTo>
                    <a:pt x="297907" y="816813"/>
                  </a:moveTo>
                  <a:lnTo>
                    <a:pt x="297907" y="201151"/>
                  </a:lnTo>
                </a:path>
                <a:path w="4085590" h="817245">
                  <a:moveTo>
                    <a:pt x="255350" y="816813"/>
                  </a:moveTo>
                  <a:lnTo>
                    <a:pt x="255350" y="213346"/>
                  </a:lnTo>
                </a:path>
                <a:path w="4085590" h="817245">
                  <a:moveTo>
                    <a:pt x="212794" y="816813"/>
                  </a:moveTo>
                  <a:lnTo>
                    <a:pt x="212794" y="182870"/>
                  </a:lnTo>
                </a:path>
                <a:path w="4085590" h="817245">
                  <a:moveTo>
                    <a:pt x="170237" y="816813"/>
                  </a:moveTo>
                  <a:lnTo>
                    <a:pt x="170237" y="201151"/>
                  </a:lnTo>
                </a:path>
                <a:path w="4085590" h="817245">
                  <a:moveTo>
                    <a:pt x="127681" y="816813"/>
                  </a:moveTo>
                  <a:lnTo>
                    <a:pt x="127681" y="152393"/>
                  </a:lnTo>
                </a:path>
                <a:path w="4085590" h="817245">
                  <a:moveTo>
                    <a:pt x="85112" y="816813"/>
                  </a:moveTo>
                  <a:lnTo>
                    <a:pt x="85112" y="170675"/>
                  </a:lnTo>
                </a:path>
                <a:path w="4085590" h="817245">
                  <a:moveTo>
                    <a:pt x="42568" y="816813"/>
                  </a:moveTo>
                  <a:lnTo>
                    <a:pt x="42568" y="109734"/>
                  </a:lnTo>
                </a:path>
                <a:path w="4085590" h="817245">
                  <a:moveTo>
                    <a:pt x="0" y="816813"/>
                  </a:moveTo>
                  <a:lnTo>
                    <a:pt x="0" y="237725"/>
                  </a:lnTo>
                </a:path>
              </a:pathLst>
            </a:custGeom>
            <a:ln w="3162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10481048" y="2233259"/>
              <a:ext cx="61594" cy="61594"/>
            </a:xfrm>
            <a:custGeom>
              <a:avLst/>
              <a:gdLst/>
              <a:ahLst/>
              <a:cxnLst/>
              <a:rect l="l" t="t" r="r" b="b"/>
              <a:pathLst>
                <a:path w="61595" h="61594">
                  <a:moveTo>
                    <a:pt x="30541" y="0"/>
                  </a:moveTo>
                  <a:lnTo>
                    <a:pt x="19048" y="2236"/>
                  </a:lnTo>
                  <a:lnTo>
                    <a:pt x="8945" y="8945"/>
                  </a:lnTo>
                  <a:lnTo>
                    <a:pt x="2236" y="19049"/>
                  </a:lnTo>
                  <a:lnTo>
                    <a:pt x="0" y="30541"/>
                  </a:lnTo>
                  <a:lnTo>
                    <a:pt x="2236" y="42034"/>
                  </a:lnTo>
                  <a:lnTo>
                    <a:pt x="8945" y="52138"/>
                  </a:lnTo>
                  <a:lnTo>
                    <a:pt x="19048" y="58847"/>
                  </a:lnTo>
                  <a:lnTo>
                    <a:pt x="30541" y="61083"/>
                  </a:lnTo>
                  <a:lnTo>
                    <a:pt x="42034" y="58847"/>
                  </a:lnTo>
                  <a:lnTo>
                    <a:pt x="52137" y="52138"/>
                  </a:lnTo>
                  <a:lnTo>
                    <a:pt x="58846" y="42034"/>
                  </a:lnTo>
                  <a:lnTo>
                    <a:pt x="61083" y="30541"/>
                  </a:lnTo>
                  <a:lnTo>
                    <a:pt x="58846" y="19049"/>
                  </a:lnTo>
                  <a:lnTo>
                    <a:pt x="52137" y="8945"/>
                  </a:lnTo>
                  <a:lnTo>
                    <a:pt x="42034" y="2236"/>
                  </a:lnTo>
                  <a:lnTo>
                    <a:pt x="3054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8159879" y="2174282"/>
              <a:ext cx="2723515" cy="355600"/>
            </a:xfrm>
            <a:custGeom>
              <a:avLst/>
              <a:gdLst/>
              <a:ahLst/>
              <a:cxnLst/>
              <a:rect l="l" t="t" r="r" b="b"/>
              <a:pathLst>
                <a:path w="2723515" h="355600">
                  <a:moveTo>
                    <a:pt x="0" y="353862"/>
                  </a:moveTo>
                  <a:lnTo>
                    <a:pt x="2723477" y="354915"/>
                  </a:lnTo>
                </a:path>
                <a:path w="2723515" h="355600">
                  <a:moveTo>
                    <a:pt x="151655" y="0"/>
                  </a:moveTo>
                  <a:lnTo>
                    <a:pt x="152713" y="355440"/>
                  </a:lnTo>
                </a:path>
                <a:path w="2723515" h="355600">
                  <a:moveTo>
                    <a:pt x="303310" y="0"/>
                  </a:moveTo>
                  <a:lnTo>
                    <a:pt x="304368" y="355440"/>
                  </a:lnTo>
                </a:path>
                <a:path w="2723515" h="355600">
                  <a:moveTo>
                    <a:pt x="454965" y="0"/>
                  </a:moveTo>
                  <a:lnTo>
                    <a:pt x="456023" y="355440"/>
                  </a:lnTo>
                </a:path>
                <a:path w="2723515" h="355600">
                  <a:moveTo>
                    <a:pt x="606621" y="0"/>
                  </a:moveTo>
                  <a:lnTo>
                    <a:pt x="607679" y="355440"/>
                  </a:lnTo>
                </a:path>
                <a:path w="2723515" h="355600">
                  <a:moveTo>
                    <a:pt x="758276" y="0"/>
                  </a:moveTo>
                  <a:lnTo>
                    <a:pt x="759334" y="355440"/>
                  </a:lnTo>
                </a:path>
                <a:path w="2723515" h="355600">
                  <a:moveTo>
                    <a:pt x="909931" y="0"/>
                  </a:moveTo>
                  <a:lnTo>
                    <a:pt x="910989" y="355440"/>
                  </a:lnTo>
                </a:path>
                <a:path w="2723515" h="355600">
                  <a:moveTo>
                    <a:pt x="1061587" y="0"/>
                  </a:moveTo>
                  <a:lnTo>
                    <a:pt x="1062645" y="355440"/>
                  </a:lnTo>
                </a:path>
                <a:path w="2723515" h="355600">
                  <a:moveTo>
                    <a:pt x="1213242" y="0"/>
                  </a:moveTo>
                  <a:lnTo>
                    <a:pt x="1214300" y="355440"/>
                  </a:lnTo>
                </a:path>
                <a:path w="2723515" h="355600">
                  <a:moveTo>
                    <a:pt x="1364897" y="0"/>
                  </a:moveTo>
                  <a:lnTo>
                    <a:pt x="1365955" y="355440"/>
                  </a:lnTo>
                </a:path>
                <a:path w="2723515" h="355600">
                  <a:moveTo>
                    <a:pt x="1516553" y="0"/>
                  </a:moveTo>
                  <a:lnTo>
                    <a:pt x="1517611" y="355440"/>
                  </a:lnTo>
                </a:path>
                <a:path w="2723515" h="355600">
                  <a:moveTo>
                    <a:pt x="1668208" y="0"/>
                  </a:moveTo>
                  <a:lnTo>
                    <a:pt x="1669266" y="355440"/>
                  </a:lnTo>
                </a:path>
                <a:path w="2723515" h="355600">
                  <a:moveTo>
                    <a:pt x="1819863" y="0"/>
                  </a:moveTo>
                  <a:lnTo>
                    <a:pt x="1820921" y="355440"/>
                  </a:lnTo>
                </a:path>
                <a:path w="2723515" h="355600">
                  <a:moveTo>
                    <a:pt x="1971519" y="0"/>
                  </a:moveTo>
                  <a:lnTo>
                    <a:pt x="1972577" y="355440"/>
                  </a:lnTo>
                </a:path>
                <a:path w="2723515" h="355600">
                  <a:moveTo>
                    <a:pt x="2123174" y="0"/>
                  </a:moveTo>
                  <a:lnTo>
                    <a:pt x="2124232" y="355440"/>
                  </a:lnTo>
                </a:path>
                <a:path w="2723515" h="355600">
                  <a:moveTo>
                    <a:pt x="2274829" y="0"/>
                  </a:moveTo>
                  <a:lnTo>
                    <a:pt x="2275887" y="355440"/>
                  </a:lnTo>
                </a:path>
                <a:path w="2723515" h="355600">
                  <a:moveTo>
                    <a:pt x="2426485" y="0"/>
                  </a:moveTo>
                  <a:lnTo>
                    <a:pt x="2427543" y="355440"/>
                  </a:lnTo>
                </a:path>
                <a:path w="2723515" h="355600">
                  <a:moveTo>
                    <a:pt x="2573401" y="0"/>
                  </a:moveTo>
                  <a:lnTo>
                    <a:pt x="2574459" y="355440"/>
                  </a:lnTo>
                </a:path>
              </a:pathLst>
            </a:custGeom>
            <a:ln w="11848">
              <a:solidFill>
                <a:srgbClr val="AB332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8349437" y="2233269"/>
              <a:ext cx="2193290" cy="242570"/>
            </a:xfrm>
            <a:custGeom>
              <a:avLst/>
              <a:gdLst/>
              <a:ahLst/>
              <a:cxnLst/>
              <a:rect l="l" t="t" r="r" b="b"/>
              <a:pathLst>
                <a:path w="2193290" h="242569">
                  <a:moveTo>
                    <a:pt x="61087" y="211683"/>
                  </a:moveTo>
                  <a:lnTo>
                    <a:pt x="58851" y="200190"/>
                  </a:lnTo>
                  <a:lnTo>
                    <a:pt x="52146" y="190080"/>
                  </a:lnTo>
                  <a:lnTo>
                    <a:pt x="42037" y="183375"/>
                  </a:lnTo>
                  <a:lnTo>
                    <a:pt x="30543" y="181140"/>
                  </a:lnTo>
                  <a:lnTo>
                    <a:pt x="19050" y="183375"/>
                  </a:lnTo>
                  <a:lnTo>
                    <a:pt x="8953" y="190080"/>
                  </a:lnTo>
                  <a:lnTo>
                    <a:pt x="2235" y="200190"/>
                  </a:lnTo>
                  <a:lnTo>
                    <a:pt x="0" y="211683"/>
                  </a:lnTo>
                  <a:lnTo>
                    <a:pt x="2235" y="223177"/>
                  </a:lnTo>
                  <a:lnTo>
                    <a:pt x="8953" y="233273"/>
                  </a:lnTo>
                  <a:lnTo>
                    <a:pt x="19050" y="239991"/>
                  </a:lnTo>
                  <a:lnTo>
                    <a:pt x="30543" y="242227"/>
                  </a:lnTo>
                  <a:lnTo>
                    <a:pt x="42037" y="239991"/>
                  </a:lnTo>
                  <a:lnTo>
                    <a:pt x="52146" y="233273"/>
                  </a:lnTo>
                  <a:lnTo>
                    <a:pt x="58851" y="223177"/>
                  </a:lnTo>
                  <a:lnTo>
                    <a:pt x="61087" y="211683"/>
                  </a:lnTo>
                  <a:close/>
                </a:path>
                <a:path w="2193290" h="242569">
                  <a:moveTo>
                    <a:pt x="372821" y="211683"/>
                  </a:moveTo>
                  <a:lnTo>
                    <a:pt x="370586" y="200190"/>
                  </a:lnTo>
                  <a:lnTo>
                    <a:pt x="363880" y="190080"/>
                  </a:lnTo>
                  <a:lnTo>
                    <a:pt x="353771" y="183375"/>
                  </a:lnTo>
                  <a:lnTo>
                    <a:pt x="342277" y="181140"/>
                  </a:lnTo>
                  <a:lnTo>
                    <a:pt x="330784" y="183375"/>
                  </a:lnTo>
                  <a:lnTo>
                    <a:pt x="320687" y="190080"/>
                  </a:lnTo>
                  <a:lnTo>
                    <a:pt x="313982" y="200190"/>
                  </a:lnTo>
                  <a:lnTo>
                    <a:pt x="311746" y="211683"/>
                  </a:lnTo>
                  <a:lnTo>
                    <a:pt x="313982" y="223177"/>
                  </a:lnTo>
                  <a:lnTo>
                    <a:pt x="320687" y="233273"/>
                  </a:lnTo>
                  <a:lnTo>
                    <a:pt x="330784" y="239991"/>
                  </a:lnTo>
                  <a:lnTo>
                    <a:pt x="342277" y="242227"/>
                  </a:lnTo>
                  <a:lnTo>
                    <a:pt x="353771" y="239991"/>
                  </a:lnTo>
                  <a:lnTo>
                    <a:pt x="363880" y="233273"/>
                  </a:lnTo>
                  <a:lnTo>
                    <a:pt x="370586" y="223177"/>
                  </a:lnTo>
                  <a:lnTo>
                    <a:pt x="372821" y="211683"/>
                  </a:lnTo>
                  <a:close/>
                </a:path>
                <a:path w="2193290" h="242569">
                  <a:moveTo>
                    <a:pt x="673633" y="211683"/>
                  </a:moveTo>
                  <a:lnTo>
                    <a:pt x="671398" y="200190"/>
                  </a:lnTo>
                  <a:lnTo>
                    <a:pt x="664692" y="190080"/>
                  </a:lnTo>
                  <a:lnTo>
                    <a:pt x="654583" y="183375"/>
                  </a:lnTo>
                  <a:lnTo>
                    <a:pt x="643089" y="181140"/>
                  </a:lnTo>
                  <a:lnTo>
                    <a:pt x="631596" y="183375"/>
                  </a:lnTo>
                  <a:lnTo>
                    <a:pt x="621499" y="190080"/>
                  </a:lnTo>
                  <a:lnTo>
                    <a:pt x="614781" y="200190"/>
                  </a:lnTo>
                  <a:lnTo>
                    <a:pt x="612546" y="211683"/>
                  </a:lnTo>
                  <a:lnTo>
                    <a:pt x="614781" y="223177"/>
                  </a:lnTo>
                  <a:lnTo>
                    <a:pt x="621499" y="233273"/>
                  </a:lnTo>
                  <a:lnTo>
                    <a:pt x="631596" y="239991"/>
                  </a:lnTo>
                  <a:lnTo>
                    <a:pt x="643089" y="242227"/>
                  </a:lnTo>
                  <a:lnTo>
                    <a:pt x="654583" y="239991"/>
                  </a:lnTo>
                  <a:lnTo>
                    <a:pt x="664692" y="233273"/>
                  </a:lnTo>
                  <a:lnTo>
                    <a:pt x="671398" y="223177"/>
                  </a:lnTo>
                  <a:lnTo>
                    <a:pt x="673633" y="211683"/>
                  </a:lnTo>
                  <a:close/>
                </a:path>
                <a:path w="2193290" h="242569">
                  <a:moveTo>
                    <a:pt x="676135" y="123215"/>
                  </a:moveTo>
                  <a:lnTo>
                    <a:pt x="673900" y="111721"/>
                  </a:lnTo>
                  <a:lnTo>
                    <a:pt x="667194" y="101625"/>
                  </a:lnTo>
                  <a:lnTo>
                    <a:pt x="657085" y="94907"/>
                  </a:lnTo>
                  <a:lnTo>
                    <a:pt x="645591" y="92671"/>
                  </a:lnTo>
                  <a:lnTo>
                    <a:pt x="634098" y="94907"/>
                  </a:lnTo>
                  <a:lnTo>
                    <a:pt x="624001" y="101625"/>
                  </a:lnTo>
                  <a:lnTo>
                    <a:pt x="617283" y="111721"/>
                  </a:lnTo>
                  <a:lnTo>
                    <a:pt x="615048" y="123215"/>
                  </a:lnTo>
                  <a:lnTo>
                    <a:pt x="617283" y="134708"/>
                  </a:lnTo>
                  <a:lnTo>
                    <a:pt x="624001" y="144818"/>
                  </a:lnTo>
                  <a:lnTo>
                    <a:pt x="634098" y="151523"/>
                  </a:lnTo>
                  <a:lnTo>
                    <a:pt x="645591" y="153758"/>
                  </a:lnTo>
                  <a:lnTo>
                    <a:pt x="657085" y="151523"/>
                  </a:lnTo>
                  <a:lnTo>
                    <a:pt x="667194" y="144818"/>
                  </a:lnTo>
                  <a:lnTo>
                    <a:pt x="673900" y="134708"/>
                  </a:lnTo>
                  <a:lnTo>
                    <a:pt x="676135" y="123215"/>
                  </a:lnTo>
                  <a:close/>
                </a:path>
                <a:path w="2193290" h="242569">
                  <a:moveTo>
                    <a:pt x="827659" y="211683"/>
                  </a:moveTo>
                  <a:lnTo>
                    <a:pt x="825423" y="200190"/>
                  </a:lnTo>
                  <a:lnTo>
                    <a:pt x="818718" y="190080"/>
                  </a:lnTo>
                  <a:lnTo>
                    <a:pt x="808609" y="183375"/>
                  </a:lnTo>
                  <a:lnTo>
                    <a:pt x="797115" y="181140"/>
                  </a:lnTo>
                  <a:lnTo>
                    <a:pt x="785622" y="183375"/>
                  </a:lnTo>
                  <a:lnTo>
                    <a:pt x="775525" y="190080"/>
                  </a:lnTo>
                  <a:lnTo>
                    <a:pt x="768807" y="200190"/>
                  </a:lnTo>
                  <a:lnTo>
                    <a:pt x="766572" y="211683"/>
                  </a:lnTo>
                  <a:lnTo>
                    <a:pt x="768807" y="223177"/>
                  </a:lnTo>
                  <a:lnTo>
                    <a:pt x="775525" y="233273"/>
                  </a:lnTo>
                  <a:lnTo>
                    <a:pt x="785622" y="239991"/>
                  </a:lnTo>
                  <a:lnTo>
                    <a:pt x="797115" y="242227"/>
                  </a:lnTo>
                  <a:lnTo>
                    <a:pt x="808609" y="239991"/>
                  </a:lnTo>
                  <a:lnTo>
                    <a:pt x="818718" y="233273"/>
                  </a:lnTo>
                  <a:lnTo>
                    <a:pt x="825423" y="223177"/>
                  </a:lnTo>
                  <a:lnTo>
                    <a:pt x="827659" y="211683"/>
                  </a:lnTo>
                  <a:close/>
                </a:path>
                <a:path w="2193290" h="242569">
                  <a:moveTo>
                    <a:pt x="1129779" y="211683"/>
                  </a:moveTo>
                  <a:lnTo>
                    <a:pt x="1127544" y="200190"/>
                  </a:lnTo>
                  <a:lnTo>
                    <a:pt x="1120838" y="190080"/>
                  </a:lnTo>
                  <a:lnTo>
                    <a:pt x="1110729" y="183375"/>
                  </a:lnTo>
                  <a:lnTo>
                    <a:pt x="1099248" y="181140"/>
                  </a:lnTo>
                  <a:lnTo>
                    <a:pt x="1087755" y="183375"/>
                  </a:lnTo>
                  <a:lnTo>
                    <a:pt x="1077645" y="190080"/>
                  </a:lnTo>
                  <a:lnTo>
                    <a:pt x="1070940" y="200190"/>
                  </a:lnTo>
                  <a:lnTo>
                    <a:pt x="1068705" y="211683"/>
                  </a:lnTo>
                  <a:lnTo>
                    <a:pt x="1070940" y="223177"/>
                  </a:lnTo>
                  <a:lnTo>
                    <a:pt x="1077645" y="233273"/>
                  </a:lnTo>
                  <a:lnTo>
                    <a:pt x="1087755" y="239991"/>
                  </a:lnTo>
                  <a:lnTo>
                    <a:pt x="1099248" y="242227"/>
                  </a:lnTo>
                  <a:lnTo>
                    <a:pt x="1110729" y="239991"/>
                  </a:lnTo>
                  <a:lnTo>
                    <a:pt x="1120838" y="233273"/>
                  </a:lnTo>
                  <a:lnTo>
                    <a:pt x="1127544" y="223177"/>
                  </a:lnTo>
                  <a:lnTo>
                    <a:pt x="1129779" y="211683"/>
                  </a:lnTo>
                  <a:close/>
                </a:path>
                <a:path w="2193290" h="242569">
                  <a:moveTo>
                    <a:pt x="1586064" y="209575"/>
                  </a:moveTo>
                  <a:lnTo>
                    <a:pt x="1583829" y="198081"/>
                  </a:lnTo>
                  <a:lnTo>
                    <a:pt x="1577124" y="187985"/>
                  </a:lnTo>
                  <a:lnTo>
                    <a:pt x="1567014" y="181267"/>
                  </a:lnTo>
                  <a:lnTo>
                    <a:pt x="1555521" y="179031"/>
                  </a:lnTo>
                  <a:lnTo>
                    <a:pt x="1544027" y="181267"/>
                  </a:lnTo>
                  <a:lnTo>
                    <a:pt x="1533931" y="187985"/>
                  </a:lnTo>
                  <a:lnTo>
                    <a:pt x="1527225" y="198081"/>
                  </a:lnTo>
                  <a:lnTo>
                    <a:pt x="1524977" y="209575"/>
                  </a:lnTo>
                  <a:lnTo>
                    <a:pt x="1527225" y="221068"/>
                  </a:lnTo>
                  <a:lnTo>
                    <a:pt x="1533931" y="231178"/>
                  </a:lnTo>
                  <a:lnTo>
                    <a:pt x="1544027" y="237883"/>
                  </a:lnTo>
                  <a:lnTo>
                    <a:pt x="1555521" y="240118"/>
                  </a:lnTo>
                  <a:lnTo>
                    <a:pt x="1567014" y="237883"/>
                  </a:lnTo>
                  <a:lnTo>
                    <a:pt x="1577124" y="231178"/>
                  </a:lnTo>
                  <a:lnTo>
                    <a:pt x="1583829" y="221068"/>
                  </a:lnTo>
                  <a:lnTo>
                    <a:pt x="1586064" y="209575"/>
                  </a:lnTo>
                  <a:close/>
                </a:path>
                <a:path w="2193290" h="242569">
                  <a:moveTo>
                    <a:pt x="1741932" y="211683"/>
                  </a:moveTo>
                  <a:lnTo>
                    <a:pt x="1739696" y="200190"/>
                  </a:lnTo>
                  <a:lnTo>
                    <a:pt x="1732991" y="190080"/>
                  </a:lnTo>
                  <a:lnTo>
                    <a:pt x="1722882" y="183375"/>
                  </a:lnTo>
                  <a:lnTo>
                    <a:pt x="1711388" y="181140"/>
                  </a:lnTo>
                  <a:lnTo>
                    <a:pt x="1699895" y="183375"/>
                  </a:lnTo>
                  <a:lnTo>
                    <a:pt x="1689798" y="190080"/>
                  </a:lnTo>
                  <a:lnTo>
                    <a:pt x="1683092" y="200190"/>
                  </a:lnTo>
                  <a:lnTo>
                    <a:pt x="1680857" y="211683"/>
                  </a:lnTo>
                  <a:lnTo>
                    <a:pt x="1683092" y="223177"/>
                  </a:lnTo>
                  <a:lnTo>
                    <a:pt x="1689798" y="233273"/>
                  </a:lnTo>
                  <a:lnTo>
                    <a:pt x="1699895" y="239991"/>
                  </a:lnTo>
                  <a:lnTo>
                    <a:pt x="1711388" y="242227"/>
                  </a:lnTo>
                  <a:lnTo>
                    <a:pt x="1722882" y="239991"/>
                  </a:lnTo>
                  <a:lnTo>
                    <a:pt x="1732991" y="233273"/>
                  </a:lnTo>
                  <a:lnTo>
                    <a:pt x="1739696" y="223177"/>
                  </a:lnTo>
                  <a:lnTo>
                    <a:pt x="1741932" y="211683"/>
                  </a:lnTo>
                  <a:close/>
                </a:path>
                <a:path w="2193290" h="242569">
                  <a:moveTo>
                    <a:pt x="2190191" y="116903"/>
                  </a:moveTo>
                  <a:lnTo>
                    <a:pt x="2187956" y="105410"/>
                  </a:lnTo>
                  <a:lnTo>
                    <a:pt x="2181237" y="95300"/>
                  </a:lnTo>
                  <a:lnTo>
                    <a:pt x="2171141" y="88595"/>
                  </a:lnTo>
                  <a:lnTo>
                    <a:pt x="2159647" y="86360"/>
                  </a:lnTo>
                  <a:lnTo>
                    <a:pt x="2148154" y="88595"/>
                  </a:lnTo>
                  <a:lnTo>
                    <a:pt x="2138045" y="95300"/>
                  </a:lnTo>
                  <a:lnTo>
                    <a:pt x="2131339" y="105410"/>
                  </a:lnTo>
                  <a:lnTo>
                    <a:pt x="2129104" y="116903"/>
                  </a:lnTo>
                  <a:lnTo>
                    <a:pt x="2131339" y="128384"/>
                  </a:lnTo>
                  <a:lnTo>
                    <a:pt x="2138045" y="138493"/>
                  </a:lnTo>
                  <a:lnTo>
                    <a:pt x="2148154" y="145199"/>
                  </a:lnTo>
                  <a:lnTo>
                    <a:pt x="2159647" y="147434"/>
                  </a:lnTo>
                  <a:lnTo>
                    <a:pt x="2171141" y="145199"/>
                  </a:lnTo>
                  <a:lnTo>
                    <a:pt x="2181237" y="138493"/>
                  </a:lnTo>
                  <a:lnTo>
                    <a:pt x="2187956" y="128384"/>
                  </a:lnTo>
                  <a:lnTo>
                    <a:pt x="2190191" y="116903"/>
                  </a:lnTo>
                  <a:close/>
                </a:path>
                <a:path w="2193290" h="242569">
                  <a:moveTo>
                    <a:pt x="2192693" y="202603"/>
                  </a:moveTo>
                  <a:lnTo>
                    <a:pt x="2190458" y="191109"/>
                  </a:lnTo>
                  <a:lnTo>
                    <a:pt x="2183739" y="181000"/>
                  </a:lnTo>
                  <a:lnTo>
                    <a:pt x="2173643" y="174294"/>
                  </a:lnTo>
                  <a:lnTo>
                    <a:pt x="2162149" y="172059"/>
                  </a:lnTo>
                  <a:lnTo>
                    <a:pt x="2150656" y="174294"/>
                  </a:lnTo>
                  <a:lnTo>
                    <a:pt x="2140547" y="181000"/>
                  </a:lnTo>
                  <a:lnTo>
                    <a:pt x="2133841" y="191109"/>
                  </a:lnTo>
                  <a:lnTo>
                    <a:pt x="2131606" y="202603"/>
                  </a:lnTo>
                  <a:lnTo>
                    <a:pt x="2133841" y="214096"/>
                  </a:lnTo>
                  <a:lnTo>
                    <a:pt x="2140547" y="224193"/>
                  </a:lnTo>
                  <a:lnTo>
                    <a:pt x="2150656" y="230898"/>
                  </a:lnTo>
                  <a:lnTo>
                    <a:pt x="2162149" y="233146"/>
                  </a:lnTo>
                  <a:lnTo>
                    <a:pt x="2173643" y="230898"/>
                  </a:lnTo>
                  <a:lnTo>
                    <a:pt x="2183739" y="224193"/>
                  </a:lnTo>
                  <a:lnTo>
                    <a:pt x="2190458" y="214096"/>
                  </a:lnTo>
                  <a:lnTo>
                    <a:pt x="2192693" y="202603"/>
                  </a:lnTo>
                  <a:close/>
                </a:path>
                <a:path w="2193290" h="242569">
                  <a:moveTo>
                    <a:pt x="2192693" y="30543"/>
                  </a:moveTo>
                  <a:lnTo>
                    <a:pt x="2190458" y="19050"/>
                  </a:lnTo>
                  <a:lnTo>
                    <a:pt x="2183739" y="8940"/>
                  </a:lnTo>
                  <a:lnTo>
                    <a:pt x="2173643" y="2235"/>
                  </a:lnTo>
                  <a:lnTo>
                    <a:pt x="2162149" y="0"/>
                  </a:lnTo>
                  <a:lnTo>
                    <a:pt x="2150656" y="2235"/>
                  </a:lnTo>
                  <a:lnTo>
                    <a:pt x="2140547" y="8940"/>
                  </a:lnTo>
                  <a:lnTo>
                    <a:pt x="2133841" y="19050"/>
                  </a:lnTo>
                  <a:lnTo>
                    <a:pt x="2131606" y="30543"/>
                  </a:lnTo>
                  <a:lnTo>
                    <a:pt x="2133841" y="42037"/>
                  </a:lnTo>
                  <a:lnTo>
                    <a:pt x="2140547" y="52133"/>
                  </a:lnTo>
                  <a:lnTo>
                    <a:pt x="2150656" y="58839"/>
                  </a:lnTo>
                  <a:lnTo>
                    <a:pt x="2162149" y="61074"/>
                  </a:lnTo>
                  <a:lnTo>
                    <a:pt x="2173643" y="58839"/>
                  </a:lnTo>
                  <a:lnTo>
                    <a:pt x="2183739" y="52133"/>
                  </a:lnTo>
                  <a:lnTo>
                    <a:pt x="2190458" y="42037"/>
                  </a:lnTo>
                  <a:lnTo>
                    <a:pt x="2192693" y="3054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/>
          <p:cNvSpPr txBox="1"/>
          <p:nvPr/>
        </p:nvSpPr>
        <p:spPr>
          <a:xfrm>
            <a:off x="6592379" y="237122"/>
            <a:ext cx="6066790" cy="4549775"/>
          </a:xfrm>
          <a:prstGeom prst="rect">
            <a:avLst/>
          </a:prstGeom>
        </p:spPr>
        <p:txBody>
          <a:bodyPr wrap="square" lIns="0" tIns="172085" rIns="0" bIns="0" rtlCol="0" vert="horz">
            <a:spAutoFit/>
          </a:bodyPr>
          <a:lstStyle/>
          <a:p>
            <a:pPr marL="406400">
              <a:lnSpc>
                <a:spcPct val="100000"/>
              </a:lnSpc>
              <a:spcBef>
                <a:spcPts val="1355"/>
              </a:spcBef>
            </a:pPr>
            <a:r>
              <a:rPr dirty="0" sz="1300" spc="25">
                <a:latin typeface="Arial"/>
                <a:cs typeface="Arial"/>
              </a:rPr>
              <a:t>Uniform</a:t>
            </a:r>
            <a:r>
              <a:rPr dirty="0" sz="1300" spc="20">
                <a:latin typeface="Arial"/>
                <a:cs typeface="Arial"/>
              </a:rPr>
              <a:t> </a:t>
            </a:r>
            <a:r>
              <a:rPr dirty="0" sz="1300">
                <a:latin typeface="Arial"/>
                <a:cs typeface="Arial"/>
              </a:rPr>
              <a:t>hashing</a:t>
            </a:r>
            <a:r>
              <a:rPr dirty="0" sz="1300" spc="20">
                <a:latin typeface="Arial"/>
                <a:cs typeface="Arial"/>
              </a:rPr>
              <a:t> </a:t>
            </a:r>
            <a:r>
              <a:rPr dirty="0" sz="1300" spc="-10">
                <a:latin typeface="Arial"/>
                <a:cs typeface="Arial"/>
              </a:rPr>
              <a:t>assumption</a:t>
            </a:r>
            <a:endParaRPr sz="13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350">
              <a:latin typeface="Arial"/>
              <a:cs typeface="Arial"/>
            </a:endParaRPr>
          </a:p>
          <a:p>
            <a:pPr marL="406400" marR="847090">
              <a:lnSpc>
                <a:spcPct val="137800"/>
              </a:lnSpc>
              <a:spcBef>
                <a:spcPts val="5"/>
              </a:spcBef>
            </a:pPr>
            <a:r>
              <a:rPr dirty="0" sz="1100" spc="10">
                <a:solidFill>
                  <a:srgbClr val="005493"/>
                </a:solidFill>
                <a:latin typeface="Lucida Sans"/>
                <a:cs typeface="Lucida Sans"/>
              </a:rPr>
              <a:t>Uniform</a:t>
            </a:r>
            <a:r>
              <a:rPr dirty="0" sz="1100">
                <a:solidFill>
                  <a:srgbClr val="005493"/>
                </a:solidFill>
                <a:latin typeface="Lucida Sans"/>
                <a:cs typeface="Lucida Sans"/>
              </a:rPr>
              <a:t> </a:t>
            </a:r>
            <a:r>
              <a:rPr dirty="0" sz="1100" spc="10">
                <a:solidFill>
                  <a:srgbClr val="005493"/>
                </a:solidFill>
                <a:latin typeface="Lucida Sans"/>
                <a:cs typeface="Lucida Sans"/>
              </a:rPr>
              <a:t>hashing</a:t>
            </a:r>
            <a:r>
              <a:rPr dirty="0" sz="1100" spc="5">
                <a:solidFill>
                  <a:srgbClr val="005493"/>
                </a:solidFill>
                <a:latin typeface="Lucida Sans"/>
                <a:cs typeface="Lucida Sans"/>
              </a:rPr>
              <a:t> </a:t>
            </a:r>
            <a:r>
              <a:rPr dirty="0" sz="1100" spc="10">
                <a:solidFill>
                  <a:srgbClr val="005493"/>
                </a:solidFill>
                <a:latin typeface="Lucida Sans"/>
                <a:cs typeface="Lucida Sans"/>
              </a:rPr>
              <a:t>assumption.</a:t>
            </a:r>
            <a:r>
              <a:rPr dirty="0" sz="1100" spc="355">
                <a:solidFill>
                  <a:srgbClr val="005493"/>
                </a:solidFill>
                <a:latin typeface="Lucida Sans"/>
                <a:cs typeface="Lucida Sans"/>
              </a:rPr>
              <a:t> </a:t>
            </a:r>
            <a:r>
              <a:rPr dirty="0" sz="1100" spc="10">
                <a:latin typeface="Lucida Sans"/>
                <a:cs typeface="Lucida Sans"/>
              </a:rPr>
              <a:t>Each</a:t>
            </a:r>
            <a:r>
              <a:rPr dirty="0" sz="1100" spc="5">
                <a:latin typeface="Lucida Sans"/>
                <a:cs typeface="Lucida Sans"/>
              </a:rPr>
              <a:t> </a:t>
            </a:r>
            <a:r>
              <a:rPr dirty="0" sz="1100" spc="25">
                <a:latin typeface="Lucida Sans"/>
                <a:cs typeface="Lucida Sans"/>
              </a:rPr>
              <a:t>key</a:t>
            </a:r>
            <a:r>
              <a:rPr dirty="0" sz="1100">
                <a:latin typeface="Lucida Sans"/>
                <a:cs typeface="Lucida Sans"/>
              </a:rPr>
              <a:t> </a:t>
            </a:r>
            <a:r>
              <a:rPr dirty="0" sz="1100" spc="5">
                <a:latin typeface="Lucida Sans"/>
                <a:cs typeface="Lucida Sans"/>
              </a:rPr>
              <a:t>is </a:t>
            </a:r>
            <a:r>
              <a:rPr dirty="0" sz="1100" spc="15">
                <a:latin typeface="Lucida Sans"/>
                <a:cs typeface="Lucida Sans"/>
              </a:rPr>
              <a:t>equally</a:t>
            </a:r>
            <a:r>
              <a:rPr dirty="0" sz="1100" spc="5">
                <a:latin typeface="Lucida Sans"/>
                <a:cs typeface="Lucida Sans"/>
              </a:rPr>
              <a:t> </a:t>
            </a:r>
            <a:r>
              <a:rPr dirty="0" sz="1100" spc="15">
                <a:latin typeface="Lucida Sans"/>
                <a:cs typeface="Lucida Sans"/>
              </a:rPr>
              <a:t>likely</a:t>
            </a:r>
            <a:r>
              <a:rPr dirty="0" sz="1100" spc="5">
                <a:latin typeface="Lucida Sans"/>
                <a:cs typeface="Lucida Sans"/>
              </a:rPr>
              <a:t> to</a:t>
            </a:r>
            <a:r>
              <a:rPr dirty="0" sz="1100">
                <a:latin typeface="Lucida Sans"/>
                <a:cs typeface="Lucida Sans"/>
              </a:rPr>
              <a:t> </a:t>
            </a:r>
            <a:r>
              <a:rPr dirty="0" sz="1100" spc="10">
                <a:latin typeface="Lucida Sans"/>
                <a:cs typeface="Lucida Sans"/>
              </a:rPr>
              <a:t>hash</a:t>
            </a:r>
            <a:r>
              <a:rPr dirty="0" sz="1100" spc="5">
                <a:latin typeface="Lucida Sans"/>
                <a:cs typeface="Lucida Sans"/>
              </a:rPr>
              <a:t> to </a:t>
            </a:r>
            <a:r>
              <a:rPr dirty="0" sz="1100" spc="10">
                <a:latin typeface="Lucida Sans"/>
                <a:cs typeface="Lucida Sans"/>
              </a:rPr>
              <a:t>an </a:t>
            </a:r>
            <a:r>
              <a:rPr dirty="0" sz="1100" spc="-335">
                <a:latin typeface="Lucida Sans"/>
                <a:cs typeface="Lucida Sans"/>
              </a:rPr>
              <a:t> </a:t>
            </a:r>
            <a:r>
              <a:rPr dirty="0" sz="1100" spc="5">
                <a:latin typeface="Lucida Sans"/>
                <a:cs typeface="Lucida Sans"/>
              </a:rPr>
              <a:t>integer</a:t>
            </a:r>
            <a:r>
              <a:rPr dirty="0" sz="1100">
                <a:latin typeface="Lucida Sans"/>
                <a:cs typeface="Lucida Sans"/>
              </a:rPr>
              <a:t> </a:t>
            </a:r>
            <a:r>
              <a:rPr dirty="0" sz="1100" spc="20">
                <a:latin typeface="Lucida Sans"/>
                <a:cs typeface="Lucida Sans"/>
              </a:rPr>
              <a:t>between</a:t>
            </a:r>
            <a:r>
              <a:rPr dirty="0" sz="1100" spc="5">
                <a:latin typeface="Lucida Sans"/>
                <a:cs typeface="Lucida Sans"/>
              </a:rPr>
              <a:t> </a:t>
            </a:r>
            <a:r>
              <a:rPr dirty="0" sz="1100" spc="5">
                <a:latin typeface="Times New Roman"/>
                <a:cs typeface="Times New Roman"/>
              </a:rPr>
              <a:t>0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10">
                <a:latin typeface="Lucida Sans"/>
                <a:cs typeface="Lucida Sans"/>
              </a:rPr>
              <a:t>and</a:t>
            </a:r>
            <a:r>
              <a:rPr dirty="0" sz="1100" spc="5">
                <a:latin typeface="Lucida Sans"/>
                <a:cs typeface="Lucida Sans"/>
              </a:rPr>
              <a:t> </a:t>
            </a:r>
            <a:r>
              <a:rPr dirty="0" sz="1100" spc="15" i="1">
                <a:latin typeface="Times New Roman"/>
                <a:cs typeface="Times New Roman"/>
              </a:rPr>
              <a:t>M</a:t>
            </a:r>
            <a:r>
              <a:rPr dirty="0" sz="1100" i="1">
                <a:latin typeface="Times New Roman"/>
                <a:cs typeface="Times New Roman"/>
              </a:rPr>
              <a:t> </a:t>
            </a:r>
            <a:r>
              <a:rPr dirty="0" sz="1100" spc="10">
                <a:latin typeface="Lucida Sans Unicode"/>
                <a:cs typeface="Lucida Sans Unicode"/>
              </a:rPr>
              <a:t>-</a:t>
            </a:r>
            <a:r>
              <a:rPr dirty="0" sz="1100" spc="-70">
                <a:latin typeface="Lucida Sans Unicode"/>
                <a:cs typeface="Lucida Sans Unicode"/>
              </a:rPr>
              <a:t> </a:t>
            </a:r>
            <a:r>
              <a:rPr dirty="0" sz="1100" spc="5">
                <a:latin typeface="Times New Roman"/>
                <a:cs typeface="Times New Roman"/>
              </a:rPr>
              <a:t>1</a:t>
            </a:r>
            <a:r>
              <a:rPr dirty="0" sz="1100" spc="5">
                <a:latin typeface="Lucida Sans"/>
                <a:cs typeface="Lucida Sans"/>
              </a:rPr>
              <a:t>.</a:t>
            </a:r>
            <a:endParaRPr sz="1100">
              <a:latin typeface="Lucida Sans"/>
              <a:cs typeface="Lucida Sans"/>
            </a:endParaRPr>
          </a:p>
          <a:p>
            <a:pPr>
              <a:lnSpc>
                <a:spcPct val="100000"/>
              </a:lnSpc>
            </a:pPr>
            <a:endParaRPr sz="1300">
              <a:latin typeface="Lucida Sans"/>
              <a:cs typeface="Lucida Sans"/>
            </a:endParaRPr>
          </a:p>
          <a:p>
            <a:pPr>
              <a:lnSpc>
                <a:spcPct val="100000"/>
              </a:lnSpc>
            </a:pPr>
            <a:endParaRPr sz="1300">
              <a:latin typeface="Lucida Sans"/>
              <a:cs typeface="Lucida Sans"/>
            </a:endParaRPr>
          </a:p>
          <a:p>
            <a:pPr marL="406400">
              <a:lnSpc>
                <a:spcPct val="100000"/>
              </a:lnSpc>
              <a:spcBef>
                <a:spcPts val="1075"/>
              </a:spcBef>
            </a:pPr>
            <a:r>
              <a:rPr dirty="0" sz="1100" spc="5">
                <a:solidFill>
                  <a:srgbClr val="005493"/>
                </a:solidFill>
                <a:latin typeface="Lucida Sans"/>
                <a:cs typeface="Lucida Sans"/>
              </a:rPr>
              <a:t>Bins </a:t>
            </a:r>
            <a:r>
              <a:rPr dirty="0" sz="1100" spc="10">
                <a:solidFill>
                  <a:srgbClr val="005493"/>
                </a:solidFill>
                <a:latin typeface="Lucida Sans"/>
                <a:cs typeface="Lucida Sans"/>
              </a:rPr>
              <a:t>and </a:t>
            </a:r>
            <a:r>
              <a:rPr dirty="0" sz="1100" spc="5">
                <a:solidFill>
                  <a:srgbClr val="005493"/>
                </a:solidFill>
                <a:latin typeface="Lucida Sans"/>
                <a:cs typeface="Lucida Sans"/>
              </a:rPr>
              <a:t>balls. </a:t>
            </a:r>
            <a:r>
              <a:rPr dirty="0" sz="1100" spc="10">
                <a:solidFill>
                  <a:srgbClr val="005493"/>
                </a:solidFill>
                <a:latin typeface="Lucida Sans"/>
                <a:cs typeface="Lucida Sans"/>
              </a:rPr>
              <a:t> </a:t>
            </a:r>
            <a:r>
              <a:rPr dirty="0" sz="1100" spc="20">
                <a:latin typeface="Lucida Sans"/>
                <a:cs typeface="Lucida Sans"/>
              </a:rPr>
              <a:t>Throw</a:t>
            </a:r>
            <a:r>
              <a:rPr dirty="0" sz="1100" spc="10">
                <a:latin typeface="Lucida Sans"/>
                <a:cs typeface="Lucida Sans"/>
              </a:rPr>
              <a:t> </a:t>
            </a:r>
            <a:r>
              <a:rPr dirty="0" sz="1100" spc="5">
                <a:latin typeface="Lucida Sans"/>
                <a:cs typeface="Lucida Sans"/>
              </a:rPr>
              <a:t>balls </a:t>
            </a:r>
            <a:r>
              <a:rPr dirty="0" sz="1100" spc="15">
                <a:latin typeface="Lucida Sans"/>
                <a:cs typeface="Lucida Sans"/>
              </a:rPr>
              <a:t>uniformly</a:t>
            </a:r>
            <a:r>
              <a:rPr dirty="0" sz="1100" spc="10">
                <a:latin typeface="Lucida Sans"/>
                <a:cs typeface="Lucida Sans"/>
              </a:rPr>
              <a:t> </a:t>
            </a:r>
            <a:r>
              <a:rPr dirty="0" sz="1100" spc="5">
                <a:latin typeface="Lucida Sans"/>
                <a:cs typeface="Lucida Sans"/>
              </a:rPr>
              <a:t>at</a:t>
            </a:r>
            <a:r>
              <a:rPr dirty="0" sz="1100" spc="10">
                <a:latin typeface="Lucida Sans"/>
                <a:cs typeface="Lucida Sans"/>
              </a:rPr>
              <a:t> random</a:t>
            </a:r>
            <a:r>
              <a:rPr dirty="0" sz="1100" spc="5">
                <a:latin typeface="Lucida Sans"/>
                <a:cs typeface="Lucida Sans"/>
              </a:rPr>
              <a:t> into</a:t>
            </a:r>
            <a:r>
              <a:rPr dirty="0" sz="1100" spc="10">
                <a:latin typeface="Lucida Sans"/>
                <a:cs typeface="Lucida Sans"/>
              </a:rPr>
              <a:t> </a:t>
            </a:r>
            <a:r>
              <a:rPr dirty="0" sz="1100" spc="15" i="1">
                <a:latin typeface="Times New Roman"/>
                <a:cs typeface="Times New Roman"/>
              </a:rPr>
              <a:t>M</a:t>
            </a:r>
            <a:r>
              <a:rPr dirty="0" sz="1100" spc="80" i="1">
                <a:latin typeface="Times New Roman"/>
                <a:cs typeface="Times New Roman"/>
              </a:rPr>
              <a:t> </a:t>
            </a:r>
            <a:r>
              <a:rPr dirty="0" sz="1100" spc="5">
                <a:latin typeface="Lucida Sans"/>
                <a:cs typeface="Lucida Sans"/>
              </a:rPr>
              <a:t>bins.</a:t>
            </a:r>
            <a:endParaRPr sz="1100">
              <a:latin typeface="Lucida Sans"/>
              <a:cs typeface="Lucida Sans"/>
            </a:endParaRPr>
          </a:p>
          <a:p>
            <a:pPr>
              <a:lnSpc>
                <a:spcPct val="100000"/>
              </a:lnSpc>
            </a:pPr>
            <a:endParaRPr sz="1300">
              <a:latin typeface="Lucida Sans"/>
              <a:cs typeface="Lucida Sans"/>
            </a:endParaRPr>
          </a:p>
          <a:p>
            <a:pPr>
              <a:lnSpc>
                <a:spcPct val="100000"/>
              </a:lnSpc>
            </a:pPr>
            <a:endParaRPr sz="1300">
              <a:latin typeface="Lucida Sans"/>
              <a:cs typeface="Lucida Sans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550">
              <a:latin typeface="Lucida Sans"/>
              <a:cs typeface="Lucida Sans"/>
            </a:endParaRPr>
          </a:p>
          <a:p>
            <a:pPr marL="1762760">
              <a:lnSpc>
                <a:spcPct val="100000"/>
              </a:lnSpc>
            </a:pPr>
            <a:r>
              <a:rPr dirty="0" sz="550" spc="5">
                <a:latin typeface="Lucida Sans Typewriter"/>
                <a:cs typeface="Lucida Sans Typewriter"/>
              </a:rPr>
              <a:t>0 </a:t>
            </a:r>
            <a:r>
              <a:rPr dirty="0" sz="550" spc="190">
                <a:latin typeface="Lucida Sans Typewriter"/>
                <a:cs typeface="Lucida Sans Typewriter"/>
              </a:rPr>
              <a:t> </a:t>
            </a:r>
            <a:r>
              <a:rPr dirty="0" sz="550" spc="5">
                <a:latin typeface="Lucida Sans Typewriter"/>
                <a:cs typeface="Lucida Sans Typewriter"/>
              </a:rPr>
              <a:t>1 </a:t>
            </a:r>
            <a:r>
              <a:rPr dirty="0" sz="550" spc="195">
                <a:latin typeface="Lucida Sans Typewriter"/>
                <a:cs typeface="Lucida Sans Typewriter"/>
              </a:rPr>
              <a:t> </a:t>
            </a:r>
            <a:r>
              <a:rPr dirty="0" sz="550" spc="5">
                <a:latin typeface="Lucida Sans Typewriter"/>
                <a:cs typeface="Lucida Sans Typewriter"/>
              </a:rPr>
              <a:t>2 </a:t>
            </a:r>
            <a:r>
              <a:rPr dirty="0" sz="550" spc="195">
                <a:latin typeface="Lucida Sans Typewriter"/>
                <a:cs typeface="Lucida Sans Typewriter"/>
              </a:rPr>
              <a:t> </a:t>
            </a:r>
            <a:r>
              <a:rPr dirty="0" sz="550" spc="5">
                <a:latin typeface="Lucida Sans Typewriter"/>
                <a:cs typeface="Lucida Sans Typewriter"/>
              </a:rPr>
              <a:t>3 </a:t>
            </a:r>
            <a:r>
              <a:rPr dirty="0" sz="550" spc="195">
                <a:latin typeface="Lucida Sans Typewriter"/>
                <a:cs typeface="Lucida Sans Typewriter"/>
              </a:rPr>
              <a:t> </a:t>
            </a:r>
            <a:r>
              <a:rPr dirty="0" sz="550" spc="5">
                <a:latin typeface="Lucida Sans Typewriter"/>
                <a:cs typeface="Lucida Sans Typewriter"/>
              </a:rPr>
              <a:t>4 </a:t>
            </a:r>
            <a:r>
              <a:rPr dirty="0" sz="550" spc="195">
                <a:latin typeface="Lucida Sans Typewriter"/>
                <a:cs typeface="Lucida Sans Typewriter"/>
              </a:rPr>
              <a:t> </a:t>
            </a:r>
            <a:r>
              <a:rPr dirty="0" sz="550" spc="5">
                <a:latin typeface="Lucida Sans Typewriter"/>
                <a:cs typeface="Lucida Sans Typewriter"/>
              </a:rPr>
              <a:t>5 </a:t>
            </a:r>
            <a:r>
              <a:rPr dirty="0" sz="550" spc="195">
                <a:latin typeface="Lucida Sans Typewriter"/>
                <a:cs typeface="Lucida Sans Typewriter"/>
              </a:rPr>
              <a:t> </a:t>
            </a:r>
            <a:r>
              <a:rPr dirty="0" sz="550" spc="5">
                <a:latin typeface="Lucida Sans Typewriter"/>
                <a:cs typeface="Lucida Sans Typewriter"/>
              </a:rPr>
              <a:t>6 </a:t>
            </a:r>
            <a:r>
              <a:rPr dirty="0" sz="550" spc="195">
                <a:latin typeface="Lucida Sans Typewriter"/>
                <a:cs typeface="Lucida Sans Typewriter"/>
              </a:rPr>
              <a:t> </a:t>
            </a:r>
            <a:r>
              <a:rPr dirty="0" sz="550" spc="5">
                <a:latin typeface="Lucida Sans Typewriter"/>
                <a:cs typeface="Lucida Sans Typewriter"/>
              </a:rPr>
              <a:t>7 </a:t>
            </a:r>
            <a:r>
              <a:rPr dirty="0" sz="550" spc="195">
                <a:latin typeface="Lucida Sans Typewriter"/>
                <a:cs typeface="Lucida Sans Typewriter"/>
              </a:rPr>
              <a:t> </a:t>
            </a:r>
            <a:r>
              <a:rPr dirty="0" sz="550" spc="5">
                <a:latin typeface="Lucida Sans Typewriter"/>
                <a:cs typeface="Lucida Sans Typewriter"/>
              </a:rPr>
              <a:t>8 </a:t>
            </a:r>
            <a:r>
              <a:rPr dirty="0" sz="550" spc="195">
                <a:latin typeface="Lucida Sans Typewriter"/>
                <a:cs typeface="Lucida Sans Typewriter"/>
              </a:rPr>
              <a:t> </a:t>
            </a:r>
            <a:r>
              <a:rPr dirty="0" sz="550" spc="5">
                <a:latin typeface="Lucida Sans Typewriter"/>
                <a:cs typeface="Lucida Sans Typewriter"/>
              </a:rPr>
              <a:t>9 </a:t>
            </a:r>
            <a:r>
              <a:rPr dirty="0" sz="550" spc="25">
                <a:latin typeface="Lucida Sans Typewriter"/>
                <a:cs typeface="Lucida Sans Typewriter"/>
              </a:rPr>
              <a:t> </a:t>
            </a:r>
            <a:r>
              <a:rPr dirty="0" sz="550" spc="5">
                <a:latin typeface="Lucida Sans Typewriter"/>
                <a:cs typeface="Lucida Sans Typewriter"/>
              </a:rPr>
              <a:t>10</a:t>
            </a:r>
            <a:r>
              <a:rPr dirty="0" sz="550" spc="195">
                <a:latin typeface="Lucida Sans Typewriter"/>
                <a:cs typeface="Lucida Sans Typewriter"/>
              </a:rPr>
              <a:t> </a:t>
            </a:r>
            <a:r>
              <a:rPr dirty="0" sz="550" spc="5">
                <a:latin typeface="Lucida Sans Typewriter"/>
                <a:cs typeface="Lucida Sans Typewriter"/>
              </a:rPr>
              <a:t>11</a:t>
            </a:r>
            <a:r>
              <a:rPr dirty="0" sz="550" spc="200">
                <a:latin typeface="Lucida Sans Typewriter"/>
                <a:cs typeface="Lucida Sans Typewriter"/>
              </a:rPr>
              <a:t> </a:t>
            </a:r>
            <a:r>
              <a:rPr dirty="0" sz="550" spc="5">
                <a:latin typeface="Lucida Sans Typewriter"/>
                <a:cs typeface="Lucida Sans Typewriter"/>
              </a:rPr>
              <a:t>12</a:t>
            </a:r>
            <a:r>
              <a:rPr dirty="0" sz="550" spc="195">
                <a:latin typeface="Lucida Sans Typewriter"/>
                <a:cs typeface="Lucida Sans Typewriter"/>
              </a:rPr>
              <a:t> </a:t>
            </a:r>
            <a:r>
              <a:rPr dirty="0" sz="550" spc="5">
                <a:latin typeface="Lucida Sans Typewriter"/>
                <a:cs typeface="Lucida Sans Typewriter"/>
              </a:rPr>
              <a:t>13</a:t>
            </a:r>
            <a:r>
              <a:rPr dirty="0" sz="550" spc="200">
                <a:latin typeface="Lucida Sans Typewriter"/>
                <a:cs typeface="Lucida Sans Typewriter"/>
              </a:rPr>
              <a:t> </a:t>
            </a:r>
            <a:r>
              <a:rPr dirty="0" sz="550" spc="5">
                <a:latin typeface="Lucida Sans Typewriter"/>
                <a:cs typeface="Lucida Sans Typewriter"/>
              </a:rPr>
              <a:t>14</a:t>
            </a:r>
            <a:r>
              <a:rPr dirty="0" sz="550" spc="195">
                <a:latin typeface="Lucida Sans Typewriter"/>
                <a:cs typeface="Lucida Sans Typewriter"/>
              </a:rPr>
              <a:t> </a:t>
            </a:r>
            <a:r>
              <a:rPr dirty="0" sz="550" spc="5">
                <a:latin typeface="Lucida Sans Typewriter"/>
                <a:cs typeface="Lucida Sans Typewriter"/>
              </a:rPr>
              <a:t>15</a:t>
            </a:r>
            <a:endParaRPr sz="550">
              <a:latin typeface="Lucida Sans Typewriter"/>
              <a:cs typeface="Lucida Sans Typewriter"/>
            </a:endParaRPr>
          </a:p>
          <a:p>
            <a:pPr>
              <a:lnSpc>
                <a:spcPct val="100000"/>
              </a:lnSpc>
            </a:pPr>
            <a:endParaRPr sz="600">
              <a:latin typeface="Lucida Sans Typewriter"/>
              <a:cs typeface="Lucida Sans Typewriter"/>
            </a:endParaRPr>
          </a:p>
          <a:p>
            <a:pPr>
              <a:lnSpc>
                <a:spcPct val="100000"/>
              </a:lnSpc>
            </a:pPr>
            <a:endParaRPr sz="600">
              <a:latin typeface="Lucida Sans Typewriter"/>
              <a:cs typeface="Lucida Sans Typewriter"/>
            </a:endParaRPr>
          </a:p>
          <a:p>
            <a:pPr>
              <a:lnSpc>
                <a:spcPct val="100000"/>
              </a:lnSpc>
            </a:pPr>
            <a:endParaRPr sz="600">
              <a:latin typeface="Lucida Sans Typewriter"/>
              <a:cs typeface="Lucida Sans Typewriter"/>
            </a:endParaRPr>
          </a:p>
          <a:p>
            <a:pPr>
              <a:lnSpc>
                <a:spcPct val="100000"/>
              </a:lnSpc>
            </a:pPr>
            <a:endParaRPr sz="600">
              <a:latin typeface="Lucida Sans Typewriter"/>
              <a:cs typeface="Lucida Sans Typewriter"/>
            </a:endParaRPr>
          </a:p>
          <a:p>
            <a:pPr>
              <a:lnSpc>
                <a:spcPct val="100000"/>
              </a:lnSpc>
            </a:pPr>
            <a:endParaRPr sz="600">
              <a:latin typeface="Lucida Sans Typewriter"/>
              <a:cs typeface="Lucida Sans Typewriter"/>
            </a:endParaRPr>
          </a:p>
          <a:p>
            <a:pPr>
              <a:lnSpc>
                <a:spcPct val="100000"/>
              </a:lnSpc>
            </a:pPr>
            <a:endParaRPr sz="600">
              <a:latin typeface="Lucida Sans Typewriter"/>
              <a:cs typeface="Lucida Sans Typewriter"/>
            </a:endParaRPr>
          </a:p>
          <a:p>
            <a:pPr>
              <a:lnSpc>
                <a:spcPct val="100000"/>
              </a:lnSpc>
            </a:pPr>
            <a:endParaRPr sz="600">
              <a:latin typeface="Lucida Sans Typewriter"/>
              <a:cs typeface="Lucida Sans Typewriter"/>
            </a:endParaRPr>
          </a:p>
          <a:p>
            <a:pPr>
              <a:lnSpc>
                <a:spcPct val="100000"/>
              </a:lnSpc>
            </a:pPr>
            <a:endParaRPr sz="600">
              <a:latin typeface="Lucida Sans Typewriter"/>
              <a:cs typeface="Lucida Sans Typewriter"/>
            </a:endParaRPr>
          </a:p>
          <a:p>
            <a:pPr>
              <a:lnSpc>
                <a:spcPct val="100000"/>
              </a:lnSpc>
            </a:pPr>
            <a:endParaRPr sz="600">
              <a:latin typeface="Lucida Sans Typewriter"/>
              <a:cs typeface="Lucida Sans Typewriter"/>
            </a:endParaRPr>
          </a:p>
          <a:p>
            <a:pPr>
              <a:lnSpc>
                <a:spcPct val="100000"/>
              </a:lnSpc>
            </a:pPr>
            <a:endParaRPr sz="600">
              <a:latin typeface="Lucida Sans Typewriter"/>
              <a:cs typeface="Lucida Sans Typewriter"/>
            </a:endParaRPr>
          </a:p>
          <a:p>
            <a:pPr>
              <a:lnSpc>
                <a:spcPct val="100000"/>
              </a:lnSpc>
            </a:pPr>
            <a:endParaRPr sz="600">
              <a:latin typeface="Lucida Sans Typewriter"/>
              <a:cs typeface="Lucida Sans Typewriter"/>
            </a:endParaRPr>
          </a:p>
          <a:p>
            <a:pPr>
              <a:lnSpc>
                <a:spcPct val="100000"/>
              </a:lnSpc>
            </a:pPr>
            <a:endParaRPr sz="600">
              <a:latin typeface="Lucida Sans Typewriter"/>
              <a:cs typeface="Lucida Sans Typewriter"/>
            </a:endParaRPr>
          </a:p>
          <a:p>
            <a:pPr>
              <a:lnSpc>
                <a:spcPct val="100000"/>
              </a:lnSpc>
            </a:pPr>
            <a:endParaRPr sz="600">
              <a:latin typeface="Lucida Sans Typewriter"/>
              <a:cs typeface="Lucida Sans Typewriter"/>
            </a:endParaRPr>
          </a:p>
          <a:p>
            <a:pPr>
              <a:lnSpc>
                <a:spcPct val="100000"/>
              </a:lnSpc>
            </a:pPr>
            <a:endParaRPr sz="600">
              <a:latin typeface="Lucida Sans Typewriter"/>
              <a:cs typeface="Lucida Sans Typewriter"/>
            </a:endParaRPr>
          </a:p>
          <a:p>
            <a:pPr>
              <a:lnSpc>
                <a:spcPct val="100000"/>
              </a:lnSpc>
            </a:pPr>
            <a:endParaRPr sz="600">
              <a:latin typeface="Lucida Sans Typewriter"/>
              <a:cs typeface="Lucida Sans Typewriter"/>
            </a:endParaRPr>
          </a:p>
          <a:p>
            <a:pPr>
              <a:lnSpc>
                <a:spcPct val="100000"/>
              </a:lnSpc>
            </a:pPr>
            <a:endParaRPr sz="600">
              <a:latin typeface="Lucida Sans Typewriter"/>
              <a:cs typeface="Lucida Sans Typewriter"/>
            </a:endParaRPr>
          </a:p>
          <a:p>
            <a:pPr>
              <a:lnSpc>
                <a:spcPct val="100000"/>
              </a:lnSpc>
            </a:pPr>
            <a:endParaRPr sz="600">
              <a:latin typeface="Lucida Sans Typewriter"/>
              <a:cs typeface="Lucida Sans Typewriter"/>
            </a:endParaRPr>
          </a:p>
          <a:p>
            <a:pPr>
              <a:lnSpc>
                <a:spcPct val="100000"/>
              </a:lnSpc>
            </a:pPr>
            <a:endParaRPr sz="600">
              <a:latin typeface="Lucida Sans Typewriter"/>
              <a:cs typeface="Lucida Sans Typewriter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500">
              <a:latin typeface="Lucida Sans Typewriter"/>
              <a:cs typeface="Lucida Sans Typewriter"/>
            </a:endParaRPr>
          </a:p>
          <a:p>
            <a:pPr marL="1262380">
              <a:lnSpc>
                <a:spcPct val="100000"/>
              </a:lnSpc>
            </a:pPr>
            <a:r>
              <a:rPr dirty="0" sz="750" spc="5">
                <a:solidFill>
                  <a:srgbClr val="8D3124"/>
                </a:solidFill>
                <a:latin typeface="Lucida Sans"/>
                <a:cs typeface="Lucida Sans"/>
              </a:rPr>
              <a:t>Java's</a:t>
            </a:r>
            <a:r>
              <a:rPr dirty="0" sz="750" spc="-5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dirty="0" sz="750" spc="-5">
                <a:solidFill>
                  <a:srgbClr val="8D3124"/>
                </a:solidFill>
                <a:latin typeface="Lucida Sans Typewriter"/>
                <a:cs typeface="Lucida Sans Typewriter"/>
              </a:rPr>
              <a:t>String</a:t>
            </a:r>
            <a:r>
              <a:rPr dirty="0" sz="750" spc="-215">
                <a:solidFill>
                  <a:srgbClr val="8D3124"/>
                </a:solidFill>
                <a:latin typeface="Lucida Sans Typewriter"/>
                <a:cs typeface="Lucida Sans Typewriter"/>
              </a:rPr>
              <a:t> </a:t>
            </a:r>
            <a:r>
              <a:rPr dirty="0" sz="750" spc="-5">
                <a:solidFill>
                  <a:srgbClr val="8D3124"/>
                </a:solidFill>
                <a:latin typeface="Lucida Sans"/>
                <a:cs typeface="Lucida Sans"/>
              </a:rPr>
              <a:t>data</a:t>
            </a:r>
            <a:r>
              <a:rPr dirty="0" sz="750">
                <a:solidFill>
                  <a:srgbClr val="8D3124"/>
                </a:solidFill>
                <a:latin typeface="Lucida Sans"/>
                <a:cs typeface="Lucida Sans"/>
              </a:rPr>
              <a:t> uniformly</a:t>
            </a:r>
            <a:r>
              <a:rPr dirty="0" sz="750" spc="-5">
                <a:solidFill>
                  <a:srgbClr val="8D3124"/>
                </a:solidFill>
                <a:latin typeface="Lucida Sans"/>
                <a:cs typeface="Lucida Sans"/>
              </a:rPr>
              <a:t> distribute</a:t>
            </a:r>
            <a:r>
              <a:rPr dirty="0" sz="750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dirty="0" sz="750" spc="-5">
                <a:solidFill>
                  <a:srgbClr val="8D3124"/>
                </a:solidFill>
                <a:latin typeface="Lucida Sans"/>
                <a:cs typeface="Lucida Sans"/>
              </a:rPr>
              <a:t>the</a:t>
            </a:r>
            <a:r>
              <a:rPr dirty="0" sz="750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dirty="0" sz="750" spc="5">
                <a:solidFill>
                  <a:srgbClr val="8D3124"/>
                </a:solidFill>
                <a:latin typeface="Lucida Sans"/>
                <a:cs typeface="Lucida Sans"/>
              </a:rPr>
              <a:t>keys</a:t>
            </a:r>
            <a:r>
              <a:rPr dirty="0" sz="750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dirty="0" sz="750" spc="-5">
                <a:solidFill>
                  <a:srgbClr val="8D3124"/>
                </a:solidFill>
                <a:latin typeface="Lucida Sans"/>
                <a:cs typeface="Lucida Sans"/>
              </a:rPr>
              <a:t>of </a:t>
            </a:r>
            <a:r>
              <a:rPr dirty="0" sz="750" spc="-25">
                <a:solidFill>
                  <a:srgbClr val="8D3124"/>
                </a:solidFill>
                <a:latin typeface="Lucida Sans"/>
                <a:cs typeface="Lucida Sans"/>
              </a:rPr>
              <a:t>Tale</a:t>
            </a:r>
            <a:r>
              <a:rPr dirty="0" sz="750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dirty="0" sz="750" spc="-5">
                <a:solidFill>
                  <a:srgbClr val="8D3124"/>
                </a:solidFill>
                <a:latin typeface="Lucida Sans"/>
                <a:cs typeface="Lucida Sans"/>
              </a:rPr>
              <a:t>of</a:t>
            </a:r>
            <a:r>
              <a:rPr dirty="0" sz="750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dirty="0" sz="750" spc="-20">
                <a:solidFill>
                  <a:srgbClr val="8D3124"/>
                </a:solidFill>
                <a:latin typeface="Lucida Sans"/>
                <a:cs typeface="Lucida Sans"/>
              </a:rPr>
              <a:t>Two</a:t>
            </a:r>
            <a:r>
              <a:rPr dirty="0" sz="750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dirty="0" sz="750" spc="-5">
                <a:solidFill>
                  <a:srgbClr val="8D3124"/>
                </a:solidFill>
                <a:latin typeface="Lucida Sans"/>
                <a:cs typeface="Lucida Sans"/>
              </a:rPr>
              <a:t>Cities</a:t>
            </a:r>
            <a:endParaRPr sz="750">
              <a:latin typeface="Lucida Sans"/>
              <a:cs typeface="Lucida Sans"/>
            </a:endParaRPr>
          </a:p>
          <a:p>
            <a:pPr>
              <a:lnSpc>
                <a:spcPct val="100000"/>
              </a:lnSpc>
            </a:pPr>
            <a:endParaRPr sz="1000">
              <a:latin typeface="Lucida Sans"/>
              <a:cs typeface="Lucida Sans"/>
            </a:endParaRPr>
          </a:p>
          <a:p>
            <a:pPr algn="r" marR="55880">
              <a:lnSpc>
                <a:spcPct val="100000"/>
              </a:lnSpc>
              <a:spcBef>
                <a:spcPts val="5"/>
              </a:spcBef>
            </a:pPr>
            <a:r>
              <a:rPr dirty="0" sz="550" spc="5">
                <a:latin typeface="Lucida Sans"/>
                <a:cs typeface="Lucida Sans"/>
              </a:rPr>
              <a:t>14</a:t>
            </a:r>
            <a:endParaRPr sz="550">
              <a:latin typeface="Lucida Sans"/>
              <a:cs typeface="Lucida Sans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342366" y="4962970"/>
            <a:ext cx="6073775" cy="4557395"/>
            <a:chOff x="342366" y="4962970"/>
            <a:chExt cx="6073775" cy="4557395"/>
          </a:xfrm>
        </p:grpSpPr>
        <p:sp>
          <p:nvSpPr>
            <p:cNvPr id="27" name="object 27"/>
            <p:cNvSpPr/>
            <p:nvPr/>
          </p:nvSpPr>
          <p:spPr>
            <a:xfrm>
              <a:off x="346176" y="4966780"/>
              <a:ext cx="6066790" cy="4549775"/>
            </a:xfrm>
            <a:custGeom>
              <a:avLst/>
              <a:gdLst/>
              <a:ahLst/>
              <a:cxnLst/>
              <a:rect l="l" t="t" r="r" b="b"/>
              <a:pathLst>
                <a:path w="6066790" h="4549775">
                  <a:moveTo>
                    <a:pt x="0" y="0"/>
                  </a:moveTo>
                  <a:lnTo>
                    <a:pt x="6066212" y="0"/>
                  </a:lnTo>
                  <a:lnTo>
                    <a:pt x="6066212" y="4549659"/>
                  </a:lnTo>
                  <a:lnTo>
                    <a:pt x="0" y="45496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5F5F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346176" y="4966780"/>
              <a:ext cx="5197475" cy="156845"/>
            </a:xfrm>
            <a:custGeom>
              <a:avLst/>
              <a:gdLst/>
              <a:ahLst/>
              <a:cxnLst/>
              <a:rect l="l" t="t" r="r" b="b"/>
              <a:pathLst>
                <a:path w="5197475" h="156845">
                  <a:moveTo>
                    <a:pt x="4400264" y="53541"/>
                  </a:moveTo>
                  <a:lnTo>
                    <a:pt x="4458337" y="32432"/>
                  </a:lnTo>
                </a:path>
                <a:path w="5197475" h="156845">
                  <a:moveTo>
                    <a:pt x="2180278" y="0"/>
                  </a:moveTo>
                  <a:lnTo>
                    <a:pt x="2180279" y="13946"/>
                  </a:lnTo>
                </a:path>
                <a:path w="5197475" h="156845">
                  <a:moveTo>
                    <a:pt x="4260362" y="132702"/>
                  </a:moveTo>
                  <a:lnTo>
                    <a:pt x="4268281" y="108969"/>
                  </a:lnTo>
                  <a:lnTo>
                    <a:pt x="4265641" y="93122"/>
                  </a:lnTo>
                  <a:lnTo>
                    <a:pt x="4313155" y="72012"/>
                  </a:lnTo>
                  <a:lnTo>
                    <a:pt x="4313154" y="3391"/>
                  </a:lnTo>
                  <a:lnTo>
                    <a:pt x="4306359" y="0"/>
                  </a:lnTo>
                </a:path>
                <a:path w="5197475" h="156845">
                  <a:moveTo>
                    <a:pt x="123968" y="11307"/>
                  </a:moveTo>
                  <a:lnTo>
                    <a:pt x="124482" y="0"/>
                  </a:lnTo>
                </a:path>
                <a:path w="5197475" h="156845">
                  <a:moveTo>
                    <a:pt x="1858252" y="16614"/>
                  </a:moveTo>
                  <a:lnTo>
                    <a:pt x="1838868" y="0"/>
                  </a:lnTo>
                </a:path>
                <a:path w="5197475" h="156845">
                  <a:moveTo>
                    <a:pt x="2977462" y="19238"/>
                  </a:moveTo>
                  <a:lnTo>
                    <a:pt x="2985481" y="0"/>
                  </a:lnTo>
                </a:path>
                <a:path w="5197475" h="156845">
                  <a:moveTo>
                    <a:pt x="5155197" y="21877"/>
                  </a:moveTo>
                  <a:lnTo>
                    <a:pt x="5197447" y="29778"/>
                  </a:lnTo>
                  <a:lnTo>
                    <a:pt x="5193308" y="0"/>
                  </a:lnTo>
                </a:path>
                <a:path w="5197475" h="156845">
                  <a:moveTo>
                    <a:pt x="0" y="109443"/>
                  </a:moveTo>
                  <a:lnTo>
                    <a:pt x="21022" y="103662"/>
                  </a:lnTo>
                </a:path>
                <a:path w="5197475" h="156845">
                  <a:moveTo>
                    <a:pt x="4363295" y="114217"/>
                  </a:moveTo>
                  <a:lnTo>
                    <a:pt x="4400264" y="53541"/>
                  </a:lnTo>
                  <a:lnTo>
                    <a:pt x="4406485" y="0"/>
                  </a:lnTo>
                </a:path>
                <a:path w="5197475" h="156845">
                  <a:moveTo>
                    <a:pt x="3035535" y="66735"/>
                  </a:moveTo>
                  <a:lnTo>
                    <a:pt x="3033778" y="0"/>
                  </a:lnTo>
                </a:path>
                <a:path w="5197475" h="156845">
                  <a:moveTo>
                    <a:pt x="3094102" y="0"/>
                  </a:moveTo>
                  <a:lnTo>
                    <a:pt x="3114740" y="11307"/>
                  </a:lnTo>
                </a:path>
                <a:path w="5197475" h="156845">
                  <a:moveTo>
                    <a:pt x="4313155" y="72012"/>
                  </a:moveTo>
                  <a:lnTo>
                    <a:pt x="4363295" y="114217"/>
                  </a:lnTo>
                  <a:lnTo>
                    <a:pt x="4431941" y="156421"/>
                  </a:lnTo>
                </a:path>
              </a:pathLst>
            </a:custGeom>
            <a:ln w="7331">
              <a:solidFill>
                <a:srgbClr val="6D6E7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9" name="object 2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42510" y="4963114"/>
              <a:ext cx="6073544" cy="4556992"/>
            </a:xfrm>
            <a:prstGeom prst="rect">
              <a:avLst/>
            </a:prstGeom>
          </p:spPr>
        </p:pic>
      </p:grpSp>
      <p:sp>
        <p:nvSpPr>
          <p:cNvPr id="30" name="object 30"/>
          <p:cNvSpPr txBox="1"/>
          <p:nvPr/>
        </p:nvSpPr>
        <p:spPr>
          <a:xfrm>
            <a:off x="746021" y="8461109"/>
            <a:ext cx="1532255" cy="1250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50" spc="65" b="1">
                <a:latin typeface="Tahoma"/>
                <a:cs typeface="Tahoma"/>
                <a:hlinkClick r:id="rId3"/>
              </a:rPr>
              <a:t>http://algs4.cs.princeton.edu</a:t>
            </a:r>
            <a:r>
              <a:rPr dirty="0" sz="650" spc="-120" b="1">
                <a:latin typeface="Tahoma"/>
                <a:cs typeface="Tahoma"/>
                <a:hlinkClick r:id="rId3"/>
              </a:rPr>
              <a:t> </a:t>
            </a:r>
            <a:endParaRPr sz="650">
              <a:latin typeface="Tahoma"/>
              <a:cs typeface="Tahoma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749011" y="6536649"/>
            <a:ext cx="5271770" cy="1907539"/>
            <a:chOff x="749011" y="6536649"/>
            <a:chExt cx="5271770" cy="1907539"/>
          </a:xfrm>
        </p:grpSpPr>
        <p:sp>
          <p:nvSpPr>
            <p:cNvPr id="32" name="object 32"/>
            <p:cNvSpPr/>
            <p:nvPr/>
          </p:nvSpPr>
          <p:spPr>
            <a:xfrm>
              <a:off x="2976428" y="6832852"/>
              <a:ext cx="3039745" cy="0"/>
            </a:xfrm>
            <a:custGeom>
              <a:avLst/>
              <a:gdLst/>
              <a:ahLst/>
              <a:cxnLst/>
              <a:rect l="l" t="t" r="r" b="b"/>
              <a:pathLst>
                <a:path w="3039745" h="0">
                  <a:moveTo>
                    <a:pt x="0" y="0"/>
                  </a:moveTo>
                  <a:lnTo>
                    <a:pt x="3039461" y="0"/>
                  </a:lnTo>
                </a:path>
              </a:pathLst>
            </a:custGeom>
            <a:ln w="88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749011" y="6536649"/>
              <a:ext cx="1522730" cy="1907539"/>
            </a:xfrm>
            <a:custGeom>
              <a:avLst/>
              <a:gdLst/>
              <a:ahLst/>
              <a:cxnLst/>
              <a:rect l="l" t="t" r="r" b="b"/>
              <a:pathLst>
                <a:path w="1522730" h="1907540">
                  <a:moveTo>
                    <a:pt x="1522477" y="0"/>
                  </a:moveTo>
                  <a:lnTo>
                    <a:pt x="0" y="0"/>
                  </a:lnTo>
                  <a:lnTo>
                    <a:pt x="0" y="1907539"/>
                  </a:lnTo>
                  <a:lnTo>
                    <a:pt x="1522477" y="1907539"/>
                  </a:lnTo>
                  <a:lnTo>
                    <a:pt x="1522477" y="0"/>
                  </a:lnTo>
                  <a:close/>
                </a:path>
              </a:pathLst>
            </a:custGeom>
            <a:solidFill>
              <a:srgbClr val="E6E7E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4" name="object 34"/>
          <p:cNvSpPr txBox="1"/>
          <p:nvPr/>
        </p:nvSpPr>
        <p:spPr>
          <a:xfrm>
            <a:off x="826894" y="8265549"/>
            <a:ext cx="1367155" cy="1314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700" spc="35">
                <a:solidFill>
                  <a:srgbClr val="231F20"/>
                </a:solidFill>
                <a:latin typeface="Garamond"/>
                <a:cs typeface="Garamond"/>
              </a:rPr>
              <a:t>R</a:t>
            </a:r>
            <a:r>
              <a:rPr dirty="0" sz="450" spc="35">
                <a:solidFill>
                  <a:srgbClr val="231F20"/>
                </a:solidFill>
                <a:latin typeface="Garamond"/>
                <a:cs typeface="Garamond"/>
              </a:rPr>
              <a:t>OBERT</a:t>
            </a:r>
            <a:r>
              <a:rPr dirty="0" sz="450" spc="80">
                <a:solidFill>
                  <a:srgbClr val="231F20"/>
                </a:solidFill>
                <a:latin typeface="Garamond"/>
                <a:cs typeface="Garamond"/>
              </a:rPr>
              <a:t> </a:t>
            </a:r>
            <a:r>
              <a:rPr dirty="0" sz="700" spc="35">
                <a:solidFill>
                  <a:srgbClr val="231F20"/>
                </a:solidFill>
                <a:latin typeface="Garamond"/>
                <a:cs typeface="Garamond"/>
              </a:rPr>
              <a:t>S</a:t>
            </a:r>
            <a:r>
              <a:rPr dirty="0" sz="450" spc="35">
                <a:solidFill>
                  <a:srgbClr val="231F20"/>
                </a:solidFill>
                <a:latin typeface="Garamond"/>
                <a:cs typeface="Garamond"/>
              </a:rPr>
              <a:t>EDGEWICK </a:t>
            </a:r>
            <a:r>
              <a:rPr dirty="0" sz="450" spc="114">
                <a:solidFill>
                  <a:srgbClr val="231F20"/>
                </a:solidFill>
                <a:latin typeface="Garamond"/>
                <a:cs typeface="Garamond"/>
              </a:rPr>
              <a:t> </a:t>
            </a:r>
            <a:r>
              <a:rPr dirty="0" sz="700" spc="-200">
                <a:solidFill>
                  <a:srgbClr val="231F20"/>
                </a:solidFill>
                <a:latin typeface="Garamond"/>
                <a:cs typeface="Garamond"/>
              </a:rPr>
              <a:t>|</a:t>
            </a:r>
            <a:r>
              <a:rPr dirty="0" sz="700" spc="210">
                <a:solidFill>
                  <a:srgbClr val="231F20"/>
                </a:solidFill>
                <a:latin typeface="Garamond"/>
                <a:cs typeface="Garamond"/>
              </a:rPr>
              <a:t> </a:t>
            </a:r>
            <a:r>
              <a:rPr dirty="0" sz="700" spc="30">
                <a:solidFill>
                  <a:srgbClr val="231F20"/>
                </a:solidFill>
                <a:latin typeface="Garamond"/>
                <a:cs typeface="Garamond"/>
              </a:rPr>
              <a:t>K</a:t>
            </a:r>
            <a:r>
              <a:rPr dirty="0" sz="450" spc="30">
                <a:solidFill>
                  <a:srgbClr val="231F20"/>
                </a:solidFill>
                <a:latin typeface="Garamond"/>
                <a:cs typeface="Garamond"/>
              </a:rPr>
              <a:t>EVIN</a:t>
            </a:r>
            <a:r>
              <a:rPr dirty="0" sz="450" spc="80">
                <a:solidFill>
                  <a:srgbClr val="231F20"/>
                </a:solidFill>
                <a:latin typeface="Garamond"/>
                <a:cs typeface="Garamond"/>
              </a:rPr>
              <a:t> </a:t>
            </a:r>
            <a:r>
              <a:rPr dirty="0" sz="700" spc="40">
                <a:solidFill>
                  <a:srgbClr val="231F20"/>
                </a:solidFill>
                <a:latin typeface="Garamond"/>
                <a:cs typeface="Garamond"/>
              </a:rPr>
              <a:t>W</a:t>
            </a:r>
            <a:r>
              <a:rPr dirty="0" sz="450" spc="40">
                <a:solidFill>
                  <a:srgbClr val="231F20"/>
                </a:solidFill>
                <a:latin typeface="Garamond"/>
                <a:cs typeface="Garamond"/>
              </a:rPr>
              <a:t>AYNE</a:t>
            </a:r>
            <a:endParaRPr sz="450">
              <a:latin typeface="Garamond"/>
              <a:cs typeface="Garamond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749007" y="6536651"/>
            <a:ext cx="1499870" cy="1086485"/>
          </a:xfrm>
          <a:custGeom>
            <a:avLst/>
            <a:gdLst/>
            <a:ahLst/>
            <a:cxnLst/>
            <a:rect l="l" t="t" r="r" b="b"/>
            <a:pathLst>
              <a:path w="1499870" h="1086484">
                <a:moveTo>
                  <a:pt x="1320" y="726338"/>
                </a:moveTo>
                <a:lnTo>
                  <a:pt x="0" y="726338"/>
                </a:lnTo>
                <a:lnTo>
                  <a:pt x="0" y="1051356"/>
                </a:lnTo>
                <a:lnTo>
                  <a:pt x="1320" y="1051356"/>
                </a:lnTo>
                <a:lnTo>
                  <a:pt x="1320" y="726338"/>
                </a:lnTo>
                <a:close/>
              </a:path>
              <a:path w="1499870" h="1086484">
                <a:moveTo>
                  <a:pt x="62471" y="912685"/>
                </a:moveTo>
                <a:lnTo>
                  <a:pt x="24079" y="912685"/>
                </a:lnTo>
                <a:lnTo>
                  <a:pt x="24079" y="1086027"/>
                </a:lnTo>
                <a:lnTo>
                  <a:pt x="62471" y="1086027"/>
                </a:lnTo>
                <a:lnTo>
                  <a:pt x="62471" y="912685"/>
                </a:lnTo>
                <a:close/>
              </a:path>
              <a:path w="1499870" h="1086484">
                <a:moveTo>
                  <a:pt x="134277" y="856348"/>
                </a:moveTo>
                <a:lnTo>
                  <a:pt x="95885" y="856348"/>
                </a:lnTo>
                <a:lnTo>
                  <a:pt x="95885" y="1029690"/>
                </a:lnTo>
                <a:lnTo>
                  <a:pt x="134277" y="1029690"/>
                </a:lnTo>
                <a:lnTo>
                  <a:pt x="134277" y="856348"/>
                </a:lnTo>
                <a:close/>
              </a:path>
              <a:path w="1499870" h="1086484">
                <a:moveTo>
                  <a:pt x="206095" y="827328"/>
                </a:moveTo>
                <a:lnTo>
                  <a:pt x="167703" y="827328"/>
                </a:lnTo>
                <a:lnTo>
                  <a:pt x="167703" y="1074343"/>
                </a:lnTo>
                <a:lnTo>
                  <a:pt x="206095" y="1074343"/>
                </a:lnTo>
                <a:lnTo>
                  <a:pt x="206095" y="827328"/>
                </a:lnTo>
                <a:close/>
              </a:path>
              <a:path w="1499870" h="1086484">
                <a:moveTo>
                  <a:pt x="277914" y="656996"/>
                </a:moveTo>
                <a:lnTo>
                  <a:pt x="239522" y="656996"/>
                </a:lnTo>
                <a:lnTo>
                  <a:pt x="239522" y="982014"/>
                </a:lnTo>
                <a:lnTo>
                  <a:pt x="277914" y="982014"/>
                </a:lnTo>
                <a:lnTo>
                  <a:pt x="277914" y="656996"/>
                </a:lnTo>
                <a:close/>
              </a:path>
              <a:path w="1499870" h="1086484">
                <a:moveTo>
                  <a:pt x="349732" y="778319"/>
                </a:moveTo>
                <a:lnTo>
                  <a:pt x="311327" y="778319"/>
                </a:lnTo>
                <a:lnTo>
                  <a:pt x="311327" y="951661"/>
                </a:lnTo>
                <a:lnTo>
                  <a:pt x="349732" y="951661"/>
                </a:lnTo>
                <a:lnTo>
                  <a:pt x="349732" y="778319"/>
                </a:lnTo>
                <a:close/>
              </a:path>
              <a:path w="1499870" h="1086484">
                <a:moveTo>
                  <a:pt x="421538" y="808659"/>
                </a:moveTo>
                <a:lnTo>
                  <a:pt x="383146" y="808659"/>
                </a:lnTo>
                <a:lnTo>
                  <a:pt x="383146" y="982002"/>
                </a:lnTo>
                <a:lnTo>
                  <a:pt x="421538" y="982002"/>
                </a:lnTo>
                <a:lnTo>
                  <a:pt x="421538" y="808659"/>
                </a:lnTo>
                <a:close/>
              </a:path>
              <a:path w="1499870" h="1086484">
                <a:moveTo>
                  <a:pt x="493356" y="726338"/>
                </a:moveTo>
                <a:lnTo>
                  <a:pt x="454964" y="726338"/>
                </a:lnTo>
                <a:lnTo>
                  <a:pt x="454964" y="1029690"/>
                </a:lnTo>
                <a:lnTo>
                  <a:pt x="493356" y="1029690"/>
                </a:lnTo>
                <a:lnTo>
                  <a:pt x="493356" y="726338"/>
                </a:lnTo>
                <a:close/>
              </a:path>
              <a:path w="1499870" h="1086484">
                <a:moveTo>
                  <a:pt x="565175" y="735012"/>
                </a:moveTo>
                <a:lnTo>
                  <a:pt x="526770" y="735012"/>
                </a:lnTo>
                <a:lnTo>
                  <a:pt x="526770" y="908354"/>
                </a:lnTo>
                <a:lnTo>
                  <a:pt x="565175" y="908354"/>
                </a:lnTo>
                <a:lnTo>
                  <a:pt x="565175" y="735012"/>
                </a:lnTo>
                <a:close/>
              </a:path>
              <a:path w="1499870" h="1086484">
                <a:moveTo>
                  <a:pt x="636981" y="826008"/>
                </a:moveTo>
                <a:lnTo>
                  <a:pt x="598589" y="826008"/>
                </a:lnTo>
                <a:lnTo>
                  <a:pt x="598589" y="999350"/>
                </a:lnTo>
                <a:lnTo>
                  <a:pt x="636981" y="999350"/>
                </a:lnTo>
                <a:lnTo>
                  <a:pt x="636981" y="826008"/>
                </a:lnTo>
                <a:close/>
              </a:path>
              <a:path w="1499870" h="1086484">
                <a:moveTo>
                  <a:pt x="708799" y="851992"/>
                </a:moveTo>
                <a:lnTo>
                  <a:pt x="670407" y="851992"/>
                </a:lnTo>
                <a:lnTo>
                  <a:pt x="670407" y="1025334"/>
                </a:lnTo>
                <a:lnTo>
                  <a:pt x="708799" y="1025334"/>
                </a:lnTo>
                <a:lnTo>
                  <a:pt x="708799" y="851992"/>
                </a:lnTo>
                <a:close/>
              </a:path>
              <a:path w="1499870" h="1086484">
                <a:moveTo>
                  <a:pt x="780618" y="734974"/>
                </a:moveTo>
                <a:lnTo>
                  <a:pt x="742213" y="734974"/>
                </a:lnTo>
                <a:lnTo>
                  <a:pt x="742213" y="908316"/>
                </a:lnTo>
                <a:lnTo>
                  <a:pt x="780618" y="908316"/>
                </a:lnTo>
                <a:lnTo>
                  <a:pt x="780618" y="734974"/>
                </a:lnTo>
                <a:close/>
              </a:path>
              <a:path w="1499870" h="1086484">
                <a:moveTo>
                  <a:pt x="852436" y="843318"/>
                </a:moveTo>
                <a:lnTo>
                  <a:pt x="814031" y="843318"/>
                </a:lnTo>
                <a:lnTo>
                  <a:pt x="814031" y="1016660"/>
                </a:lnTo>
                <a:lnTo>
                  <a:pt x="852436" y="1016660"/>
                </a:lnTo>
                <a:lnTo>
                  <a:pt x="852436" y="843318"/>
                </a:lnTo>
                <a:close/>
              </a:path>
              <a:path w="1499870" h="1086484">
                <a:moveTo>
                  <a:pt x="924242" y="912647"/>
                </a:moveTo>
                <a:lnTo>
                  <a:pt x="885837" y="912647"/>
                </a:lnTo>
                <a:lnTo>
                  <a:pt x="885837" y="1085989"/>
                </a:lnTo>
                <a:lnTo>
                  <a:pt x="924242" y="1085989"/>
                </a:lnTo>
                <a:lnTo>
                  <a:pt x="924242" y="912647"/>
                </a:lnTo>
                <a:close/>
              </a:path>
              <a:path w="1499870" h="1086484">
                <a:moveTo>
                  <a:pt x="996061" y="0"/>
                </a:moveTo>
                <a:lnTo>
                  <a:pt x="957656" y="0"/>
                </a:lnTo>
                <a:lnTo>
                  <a:pt x="957656" y="1085989"/>
                </a:lnTo>
                <a:lnTo>
                  <a:pt x="996061" y="1085989"/>
                </a:lnTo>
                <a:lnTo>
                  <a:pt x="996061" y="0"/>
                </a:lnTo>
                <a:close/>
              </a:path>
              <a:path w="1499870" h="1086484">
                <a:moveTo>
                  <a:pt x="1067866" y="912647"/>
                </a:moveTo>
                <a:lnTo>
                  <a:pt x="1029474" y="912647"/>
                </a:lnTo>
                <a:lnTo>
                  <a:pt x="1029474" y="1085989"/>
                </a:lnTo>
                <a:lnTo>
                  <a:pt x="1067866" y="1085989"/>
                </a:lnTo>
                <a:lnTo>
                  <a:pt x="1067866" y="912647"/>
                </a:lnTo>
                <a:close/>
              </a:path>
              <a:path w="1499870" h="1086484">
                <a:moveTo>
                  <a:pt x="1139685" y="912647"/>
                </a:moveTo>
                <a:lnTo>
                  <a:pt x="1101280" y="912647"/>
                </a:lnTo>
                <a:lnTo>
                  <a:pt x="1101280" y="1085989"/>
                </a:lnTo>
                <a:lnTo>
                  <a:pt x="1139685" y="1085989"/>
                </a:lnTo>
                <a:lnTo>
                  <a:pt x="1139685" y="912647"/>
                </a:lnTo>
                <a:close/>
              </a:path>
              <a:path w="1499870" h="1086484">
                <a:moveTo>
                  <a:pt x="1211491" y="912634"/>
                </a:moveTo>
                <a:lnTo>
                  <a:pt x="1173099" y="912634"/>
                </a:lnTo>
                <a:lnTo>
                  <a:pt x="1173099" y="1085977"/>
                </a:lnTo>
                <a:lnTo>
                  <a:pt x="1211491" y="1085977"/>
                </a:lnTo>
                <a:lnTo>
                  <a:pt x="1211491" y="912634"/>
                </a:lnTo>
                <a:close/>
              </a:path>
              <a:path w="1499870" h="1086484">
                <a:moveTo>
                  <a:pt x="1283309" y="912634"/>
                </a:moveTo>
                <a:lnTo>
                  <a:pt x="1244904" y="912634"/>
                </a:lnTo>
                <a:lnTo>
                  <a:pt x="1244904" y="1085977"/>
                </a:lnTo>
                <a:lnTo>
                  <a:pt x="1283309" y="1085977"/>
                </a:lnTo>
                <a:lnTo>
                  <a:pt x="1283309" y="912634"/>
                </a:lnTo>
                <a:close/>
              </a:path>
              <a:path w="1499870" h="1086484">
                <a:moveTo>
                  <a:pt x="1355115" y="912634"/>
                </a:moveTo>
                <a:lnTo>
                  <a:pt x="1316723" y="912634"/>
                </a:lnTo>
                <a:lnTo>
                  <a:pt x="1316723" y="1085977"/>
                </a:lnTo>
                <a:lnTo>
                  <a:pt x="1355115" y="1085977"/>
                </a:lnTo>
                <a:lnTo>
                  <a:pt x="1355115" y="912634"/>
                </a:lnTo>
                <a:close/>
              </a:path>
              <a:path w="1499870" h="1086484">
                <a:moveTo>
                  <a:pt x="1426933" y="912634"/>
                </a:moveTo>
                <a:lnTo>
                  <a:pt x="1388541" y="912634"/>
                </a:lnTo>
                <a:lnTo>
                  <a:pt x="1388541" y="1085977"/>
                </a:lnTo>
                <a:lnTo>
                  <a:pt x="1426933" y="1085977"/>
                </a:lnTo>
                <a:lnTo>
                  <a:pt x="1426933" y="912634"/>
                </a:lnTo>
                <a:close/>
              </a:path>
              <a:path w="1499870" h="1086484">
                <a:moveTo>
                  <a:pt x="1499438" y="912634"/>
                </a:moveTo>
                <a:lnTo>
                  <a:pt x="1461046" y="912634"/>
                </a:lnTo>
                <a:lnTo>
                  <a:pt x="1461046" y="1085977"/>
                </a:lnTo>
                <a:lnTo>
                  <a:pt x="1499438" y="1085977"/>
                </a:lnTo>
                <a:lnTo>
                  <a:pt x="1499438" y="912634"/>
                </a:lnTo>
                <a:close/>
              </a:path>
            </a:pathLst>
          </a:custGeom>
          <a:solidFill>
            <a:srgbClr val="808285">
              <a:alpha val="29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 txBox="1"/>
          <p:nvPr/>
        </p:nvSpPr>
        <p:spPr>
          <a:xfrm>
            <a:off x="811310" y="7533001"/>
            <a:ext cx="1395095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 spc="114">
                <a:solidFill>
                  <a:srgbClr val="231F20"/>
                </a:solidFill>
                <a:latin typeface="Garamond"/>
                <a:cs typeface="Garamond"/>
              </a:rPr>
              <a:t>Algorithms</a:t>
            </a:r>
            <a:endParaRPr sz="2200">
              <a:latin typeface="Garamond"/>
              <a:cs typeface="Garamond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2949596" y="6873468"/>
            <a:ext cx="1513205" cy="1163320"/>
          </a:xfrm>
          <a:prstGeom prst="rect">
            <a:avLst/>
          </a:prstGeom>
        </p:spPr>
        <p:txBody>
          <a:bodyPr wrap="square" lIns="0" tIns="83820" rIns="0" bIns="0" rtlCol="0" vert="horz">
            <a:spAutoFit/>
          </a:bodyPr>
          <a:lstStyle/>
          <a:p>
            <a:pPr marL="160655" indent="-148590">
              <a:lnSpc>
                <a:spcPct val="100000"/>
              </a:lnSpc>
              <a:spcBef>
                <a:spcPts val="660"/>
              </a:spcBef>
              <a:buFont typeface="Tahoma"/>
              <a:buChar char="‣"/>
              <a:tabLst>
                <a:tab pos="161290" algn="l"/>
              </a:tabLst>
            </a:pPr>
            <a:r>
              <a:rPr dirty="0" sz="1400" spc="15" i="1">
                <a:solidFill>
                  <a:srgbClr val="BABABA"/>
                </a:solidFill>
                <a:latin typeface="Calibri"/>
                <a:cs typeface="Calibri"/>
              </a:rPr>
              <a:t>hash</a:t>
            </a:r>
            <a:r>
              <a:rPr dirty="0" sz="1400" spc="60" i="1">
                <a:solidFill>
                  <a:srgbClr val="BABABA"/>
                </a:solidFill>
                <a:latin typeface="Calibri"/>
                <a:cs typeface="Calibri"/>
              </a:rPr>
              <a:t> </a:t>
            </a:r>
            <a:r>
              <a:rPr dirty="0" sz="1400" spc="-10" i="1">
                <a:solidFill>
                  <a:srgbClr val="BABABA"/>
                </a:solidFill>
                <a:latin typeface="Calibri"/>
                <a:cs typeface="Calibri"/>
              </a:rPr>
              <a:t>functions</a:t>
            </a:r>
            <a:endParaRPr sz="1400">
              <a:latin typeface="Calibri"/>
              <a:cs typeface="Calibri"/>
            </a:endParaRPr>
          </a:p>
          <a:p>
            <a:pPr marL="160655" indent="-148590">
              <a:lnSpc>
                <a:spcPct val="100000"/>
              </a:lnSpc>
              <a:spcBef>
                <a:spcPts val="555"/>
              </a:spcBef>
              <a:buFont typeface="Tahoma"/>
              <a:buChar char="‣"/>
              <a:tabLst>
                <a:tab pos="161290" algn="l"/>
              </a:tabLst>
            </a:pPr>
            <a:r>
              <a:rPr dirty="0" sz="1400" spc="5" i="1">
                <a:latin typeface="Calibri"/>
                <a:cs typeface="Calibri"/>
              </a:rPr>
              <a:t>separate</a:t>
            </a:r>
            <a:r>
              <a:rPr dirty="0" sz="1400" spc="45" i="1">
                <a:latin typeface="Calibri"/>
                <a:cs typeface="Calibri"/>
              </a:rPr>
              <a:t> </a:t>
            </a:r>
            <a:r>
              <a:rPr dirty="0" sz="1400" spc="30" i="1">
                <a:latin typeface="Calibri"/>
                <a:cs typeface="Calibri"/>
              </a:rPr>
              <a:t>chaining</a:t>
            </a:r>
            <a:endParaRPr sz="1400">
              <a:latin typeface="Calibri"/>
              <a:cs typeface="Calibri"/>
            </a:endParaRPr>
          </a:p>
          <a:p>
            <a:pPr marL="160655" indent="-148590">
              <a:lnSpc>
                <a:spcPct val="100000"/>
              </a:lnSpc>
              <a:spcBef>
                <a:spcPts val="560"/>
              </a:spcBef>
              <a:buFont typeface="Tahoma"/>
              <a:buChar char="‣"/>
              <a:tabLst>
                <a:tab pos="161290" algn="l"/>
              </a:tabLst>
            </a:pPr>
            <a:r>
              <a:rPr dirty="0" sz="1400" spc="20" i="1">
                <a:solidFill>
                  <a:srgbClr val="BABABA"/>
                </a:solidFill>
                <a:latin typeface="Calibri"/>
                <a:cs typeface="Calibri"/>
              </a:rPr>
              <a:t>linear</a:t>
            </a:r>
            <a:r>
              <a:rPr dirty="0" sz="1400" spc="50" i="1">
                <a:solidFill>
                  <a:srgbClr val="BABABA"/>
                </a:solidFill>
                <a:latin typeface="Calibri"/>
                <a:cs typeface="Calibri"/>
              </a:rPr>
              <a:t> </a:t>
            </a:r>
            <a:r>
              <a:rPr dirty="0" sz="1400" spc="35" i="1">
                <a:solidFill>
                  <a:srgbClr val="BABABA"/>
                </a:solidFill>
                <a:latin typeface="Calibri"/>
                <a:cs typeface="Calibri"/>
              </a:rPr>
              <a:t>probing</a:t>
            </a:r>
            <a:endParaRPr sz="1400">
              <a:latin typeface="Calibri"/>
              <a:cs typeface="Calibri"/>
            </a:endParaRPr>
          </a:p>
          <a:p>
            <a:pPr marL="160655" indent="-148590">
              <a:lnSpc>
                <a:spcPct val="100000"/>
              </a:lnSpc>
              <a:spcBef>
                <a:spcPts val="560"/>
              </a:spcBef>
              <a:buFont typeface="Tahoma"/>
              <a:buChar char="‣"/>
              <a:tabLst>
                <a:tab pos="161290" algn="l"/>
              </a:tabLst>
            </a:pPr>
            <a:r>
              <a:rPr dirty="0" sz="1400" spc="-15" i="1">
                <a:solidFill>
                  <a:srgbClr val="BABABA"/>
                </a:solidFill>
                <a:latin typeface="Calibri"/>
                <a:cs typeface="Calibri"/>
              </a:rPr>
              <a:t>context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2967434" y="6485444"/>
            <a:ext cx="1696085" cy="2921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80695" algn="l"/>
              </a:tabLst>
            </a:pPr>
            <a:r>
              <a:rPr dirty="0" sz="1750" spc="70" b="1">
                <a:latin typeface="Century Gothic"/>
                <a:cs typeface="Century Gothic"/>
              </a:rPr>
              <a:t>3.4	</a:t>
            </a:r>
            <a:r>
              <a:rPr dirty="0" sz="1750" spc="25" b="1">
                <a:latin typeface="Century Gothic"/>
                <a:cs typeface="Century Gothic"/>
              </a:rPr>
              <a:t>H</a:t>
            </a:r>
            <a:r>
              <a:rPr dirty="0" sz="1400" spc="25" b="1">
                <a:latin typeface="Century Gothic"/>
                <a:cs typeface="Century Gothic"/>
              </a:rPr>
              <a:t>ASH</a:t>
            </a:r>
            <a:r>
              <a:rPr dirty="0" sz="1400" spc="85" b="1">
                <a:latin typeface="Century Gothic"/>
                <a:cs typeface="Century Gothic"/>
              </a:rPr>
              <a:t> </a:t>
            </a:r>
            <a:r>
              <a:rPr dirty="0" sz="1750" spc="40" b="1">
                <a:latin typeface="Century Gothic"/>
                <a:cs typeface="Century Gothic"/>
              </a:rPr>
              <a:t>T</a:t>
            </a:r>
            <a:r>
              <a:rPr dirty="0" sz="1400" spc="40" b="1">
                <a:latin typeface="Century Gothic"/>
                <a:cs typeface="Century Gothic"/>
              </a:rPr>
              <a:t>ABLES</a:t>
            </a:r>
            <a:endParaRPr sz="1400">
              <a:latin typeface="Century Gothic"/>
              <a:cs typeface="Century Gothic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6592379" y="4966780"/>
            <a:ext cx="6066790" cy="4549775"/>
            <a:chOff x="6592379" y="4966780"/>
            <a:chExt cx="6066790" cy="4549775"/>
          </a:xfrm>
        </p:grpSpPr>
        <p:sp>
          <p:nvSpPr>
            <p:cNvPr id="40" name="object 40"/>
            <p:cNvSpPr/>
            <p:nvPr/>
          </p:nvSpPr>
          <p:spPr>
            <a:xfrm>
              <a:off x="6592379" y="4966780"/>
              <a:ext cx="6066790" cy="4549775"/>
            </a:xfrm>
            <a:custGeom>
              <a:avLst/>
              <a:gdLst/>
              <a:ahLst/>
              <a:cxnLst/>
              <a:rect l="l" t="t" r="r" b="b"/>
              <a:pathLst>
                <a:path w="6066790" h="4549775">
                  <a:moveTo>
                    <a:pt x="0" y="0"/>
                  </a:moveTo>
                  <a:lnTo>
                    <a:pt x="6066212" y="0"/>
                  </a:lnTo>
                  <a:lnTo>
                    <a:pt x="6066212" y="4549659"/>
                  </a:lnTo>
                  <a:lnTo>
                    <a:pt x="0" y="45496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6977442" y="5428805"/>
              <a:ext cx="5302250" cy="635"/>
            </a:xfrm>
            <a:custGeom>
              <a:avLst/>
              <a:gdLst/>
              <a:ahLst/>
              <a:cxnLst/>
              <a:rect l="l" t="t" r="r" b="b"/>
              <a:pathLst>
                <a:path w="5302250" h="635">
                  <a:moveTo>
                    <a:pt x="0" y="49"/>
                  </a:moveTo>
                  <a:lnTo>
                    <a:pt x="5302012" y="0"/>
                  </a:lnTo>
                </a:path>
              </a:pathLst>
            </a:custGeom>
            <a:ln w="59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2" name="object 42"/>
          <p:cNvSpPr txBox="1"/>
          <p:nvPr/>
        </p:nvSpPr>
        <p:spPr>
          <a:xfrm>
            <a:off x="6935399" y="5125877"/>
            <a:ext cx="5313680" cy="13703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63500">
              <a:lnSpc>
                <a:spcPct val="100000"/>
              </a:lnSpc>
              <a:spcBef>
                <a:spcPts val="105"/>
              </a:spcBef>
            </a:pPr>
            <a:r>
              <a:rPr dirty="0" sz="1300" spc="-5">
                <a:latin typeface="Arial"/>
                <a:cs typeface="Arial"/>
              </a:rPr>
              <a:t>Collisions</a:t>
            </a:r>
            <a:endParaRPr sz="13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800">
              <a:latin typeface="Arial"/>
              <a:cs typeface="Arial"/>
            </a:endParaRPr>
          </a:p>
          <a:p>
            <a:pPr marL="63500">
              <a:lnSpc>
                <a:spcPts val="1195"/>
              </a:lnSpc>
            </a:pPr>
            <a:r>
              <a:rPr dirty="0" sz="1100" spc="5">
                <a:solidFill>
                  <a:srgbClr val="005493"/>
                </a:solidFill>
                <a:latin typeface="Lucida Sans"/>
                <a:cs typeface="Lucida Sans"/>
              </a:rPr>
              <a:t>Collision. </a:t>
            </a:r>
            <a:r>
              <a:rPr dirty="0" sz="1100" spc="15">
                <a:solidFill>
                  <a:srgbClr val="005493"/>
                </a:solidFill>
                <a:latin typeface="Lucida Sans"/>
                <a:cs typeface="Lucida Sans"/>
              </a:rPr>
              <a:t> </a:t>
            </a:r>
            <a:r>
              <a:rPr dirty="0" sz="1100" spc="-10">
                <a:latin typeface="Lucida Sans"/>
                <a:cs typeface="Lucida Sans"/>
              </a:rPr>
              <a:t>Two</a:t>
            </a:r>
            <a:r>
              <a:rPr dirty="0" sz="1100" spc="10">
                <a:latin typeface="Lucida Sans"/>
                <a:cs typeface="Lucida Sans"/>
              </a:rPr>
              <a:t> </a:t>
            </a:r>
            <a:r>
              <a:rPr dirty="0" sz="1100" spc="5">
                <a:latin typeface="Lucida Sans"/>
                <a:cs typeface="Lucida Sans"/>
              </a:rPr>
              <a:t>distinct</a:t>
            </a:r>
            <a:r>
              <a:rPr dirty="0" sz="1100" spc="10">
                <a:latin typeface="Lucida Sans"/>
                <a:cs typeface="Lucida Sans"/>
              </a:rPr>
              <a:t> </a:t>
            </a:r>
            <a:r>
              <a:rPr dirty="0" sz="1100" spc="20">
                <a:latin typeface="Lucida Sans"/>
                <a:cs typeface="Lucida Sans"/>
              </a:rPr>
              <a:t>keys</a:t>
            </a:r>
            <a:r>
              <a:rPr dirty="0" sz="1100" spc="10">
                <a:latin typeface="Lucida Sans"/>
                <a:cs typeface="Lucida Sans"/>
              </a:rPr>
              <a:t> hashing </a:t>
            </a:r>
            <a:r>
              <a:rPr dirty="0" sz="1100" spc="5">
                <a:latin typeface="Lucida Sans"/>
                <a:cs typeface="Lucida Sans"/>
              </a:rPr>
              <a:t>to</a:t>
            </a:r>
            <a:r>
              <a:rPr dirty="0" sz="1100" spc="10">
                <a:latin typeface="Lucida Sans"/>
                <a:cs typeface="Lucida Sans"/>
              </a:rPr>
              <a:t> same </a:t>
            </a:r>
            <a:r>
              <a:rPr dirty="0" sz="1100" spc="5">
                <a:latin typeface="Lucida Sans"/>
                <a:cs typeface="Lucida Sans"/>
              </a:rPr>
              <a:t>index.</a:t>
            </a:r>
            <a:endParaRPr sz="1100">
              <a:latin typeface="Lucida Sans"/>
              <a:cs typeface="Lucida Sans"/>
            </a:endParaRPr>
          </a:p>
          <a:p>
            <a:pPr marL="332105" marR="862965" indent="-237490">
              <a:lnSpc>
                <a:spcPts val="1820"/>
              </a:lnSpc>
              <a:spcBef>
                <a:spcPts val="270"/>
              </a:spcBef>
            </a:pPr>
            <a:r>
              <a:rPr dirty="0" baseline="-13513" sz="2775" spc="22">
                <a:latin typeface="Microsoft JhengHei"/>
                <a:cs typeface="Microsoft JhengHei"/>
              </a:rPr>
              <a:t>・</a:t>
            </a:r>
            <a:r>
              <a:rPr dirty="0" sz="1100" spc="15">
                <a:latin typeface="Lucida Sans"/>
                <a:cs typeface="Lucida Sans"/>
              </a:rPr>
              <a:t>Birthday</a:t>
            </a:r>
            <a:r>
              <a:rPr dirty="0" sz="1100" spc="5">
                <a:latin typeface="Lucida Sans"/>
                <a:cs typeface="Lucida Sans"/>
              </a:rPr>
              <a:t> problem</a:t>
            </a:r>
            <a:r>
              <a:rPr dirty="0" sz="1100" spc="20">
                <a:latin typeface="Lucida Sans"/>
                <a:cs typeface="Lucida Sans"/>
              </a:rPr>
              <a:t> </a:t>
            </a:r>
            <a:r>
              <a:rPr dirty="0" sz="1100" spc="15">
                <a:latin typeface="Symbol"/>
                <a:cs typeface="Symbol"/>
              </a:rPr>
              <a:t>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145">
                <a:latin typeface="Times New Roman"/>
                <a:cs typeface="Times New Roman"/>
              </a:rPr>
              <a:t> </a:t>
            </a:r>
            <a:r>
              <a:rPr dirty="0" sz="1100" spc="10">
                <a:latin typeface="Lucida Sans"/>
                <a:cs typeface="Lucida Sans"/>
              </a:rPr>
              <a:t>can't </a:t>
            </a:r>
            <a:r>
              <a:rPr dirty="0" sz="1100" spc="20">
                <a:latin typeface="Lucida Sans"/>
                <a:cs typeface="Lucida Sans"/>
              </a:rPr>
              <a:t>avoid</a:t>
            </a:r>
            <a:r>
              <a:rPr dirty="0" sz="1100" spc="10">
                <a:latin typeface="Lucida Sans"/>
                <a:cs typeface="Lucida Sans"/>
              </a:rPr>
              <a:t> </a:t>
            </a:r>
            <a:r>
              <a:rPr dirty="0" sz="1100" spc="5">
                <a:latin typeface="Lucida Sans"/>
                <a:cs typeface="Lucida Sans"/>
              </a:rPr>
              <a:t>collisions unless</a:t>
            </a:r>
            <a:r>
              <a:rPr dirty="0" sz="1100" spc="10">
                <a:latin typeface="Lucida Sans"/>
                <a:cs typeface="Lucida Sans"/>
              </a:rPr>
              <a:t> </a:t>
            </a:r>
            <a:r>
              <a:rPr dirty="0" sz="1100" spc="25">
                <a:latin typeface="Lucida Sans"/>
                <a:cs typeface="Lucida Sans"/>
              </a:rPr>
              <a:t>you</a:t>
            </a:r>
            <a:r>
              <a:rPr dirty="0" sz="1100" spc="5">
                <a:latin typeface="Lucida Sans"/>
                <a:cs typeface="Lucida Sans"/>
              </a:rPr>
              <a:t> </a:t>
            </a:r>
            <a:r>
              <a:rPr dirty="0" sz="1100" spc="25">
                <a:latin typeface="Lucida Sans"/>
                <a:cs typeface="Lucida Sans"/>
              </a:rPr>
              <a:t>have </a:t>
            </a:r>
            <a:r>
              <a:rPr dirty="0" sz="1100" spc="-335">
                <a:latin typeface="Lucida Sans"/>
                <a:cs typeface="Lucida Sans"/>
              </a:rPr>
              <a:t> </a:t>
            </a:r>
            <a:r>
              <a:rPr dirty="0" sz="1100" spc="10">
                <a:latin typeface="Lucida Sans"/>
                <a:cs typeface="Lucida Sans"/>
              </a:rPr>
              <a:t>a</a:t>
            </a:r>
            <a:r>
              <a:rPr dirty="0" sz="1100" spc="5">
                <a:latin typeface="Lucida Sans"/>
                <a:cs typeface="Lucida Sans"/>
              </a:rPr>
              <a:t> ridiculous (quadratic) </a:t>
            </a:r>
            <a:r>
              <a:rPr dirty="0" sz="1100" spc="10">
                <a:latin typeface="Lucida Sans"/>
                <a:cs typeface="Lucida Sans"/>
              </a:rPr>
              <a:t>amount </a:t>
            </a:r>
            <a:r>
              <a:rPr dirty="0" sz="1100" spc="5">
                <a:latin typeface="Lucida Sans"/>
                <a:cs typeface="Lucida Sans"/>
              </a:rPr>
              <a:t>of </a:t>
            </a:r>
            <a:r>
              <a:rPr dirty="0" sz="1100">
                <a:latin typeface="Lucida Sans"/>
                <a:cs typeface="Lucida Sans"/>
              </a:rPr>
              <a:t>memory.</a:t>
            </a:r>
            <a:endParaRPr sz="1100">
              <a:latin typeface="Lucida Sans"/>
              <a:cs typeface="Lucida Sans"/>
            </a:endParaRPr>
          </a:p>
          <a:p>
            <a:pPr marL="95250">
              <a:lnSpc>
                <a:spcPts val="1825"/>
              </a:lnSpc>
            </a:pPr>
            <a:r>
              <a:rPr dirty="0" baseline="-13513" sz="2775" spc="22">
                <a:latin typeface="Microsoft JhengHei"/>
                <a:cs typeface="Microsoft JhengHei"/>
              </a:rPr>
              <a:t>・</a:t>
            </a:r>
            <a:r>
              <a:rPr dirty="0" sz="1100" spc="10">
                <a:latin typeface="Lucida Sans"/>
                <a:cs typeface="Lucida Sans"/>
              </a:rPr>
              <a:t>Coupon</a:t>
            </a:r>
            <a:r>
              <a:rPr dirty="0" sz="1100" spc="5">
                <a:latin typeface="Lucida Sans"/>
                <a:cs typeface="Lucida Sans"/>
              </a:rPr>
              <a:t> </a:t>
            </a:r>
            <a:r>
              <a:rPr dirty="0" sz="1100" spc="10">
                <a:latin typeface="Lucida Sans"/>
                <a:cs typeface="Lucida Sans"/>
              </a:rPr>
              <a:t>collector + load balancing</a:t>
            </a:r>
            <a:r>
              <a:rPr dirty="0" sz="1100" spc="365">
                <a:latin typeface="Lucida Sans"/>
                <a:cs typeface="Lucida Sans"/>
              </a:rPr>
              <a:t> </a:t>
            </a:r>
            <a:r>
              <a:rPr dirty="0" sz="1100" spc="15">
                <a:latin typeface="Symbol"/>
                <a:cs typeface="Symbol"/>
              </a:rPr>
              <a:t></a:t>
            </a:r>
            <a:r>
              <a:rPr dirty="0" sz="1100" spc="155">
                <a:latin typeface="Times New Roman"/>
                <a:cs typeface="Times New Roman"/>
              </a:rPr>
              <a:t> </a:t>
            </a:r>
            <a:r>
              <a:rPr dirty="0" sz="1100" spc="5">
                <a:latin typeface="Lucida Sans"/>
                <a:cs typeface="Lucida Sans"/>
              </a:rPr>
              <a:t>collisions</a:t>
            </a:r>
            <a:r>
              <a:rPr dirty="0" sz="1100" spc="10">
                <a:latin typeface="Lucida Sans"/>
                <a:cs typeface="Lucida Sans"/>
              </a:rPr>
              <a:t> </a:t>
            </a:r>
            <a:r>
              <a:rPr dirty="0" sz="1100">
                <a:latin typeface="Lucida Sans"/>
                <a:cs typeface="Lucida Sans"/>
              </a:rPr>
              <a:t>are</a:t>
            </a:r>
            <a:r>
              <a:rPr dirty="0" sz="1100" spc="10">
                <a:latin typeface="Lucida Sans"/>
                <a:cs typeface="Lucida Sans"/>
              </a:rPr>
              <a:t> </a:t>
            </a:r>
            <a:r>
              <a:rPr dirty="0" sz="1100" spc="25">
                <a:latin typeface="Lucida Sans"/>
                <a:cs typeface="Lucida Sans"/>
              </a:rPr>
              <a:t>evenly</a:t>
            </a:r>
            <a:r>
              <a:rPr dirty="0" sz="1100" spc="5">
                <a:latin typeface="Lucida Sans"/>
                <a:cs typeface="Lucida Sans"/>
              </a:rPr>
              <a:t> distributed.</a:t>
            </a:r>
            <a:endParaRPr sz="1100">
              <a:latin typeface="Lucida Sans"/>
              <a:cs typeface="Lucida Sans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6986199" y="9053513"/>
            <a:ext cx="2940050" cy="1962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100" spc="5">
                <a:solidFill>
                  <a:srgbClr val="005493"/>
                </a:solidFill>
                <a:latin typeface="Lucida Sans"/>
                <a:cs typeface="Lucida Sans"/>
              </a:rPr>
              <a:t>Challenge. </a:t>
            </a:r>
            <a:r>
              <a:rPr dirty="0" sz="1100" spc="10">
                <a:solidFill>
                  <a:srgbClr val="005493"/>
                </a:solidFill>
                <a:latin typeface="Lucida Sans"/>
                <a:cs typeface="Lucida Sans"/>
              </a:rPr>
              <a:t> </a:t>
            </a:r>
            <a:r>
              <a:rPr dirty="0" sz="1100" spc="10">
                <a:latin typeface="Lucida Sans"/>
                <a:cs typeface="Lucida Sans"/>
              </a:rPr>
              <a:t>Deal </a:t>
            </a:r>
            <a:r>
              <a:rPr dirty="0" sz="1100" spc="25">
                <a:latin typeface="Lucida Sans"/>
                <a:cs typeface="Lucida Sans"/>
              </a:rPr>
              <a:t>with</a:t>
            </a:r>
            <a:r>
              <a:rPr dirty="0" sz="1100" spc="10">
                <a:latin typeface="Lucida Sans"/>
                <a:cs typeface="Lucida Sans"/>
              </a:rPr>
              <a:t> </a:t>
            </a:r>
            <a:r>
              <a:rPr dirty="0" sz="1100" spc="5">
                <a:latin typeface="Lucida Sans"/>
                <a:cs typeface="Lucida Sans"/>
              </a:rPr>
              <a:t>collisions</a:t>
            </a:r>
            <a:r>
              <a:rPr dirty="0" sz="1100" spc="10">
                <a:latin typeface="Lucida Sans"/>
                <a:cs typeface="Lucida Sans"/>
              </a:rPr>
              <a:t> </a:t>
            </a:r>
            <a:r>
              <a:rPr dirty="0" sz="1100">
                <a:latin typeface="Lucida Sans"/>
                <a:cs typeface="Lucida Sans"/>
              </a:rPr>
              <a:t>efficiently.</a:t>
            </a:r>
            <a:endParaRPr sz="1100">
              <a:latin typeface="Lucida Sans"/>
              <a:cs typeface="Lucida Sans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8342803" y="8147136"/>
            <a:ext cx="1116965" cy="15367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800" spc="20">
                <a:solidFill>
                  <a:srgbClr val="8D3124"/>
                </a:solidFill>
                <a:latin typeface="Lucida Sans Typewriter"/>
                <a:cs typeface="Lucida Sans Typewriter"/>
              </a:rPr>
              <a:t>hash("times")</a:t>
            </a:r>
            <a:r>
              <a:rPr dirty="0" sz="800" spc="-5">
                <a:solidFill>
                  <a:srgbClr val="8D3124"/>
                </a:solidFill>
                <a:latin typeface="Lucida Sans Typewriter"/>
                <a:cs typeface="Lucida Sans Typewriter"/>
              </a:rPr>
              <a:t> </a:t>
            </a:r>
            <a:r>
              <a:rPr dirty="0" sz="800" spc="20">
                <a:solidFill>
                  <a:srgbClr val="8D3124"/>
                </a:solidFill>
                <a:latin typeface="Lucida Sans Typewriter"/>
                <a:cs typeface="Lucida Sans Typewriter"/>
              </a:rPr>
              <a:t>=</a:t>
            </a:r>
            <a:r>
              <a:rPr dirty="0" sz="800">
                <a:solidFill>
                  <a:srgbClr val="8D3124"/>
                </a:solidFill>
                <a:latin typeface="Lucida Sans Typewriter"/>
                <a:cs typeface="Lucida Sans Typewriter"/>
              </a:rPr>
              <a:t> </a:t>
            </a:r>
            <a:r>
              <a:rPr dirty="0" sz="800" spc="20">
                <a:solidFill>
                  <a:srgbClr val="8D3124"/>
                </a:solidFill>
                <a:latin typeface="Lucida Sans Typewriter"/>
                <a:cs typeface="Lucida Sans Typewriter"/>
              </a:rPr>
              <a:t>3</a:t>
            </a:r>
            <a:endParaRPr sz="800">
              <a:latin typeface="Lucida Sans Typewriter"/>
              <a:cs typeface="Lucida Sans Typewriter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9486070" y="8064699"/>
            <a:ext cx="410845" cy="196850"/>
            <a:chOff x="9486070" y="8064699"/>
            <a:chExt cx="410845" cy="196850"/>
          </a:xfrm>
        </p:grpSpPr>
        <p:sp>
          <p:nvSpPr>
            <p:cNvPr id="46" name="object 46"/>
            <p:cNvSpPr/>
            <p:nvPr/>
          </p:nvSpPr>
          <p:spPr>
            <a:xfrm>
              <a:off x="9492103" y="8081951"/>
              <a:ext cx="371475" cy="173355"/>
            </a:xfrm>
            <a:custGeom>
              <a:avLst/>
              <a:gdLst/>
              <a:ahLst/>
              <a:cxnLst/>
              <a:rect l="l" t="t" r="r" b="b"/>
              <a:pathLst>
                <a:path w="371475" h="173354">
                  <a:moveTo>
                    <a:pt x="371130" y="0"/>
                  </a:moveTo>
                  <a:lnTo>
                    <a:pt x="365761" y="2504"/>
                  </a:lnTo>
                  <a:lnTo>
                    <a:pt x="0" y="173195"/>
                  </a:lnTo>
                </a:path>
              </a:pathLst>
            </a:custGeom>
            <a:ln w="11848">
              <a:solidFill>
                <a:srgbClr val="8D312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/>
            <p:cNvSpPr/>
            <p:nvPr/>
          </p:nvSpPr>
          <p:spPr>
            <a:xfrm>
              <a:off x="9832957" y="8064699"/>
              <a:ext cx="64135" cy="52069"/>
            </a:xfrm>
            <a:custGeom>
              <a:avLst/>
              <a:gdLst/>
              <a:ahLst/>
              <a:cxnLst/>
              <a:rect l="l" t="t" r="r" b="b"/>
              <a:pathLst>
                <a:path w="64134" h="52070">
                  <a:moveTo>
                    <a:pt x="0" y="0"/>
                  </a:moveTo>
                  <a:lnTo>
                    <a:pt x="24907" y="19756"/>
                  </a:lnTo>
                  <a:lnTo>
                    <a:pt x="24047" y="51536"/>
                  </a:lnTo>
                  <a:lnTo>
                    <a:pt x="63560" y="17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D312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8" name="object 48"/>
          <p:cNvSpPr txBox="1"/>
          <p:nvPr/>
        </p:nvSpPr>
        <p:spPr>
          <a:xfrm>
            <a:off x="9918597" y="7927946"/>
            <a:ext cx="115570" cy="15367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800" spc="15">
                <a:solidFill>
                  <a:srgbClr val="8D3124"/>
                </a:solidFill>
                <a:latin typeface="Lucida Sans"/>
                <a:cs typeface="Lucida Sans"/>
              </a:rPr>
              <a:t>??</a:t>
            </a:r>
            <a:endParaRPr sz="800">
              <a:latin typeface="Lucida Sans"/>
              <a:cs typeface="Lucida Sans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10173429" y="7151897"/>
            <a:ext cx="85725" cy="3498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50" spc="-5">
                <a:latin typeface="Lucida Sans"/>
                <a:cs typeface="Lucida Sans"/>
              </a:rPr>
              <a:t>0</a:t>
            </a:r>
            <a:endParaRPr sz="750">
              <a:latin typeface="Lucida Sans"/>
              <a:cs typeface="Lucida Sans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dirty="0" sz="750" spc="-5">
                <a:latin typeface="Lucida Sans"/>
                <a:cs typeface="Lucida Sans"/>
              </a:rPr>
              <a:t>1</a:t>
            </a:r>
            <a:endParaRPr sz="750">
              <a:latin typeface="Lucida Sans"/>
              <a:cs typeface="Lucida Sans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10173429" y="7572504"/>
            <a:ext cx="85725" cy="3498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50" spc="-5">
                <a:latin typeface="Lucida Sans"/>
                <a:cs typeface="Lucida Sans"/>
              </a:rPr>
              <a:t>2</a:t>
            </a:r>
            <a:endParaRPr sz="750">
              <a:latin typeface="Lucida Sans"/>
              <a:cs typeface="Lucida Sans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dirty="0" sz="750" spc="-5">
                <a:latin typeface="Lucida Sans"/>
                <a:cs typeface="Lucida Sans"/>
              </a:rPr>
              <a:t>3</a:t>
            </a:r>
            <a:endParaRPr sz="750">
              <a:latin typeface="Lucida Sans"/>
              <a:cs typeface="Lucida Sans"/>
            </a:endParaRPr>
          </a:p>
        </p:txBody>
      </p:sp>
      <p:graphicFrame>
        <p:nvGraphicFramePr>
          <p:cNvPr id="51" name="object 51"/>
          <p:cNvGraphicFramePr>
            <a:graphicFrameLocks noGrp="1"/>
          </p:cNvGraphicFramePr>
          <p:nvPr/>
        </p:nvGraphicFramePr>
        <p:xfrm>
          <a:off x="10299543" y="7129053"/>
          <a:ext cx="398780" cy="12611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98145"/>
              </a:tblGrid>
              <a:tr h="2101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</a:tr>
              <a:tr h="2101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</a:tr>
              <a:tr h="2101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</a:tr>
              <a:tr h="210185"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800" spc="20">
                          <a:latin typeface="Lucida Sans Typewriter"/>
                          <a:cs typeface="Lucida Sans Typewriter"/>
                        </a:rPr>
                        <a:t>"it"</a:t>
                      </a:r>
                      <a:endParaRPr sz="800">
                        <a:latin typeface="Lucida Sans Typewriter"/>
                        <a:cs typeface="Lucida Sans Typewriter"/>
                      </a:endParaRPr>
                    </a:p>
                  </a:txBody>
                  <a:tcPr marL="0" marR="0" marB="0" marT="34925"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</a:tr>
              <a:tr h="2101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</a:tr>
              <a:tr h="2101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3175">
                      <a:solidFill>
                        <a:srgbClr val="E7EAEB"/>
                      </a:solidFill>
                      <a:prstDash val="solid"/>
                    </a:lnT>
                    <a:solidFill>
                      <a:srgbClr val="CBCBCB"/>
                    </a:solidFill>
                  </a:tcPr>
                </a:tc>
              </a:tr>
            </a:tbl>
          </a:graphicData>
        </a:graphic>
      </p:graphicFrame>
      <p:sp>
        <p:nvSpPr>
          <p:cNvPr id="52" name="object 52"/>
          <p:cNvSpPr txBox="1"/>
          <p:nvPr/>
        </p:nvSpPr>
        <p:spPr>
          <a:xfrm>
            <a:off x="10173429" y="7993110"/>
            <a:ext cx="85725" cy="3498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50" spc="-5">
                <a:latin typeface="Lucida Sans"/>
                <a:cs typeface="Lucida Sans"/>
              </a:rPr>
              <a:t>4</a:t>
            </a:r>
            <a:endParaRPr sz="750">
              <a:latin typeface="Lucida Sans"/>
              <a:cs typeface="Lucida Sans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dirty="0" sz="750" spc="-5">
                <a:latin typeface="Lucida Sans"/>
                <a:cs typeface="Lucida Sans"/>
              </a:rPr>
              <a:t>5</a:t>
            </a:r>
            <a:endParaRPr sz="750">
              <a:latin typeface="Lucida Sans"/>
              <a:cs typeface="Lucida Sans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8686398" y="7495492"/>
            <a:ext cx="924560" cy="15367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800" spc="20">
                <a:solidFill>
                  <a:srgbClr val="8D3124"/>
                </a:solidFill>
                <a:latin typeface="Lucida Sans Typewriter"/>
                <a:cs typeface="Lucida Sans Typewriter"/>
              </a:rPr>
              <a:t>hash("it")</a:t>
            </a:r>
            <a:r>
              <a:rPr dirty="0" sz="800" spc="-10">
                <a:solidFill>
                  <a:srgbClr val="8D3124"/>
                </a:solidFill>
                <a:latin typeface="Lucida Sans Typewriter"/>
                <a:cs typeface="Lucida Sans Typewriter"/>
              </a:rPr>
              <a:t> </a:t>
            </a:r>
            <a:r>
              <a:rPr dirty="0" sz="800" spc="20">
                <a:solidFill>
                  <a:srgbClr val="8D3124"/>
                </a:solidFill>
                <a:latin typeface="Lucida Sans Typewriter"/>
                <a:cs typeface="Lucida Sans Typewriter"/>
              </a:rPr>
              <a:t>=</a:t>
            </a:r>
            <a:r>
              <a:rPr dirty="0" sz="800" spc="-5">
                <a:solidFill>
                  <a:srgbClr val="8D3124"/>
                </a:solidFill>
                <a:latin typeface="Lucida Sans Typewriter"/>
                <a:cs typeface="Lucida Sans Typewriter"/>
              </a:rPr>
              <a:t> </a:t>
            </a:r>
            <a:r>
              <a:rPr dirty="0" sz="800" spc="20">
                <a:solidFill>
                  <a:srgbClr val="8D3124"/>
                </a:solidFill>
                <a:latin typeface="Lucida Sans Typewriter"/>
                <a:cs typeface="Lucida Sans Typewriter"/>
              </a:rPr>
              <a:t>3</a:t>
            </a:r>
            <a:endParaRPr sz="800">
              <a:latin typeface="Lucida Sans Typewriter"/>
              <a:cs typeface="Lucida Sans Typewriter"/>
            </a:endParaRPr>
          </a:p>
        </p:txBody>
      </p:sp>
      <p:grpSp>
        <p:nvGrpSpPr>
          <p:cNvPr id="54" name="object 54"/>
          <p:cNvGrpSpPr/>
          <p:nvPr/>
        </p:nvGrpSpPr>
        <p:grpSpPr>
          <a:xfrm>
            <a:off x="9544412" y="7706999"/>
            <a:ext cx="586105" cy="168275"/>
            <a:chOff x="9544412" y="7706999"/>
            <a:chExt cx="586105" cy="168275"/>
          </a:xfrm>
        </p:grpSpPr>
        <p:sp>
          <p:nvSpPr>
            <p:cNvPr id="55" name="object 55"/>
            <p:cNvSpPr/>
            <p:nvPr/>
          </p:nvSpPr>
          <p:spPr>
            <a:xfrm>
              <a:off x="9550336" y="7712923"/>
              <a:ext cx="544830" cy="139700"/>
            </a:xfrm>
            <a:custGeom>
              <a:avLst/>
              <a:gdLst/>
              <a:ahLst/>
              <a:cxnLst/>
              <a:rect l="l" t="t" r="r" b="b"/>
              <a:pathLst>
                <a:path w="544829" h="139700">
                  <a:moveTo>
                    <a:pt x="544400" y="139346"/>
                  </a:moveTo>
                  <a:lnTo>
                    <a:pt x="538661" y="137878"/>
                  </a:lnTo>
                  <a:lnTo>
                    <a:pt x="0" y="0"/>
                  </a:lnTo>
                </a:path>
              </a:pathLst>
            </a:custGeom>
            <a:ln w="11848">
              <a:solidFill>
                <a:srgbClr val="8D312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/>
            <p:cNvSpPr/>
            <p:nvPr/>
          </p:nvSpPr>
          <p:spPr>
            <a:xfrm>
              <a:off x="10068174" y="7819728"/>
              <a:ext cx="62230" cy="55244"/>
            </a:xfrm>
            <a:custGeom>
              <a:avLst/>
              <a:gdLst/>
              <a:ahLst/>
              <a:cxnLst/>
              <a:rect l="l" t="t" r="r" b="b"/>
              <a:pathLst>
                <a:path w="62229" h="55245">
                  <a:moveTo>
                    <a:pt x="14100" y="0"/>
                  </a:moveTo>
                  <a:lnTo>
                    <a:pt x="20824" y="31072"/>
                  </a:lnTo>
                  <a:lnTo>
                    <a:pt x="0" y="55094"/>
                  </a:lnTo>
                  <a:lnTo>
                    <a:pt x="62145" y="41648"/>
                  </a:lnTo>
                  <a:lnTo>
                    <a:pt x="14100" y="0"/>
                  </a:lnTo>
                  <a:close/>
                </a:path>
              </a:pathLst>
            </a:custGeom>
            <a:solidFill>
              <a:srgbClr val="8D312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7" name="object 57"/>
          <p:cNvSpPr txBox="1"/>
          <p:nvPr/>
        </p:nvSpPr>
        <p:spPr>
          <a:xfrm>
            <a:off x="12492206" y="9350039"/>
            <a:ext cx="115570" cy="109855"/>
          </a:xfrm>
          <a:prstGeom prst="rect">
            <a:avLst/>
          </a:prstGeom>
        </p:spPr>
        <p:txBody>
          <a:bodyPr wrap="square" lIns="0" tIns="88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dirty="0" sz="550" spc="5">
                <a:latin typeface="Lucida Sans"/>
                <a:cs typeface="Lucida Sans"/>
              </a:rPr>
              <a:t>16</a:t>
            </a:r>
            <a:endParaRPr sz="550">
              <a:latin typeface="Lucida Sans"/>
              <a:cs typeface="Lucida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39997" y="858294"/>
            <a:ext cx="3912235" cy="1962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100" spc="10">
                <a:solidFill>
                  <a:srgbClr val="005493"/>
                </a:solidFill>
                <a:latin typeface="Lucida Sans"/>
                <a:cs typeface="Lucida Sans"/>
              </a:rPr>
              <a:t>Use</a:t>
            </a:r>
            <a:r>
              <a:rPr dirty="0" sz="1100" spc="5">
                <a:solidFill>
                  <a:srgbClr val="005493"/>
                </a:solidFill>
                <a:latin typeface="Lucida Sans"/>
                <a:cs typeface="Lucida Sans"/>
              </a:rPr>
              <a:t> </a:t>
            </a:r>
            <a:r>
              <a:rPr dirty="0" sz="1100" spc="10">
                <a:solidFill>
                  <a:srgbClr val="005493"/>
                </a:solidFill>
                <a:latin typeface="Lucida Sans"/>
                <a:cs typeface="Lucida Sans"/>
              </a:rPr>
              <a:t>an</a:t>
            </a:r>
            <a:r>
              <a:rPr dirty="0" sz="1100" spc="5">
                <a:solidFill>
                  <a:srgbClr val="005493"/>
                </a:solidFill>
                <a:latin typeface="Lucida Sans"/>
                <a:cs typeface="Lucida Sans"/>
              </a:rPr>
              <a:t> </a:t>
            </a:r>
            <a:r>
              <a:rPr dirty="0" sz="1100" spc="15">
                <a:solidFill>
                  <a:srgbClr val="005493"/>
                </a:solidFill>
                <a:latin typeface="Lucida Sans"/>
                <a:cs typeface="Lucida Sans"/>
              </a:rPr>
              <a:t>array</a:t>
            </a:r>
            <a:r>
              <a:rPr dirty="0" sz="1100" spc="5">
                <a:solidFill>
                  <a:srgbClr val="005493"/>
                </a:solidFill>
                <a:latin typeface="Lucida Sans"/>
                <a:cs typeface="Lucida Sans"/>
              </a:rPr>
              <a:t> of </a:t>
            </a:r>
            <a:r>
              <a:rPr dirty="0" sz="1100" spc="15" i="1">
                <a:solidFill>
                  <a:srgbClr val="005493"/>
                </a:solidFill>
                <a:latin typeface="Times New Roman"/>
                <a:cs typeface="Times New Roman"/>
              </a:rPr>
              <a:t>M</a:t>
            </a:r>
            <a:r>
              <a:rPr dirty="0" sz="1100" i="1">
                <a:solidFill>
                  <a:srgbClr val="005493"/>
                </a:solidFill>
                <a:latin typeface="Times New Roman"/>
                <a:cs typeface="Times New Roman"/>
              </a:rPr>
              <a:t> </a:t>
            </a:r>
            <a:r>
              <a:rPr dirty="0" sz="1100" spc="10">
                <a:solidFill>
                  <a:srgbClr val="005493"/>
                </a:solidFill>
                <a:latin typeface="Symbol"/>
                <a:cs typeface="Symbol"/>
              </a:rPr>
              <a:t></a:t>
            </a:r>
            <a:r>
              <a:rPr dirty="0" sz="1100">
                <a:solidFill>
                  <a:srgbClr val="005493"/>
                </a:solidFill>
                <a:latin typeface="Times New Roman"/>
                <a:cs typeface="Times New Roman"/>
              </a:rPr>
              <a:t> </a:t>
            </a:r>
            <a:r>
              <a:rPr dirty="0" sz="1100" spc="10" i="1">
                <a:solidFill>
                  <a:srgbClr val="005493"/>
                </a:solidFill>
                <a:latin typeface="Times New Roman"/>
                <a:cs typeface="Times New Roman"/>
              </a:rPr>
              <a:t>N</a:t>
            </a:r>
            <a:r>
              <a:rPr dirty="0" sz="1100" spc="75" i="1">
                <a:solidFill>
                  <a:srgbClr val="005493"/>
                </a:solidFill>
                <a:latin typeface="Times New Roman"/>
                <a:cs typeface="Times New Roman"/>
              </a:rPr>
              <a:t> </a:t>
            </a:r>
            <a:r>
              <a:rPr dirty="0" sz="1100" spc="5">
                <a:solidFill>
                  <a:srgbClr val="005493"/>
                </a:solidFill>
                <a:latin typeface="Lucida Sans"/>
                <a:cs typeface="Lucida Sans"/>
              </a:rPr>
              <a:t>linked</a:t>
            </a:r>
            <a:r>
              <a:rPr dirty="0" sz="1100" spc="10">
                <a:solidFill>
                  <a:srgbClr val="005493"/>
                </a:solidFill>
                <a:latin typeface="Lucida Sans"/>
                <a:cs typeface="Lucida Sans"/>
              </a:rPr>
              <a:t> </a:t>
            </a:r>
            <a:r>
              <a:rPr dirty="0" sz="1100" spc="5">
                <a:solidFill>
                  <a:srgbClr val="005493"/>
                </a:solidFill>
                <a:latin typeface="Lucida Sans"/>
                <a:cs typeface="Lucida Sans"/>
              </a:rPr>
              <a:t>lists.  </a:t>
            </a:r>
            <a:r>
              <a:rPr dirty="0" sz="1100" spc="5">
                <a:solidFill>
                  <a:srgbClr val="606060"/>
                </a:solidFill>
                <a:latin typeface="Lucida Sans"/>
                <a:cs typeface="Lucida Sans"/>
              </a:rPr>
              <a:t>[H. </a:t>
            </a:r>
            <a:r>
              <a:rPr dirty="0" sz="1100" spc="-105">
                <a:solidFill>
                  <a:srgbClr val="606060"/>
                </a:solidFill>
                <a:latin typeface="Lucida Sans"/>
                <a:cs typeface="Lucida Sans"/>
              </a:rPr>
              <a:t>P.</a:t>
            </a:r>
            <a:r>
              <a:rPr dirty="0" sz="1100" spc="5">
                <a:solidFill>
                  <a:srgbClr val="606060"/>
                </a:solidFill>
                <a:latin typeface="Lucida Sans"/>
                <a:cs typeface="Lucida Sans"/>
              </a:rPr>
              <a:t> </a:t>
            </a:r>
            <a:r>
              <a:rPr dirty="0" sz="1100" spc="10">
                <a:solidFill>
                  <a:srgbClr val="606060"/>
                </a:solidFill>
                <a:latin typeface="Lucida Sans"/>
                <a:cs typeface="Lucida Sans"/>
              </a:rPr>
              <a:t>Luhn,</a:t>
            </a:r>
            <a:r>
              <a:rPr dirty="0" sz="1100" spc="5">
                <a:solidFill>
                  <a:srgbClr val="606060"/>
                </a:solidFill>
                <a:latin typeface="Lucida Sans"/>
                <a:cs typeface="Lucida Sans"/>
              </a:rPr>
              <a:t> </a:t>
            </a:r>
            <a:r>
              <a:rPr dirty="0" sz="1100" spc="10">
                <a:solidFill>
                  <a:srgbClr val="606060"/>
                </a:solidFill>
                <a:latin typeface="Lucida Sans"/>
                <a:cs typeface="Lucida Sans"/>
              </a:rPr>
              <a:t>IBM</a:t>
            </a:r>
            <a:r>
              <a:rPr dirty="0" sz="1100" spc="5">
                <a:solidFill>
                  <a:srgbClr val="606060"/>
                </a:solidFill>
                <a:latin typeface="Lucida Sans"/>
                <a:cs typeface="Lucida Sans"/>
              </a:rPr>
              <a:t> </a:t>
            </a:r>
            <a:r>
              <a:rPr dirty="0" sz="1100" spc="10">
                <a:solidFill>
                  <a:srgbClr val="606060"/>
                </a:solidFill>
                <a:latin typeface="Lucida Sans"/>
                <a:cs typeface="Lucida Sans"/>
              </a:rPr>
              <a:t>1953]</a:t>
            </a:r>
            <a:endParaRPr sz="1100">
              <a:latin typeface="Lucida Sans"/>
              <a:cs typeface="Lucida San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46455" y="994547"/>
            <a:ext cx="3665854" cy="3098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dirty="0" baseline="-10510" sz="2775" spc="22">
                <a:latin typeface="Microsoft JhengHei"/>
                <a:cs typeface="Microsoft JhengHei"/>
              </a:rPr>
              <a:t>・</a:t>
            </a:r>
            <a:r>
              <a:rPr dirty="0" sz="1100" spc="10">
                <a:latin typeface="Lucida Sans"/>
                <a:cs typeface="Lucida Sans"/>
              </a:rPr>
              <a:t>Hash:</a:t>
            </a:r>
            <a:r>
              <a:rPr dirty="0" sz="1100" spc="355">
                <a:latin typeface="Lucida Sans"/>
                <a:cs typeface="Lucida Sans"/>
              </a:rPr>
              <a:t> </a:t>
            </a:r>
            <a:r>
              <a:rPr dirty="0" sz="1100" spc="10">
                <a:latin typeface="Lucida Sans"/>
                <a:cs typeface="Lucida Sans"/>
              </a:rPr>
              <a:t>map</a:t>
            </a:r>
            <a:r>
              <a:rPr dirty="0" sz="1100" spc="5">
                <a:latin typeface="Lucida Sans"/>
                <a:cs typeface="Lucida Sans"/>
              </a:rPr>
              <a:t> </a:t>
            </a:r>
            <a:r>
              <a:rPr dirty="0" sz="1100" spc="25">
                <a:latin typeface="Lucida Sans"/>
                <a:cs typeface="Lucida Sans"/>
              </a:rPr>
              <a:t>key</a:t>
            </a:r>
            <a:r>
              <a:rPr dirty="0" sz="1100" spc="5">
                <a:latin typeface="Lucida Sans"/>
                <a:cs typeface="Lucida Sans"/>
              </a:rPr>
              <a:t> to integer </a:t>
            </a:r>
            <a:r>
              <a:rPr dirty="0" sz="1100" spc="5" i="1">
                <a:latin typeface="Times New Roman"/>
                <a:cs typeface="Times New Roman"/>
              </a:rPr>
              <a:t>i</a:t>
            </a:r>
            <a:r>
              <a:rPr dirty="0" sz="1100" spc="75" i="1">
                <a:latin typeface="Times New Roman"/>
                <a:cs typeface="Times New Roman"/>
              </a:rPr>
              <a:t> </a:t>
            </a:r>
            <a:r>
              <a:rPr dirty="0" sz="1100" spc="20">
                <a:latin typeface="Lucida Sans"/>
                <a:cs typeface="Lucida Sans"/>
              </a:rPr>
              <a:t>between</a:t>
            </a:r>
            <a:r>
              <a:rPr dirty="0" sz="1100" spc="5">
                <a:latin typeface="Lucida Sans"/>
                <a:cs typeface="Lucida Sans"/>
              </a:rPr>
              <a:t> </a:t>
            </a:r>
            <a:r>
              <a:rPr dirty="0" sz="1100" spc="5">
                <a:latin typeface="Times New Roman"/>
                <a:cs typeface="Times New Roman"/>
              </a:rPr>
              <a:t>0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10">
                <a:latin typeface="Lucida Sans"/>
                <a:cs typeface="Lucida Sans"/>
              </a:rPr>
              <a:t>and</a:t>
            </a:r>
            <a:r>
              <a:rPr dirty="0" sz="1100" spc="5">
                <a:latin typeface="Lucida Sans"/>
                <a:cs typeface="Lucida Sans"/>
              </a:rPr>
              <a:t> </a:t>
            </a:r>
            <a:r>
              <a:rPr dirty="0" sz="1100" spc="15" i="1">
                <a:latin typeface="Times New Roman"/>
                <a:cs typeface="Times New Roman"/>
              </a:rPr>
              <a:t>M</a:t>
            </a:r>
            <a:r>
              <a:rPr dirty="0" sz="1100" i="1">
                <a:latin typeface="Times New Roman"/>
                <a:cs typeface="Times New Roman"/>
              </a:rPr>
              <a:t> </a:t>
            </a:r>
            <a:r>
              <a:rPr dirty="0" sz="1100" spc="10">
                <a:latin typeface="Lucida Sans Unicode"/>
                <a:cs typeface="Lucida Sans Unicode"/>
              </a:rPr>
              <a:t>-</a:t>
            </a:r>
            <a:r>
              <a:rPr dirty="0" sz="1100" spc="-70">
                <a:latin typeface="Lucida Sans Unicode"/>
                <a:cs typeface="Lucida Sans Unicode"/>
              </a:rPr>
              <a:t> </a:t>
            </a:r>
            <a:r>
              <a:rPr dirty="0" sz="1100" spc="5">
                <a:latin typeface="Times New Roman"/>
                <a:cs typeface="Times New Roman"/>
              </a:rPr>
              <a:t>1</a:t>
            </a:r>
            <a:r>
              <a:rPr dirty="0" sz="1100" spc="5">
                <a:latin typeface="Lucida Sans"/>
                <a:cs typeface="Lucida Sans"/>
              </a:rPr>
              <a:t>.</a:t>
            </a:r>
            <a:endParaRPr sz="1100">
              <a:latin typeface="Lucida Sans"/>
              <a:cs typeface="Lucida San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46455" y="1225584"/>
            <a:ext cx="3867785" cy="3098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dirty="0" baseline="-10510" sz="2775" spc="22">
                <a:latin typeface="Microsoft JhengHei"/>
                <a:cs typeface="Microsoft JhengHei"/>
              </a:rPr>
              <a:t>・</a:t>
            </a:r>
            <a:r>
              <a:rPr dirty="0" sz="1100" spc="5">
                <a:latin typeface="Lucida Sans"/>
                <a:cs typeface="Lucida Sans"/>
              </a:rPr>
              <a:t>Insert:</a:t>
            </a:r>
            <a:r>
              <a:rPr dirty="0" sz="1100" spc="355">
                <a:latin typeface="Lucida Sans"/>
                <a:cs typeface="Lucida Sans"/>
              </a:rPr>
              <a:t> </a:t>
            </a:r>
            <a:r>
              <a:rPr dirty="0" sz="1100" spc="10">
                <a:latin typeface="Lucida Sans"/>
                <a:cs typeface="Lucida Sans"/>
              </a:rPr>
              <a:t>put</a:t>
            </a:r>
            <a:r>
              <a:rPr dirty="0" sz="1100" spc="5">
                <a:latin typeface="Lucida Sans"/>
                <a:cs typeface="Lucida Sans"/>
              </a:rPr>
              <a:t> at </a:t>
            </a:r>
            <a:r>
              <a:rPr dirty="0" sz="1100">
                <a:latin typeface="Lucida Sans"/>
                <a:cs typeface="Lucida Sans"/>
              </a:rPr>
              <a:t>front</a:t>
            </a:r>
            <a:r>
              <a:rPr dirty="0" sz="1100" spc="5">
                <a:latin typeface="Lucida Sans"/>
                <a:cs typeface="Lucida Sans"/>
              </a:rPr>
              <a:t> of </a:t>
            </a:r>
            <a:r>
              <a:rPr dirty="0" sz="1100" i="1">
                <a:latin typeface="Times New Roman"/>
                <a:cs typeface="Times New Roman"/>
              </a:rPr>
              <a:t>i</a:t>
            </a:r>
            <a:r>
              <a:rPr dirty="0" baseline="22222" sz="1125">
                <a:latin typeface="Times New Roman"/>
                <a:cs typeface="Times New Roman"/>
              </a:rPr>
              <a:t>th</a:t>
            </a:r>
            <a:r>
              <a:rPr dirty="0" baseline="22222" sz="1125" spc="67">
                <a:latin typeface="Times New Roman"/>
                <a:cs typeface="Times New Roman"/>
              </a:rPr>
              <a:t> </a:t>
            </a:r>
            <a:r>
              <a:rPr dirty="0" sz="1100" spc="10">
                <a:latin typeface="Lucida Sans"/>
                <a:cs typeface="Lucida Sans"/>
              </a:rPr>
              <a:t>chain</a:t>
            </a:r>
            <a:r>
              <a:rPr dirty="0" sz="1100" spc="5">
                <a:latin typeface="Lucida Sans"/>
                <a:cs typeface="Lucida Sans"/>
              </a:rPr>
              <a:t> (if </a:t>
            </a:r>
            <a:r>
              <a:rPr dirty="0" sz="1100" spc="10">
                <a:latin typeface="Lucida Sans"/>
                <a:cs typeface="Lucida Sans"/>
              </a:rPr>
              <a:t>not</a:t>
            </a:r>
            <a:r>
              <a:rPr dirty="0" sz="1100" spc="5">
                <a:latin typeface="Lucida Sans"/>
                <a:cs typeface="Lucida Sans"/>
              </a:rPr>
              <a:t> </a:t>
            </a:r>
            <a:r>
              <a:rPr dirty="0" sz="1100" spc="10">
                <a:latin typeface="Lucida Sans"/>
                <a:cs typeface="Lucida Sans"/>
              </a:rPr>
              <a:t>already</a:t>
            </a:r>
            <a:r>
              <a:rPr dirty="0" sz="1100" spc="5">
                <a:latin typeface="Lucida Sans"/>
                <a:cs typeface="Lucida Sans"/>
              </a:rPr>
              <a:t> there).</a:t>
            </a:r>
            <a:endParaRPr sz="1100">
              <a:latin typeface="Lucida Sans"/>
              <a:cs typeface="Lucida San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246003" y="4615831"/>
            <a:ext cx="115570" cy="1111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550" spc="5">
                <a:latin typeface="Lucida Sans"/>
                <a:cs typeface="Lucida Sans"/>
              </a:rPr>
              <a:t>17</a:t>
            </a:r>
            <a:endParaRPr sz="550">
              <a:latin typeface="Lucida Sans"/>
              <a:cs typeface="Lucida San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39997" y="396219"/>
            <a:ext cx="2395855" cy="2247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00" spc="5">
                <a:latin typeface="Arial"/>
                <a:cs typeface="Arial"/>
              </a:rPr>
              <a:t>Separate-chaining</a:t>
            </a:r>
            <a:r>
              <a:rPr dirty="0" sz="1300" spc="30">
                <a:latin typeface="Arial"/>
                <a:cs typeface="Arial"/>
              </a:rPr>
              <a:t> </a:t>
            </a:r>
            <a:r>
              <a:rPr dirty="0" sz="1300" spc="5">
                <a:latin typeface="Arial"/>
                <a:cs typeface="Arial"/>
              </a:rPr>
              <a:t>symbol</a:t>
            </a:r>
            <a:r>
              <a:rPr dirty="0" sz="1300" spc="35">
                <a:latin typeface="Arial"/>
                <a:cs typeface="Arial"/>
              </a:rPr>
              <a:t> </a:t>
            </a:r>
            <a:r>
              <a:rPr dirty="0" sz="1300" spc="30">
                <a:latin typeface="Arial"/>
                <a:cs typeface="Arial"/>
              </a:rPr>
              <a:t>table</a:t>
            </a:r>
            <a:endParaRPr sz="13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507256" y="2722704"/>
            <a:ext cx="238760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5">
                <a:solidFill>
                  <a:srgbClr val="BF311A"/>
                </a:solidFill>
                <a:latin typeface="Lucida Sans Typewriter"/>
                <a:cs typeface="Lucida Sans Typewriter"/>
              </a:rPr>
              <a:t>st[]</a:t>
            </a:r>
            <a:endParaRPr sz="700">
              <a:latin typeface="Lucida Sans Typewriter"/>
              <a:cs typeface="Lucida Sans Typewriter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456351" y="2814217"/>
            <a:ext cx="78740" cy="784225"/>
          </a:xfrm>
          <a:prstGeom prst="rect">
            <a:avLst/>
          </a:prstGeom>
        </p:spPr>
        <p:txBody>
          <a:bodyPr wrap="square" lIns="0" tIns="577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5"/>
              </a:spcBef>
            </a:pPr>
            <a:r>
              <a:rPr dirty="0" sz="700" spc="-5">
                <a:solidFill>
                  <a:srgbClr val="BF311A"/>
                </a:solidFill>
                <a:latin typeface="Lucida Sans Typewriter"/>
                <a:cs typeface="Lucida Sans Typewriter"/>
              </a:rPr>
              <a:t>0</a:t>
            </a:r>
            <a:endParaRPr sz="700">
              <a:latin typeface="Lucida Sans Typewriter"/>
              <a:cs typeface="Lucida Sans Typewriter"/>
            </a:endParaRPr>
          </a:p>
          <a:p>
            <a:pPr marL="12700">
              <a:lnSpc>
                <a:spcPct val="100000"/>
              </a:lnSpc>
              <a:spcBef>
                <a:spcPts val="355"/>
              </a:spcBef>
            </a:pPr>
            <a:r>
              <a:rPr dirty="0" sz="700" spc="-5">
                <a:solidFill>
                  <a:srgbClr val="BF311A"/>
                </a:solidFill>
                <a:latin typeface="Lucida Sans Typewriter"/>
                <a:cs typeface="Lucida Sans Typewriter"/>
              </a:rPr>
              <a:t>1</a:t>
            </a:r>
            <a:endParaRPr sz="700">
              <a:latin typeface="Lucida Sans Typewriter"/>
              <a:cs typeface="Lucida Sans Typewriter"/>
            </a:endParaRPr>
          </a:p>
          <a:p>
            <a:pPr marL="12700">
              <a:lnSpc>
                <a:spcPct val="100000"/>
              </a:lnSpc>
              <a:spcBef>
                <a:spcPts val="350"/>
              </a:spcBef>
            </a:pPr>
            <a:r>
              <a:rPr dirty="0" sz="700" spc="-5">
                <a:solidFill>
                  <a:srgbClr val="BF311A"/>
                </a:solidFill>
                <a:latin typeface="Lucida Sans Typewriter"/>
                <a:cs typeface="Lucida Sans Typewriter"/>
              </a:rPr>
              <a:t>2</a:t>
            </a:r>
            <a:endParaRPr sz="700">
              <a:latin typeface="Lucida Sans Typewriter"/>
              <a:cs typeface="Lucida Sans Typewriter"/>
            </a:endParaRPr>
          </a:p>
          <a:p>
            <a:pPr marL="12700">
              <a:lnSpc>
                <a:spcPct val="100000"/>
              </a:lnSpc>
              <a:spcBef>
                <a:spcPts val="355"/>
              </a:spcBef>
            </a:pPr>
            <a:r>
              <a:rPr dirty="0" sz="700" spc="-5">
                <a:solidFill>
                  <a:srgbClr val="BF311A"/>
                </a:solidFill>
                <a:latin typeface="Lucida Sans Typewriter"/>
                <a:cs typeface="Lucida Sans Typewriter"/>
              </a:rPr>
              <a:t>3</a:t>
            </a:r>
            <a:endParaRPr sz="700">
              <a:latin typeface="Lucida Sans Typewriter"/>
              <a:cs typeface="Lucida Sans Typewriter"/>
            </a:endParaRPr>
          </a:p>
          <a:p>
            <a:pPr marL="12700">
              <a:lnSpc>
                <a:spcPct val="100000"/>
              </a:lnSpc>
              <a:spcBef>
                <a:spcPts val="355"/>
              </a:spcBef>
            </a:pPr>
            <a:r>
              <a:rPr dirty="0" sz="700" spc="-5">
                <a:solidFill>
                  <a:srgbClr val="BF311A"/>
                </a:solidFill>
                <a:latin typeface="Lucida Sans Typewriter"/>
                <a:cs typeface="Lucida Sans Typewriter"/>
              </a:rPr>
              <a:t>4</a:t>
            </a:r>
            <a:endParaRPr sz="700">
              <a:latin typeface="Lucida Sans Typewriter"/>
              <a:cs typeface="Lucida Sans Typewriter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875085" y="3152625"/>
            <a:ext cx="301625" cy="151765"/>
          </a:xfrm>
          <a:custGeom>
            <a:avLst/>
            <a:gdLst/>
            <a:ahLst/>
            <a:cxnLst/>
            <a:rect l="l" t="t" r="r" b="b"/>
            <a:pathLst>
              <a:path w="301625" h="151764">
                <a:moveTo>
                  <a:pt x="301433" y="0"/>
                </a:moveTo>
                <a:lnTo>
                  <a:pt x="0" y="0"/>
                </a:lnTo>
                <a:lnTo>
                  <a:pt x="0" y="151721"/>
                </a:lnTo>
                <a:lnTo>
                  <a:pt x="301433" y="151721"/>
                </a:lnTo>
                <a:lnTo>
                  <a:pt x="30143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3875085" y="3152625"/>
            <a:ext cx="149860" cy="151765"/>
          </a:xfrm>
          <a:prstGeom prst="rect">
            <a:avLst/>
          </a:prstGeom>
          <a:solidFill>
            <a:srgbClr val="FFFFFF"/>
          </a:solidFill>
          <a:ln w="6323">
            <a:solidFill>
              <a:srgbClr val="231F20"/>
            </a:solidFill>
          </a:ln>
        </p:spPr>
        <p:txBody>
          <a:bodyPr wrap="square" lIns="0" tIns="12065" rIns="0" bIns="0" rtlCol="0" vert="horz">
            <a:spAutoFit/>
          </a:bodyPr>
          <a:lstStyle/>
          <a:p>
            <a:pPr marL="46355">
              <a:lnSpc>
                <a:spcPct val="100000"/>
              </a:lnSpc>
              <a:spcBef>
                <a:spcPts val="95"/>
              </a:spcBef>
            </a:pPr>
            <a:r>
              <a:rPr dirty="0" sz="800" spc="-20">
                <a:solidFill>
                  <a:srgbClr val="231F20"/>
                </a:solidFill>
                <a:latin typeface="Lucida Sans Typewriter"/>
                <a:cs typeface="Lucida Sans Typewriter"/>
              </a:rPr>
              <a:t>S</a:t>
            </a:r>
            <a:endParaRPr sz="800">
              <a:latin typeface="Lucida Sans Typewriter"/>
              <a:cs typeface="Lucida Sans Typewriter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024752" y="3152625"/>
            <a:ext cx="151765" cy="151765"/>
          </a:xfrm>
          <a:prstGeom prst="rect">
            <a:avLst/>
          </a:prstGeom>
          <a:solidFill>
            <a:srgbClr val="FFFFFF"/>
          </a:solidFill>
          <a:ln w="6322">
            <a:solidFill>
              <a:srgbClr val="231F20"/>
            </a:solidFill>
          </a:ln>
        </p:spPr>
        <p:txBody>
          <a:bodyPr wrap="square" lIns="0" tIns="12065" rIns="0" bIns="0" rtlCol="0" vert="horz">
            <a:spAutoFit/>
          </a:bodyPr>
          <a:lstStyle/>
          <a:p>
            <a:pPr marL="48260">
              <a:lnSpc>
                <a:spcPct val="100000"/>
              </a:lnSpc>
              <a:spcBef>
                <a:spcPts val="95"/>
              </a:spcBef>
            </a:pPr>
            <a:r>
              <a:rPr dirty="0" sz="800" spc="-20">
                <a:solidFill>
                  <a:srgbClr val="BBBDC0"/>
                </a:solidFill>
                <a:latin typeface="Lucida Sans Typewriter"/>
                <a:cs typeface="Lucida Sans Typewriter"/>
              </a:rPr>
              <a:t>0</a:t>
            </a:r>
            <a:endParaRPr sz="800">
              <a:latin typeface="Lucida Sans Typewriter"/>
              <a:cs typeface="Lucida Sans Typewriter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3417685" y="3152625"/>
            <a:ext cx="452755" cy="151765"/>
            <a:chOff x="3417685" y="3152625"/>
            <a:chExt cx="452755" cy="151765"/>
          </a:xfrm>
        </p:grpSpPr>
        <p:sp>
          <p:nvSpPr>
            <p:cNvPr id="13" name="object 13"/>
            <p:cNvSpPr/>
            <p:nvPr/>
          </p:nvSpPr>
          <p:spPr>
            <a:xfrm>
              <a:off x="3719118" y="3228485"/>
              <a:ext cx="114300" cy="0"/>
            </a:xfrm>
            <a:custGeom>
              <a:avLst/>
              <a:gdLst/>
              <a:ahLst/>
              <a:cxnLst/>
              <a:rect l="l" t="t" r="r" b="b"/>
              <a:pathLst>
                <a:path w="114300" h="0">
                  <a:moveTo>
                    <a:pt x="113825" y="0"/>
                  </a:moveTo>
                  <a:lnTo>
                    <a:pt x="0" y="0"/>
                  </a:lnTo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3819539" y="3213105"/>
              <a:ext cx="50800" cy="31115"/>
            </a:xfrm>
            <a:custGeom>
              <a:avLst/>
              <a:gdLst/>
              <a:ahLst/>
              <a:cxnLst/>
              <a:rect l="l" t="t" r="r" b="b"/>
              <a:pathLst>
                <a:path w="50800" h="31114">
                  <a:moveTo>
                    <a:pt x="518" y="0"/>
                  </a:moveTo>
                  <a:lnTo>
                    <a:pt x="0" y="341"/>
                  </a:lnTo>
                  <a:lnTo>
                    <a:pt x="9143" y="15374"/>
                  </a:lnTo>
                  <a:lnTo>
                    <a:pt x="0" y="30496"/>
                  </a:lnTo>
                  <a:lnTo>
                    <a:pt x="518" y="30749"/>
                  </a:lnTo>
                  <a:lnTo>
                    <a:pt x="25041" y="21013"/>
                  </a:lnTo>
                  <a:lnTo>
                    <a:pt x="50664" y="15374"/>
                  </a:lnTo>
                  <a:lnTo>
                    <a:pt x="25041" y="9735"/>
                  </a:lnTo>
                  <a:lnTo>
                    <a:pt x="518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3719119" y="3228480"/>
              <a:ext cx="114300" cy="0"/>
            </a:xfrm>
            <a:custGeom>
              <a:avLst/>
              <a:gdLst/>
              <a:ahLst/>
              <a:cxnLst/>
              <a:rect l="l" t="t" r="r" b="b"/>
              <a:pathLst>
                <a:path w="114300" h="0">
                  <a:moveTo>
                    <a:pt x="0" y="0"/>
                  </a:moveTo>
                  <a:lnTo>
                    <a:pt x="113824" y="0"/>
                  </a:lnTo>
                </a:path>
              </a:pathLst>
            </a:custGeom>
            <a:ln w="9482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3822891" y="3216949"/>
              <a:ext cx="38100" cy="23495"/>
            </a:xfrm>
            <a:custGeom>
              <a:avLst/>
              <a:gdLst/>
              <a:ahLst/>
              <a:cxnLst/>
              <a:rect l="l" t="t" r="r" b="b"/>
              <a:pathLst>
                <a:path w="38100" h="23494">
                  <a:moveTo>
                    <a:pt x="379" y="0"/>
                  </a:moveTo>
                  <a:lnTo>
                    <a:pt x="0" y="252"/>
                  </a:lnTo>
                  <a:lnTo>
                    <a:pt x="6854" y="11530"/>
                  </a:lnTo>
                  <a:lnTo>
                    <a:pt x="0" y="22859"/>
                  </a:lnTo>
                  <a:lnTo>
                    <a:pt x="379" y="23061"/>
                  </a:lnTo>
                  <a:lnTo>
                    <a:pt x="18768" y="15753"/>
                  </a:lnTo>
                  <a:lnTo>
                    <a:pt x="38005" y="11530"/>
                  </a:lnTo>
                  <a:lnTo>
                    <a:pt x="18768" y="7307"/>
                  </a:lnTo>
                  <a:lnTo>
                    <a:pt x="379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3417685" y="3152625"/>
              <a:ext cx="301625" cy="151765"/>
            </a:xfrm>
            <a:custGeom>
              <a:avLst/>
              <a:gdLst/>
              <a:ahLst/>
              <a:cxnLst/>
              <a:rect l="l" t="t" r="r" b="b"/>
              <a:pathLst>
                <a:path w="301625" h="151764">
                  <a:moveTo>
                    <a:pt x="301433" y="0"/>
                  </a:moveTo>
                  <a:lnTo>
                    <a:pt x="0" y="0"/>
                  </a:lnTo>
                  <a:lnTo>
                    <a:pt x="0" y="151721"/>
                  </a:lnTo>
                  <a:lnTo>
                    <a:pt x="301433" y="151721"/>
                  </a:lnTo>
                  <a:lnTo>
                    <a:pt x="30143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3417685" y="3152625"/>
            <a:ext cx="149860" cy="151765"/>
          </a:xfrm>
          <a:prstGeom prst="rect">
            <a:avLst/>
          </a:prstGeom>
          <a:solidFill>
            <a:srgbClr val="FFFFFF"/>
          </a:solidFill>
          <a:ln w="6323">
            <a:solidFill>
              <a:srgbClr val="231F20"/>
            </a:solidFill>
          </a:ln>
        </p:spPr>
        <p:txBody>
          <a:bodyPr wrap="square" lIns="0" tIns="12065" rIns="0" bIns="0" rtlCol="0" vert="horz">
            <a:spAutoFit/>
          </a:bodyPr>
          <a:lstStyle/>
          <a:p>
            <a:pPr marL="46355">
              <a:lnSpc>
                <a:spcPct val="100000"/>
              </a:lnSpc>
              <a:spcBef>
                <a:spcPts val="95"/>
              </a:spcBef>
            </a:pPr>
            <a:r>
              <a:rPr dirty="0" sz="800" spc="-20">
                <a:solidFill>
                  <a:srgbClr val="231F20"/>
                </a:solidFill>
                <a:latin typeface="Lucida Sans Typewriter"/>
                <a:cs typeface="Lucida Sans Typewriter"/>
              </a:rPr>
              <a:t>X</a:t>
            </a:r>
            <a:endParaRPr sz="800">
              <a:latin typeface="Lucida Sans Typewriter"/>
              <a:cs typeface="Lucida Sans Typewriter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567353" y="3152625"/>
            <a:ext cx="151765" cy="151765"/>
          </a:xfrm>
          <a:prstGeom prst="rect">
            <a:avLst/>
          </a:prstGeom>
          <a:solidFill>
            <a:srgbClr val="FFFFFF"/>
          </a:solidFill>
          <a:ln w="6322">
            <a:solidFill>
              <a:srgbClr val="231F20"/>
            </a:solidFill>
          </a:ln>
        </p:spPr>
        <p:txBody>
          <a:bodyPr wrap="square" lIns="0" tIns="12065" rIns="0" bIns="0" rtlCol="0" vert="horz">
            <a:spAutoFit/>
          </a:bodyPr>
          <a:lstStyle/>
          <a:p>
            <a:pPr marL="48260">
              <a:lnSpc>
                <a:spcPct val="100000"/>
              </a:lnSpc>
              <a:spcBef>
                <a:spcPts val="95"/>
              </a:spcBef>
            </a:pPr>
            <a:r>
              <a:rPr dirty="0" sz="800" spc="-20">
                <a:solidFill>
                  <a:srgbClr val="BBBDC0"/>
                </a:solidFill>
                <a:latin typeface="Lucida Sans Typewriter"/>
                <a:cs typeface="Lucida Sans Typewriter"/>
              </a:rPr>
              <a:t>7</a:t>
            </a:r>
            <a:endParaRPr sz="800">
              <a:latin typeface="Lucida Sans Typewriter"/>
              <a:cs typeface="Lucida Sans Typewriter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875085" y="2324480"/>
            <a:ext cx="301625" cy="151765"/>
          </a:xfrm>
          <a:custGeom>
            <a:avLst/>
            <a:gdLst/>
            <a:ahLst/>
            <a:cxnLst/>
            <a:rect l="l" t="t" r="r" b="b"/>
            <a:pathLst>
              <a:path w="301625" h="151764">
                <a:moveTo>
                  <a:pt x="301433" y="0"/>
                </a:moveTo>
                <a:lnTo>
                  <a:pt x="0" y="0"/>
                </a:lnTo>
                <a:lnTo>
                  <a:pt x="0" y="151721"/>
                </a:lnTo>
                <a:lnTo>
                  <a:pt x="301433" y="151721"/>
                </a:lnTo>
                <a:lnTo>
                  <a:pt x="30143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3875085" y="2324480"/>
            <a:ext cx="149860" cy="151765"/>
          </a:xfrm>
          <a:prstGeom prst="rect">
            <a:avLst/>
          </a:prstGeom>
          <a:solidFill>
            <a:srgbClr val="FFFFFF"/>
          </a:solidFill>
          <a:ln w="6323">
            <a:solidFill>
              <a:srgbClr val="231F20"/>
            </a:solidFill>
          </a:ln>
        </p:spPr>
        <p:txBody>
          <a:bodyPr wrap="square" lIns="0" tIns="12065" rIns="0" bIns="0" rtlCol="0" vert="horz">
            <a:spAutoFit/>
          </a:bodyPr>
          <a:lstStyle/>
          <a:p>
            <a:pPr marL="46355">
              <a:lnSpc>
                <a:spcPct val="100000"/>
              </a:lnSpc>
              <a:spcBef>
                <a:spcPts val="95"/>
              </a:spcBef>
            </a:pPr>
            <a:r>
              <a:rPr dirty="0" sz="800" spc="-20">
                <a:solidFill>
                  <a:srgbClr val="231F20"/>
                </a:solidFill>
                <a:latin typeface="Lucida Sans Typewriter"/>
                <a:cs typeface="Lucida Sans Typewriter"/>
              </a:rPr>
              <a:t>E</a:t>
            </a:r>
            <a:endParaRPr sz="800">
              <a:latin typeface="Lucida Sans Typewriter"/>
              <a:cs typeface="Lucida Sans Typewriter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024752" y="2324480"/>
            <a:ext cx="151765" cy="151765"/>
          </a:xfrm>
          <a:prstGeom prst="rect">
            <a:avLst/>
          </a:prstGeom>
          <a:solidFill>
            <a:srgbClr val="FFFFFF"/>
          </a:solidFill>
          <a:ln w="6322">
            <a:solidFill>
              <a:srgbClr val="231F20"/>
            </a:solidFill>
          </a:ln>
        </p:spPr>
        <p:txBody>
          <a:bodyPr wrap="square" lIns="0" tIns="12065" rIns="0" bIns="0" rtlCol="0" vert="horz">
            <a:spAutoFit/>
          </a:bodyPr>
          <a:lstStyle/>
          <a:p>
            <a:pPr marL="19050">
              <a:lnSpc>
                <a:spcPct val="100000"/>
              </a:lnSpc>
              <a:spcBef>
                <a:spcPts val="95"/>
              </a:spcBef>
            </a:pPr>
            <a:r>
              <a:rPr dirty="0" sz="800" spc="-20">
                <a:solidFill>
                  <a:srgbClr val="BBBDC0"/>
                </a:solidFill>
                <a:latin typeface="Lucida Sans Typewriter"/>
                <a:cs typeface="Lucida Sans Typewriter"/>
              </a:rPr>
              <a:t>12</a:t>
            </a:r>
            <a:endParaRPr sz="800">
              <a:latin typeface="Lucida Sans Typewriter"/>
              <a:cs typeface="Lucida Sans Typewriter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2560318" y="2324480"/>
            <a:ext cx="1310005" cy="1776095"/>
            <a:chOff x="2560318" y="2324480"/>
            <a:chExt cx="1310005" cy="1776095"/>
          </a:xfrm>
        </p:grpSpPr>
        <p:sp>
          <p:nvSpPr>
            <p:cNvPr id="24" name="object 24"/>
            <p:cNvSpPr/>
            <p:nvPr/>
          </p:nvSpPr>
          <p:spPr>
            <a:xfrm>
              <a:off x="3357968" y="2389910"/>
              <a:ext cx="49530" cy="43815"/>
            </a:xfrm>
            <a:custGeom>
              <a:avLst/>
              <a:gdLst/>
              <a:ahLst/>
              <a:cxnLst/>
              <a:rect l="l" t="t" r="r" b="b"/>
              <a:pathLst>
                <a:path w="49529" h="43814">
                  <a:moveTo>
                    <a:pt x="49098" y="0"/>
                  </a:moveTo>
                  <a:lnTo>
                    <a:pt x="25476" y="11442"/>
                  </a:lnTo>
                  <a:lnTo>
                    <a:pt x="190" y="18986"/>
                  </a:lnTo>
                  <a:lnTo>
                    <a:pt x="0" y="19570"/>
                  </a:lnTo>
                  <a:lnTo>
                    <a:pt x="16497" y="25704"/>
                  </a:lnTo>
                  <a:lnTo>
                    <a:pt x="18681" y="43243"/>
                  </a:lnTo>
                  <a:lnTo>
                    <a:pt x="19253" y="43116"/>
                  </a:lnTo>
                  <a:lnTo>
                    <a:pt x="32473" y="20294"/>
                  </a:lnTo>
                  <a:lnTo>
                    <a:pt x="49098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2689056" y="2412976"/>
              <a:ext cx="688975" cy="543560"/>
            </a:xfrm>
            <a:custGeom>
              <a:avLst/>
              <a:gdLst/>
              <a:ahLst/>
              <a:cxnLst/>
              <a:rect l="l" t="t" r="r" b="b"/>
              <a:pathLst>
                <a:path w="688975" h="543560">
                  <a:moveTo>
                    <a:pt x="0" y="543200"/>
                  </a:moveTo>
                  <a:lnTo>
                    <a:pt x="688754" y="0"/>
                  </a:lnTo>
                </a:path>
              </a:pathLst>
            </a:custGeom>
            <a:ln w="9483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3360331" y="2395676"/>
              <a:ext cx="53340" cy="464820"/>
            </a:xfrm>
            <a:custGeom>
              <a:avLst/>
              <a:gdLst/>
              <a:ahLst/>
              <a:cxnLst/>
              <a:rect l="l" t="t" r="r" b="b"/>
              <a:pathLst>
                <a:path w="53339" h="464819">
                  <a:moveTo>
                    <a:pt x="39420" y="0"/>
                  </a:moveTo>
                  <a:lnTo>
                    <a:pt x="21717" y="8585"/>
                  </a:lnTo>
                  <a:lnTo>
                    <a:pt x="2743" y="14236"/>
                  </a:lnTo>
                  <a:lnTo>
                    <a:pt x="2603" y="14681"/>
                  </a:lnTo>
                  <a:lnTo>
                    <a:pt x="14973" y="19278"/>
                  </a:lnTo>
                  <a:lnTo>
                    <a:pt x="16611" y="32435"/>
                  </a:lnTo>
                  <a:lnTo>
                    <a:pt x="17030" y="32346"/>
                  </a:lnTo>
                  <a:lnTo>
                    <a:pt x="26949" y="15227"/>
                  </a:lnTo>
                  <a:lnTo>
                    <a:pt x="39420" y="0"/>
                  </a:lnTo>
                  <a:close/>
                </a:path>
                <a:path w="53339" h="464819">
                  <a:moveTo>
                    <a:pt x="52806" y="434047"/>
                  </a:moveTo>
                  <a:lnTo>
                    <a:pt x="26720" y="436841"/>
                  </a:lnTo>
                  <a:lnTo>
                    <a:pt x="381" y="435406"/>
                  </a:lnTo>
                  <a:lnTo>
                    <a:pt x="0" y="435902"/>
                  </a:lnTo>
                  <a:lnTo>
                    <a:pt x="13436" y="447243"/>
                  </a:lnTo>
                  <a:lnTo>
                    <a:pt x="9588" y="464477"/>
                  </a:lnTo>
                  <a:lnTo>
                    <a:pt x="10147" y="464566"/>
                  </a:lnTo>
                  <a:lnTo>
                    <a:pt x="30302" y="447535"/>
                  </a:lnTo>
                  <a:lnTo>
                    <a:pt x="52806" y="434047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2578968" y="2841560"/>
              <a:ext cx="799465" cy="267970"/>
            </a:xfrm>
            <a:custGeom>
              <a:avLst/>
              <a:gdLst/>
              <a:ahLst/>
              <a:cxnLst/>
              <a:rect l="l" t="t" r="r" b="b"/>
              <a:pathLst>
                <a:path w="799464" h="267969">
                  <a:moveTo>
                    <a:pt x="0" y="267800"/>
                  </a:moveTo>
                  <a:lnTo>
                    <a:pt x="798848" y="0"/>
                  </a:lnTo>
                </a:path>
              </a:pathLst>
            </a:custGeom>
            <a:ln w="9482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2716263" y="2832683"/>
              <a:ext cx="688340" cy="417830"/>
            </a:xfrm>
            <a:custGeom>
              <a:avLst/>
              <a:gdLst/>
              <a:ahLst/>
              <a:cxnLst/>
              <a:rect l="l" t="t" r="r" b="b"/>
              <a:pathLst>
                <a:path w="688339" h="417830">
                  <a:moveTo>
                    <a:pt x="686142" y="402145"/>
                  </a:moveTo>
                  <a:lnTo>
                    <a:pt x="660514" y="396506"/>
                  </a:lnTo>
                  <a:lnTo>
                    <a:pt x="636003" y="386765"/>
                  </a:lnTo>
                  <a:lnTo>
                    <a:pt x="635482" y="387108"/>
                  </a:lnTo>
                  <a:lnTo>
                    <a:pt x="644613" y="402132"/>
                  </a:lnTo>
                  <a:lnTo>
                    <a:pt x="0" y="402132"/>
                  </a:lnTo>
                  <a:lnTo>
                    <a:pt x="644626" y="402145"/>
                  </a:lnTo>
                  <a:lnTo>
                    <a:pt x="635482" y="417258"/>
                  </a:lnTo>
                  <a:lnTo>
                    <a:pt x="636003" y="417512"/>
                  </a:lnTo>
                  <a:lnTo>
                    <a:pt x="660514" y="407784"/>
                  </a:lnTo>
                  <a:lnTo>
                    <a:pt x="686142" y="402145"/>
                  </a:lnTo>
                  <a:close/>
                </a:path>
                <a:path w="688339" h="417830">
                  <a:moveTo>
                    <a:pt x="688035" y="0"/>
                  </a:moveTo>
                  <a:lnTo>
                    <a:pt x="668477" y="2108"/>
                  </a:lnTo>
                  <a:lnTo>
                    <a:pt x="648716" y="1016"/>
                  </a:lnTo>
                  <a:lnTo>
                    <a:pt x="648423" y="1384"/>
                  </a:lnTo>
                  <a:lnTo>
                    <a:pt x="658520" y="9893"/>
                  </a:lnTo>
                  <a:lnTo>
                    <a:pt x="655624" y="22834"/>
                  </a:lnTo>
                  <a:lnTo>
                    <a:pt x="656056" y="22872"/>
                  </a:lnTo>
                  <a:lnTo>
                    <a:pt x="671169" y="10121"/>
                  </a:lnTo>
                  <a:lnTo>
                    <a:pt x="688035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2716271" y="3234820"/>
              <a:ext cx="648970" cy="0"/>
            </a:xfrm>
            <a:custGeom>
              <a:avLst/>
              <a:gdLst/>
              <a:ahLst/>
              <a:cxnLst/>
              <a:rect l="l" t="t" r="r" b="b"/>
              <a:pathLst>
                <a:path w="648970" h="0">
                  <a:moveTo>
                    <a:pt x="0" y="0"/>
                  </a:moveTo>
                  <a:lnTo>
                    <a:pt x="648866" y="0"/>
                  </a:lnTo>
                </a:path>
              </a:pathLst>
            </a:custGeom>
            <a:ln w="9482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3355105" y="3223289"/>
              <a:ext cx="38100" cy="23495"/>
            </a:xfrm>
            <a:custGeom>
              <a:avLst/>
              <a:gdLst/>
              <a:ahLst/>
              <a:cxnLst/>
              <a:rect l="l" t="t" r="r" b="b"/>
              <a:pathLst>
                <a:path w="38100" h="23494">
                  <a:moveTo>
                    <a:pt x="379" y="0"/>
                  </a:moveTo>
                  <a:lnTo>
                    <a:pt x="0" y="252"/>
                  </a:lnTo>
                  <a:lnTo>
                    <a:pt x="6854" y="11530"/>
                  </a:lnTo>
                  <a:lnTo>
                    <a:pt x="0" y="22859"/>
                  </a:lnTo>
                  <a:lnTo>
                    <a:pt x="379" y="23061"/>
                  </a:lnTo>
                  <a:lnTo>
                    <a:pt x="18768" y="15753"/>
                  </a:lnTo>
                  <a:lnTo>
                    <a:pt x="37992" y="11530"/>
                  </a:lnTo>
                  <a:lnTo>
                    <a:pt x="18768" y="7307"/>
                  </a:lnTo>
                  <a:lnTo>
                    <a:pt x="379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3719118" y="2400337"/>
              <a:ext cx="114300" cy="0"/>
            </a:xfrm>
            <a:custGeom>
              <a:avLst/>
              <a:gdLst/>
              <a:ahLst/>
              <a:cxnLst/>
              <a:rect l="l" t="t" r="r" b="b"/>
              <a:pathLst>
                <a:path w="114300" h="0">
                  <a:moveTo>
                    <a:pt x="113825" y="0"/>
                  </a:moveTo>
                  <a:lnTo>
                    <a:pt x="0" y="0"/>
                  </a:lnTo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3819540" y="2384960"/>
              <a:ext cx="50800" cy="31115"/>
            </a:xfrm>
            <a:custGeom>
              <a:avLst/>
              <a:gdLst/>
              <a:ahLst/>
              <a:cxnLst/>
              <a:rect l="l" t="t" r="r" b="b"/>
              <a:pathLst>
                <a:path w="50800" h="31114">
                  <a:moveTo>
                    <a:pt x="518" y="0"/>
                  </a:moveTo>
                  <a:lnTo>
                    <a:pt x="0" y="341"/>
                  </a:lnTo>
                  <a:lnTo>
                    <a:pt x="9143" y="15374"/>
                  </a:lnTo>
                  <a:lnTo>
                    <a:pt x="0" y="30496"/>
                  </a:lnTo>
                  <a:lnTo>
                    <a:pt x="518" y="30749"/>
                  </a:lnTo>
                  <a:lnTo>
                    <a:pt x="25041" y="21013"/>
                  </a:lnTo>
                  <a:lnTo>
                    <a:pt x="50664" y="15374"/>
                  </a:lnTo>
                  <a:lnTo>
                    <a:pt x="25041" y="9735"/>
                  </a:lnTo>
                  <a:lnTo>
                    <a:pt x="518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3719119" y="2400334"/>
              <a:ext cx="114300" cy="0"/>
            </a:xfrm>
            <a:custGeom>
              <a:avLst/>
              <a:gdLst/>
              <a:ahLst/>
              <a:cxnLst/>
              <a:rect l="l" t="t" r="r" b="b"/>
              <a:pathLst>
                <a:path w="114300" h="0">
                  <a:moveTo>
                    <a:pt x="0" y="0"/>
                  </a:moveTo>
                  <a:lnTo>
                    <a:pt x="113824" y="0"/>
                  </a:lnTo>
                </a:path>
              </a:pathLst>
            </a:custGeom>
            <a:ln w="9482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3822891" y="2388803"/>
              <a:ext cx="38100" cy="23495"/>
            </a:xfrm>
            <a:custGeom>
              <a:avLst/>
              <a:gdLst/>
              <a:ahLst/>
              <a:cxnLst/>
              <a:rect l="l" t="t" r="r" b="b"/>
              <a:pathLst>
                <a:path w="38100" h="23494">
                  <a:moveTo>
                    <a:pt x="379" y="0"/>
                  </a:moveTo>
                  <a:lnTo>
                    <a:pt x="0" y="252"/>
                  </a:lnTo>
                  <a:lnTo>
                    <a:pt x="6854" y="11531"/>
                  </a:lnTo>
                  <a:lnTo>
                    <a:pt x="0" y="22859"/>
                  </a:lnTo>
                  <a:lnTo>
                    <a:pt x="379" y="23061"/>
                  </a:lnTo>
                  <a:lnTo>
                    <a:pt x="18768" y="15753"/>
                  </a:lnTo>
                  <a:lnTo>
                    <a:pt x="38005" y="11531"/>
                  </a:lnTo>
                  <a:lnTo>
                    <a:pt x="18768" y="7307"/>
                  </a:lnTo>
                  <a:lnTo>
                    <a:pt x="379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2563482" y="2324480"/>
              <a:ext cx="1155700" cy="683260"/>
            </a:xfrm>
            <a:custGeom>
              <a:avLst/>
              <a:gdLst/>
              <a:ahLst/>
              <a:cxnLst/>
              <a:rect l="l" t="t" r="r" b="b"/>
              <a:pathLst>
                <a:path w="1155700" h="683260">
                  <a:moveTo>
                    <a:pt x="152781" y="531037"/>
                  </a:moveTo>
                  <a:lnTo>
                    <a:pt x="0" y="531037"/>
                  </a:lnTo>
                  <a:lnTo>
                    <a:pt x="0" y="682764"/>
                  </a:lnTo>
                  <a:lnTo>
                    <a:pt x="152781" y="682764"/>
                  </a:lnTo>
                  <a:lnTo>
                    <a:pt x="152781" y="531037"/>
                  </a:lnTo>
                  <a:close/>
                </a:path>
                <a:path w="1155700" h="683260">
                  <a:moveTo>
                    <a:pt x="1155636" y="0"/>
                  </a:moveTo>
                  <a:lnTo>
                    <a:pt x="854202" y="0"/>
                  </a:lnTo>
                  <a:lnTo>
                    <a:pt x="854202" y="151726"/>
                  </a:lnTo>
                  <a:lnTo>
                    <a:pt x="1155636" y="151726"/>
                  </a:lnTo>
                  <a:lnTo>
                    <a:pt x="115563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2563493" y="2855517"/>
              <a:ext cx="153035" cy="151765"/>
            </a:xfrm>
            <a:custGeom>
              <a:avLst/>
              <a:gdLst/>
              <a:ahLst/>
              <a:cxnLst/>
              <a:rect l="l" t="t" r="r" b="b"/>
              <a:pathLst>
                <a:path w="153035" h="151764">
                  <a:moveTo>
                    <a:pt x="152778" y="151721"/>
                  </a:moveTo>
                  <a:lnTo>
                    <a:pt x="0" y="151721"/>
                  </a:lnTo>
                  <a:lnTo>
                    <a:pt x="0" y="0"/>
                  </a:lnTo>
                  <a:lnTo>
                    <a:pt x="152778" y="0"/>
                  </a:lnTo>
                  <a:lnTo>
                    <a:pt x="152778" y="151721"/>
                  </a:lnTo>
                  <a:close/>
                </a:path>
              </a:pathLst>
            </a:custGeom>
            <a:ln w="6322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2563493" y="3007238"/>
              <a:ext cx="153035" cy="151765"/>
            </a:xfrm>
            <a:custGeom>
              <a:avLst/>
              <a:gdLst/>
              <a:ahLst/>
              <a:cxnLst/>
              <a:rect l="l" t="t" r="r" b="b"/>
              <a:pathLst>
                <a:path w="153035" h="151764">
                  <a:moveTo>
                    <a:pt x="152778" y="0"/>
                  </a:moveTo>
                  <a:lnTo>
                    <a:pt x="0" y="0"/>
                  </a:lnTo>
                  <a:lnTo>
                    <a:pt x="0" y="151721"/>
                  </a:lnTo>
                  <a:lnTo>
                    <a:pt x="152778" y="151721"/>
                  </a:lnTo>
                  <a:lnTo>
                    <a:pt x="15277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2563493" y="3007238"/>
              <a:ext cx="153035" cy="151765"/>
            </a:xfrm>
            <a:custGeom>
              <a:avLst/>
              <a:gdLst/>
              <a:ahLst/>
              <a:cxnLst/>
              <a:rect l="l" t="t" r="r" b="b"/>
              <a:pathLst>
                <a:path w="153035" h="151764">
                  <a:moveTo>
                    <a:pt x="152778" y="151721"/>
                  </a:moveTo>
                  <a:lnTo>
                    <a:pt x="0" y="151721"/>
                  </a:lnTo>
                  <a:lnTo>
                    <a:pt x="0" y="0"/>
                  </a:lnTo>
                  <a:lnTo>
                    <a:pt x="152778" y="0"/>
                  </a:lnTo>
                  <a:lnTo>
                    <a:pt x="152778" y="151721"/>
                  </a:lnTo>
                  <a:close/>
                </a:path>
              </a:pathLst>
            </a:custGeom>
            <a:ln w="6322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2563493" y="3158960"/>
              <a:ext cx="153035" cy="151765"/>
            </a:xfrm>
            <a:custGeom>
              <a:avLst/>
              <a:gdLst/>
              <a:ahLst/>
              <a:cxnLst/>
              <a:rect l="l" t="t" r="r" b="b"/>
              <a:pathLst>
                <a:path w="153035" h="151764">
                  <a:moveTo>
                    <a:pt x="152778" y="0"/>
                  </a:moveTo>
                  <a:lnTo>
                    <a:pt x="0" y="0"/>
                  </a:lnTo>
                  <a:lnTo>
                    <a:pt x="0" y="151721"/>
                  </a:lnTo>
                  <a:lnTo>
                    <a:pt x="152778" y="151721"/>
                  </a:lnTo>
                  <a:lnTo>
                    <a:pt x="15277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2563493" y="3158960"/>
              <a:ext cx="153035" cy="151765"/>
            </a:xfrm>
            <a:custGeom>
              <a:avLst/>
              <a:gdLst/>
              <a:ahLst/>
              <a:cxnLst/>
              <a:rect l="l" t="t" r="r" b="b"/>
              <a:pathLst>
                <a:path w="153035" h="151764">
                  <a:moveTo>
                    <a:pt x="152778" y="151721"/>
                  </a:moveTo>
                  <a:lnTo>
                    <a:pt x="0" y="151721"/>
                  </a:lnTo>
                  <a:lnTo>
                    <a:pt x="0" y="0"/>
                  </a:lnTo>
                  <a:lnTo>
                    <a:pt x="152778" y="0"/>
                  </a:lnTo>
                  <a:lnTo>
                    <a:pt x="152778" y="151721"/>
                  </a:lnTo>
                  <a:close/>
                </a:path>
              </a:pathLst>
            </a:custGeom>
            <a:ln w="6322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3357854" y="4056532"/>
              <a:ext cx="48895" cy="43815"/>
            </a:xfrm>
            <a:custGeom>
              <a:avLst/>
              <a:gdLst/>
              <a:ahLst/>
              <a:cxnLst/>
              <a:rect l="l" t="t" r="r" b="b"/>
              <a:pathLst>
                <a:path w="48895" h="43814">
                  <a:moveTo>
                    <a:pt x="48755" y="43751"/>
                  </a:moveTo>
                  <a:lnTo>
                    <a:pt x="32512" y="23139"/>
                  </a:lnTo>
                  <a:lnTo>
                    <a:pt x="19735" y="76"/>
                  </a:lnTo>
                  <a:lnTo>
                    <a:pt x="19126" y="0"/>
                  </a:lnTo>
                  <a:lnTo>
                    <a:pt x="16649" y="17411"/>
                  </a:lnTo>
                  <a:lnTo>
                    <a:pt x="0" y="23304"/>
                  </a:lnTo>
                  <a:lnTo>
                    <a:pt x="228" y="23825"/>
                  </a:lnTo>
                  <a:lnTo>
                    <a:pt x="25349" y="31851"/>
                  </a:lnTo>
                  <a:lnTo>
                    <a:pt x="48755" y="43751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2690972" y="3512976"/>
              <a:ext cx="687070" cy="563880"/>
            </a:xfrm>
            <a:custGeom>
              <a:avLst/>
              <a:gdLst/>
              <a:ahLst/>
              <a:cxnLst/>
              <a:rect l="l" t="t" r="r" b="b"/>
              <a:pathLst>
                <a:path w="687070" h="563879">
                  <a:moveTo>
                    <a:pt x="0" y="0"/>
                  </a:moveTo>
                  <a:lnTo>
                    <a:pt x="686832" y="563669"/>
                  </a:lnTo>
                </a:path>
              </a:pathLst>
            </a:custGeom>
            <a:ln w="9483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3359492" y="3652824"/>
              <a:ext cx="52705" cy="441959"/>
            </a:xfrm>
            <a:custGeom>
              <a:avLst/>
              <a:gdLst/>
              <a:ahLst/>
              <a:cxnLst/>
              <a:rect l="l" t="t" r="r" b="b"/>
              <a:pathLst>
                <a:path w="52704" h="441960">
                  <a:moveTo>
                    <a:pt x="39903" y="441566"/>
                  </a:moveTo>
                  <a:lnTo>
                    <a:pt x="27724" y="426097"/>
                  </a:lnTo>
                  <a:lnTo>
                    <a:pt x="18148" y="408787"/>
                  </a:lnTo>
                  <a:lnTo>
                    <a:pt x="17691" y="408736"/>
                  </a:lnTo>
                  <a:lnTo>
                    <a:pt x="15836" y="421805"/>
                  </a:lnTo>
                  <a:lnTo>
                    <a:pt x="3340" y="426212"/>
                  </a:lnTo>
                  <a:lnTo>
                    <a:pt x="3517" y="426605"/>
                  </a:lnTo>
                  <a:lnTo>
                    <a:pt x="22364" y="432625"/>
                  </a:lnTo>
                  <a:lnTo>
                    <a:pt x="39903" y="441566"/>
                  </a:lnTo>
                  <a:close/>
                </a:path>
                <a:path w="52704" h="441960">
                  <a:moveTo>
                    <a:pt x="52489" y="34086"/>
                  </a:moveTo>
                  <a:lnTo>
                    <a:pt x="31229" y="18694"/>
                  </a:lnTo>
                  <a:lnTo>
                    <a:pt x="12623" y="0"/>
                  </a:lnTo>
                  <a:lnTo>
                    <a:pt x="12014" y="114"/>
                  </a:lnTo>
                  <a:lnTo>
                    <a:pt x="14401" y="17551"/>
                  </a:lnTo>
                  <a:lnTo>
                    <a:pt x="0" y="27774"/>
                  </a:lnTo>
                  <a:lnTo>
                    <a:pt x="368" y="28206"/>
                  </a:lnTo>
                  <a:lnTo>
                    <a:pt x="26733" y="29044"/>
                  </a:lnTo>
                  <a:lnTo>
                    <a:pt x="52489" y="34086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2690959" y="3373886"/>
              <a:ext cx="687070" cy="298450"/>
            </a:xfrm>
            <a:custGeom>
              <a:avLst/>
              <a:gdLst/>
              <a:ahLst/>
              <a:cxnLst/>
              <a:rect l="l" t="t" r="r" b="b"/>
              <a:pathLst>
                <a:path w="687070" h="298450">
                  <a:moveTo>
                    <a:pt x="0" y="0"/>
                  </a:moveTo>
                  <a:lnTo>
                    <a:pt x="686857" y="298170"/>
                  </a:lnTo>
                </a:path>
              </a:pathLst>
            </a:custGeom>
            <a:ln w="9483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/>
            <p:cNvSpPr/>
            <p:nvPr/>
          </p:nvSpPr>
          <p:spPr>
            <a:xfrm>
              <a:off x="3364077" y="3657634"/>
              <a:ext cx="39370" cy="26034"/>
            </a:xfrm>
            <a:custGeom>
              <a:avLst/>
              <a:gdLst/>
              <a:ahLst/>
              <a:cxnLst/>
              <a:rect l="l" t="t" r="r" b="b"/>
              <a:pathLst>
                <a:path w="39370" h="26035">
                  <a:moveTo>
                    <a:pt x="9460" y="0"/>
                  </a:moveTo>
                  <a:lnTo>
                    <a:pt x="9005" y="75"/>
                  </a:lnTo>
                  <a:lnTo>
                    <a:pt x="10800" y="13148"/>
                  </a:lnTo>
                  <a:lnTo>
                    <a:pt x="0" y="20811"/>
                  </a:lnTo>
                  <a:lnTo>
                    <a:pt x="265" y="21152"/>
                  </a:lnTo>
                  <a:lnTo>
                    <a:pt x="20046" y="21772"/>
                  </a:lnTo>
                  <a:lnTo>
                    <a:pt x="39371" y="25539"/>
                  </a:lnTo>
                  <a:lnTo>
                    <a:pt x="23423" y="14009"/>
                  </a:lnTo>
                  <a:lnTo>
                    <a:pt x="9460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/>
            <p:cNvSpPr/>
            <p:nvPr/>
          </p:nvSpPr>
          <p:spPr>
            <a:xfrm>
              <a:off x="2563493" y="3310681"/>
              <a:ext cx="153035" cy="151765"/>
            </a:xfrm>
            <a:custGeom>
              <a:avLst/>
              <a:gdLst/>
              <a:ahLst/>
              <a:cxnLst/>
              <a:rect l="l" t="t" r="r" b="b"/>
              <a:pathLst>
                <a:path w="153035" h="151764">
                  <a:moveTo>
                    <a:pt x="152778" y="0"/>
                  </a:moveTo>
                  <a:lnTo>
                    <a:pt x="0" y="0"/>
                  </a:lnTo>
                  <a:lnTo>
                    <a:pt x="0" y="151721"/>
                  </a:lnTo>
                  <a:lnTo>
                    <a:pt x="152778" y="151721"/>
                  </a:lnTo>
                  <a:lnTo>
                    <a:pt x="15277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/>
            <p:cNvSpPr/>
            <p:nvPr/>
          </p:nvSpPr>
          <p:spPr>
            <a:xfrm>
              <a:off x="2563493" y="3310681"/>
              <a:ext cx="153035" cy="151765"/>
            </a:xfrm>
            <a:custGeom>
              <a:avLst/>
              <a:gdLst/>
              <a:ahLst/>
              <a:cxnLst/>
              <a:rect l="l" t="t" r="r" b="b"/>
              <a:pathLst>
                <a:path w="153035" h="151764">
                  <a:moveTo>
                    <a:pt x="152778" y="151721"/>
                  </a:moveTo>
                  <a:lnTo>
                    <a:pt x="0" y="151721"/>
                  </a:lnTo>
                  <a:lnTo>
                    <a:pt x="0" y="0"/>
                  </a:lnTo>
                  <a:lnTo>
                    <a:pt x="152778" y="0"/>
                  </a:lnTo>
                  <a:lnTo>
                    <a:pt x="152778" y="151721"/>
                  </a:lnTo>
                  <a:close/>
                </a:path>
              </a:pathLst>
            </a:custGeom>
            <a:ln w="6322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/>
            <p:cNvSpPr/>
            <p:nvPr/>
          </p:nvSpPr>
          <p:spPr>
            <a:xfrm>
              <a:off x="2563493" y="3462402"/>
              <a:ext cx="153035" cy="151765"/>
            </a:xfrm>
            <a:custGeom>
              <a:avLst/>
              <a:gdLst/>
              <a:ahLst/>
              <a:cxnLst/>
              <a:rect l="l" t="t" r="r" b="b"/>
              <a:pathLst>
                <a:path w="153035" h="151764">
                  <a:moveTo>
                    <a:pt x="152778" y="0"/>
                  </a:moveTo>
                  <a:lnTo>
                    <a:pt x="0" y="0"/>
                  </a:lnTo>
                  <a:lnTo>
                    <a:pt x="0" y="151721"/>
                  </a:lnTo>
                  <a:lnTo>
                    <a:pt x="152778" y="151721"/>
                  </a:lnTo>
                  <a:lnTo>
                    <a:pt x="15277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/>
            <p:cNvSpPr/>
            <p:nvPr/>
          </p:nvSpPr>
          <p:spPr>
            <a:xfrm>
              <a:off x="2563493" y="3462402"/>
              <a:ext cx="153035" cy="151765"/>
            </a:xfrm>
            <a:custGeom>
              <a:avLst/>
              <a:gdLst/>
              <a:ahLst/>
              <a:cxnLst/>
              <a:rect l="l" t="t" r="r" b="b"/>
              <a:pathLst>
                <a:path w="153035" h="151764">
                  <a:moveTo>
                    <a:pt x="152778" y="151721"/>
                  </a:moveTo>
                  <a:lnTo>
                    <a:pt x="0" y="151721"/>
                  </a:lnTo>
                  <a:lnTo>
                    <a:pt x="0" y="0"/>
                  </a:lnTo>
                  <a:lnTo>
                    <a:pt x="152778" y="0"/>
                  </a:lnTo>
                  <a:lnTo>
                    <a:pt x="152778" y="151721"/>
                  </a:lnTo>
                  <a:close/>
                </a:path>
              </a:pathLst>
            </a:custGeom>
            <a:ln w="6322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0" name="object 50"/>
          <p:cNvSpPr txBox="1"/>
          <p:nvPr/>
        </p:nvSpPr>
        <p:spPr>
          <a:xfrm>
            <a:off x="3417685" y="2324480"/>
            <a:ext cx="149860" cy="151765"/>
          </a:xfrm>
          <a:prstGeom prst="rect">
            <a:avLst/>
          </a:prstGeom>
          <a:solidFill>
            <a:srgbClr val="FFFFFF"/>
          </a:solidFill>
          <a:ln w="6323">
            <a:solidFill>
              <a:srgbClr val="231F20"/>
            </a:solidFill>
          </a:ln>
        </p:spPr>
        <p:txBody>
          <a:bodyPr wrap="square" lIns="0" tIns="12065" rIns="0" bIns="0" rtlCol="0" vert="horz">
            <a:spAutoFit/>
          </a:bodyPr>
          <a:lstStyle/>
          <a:p>
            <a:pPr marL="46355">
              <a:lnSpc>
                <a:spcPct val="100000"/>
              </a:lnSpc>
              <a:spcBef>
                <a:spcPts val="95"/>
              </a:spcBef>
            </a:pPr>
            <a:r>
              <a:rPr dirty="0" sz="800" spc="-20">
                <a:solidFill>
                  <a:srgbClr val="231F20"/>
                </a:solidFill>
                <a:latin typeface="Lucida Sans Typewriter"/>
                <a:cs typeface="Lucida Sans Typewriter"/>
              </a:rPr>
              <a:t>A</a:t>
            </a:r>
            <a:endParaRPr sz="800">
              <a:latin typeface="Lucida Sans Typewriter"/>
              <a:cs typeface="Lucida Sans Typewriter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3567353" y="2324480"/>
            <a:ext cx="151765" cy="151765"/>
          </a:xfrm>
          <a:prstGeom prst="rect">
            <a:avLst/>
          </a:prstGeom>
          <a:solidFill>
            <a:srgbClr val="FFFFFF"/>
          </a:solidFill>
          <a:ln w="6322">
            <a:solidFill>
              <a:srgbClr val="231F20"/>
            </a:solidFill>
          </a:ln>
        </p:spPr>
        <p:txBody>
          <a:bodyPr wrap="square" lIns="0" tIns="12065" rIns="0" bIns="0" rtlCol="0" vert="horz">
            <a:spAutoFit/>
          </a:bodyPr>
          <a:lstStyle/>
          <a:p>
            <a:pPr marL="48260">
              <a:lnSpc>
                <a:spcPct val="100000"/>
              </a:lnSpc>
              <a:spcBef>
                <a:spcPts val="95"/>
              </a:spcBef>
            </a:pPr>
            <a:r>
              <a:rPr dirty="0" sz="800" spc="-20">
                <a:solidFill>
                  <a:srgbClr val="BCBEC0"/>
                </a:solidFill>
                <a:latin typeface="Lucida Sans Typewriter"/>
                <a:cs typeface="Lucida Sans Typewriter"/>
              </a:rPr>
              <a:t>8</a:t>
            </a:r>
            <a:endParaRPr sz="800">
              <a:latin typeface="Lucida Sans Typewriter"/>
              <a:cs typeface="Lucida Sans Typewriter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3874035" y="3595133"/>
            <a:ext cx="301625" cy="151765"/>
          </a:xfrm>
          <a:custGeom>
            <a:avLst/>
            <a:gdLst/>
            <a:ahLst/>
            <a:cxnLst/>
            <a:rect l="l" t="t" r="r" b="b"/>
            <a:pathLst>
              <a:path w="301625" h="151764">
                <a:moveTo>
                  <a:pt x="301433" y="0"/>
                </a:moveTo>
                <a:lnTo>
                  <a:pt x="0" y="0"/>
                </a:lnTo>
                <a:lnTo>
                  <a:pt x="0" y="151721"/>
                </a:lnTo>
                <a:lnTo>
                  <a:pt x="301433" y="151721"/>
                </a:lnTo>
                <a:lnTo>
                  <a:pt x="30143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 txBox="1"/>
          <p:nvPr/>
        </p:nvSpPr>
        <p:spPr>
          <a:xfrm>
            <a:off x="3874035" y="3595133"/>
            <a:ext cx="149860" cy="151765"/>
          </a:xfrm>
          <a:prstGeom prst="rect">
            <a:avLst/>
          </a:prstGeom>
          <a:solidFill>
            <a:srgbClr val="FFFFFF"/>
          </a:solidFill>
          <a:ln w="6323">
            <a:solidFill>
              <a:srgbClr val="231F20"/>
            </a:solidFill>
          </a:ln>
        </p:spPr>
        <p:txBody>
          <a:bodyPr wrap="square" lIns="0" tIns="12065" rIns="0" bIns="0" rtlCol="0" vert="horz">
            <a:spAutoFit/>
          </a:bodyPr>
          <a:lstStyle/>
          <a:p>
            <a:pPr marL="46355">
              <a:lnSpc>
                <a:spcPct val="100000"/>
              </a:lnSpc>
              <a:spcBef>
                <a:spcPts val="95"/>
              </a:spcBef>
            </a:pPr>
            <a:r>
              <a:rPr dirty="0" sz="800" spc="-20">
                <a:solidFill>
                  <a:srgbClr val="231F20"/>
                </a:solidFill>
                <a:latin typeface="Lucida Sans Typewriter"/>
                <a:cs typeface="Lucida Sans Typewriter"/>
              </a:rPr>
              <a:t>P</a:t>
            </a:r>
            <a:endParaRPr sz="800">
              <a:latin typeface="Lucida Sans Typewriter"/>
              <a:cs typeface="Lucida Sans Typewriter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4023702" y="3595133"/>
            <a:ext cx="151765" cy="151765"/>
          </a:xfrm>
          <a:prstGeom prst="rect">
            <a:avLst/>
          </a:prstGeom>
          <a:solidFill>
            <a:srgbClr val="FFFFFF"/>
          </a:solidFill>
          <a:ln w="6322">
            <a:solidFill>
              <a:srgbClr val="231F20"/>
            </a:solidFill>
          </a:ln>
        </p:spPr>
        <p:txBody>
          <a:bodyPr wrap="square" lIns="0" tIns="12065" rIns="0" bIns="0" rtlCol="0" vert="horz">
            <a:spAutoFit/>
          </a:bodyPr>
          <a:lstStyle/>
          <a:p>
            <a:pPr marL="19050">
              <a:lnSpc>
                <a:spcPct val="100000"/>
              </a:lnSpc>
              <a:spcBef>
                <a:spcPts val="95"/>
              </a:spcBef>
            </a:pPr>
            <a:r>
              <a:rPr dirty="0" sz="800" spc="-20">
                <a:solidFill>
                  <a:srgbClr val="BBBDC0"/>
                </a:solidFill>
                <a:latin typeface="Lucida Sans Typewriter"/>
                <a:cs typeface="Lucida Sans Typewriter"/>
              </a:rPr>
              <a:t>10</a:t>
            </a:r>
            <a:endParaRPr sz="800">
              <a:latin typeface="Lucida Sans Typewriter"/>
              <a:cs typeface="Lucida Sans Typewriter"/>
            </a:endParaRPr>
          </a:p>
        </p:txBody>
      </p:sp>
      <p:grpSp>
        <p:nvGrpSpPr>
          <p:cNvPr id="55" name="object 55"/>
          <p:cNvGrpSpPr/>
          <p:nvPr/>
        </p:nvGrpSpPr>
        <p:grpSpPr>
          <a:xfrm>
            <a:off x="3418735" y="3595133"/>
            <a:ext cx="452755" cy="151765"/>
            <a:chOff x="3418735" y="3595133"/>
            <a:chExt cx="452755" cy="151765"/>
          </a:xfrm>
        </p:grpSpPr>
        <p:sp>
          <p:nvSpPr>
            <p:cNvPr id="56" name="object 56"/>
            <p:cNvSpPr/>
            <p:nvPr/>
          </p:nvSpPr>
          <p:spPr>
            <a:xfrm>
              <a:off x="3720165" y="3670995"/>
              <a:ext cx="114300" cy="0"/>
            </a:xfrm>
            <a:custGeom>
              <a:avLst/>
              <a:gdLst/>
              <a:ahLst/>
              <a:cxnLst/>
              <a:rect l="l" t="t" r="r" b="b"/>
              <a:pathLst>
                <a:path w="114300" h="0">
                  <a:moveTo>
                    <a:pt x="113825" y="0"/>
                  </a:moveTo>
                  <a:lnTo>
                    <a:pt x="0" y="0"/>
                  </a:lnTo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/>
            <p:cNvSpPr/>
            <p:nvPr/>
          </p:nvSpPr>
          <p:spPr>
            <a:xfrm>
              <a:off x="3820589" y="3655619"/>
              <a:ext cx="50800" cy="31115"/>
            </a:xfrm>
            <a:custGeom>
              <a:avLst/>
              <a:gdLst/>
              <a:ahLst/>
              <a:cxnLst/>
              <a:rect l="l" t="t" r="r" b="b"/>
              <a:pathLst>
                <a:path w="50800" h="31114">
                  <a:moveTo>
                    <a:pt x="518" y="0"/>
                  </a:moveTo>
                  <a:lnTo>
                    <a:pt x="0" y="341"/>
                  </a:lnTo>
                  <a:lnTo>
                    <a:pt x="9143" y="15374"/>
                  </a:lnTo>
                  <a:lnTo>
                    <a:pt x="0" y="30483"/>
                  </a:lnTo>
                  <a:lnTo>
                    <a:pt x="518" y="30748"/>
                  </a:lnTo>
                  <a:lnTo>
                    <a:pt x="25041" y="21013"/>
                  </a:lnTo>
                  <a:lnTo>
                    <a:pt x="50664" y="15374"/>
                  </a:lnTo>
                  <a:lnTo>
                    <a:pt x="25041" y="9735"/>
                  </a:lnTo>
                  <a:lnTo>
                    <a:pt x="518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/>
            <p:cNvSpPr/>
            <p:nvPr/>
          </p:nvSpPr>
          <p:spPr>
            <a:xfrm>
              <a:off x="3720169" y="3670994"/>
              <a:ext cx="114300" cy="0"/>
            </a:xfrm>
            <a:custGeom>
              <a:avLst/>
              <a:gdLst/>
              <a:ahLst/>
              <a:cxnLst/>
              <a:rect l="l" t="t" r="r" b="b"/>
              <a:pathLst>
                <a:path w="114300" h="0">
                  <a:moveTo>
                    <a:pt x="0" y="0"/>
                  </a:moveTo>
                  <a:lnTo>
                    <a:pt x="113824" y="0"/>
                  </a:lnTo>
                </a:path>
              </a:pathLst>
            </a:custGeom>
            <a:ln w="9482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/>
            <p:cNvSpPr/>
            <p:nvPr/>
          </p:nvSpPr>
          <p:spPr>
            <a:xfrm>
              <a:off x="3823941" y="3659463"/>
              <a:ext cx="38100" cy="23495"/>
            </a:xfrm>
            <a:custGeom>
              <a:avLst/>
              <a:gdLst/>
              <a:ahLst/>
              <a:cxnLst/>
              <a:rect l="l" t="t" r="r" b="b"/>
              <a:pathLst>
                <a:path w="38100" h="23495">
                  <a:moveTo>
                    <a:pt x="379" y="0"/>
                  </a:moveTo>
                  <a:lnTo>
                    <a:pt x="0" y="252"/>
                  </a:lnTo>
                  <a:lnTo>
                    <a:pt x="6854" y="11531"/>
                  </a:lnTo>
                  <a:lnTo>
                    <a:pt x="0" y="22859"/>
                  </a:lnTo>
                  <a:lnTo>
                    <a:pt x="379" y="23061"/>
                  </a:lnTo>
                  <a:lnTo>
                    <a:pt x="18768" y="15753"/>
                  </a:lnTo>
                  <a:lnTo>
                    <a:pt x="38005" y="11531"/>
                  </a:lnTo>
                  <a:lnTo>
                    <a:pt x="18768" y="7307"/>
                  </a:lnTo>
                  <a:lnTo>
                    <a:pt x="379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/>
            <p:cNvSpPr/>
            <p:nvPr/>
          </p:nvSpPr>
          <p:spPr>
            <a:xfrm>
              <a:off x="3418735" y="3595133"/>
              <a:ext cx="301625" cy="151765"/>
            </a:xfrm>
            <a:custGeom>
              <a:avLst/>
              <a:gdLst/>
              <a:ahLst/>
              <a:cxnLst/>
              <a:rect l="l" t="t" r="r" b="b"/>
              <a:pathLst>
                <a:path w="301625" h="151764">
                  <a:moveTo>
                    <a:pt x="301433" y="0"/>
                  </a:moveTo>
                  <a:lnTo>
                    <a:pt x="0" y="0"/>
                  </a:lnTo>
                  <a:lnTo>
                    <a:pt x="0" y="151721"/>
                  </a:lnTo>
                  <a:lnTo>
                    <a:pt x="301433" y="151721"/>
                  </a:lnTo>
                  <a:lnTo>
                    <a:pt x="30143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1" name="object 61"/>
          <p:cNvSpPr txBox="1"/>
          <p:nvPr/>
        </p:nvSpPr>
        <p:spPr>
          <a:xfrm>
            <a:off x="3418735" y="3595133"/>
            <a:ext cx="149860" cy="151765"/>
          </a:xfrm>
          <a:prstGeom prst="rect">
            <a:avLst/>
          </a:prstGeom>
          <a:solidFill>
            <a:srgbClr val="FFFFFF"/>
          </a:solidFill>
          <a:ln w="6323">
            <a:solidFill>
              <a:srgbClr val="231F20"/>
            </a:solidFill>
          </a:ln>
        </p:spPr>
        <p:txBody>
          <a:bodyPr wrap="square" lIns="0" tIns="12065" rIns="0" bIns="0" rtlCol="0" vert="horz">
            <a:spAutoFit/>
          </a:bodyPr>
          <a:lstStyle/>
          <a:p>
            <a:pPr marL="46355">
              <a:lnSpc>
                <a:spcPct val="100000"/>
              </a:lnSpc>
              <a:spcBef>
                <a:spcPts val="95"/>
              </a:spcBef>
            </a:pPr>
            <a:r>
              <a:rPr dirty="0" sz="800" spc="-20">
                <a:solidFill>
                  <a:srgbClr val="231F20"/>
                </a:solidFill>
                <a:latin typeface="Lucida Sans Typewriter"/>
                <a:cs typeface="Lucida Sans Typewriter"/>
              </a:rPr>
              <a:t>L</a:t>
            </a:r>
            <a:endParaRPr sz="800">
              <a:latin typeface="Lucida Sans Typewriter"/>
              <a:cs typeface="Lucida Sans Typewriter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3568403" y="3595133"/>
            <a:ext cx="151765" cy="151765"/>
          </a:xfrm>
          <a:prstGeom prst="rect">
            <a:avLst/>
          </a:prstGeom>
          <a:solidFill>
            <a:srgbClr val="FFFFFF"/>
          </a:solidFill>
          <a:ln w="6322">
            <a:solidFill>
              <a:srgbClr val="231F20"/>
            </a:solidFill>
          </a:ln>
        </p:spPr>
        <p:txBody>
          <a:bodyPr wrap="square" lIns="0" tIns="12065" rIns="0" bIns="0" rtlCol="0" vert="horz">
            <a:spAutoFit/>
          </a:bodyPr>
          <a:lstStyle/>
          <a:p>
            <a:pPr marL="19050">
              <a:lnSpc>
                <a:spcPct val="100000"/>
              </a:lnSpc>
              <a:spcBef>
                <a:spcPts val="95"/>
              </a:spcBef>
            </a:pPr>
            <a:r>
              <a:rPr dirty="0" sz="800" spc="-20">
                <a:solidFill>
                  <a:srgbClr val="BBBDC0"/>
                </a:solidFill>
                <a:latin typeface="Lucida Sans Typewriter"/>
                <a:cs typeface="Lucida Sans Typewriter"/>
              </a:rPr>
              <a:t>11</a:t>
            </a:r>
            <a:endParaRPr sz="800">
              <a:latin typeface="Lucida Sans Typewriter"/>
              <a:cs typeface="Lucida Sans Typewriter"/>
            </a:endParaRPr>
          </a:p>
        </p:txBody>
      </p:sp>
      <p:sp>
        <p:nvSpPr>
          <p:cNvPr id="63" name="object 63"/>
          <p:cNvSpPr/>
          <p:nvPr/>
        </p:nvSpPr>
        <p:spPr>
          <a:xfrm>
            <a:off x="4786734" y="4012367"/>
            <a:ext cx="301625" cy="151765"/>
          </a:xfrm>
          <a:custGeom>
            <a:avLst/>
            <a:gdLst/>
            <a:ahLst/>
            <a:cxnLst/>
            <a:rect l="l" t="t" r="r" b="b"/>
            <a:pathLst>
              <a:path w="301625" h="151764">
                <a:moveTo>
                  <a:pt x="301433" y="0"/>
                </a:moveTo>
                <a:lnTo>
                  <a:pt x="0" y="0"/>
                </a:lnTo>
                <a:lnTo>
                  <a:pt x="0" y="151721"/>
                </a:lnTo>
                <a:lnTo>
                  <a:pt x="301433" y="151721"/>
                </a:lnTo>
                <a:lnTo>
                  <a:pt x="30143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 txBox="1"/>
          <p:nvPr/>
        </p:nvSpPr>
        <p:spPr>
          <a:xfrm>
            <a:off x="4786734" y="4012367"/>
            <a:ext cx="149860" cy="151765"/>
          </a:xfrm>
          <a:prstGeom prst="rect">
            <a:avLst/>
          </a:prstGeom>
          <a:solidFill>
            <a:srgbClr val="FFFFFF"/>
          </a:solidFill>
          <a:ln w="6323">
            <a:solidFill>
              <a:srgbClr val="231F20"/>
            </a:solidFill>
          </a:ln>
        </p:spPr>
        <p:txBody>
          <a:bodyPr wrap="square" lIns="0" tIns="12065" rIns="0" bIns="0" rtlCol="0" vert="horz">
            <a:spAutoFit/>
          </a:bodyPr>
          <a:lstStyle/>
          <a:p>
            <a:pPr marL="46355">
              <a:lnSpc>
                <a:spcPct val="100000"/>
              </a:lnSpc>
              <a:spcBef>
                <a:spcPts val="95"/>
              </a:spcBef>
            </a:pPr>
            <a:r>
              <a:rPr dirty="0" sz="800" spc="-20">
                <a:solidFill>
                  <a:srgbClr val="231F20"/>
                </a:solidFill>
                <a:latin typeface="Lucida Sans Typewriter"/>
                <a:cs typeface="Lucida Sans Typewriter"/>
              </a:rPr>
              <a:t>R</a:t>
            </a:r>
            <a:endParaRPr sz="800">
              <a:latin typeface="Lucida Sans Typewriter"/>
              <a:cs typeface="Lucida Sans Typewriter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4936401" y="4012367"/>
            <a:ext cx="151765" cy="151765"/>
          </a:xfrm>
          <a:prstGeom prst="rect">
            <a:avLst/>
          </a:prstGeom>
          <a:solidFill>
            <a:srgbClr val="FFFFFF"/>
          </a:solidFill>
          <a:ln w="6322">
            <a:solidFill>
              <a:srgbClr val="231F20"/>
            </a:solidFill>
          </a:ln>
        </p:spPr>
        <p:txBody>
          <a:bodyPr wrap="square" lIns="0" tIns="12065" rIns="0" bIns="0" rtlCol="0" vert="horz">
            <a:spAutoFit/>
          </a:bodyPr>
          <a:lstStyle/>
          <a:p>
            <a:pPr marL="48260">
              <a:lnSpc>
                <a:spcPct val="100000"/>
              </a:lnSpc>
              <a:spcBef>
                <a:spcPts val="95"/>
              </a:spcBef>
            </a:pPr>
            <a:r>
              <a:rPr dirty="0" sz="800" spc="-20">
                <a:solidFill>
                  <a:srgbClr val="BBBDC0"/>
                </a:solidFill>
                <a:latin typeface="Lucida Sans Typewriter"/>
                <a:cs typeface="Lucida Sans Typewriter"/>
              </a:rPr>
              <a:t>3</a:t>
            </a:r>
            <a:endParaRPr sz="800">
              <a:latin typeface="Lucida Sans Typewriter"/>
              <a:cs typeface="Lucida Sans Typewriter"/>
            </a:endParaRPr>
          </a:p>
        </p:txBody>
      </p:sp>
      <p:grpSp>
        <p:nvGrpSpPr>
          <p:cNvPr id="66" name="object 66"/>
          <p:cNvGrpSpPr/>
          <p:nvPr/>
        </p:nvGrpSpPr>
        <p:grpSpPr>
          <a:xfrm>
            <a:off x="4329334" y="4012367"/>
            <a:ext cx="452755" cy="151765"/>
            <a:chOff x="4329334" y="4012367"/>
            <a:chExt cx="452755" cy="151765"/>
          </a:xfrm>
        </p:grpSpPr>
        <p:sp>
          <p:nvSpPr>
            <p:cNvPr id="67" name="object 67"/>
            <p:cNvSpPr/>
            <p:nvPr/>
          </p:nvSpPr>
          <p:spPr>
            <a:xfrm>
              <a:off x="4630764" y="4088232"/>
              <a:ext cx="114300" cy="0"/>
            </a:xfrm>
            <a:custGeom>
              <a:avLst/>
              <a:gdLst/>
              <a:ahLst/>
              <a:cxnLst/>
              <a:rect l="l" t="t" r="r" b="b"/>
              <a:pathLst>
                <a:path w="114300" h="0">
                  <a:moveTo>
                    <a:pt x="113825" y="0"/>
                  </a:moveTo>
                  <a:lnTo>
                    <a:pt x="0" y="0"/>
                  </a:lnTo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/>
            <p:cNvSpPr/>
            <p:nvPr/>
          </p:nvSpPr>
          <p:spPr>
            <a:xfrm>
              <a:off x="4731188" y="4072853"/>
              <a:ext cx="50800" cy="31115"/>
            </a:xfrm>
            <a:custGeom>
              <a:avLst/>
              <a:gdLst/>
              <a:ahLst/>
              <a:cxnLst/>
              <a:rect l="l" t="t" r="r" b="b"/>
              <a:pathLst>
                <a:path w="50800" h="31114">
                  <a:moveTo>
                    <a:pt x="518" y="0"/>
                  </a:moveTo>
                  <a:lnTo>
                    <a:pt x="0" y="341"/>
                  </a:lnTo>
                  <a:lnTo>
                    <a:pt x="9143" y="15374"/>
                  </a:lnTo>
                  <a:lnTo>
                    <a:pt x="0" y="30483"/>
                  </a:lnTo>
                  <a:lnTo>
                    <a:pt x="518" y="30748"/>
                  </a:lnTo>
                  <a:lnTo>
                    <a:pt x="25041" y="21013"/>
                  </a:lnTo>
                  <a:lnTo>
                    <a:pt x="50664" y="15374"/>
                  </a:lnTo>
                  <a:lnTo>
                    <a:pt x="25041" y="9735"/>
                  </a:lnTo>
                  <a:lnTo>
                    <a:pt x="518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/>
            <p:cNvSpPr/>
            <p:nvPr/>
          </p:nvSpPr>
          <p:spPr>
            <a:xfrm>
              <a:off x="4630768" y="4088227"/>
              <a:ext cx="114300" cy="0"/>
            </a:xfrm>
            <a:custGeom>
              <a:avLst/>
              <a:gdLst/>
              <a:ahLst/>
              <a:cxnLst/>
              <a:rect l="l" t="t" r="r" b="b"/>
              <a:pathLst>
                <a:path w="114300" h="0">
                  <a:moveTo>
                    <a:pt x="0" y="0"/>
                  </a:moveTo>
                  <a:lnTo>
                    <a:pt x="113824" y="0"/>
                  </a:lnTo>
                </a:path>
              </a:pathLst>
            </a:custGeom>
            <a:ln w="9482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/>
            <p:cNvSpPr/>
            <p:nvPr/>
          </p:nvSpPr>
          <p:spPr>
            <a:xfrm>
              <a:off x="4734539" y="4076696"/>
              <a:ext cx="38100" cy="23495"/>
            </a:xfrm>
            <a:custGeom>
              <a:avLst/>
              <a:gdLst/>
              <a:ahLst/>
              <a:cxnLst/>
              <a:rect l="l" t="t" r="r" b="b"/>
              <a:pathLst>
                <a:path w="38100" h="23495">
                  <a:moveTo>
                    <a:pt x="379" y="0"/>
                  </a:moveTo>
                  <a:lnTo>
                    <a:pt x="0" y="252"/>
                  </a:lnTo>
                  <a:lnTo>
                    <a:pt x="6854" y="11531"/>
                  </a:lnTo>
                  <a:lnTo>
                    <a:pt x="0" y="22859"/>
                  </a:lnTo>
                  <a:lnTo>
                    <a:pt x="379" y="23061"/>
                  </a:lnTo>
                  <a:lnTo>
                    <a:pt x="18769" y="15753"/>
                  </a:lnTo>
                  <a:lnTo>
                    <a:pt x="38005" y="11531"/>
                  </a:lnTo>
                  <a:lnTo>
                    <a:pt x="18769" y="7307"/>
                  </a:lnTo>
                  <a:lnTo>
                    <a:pt x="379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/>
            <p:cNvSpPr/>
            <p:nvPr/>
          </p:nvSpPr>
          <p:spPr>
            <a:xfrm>
              <a:off x="4329334" y="4012367"/>
              <a:ext cx="301625" cy="151765"/>
            </a:xfrm>
            <a:custGeom>
              <a:avLst/>
              <a:gdLst/>
              <a:ahLst/>
              <a:cxnLst/>
              <a:rect l="l" t="t" r="r" b="b"/>
              <a:pathLst>
                <a:path w="301625" h="151764">
                  <a:moveTo>
                    <a:pt x="301433" y="0"/>
                  </a:moveTo>
                  <a:lnTo>
                    <a:pt x="0" y="0"/>
                  </a:lnTo>
                  <a:lnTo>
                    <a:pt x="0" y="151721"/>
                  </a:lnTo>
                  <a:lnTo>
                    <a:pt x="301433" y="151721"/>
                  </a:lnTo>
                  <a:lnTo>
                    <a:pt x="30143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2" name="object 72"/>
          <p:cNvSpPr txBox="1"/>
          <p:nvPr/>
        </p:nvSpPr>
        <p:spPr>
          <a:xfrm>
            <a:off x="4329334" y="4012367"/>
            <a:ext cx="149860" cy="151765"/>
          </a:xfrm>
          <a:prstGeom prst="rect">
            <a:avLst/>
          </a:prstGeom>
          <a:solidFill>
            <a:srgbClr val="FFFFFF"/>
          </a:solidFill>
          <a:ln w="6323">
            <a:solidFill>
              <a:srgbClr val="231F20"/>
            </a:solidFill>
          </a:ln>
        </p:spPr>
        <p:txBody>
          <a:bodyPr wrap="square" lIns="0" tIns="12065" rIns="0" bIns="0" rtlCol="0" vert="horz">
            <a:spAutoFit/>
          </a:bodyPr>
          <a:lstStyle/>
          <a:p>
            <a:pPr marL="46355">
              <a:lnSpc>
                <a:spcPct val="100000"/>
              </a:lnSpc>
              <a:spcBef>
                <a:spcPts val="95"/>
              </a:spcBef>
            </a:pPr>
            <a:r>
              <a:rPr dirty="0" sz="800" spc="-20">
                <a:solidFill>
                  <a:srgbClr val="231F20"/>
                </a:solidFill>
                <a:latin typeface="Lucida Sans Typewriter"/>
                <a:cs typeface="Lucida Sans Typewriter"/>
              </a:rPr>
              <a:t>C</a:t>
            </a:r>
            <a:endParaRPr sz="800">
              <a:latin typeface="Lucida Sans Typewriter"/>
              <a:cs typeface="Lucida Sans Typewriter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4479001" y="4012367"/>
            <a:ext cx="151765" cy="151765"/>
          </a:xfrm>
          <a:prstGeom prst="rect">
            <a:avLst/>
          </a:prstGeom>
          <a:solidFill>
            <a:srgbClr val="FFFFFF"/>
          </a:solidFill>
          <a:ln w="6322">
            <a:solidFill>
              <a:srgbClr val="231F20"/>
            </a:solidFill>
          </a:ln>
        </p:spPr>
        <p:txBody>
          <a:bodyPr wrap="square" lIns="0" tIns="12065" rIns="0" bIns="0" rtlCol="0" vert="horz">
            <a:spAutoFit/>
          </a:bodyPr>
          <a:lstStyle/>
          <a:p>
            <a:pPr marL="48260">
              <a:lnSpc>
                <a:spcPct val="100000"/>
              </a:lnSpc>
              <a:spcBef>
                <a:spcPts val="95"/>
              </a:spcBef>
            </a:pPr>
            <a:r>
              <a:rPr dirty="0" sz="800" spc="-20">
                <a:solidFill>
                  <a:srgbClr val="BBBDC0"/>
                </a:solidFill>
                <a:latin typeface="Lucida Sans Typewriter"/>
                <a:cs typeface="Lucida Sans Typewriter"/>
              </a:rPr>
              <a:t>4</a:t>
            </a:r>
            <a:endParaRPr sz="800">
              <a:latin typeface="Lucida Sans Typewriter"/>
              <a:cs typeface="Lucida Sans Typewriter"/>
            </a:endParaRPr>
          </a:p>
        </p:txBody>
      </p:sp>
      <p:grpSp>
        <p:nvGrpSpPr>
          <p:cNvPr id="74" name="object 74"/>
          <p:cNvGrpSpPr/>
          <p:nvPr/>
        </p:nvGrpSpPr>
        <p:grpSpPr>
          <a:xfrm>
            <a:off x="3874035" y="4012367"/>
            <a:ext cx="452755" cy="151765"/>
            <a:chOff x="3874035" y="4012367"/>
            <a:chExt cx="452755" cy="151765"/>
          </a:xfrm>
        </p:grpSpPr>
        <p:sp>
          <p:nvSpPr>
            <p:cNvPr id="75" name="object 75"/>
            <p:cNvSpPr/>
            <p:nvPr/>
          </p:nvSpPr>
          <p:spPr>
            <a:xfrm>
              <a:off x="4175465" y="4088232"/>
              <a:ext cx="114300" cy="0"/>
            </a:xfrm>
            <a:custGeom>
              <a:avLst/>
              <a:gdLst/>
              <a:ahLst/>
              <a:cxnLst/>
              <a:rect l="l" t="t" r="r" b="b"/>
              <a:pathLst>
                <a:path w="114300" h="0">
                  <a:moveTo>
                    <a:pt x="113825" y="0"/>
                  </a:moveTo>
                  <a:lnTo>
                    <a:pt x="0" y="0"/>
                  </a:lnTo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/>
            <p:cNvSpPr/>
            <p:nvPr/>
          </p:nvSpPr>
          <p:spPr>
            <a:xfrm>
              <a:off x="4275889" y="4072853"/>
              <a:ext cx="50800" cy="31115"/>
            </a:xfrm>
            <a:custGeom>
              <a:avLst/>
              <a:gdLst/>
              <a:ahLst/>
              <a:cxnLst/>
              <a:rect l="l" t="t" r="r" b="b"/>
              <a:pathLst>
                <a:path w="50800" h="31114">
                  <a:moveTo>
                    <a:pt x="518" y="0"/>
                  </a:moveTo>
                  <a:lnTo>
                    <a:pt x="0" y="341"/>
                  </a:lnTo>
                  <a:lnTo>
                    <a:pt x="9143" y="15374"/>
                  </a:lnTo>
                  <a:lnTo>
                    <a:pt x="0" y="30483"/>
                  </a:lnTo>
                  <a:lnTo>
                    <a:pt x="518" y="30748"/>
                  </a:lnTo>
                  <a:lnTo>
                    <a:pt x="25041" y="21013"/>
                  </a:lnTo>
                  <a:lnTo>
                    <a:pt x="50664" y="15374"/>
                  </a:lnTo>
                  <a:lnTo>
                    <a:pt x="25041" y="9735"/>
                  </a:lnTo>
                  <a:lnTo>
                    <a:pt x="518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/>
            <p:cNvSpPr/>
            <p:nvPr/>
          </p:nvSpPr>
          <p:spPr>
            <a:xfrm>
              <a:off x="4175469" y="4088227"/>
              <a:ext cx="114300" cy="0"/>
            </a:xfrm>
            <a:custGeom>
              <a:avLst/>
              <a:gdLst/>
              <a:ahLst/>
              <a:cxnLst/>
              <a:rect l="l" t="t" r="r" b="b"/>
              <a:pathLst>
                <a:path w="114300" h="0">
                  <a:moveTo>
                    <a:pt x="0" y="0"/>
                  </a:moveTo>
                  <a:lnTo>
                    <a:pt x="113824" y="0"/>
                  </a:lnTo>
                </a:path>
              </a:pathLst>
            </a:custGeom>
            <a:ln w="9482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8" name="object 78"/>
            <p:cNvSpPr/>
            <p:nvPr/>
          </p:nvSpPr>
          <p:spPr>
            <a:xfrm>
              <a:off x="4279240" y="4076696"/>
              <a:ext cx="38100" cy="23495"/>
            </a:xfrm>
            <a:custGeom>
              <a:avLst/>
              <a:gdLst/>
              <a:ahLst/>
              <a:cxnLst/>
              <a:rect l="l" t="t" r="r" b="b"/>
              <a:pathLst>
                <a:path w="38100" h="23495">
                  <a:moveTo>
                    <a:pt x="379" y="0"/>
                  </a:moveTo>
                  <a:lnTo>
                    <a:pt x="0" y="252"/>
                  </a:lnTo>
                  <a:lnTo>
                    <a:pt x="6854" y="11531"/>
                  </a:lnTo>
                  <a:lnTo>
                    <a:pt x="0" y="22859"/>
                  </a:lnTo>
                  <a:lnTo>
                    <a:pt x="379" y="23061"/>
                  </a:lnTo>
                  <a:lnTo>
                    <a:pt x="18768" y="15753"/>
                  </a:lnTo>
                  <a:lnTo>
                    <a:pt x="38005" y="11531"/>
                  </a:lnTo>
                  <a:lnTo>
                    <a:pt x="18768" y="7307"/>
                  </a:lnTo>
                  <a:lnTo>
                    <a:pt x="379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9" name="object 79"/>
            <p:cNvSpPr/>
            <p:nvPr/>
          </p:nvSpPr>
          <p:spPr>
            <a:xfrm>
              <a:off x="3874035" y="4012367"/>
              <a:ext cx="301625" cy="151765"/>
            </a:xfrm>
            <a:custGeom>
              <a:avLst/>
              <a:gdLst/>
              <a:ahLst/>
              <a:cxnLst/>
              <a:rect l="l" t="t" r="r" b="b"/>
              <a:pathLst>
                <a:path w="301625" h="151764">
                  <a:moveTo>
                    <a:pt x="301433" y="0"/>
                  </a:moveTo>
                  <a:lnTo>
                    <a:pt x="0" y="0"/>
                  </a:lnTo>
                  <a:lnTo>
                    <a:pt x="0" y="151721"/>
                  </a:lnTo>
                  <a:lnTo>
                    <a:pt x="301433" y="151721"/>
                  </a:lnTo>
                  <a:lnTo>
                    <a:pt x="30143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0" name="object 80"/>
          <p:cNvSpPr txBox="1"/>
          <p:nvPr/>
        </p:nvSpPr>
        <p:spPr>
          <a:xfrm>
            <a:off x="3874035" y="4012367"/>
            <a:ext cx="149860" cy="151765"/>
          </a:xfrm>
          <a:prstGeom prst="rect">
            <a:avLst/>
          </a:prstGeom>
          <a:solidFill>
            <a:srgbClr val="FFFFFF"/>
          </a:solidFill>
          <a:ln w="6323">
            <a:solidFill>
              <a:srgbClr val="231F20"/>
            </a:solidFill>
          </a:ln>
        </p:spPr>
        <p:txBody>
          <a:bodyPr wrap="square" lIns="0" tIns="12065" rIns="0" bIns="0" rtlCol="0" vert="horz">
            <a:spAutoFit/>
          </a:bodyPr>
          <a:lstStyle/>
          <a:p>
            <a:pPr marL="46355">
              <a:lnSpc>
                <a:spcPct val="100000"/>
              </a:lnSpc>
              <a:spcBef>
                <a:spcPts val="95"/>
              </a:spcBef>
            </a:pPr>
            <a:r>
              <a:rPr dirty="0" sz="800" spc="-20">
                <a:solidFill>
                  <a:srgbClr val="231F20"/>
                </a:solidFill>
                <a:latin typeface="Lucida Sans Typewriter"/>
                <a:cs typeface="Lucida Sans Typewriter"/>
              </a:rPr>
              <a:t>H</a:t>
            </a:r>
            <a:endParaRPr sz="800">
              <a:latin typeface="Lucida Sans Typewriter"/>
              <a:cs typeface="Lucida Sans Typewriter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4023702" y="4012367"/>
            <a:ext cx="151765" cy="151765"/>
          </a:xfrm>
          <a:prstGeom prst="rect">
            <a:avLst/>
          </a:prstGeom>
          <a:solidFill>
            <a:srgbClr val="FFFFFF"/>
          </a:solidFill>
          <a:ln w="6322">
            <a:solidFill>
              <a:srgbClr val="231F20"/>
            </a:solidFill>
          </a:ln>
        </p:spPr>
        <p:txBody>
          <a:bodyPr wrap="square" lIns="0" tIns="12065" rIns="0" bIns="0" rtlCol="0" vert="horz">
            <a:spAutoFit/>
          </a:bodyPr>
          <a:lstStyle/>
          <a:p>
            <a:pPr marL="48260">
              <a:lnSpc>
                <a:spcPct val="100000"/>
              </a:lnSpc>
              <a:spcBef>
                <a:spcPts val="95"/>
              </a:spcBef>
            </a:pPr>
            <a:r>
              <a:rPr dirty="0" sz="800" spc="-20">
                <a:solidFill>
                  <a:srgbClr val="BBBDC0"/>
                </a:solidFill>
                <a:latin typeface="Lucida Sans Typewriter"/>
                <a:cs typeface="Lucida Sans Typewriter"/>
              </a:rPr>
              <a:t>5</a:t>
            </a:r>
            <a:endParaRPr sz="800">
              <a:latin typeface="Lucida Sans Typewriter"/>
              <a:cs typeface="Lucida Sans Typewriter"/>
            </a:endParaRPr>
          </a:p>
        </p:txBody>
      </p:sp>
      <p:grpSp>
        <p:nvGrpSpPr>
          <p:cNvPr id="82" name="object 82"/>
          <p:cNvGrpSpPr/>
          <p:nvPr/>
        </p:nvGrpSpPr>
        <p:grpSpPr>
          <a:xfrm>
            <a:off x="3417685" y="4012367"/>
            <a:ext cx="452755" cy="151765"/>
            <a:chOff x="3417685" y="4012367"/>
            <a:chExt cx="452755" cy="151765"/>
          </a:xfrm>
        </p:grpSpPr>
        <p:sp>
          <p:nvSpPr>
            <p:cNvPr id="83" name="object 83"/>
            <p:cNvSpPr/>
            <p:nvPr/>
          </p:nvSpPr>
          <p:spPr>
            <a:xfrm>
              <a:off x="3719118" y="4088232"/>
              <a:ext cx="114300" cy="0"/>
            </a:xfrm>
            <a:custGeom>
              <a:avLst/>
              <a:gdLst/>
              <a:ahLst/>
              <a:cxnLst/>
              <a:rect l="l" t="t" r="r" b="b"/>
              <a:pathLst>
                <a:path w="114300" h="0">
                  <a:moveTo>
                    <a:pt x="113825" y="0"/>
                  </a:moveTo>
                  <a:lnTo>
                    <a:pt x="0" y="0"/>
                  </a:lnTo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/>
            <p:cNvSpPr/>
            <p:nvPr/>
          </p:nvSpPr>
          <p:spPr>
            <a:xfrm>
              <a:off x="3819539" y="4072853"/>
              <a:ext cx="50800" cy="31115"/>
            </a:xfrm>
            <a:custGeom>
              <a:avLst/>
              <a:gdLst/>
              <a:ahLst/>
              <a:cxnLst/>
              <a:rect l="l" t="t" r="r" b="b"/>
              <a:pathLst>
                <a:path w="50800" h="31114">
                  <a:moveTo>
                    <a:pt x="518" y="0"/>
                  </a:moveTo>
                  <a:lnTo>
                    <a:pt x="0" y="341"/>
                  </a:lnTo>
                  <a:lnTo>
                    <a:pt x="9143" y="15374"/>
                  </a:lnTo>
                  <a:lnTo>
                    <a:pt x="0" y="30483"/>
                  </a:lnTo>
                  <a:lnTo>
                    <a:pt x="518" y="30748"/>
                  </a:lnTo>
                  <a:lnTo>
                    <a:pt x="25041" y="21013"/>
                  </a:lnTo>
                  <a:lnTo>
                    <a:pt x="50664" y="15374"/>
                  </a:lnTo>
                  <a:lnTo>
                    <a:pt x="25041" y="9735"/>
                  </a:lnTo>
                  <a:lnTo>
                    <a:pt x="518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/>
            <p:cNvSpPr/>
            <p:nvPr/>
          </p:nvSpPr>
          <p:spPr>
            <a:xfrm>
              <a:off x="3719119" y="4088227"/>
              <a:ext cx="114300" cy="0"/>
            </a:xfrm>
            <a:custGeom>
              <a:avLst/>
              <a:gdLst/>
              <a:ahLst/>
              <a:cxnLst/>
              <a:rect l="l" t="t" r="r" b="b"/>
              <a:pathLst>
                <a:path w="114300" h="0">
                  <a:moveTo>
                    <a:pt x="0" y="0"/>
                  </a:moveTo>
                  <a:lnTo>
                    <a:pt x="113824" y="0"/>
                  </a:lnTo>
                </a:path>
              </a:pathLst>
            </a:custGeom>
            <a:ln w="9482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6" name="object 86"/>
            <p:cNvSpPr/>
            <p:nvPr/>
          </p:nvSpPr>
          <p:spPr>
            <a:xfrm>
              <a:off x="3822891" y="4076696"/>
              <a:ext cx="38100" cy="23495"/>
            </a:xfrm>
            <a:custGeom>
              <a:avLst/>
              <a:gdLst/>
              <a:ahLst/>
              <a:cxnLst/>
              <a:rect l="l" t="t" r="r" b="b"/>
              <a:pathLst>
                <a:path w="38100" h="23495">
                  <a:moveTo>
                    <a:pt x="379" y="0"/>
                  </a:moveTo>
                  <a:lnTo>
                    <a:pt x="0" y="252"/>
                  </a:lnTo>
                  <a:lnTo>
                    <a:pt x="6854" y="11531"/>
                  </a:lnTo>
                  <a:lnTo>
                    <a:pt x="0" y="22859"/>
                  </a:lnTo>
                  <a:lnTo>
                    <a:pt x="379" y="23061"/>
                  </a:lnTo>
                  <a:lnTo>
                    <a:pt x="18768" y="15753"/>
                  </a:lnTo>
                  <a:lnTo>
                    <a:pt x="38005" y="11531"/>
                  </a:lnTo>
                  <a:lnTo>
                    <a:pt x="18768" y="7307"/>
                  </a:lnTo>
                  <a:lnTo>
                    <a:pt x="379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7" name="object 87"/>
            <p:cNvSpPr/>
            <p:nvPr/>
          </p:nvSpPr>
          <p:spPr>
            <a:xfrm>
              <a:off x="3417685" y="4012367"/>
              <a:ext cx="301625" cy="151765"/>
            </a:xfrm>
            <a:custGeom>
              <a:avLst/>
              <a:gdLst/>
              <a:ahLst/>
              <a:cxnLst/>
              <a:rect l="l" t="t" r="r" b="b"/>
              <a:pathLst>
                <a:path w="301625" h="151764">
                  <a:moveTo>
                    <a:pt x="301433" y="0"/>
                  </a:moveTo>
                  <a:lnTo>
                    <a:pt x="0" y="0"/>
                  </a:lnTo>
                  <a:lnTo>
                    <a:pt x="0" y="151721"/>
                  </a:lnTo>
                  <a:lnTo>
                    <a:pt x="301433" y="151721"/>
                  </a:lnTo>
                  <a:lnTo>
                    <a:pt x="30143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8" name="object 88"/>
          <p:cNvSpPr txBox="1"/>
          <p:nvPr/>
        </p:nvSpPr>
        <p:spPr>
          <a:xfrm>
            <a:off x="3417685" y="4012367"/>
            <a:ext cx="149860" cy="151765"/>
          </a:xfrm>
          <a:prstGeom prst="rect">
            <a:avLst/>
          </a:prstGeom>
          <a:solidFill>
            <a:srgbClr val="FFFFFF"/>
          </a:solidFill>
          <a:ln w="6323">
            <a:solidFill>
              <a:srgbClr val="231F20"/>
            </a:solidFill>
          </a:ln>
        </p:spPr>
        <p:txBody>
          <a:bodyPr wrap="square" lIns="0" tIns="12065" rIns="0" bIns="0" rtlCol="0" vert="horz">
            <a:spAutoFit/>
          </a:bodyPr>
          <a:lstStyle/>
          <a:p>
            <a:pPr marL="46355">
              <a:lnSpc>
                <a:spcPct val="100000"/>
              </a:lnSpc>
              <a:spcBef>
                <a:spcPts val="95"/>
              </a:spcBef>
            </a:pPr>
            <a:r>
              <a:rPr dirty="0" sz="800" spc="-20">
                <a:solidFill>
                  <a:srgbClr val="231F20"/>
                </a:solidFill>
                <a:latin typeface="Lucida Sans Typewriter"/>
                <a:cs typeface="Lucida Sans Typewriter"/>
              </a:rPr>
              <a:t>M</a:t>
            </a:r>
            <a:endParaRPr sz="800">
              <a:latin typeface="Lucida Sans Typewriter"/>
              <a:cs typeface="Lucida Sans Typewriter"/>
            </a:endParaRPr>
          </a:p>
        </p:txBody>
      </p:sp>
      <p:sp>
        <p:nvSpPr>
          <p:cNvPr id="89" name="object 89"/>
          <p:cNvSpPr txBox="1"/>
          <p:nvPr/>
        </p:nvSpPr>
        <p:spPr>
          <a:xfrm>
            <a:off x="3567353" y="4012367"/>
            <a:ext cx="151765" cy="151765"/>
          </a:xfrm>
          <a:prstGeom prst="rect">
            <a:avLst/>
          </a:prstGeom>
          <a:solidFill>
            <a:srgbClr val="FFFFFF"/>
          </a:solidFill>
          <a:ln w="6322">
            <a:solidFill>
              <a:srgbClr val="231F20"/>
            </a:solidFill>
          </a:ln>
        </p:spPr>
        <p:txBody>
          <a:bodyPr wrap="square" lIns="0" tIns="12065" rIns="0" bIns="0" rtlCol="0" vert="horz">
            <a:spAutoFit/>
          </a:bodyPr>
          <a:lstStyle/>
          <a:p>
            <a:pPr marL="48260">
              <a:lnSpc>
                <a:spcPct val="100000"/>
              </a:lnSpc>
              <a:spcBef>
                <a:spcPts val="95"/>
              </a:spcBef>
            </a:pPr>
            <a:r>
              <a:rPr dirty="0" sz="800" spc="-20">
                <a:solidFill>
                  <a:srgbClr val="BBBDC0"/>
                </a:solidFill>
                <a:latin typeface="Lucida Sans Typewriter"/>
                <a:cs typeface="Lucida Sans Typewriter"/>
              </a:rPr>
              <a:t>9</a:t>
            </a:r>
            <a:endParaRPr sz="800">
              <a:latin typeface="Lucida Sans Typewriter"/>
              <a:cs typeface="Lucida Sans Typewriter"/>
            </a:endParaRPr>
          </a:p>
        </p:txBody>
      </p:sp>
      <p:sp>
        <p:nvSpPr>
          <p:cNvPr id="90" name="object 90"/>
          <p:cNvSpPr txBox="1"/>
          <p:nvPr/>
        </p:nvSpPr>
        <p:spPr>
          <a:xfrm>
            <a:off x="1672306" y="2034894"/>
            <a:ext cx="555625" cy="2491105"/>
          </a:xfrm>
          <a:prstGeom prst="rect">
            <a:avLst/>
          </a:prstGeom>
        </p:spPr>
        <p:txBody>
          <a:bodyPr wrap="square" lIns="0" tIns="806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35"/>
              </a:spcBef>
              <a:tabLst>
                <a:tab pos="247650" algn="l"/>
                <a:tab pos="483870" algn="l"/>
              </a:tabLst>
            </a:pPr>
            <a:r>
              <a:rPr dirty="0" sz="800" spc="-20">
                <a:solidFill>
                  <a:srgbClr val="231F20"/>
                </a:solidFill>
                <a:latin typeface="Lucida Sans Typewriter"/>
                <a:cs typeface="Lucida Sans Typewriter"/>
              </a:rPr>
              <a:t>S</a:t>
            </a:r>
            <a:r>
              <a:rPr dirty="0" sz="800" spc="-20">
                <a:solidFill>
                  <a:srgbClr val="231F20"/>
                </a:solidFill>
                <a:latin typeface="Lucida Sans Typewriter"/>
                <a:cs typeface="Lucida Sans Typewriter"/>
              </a:rPr>
              <a:t>	</a:t>
            </a:r>
            <a:r>
              <a:rPr dirty="0" sz="800" spc="-20">
                <a:solidFill>
                  <a:srgbClr val="231F20"/>
                </a:solidFill>
                <a:latin typeface="Lucida Sans Typewriter"/>
                <a:cs typeface="Lucida Sans Typewriter"/>
              </a:rPr>
              <a:t>2</a:t>
            </a:r>
            <a:r>
              <a:rPr dirty="0" sz="800" spc="-20">
                <a:solidFill>
                  <a:srgbClr val="231F20"/>
                </a:solidFill>
                <a:latin typeface="Lucida Sans Typewriter"/>
                <a:cs typeface="Lucida Sans Typewriter"/>
              </a:rPr>
              <a:t>	</a:t>
            </a:r>
            <a:r>
              <a:rPr dirty="0" sz="800" spc="-20">
                <a:solidFill>
                  <a:srgbClr val="BCBEC0"/>
                </a:solidFill>
                <a:latin typeface="Lucida Sans Typewriter"/>
                <a:cs typeface="Lucida Sans Typewriter"/>
              </a:rPr>
              <a:t>0</a:t>
            </a:r>
            <a:endParaRPr sz="800">
              <a:latin typeface="Lucida Sans Typewriter"/>
              <a:cs typeface="Lucida Sans Typewriter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  <a:tabLst>
                <a:tab pos="247650" algn="l"/>
                <a:tab pos="483870" algn="l"/>
              </a:tabLst>
            </a:pPr>
            <a:r>
              <a:rPr dirty="0" sz="800" spc="-20">
                <a:solidFill>
                  <a:srgbClr val="231F20"/>
                </a:solidFill>
                <a:latin typeface="Lucida Sans Typewriter"/>
                <a:cs typeface="Lucida Sans Typewriter"/>
              </a:rPr>
              <a:t>E</a:t>
            </a:r>
            <a:r>
              <a:rPr dirty="0" sz="800" spc="-20">
                <a:solidFill>
                  <a:srgbClr val="231F20"/>
                </a:solidFill>
                <a:latin typeface="Lucida Sans Typewriter"/>
                <a:cs typeface="Lucida Sans Typewriter"/>
              </a:rPr>
              <a:t>	</a:t>
            </a:r>
            <a:r>
              <a:rPr dirty="0" sz="800" spc="-20">
                <a:solidFill>
                  <a:srgbClr val="231F20"/>
                </a:solidFill>
                <a:latin typeface="Lucida Sans Typewriter"/>
                <a:cs typeface="Lucida Sans Typewriter"/>
              </a:rPr>
              <a:t>0</a:t>
            </a:r>
            <a:r>
              <a:rPr dirty="0" sz="800" spc="-20">
                <a:solidFill>
                  <a:srgbClr val="231F20"/>
                </a:solidFill>
                <a:latin typeface="Lucida Sans Typewriter"/>
                <a:cs typeface="Lucida Sans Typewriter"/>
              </a:rPr>
              <a:t>	</a:t>
            </a:r>
            <a:r>
              <a:rPr dirty="0" sz="800" spc="-20">
                <a:solidFill>
                  <a:srgbClr val="BCBEC0"/>
                </a:solidFill>
                <a:latin typeface="Lucida Sans Typewriter"/>
                <a:cs typeface="Lucida Sans Typewriter"/>
              </a:rPr>
              <a:t>1</a:t>
            </a:r>
            <a:endParaRPr sz="800">
              <a:latin typeface="Lucida Sans Typewriter"/>
              <a:cs typeface="Lucida Sans Typewriter"/>
            </a:endParaRPr>
          </a:p>
          <a:p>
            <a:pPr marL="12700">
              <a:lnSpc>
                <a:spcPct val="100000"/>
              </a:lnSpc>
              <a:spcBef>
                <a:spcPts val="535"/>
              </a:spcBef>
              <a:tabLst>
                <a:tab pos="247650" algn="l"/>
                <a:tab pos="483870" algn="l"/>
              </a:tabLst>
            </a:pPr>
            <a:r>
              <a:rPr dirty="0" sz="800" spc="-20">
                <a:solidFill>
                  <a:srgbClr val="231F20"/>
                </a:solidFill>
                <a:latin typeface="Lucida Sans Typewriter"/>
                <a:cs typeface="Lucida Sans Typewriter"/>
              </a:rPr>
              <a:t>A</a:t>
            </a:r>
            <a:r>
              <a:rPr dirty="0" sz="800" spc="-20">
                <a:solidFill>
                  <a:srgbClr val="231F20"/>
                </a:solidFill>
                <a:latin typeface="Lucida Sans Typewriter"/>
                <a:cs typeface="Lucida Sans Typewriter"/>
              </a:rPr>
              <a:t>	</a:t>
            </a:r>
            <a:r>
              <a:rPr dirty="0" sz="800" spc="-20">
                <a:solidFill>
                  <a:srgbClr val="231F20"/>
                </a:solidFill>
                <a:latin typeface="Lucida Sans Typewriter"/>
                <a:cs typeface="Lucida Sans Typewriter"/>
              </a:rPr>
              <a:t>0</a:t>
            </a:r>
            <a:r>
              <a:rPr dirty="0" sz="800" spc="-20">
                <a:solidFill>
                  <a:srgbClr val="231F20"/>
                </a:solidFill>
                <a:latin typeface="Lucida Sans Typewriter"/>
                <a:cs typeface="Lucida Sans Typewriter"/>
              </a:rPr>
              <a:t>	</a:t>
            </a:r>
            <a:r>
              <a:rPr dirty="0" sz="800" spc="-20">
                <a:solidFill>
                  <a:srgbClr val="BCBEC0"/>
                </a:solidFill>
                <a:latin typeface="Lucida Sans Typewriter"/>
                <a:cs typeface="Lucida Sans Typewriter"/>
              </a:rPr>
              <a:t>2</a:t>
            </a:r>
            <a:endParaRPr sz="800">
              <a:latin typeface="Lucida Sans Typewriter"/>
              <a:cs typeface="Lucida Sans Typewriter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  <a:tabLst>
                <a:tab pos="247650" algn="l"/>
                <a:tab pos="483870" algn="l"/>
              </a:tabLst>
            </a:pPr>
            <a:r>
              <a:rPr dirty="0" sz="800" spc="-20">
                <a:solidFill>
                  <a:srgbClr val="231F20"/>
                </a:solidFill>
                <a:latin typeface="Lucida Sans Typewriter"/>
                <a:cs typeface="Lucida Sans Typewriter"/>
              </a:rPr>
              <a:t>R</a:t>
            </a:r>
            <a:r>
              <a:rPr dirty="0" sz="800" spc="-20">
                <a:solidFill>
                  <a:srgbClr val="231F20"/>
                </a:solidFill>
                <a:latin typeface="Lucida Sans Typewriter"/>
                <a:cs typeface="Lucida Sans Typewriter"/>
              </a:rPr>
              <a:t>	</a:t>
            </a:r>
            <a:r>
              <a:rPr dirty="0" sz="800" spc="-20">
                <a:solidFill>
                  <a:srgbClr val="231F20"/>
                </a:solidFill>
                <a:latin typeface="Lucida Sans Typewriter"/>
                <a:cs typeface="Lucida Sans Typewriter"/>
              </a:rPr>
              <a:t>4</a:t>
            </a:r>
            <a:r>
              <a:rPr dirty="0" sz="800" spc="-20">
                <a:solidFill>
                  <a:srgbClr val="231F20"/>
                </a:solidFill>
                <a:latin typeface="Lucida Sans Typewriter"/>
                <a:cs typeface="Lucida Sans Typewriter"/>
              </a:rPr>
              <a:t>	</a:t>
            </a:r>
            <a:r>
              <a:rPr dirty="0" sz="800" spc="-20">
                <a:solidFill>
                  <a:srgbClr val="BCBEC0"/>
                </a:solidFill>
                <a:latin typeface="Lucida Sans Typewriter"/>
                <a:cs typeface="Lucida Sans Typewriter"/>
              </a:rPr>
              <a:t>3</a:t>
            </a:r>
            <a:endParaRPr sz="800">
              <a:latin typeface="Lucida Sans Typewriter"/>
              <a:cs typeface="Lucida Sans Typewriter"/>
            </a:endParaRPr>
          </a:p>
          <a:p>
            <a:pPr marL="12700">
              <a:lnSpc>
                <a:spcPct val="100000"/>
              </a:lnSpc>
              <a:spcBef>
                <a:spcPts val="535"/>
              </a:spcBef>
              <a:tabLst>
                <a:tab pos="247650" algn="l"/>
                <a:tab pos="483870" algn="l"/>
              </a:tabLst>
            </a:pPr>
            <a:r>
              <a:rPr dirty="0" sz="800" spc="-20">
                <a:solidFill>
                  <a:srgbClr val="231F20"/>
                </a:solidFill>
                <a:latin typeface="Lucida Sans Typewriter"/>
                <a:cs typeface="Lucida Sans Typewriter"/>
              </a:rPr>
              <a:t>C</a:t>
            </a:r>
            <a:r>
              <a:rPr dirty="0" sz="800" spc="-20">
                <a:solidFill>
                  <a:srgbClr val="231F20"/>
                </a:solidFill>
                <a:latin typeface="Lucida Sans Typewriter"/>
                <a:cs typeface="Lucida Sans Typewriter"/>
              </a:rPr>
              <a:t>	</a:t>
            </a:r>
            <a:r>
              <a:rPr dirty="0" sz="800" spc="-20">
                <a:solidFill>
                  <a:srgbClr val="231F20"/>
                </a:solidFill>
                <a:latin typeface="Lucida Sans Typewriter"/>
                <a:cs typeface="Lucida Sans Typewriter"/>
              </a:rPr>
              <a:t>4</a:t>
            </a:r>
            <a:r>
              <a:rPr dirty="0" sz="800" spc="-20">
                <a:solidFill>
                  <a:srgbClr val="231F20"/>
                </a:solidFill>
                <a:latin typeface="Lucida Sans Typewriter"/>
                <a:cs typeface="Lucida Sans Typewriter"/>
              </a:rPr>
              <a:t>	</a:t>
            </a:r>
            <a:r>
              <a:rPr dirty="0" sz="800" spc="-20">
                <a:solidFill>
                  <a:srgbClr val="BCBEC0"/>
                </a:solidFill>
                <a:latin typeface="Lucida Sans Typewriter"/>
                <a:cs typeface="Lucida Sans Typewriter"/>
              </a:rPr>
              <a:t>4</a:t>
            </a:r>
            <a:endParaRPr sz="800">
              <a:latin typeface="Lucida Sans Typewriter"/>
              <a:cs typeface="Lucida Sans Typewriter"/>
            </a:endParaRPr>
          </a:p>
          <a:p>
            <a:pPr marL="12700">
              <a:lnSpc>
                <a:spcPct val="100000"/>
              </a:lnSpc>
              <a:spcBef>
                <a:spcPts val="535"/>
              </a:spcBef>
              <a:tabLst>
                <a:tab pos="247650" algn="l"/>
                <a:tab pos="483870" algn="l"/>
              </a:tabLst>
            </a:pPr>
            <a:r>
              <a:rPr dirty="0" sz="800" spc="-20">
                <a:solidFill>
                  <a:srgbClr val="231F20"/>
                </a:solidFill>
                <a:latin typeface="Lucida Sans Typewriter"/>
                <a:cs typeface="Lucida Sans Typewriter"/>
              </a:rPr>
              <a:t>H</a:t>
            </a:r>
            <a:r>
              <a:rPr dirty="0" sz="800" spc="-20">
                <a:solidFill>
                  <a:srgbClr val="231F20"/>
                </a:solidFill>
                <a:latin typeface="Lucida Sans Typewriter"/>
                <a:cs typeface="Lucida Sans Typewriter"/>
              </a:rPr>
              <a:t>	</a:t>
            </a:r>
            <a:r>
              <a:rPr dirty="0" sz="800" spc="-20">
                <a:solidFill>
                  <a:srgbClr val="231F20"/>
                </a:solidFill>
                <a:latin typeface="Lucida Sans Typewriter"/>
                <a:cs typeface="Lucida Sans Typewriter"/>
              </a:rPr>
              <a:t>4</a:t>
            </a:r>
            <a:r>
              <a:rPr dirty="0" sz="800" spc="-20">
                <a:solidFill>
                  <a:srgbClr val="231F20"/>
                </a:solidFill>
                <a:latin typeface="Lucida Sans Typewriter"/>
                <a:cs typeface="Lucida Sans Typewriter"/>
              </a:rPr>
              <a:t>	</a:t>
            </a:r>
            <a:r>
              <a:rPr dirty="0" sz="800" spc="-20">
                <a:solidFill>
                  <a:srgbClr val="BCBEC0"/>
                </a:solidFill>
                <a:latin typeface="Lucida Sans Typewriter"/>
                <a:cs typeface="Lucida Sans Typewriter"/>
              </a:rPr>
              <a:t>5</a:t>
            </a:r>
            <a:endParaRPr sz="800">
              <a:latin typeface="Lucida Sans Typewriter"/>
              <a:cs typeface="Lucida Sans Typewriter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  <a:tabLst>
                <a:tab pos="247650" algn="l"/>
                <a:tab pos="483870" algn="l"/>
              </a:tabLst>
            </a:pPr>
            <a:r>
              <a:rPr dirty="0" sz="800" spc="-20">
                <a:solidFill>
                  <a:srgbClr val="231F20"/>
                </a:solidFill>
                <a:latin typeface="Lucida Sans Typewriter"/>
                <a:cs typeface="Lucida Sans Typewriter"/>
              </a:rPr>
              <a:t>E</a:t>
            </a:r>
            <a:r>
              <a:rPr dirty="0" sz="800" spc="-20">
                <a:solidFill>
                  <a:srgbClr val="231F20"/>
                </a:solidFill>
                <a:latin typeface="Lucida Sans Typewriter"/>
                <a:cs typeface="Lucida Sans Typewriter"/>
              </a:rPr>
              <a:t>	</a:t>
            </a:r>
            <a:r>
              <a:rPr dirty="0" sz="800" spc="-20">
                <a:solidFill>
                  <a:srgbClr val="231F20"/>
                </a:solidFill>
                <a:latin typeface="Lucida Sans Typewriter"/>
                <a:cs typeface="Lucida Sans Typewriter"/>
              </a:rPr>
              <a:t>0</a:t>
            </a:r>
            <a:r>
              <a:rPr dirty="0" sz="800" spc="-20">
                <a:solidFill>
                  <a:srgbClr val="231F20"/>
                </a:solidFill>
                <a:latin typeface="Lucida Sans Typewriter"/>
                <a:cs typeface="Lucida Sans Typewriter"/>
              </a:rPr>
              <a:t>	</a:t>
            </a:r>
            <a:r>
              <a:rPr dirty="0" sz="800" spc="-20">
                <a:solidFill>
                  <a:srgbClr val="BCBEC0"/>
                </a:solidFill>
                <a:latin typeface="Lucida Sans Typewriter"/>
                <a:cs typeface="Lucida Sans Typewriter"/>
              </a:rPr>
              <a:t>6</a:t>
            </a:r>
            <a:endParaRPr sz="800">
              <a:latin typeface="Lucida Sans Typewriter"/>
              <a:cs typeface="Lucida Sans Typewriter"/>
            </a:endParaRPr>
          </a:p>
          <a:p>
            <a:pPr marL="12700">
              <a:lnSpc>
                <a:spcPct val="100000"/>
              </a:lnSpc>
              <a:spcBef>
                <a:spcPts val="535"/>
              </a:spcBef>
              <a:tabLst>
                <a:tab pos="247650" algn="l"/>
                <a:tab pos="483870" algn="l"/>
              </a:tabLst>
            </a:pPr>
            <a:r>
              <a:rPr dirty="0" sz="800" spc="-20">
                <a:solidFill>
                  <a:srgbClr val="231F20"/>
                </a:solidFill>
                <a:latin typeface="Lucida Sans Typewriter"/>
                <a:cs typeface="Lucida Sans Typewriter"/>
              </a:rPr>
              <a:t>X</a:t>
            </a:r>
            <a:r>
              <a:rPr dirty="0" sz="800" spc="-20">
                <a:solidFill>
                  <a:srgbClr val="231F20"/>
                </a:solidFill>
                <a:latin typeface="Lucida Sans Typewriter"/>
                <a:cs typeface="Lucida Sans Typewriter"/>
              </a:rPr>
              <a:t>	</a:t>
            </a:r>
            <a:r>
              <a:rPr dirty="0" sz="800" spc="-20">
                <a:solidFill>
                  <a:srgbClr val="231F20"/>
                </a:solidFill>
                <a:latin typeface="Lucida Sans Typewriter"/>
                <a:cs typeface="Lucida Sans Typewriter"/>
              </a:rPr>
              <a:t>2</a:t>
            </a:r>
            <a:r>
              <a:rPr dirty="0" sz="800" spc="-20">
                <a:solidFill>
                  <a:srgbClr val="231F20"/>
                </a:solidFill>
                <a:latin typeface="Lucida Sans Typewriter"/>
                <a:cs typeface="Lucida Sans Typewriter"/>
              </a:rPr>
              <a:t>	</a:t>
            </a:r>
            <a:r>
              <a:rPr dirty="0" sz="800" spc="-20">
                <a:solidFill>
                  <a:srgbClr val="BCBEC0"/>
                </a:solidFill>
                <a:latin typeface="Lucida Sans Typewriter"/>
                <a:cs typeface="Lucida Sans Typewriter"/>
              </a:rPr>
              <a:t>7</a:t>
            </a:r>
            <a:endParaRPr sz="800">
              <a:latin typeface="Lucida Sans Typewriter"/>
              <a:cs typeface="Lucida Sans Typewriter"/>
            </a:endParaRPr>
          </a:p>
          <a:p>
            <a:pPr marL="12700">
              <a:lnSpc>
                <a:spcPct val="100000"/>
              </a:lnSpc>
              <a:spcBef>
                <a:spcPts val="535"/>
              </a:spcBef>
              <a:tabLst>
                <a:tab pos="247650" algn="l"/>
                <a:tab pos="483870" algn="l"/>
              </a:tabLst>
            </a:pPr>
            <a:r>
              <a:rPr dirty="0" sz="800" spc="-20">
                <a:solidFill>
                  <a:srgbClr val="231F20"/>
                </a:solidFill>
                <a:latin typeface="Lucida Sans Typewriter"/>
                <a:cs typeface="Lucida Sans Typewriter"/>
              </a:rPr>
              <a:t>A</a:t>
            </a:r>
            <a:r>
              <a:rPr dirty="0" sz="800" spc="-20">
                <a:solidFill>
                  <a:srgbClr val="231F20"/>
                </a:solidFill>
                <a:latin typeface="Lucida Sans Typewriter"/>
                <a:cs typeface="Lucida Sans Typewriter"/>
              </a:rPr>
              <a:t>	</a:t>
            </a:r>
            <a:r>
              <a:rPr dirty="0" sz="800" spc="-20">
                <a:solidFill>
                  <a:srgbClr val="231F20"/>
                </a:solidFill>
                <a:latin typeface="Lucida Sans Typewriter"/>
                <a:cs typeface="Lucida Sans Typewriter"/>
              </a:rPr>
              <a:t>0</a:t>
            </a:r>
            <a:r>
              <a:rPr dirty="0" sz="800" spc="-20">
                <a:solidFill>
                  <a:srgbClr val="231F20"/>
                </a:solidFill>
                <a:latin typeface="Lucida Sans Typewriter"/>
                <a:cs typeface="Lucida Sans Typewriter"/>
              </a:rPr>
              <a:t>	</a:t>
            </a:r>
            <a:r>
              <a:rPr dirty="0" sz="800" spc="-20">
                <a:solidFill>
                  <a:srgbClr val="BCBEC0"/>
                </a:solidFill>
                <a:latin typeface="Lucida Sans Typewriter"/>
                <a:cs typeface="Lucida Sans Typewriter"/>
              </a:rPr>
              <a:t>8</a:t>
            </a:r>
            <a:endParaRPr sz="800">
              <a:latin typeface="Lucida Sans Typewriter"/>
              <a:cs typeface="Lucida Sans Typewriter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  <a:tabLst>
                <a:tab pos="247650" algn="l"/>
                <a:tab pos="483870" algn="l"/>
              </a:tabLst>
            </a:pPr>
            <a:r>
              <a:rPr dirty="0" sz="800" spc="-20">
                <a:solidFill>
                  <a:srgbClr val="231F20"/>
                </a:solidFill>
                <a:latin typeface="Lucida Sans Typewriter"/>
                <a:cs typeface="Lucida Sans Typewriter"/>
              </a:rPr>
              <a:t>M</a:t>
            </a:r>
            <a:r>
              <a:rPr dirty="0" sz="800" spc="-20">
                <a:solidFill>
                  <a:srgbClr val="231F20"/>
                </a:solidFill>
                <a:latin typeface="Lucida Sans Typewriter"/>
                <a:cs typeface="Lucida Sans Typewriter"/>
              </a:rPr>
              <a:t>	</a:t>
            </a:r>
            <a:r>
              <a:rPr dirty="0" sz="800" spc="-20">
                <a:solidFill>
                  <a:srgbClr val="231F20"/>
                </a:solidFill>
                <a:latin typeface="Lucida Sans Typewriter"/>
                <a:cs typeface="Lucida Sans Typewriter"/>
              </a:rPr>
              <a:t>4</a:t>
            </a:r>
            <a:r>
              <a:rPr dirty="0" sz="800" spc="-20">
                <a:solidFill>
                  <a:srgbClr val="231F20"/>
                </a:solidFill>
                <a:latin typeface="Lucida Sans Typewriter"/>
                <a:cs typeface="Lucida Sans Typewriter"/>
              </a:rPr>
              <a:t>	</a:t>
            </a:r>
            <a:r>
              <a:rPr dirty="0" sz="800" spc="-20">
                <a:solidFill>
                  <a:srgbClr val="BCBEC0"/>
                </a:solidFill>
                <a:latin typeface="Lucida Sans Typewriter"/>
                <a:cs typeface="Lucida Sans Typewriter"/>
              </a:rPr>
              <a:t>9</a:t>
            </a:r>
            <a:endParaRPr sz="800">
              <a:latin typeface="Lucida Sans Typewriter"/>
              <a:cs typeface="Lucida Sans Typewriter"/>
            </a:endParaRPr>
          </a:p>
          <a:p>
            <a:pPr marL="12700">
              <a:lnSpc>
                <a:spcPct val="100000"/>
              </a:lnSpc>
              <a:spcBef>
                <a:spcPts val="535"/>
              </a:spcBef>
              <a:tabLst>
                <a:tab pos="247650" algn="l"/>
              </a:tabLst>
            </a:pPr>
            <a:r>
              <a:rPr dirty="0" sz="800" spc="-20">
                <a:solidFill>
                  <a:srgbClr val="231F20"/>
                </a:solidFill>
                <a:latin typeface="Lucida Sans Typewriter"/>
                <a:cs typeface="Lucida Sans Typewriter"/>
              </a:rPr>
              <a:t>P	3</a:t>
            </a:r>
            <a:r>
              <a:rPr dirty="0" sz="800" spc="345">
                <a:solidFill>
                  <a:srgbClr val="231F20"/>
                </a:solidFill>
                <a:latin typeface="Lucida Sans Typewriter"/>
                <a:cs typeface="Lucida Sans Typewriter"/>
              </a:rPr>
              <a:t> </a:t>
            </a:r>
            <a:r>
              <a:rPr dirty="0" sz="800" spc="-20">
                <a:solidFill>
                  <a:srgbClr val="BCBEC0"/>
                </a:solidFill>
                <a:latin typeface="Lucida Sans Typewriter"/>
                <a:cs typeface="Lucida Sans Typewriter"/>
              </a:rPr>
              <a:t>10</a:t>
            </a:r>
            <a:endParaRPr sz="800">
              <a:latin typeface="Lucida Sans Typewriter"/>
              <a:cs typeface="Lucida Sans Typewriter"/>
            </a:endParaRPr>
          </a:p>
          <a:p>
            <a:pPr marL="12700">
              <a:lnSpc>
                <a:spcPct val="100000"/>
              </a:lnSpc>
              <a:spcBef>
                <a:spcPts val="535"/>
              </a:spcBef>
              <a:tabLst>
                <a:tab pos="247650" algn="l"/>
              </a:tabLst>
            </a:pPr>
            <a:r>
              <a:rPr dirty="0" sz="800" spc="-20">
                <a:solidFill>
                  <a:srgbClr val="231F20"/>
                </a:solidFill>
                <a:latin typeface="Lucida Sans Typewriter"/>
                <a:cs typeface="Lucida Sans Typewriter"/>
              </a:rPr>
              <a:t>L	3</a:t>
            </a:r>
            <a:r>
              <a:rPr dirty="0" sz="800" spc="345">
                <a:solidFill>
                  <a:srgbClr val="231F20"/>
                </a:solidFill>
                <a:latin typeface="Lucida Sans Typewriter"/>
                <a:cs typeface="Lucida Sans Typewriter"/>
              </a:rPr>
              <a:t> </a:t>
            </a:r>
            <a:r>
              <a:rPr dirty="0" sz="800" spc="-20">
                <a:solidFill>
                  <a:srgbClr val="BCBEC0"/>
                </a:solidFill>
                <a:latin typeface="Lucida Sans Typewriter"/>
                <a:cs typeface="Lucida Sans Typewriter"/>
              </a:rPr>
              <a:t>11</a:t>
            </a:r>
            <a:endParaRPr sz="800">
              <a:latin typeface="Lucida Sans Typewriter"/>
              <a:cs typeface="Lucida Sans Typewriter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  <a:tabLst>
                <a:tab pos="247650" algn="l"/>
              </a:tabLst>
            </a:pPr>
            <a:r>
              <a:rPr dirty="0" sz="800" spc="-20">
                <a:solidFill>
                  <a:srgbClr val="231F20"/>
                </a:solidFill>
                <a:latin typeface="Lucida Sans Typewriter"/>
                <a:cs typeface="Lucida Sans Typewriter"/>
              </a:rPr>
              <a:t>E	0</a:t>
            </a:r>
            <a:r>
              <a:rPr dirty="0" sz="800" spc="345">
                <a:solidFill>
                  <a:srgbClr val="231F20"/>
                </a:solidFill>
                <a:latin typeface="Lucida Sans Typewriter"/>
                <a:cs typeface="Lucida Sans Typewriter"/>
              </a:rPr>
              <a:t> </a:t>
            </a:r>
            <a:r>
              <a:rPr dirty="0" sz="800" spc="-20">
                <a:solidFill>
                  <a:srgbClr val="BCBEC0"/>
                </a:solidFill>
                <a:latin typeface="Lucida Sans Typewriter"/>
                <a:cs typeface="Lucida Sans Typewriter"/>
              </a:rPr>
              <a:t>12</a:t>
            </a:r>
            <a:endParaRPr sz="800">
              <a:latin typeface="Lucida Sans Typewriter"/>
              <a:cs typeface="Lucida Sans Typewriter"/>
            </a:endParaRPr>
          </a:p>
        </p:txBody>
      </p:sp>
      <p:sp>
        <p:nvSpPr>
          <p:cNvPr id="91" name="object 91"/>
          <p:cNvSpPr txBox="1"/>
          <p:nvPr/>
        </p:nvSpPr>
        <p:spPr>
          <a:xfrm>
            <a:off x="3421474" y="2727711"/>
            <a:ext cx="181610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10" i="1">
                <a:solidFill>
                  <a:srgbClr val="BF311A"/>
                </a:solidFill>
                <a:latin typeface="Candara"/>
                <a:cs typeface="Candara"/>
              </a:rPr>
              <a:t>n</a:t>
            </a:r>
            <a:r>
              <a:rPr dirty="0" sz="800" spc="5" i="1">
                <a:solidFill>
                  <a:srgbClr val="BF311A"/>
                </a:solidFill>
                <a:latin typeface="Candara"/>
                <a:cs typeface="Candara"/>
              </a:rPr>
              <a:t>ul</a:t>
            </a:r>
            <a:r>
              <a:rPr dirty="0" sz="800" spc="10" i="1">
                <a:solidFill>
                  <a:srgbClr val="BF311A"/>
                </a:solidFill>
                <a:latin typeface="Candara"/>
                <a:cs typeface="Candara"/>
              </a:rPr>
              <a:t>l</a:t>
            </a:r>
            <a:endParaRPr sz="800">
              <a:latin typeface="Candara"/>
              <a:cs typeface="Candara"/>
            </a:endParaRPr>
          </a:p>
        </p:txBody>
      </p:sp>
      <p:sp>
        <p:nvSpPr>
          <p:cNvPr id="92" name="object 92"/>
          <p:cNvSpPr txBox="1"/>
          <p:nvPr/>
        </p:nvSpPr>
        <p:spPr>
          <a:xfrm>
            <a:off x="746455" y="1456622"/>
            <a:ext cx="2873375" cy="63754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dirty="0" baseline="-10510" sz="2775" spc="22">
                <a:latin typeface="Microsoft JhengHei"/>
                <a:cs typeface="Microsoft JhengHei"/>
              </a:rPr>
              <a:t>・</a:t>
            </a:r>
            <a:r>
              <a:rPr dirty="0" sz="1100" spc="5">
                <a:latin typeface="Lucida Sans"/>
                <a:cs typeface="Lucida Sans"/>
              </a:rPr>
              <a:t>Search:</a:t>
            </a:r>
            <a:r>
              <a:rPr dirty="0" sz="1100" spc="345">
                <a:latin typeface="Lucida Sans"/>
                <a:cs typeface="Lucida Sans"/>
              </a:rPr>
              <a:t> </a:t>
            </a:r>
            <a:r>
              <a:rPr dirty="0" sz="1100" spc="10">
                <a:latin typeface="Lucida Sans"/>
                <a:cs typeface="Lucida Sans"/>
              </a:rPr>
              <a:t>need</a:t>
            </a:r>
            <a:r>
              <a:rPr dirty="0" sz="1100">
                <a:latin typeface="Lucida Sans"/>
                <a:cs typeface="Lucida Sans"/>
              </a:rPr>
              <a:t> </a:t>
            </a:r>
            <a:r>
              <a:rPr dirty="0" sz="1100" spc="5">
                <a:latin typeface="Lucida Sans"/>
                <a:cs typeface="Lucida Sans"/>
              </a:rPr>
              <a:t>to</a:t>
            </a:r>
            <a:r>
              <a:rPr dirty="0" sz="1100">
                <a:latin typeface="Lucida Sans"/>
                <a:cs typeface="Lucida Sans"/>
              </a:rPr>
              <a:t> </a:t>
            </a:r>
            <a:r>
              <a:rPr dirty="0" sz="1100" spc="5">
                <a:latin typeface="Lucida Sans"/>
                <a:cs typeface="Lucida Sans"/>
              </a:rPr>
              <a:t>search</a:t>
            </a:r>
            <a:r>
              <a:rPr dirty="0" sz="1100" spc="-5">
                <a:latin typeface="Lucida Sans"/>
                <a:cs typeface="Lucida Sans"/>
              </a:rPr>
              <a:t> </a:t>
            </a:r>
            <a:r>
              <a:rPr dirty="0" sz="1100" spc="20">
                <a:latin typeface="Lucida Sans"/>
                <a:cs typeface="Lucida Sans"/>
              </a:rPr>
              <a:t>only</a:t>
            </a:r>
            <a:r>
              <a:rPr dirty="0" sz="1100">
                <a:latin typeface="Lucida Sans"/>
                <a:cs typeface="Lucida Sans"/>
              </a:rPr>
              <a:t> </a:t>
            </a:r>
            <a:r>
              <a:rPr dirty="0" sz="1100" i="1">
                <a:latin typeface="Times New Roman"/>
                <a:cs typeface="Times New Roman"/>
              </a:rPr>
              <a:t>i</a:t>
            </a:r>
            <a:r>
              <a:rPr dirty="0" baseline="22222" sz="1125">
                <a:latin typeface="Times New Roman"/>
                <a:cs typeface="Times New Roman"/>
              </a:rPr>
              <a:t>th</a:t>
            </a:r>
            <a:r>
              <a:rPr dirty="0" baseline="22222" sz="1125" spc="240">
                <a:latin typeface="Times New Roman"/>
                <a:cs typeface="Times New Roman"/>
              </a:rPr>
              <a:t> </a:t>
            </a:r>
            <a:r>
              <a:rPr dirty="0" sz="1100" spc="10">
                <a:latin typeface="Lucida Sans"/>
                <a:cs typeface="Lucida Sans"/>
              </a:rPr>
              <a:t>chain.</a:t>
            </a:r>
            <a:endParaRPr sz="1100">
              <a:latin typeface="Lucida Sans"/>
              <a:cs typeface="Lucida Sans"/>
            </a:endParaRPr>
          </a:p>
          <a:p>
            <a:pPr marL="908685">
              <a:lnSpc>
                <a:spcPct val="100000"/>
              </a:lnSpc>
              <a:spcBef>
                <a:spcPts val="1745"/>
              </a:spcBef>
            </a:pPr>
            <a:r>
              <a:rPr dirty="0" baseline="3968" sz="1050" spc="15" b="1">
                <a:solidFill>
                  <a:srgbClr val="BF311A"/>
                </a:solidFill>
                <a:latin typeface="Calibri"/>
                <a:cs typeface="Calibri"/>
              </a:rPr>
              <a:t>key </a:t>
            </a:r>
            <a:r>
              <a:rPr dirty="0" baseline="3968" sz="1050" spc="172" b="1">
                <a:solidFill>
                  <a:srgbClr val="BF311A"/>
                </a:solidFill>
                <a:latin typeface="Calibri"/>
                <a:cs typeface="Calibri"/>
              </a:rPr>
              <a:t> </a:t>
            </a:r>
            <a:r>
              <a:rPr dirty="0" sz="700" spc="15" b="1">
                <a:solidFill>
                  <a:srgbClr val="BF311A"/>
                </a:solidFill>
                <a:latin typeface="Calibri"/>
                <a:cs typeface="Calibri"/>
              </a:rPr>
              <a:t>hash </a:t>
            </a:r>
            <a:r>
              <a:rPr dirty="0" sz="700" spc="114" b="1">
                <a:solidFill>
                  <a:srgbClr val="BF311A"/>
                </a:solidFill>
                <a:latin typeface="Calibri"/>
                <a:cs typeface="Calibri"/>
              </a:rPr>
              <a:t> </a:t>
            </a:r>
            <a:r>
              <a:rPr dirty="0" sz="700" spc="10" b="1">
                <a:solidFill>
                  <a:srgbClr val="BBBDC0"/>
                </a:solidFill>
                <a:latin typeface="Calibri"/>
                <a:cs typeface="Calibri"/>
              </a:rPr>
              <a:t>value</a:t>
            </a:r>
            <a:endParaRPr sz="700">
              <a:latin typeface="Calibri"/>
              <a:cs typeface="Calibri"/>
            </a:endParaRPr>
          </a:p>
        </p:txBody>
      </p:sp>
      <p:grpSp>
        <p:nvGrpSpPr>
          <p:cNvPr id="93" name="object 93"/>
          <p:cNvGrpSpPr/>
          <p:nvPr/>
        </p:nvGrpSpPr>
        <p:grpSpPr>
          <a:xfrm>
            <a:off x="6592379" y="237122"/>
            <a:ext cx="6066790" cy="4549775"/>
            <a:chOff x="6592379" y="237122"/>
            <a:chExt cx="6066790" cy="4549775"/>
          </a:xfrm>
        </p:grpSpPr>
        <p:sp>
          <p:nvSpPr>
            <p:cNvPr id="94" name="object 94"/>
            <p:cNvSpPr/>
            <p:nvPr/>
          </p:nvSpPr>
          <p:spPr>
            <a:xfrm>
              <a:off x="6592379" y="237122"/>
              <a:ext cx="6066790" cy="4549775"/>
            </a:xfrm>
            <a:custGeom>
              <a:avLst/>
              <a:gdLst/>
              <a:ahLst/>
              <a:cxnLst/>
              <a:rect l="l" t="t" r="r" b="b"/>
              <a:pathLst>
                <a:path w="6066790" h="4549775">
                  <a:moveTo>
                    <a:pt x="0" y="0"/>
                  </a:moveTo>
                  <a:lnTo>
                    <a:pt x="6066212" y="0"/>
                  </a:lnTo>
                  <a:lnTo>
                    <a:pt x="6066212" y="4549659"/>
                  </a:lnTo>
                  <a:lnTo>
                    <a:pt x="0" y="45496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5" name="object 95"/>
            <p:cNvSpPr/>
            <p:nvPr/>
          </p:nvSpPr>
          <p:spPr>
            <a:xfrm>
              <a:off x="6977442" y="699147"/>
              <a:ext cx="5302250" cy="635"/>
            </a:xfrm>
            <a:custGeom>
              <a:avLst/>
              <a:gdLst/>
              <a:ahLst/>
              <a:cxnLst/>
              <a:rect l="l" t="t" r="r" b="b"/>
              <a:pathLst>
                <a:path w="5302250" h="634">
                  <a:moveTo>
                    <a:pt x="0" y="49"/>
                  </a:moveTo>
                  <a:lnTo>
                    <a:pt x="5302012" y="0"/>
                  </a:lnTo>
                </a:path>
              </a:pathLst>
            </a:custGeom>
            <a:ln w="59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6" name="object 9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83366" y="894690"/>
              <a:ext cx="4336394" cy="3791382"/>
            </a:xfrm>
            <a:prstGeom prst="rect">
              <a:avLst/>
            </a:prstGeom>
          </p:spPr>
        </p:pic>
        <p:sp>
          <p:nvSpPr>
            <p:cNvPr id="97" name="object 97"/>
            <p:cNvSpPr/>
            <p:nvPr/>
          </p:nvSpPr>
          <p:spPr>
            <a:xfrm>
              <a:off x="7018910" y="930234"/>
              <a:ext cx="4218305" cy="3673475"/>
            </a:xfrm>
            <a:custGeom>
              <a:avLst/>
              <a:gdLst/>
              <a:ahLst/>
              <a:cxnLst/>
              <a:rect l="l" t="t" r="r" b="b"/>
              <a:pathLst>
                <a:path w="4218305" h="3673475">
                  <a:moveTo>
                    <a:pt x="0" y="0"/>
                  </a:moveTo>
                  <a:lnTo>
                    <a:pt x="4217913" y="0"/>
                  </a:lnTo>
                  <a:lnTo>
                    <a:pt x="4217913" y="3672902"/>
                  </a:lnTo>
                  <a:lnTo>
                    <a:pt x="0" y="36729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BCBC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8" name="object 98"/>
          <p:cNvSpPr txBox="1"/>
          <p:nvPr/>
        </p:nvSpPr>
        <p:spPr>
          <a:xfrm>
            <a:off x="7117064" y="974406"/>
            <a:ext cx="3608070" cy="606425"/>
          </a:xfrm>
          <a:prstGeom prst="rect">
            <a:avLst/>
          </a:prstGeom>
        </p:spPr>
        <p:txBody>
          <a:bodyPr wrap="square" lIns="0" tIns="3175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250"/>
              </a:spcBef>
            </a:pPr>
            <a:r>
              <a:rPr dirty="0" sz="800" spc="20">
                <a:latin typeface="Lucida Sans Typewriter"/>
                <a:cs typeface="Lucida Sans Typewriter"/>
              </a:rPr>
              <a:t>public</a:t>
            </a:r>
            <a:r>
              <a:rPr dirty="0" sz="800" spc="30"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class</a:t>
            </a:r>
            <a:r>
              <a:rPr dirty="0" sz="800" spc="35"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SeparateChainingHashST&lt;Key,</a:t>
            </a:r>
            <a:r>
              <a:rPr dirty="0" sz="800" spc="35"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Value&gt;</a:t>
            </a:r>
            <a:endParaRPr sz="800">
              <a:latin typeface="Lucida Sans Typewriter"/>
              <a:cs typeface="Lucida Sans Typewriter"/>
            </a:endParaRPr>
          </a:p>
          <a:p>
            <a:pPr>
              <a:lnSpc>
                <a:spcPct val="100000"/>
              </a:lnSpc>
              <a:spcBef>
                <a:spcPts val="160"/>
              </a:spcBef>
            </a:pPr>
            <a:r>
              <a:rPr dirty="0" sz="800" spc="20">
                <a:latin typeface="Lucida Sans Typewriter"/>
                <a:cs typeface="Lucida Sans Typewriter"/>
              </a:rPr>
              <a:t>{</a:t>
            </a:r>
            <a:endParaRPr sz="800">
              <a:latin typeface="Lucida Sans Typewriter"/>
              <a:cs typeface="Lucida Sans Typewriter"/>
            </a:endParaRPr>
          </a:p>
          <a:p>
            <a:pPr marL="192405" marR="5080">
              <a:lnSpc>
                <a:spcPct val="121500"/>
              </a:lnSpc>
              <a:tabLst>
                <a:tab pos="2374900" algn="l"/>
              </a:tabLst>
            </a:pPr>
            <a:r>
              <a:rPr dirty="0" sz="800" spc="20">
                <a:latin typeface="Lucida Sans Typewriter"/>
                <a:cs typeface="Lucida Sans Typewriter"/>
              </a:rPr>
              <a:t>private</a:t>
            </a:r>
            <a:r>
              <a:rPr dirty="0" sz="800" spc="30"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int</a:t>
            </a:r>
            <a:r>
              <a:rPr dirty="0" sz="800" spc="30"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M</a:t>
            </a:r>
            <a:r>
              <a:rPr dirty="0" sz="800" spc="30"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=</a:t>
            </a:r>
            <a:r>
              <a:rPr dirty="0" sz="800" spc="30"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97;	</a:t>
            </a:r>
            <a:r>
              <a:rPr dirty="0" sz="800" spc="20">
                <a:solidFill>
                  <a:srgbClr val="606060"/>
                </a:solidFill>
                <a:latin typeface="Lucida Sans Typewriter"/>
                <a:cs typeface="Lucida Sans Typewriter"/>
              </a:rPr>
              <a:t>//</a:t>
            </a:r>
            <a:r>
              <a:rPr dirty="0" sz="800" spc="5">
                <a:solidFill>
                  <a:srgbClr val="606060"/>
                </a:solidFill>
                <a:latin typeface="Lucida Sans Typewriter"/>
                <a:cs typeface="Lucida Sans Typewriter"/>
              </a:rPr>
              <a:t> </a:t>
            </a:r>
            <a:r>
              <a:rPr dirty="0" sz="800" spc="20">
                <a:solidFill>
                  <a:srgbClr val="606060"/>
                </a:solidFill>
                <a:latin typeface="Lucida Sans Typewriter"/>
                <a:cs typeface="Lucida Sans Typewriter"/>
              </a:rPr>
              <a:t>number</a:t>
            </a:r>
            <a:r>
              <a:rPr dirty="0" sz="800" spc="5">
                <a:solidFill>
                  <a:srgbClr val="606060"/>
                </a:solidFill>
                <a:latin typeface="Lucida Sans Typewriter"/>
                <a:cs typeface="Lucida Sans Typewriter"/>
              </a:rPr>
              <a:t> </a:t>
            </a:r>
            <a:r>
              <a:rPr dirty="0" sz="800" spc="20">
                <a:solidFill>
                  <a:srgbClr val="606060"/>
                </a:solidFill>
                <a:latin typeface="Lucida Sans Typewriter"/>
                <a:cs typeface="Lucida Sans Typewriter"/>
              </a:rPr>
              <a:t>of</a:t>
            </a:r>
            <a:r>
              <a:rPr dirty="0" sz="800" spc="5">
                <a:solidFill>
                  <a:srgbClr val="606060"/>
                </a:solidFill>
                <a:latin typeface="Lucida Sans Typewriter"/>
                <a:cs typeface="Lucida Sans Typewriter"/>
              </a:rPr>
              <a:t> </a:t>
            </a:r>
            <a:r>
              <a:rPr dirty="0" sz="800" spc="20">
                <a:solidFill>
                  <a:srgbClr val="606060"/>
                </a:solidFill>
                <a:latin typeface="Lucida Sans Typewriter"/>
                <a:cs typeface="Lucida Sans Typewriter"/>
              </a:rPr>
              <a:t>chains </a:t>
            </a:r>
            <a:r>
              <a:rPr dirty="0" sz="800" spc="-465">
                <a:solidFill>
                  <a:srgbClr val="606060"/>
                </a:solidFill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private</a:t>
            </a:r>
            <a:r>
              <a:rPr dirty="0" sz="800" spc="35"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Node[]</a:t>
            </a:r>
            <a:r>
              <a:rPr dirty="0" sz="800" spc="35"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st</a:t>
            </a:r>
            <a:r>
              <a:rPr dirty="0" sz="800" spc="35"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=</a:t>
            </a:r>
            <a:r>
              <a:rPr dirty="0" sz="800" spc="35"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new</a:t>
            </a:r>
            <a:r>
              <a:rPr dirty="0" sz="800" spc="35"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Node[M];	</a:t>
            </a:r>
            <a:r>
              <a:rPr dirty="0" sz="800" spc="20">
                <a:solidFill>
                  <a:srgbClr val="606060"/>
                </a:solidFill>
                <a:latin typeface="Lucida Sans Typewriter"/>
                <a:cs typeface="Lucida Sans Typewriter"/>
              </a:rPr>
              <a:t>//</a:t>
            </a:r>
            <a:r>
              <a:rPr dirty="0" sz="800" spc="10">
                <a:solidFill>
                  <a:srgbClr val="606060"/>
                </a:solidFill>
                <a:latin typeface="Lucida Sans Typewriter"/>
                <a:cs typeface="Lucida Sans Typewriter"/>
              </a:rPr>
              <a:t> </a:t>
            </a:r>
            <a:r>
              <a:rPr dirty="0" sz="800" spc="20">
                <a:solidFill>
                  <a:srgbClr val="606060"/>
                </a:solidFill>
                <a:latin typeface="Lucida Sans Typewriter"/>
                <a:cs typeface="Lucida Sans Typewriter"/>
              </a:rPr>
              <a:t>array</a:t>
            </a:r>
            <a:r>
              <a:rPr dirty="0" sz="800" spc="5">
                <a:solidFill>
                  <a:srgbClr val="606060"/>
                </a:solidFill>
                <a:latin typeface="Lucida Sans Typewriter"/>
                <a:cs typeface="Lucida Sans Typewriter"/>
              </a:rPr>
              <a:t> </a:t>
            </a:r>
            <a:r>
              <a:rPr dirty="0" sz="800" spc="20">
                <a:solidFill>
                  <a:srgbClr val="606060"/>
                </a:solidFill>
                <a:latin typeface="Lucida Sans Typewriter"/>
                <a:cs typeface="Lucida Sans Typewriter"/>
              </a:rPr>
              <a:t>of</a:t>
            </a:r>
            <a:r>
              <a:rPr dirty="0" sz="800" spc="10">
                <a:solidFill>
                  <a:srgbClr val="606060"/>
                </a:solidFill>
                <a:latin typeface="Lucida Sans Typewriter"/>
                <a:cs typeface="Lucida Sans Typewriter"/>
              </a:rPr>
              <a:t> </a:t>
            </a:r>
            <a:r>
              <a:rPr dirty="0" sz="800" spc="20">
                <a:solidFill>
                  <a:srgbClr val="606060"/>
                </a:solidFill>
                <a:latin typeface="Lucida Sans Typewriter"/>
                <a:cs typeface="Lucida Sans Typewriter"/>
              </a:rPr>
              <a:t>chains</a:t>
            </a:r>
            <a:endParaRPr sz="800">
              <a:latin typeface="Lucida Sans Typewriter"/>
              <a:cs typeface="Lucida Sans Typewriter"/>
            </a:endParaRPr>
          </a:p>
        </p:txBody>
      </p:sp>
      <p:sp>
        <p:nvSpPr>
          <p:cNvPr id="99" name="object 99"/>
          <p:cNvSpPr txBox="1"/>
          <p:nvPr/>
        </p:nvSpPr>
        <p:spPr>
          <a:xfrm>
            <a:off x="7309642" y="1708985"/>
            <a:ext cx="1617980" cy="1044575"/>
          </a:xfrm>
          <a:prstGeom prst="rect">
            <a:avLst/>
          </a:prstGeom>
        </p:spPr>
        <p:txBody>
          <a:bodyPr wrap="square" lIns="0" tIns="3175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250"/>
              </a:spcBef>
            </a:pPr>
            <a:r>
              <a:rPr dirty="0" sz="800" spc="20">
                <a:latin typeface="Lucida Sans Typewriter"/>
                <a:cs typeface="Lucida Sans Typewriter"/>
              </a:rPr>
              <a:t>private</a:t>
            </a:r>
            <a:r>
              <a:rPr dirty="0" sz="800" spc="10"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static</a:t>
            </a:r>
            <a:r>
              <a:rPr dirty="0" sz="800" spc="10"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class</a:t>
            </a:r>
            <a:r>
              <a:rPr dirty="0" sz="800" spc="15"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Node</a:t>
            </a:r>
            <a:endParaRPr sz="800">
              <a:latin typeface="Lucida Sans Typewriter"/>
              <a:cs typeface="Lucida Sans Typewriter"/>
            </a:endParaRPr>
          </a:p>
          <a:p>
            <a:pPr>
              <a:lnSpc>
                <a:spcPct val="100000"/>
              </a:lnSpc>
              <a:spcBef>
                <a:spcPts val="160"/>
              </a:spcBef>
            </a:pPr>
            <a:r>
              <a:rPr dirty="0" sz="800" spc="20">
                <a:latin typeface="Lucida Sans Typewriter"/>
                <a:cs typeface="Lucida Sans Typewriter"/>
              </a:rPr>
              <a:t>{</a:t>
            </a:r>
            <a:endParaRPr sz="800">
              <a:latin typeface="Lucida Sans Typewriter"/>
              <a:cs typeface="Lucida Sans Typewriter"/>
            </a:endParaRPr>
          </a:p>
          <a:p>
            <a:pPr algn="just" marL="192405" marR="197485">
              <a:lnSpc>
                <a:spcPct val="121500"/>
              </a:lnSpc>
            </a:pPr>
            <a:r>
              <a:rPr dirty="0" sz="800" spc="20">
                <a:latin typeface="Lucida Sans Typewriter"/>
                <a:cs typeface="Lucida Sans Typewriter"/>
              </a:rPr>
              <a:t>private</a:t>
            </a:r>
            <a:r>
              <a:rPr dirty="0" sz="800" spc="-5"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Object</a:t>
            </a:r>
            <a:r>
              <a:rPr dirty="0" sz="800"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key; </a:t>
            </a:r>
            <a:r>
              <a:rPr dirty="0" sz="800" spc="-470"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private</a:t>
            </a:r>
            <a:r>
              <a:rPr dirty="0" sz="800" spc="-5"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Object</a:t>
            </a:r>
            <a:r>
              <a:rPr dirty="0" sz="800"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val; </a:t>
            </a:r>
            <a:r>
              <a:rPr dirty="0" sz="800" spc="-470"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private</a:t>
            </a:r>
            <a:r>
              <a:rPr dirty="0" sz="800" spc="5"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Node</a:t>
            </a:r>
            <a:r>
              <a:rPr dirty="0" sz="800" spc="5"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next;</a:t>
            </a:r>
            <a:endParaRPr sz="800">
              <a:latin typeface="Lucida Sans Typewriter"/>
              <a:cs typeface="Lucida Sans Typewriter"/>
            </a:endParaRPr>
          </a:p>
          <a:p>
            <a:pPr marL="192405">
              <a:lnSpc>
                <a:spcPct val="100000"/>
              </a:lnSpc>
              <a:spcBef>
                <a:spcPts val="204"/>
              </a:spcBef>
            </a:pPr>
            <a:r>
              <a:rPr dirty="0" sz="800" spc="20">
                <a:latin typeface="Lucida Sans Typewriter"/>
                <a:cs typeface="Lucida Sans Typewriter"/>
              </a:rPr>
              <a:t>...</a:t>
            </a:r>
            <a:endParaRPr sz="800">
              <a:latin typeface="Lucida Sans Typewriter"/>
              <a:cs typeface="Lucida Sans Typewriter"/>
            </a:endParaRPr>
          </a:p>
          <a:p>
            <a:pPr>
              <a:lnSpc>
                <a:spcPct val="100000"/>
              </a:lnSpc>
              <a:spcBef>
                <a:spcPts val="160"/>
              </a:spcBef>
            </a:pPr>
            <a:r>
              <a:rPr dirty="0" sz="800" spc="20">
                <a:latin typeface="Lucida Sans Typewriter"/>
                <a:cs typeface="Lucida Sans Typewriter"/>
              </a:rPr>
              <a:t>}</a:t>
            </a:r>
            <a:endParaRPr sz="800">
              <a:latin typeface="Lucida Sans Typewriter"/>
              <a:cs typeface="Lucida Sans Typewriter"/>
            </a:endParaRPr>
          </a:p>
        </p:txBody>
      </p:sp>
      <p:sp>
        <p:nvSpPr>
          <p:cNvPr id="100" name="object 100"/>
          <p:cNvSpPr txBox="1"/>
          <p:nvPr/>
        </p:nvSpPr>
        <p:spPr>
          <a:xfrm>
            <a:off x="7309642" y="2876021"/>
            <a:ext cx="3030220" cy="321945"/>
          </a:xfrm>
          <a:prstGeom prst="rect">
            <a:avLst/>
          </a:prstGeom>
        </p:spPr>
        <p:txBody>
          <a:bodyPr wrap="square" lIns="0" tIns="374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295"/>
              </a:spcBef>
            </a:pPr>
            <a:r>
              <a:rPr dirty="0" sz="800" spc="20">
                <a:solidFill>
                  <a:srgbClr val="606060"/>
                </a:solidFill>
                <a:latin typeface="Lucida Sans Typewriter"/>
                <a:cs typeface="Lucida Sans Typewriter"/>
              </a:rPr>
              <a:t>private</a:t>
            </a:r>
            <a:r>
              <a:rPr dirty="0" sz="800" spc="10">
                <a:solidFill>
                  <a:srgbClr val="606060"/>
                </a:solidFill>
                <a:latin typeface="Lucida Sans Typewriter"/>
                <a:cs typeface="Lucida Sans Typewriter"/>
              </a:rPr>
              <a:t> </a:t>
            </a:r>
            <a:r>
              <a:rPr dirty="0" sz="800" spc="20">
                <a:solidFill>
                  <a:srgbClr val="606060"/>
                </a:solidFill>
                <a:latin typeface="Lucida Sans Typewriter"/>
                <a:cs typeface="Lucida Sans Typewriter"/>
              </a:rPr>
              <a:t>int</a:t>
            </a:r>
            <a:r>
              <a:rPr dirty="0" sz="800" spc="15">
                <a:solidFill>
                  <a:srgbClr val="606060"/>
                </a:solidFill>
                <a:latin typeface="Lucida Sans Typewriter"/>
                <a:cs typeface="Lucida Sans Typewriter"/>
              </a:rPr>
              <a:t> </a:t>
            </a:r>
            <a:r>
              <a:rPr dirty="0" sz="800" spc="20">
                <a:solidFill>
                  <a:srgbClr val="606060"/>
                </a:solidFill>
                <a:latin typeface="Lucida Sans Typewriter"/>
                <a:cs typeface="Lucida Sans Typewriter"/>
              </a:rPr>
              <a:t>hash(Key</a:t>
            </a:r>
            <a:r>
              <a:rPr dirty="0" sz="800" spc="10">
                <a:solidFill>
                  <a:srgbClr val="606060"/>
                </a:solidFill>
                <a:latin typeface="Lucida Sans Typewriter"/>
                <a:cs typeface="Lucida Sans Typewriter"/>
              </a:rPr>
              <a:t> </a:t>
            </a:r>
            <a:r>
              <a:rPr dirty="0" sz="800" spc="20">
                <a:solidFill>
                  <a:srgbClr val="606060"/>
                </a:solidFill>
                <a:latin typeface="Lucida Sans Typewriter"/>
                <a:cs typeface="Lucida Sans Typewriter"/>
              </a:rPr>
              <a:t>key)</a:t>
            </a:r>
            <a:endParaRPr sz="800">
              <a:latin typeface="Lucida Sans Typewriter"/>
              <a:cs typeface="Lucida Sans Typewriter"/>
            </a:endParaRPr>
          </a:p>
          <a:p>
            <a:pPr>
              <a:lnSpc>
                <a:spcPct val="100000"/>
              </a:lnSpc>
              <a:spcBef>
                <a:spcPts val="209"/>
              </a:spcBef>
              <a:tabLst>
                <a:tab pos="192405" algn="l"/>
                <a:tab pos="2952750" algn="l"/>
              </a:tabLst>
            </a:pPr>
            <a:r>
              <a:rPr dirty="0" sz="800" spc="20">
                <a:solidFill>
                  <a:srgbClr val="606060"/>
                </a:solidFill>
                <a:latin typeface="Lucida Sans Typewriter"/>
                <a:cs typeface="Lucida Sans Typewriter"/>
              </a:rPr>
              <a:t>{</a:t>
            </a:r>
            <a:r>
              <a:rPr dirty="0" sz="800" spc="20">
                <a:solidFill>
                  <a:srgbClr val="606060"/>
                </a:solidFill>
                <a:latin typeface="Lucida Sans Typewriter"/>
                <a:cs typeface="Lucida Sans Typewriter"/>
              </a:rPr>
              <a:t>	</a:t>
            </a:r>
            <a:r>
              <a:rPr dirty="0" sz="800" spc="20">
                <a:solidFill>
                  <a:srgbClr val="606060"/>
                </a:solidFill>
                <a:latin typeface="Lucida Sans Typewriter"/>
                <a:cs typeface="Lucida Sans Typewriter"/>
              </a:rPr>
              <a:t>return</a:t>
            </a:r>
            <a:r>
              <a:rPr dirty="0" sz="800" spc="20">
                <a:solidFill>
                  <a:srgbClr val="606060"/>
                </a:solidFill>
                <a:latin typeface="Lucida Sans Typewriter"/>
                <a:cs typeface="Lucida Sans Typewriter"/>
              </a:rPr>
              <a:t> </a:t>
            </a:r>
            <a:r>
              <a:rPr dirty="0" sz="800" spc="20">
                <a:solidFill>
                  <a:srgbClr val="606060"/>
                </a:solidFill>
                <a:latin typeface="Lucida Sans Typewriter"/>
                <a:cs typeface="Lucida Sans Typewriter"/>
              </a:rPr>
              <a:t>(key.hashCode()</a:t>
            </a:r>
            <a:r>
              <a:rPr dirty="0" sz="800" spc="20">
                <a:solidFill>
                  <a:srgbClr val="606060"/>
                </a:solidFill>
                <a:latin typeface="Lucida Sans Typewriter"/>
                <a:cs typeface="Lucida Sans Typewriter"/>
              </a:rPr>
              <a:t> </a:t>
            </a:r>
            <a:r>
              <a:rPr dirty="0" sz="800" spc="20">
                <a:solidFill>
                  <a:srgbClr val="606060"/>
                </a:solidFill>
                <a:latin typeface="Lucida Sans Typewriter"/>
                <a:cs typeface="Lucida Sans Typewriter"/>
              </a:rPr>
              <a:t>&amp;</a:t>
            </a:r>
            <a:r>
              <a:rPr dirty="0" sz="800" spc="20">
                <a:solidFill>
                  <a:srgbClr val="606060"/>
                </a:solidFill>
                <a:latin typeface="Lucida Sans Typewriter"/>
                <a:cs typeface="Lucida Sans Typewriter"/>
              </a:rPr>
              <a:t> </a:t>
            </a:r>
            <a:r>
              <a:rPr dirty="0" sz="800" spc="20">
                <a:solidFill>
                  <a:srgbClr val="606060"/>
                </a:solidFill>
                <a:latin typeface="Lucida Sans Typewriter"/>
                <a:cs typeface="Lucida Sans Typewriter"/>
              </a:rPr>
              <a:t>0x7fffffff)</a:t>
            </a:r>
            <a:r>
              <a:rPr dirty="0" sz="800" spc="20">
                <a:solidFill>
                  <a:srgbClr val="606060"/>
                </a:solidFill>
                <a:latin typeface="Lucida Sans Typewriter"/>
                <a:cs typeface="Lucida Sans Typewriter"/>
              </a:rPr>
              <a:t> </a:t>
            </a:r>
            <a:r>
              <a:rPr dirty="0" sz="800" spc="20">
                <a:solidFill>
                  <a:srgbClr val="606060"/>
                </a:solidFill>
                <a:latin typeface="Lucida Sans Typewriter"/>
                <a:cs typeface="Lucida Sans Typewriter"/>
              </a:rPr>
              <a:t>%</a:t>
            </a:r>
            <a:r>
              <a:rPr dirty="0" sz="800" spc="20">
                <a:solidFill>
                  <a:srgbClr val="606060"/>
                </a:solidFill>
                <a:latin typeface="Lucida Sans Typewriter"/>
                <a:cs typeface="Lucida Sans Typewriter"/>
              </a:rPr>
              <a:t> </a:t>
            </a:r>
            <a:r>
              <a:rPr dirty="0" sz="800" spc="20">
                <a:solidFill>
                  <a:srgbClr val="606060"/>
                </a:solidFill>
                <a:latin typeface="Lucida Sans Typewriter"/>
                <a:cs typeface="Lucida Sans Typewriter"/>
              </a:rPr>
              <a:t>M;</a:t>
            </a:r>
            <a:r>
              <a:rPr dirty="0" sz="800">
                <a:solidFill>
                  <a:srgbClr val="606060"/>
                </a:solidFill>
                <a:latin typeface="Lucida Sans Typewriter"/>
                <a:cs typeface="Lucida Sans Typewriter"/>
              </a:rPr>
              <a:t>	</a:t>
            </a:r>
            <a:r>
              <a:rPr dirty="0" sz="800" spc="20">
                <a:solidFill>
                  <a:srgbClr val="606060"/>
                </a:solidFill>
                <a:latin typeface="Lucida Sans Typewriter"/>
                <a:cs typeface="Lucida Sans Typewriter"/>
              </a:rPr>
              <a:t>}</a:t>
            </a:r>
            <a:endParaRPr sz="800">
              <a:latin typeface="Lucida Sans Typewriter"/>
              <a:cs typeface="Lucida Sans Typewriter"/>
            </a:endParaRPr>
          </a:p>
        </p:txBody>
      </p:sp>
      <p:sp>
        <p:nvSpPr>
          <p:cNvPr id="101" name="object 101"/>
          <p:cNvSpPr txBox="1"/>
          <p:nvPr/>
        </p:nvSpPr>
        <p:spPr>
          <a:xfrm>
            <a:off x="7113694" y="3332277"/>
            <a:ext cx="4028440" cy="876935"/>
          </a:xfrm>
          <a:prstGeom prst="rect">
            <a:avLst/>
          </a:prstGeom>
          <a:solidFill>
            <a:srgbClr val="FFFFFF"/>
          </a:solidFill>
        </p:spPr>
        <p:txBody>
          <a:bodyPr wrap="square" lIns="0" tIns="2540" rIns="0" bIns="0" rtlCol="0" vert="horz">
            <a:spAutoFit/>
          </a:bodyPr>
          <a:lstStyle/>
          <a:p>
            <a:pPr marL="387985" marR="2091055" indent="-193040">
              <a:lnSpc>
                <a:spcPts val="1170"/>
              </a:lnSpc>
              <a:spcBef>
                <a:spcPts val="20"/>
              </a:spcBef>
            </a:pPr>
            <a:r>
              <a:rPr dirty="0" sz="800" spc="20">
                <a:latin typeface="Lucida Sans Typewriter"/>
                <a:cs typeface="Lucida Sans Typewriter"/>
              </a:rPr>
              <a:t>public Value get(Key key) { </a:t>
            </a:r>
            <a:r>
              <a:rPr dirty="0" sz="800" spc="-470"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int</a:t>
            </a:r>
            <a:r>
              <a:rPr dirty="0" sz="800" spc="10"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i</a:t>
            </a:r>
            <a:r>
              <a:rPr dirty="0" sz="800" spc="15"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=</a:t>
            </a:r>
            <a:r>
              <a:rPr dirty="0" sz="800" spc="15"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hash(key);</a:t>
            </a:r>
            <a:endParaRPr sz="800">
              <a:latin typeface="Lucida Sans Typewriter"/>
              <a:cs typeface="Lucida Sans Typewriter"/>
            </a:endParaRPr>
          </a:p>
          <a:p>
            <a:pPr marL="387985">
              <a:lnSpc>
                <a:spcPct val="100000"/>
              </a:lnSpc>
              <a:spcBef>
                <a:spcPts val="130"/>
              </a:spcBef>
            </a:pPr>
            <a:r>
              <a:rPr dirty="0" sz="800" spc="20">
                <a:latin typeface="Lucida Sans Typewriter"/>
                <a:cs typeface="Lucida Sans Typewriter"/>
              </a:rPr>
              <a:t>for (Node x = st[i];</a:t>
            </a:r>
            <a:r>
              <a:rPr dirty="0" sz="800" spc="25"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x != null; x</a:t>
            </a:r>
            <a:r>
              <a:rPr dirty="0" sz="800" spc="25"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= x.next)</a:t>
            </a:r>
            <a:endParaRPr sz="800">
              <a:latin typeface="Lucida Sans Typewriter"/>
              <a:cs typeface="Lucida Sans Typewriter"/>
            </a:endParaRPr>
          </a:p>
          <a:p>
            <a:pPr marL="387985" marR="614680" indent="192405">
              <a:lnSpc>
                <a:spcPct val="121500"/>
              </a:lnSpc>
            </a:pPr>
            <a:r>
              <a:rPr dirty="0" sz="800" spc="20">
                <a:latin typeface="Lucida Sans Typewriter"/>
                <a:cs typeface="Lucida Sans Typewriter"/>
              </a:rPr>
              <a:t>if</a:t>
            </a:r>
            <a:r>
              <a:rPr dirty="0" sz="800" spc="25"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(key.equals(x.key))</a:t>
            </a:r>
            <a:r>
              <a:rPr dirty="0" sz="800" spc="30"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return</a:t>
            </a:r>
            <a:r>
              <a:rPr dirty="0" sz="800" spc="30">
                <a:latin typeface="Lucida Sans Typewriter"/>
                <a:cs typeface="Lucida Sans Typewriter"/>
              </a:rPr>
              <a:t> </a:t>
            </a:r>
            <a:r>
              <a:rPr dirty="0" sz="800" spc="20">
                <a:solidFill>
                  <a:srgbClr val="8D3124"/>
                </a:solidFill>
                <a:latin typeface="Lucida Sans Typewriter"/>
                <a:cs typeface="Lucida Sans Typewriter"/>
              </a:rPr>
              <a:t>(Value)</a:t>
            </a:r>
            <a:r>
              <a:rPr dirty="0" sz="800" spc="30">
                <a:solidFill>
                  <a:srgbClr val="8D3124"/>
                </a:solidFill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x.val; </a:t>
            </a:r>
            <a:r>
              <a:rPr dirty="0" sz="800" spc="-470"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return</a:t>
            </a:r>
            <a:r>
              <a:rPr dirty="0" sz="800" spc="15"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null;</a:t>
            </a:r>
            <a:endParaRPr sz="800">
              <a:latin typeface="Lucida Sans Typewriter"/>
              <a:cs typeface="Lucida Sans Typewriter"/>
            </a:endParaRPr>
          </a:p>
          <a:p>
            <a:pPr marL="195580">
              <a:lnSpc>
                <a:spcPct val="100000"/>
              </a:lnSpc>
              <a:spcBef>
                <a:spcPts val="160"/>
              </a:spcBef>
            </a:pPr>
            <a:r>
              <a:rPr dirty="0" sz="800" spc="20">
                <a:latin typeface="Lucida Sans Typewriter"/>
                <a:cs typeface="Lucida Sans Typewriter"/>
              </a:rPr>
              <a:t>}</a:t>
            </a:r>
            <a:endParaRPr sz="800">
              <a:latin typeface="Lucida Sans Typewriter"/>
              <a:cs typeface="Lucida Sans Typewriter"/>
            </a:endParaRPr>
          </a:p>
        </p:txBody>
      </p:sp>
      <p:sp>
        <p:nvSpPr>
          <p:cNvPr id="102" name="object 102"/>
          <p:cNvSpPr txBox="1"/>
          <p:nvPr/>
        </p:nvSpPr>
        <p:spPr>
          <a:xfrm>
            <a:off x="7117064" y="4365323"/>
            <a:ext cx="77470" cy="15367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40"/>
              </a:spcBef>
            </a:pPr>
            <a:r>
              <a:rPr dirty="0" sz="800" spc="20">
                <a:latin typeface="Lucida Sans Typewriter"/>
                <a:cs typeface="Lucida Sans Typewriter"/>
              </a:rPr>
              <a:t>}</a:t>
            </a:r>
            <a:endParaRPr sz="800">
              <a:latin typeface="Lucida Sans Typewriter"/>
              <a:cs typeface="Lucida Sans Typewriter"/>
            </a:endParaRPr>
          </a:p>
        </p:txBody>
      </p:sp>
      <p:sp>
        <p:nvSpPr>
          <p:cNvPr id="103" name="object 103"/>
          <p:cNvSpPr txBox="1"/>
          <p:nvPr/>
        </p:nvSpPr>
        <p:spPr>
          <a:xfrm>
            <a:off x="6998899" y="396219"/>
            <a:ext cx="4081779" cy="2247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dirty="0" sz="1300" spc="5">
                <a:latin typeface="Arial"/>
                <a:cs typeface="Arial"/>
              </a:rPr>
              <a:t>Separate-chaining</a:t>
            </a:r>
            <a:r>
              <a:rPr dirty="0" sz="1300" spc="50">
                <a:latin typeface="Arial"/>
                <a:cs typeface="Arial"/>
              </a:rPr>
              <a:t> </a:t>
            </a:r>
            <a:r>
              <a:rPr dirty="0" sz="1300" spc="5">
                <a:latin typeface="Arial"/>
                <a:cs typeface="Arial"/>
              </a:rPr>
              <a:t>symbol</a:t>
            </a:r>
            <a:r>
              <a:rPr dirty="0" sz="1300" spc="50">
                <a:latin typeface="Arial"/>
                <a:cs typeface="Arial"/>
              </a:rPr>
              <a:t> </a:t>
            </a:r>
            <a:r>
              <a:rPr dirty="0" sz="1300" spc="30">
                <a:latin typeface="Arial"/>
                <a:cs typeface="Arial"/>
              </a:rPr>
              <a:t>table: </a:t>
            </a:r>
            <a:r>
              <a:rPr dirty="0" sz="1300" spc="75">
                <a:latin typeface="Arial"/>
                <a:cs typeface="Arial"/>
              </a:rPr>
              <a:t> </a:t>
            </a:r>
            <a:r>
              <a:rPr dirty="0" sz="1300" spc="-5">
                <a:latin typeface="Arial"/>
                <a:cs typeface="Arial"/>
              </a:rPr>
              <a:t>Java</a:t>
            </a:r>
            <a:r>
              <a:rPr dirty="0" sz="1300" spc="55">
                <a:latin typeface="Arial"/>
                <a:cs typeface="Arial"/>
              </a:rPr>
              <a:t> </a:t>
            </a:r>
            <a:r>
              <a:rPr dirty="0" sz="1300" spc="10">
                <a:latin typeface="Arial"/>
                <a:cs typeface="Arial"/>
              </a:rPr>
              <a:t>implementation</a:t>
            </a:r>
            <a:endParaRPr sz="1300">
              <a:latin typeface="Arial"/>
              <a:cs typeface="Arial"/>
            </a:endParaRPr>
          </a:p>
        </p:txBody>
      </p:sp>
      <p:sp>
        <p:nvSpPr>
          <p:cNvPr id="104" name="object 104"/>
          <p:cNvSpPr txBox="1"/>
          <p:nvPr/>
        </p:nvSpPr>
        <p:spPr>
          <a:xfrm>
            <a:off x="12504906" y="4615831"/>
            <a:ext cx="102870" cy="1111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dirty="0" sz="550" spc="5">
                <a:latin typeface="Lucida Sans"/>
                <a:cs typeface="Lucida Sans"/>
              </a:rPr>
              <a:t>18</a:t>
            </a:r>
            <a:endParaRPr sz="550">
              <a:latin typeface="Lucida Sans"/>
              <a:cs typeface="Lucida Sans"/>
            </a:endParaRPr>
          </a:p>
        </p:txBody>
      </p:sp>
      <p:sp>
        <p:nvSpPr>
          <p:cNvPr id="105" name="object 105"/>
          <p:cNvSpPr txBox="1"/>
          <p:nvPr/>
        </p:nvSpPr>
        <p:spPr>
          <a:xfrm>
            <a:off x="9238185" y="2014666"/>
            <a:ext cx="1757680" cy="286385"/>
          </a:xfrm>
          <a:prstGeom prst="rect">
            <a:avLst/>
          </a:prstGeom>
        </p:spPr>
        <p:txBody>
          <a:bodyPr wrap="square" lIns="0" tIns="285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225"/>
              </a:spcBef>
            </a:pPr>
            <a:r>
              <a:rPr dirty="0" sz="750" spc="-5">
                <a:solidFill>
                  <a:srgbClr val="8D3124"/>
                </a:solidFill>
                <a:latin typeface="Lucida Sans"/>
                <a:cs typeface="Lucida Sans"/>
              </a:rPr>
              <a:t>no</a:t>
            </a:r>
            <a:r>
              <a:rPr dirty="0" sz="750" spc="-15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dirty="0" sz="750" spc="-5">
                <a:solidFill>
                  <a:srgbClr val="8D3124"/>
                </a:solidFill>
                <a:latin typeface="Lucida Sans"/>
                <a:cs typeface="Lucida Sans"/>
              </a:rPr>
              <a:t>generic</a:t>
            </a:r>
            <a:r>
              <a:rPr dirty="0" sz="750" spc="-15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dirty="0" sz="750">
                <a:solidFill>
                  <a:srgbClr val="8D3124"/>
                </a:solidFill>
                <a:latin typeface="Lucida Sans"/>
                <a:cs typeface="Lucida Sans"/>
              </a:rPr>
              <a:t>array</a:t>
            </a:r>
            <a:r>
              <a:rPr dirty="0" sz="750" spc="-10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dirty="0" sz="750" spc="-5">
                <a:solidFill>
                  <a:srgbClr val="8D3124"/>
                </a:solidFill>
                <a:latin typeface="Lucida Sans"/>
                <a:cs typeface="Lucida Sans"/>
              </a:rPr>
              <a:t>creation</a:t>
            </a:r>
            <a:endParaRPr sz="750">
              <a:latin typeface="Lucida Sans"/>
              <a:cs typeface="Lucida Sans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r>
              <a:rPr dirty="0" sz="750" spc="-5">
                <a:solidFill>
                  <a:srgbClr val="8D3124"/>
                </a:solidFill>
                <a:latin typeface="Lucida Sans"/>
                <a:cs typeface="Lucida Sans"/>
              </a:rPr>
              <a:t>(declare</a:t>
            </a:r>
            <a:r>
              <a:rPr dirty="0" sz="750" spc="-10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dirty="0" sz="750" spc="5">
                <a:solidFill>
                  <a:srgbClr val="8D3124"/>
                </a:solidFill>
                <a:latin typeface="Lucida Sans"/>
                <a:cs typeface="Lucida Sans"/>
              </a:rPr>
              <a:t>key</a:t>
            </a:r>
            <a:r>
              <a:rPr dirty="0" sz="750" spc="-10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dirty="0" sz="750" spc="-5">
                <a:solidFill>
                  <a:srgbClr val="8D3124"/>
                </a:solidFill>
                <a:latin typeface="Lucida Sans"/>
                <a:cs typeface="Lucida Sans"/>
              </a:rPr>
              <a:t>and </a:t>
            </a:r>
            <a:r>
              <a:rPr dirty="0" sz="750" spc="5">
                <a:solidFill>
                  <a:srgbClr val="8D3124"/>
                </a:solidFill>
                <a:latin typeface="Lucida Sans"/>
                <a:cs typeface="Lucida Sans"/>
              </a:rPr>
              <a:t>value</a:t>
            </a:r>
            <a:r>
              <a:rPr dirty="0" sz="750" spc="-10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dirty="0" sz="750" spc="-5">
                <a:solidFill>
                  <a:srgbClr val="8D3124"/>
                </a:solidFill>
                <a:latin typeface="Lucida Sans"/>
                <a:cs typeface="Lucida Sans"/>
              </a:rPr>
              <a:t>of </a:t>
            </a:r>
            <a:r>
              <a:rPr dirty="0" sz="750" spc="5">
                <a:solidFill>
                  <a:srgbClr val="8D3124"/>
                </a:solidFill>
                <a:latin typeface="Lucida Sans"/>
                <a:cs typeface="Lucida Sans"/>
              </a:rPr>
              <a:t>type</a:t>
            </a:r>
            <a:r>
              <a:rPr dirty="0" sz="750" spc="-10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dirty="0" sz="750" spc="-5">
                <a:solidFill>
                  <a:srgbClr val="8D3124"/>
                </a:solidFill>
                <a:latin typeface="Lucida Sans"/>
                <a:cs typeface="Lucida Sans"/>
              </a:rPr>
              <a:t>Object)</a:t>
            </a:r>
            <a:endParaRPr sz="750">
              <a:latin typeface="Lucida Sans"/>
              <a:cs typeface="Lucida Sans"/>
            </a:endParaRPr>
          </a:p>
        </p:txBody>
      </p:sp>
      <p:grpSp>
        <p:nvGrpSpPr>
          <p:cNvPr id="106" name="object 106"/>
          <p:cNvGrpSpPr/>
          <p:nvPr/>
        </p:nvGrpSpPr>
        <p:grpSpPr>
          <a:xfrm>
            <a:off x="8796121" y="1406401"/>
            <a:ext cx="2593975" cy="867410"/>
            <a:chOff x="8796121" y="1406401"/>
            <a:chExt cx="2593975" cy="867410"/>
          </a:xfrm>
        </p:grpSpPr>
        <p:sp>
          <p:nvSpPr>
            <p:cNvPr id="107" name="object 107"/>
            <p:cNvSpPr/>
            <p:nvPr/>
          </p:nvSpPr>
          <p:spPr>
            <a:xfrm>
              <a:off x="8832850" y="2109118"/>
              <a:ext cx="309245" cy="0"/>
            </a:xfrm>
            <a:custGeom>
              <a:avLst/>
              <a:gdLst/>
              <a:ahLst/>
              <a:cxnLst/>
              <a:rect l="l" t="t" r="r" b="b"/>
              <a:pathLst>
                <a:path w="309245" h="0">
                  <a:moveTo>
                    <a:pt x="0" y="1"/>
                  </a:moveTo>
                  <a:lnTo>
                    <a:pt x="5924" y="1"/>
                  </a:lnTo>
                  <a:lnTo>
                    <a:pt x="309116" y="0"/>
                  </a:lnTo>
                </a:path>
              </a:pathLst>
            </a:custGeom>
            <a:ln w="11848">
              <a:solidFill>
                <a:srgbClr val="8D312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8" name="object 108"/>
            <p:cNvSpPr/>
            <p:nvPr/>
          </p:nvSpPr>
          <p:spPr>
            <a:xfrm>
              <a:off x="8796121" y="2080684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>
                  <a:moveTo>
                    <a:pt x="56870" y="0"/>
                  </a:moveTo>
                  <a:lnTo>
                    <a:pt x="0" y="28435"/>
                  </a:lnTo>
                  <a:lnTo>
                    <a:pt x="56871" y="56870"/>
                  </a:lnTo>
                  <a:lnTo>
                    <a:pt x="42653" y="28435"/>
                  </a:lnTo>
                  <a:lnTo>
                    <a:pt x="56870" y="0"/>
                  </a:lnTo>
                  <a:close/>
                </a:path>
              </a:pathLst>
            </a:custGeom>
            <a:solidFill>
              <a:srgbClr val="8D31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9" name="object 109"/>
            <p:cNvSpPr/>
            <p:nvPr/>
          </p:nvSpPr>
          <p:spPr>
            <a:xfrm>
              <a:off x="8832850" y="2245370"/>
              <a:ext cx="309245" cy="0"/>
            </a:xfrm>
            <a:custGeom>
              <a:avLst/>
              <a:gdLst/>
              <a:ahLst/>
              <a:cxnLst/>
              <a:rect l="l" t="t" r="r" b="b"/>
              <a:pathLst>
                <a:path w="309245" h="0">
                  <a:moveTo>
                    <a:pt x="0" y="1"/>
                  </a:moveTo>
                  <a:lnTo>
                    <a:pt x="5924" y="1"/>
                  </a:lnTo>
                  <a:lnTo>
                    <a:pt x="309116" y="0"/>
                  </a:lnTo>
                </a:path>
              </a:pathLst>
            </a:custGeom>
            <a:ln w="11848">
              <a:solidFill>
                <a:srgbClr val="8D312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0" name="object 110"/>
            <p:cNvSpPr/>
            <p:nvPr/>
          </p:nvSpPr>
          <p:spPr>
            <a:xfrm>
              <a:off x="8796121" y="2216937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>
                  <a:moveTo>
                    <a:pt x="56870" y="0"/>
                  </a:moveTo>
                  <a:lnTo>
                    <a:pt x="0" y="28435"/>
                  </a:lnTo>
                  <a:lnTo>
                    <a:pt x="56871" y="56870"/>
                  </a:lnTo>
                  <a:lnTo>
                    <a:pt x="42653" y="28435"/>
                  </a:lnTo>
                  <a:lnTo>
                    <a:pt x="56870" y="0"/>
                  </a:lnTo>
                  <a:close/>
                </a:path>
              </a:pathLst>
            </a:custGeom>
            <a:solidFill>
              <a:srgbClr val="8D31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1" name="object 111"/>
            <p:cNvSpPr/>
            <p:nvPr/>
          </p:nvSpPr>
          <p:spPr>
            <a:xfrm>
              <a:off x="10866856" y="1434835"/>
              <a:ext cx="523240" cy="635"/>
            </a:xfrm>
            <a:custGeom>
              <a:avLst/>
              <a:gdLst/>
              <a:ahLst/>
              <a:cxnLst/>
              <a:rect l="l" t="t" r="r" b="b"/>
              <a:pathLst>
                <a:path w="523240" h="634">
                  <a:moveTo>
                    <a:pt x="0" y="0"/>
                  </a:moveTo>
                  <a:lnTo>
                    <a:pt x="5924" y="0"/>
                  </a:lnTo>
                  <a:lnTo>
                    <a:pt x="523028" y="55"/>
                  </a:lnTo>
                </a:path>
              </a:pathLst>
            </a:custGeom>
            <a:ln w="11848">
              <a:solidFill>
                <a:srgbClr val="8D312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2" name="object 112"/>
            <p:cNvSpPr/>
            <p:nvPr/>
          </p:nvSpPr>
          <p:spPr>
            <a:xfrm>
              <a:off x="10830127" y="1406401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>
                  <a:moveTo>
                    <a:pt x="56873" y="0"/>
                  </a:moveTo>
                  <a:lnTo>
                    <a:pt x="0" y="28429"/>
                  </a:lnTo>
                  <a:lnTo>
                    <a:pt x="56867" y="56870"/>
                  </a:lnTo>
                  <a:lnTo>
                    <a:pt x="42655" y="28429"/>
                  </a:lnTo>
                  <a:lnTo>
                    <a:pt x="56873" y="0"/>
                  </a:lnTo>
                  <a:close/>
                </a:path>
              </a:pathLst>
            </a:custGeom>
            <a:solidFill>
              <a:srgbClr val="8D312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3" name="object 113"/>
          <p:cNvSpPr txBox="1"/>
          <p:nvPr/>
        </p:nvSpPr>
        <p:spPr>
          <a:xfrm>
            <a:off x="11477418" y="1256389"/>
            <a:ext cx="988060" cy="2984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R="5080" indent="49530">
              <a:lnSpc>
                <a:spcPct val="119200"/>
              </a:lnSpc>
              <a:spcBef>
                <a:spcPts val="100"/>
              </a:spcBef>
            </a:pPr>
            <a:r>
              <a:rPr dirty="0" sz="750">
                <a:solidFill>
                  <a:srgbClr val="8D3124"/>
                </a:solidFill>
                <a:latin typeface="Lucida Sans"/>
                <a:cs typeface="Lucida Sans"/>
              </a:rPr>
              <a:t>array </a:t>
            </a:r>
            <a:r>
              <a:rPr dirty="0" sz="750" spc="-5">
                <a:solidFill>
                  <a:srgbClr val="8D3124"/>
                </a:solidFill>
                <a:latin typeface="Lucida Sans"/>
                <a:cs typeface="Lucida Sans"/>
              </a:rPr>
              <a:t>doubling and </a:t>
            </a:r>
            <a:r>
              <a:rPr dirty="0" sz="750">
                <a:solidFill>
                  <a:srgbClr val="8D3124"/>
                </a:solidFill>
                <a:latin typeface="Lucida Sans"/>
                <a:cs typeface="Lucida Sans"/>
              </a:rPr>
              <a:t> halving</a:t>
            </a:r>
            <a:r>
              <a:rPr dirty="0" sz="750" spc="-25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dirty="0" sz="750" spc="-5">
                <a:solidFill>
                  <a:srgbClr val="8D3124"/>
                </a:solidFill>
                <a:latin typeface="Lucida Sans"/>
                <a:cs typeface="Lucida Sans"/>
              </a:rPr>
              <a:t>code</a:t>
            </a:r>
            <a:r>
              <a:rPr dirty="0" sz="750" spc="-20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dirty="0" sz="750" spc="-5">
                <a:solidFill>
                  <a:srgbClr val="8D3124"/>
                </a:solidFill>
                <a:latin typeface="Lucida Sans"/>
                <a:cs typeface="Lucida Sans"/>
              </a:rPr>
              <a:t>omitted</a:t>
            </a:r>
            <a:endParaRPr sz="750">
              <a:latin typeface="Lucida Sans"/>
              <a:cs typeface="Lucida Sans"/>
            </a:endParaRPr>
          </a:p>
        </p:txBody>
      </p:sp>
      <p:grpSp>
        <p:nvGrpSpPr>
          <p:cNvPr id="114" name="object 114"/>
          <p:cNvGrpSpPr/>
          <p:nvPr/>
        </p:nvGrpSpPr>
        <p:grpSpPr>
          <a:xfrm>
            <a:off x="346176" y="4966780"/>
            <a:ext cx="6066790" cy="4549775"/>
            <a:chOff x="346176" y="4966780"/>
            <a:chExt cx="6066790" cy="4549775"/>
          </a:xfrm>
        </p:grpSpPr>
        <p:sp>
          <p:nvSpPr>
            <p:cNvPr id="115" name="object 115"/>
            <p:cNvSpPr/>
            <p:nvPr/>
          </p:nvSpPr>
          <p:spPr>
            <a:xfrm>
              <a:off x="346176" y="4966780"/>
              <a:ext cx="6066790" cy="4549775"/>
            </a:xfrm>
            <a:custGeom>
              <a:avLst/>
              <a:gdLst/>
              <a:ahLst/>
              <a:cxnLst/>
              <a:rect l="l" t="t" r="r" b="b"/>
              <a:pathLst>
                <a:path w="6066790" h="4549775">
                  <a:moveTo>
                    <a:pt x="0" y="0"/>
                  </a:moveTo>
                  <a:lnTo>
                    <a:pt x="6066212" y="0"/>
                  </a:lnTo>
                  <a:lnTo>
                    <a:pt x="6066212" y="4549659"/>
                  </a:lnTo>
                  <a:lnTo>
                    <a:pt x="0" y="45496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6" name="object 116"/>
            <p:cNvSpPr/>
            <p:nvPr/>
          </p:nvSpPr>
          <p:spPr>
            <a:xfrm>
              <a:off x="731238" y="5428805"/>
              <a:ext cx="5302250" cy="635"/>
            </a:xfrm>
            <a:custGeom>
              <a:avLst/>
              <a:gdLst/>
              <a:ahLst/>
              <a:cxnLst/>
              <a:rect l="l" t="t" r="r" b="b"/>
              <a:pathLst>
                <a:path w="5302250" h="635">
                  <a:moveTo>
                    <a:pt x="0" y="49"/>
                  </a:moveTo>
                  <a:lnTo>
                    <a:pt x="5302012" y="0"/>
                  </a:lnTo>
                </a:path>
              </a:pathLst>
            </a:custGeom>
            <a:ln w="59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17" name="object 11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37162" y="5624348"/>
              <a:ext cx="4336394" cy="3791382"/>
            </a:xfrm>
            <a:prstGeom prst="rect">
              <a:avLst/>
            </a:prstGeom>
          </p:spPr>
        </p:pic>
      </p:grpSp>
      <p:sp>
        <p:nvSpPr>
          <p:cNvPr id="118" name="object 118"/>
          <p:cNvSpPr txBox="1"/>
          <p:nvPr/>
        </p:nvSpPr>
        <p:spPr>
          <a:xfrm>
            <a:off x="867491" y="8061935"/>
            <a:ext cx="4028440" cy="876935"/>
          </a:xfrm>
          <a:prstGeom prst="rect">
            <a:avLst/>
          </a:prstGeom>
          <a:solidFill>
            <a:srgbClr val="FFFFFF"/>
          </a:solidFill>
        </p:spPr>
        <p:txBody>
          <a:bodyPr wrap="square" lIns="0" tIns="2540" rIns="0" bIns="0" rtlCol="0" vert="horz">
            <a:spAutoFit/>
          </a:bodyPr>
          <a:lstStyle/>
          <a:p>
            <a:pPr marL="387985" marR="1449070" indent="-193040">
              <a:lnSpc>
                <a:spcPts val="1170"/>
              </a:lnSpc>
              <a:spcBef>
                <a:spcPts val="20"/>
              </a:spcBef>
            </a:pPr>
            <a:r>
              <a:rPr dirty="0" sz="800" spc="20">
                <a:latin typeface="Lucida Sans Typewriter"/>
                <a:cs typeface="Lucida Sans Typewriter"/>
              </a:rPr>
              <a:t>public void put(Key key, Value</a:t>
            </a:r>
            <a:r>
              <a:rPr dirty="0" sz="800" spc="25"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val) { </a:t>
            </a:r>
            <a:r>
              <a:rPr dirty="0" sz="800" spc="-470"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int</a:t>
            </a:r>
            <a:r>
              <a:rPr dirty="0" sz="800" spc="15"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i</a:t>
            </a:r>
            <a:r>
              <a:rPr dirty="0" sz="800" spc="15"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= hash(key);</a:t>
            </a:r>
            <a:endParaRPr sz="800">
              <a:latin typeface="Lucida Sans Typewriter"/>
              <a:cs typeface="Lucida Sans Typewriter"/>
            </a:endParaRPr>
          </a:p>
          <a:p>
            <a:pPr marL="387985">
              <a:lnSpc>
                <a:spcPct val="100000"/>
              </a:lnSpc>
              <a:spcBef>
                <a:spcPts val="130"/>
              </a:spcBef>
            </a:pPr>
            <a:r>
              <a:rPr dirty="0" sz="800" spc="20">
                <a:latin typeface="Lucida Sans Typewriter"/>
                <a:cs typeface="Lucida Sans Typewriter"/>
              </a:rPr>
              <a:t>for (Node x = st[i];</a:t>
            </a:r>
            <a:r>
              <a:rPr dirty="0" sz="800" spc="25"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x != null; x</a:t>
            </a:r>
            <a:r>
              <a:rPr dirty="0" sz="800" spc="25"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= x.next)</a:t>
            </a:r>
            <a:endParaRPr sz="800">
              <a:latin typeface="Lucida Sans Typewriter"/>
              <a:cs typeface="Lucida Sans Typewriter"/>
            </a:endParaRPr>
          </a:p>
          <a:p>
            <a:pPr marL="387985" marR="422275" indent="192405">
              <a:lnSpc>
                <a:spcPct val="121500"/>
              </a:lnSpc>
            </a:pPr>
            <a:r>
              <a:rPr dirty="0" sz="800" spc="20">
                <a:latin typeface="Lucida Sans Typewriter"/>
                <a:cs typeface="Lucida Sans Typewriter"/>
              </a:rPr>
              <a:t>if</a:t>
            </a:r>
            <a:r>
              <a:rPr dirty="0" sz="800" spc="25"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(key.equals(x.key))</a:t>
            </a:r>
            <a:r>
              <a:rPr dirty="0" sz="800" spc="25"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{</a:t>
            </a:r>
            <a:r>
              <a:rPr dirty="0" sz="800" spc="25"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x.val</a:t>
            </a:r>
            <a:r>
              <a:rPr dirty="0" sz="800" spc="25"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=</a:t>
            </a:r>
            <a:r>
              <a:rPr dirty="0" sz="800" spc="25"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val;</a:t>
            </a:r>
            <a:r>
              <a:rPr dirty="0" sz="800" spc="25"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return;</a:t>
            </a:r>
            <a:r>
              <a:rPr dirty="0" sz="800" spc="25"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} </a:t>
            </a:r>
            <a:r>
              <a:rPr dirty="0" sz="800" spc="-470"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st[i] =</a:t>
            </a:r>
            <a:r>
              <a:rPr dirty="0" sz="800" spc="15"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new Node(key, val, st[i]);</a:t>
            </a:r>
            <a:endParaRPr sz="800">
              <a:latin typeface="Lucida Sans Typewriter"/>
              <a:cs typeface="Lucida Sans Typewriter"/>
            </a:endParaRPr>
          </a:p>
          <a:p>
            <a:pPr marL="195580">
              <a:lnSpc>
                <a:spcPct val="100000"/>
              </a:lnSpc>
              <a:spcBef>
                <a:spcPts val="160"/>
              </a:spcBef>
            </a:pPr>
            <a:r>
              <a:rPr dirty="0" sz="800" spc="20">
                <a:latin typeface="Lucida Sans Typewriter"/>
                <a:cs typeface="Lucida Sans Typewriter"/>
              </a:rPr>
              <a:t>}</a:t>
            </a:r>
            <a:endParaRPr sz="800">
              <a:latin typeface="Lucida Sans Typewriter"/>
              <a:cs typeface="Lucida Sans Typewriter"/>
            </a:endParaRPr>
          </a:p>
        </p:txBody>
      </p:sp>
      <p:sp>
        <p:nvSpPr>
          <p:cNvPr id="119" name="object 119"/>
          <p:cNvSpPr txBox="1"/>
          <p:nvPr/>
        </p:nvSpPr>
        <p:spPr>
          <a:xfrm>
            <a:off x="772707" y="5659892"/>
            <a:ext cx="4218305" cy="3673475"/>
          </a:xfrm>
          <a:prstGeom prst="rect">
            <a:avLst/>
          </a:prstGeom>
          <a:solidFill>
            <a:srgbClr val="CBCBCB"/>
          </a:solidFill>
        </p:spPr>
        <p:txBody>
          <a:bodyPr wrap="square" lIns="0" tIns="76200" rIns="0" bIns="0" rtlCol="0" vert="horz">
            <a:spAutoFit/>
          </a:bodyPr>
          <a:lstStyle/>
          <a:p>
            <a:pPr marL="97790">
              <a:lnSpc>
                <a:spcPct val="100000"/>
              </a:lnSpc>
              <a:spcBef>
                <a:spcPts val="600"/>
              </a:spcBef>
            </a:pPr>
            <a:r>
              <a:rPr dirty="0" sz="800" spc="20">
                <a:latin typeface="Lucida Sans Typewriter"/>
                <a:cs typeface="Lucida Sans Typewriter"/>
              </a:rPr>
              <a:t>public</a:t>
            </a:r>
            <a:r>
              <a:rPr dirty="0" sz="800" spc="30"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class</a:t>
            </a:r>
            <a:r>
              <a:rPr dirty="0" sz="800" spc="35"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SeparateChainingHashST&lt;Key,</a:t>
            </a:r>
            <a:r>
              <a:rPr dirty="0" sz="800" spc="35"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Value&gt;</a:t>
            </a:r>
            <a:endParaRPr sz="800">
              <a:latin typeface="Lucida Sans Typewriter"/>
              <a:cs typeface="Lucida Sans Typewriter"/>
            </a:endParaRPr>
          </a:p>
          <a:p>
            <a:pPr marL="97790">
              <a:lnSpc>
                <a:spcPct val="100000"/>
              </a:lnSpc>
              <a:spcBef>
                <a:spcPts val="155"/>
              </a:spcBef>
            </a:pPr>
            <a:r>
              <a:rPr dirty="0" sz="800" spc="20">
                <a:latin typeface="Lucida Sans Typewriter"/>
                <a:cs typeface="Lucida Sans Typewriter"/>
              </a:rPr>
              <a:t>{</a:t>
            </a:r>
            <a:endParaRPr sz="800">
              <a:latin typeface="Lucida Sans Typewriter"/>
              <a:cs typeface="Lucida Sans Typewriter"/>
            </a:endParaRPr>
          </a:p>
          <a:p>
            <a:pPr marL="290195" marR="516890">
              <a:lnSpc>
                <a:spcPct val="121500"/>
              </a:lnSpc>
              <a:tabLst>
                <a:tab pos="2472690" algn="l"/>
              </a:tabLst>
            </a:pPr>
            <a:r>
              <a:rPr dirty="0" sz="800" spc="20">
                <a:solidFill>
                  <a:srgbClr val="606060"/>
                </a:solidFill>
                <a:latin typeface="Lucida Sans Typewriter"/>
                <a:cs typeface="Lucida Sans Typewriter"/>
              </a:rPr>
              <a:t>private</a:t>
            </a:r>
            <a:r>
              <a:rPr dirty="0" sz="800" spc="30">
                <a:solidFill>
                  <a:srgbClr val="606060"/>
                </a:solidFill>
                <a:latin typeface="Lucida Sans Typewriter"/>
                <a:cs typeface="Lucida Sans Typewriter"/>
              </a:rPr>
              <a:t> </a:t>
            </a:r>
            <a:r>
              <a:rPr dirty="0" sz="800" spc="20">
                <a:solidFill>
                  <a:srgbClr val="606060"/>
                </a:solidFill>
                <a:latin typeface="Lucida Sans Typewriter"/>
                <a:cs typeface="Lucida Sans Typewriter"/>
              </a:rPr>
              <a:t>int</a:t>
            </a:r>
            <a:r>
              <a:rPr dirty="0" sz="800" spc="30">
                <a:solidFill>
                  <a:srgbClr val="606060"/>
                </a:solidFill>
                <a:latin typeface="Lucida Sans Typewriter"/>
                <a:cs typeface="Lucida Sans Typewriter"/>
              </a:rPr>
              <a:t> </a:t>
            </a:r>
            <a:r>
              <a:rPr dirty="0" sz="800" spc="20">
                <a:solidFill>
                  <a:srgbClr val="606060"/>
                </a:solidFill>
                <a:latin typeface="Lucida Sans Typewriter"/>
                <a:cs typeface="Lucida Sans Typewriter"/>
              </a:rPr>
              <a:t>M</a:t>
            </a:r>
            <a:r>
              <a:rPr dirty="0" sz="800" spc="30">
                <a:solidFill>
                  <a:srgbClr val="606060"/>
                </a:solidFill>
                <a:latin typeface="Lucida Sans Typewriter"/>
                <a:cs typeface="Lucida Sans Typewriter"/>
              </a:rPr>
              <a:t> </a:t>
            </a:r>
            <a:r>
              <a:rPr dirty="0" sz="800" spc="20">
                <a:solidFill>
                  <a:srgbClr val="606060"/>
                </a:solidFill>
                <a:latin typeface="Lucida Sans Typewriter"/>
                <a:cs typeface="Lucida Sans Typewriter"/>
              </a:rPr>
              <a:t>=</a:t>
            </a:r>
            <a:r>
              <a:rPr dirty="0" sz="800" spc="30">
                <a:solidFill>
                  <a:srgbClr val="606060"/>
                </a:solidFill>
                <a:latin typeface="Lucida Sans Typewriter"/>
                <a:cs typeface="Lucida Sans Typewriter"/>
              </a:rPr>
              <a:t> </a:t>
            </a:r>
            <a:r>
              <a:rPr dirty="0" sz="800" spc="20">
                <a:solidFill>
                  <a:srgbClr val="606060"/>
                </a:solidFill>
                <a:latin typeface="Lucida Sans Typewriter"/>
                <a:cs typeface="Lucida Sans Typewriter"/>
              </a:rPr>
              <a:t>97;	//</a:t>
            </a:r>
            <a:r>
              <a:rPr dirty="0" sz="800" spc="5">
                <a:solidFill>
                  <a:srgbClr val="606060"/>
                </a:solidFill>
                <a:latin typeface="Lucida Sans Typewriter"/>
                <a:cs typeface="Lucida Sans Typewriter"/>
              </a:rPr>
              <a:t> </a:t>
            </a:r>
            <a:r>
              <a:rPr dirty="0" sz="800" spc="20">
                <a:solidFill>
                  <a:srgbClr val="606060"/>
                </a:solidFill>
                <a:latin typeface="Lucida Sans Typewriter"/>
                <a:cs typeface="Lucida Sans Typewriter"/>
              </a:rPr>
              <a:t>number</a:t>
            </a:r>
            <a:r>
              <a:rPr dirty="0" sz="800" spc="5">
                <a:solidFill>
                  <a:srgbClr val="606060"/>
                </a:solidFill>
                <a:latin typeface="Lucida Sans Typewriter"/>
                <a:cs typeface="Lucida Sans Typewriter"/>
              </a:rPr>
              <a:t> </a:t>
            </a:r>
            <a:r>
              <a:rPr dirty="0" sz="800" spc="20">
                <a:solidFill>
                  <a:srgbClr val="606060"/>
                </a:solidFill>
                <a:latin typeface="Lucida Sans Typewriter"/>
                <a:cs typeface="Lucida Sans Typewriter"/>
              </a:rPr>
              <a:t>of</a:t>
            </a:r>
            <a:r>
              <a:rPr dirty="0" sz="800" spc="5">
                <a:solidFill>
                  <a:srgbClr val="606060"/>
                </a:solidFill>
                <a:latin typeface="Lucida Sans Typewriter"/>
                <a:cs typeface="Lucida Sans Typewriter"/>
              </a:rPr>
              <a:t> </a:t>
            </a:r>
            <a:r>
              <a:rPr dirty="0" sz="800" spc="20">
                <a:solidFill>
                  <a:srgbClr val="606060"/>
                </a:solidFill>
                <a:latin typeface="Lucida Sans Typewriter"/>
                <a:cs typeface="Lucida Sans Typewriter"/>
              </a:rPr>
              <a:t>chains </a:t>
            </a:r>
            <a:r>
              <a:rPr dirty="0" sz="800" spc="-465">
                <a:solidFill>
                  <a:srgbClr val="606060"/>
                </a:solidFill>
                <a:latin typeface="Lucida Sans Typewriter"/>
                <a:cs typeface="Lucida Sans Typewriter"/>
              </a:rPr>
              <a:t> </a:t>
            </a:r>
            <a:r>
              <a:rPr dirty="0" sz="800" spc="20">
                <a:solidFill>
                  <a:srgbClr val="606060"/>
                </a:solidFill>
                <a:latin typeface="Lucida Sans Typewriter"/>
                <a:cs typeface="Lucida Sans Typewriter"/>
              </a:rPr>
              <a:t>private</a:t>
            </a:r>
            <a:r>
              <a:rPr dirty="0" sz="800" spc="35">
                <a:solidFill>
                  <a:srgbClr val="606060"/>
                </a:solidFill>
                <a:latin typeface="Lucida Sans Typewriter"/>
                <a:cs typeface="Lucida Sans Typewriter"/>
              </a:rPr>
              <a:t> </a:t>
            </a:r>
            <a:r>
              <a:rPr dirty="0" sz="800" spc="20">
                <a:solidFill>
                  <a:srgbClr val="606060"/>
                </a:solidFill>
                <a:latin typeface="Lucida Sans Typewriter"/>
                <a:cs typeface="Lucida Sans Typewriter"/>
              </a:rPr>
              <a:t>Node[]</a:t>
            </a:r>
            <a:r>
              <a:rPr dirty="0" sz="800" spc="35">
                <a:solidFill>
                  <a:srgbClr val="606060"/>
                </a:solidFill>
                <a:latin typeface="Lucida Sans Typewriter"/>
                <a:cs typeface="Lucida Sans Typewriter"/>
              </a:rPr>
              <a:t> </a:t>
            </a:r>
            <a:r>
              <a:rPr dirty="0" sz="800" spc="20">
                <a:solidFill>
                  <a:srgbClr val="606060"/>
                </a:solidFill>
                <a:latin typeface="Lucida Sans Typewriter"/>
                <a:cs typeface="Lucida Sans Typewriter"/>
              </a:rPr>
              <a:t>st</a:t>
            </a:r>
            <a:r>
              <a:rPr dirty="0" sz="800" spc="35">
                <a:solidFill>
                  <a:srgbClr val="606060"/>
                </a:solidFill>
                <a:latin typeface="Lucida Sans Typewriter"/>
                <a:cs typeface="Lucida Sans Typewriter"/>
              </a:rPr>
              <a:t> </a:t>
            </a:r>
            <a:r>
              <a:rPr dirty="0" sz="800" spc="20">
                <a:solidFill>
                  <a:srgbClr val="606060"/>
                </a:solidFill>
                <a:latin typeface="Lucida Sans Typewriter"/>
                <a:cs typeface="Lucida Sans Typewriter"/>
              </a:rPr>
              <a:t>=</a:t>
            </a:r>
            <a:r>
              <a:rPr dirty="0" sz="800" spc="35">
                <a:solidFill>
                  <a:srgbClr val="606060"/>
                </a:solidFill>
                <a:latin typeface="Lucida Sans Typewriter"/>
                <a:cs typeface="Lucida Sans Typewriter"/>
              </a:rPr>
              <a:t> </a:t>
            </a:r>
            <a:r>
              <a:rPr dirty="0" sz="800" spc="20">
                <a:solidFill>
                  <a:srgbClr val="606060"/>
                </a:solidFill>
                <a:latin typeface="Lucida Sans Typewriter"/>
                <a:cs typeface="Lucida Sans Typewriter"/>
              </a:rPr>
              <a:t>new</a:t>
            </a:r>
            <a:r>
              <a:rPr dirty="0" sz="800" spc="35">
                <a:solidFill>
                  <a:srgbClr val="606060"/>
                </a:solidFill>
                <a:latin typeface="Lucida Sans Typewriter"/>
                <a:cs typeface="Lucida Sans Typewriter"/>
              </a:rPr>
              <a:t> </a:t>
            </a:r>
            <a:r>
              <a:rPr dirty="0" sz="800" spc="20">
                <a:solidFill>
                  <a:srgbClr val="606060"/>
                </a:solidFill>
                <a:latin typeface="Lucida Sans Typewriter"/>
                <a:cs typeface="Lucida Sans Typewriter"/>
              </a:rPr>
              <a:t>Node[M];	//</a:t>
            </a:r>
            <a:r>
              <a:rPr dirty="0" sz="800" spc="10">
                <a:solidFill>
                  <a:srgbClr val="606060"/>
                </a:solidFill>
                <a:latin typeface="Lucida Sans Typewriter"/>
                <a:cs typeface="Lucida Sans Typewriter"/>
              </a:rPr>
              <a:t> </a:t>
            </a:r>
            <a:r>
              <a:rPr dirty="0" sz="800" spc="20">
                <a:solidFill>
                  <a:srgbClr val="606060"/>
                </a:solidFill>
                <a:latin typeface="Lucida Sans Typewriter"/>
                <a:cs typeface="Lucida Sans Typewriter"/>
              </a:rPr>
              <a:t>array</a:t>
            </a:r>
            <a:r>
              <a:rPr dirty="0" sz="800" spc="5">
                <a:solidFill>
                  <a:srgbClr val="606060"/>
                </a:solidFill>
                <a:latin typeface="Lucida Sans Typewriter"/>
                <a:cs typeface="Lucida Sans Typewriter"/>
              </a:rPr>
              <a:t> </a:t>
            </a:r>
            <a:r>
              <a:rPr dirty="0" sz="800" spc="20">
                <a:solidFill>
                  <a:srgbClr val="606060"/>
                </a:solidFill>
                <a:latin typeface="Lucida Sans Typewriter"/>
                <a:cs typeface="Lucida Sans Typewriter"/>
              </a:rPr>
              <a:t>of</a:t>
            </a:r>
            <a:r>
              <a:rPr dirty="0" sz="800" spc="10">
                <a:solidFill>
                  <a:srgbClr val="606060"/>
                </a:solidFill>
                <a:latin typeface="Lucida Sans Typewriter"/>
                <a:cs typeface="Lucida Sans Typewriter"/>
              </a:rPr>
              <a:t> </a:t>
            </a:r>
            <a:r>
              <a:rPr dirty="0" sz="800" spc="20">
                <a:solidFill>
                  <a:srgbClr val="606060"/>
                </a:solidFill>
                <a:latin typeface="Lucida Sans Typewriter"/>
                <a:cs typeface="Lucida Sans Typewriter"/>
              </a:rPr>
              <a:t>chains</a:t>
            </a:r>
            <a:endParaRPr sz="800">
              <a:latin typeface="Lucida Sans Typewriter"/>
              <a:cs typeface="Lucida Sans Typewriter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150">
              <a:latin typeface="Lucida Sans Typewriter"/>
              <a:cs typeface="Lucida Sans Typewriter"/>
            </a:endParaRPr>
          </a:p>
          <a:p>
            <a:pPr marL="290195">
              <a:lnSpc>
                <a:spcPct val="100000"/>
              </a:lnSpc>
              <a:spcBef>
                <a:spcPts val="5"/>
              </a:spcBef>
            </a:pPr>
            <a:r>
              <a:rPr dirty="0" sz="800" spc="20">
                <a:solidFill>
                  <a:srgbClr val="606060"/>
                </a:solidFill>
                <a:latin typeface="Lucida Sans Typewriter"/>
                <a:cs typeface="Lucida Sans Typewriter"/>
              </a:rPr>
              <a:t>private</a:t>
            </a:r>
            <a:r>
              <a:rPr dirty="0" sz="800" spc="10">
                <a:solidFill>
                  <a:srgbClr val="606060"/>
                </a:solidFill>
                <a:latin typeface="Lucida Sans Typewriter"/>
                <a:cs typeface="Lucida Sans Typewriter"/>
              </a:rPr>
              <a:t> </a:t>
            </a:r>
            <a:r>
              <a:rPr dirty="0" sz="800" spc="20">
                <a:solidFill>
                  <a:srgbClr val="606060"/>
                </a:solidFill>
                <a:latin typeface="Lucida Sans Typewriter"/>
                <a:cs typeface="Lucida Sans Typewriter"/>
              </a:rPr>
              <a:t>static</a:t>
            </a:r>
            <a:r>
              <a:rPr dirty="0" sz="800" spc="15">
                <a:solidFill>
                  <a:srgbClr val="606060"/>
                </a:solidFill>
                <a:latin typeface="Lucida Sans Typewriter"/>
                <a:cs typeface="Lucida Sans Typewriter"/>
              </a:rPr>
              <a:t> </a:t>
            </a:r>
            <a:r>
              <a:rPr dirty="0" sz="800" spc="20">
                <a:solidFill>
                  <a:srgbClr val="606060"/>
                </a:solidFill>
                <a:latin typeface="Lucida Sans Typewriter"/>
                <a:cs typeface="Lucida Sans Typewriter"/>
              </a:rPr>
              <a:t>class</a:t>
            </a:r>
            <a:r>
              <a:rPr dirty="0" sz="800" spc="10">
                <a:solidFill>
                  <a:srgbClr val="606060"/>
                </a:solidFill>
                <a:latin typeface="Lucida Sans Typewriter"/>
                <a:cs typeface="Lucida Sans Typewriter"/>
              </a:rPr>
              <a:t> </a:t>
            </a:r>
            <a:r>
              <a:rPr dirty="0" sz="800" spc="20">
                <a:solidFill>
                  <a:srgbClr val="606060"/>
                </a:solidFill>
                <a:latin typeface="Lucida Sans Typewriter"/>
                <a:cs typeface="Lucida Sans Typewriter"/>
              </a:rPr>
              <a:t>Node</a:t>
            </a:r>
            <a:endParaRPr sz="800">
              <a:latin typeface="Lucida Sans Typewriter"/>
              <a:cs typeface="Lucida Sans Typewriter"/>
            </a:endParaRPr>
          </a:p>
          <a:p>
            <a:pPr marL="290195">
              <a:lnSpc>
                <a:spcPct val="100000"/>
              </a:lnSpc>
              <a:spcBef>
                <a:spcPts val="160"/>
              </a:spcBef>
            </a:pPr>
            <a:r>
              <a:rPr dirty="0" sz="800" spc="20">
                <a:solidFill>
                  <a:srgbClr val="606060"/>
                </a:solidFill>
                <a:latin typeface="Lucida Sans Typewriter"/>
                <a:cs typeface="Lucida Sans Typewriter"/>
              </a:rPr>
              <a:t>{</a:t>
            </a:r>
            <a:endParaRPr sz="800">
              <a:latin typeface="Lucida Sans Typewriter"/>
              <a:cs typeface="Lucida Sans Typewriter"/>
            </a:endParaRPr>
          </a:p>
          <a:p>
            <a:pPr algn="just" marL="483234" marR="2506980">
              <a:lnSpc>
                <a:spcPct val="121500"/>
              </a:lnSpc>
            </a:pPr>
            <a:r>
              <a:rPr dirty="0" sz="800" spc="20">
                <a:solidFill>
                  <a:srgbClr val="606060"/>
                </a:solidFill>
                <a:latin typeface="Lucida Sans Typewriter"/>
                <a:cs typeface="Lucida Sans Typewriter"/>
              </a:rPr>
              <a:t>private</a:t>
            </a:r>
            <a:r>
              <a:rPr dirty="0" sz="800" spc="-5">
                <a:solidFill>
                  <a:srgbClr val="606060"/>
                </a:solidFill>
                <a:latin typeface="Lucida Sans Typewriter"/>
                <a:cs typeface="Lucida Sans Typewriter"/>
              </a:rPr>
              <a:t> </a:t>
            </a:r>
            <a:r>
              <a:rPr dirty="0" sz="800" spc="20">
                <a:solidFill>
                  <a:srgbClr val="606060"/>
                </a:solidFill>
                <a:latin typeface="Lucida Sans Typewriter"/>
                <a:cs typeface="Lucida Sans Typewriter"/>
              </a:rPr>
              <a:t>Object</a:t>
            </a:r>
            <a:r>
              <a:rPr dirty="0" sz="800">
                <a:solidFill>
                  <a:srgbClr val="606060"/>
                </a:solidFill>
                <a:latin typeface="Lucida Sans Typewriter"/>
                <a:cs typeface="Lucida Sans Typewriter"/>
              </a:rPr>
              <a:t> </a:t>
            </a:r>
            <a:r>
              <a:rPr dirty="0" sz="800" spc="20">
                <a:solidFill>
                  <a:srgbClr val="606060"/>
                </a:solidFill>
                <a:latin typeface="Lucida Sans Typewriter"/>
                <a:cs typeface="Lucida Sans Typewriter"/>
              </a:rPr>
              <a:t>key; </a:t>
            </a:r>
            <a:r>
              <a:rPr dirty="0" sz="800" spc="-470">
                <a:solidFill>
                  <a:srgbClr val="606060"/>
                </a:solidFill>
                <a:latin typeface="Lucida Sans Typewriter"/>
                <a:cs typeface="Lucida Sans Typewriter"/>
              </a:rPr>
              <a:t> </a:t>
            </a:r>
            <a:r>
              <a:rPr dirty="0" sz="800" spc="20">
                <a:solidFill>
                  <a:srgbClr val="606060"/>
                </a:solidFill>
                <a:latin typeface="Lucida Sans Typewriter"/>
                <a:cs typeface="Lucida Sans Typewriter"/>
              </a:rPr>
              <a:t>private</a:t>
            </a:r>
            <a:r>
              <a:rPr dirty="0" sz="800" spc="-5">
                <a:solidFill>
                  <a:srgbClr val="606060"/>
                </a:solidFill>
                <a:latin typeface="Lucida Sans Typewriter"/>
                <a:cs typeface="Lucida Sans Typewriter"/>
              </a:rPr>
              <a:t> </a:t>
            </a:r>
            <a:r>
              <a:rPr dirty="0" sz="800" spc="20">
                <a:solidFill>
                  <a:srgbClr val="606060"/>
                </a:solidFill>
                <a:latin typeface="Lucida Sans Typewriter"/>
                <a:cs typeface="Lucida Sans Typewriter"/>
              </a:rPr>
              <a:t>Object</a:t>
            </a:r>
            <a:r>
              <a:rPr dirty="0" sz="800">
                <a:solidFill>
                  <a:srgbClr val="606060"/>
                </a:solidFill>
                <a:latin typeface="Lucida Sans Typewriter"/>
                <a:cs typeface="Lucida Sans Typewriter"/>
              </a:rPr>
              <a:t> </a:t>
            </a:r>
            <a:r>
              <a:rPr dirty="0" sz="800" spc="20">
                <a:solidFill>
                  <a:srgbClr val="606060"/>
                </a:solidFill>
                <a:latin typeface="Lucida Sans Typewriter"/>
                <a:cs typeface="Lucida Sans Typewriter"/>
              </a:rPr>
              <a:t>val; </a:t>
            </a:r>
            <a:r>
              <a:rPr dirty="0" sz="800" spc="-470">
                <a:solidFill>
                  <a:srgbClr val="606060"/>
                </a:solidFill>
                <a:latin typeface="Lucida Sans Typewriter"/>
                <a:cs typeface="Lucida Sans Typewriter"/>
              </a:rPr>
              <a:t> </a:t>
            </a:r>
            <a:r>
              <a:rPr dirty="0" sz="800" spc="20">
                <a:solidFill>
                  <a:srgbClr val="606060"/>
                </a:solidFill>
                <a:latin typeface="Lucida Sans Typewriter"/>
                <a:cs typeface="Lucida Sans Typewriter"/>
              </a:rPr>
              <a:t>private</a:t>
            </a:r>
            <a:r>
              <a:rPr dirty="0" sz="800" spc="5">
                <a:solidFill>
                  <a:srgbClr val="606060"/>
                </a:solidFill>
                <a:latin typeface="Lucida Sans Typewriter"/>
                <a:cs typeface="Lucida Sans Typewriter"/>
              </a:rPr>
              <a:t> </a:t>
            </a:r>
            <a:r>
              <a:rPr dirty="0" sz="800" spc="20">
                <a:solidFill>
                  <a:srgbClr val="606060"/>
                </a:solidFill>
                <a:latin typeface="Lucida Sans Typewriter"/>
                <a:cs typeface="Lucida Sans Typewriter"/>
              </a:rPr>
              <a:t>Node</a:t>
            </a:r>
            <a:r>
              <a:rPr dirty="0" sz="800" spc="5">
                <a:solidFill>
                  <a:srgbClr val="606060"/>
                </a:solidFill>
                <a:latin typeface="Lucida Sans Typewriter"/>
                <a:cs typeface="Lucida Sans Typewriter"/>
              </a:rPr>
              <a:t> </a:t>
            </a:r>
            <a:r>
              <a:rPr dirty="0" sz="800" spc="20">
                <a:solidFill>
                  <a:srgbClr val="606060"/>
                </a:solidFill>
                <a:latin typeface="Lucida Sans Typewriter"/>
                <a:cs typeface="Lucida Sans Typewriter"/>
              </a:rPr>
              <a:t>next;</a:t>
            </a:r>
            <a:endParaRPr sz="800">
              <a:latin typeface="Lucida Sans Typewriter"/>
              <a:cs typeface="Lucida Sans Typewriter"/>
            </a:endParaRPr>
          </a:p>
          <a:p>
            <a:pPr marL="483234">
              <a:lnSpc>
                <a:spcPct val="100000"/>
              </a:lnSpc>
              <a:spcBef>
                <a:spcPts val="204"/>
              </a:spcBef>
            </a:pPr>
            <a:r>
              <a:rPr dirty="0" sz="800" spc="20">
                <a:solidFill>
                  <a:srgbClr val="606060"/>
                </a:solidFill>
                <a:latin typeface="Lucida Sans Typewriter"/>
                <a:cs typeface="Lucida Sans Typewriter"/>
              </a:rPr>
              <a:t>...</a:t>
            </a:r>
            <a:endParaRPr sz="800">
              <a:latin typeface="Lucida Sans Typewriter"/>
              <a:cs typeface="Lucida Sans Typewriter"/>
            </a:endParaRPr>
          </a:p>
          <a:p>
            <a:pPr marL="290195">
              <a:lnSpc>
                <a:spcPct val="100000"/>
              </a:lnSpc>
              <a:spcBef>
                <a:spcPts val="160"/>
              </a:spcBef>
            </a:pPr>
            <a:r>
              <a:rPr dirty="0" sz="800" spc="20">
                <a:solidFill>
                  <a:srgbClr val="606060"/>
                </a:solidFill>
                <a:latin typeface="Lucida Sans Typewriter"/>
                <a:cs typeface="Lucida Sans Typewriter"/>
              </a:rPr>
              <a:t>}</a:t>
            </a:r>
            <a:endParaRPr sz="800">
              <a:latin typeface="Lucida Sans Typewriter"/>
              <a:cs typeface="Lucida Sans Typewriter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150">
              <a:latin typeface="Lucida Sans Typewriter"/>
              <a:cs typeface="Lucida Sans Typewriter"/>
            </a:endParaRPr>
          </a:p>
          <a:p>
            <a:pPr marL="290195">
              <a:lnSpc>
                <a:spcPct val="100000"/>
              </a:lnSpc>
            </a:pPr>
            <a:r>
              <a:rPr dirty="0" sz="800" spc="20">
                <a:solidFill>
                  <a:srgbClr val="606060"/>
                </a:solidFill>
                <a:latin typeface="Lucida Sans Typewriter"/>
                <a:cs typeface="Lucida Sans Typewriter"/>
              </a:rPr>
              <a:t>private</a:t>
            </a:r>
            <a:r>
              <a:rPr dirty="0" sz="800" spc="10">
                <a:solidFill>
                  <a:srgbClr val="606060"/>
                </a:solidFill>
                <a:latin typeface="Lucida Sans Typewriter"/>
                <a:cs typeface="Lucida Sans Typewriter"/>
              </a:rPr>
              <a:t> </a:t>
            </a:r>
            <a:r>
              <a:rPr dirty="0" sz="800" spc="20">
                <a:solidFill>
                  <a:srgbClr val="606060"/>
                </a:solidFill>
                <a:latin typeface="Lucida Sans Typewriter"/>
                <a:cs typeface="Lucida Sans Typewriter"/>
              </a:rPr>
              <a:t>int</a:t>
            </a:r>
            <a:r>
              <a:rPr dirty="0" sz="800" spc="15">
                <a:solidFill>
                  <a:srgbClr val="606060"/>
                </a:solidFill>
                <a:latin typeface="Lucida Sans Typewriter"/>
                <a:cs typeface="Lucida Sans Typewriter"/>
              </a:rPr>
              <a:t> </a:t>
            </a:r>
            <a:r>
              <a:rPr dirty="0" sz="800" spc="20">
                <a:solidFill>
                  <a:srgbClr val="606060"/>
                </a:solidFill>
                <a:latin typeface="Lucida Sans Typewriter"/>
                <a:cs typeface="Lucida Sans Typewriter"/>
              </a:rPr>
              <a:t>hash(Key</a:t>
            </a:r>
            <a:r>
              <a:rPr dirty="0" sz="800" spc="10">
                <a:solidFill>
                  <a:srgbClr val="606060"/>
                </a:solidFill>
                <a:latin typeface="Lucida Sans Typewriter"/>
                <a:cs typeface="Lucida Sans Typewriter"/>
              </a:rPr>
              <a:t> </a:t>
            </a:r>
            <a:r>
              <a:rPr dirty="0" sz="800" spc="20">
                <a:solidFill>
                  <a:srgbClr val="606060"/>
                </a:solidFill>
                <a:latin typeface="Lucida Sans Typewriter"/>
                <a:cs typeface="Lucida Sans Typewriter"/>
              </a:rPr>
              <a:t>key)</a:t>
            </a:r>
            <a:endParaRPr sz="800">
              <a:latin typeface="Lucida Sans Typewriter"/>
              <a:cs typeface="Lucida Sans Typewriter"/>
            </a:endParaRPr>
          </a:p>
          <a:p>
            <a:pPr marL="290195">
              <a:lnSpc>
                <a:spcPct val="100000"/>
              </a:lnSpc>
              <a:spcBef>
                <a:spcPts val="204"/>
              </a:spcBef>
              <a:tabLst>
                <a:tab pos="483234" algn="l"/>
                <a:tab pos="3242945" algn="l"/>
              </a:tabLst>
            </a:pPr>
            <a:r>
              <a:rPr dirty="0" sz="800" spc="20">
                <a:solidFill>
                  <a:srgbClr val="606060"/>
                </a:solidFill>
                <a:latin typeface="Lucida Sans Typewriter"/>
                <a:cs typeface="Lucida Sans Typewriter"/>
              </a:rPr>
              <a:t>{	return</a:t>
            </a:r>
            <a:r>
              <a:rPr dirty="0" sz="800" spc="40">
                <a:solidFill>
                  <a:srgbClr val="606060"/>
                </a:solidFill>
                <a:latin typeface="Lucida Sans Typewriter"/>
                <a:cs typeface="Lucida Sans Typewriter"/>
              </a:rPr>
              <a:t> </a:t>
            </a:r>
            <a:r>
              <a:rPr dirty="0" sz="800" spc="20">
                <a:solidFill>
                  <a:srgbClr val="606060"/>
                </a:solidFill>
                <a:latin typeface="Lucida Sans Typewriter"/>
                <a:cs typeface="Lucida Sans Typewriter"/>
              </a:rPr>
              <a:t>(key.hashCode()</a:t>
            </a:r>
            <a:r>
              <a:rPr dirty="0" sz="800" spc="40">
                <a:solidFill>
                  <a:srgbClr val="606060"/>
                </a:solidFill>
                <a:latin typeface="Lucida Sans Typewriter"/>
                <a:cs typeface="Lucida Sans Typewriter"/>
              </a:rPr>
              <a:t> </a:t>
            </a:r>
            <a:r>
              <a:rPr dirty="0" sz="800" spc="20">
                <a:solidFill>
                  <a:srgbClr val="606060"/>
                </a:solidFill>
                <a:latin typeface="Lucida Sans Typewriter"/>
                <a:cs typeface="Lucida Sans Typewriter"/>
              </a:rPr>
              <a:t>&amp;</a:t>
            </a:r>
            <a:r>
              <a:rPr dirty="0" sz="800" spc="40">
                <a:solidFill>
                  <a:srgbClr val="606060"/>
                </a:solidFill>
                <a:latin typeface="Lucida Sans Typewriter"/>
                <a:cs typeface="Lucida Sans Typewriter"/>
              </a:rPr>
              <a:t> </a:t>
            </a:r>
            <a:r>
              <a:rPr dirty="0" sz="800" spc="20">
                <a:solidFill>
                  <a:srgbClr val="606060"/>
                </a:solidFill>
                <a:latin typeface="Lucida Sans Typewriter"/>
                <a:cs typeface="Lucida Sans Typewriter"/>
              </a:rPr>
              <a:t>0x7fffffff)</a:t>
            </a:r>
            <a:r>
              <a:rPr dirty="0" sz="800" spc="40">
                <a:solidFill>
                  <a:srgbClr val="606060"/>
                </a:solidFill>
                <a:latin typeface="Lucida Sans Typewriter"/>
                <a:cs typeface="Lucida Sans Typewriter"/>
              </a:rPr>
              <a:t> </a:t>
            </a:r>
            <a:r>
              <a:rPr dirty="0" sz="800" spc="20">
                <a:solidFill>
                  <a:srgbClr val="606060"/>
                </a:solidFill>
                <a:latin typeface="Lucida Sans Typewriter"/>
                <a:cs typeface="Lucida Sans Typewriter"/>
              </a:rPr>
              <a:t>%</a:t>
            </a:r>
            <a:r>
              <a:rPr dirty="0" sz="800" spc="40">
                <a:solidFill>
                  <a:srgbClr val="606060"/>
                </a:solidFill>
                <a:latin typeface="Lucida Sans Typewriter"/>
                <a:cs typeface="Lucida Sans Typewriter"/>
              </a:rPr>
              <a:t> </a:t>
            </a:r>
            <a:r>
              <a:rPr dirty="0" sz="800" spc="20">
                <a:solidFill>
                  <a:srgbClr val="606060"/>
                </a:solidFill>
                <a:latin typeface="Lucida Sans Typewriter"/>
                <a:cs typeface="Lucida Sans Typewriter"/>
              </a:rPr>
              <a:t>M;	}</a:t>
            </a:r>
            <a:endParaRPr sz="800">
              <a:latin typeface="Lucida Sans Typewriter"/>
              <a:cs typeface="Lucida Sans Typewriter"/>
            </a:endParaRPr>
          </a:p>
          <a:p>
            <a:pPr>
              <a:lnSpc>
                <a:spcPct val="100000"/>
              </a:lnSpc>
            </a:pPr>
            <a:endParaRPr sz="1000">
              <a:latin typeface="Lucida Sans Typewriter"/>
              <a:cs typeface="Lucida Sans Typewriter"/>
            </a:endParaRPr>
          </a:p>
          <a:p>
            <a:pPr>
              <a:lnSpc>
                <a:spcPct val="100000"/>
              </a:lnSpc>
            </a:pPr>
            <a:endParaRPr sz="1000">
              <a:latin typeface="Lucida Sans Typewriter"/>
              <a:cs typeface="Lucida Sans Typewriter"/>
            </a:endParaRPr>
          </a:p>
          <a:p>
            <a:pPr>
              <a:lnSpc>
                <a:spcPct val="100000"/>
              </a:lnSpc>
            </a:pPr>
            <a:endParaRPr sz="1000">
              <a:latin typeface="Lucida Sans Typewriter"/>
              <a:cs typeface="Lucida Sans Typewriter"/>
            </a:endParaRPr>
          </a:p>
          <a:p>
            <a:pPr>
              <a:lnSpc>
                <a:spcPct val="100000"/>
              </a:lnSpc>
            </a:pPr>
            <a:endParaRPr sz="1000">
              <a:latin typeface="Lucida Sans Typewriter"/>
              <a:cs typeface="Lucida Sans Typewriter"/>
            </a:endParaRPr>
          </a:p>
          <a:p>
            <a:pPr>
              <a:lnSpc>
                <a:spcPct val="100000"/>
              </a:lnSpc>
            </a:pPr>
            <a:endParaRPr sz="1000">
              <a:latin typeface="Lucida Sans Typewriter"/>
              <a:cs typeface="Lucida Sans Typewriter"/>
            </a:endParaRPr>
          </a:p>
          <a:p>
            <a:pPr>
              <a:lnSpc>
                <a:spcPct val="100000"/>
              </a:lnSpc>
            </a:pPr>
            <a:endParaRPr sz="1000">
              <a:latin typeface="Lucida Sans Typewriter"/>
              <a:cs typeface="Lucida Sans Typewriter"/>
            </a:endParaRPr>
          </a:p>
          <a:p>
            <a:pPr>
              <a:lnSpc>
                <a:spcPct val="100000"/>
              </a:lnSpc>
            </a:pPr>
            <a:endParaRPr sz="1000">
              <a:latin typeface="Lucida Sans Typewriter"/>
              <a:cs typeface="Lucida Sans Typewriter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000">
              <a:latin typeface="Lucida Sans Typewriter"/>
              <a:cs typeface="Lucida Sans Typewriter"/>
            </a:endParaRPr>
          </a:p>
          <a:p>
            <a:pPr marL="97790">
              <a:lnSpc>
                <a:spcPct val="100000"/>
              </a:lnSpc>
            </a:pPr>
            <a:r>
              <a:rPr dirty="0" sz="800" spc="20">
                <a:latin typeface="Lucida Sans Typewriter"/>
                <a:cs typeface="Lucida Sans Typewriter"/>
              </a:rPr>
              <a:t>}</a:t>
            </a:r>
            <a:endParaRPr sz="800">
              <a:latin typeface="Lucida Sans Typewriter"/>
              <a:cs typeface="Lucida Sans Typewriter"/>
            </a:endParaRPr>
          </a:p>
        </p:txBody>
      </p:sp>
      <p:sp>
        <p:nvSpPr>
          <p:cNvPr id="120" name="object 120"/>
          <p:cNvSpPr txBox="1"/>
          <p:nvPr/>
        </p:nvSpPr>
        <p:spPr>
          <a:xfrm>
            <a:off x="346176" y="4966780"/>
            <a:ext cx="6066790" cy="4549775"/>
          </a:xfrm>
          <a:prstGeom prst="rect">
            <a:avLst/>
          </a:prstGeom>
        </p:spPr>
        <p:txBody>
          <a:bodyPr wrap="square" lIns="0" tIns="172085" rIns="0" bIns="0" rtlCol="0" vert="horz">
            <a:spAutoFit/>
          </a:bodyPr>
          <a:lstStyle/>
          <a:p>
            <a:pPr marL="406400">
              <a:lnSpc>
                <a:spcPct val="100000"/>
              </a:lnSpc>
              <a:spcBef>
                <a:spcPts val="1355"/>
              </a:spcBef>
            </a:pPr>
            <a:r>
              <a:rPr dirty="0" sz="1300" spc="5">
                <a:latin typeface="Arial"/>
                <a:cs typeface="Arial"/>
              </a:rPr>
              <a:t>Separate-chaining</a:t>
            </a:r>
            <a:r>
              <a:rPr dirty="0" sz="1300" spc="50">
                <a:latin typeface="Arial"/>
                <a:cs typeface="Arial"/>
              </a:rPr>
              <a:t> </a:t>
            </a:r>
            <a:r>
              <a:rPr dirty="0" sz="1300" spc="5">
                <a:latin typeface="Arial"/>
                <a:cs typeface="Arial"/>
              </a:rPr>
              <a:t>symbol</a:t>
            </a:r>
            <a:r>
              <a:rPr dirty="0" sz="1300" spc="50">
                <a:latin typeface="Arial"/>
                <a:cs typeface="Arial"/>
              </a:rPr>
              <a:t> </a:t>
            </a:r>
            <a:r>
              <a:rPr dirty="0" sz="1300" spc="30">
                <a:latin typeface="Arial"/>
                <a:cs typeface="Arial"/>
              </a:rPr>
              <a:t>table: </a:t>
            </a:r>
            <a:r>
              <a:rPr dirty="0" sz="1300" spc="70">
                <a:latin typeface="Arial"/>
                <a:cs typeface="Arial"/>
              </a:rPr>
              <a:t> </a:t>
            </a:r>
            <a:r>
              <a:rPr dirty="0" sz="1300" spc="-5">
                <a:latin typeface="Arial"/>
                <a:cs typeface="Arial"/>
              </a:rPr>
              <a:t>Java</a:t>
            </a:r>
            <a:r>
              <a:rPr dirty="0" sz="1300" spc="50">
                <a:latin typeface="Arial"/>
                <a:cs typeface="Arial"/>
              </a:rPr>
              <a:t> </a:t>
            </a:r>
            <a:r>
              <a:rPr dirty="0" sz="1300" spc="10">
                <a:latin typeface="Arial"/>
                <a:cs typeface="Arial"/>
              </a:rPr>
              <a:t>implementation</a:t>
            </a:r>
            <a:endParaRPr sz="1300">
              <a:latin typeface="Arial"/>
              <a:cs typeface="Arial"/>
            </a:endParaRPr>
          </a:p>
        </p:txBody>
      </p:sp>
      <p:grpSp>
        <p:nvGrpSpPr>
          <p:cNvPr id="121" name="object 121"/>
          <p:cNvGrpSpPr/>
          <p:nvPr/>
        </p:nvGrpSpPr>
        <p:grpSpPr>
          <a:xfrm>
            <a:off x="6592379" y="4966780"/>
            <a:ext cx="6066790" cy="4549775"/>
            <a:chOff x="6592379" y="4966780"/>
            <a:chExt cx="6066790" cy="4549775"/>
          </a:xfrm>
        </p:grpSpPr>
        <p:sp>
          <p:nvSpPr>
            <p:cNvPr id="122" name="object 122"/>
            <p:cNvSpPr/>
            <p:nvPr/>
          </p:nvSpPr>
          <p:spPr>
            <a:xfrm>
              <a:off x="6592379" y="4966780"/>
              <a:ext cx="6066790" cy="4549775"/>
            </a:xfrm>
            <a:custGeom>
              <a:avLst/>
              <a:gdLst/>
              <a:ahLst/>
              <a:cxnLst/>
              <a:rect l="l" t="t" r="r" b="b"/>
              <a:pathLst>
                <a:path w="6066790" h="4549775">
                  <a:moveTo>
                    <a:pt x="0" y="0"/>
                  </a:moveTo>
                  <a:lnTo>
                    <a:pt x="6066212" y="0"/>
                  </a:lnTo>
                  <a:lnTo>
                    <a:pt x="6066212" y="4549659"/>
                  </a:lnTo>
                  <a:lnTo>
                    <a:pt x="0" y="45496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3" name="object 123"/>
            <p:cNvSpPr/>
            <p:nvPr/>
          </p:nvSpPr>
          <p:spPr>
            <a:xfrm>
              <a:off x="6977442" y="5428805"/>
              <a:ext cx="5302250" cy="635"/>
            </a:xfrm>
            <a:custGeom>
              <a:avLst/>
              <a:gdLst/>
              <a:ahLst/>
              <a:cxnLst/>
              <a:rect l="l" t="t" r="r" b="b"/>
              <a:pathLst>
                <a:path w="5302250" h="635">
                  <a:moveTo>
                    <a:pt x="0" y="49"/>
                  </a:moveTo>
                  <a:lnTo>
                    <a:pt x="5302012" y="0"/>
                  </a:lnTo>
                </a:path>
              </a:pathLst>
            </a:custGeom>
            <a:ln w="59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4" name="object 124"/>
          <p:cNvSpPr txBox="1"/>
          <p:nvPr/>
        </p:nvSpPr>
        <p:spPr>
          <a:xfrm>
            <a:off x="6998899" y="5527527"/>
            <a:ext cx="5179695" cy="487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R="5080">
              <a:lnSpc>
                <a:spcPct val="137800"/>
              </a:lnSpc>
              <a:spcBef>
                <a:spcPts val="95"/>
              </a:spcBef>
            </a:pPr>
            <a:r>
              <a:rPr dirty="0" sz="1100" spc="5">
                <a:solidFill>
                  <a:srgbClr val="005493"/>
                </a:solidFill>
                <a:latin typeface="Lucida Sans"/>
                <a:cs typeface="Lucida Sans"/>
              </a:rPr>
              <a:t>Proposition.</a:t>
            </a:r>
            <a:r>
              <a:rPr dirty="0" sz="1100" spc="355">
                <a:solidFill>
                  <a:srgbClr val="005493"/>
                </a:solidFill>
                <a:latin typeface="Lucida Sans"/>
                <a:cs typeface="Lucida Sans"/>
              </a:rPr>
              <a:t> </a:t>
            </a:r>
            <a:r>
              <a:rPr dirty="0" sz="1100" spc="10">
                <a:latin typeface="Lucida Sans"/>
                <a:cs typeface="Lucida Sans"/>
              </a:rPr>
              <a:t>Under</a:t>
            </a:r>
            <a:r>
              <a:rPr dirty="0" sz="1100" spc="5">
                <a:latin typeface="Lucida Sans"/>
                <a:cs typeface="Lucida Sans"/>
              </a:rPr>
              <a:t> </a:t>
            </a:r>
            <a:r>
              <a:rPr dirty="0" sz="1100" spc="10">
                <a:latin typeface="Lucida Sans"/>
                <a:cs typeface="Lucida Sans"/>
              </a:rPr>
              <a:t>uniform</a:t>
            </a:r>
            <a:r>
              <a:rPr dirty="0" sz="1100" spc="5">
                <a:latin typeface="Lucida Sans"/>
                <a:cs typeface="Lucida Sans"/>
              </a:rPr>
              <a:t> </a:t>
            </a:r>
            <a:r>
              <a:rPr dirty="0" sz="1100" spc="10">
                <a:latin typeface="Lucida Sans"/>
                <a:cs typeface="Lucida Sans"/>
              </a:rPr>
              <a:t>hashing</a:t>
            </a:r>
            <a:r>
              <a:rPr dirty="0" sz="1100" spc="5">
                <a:latin typeface="Lucida Sans"/>
                <a:cs typeface="Lucida Sans"/>
              </a:rPr>
              <a:t> </a:t>
            </a:r>
            <a:r>
              <a:rPr dirty="0" sz="1100" spc="10">
                <a:latin typeface="Lucida Sans"/>
                <a:cs typeface="Lucida Sans"/>
              </a:rPr>
              <a:t>assumption,</a:t>
            </a:r>
            <a:r>
              <a:rPr dirty="0" sz="1100" spc="5">
                <a:latin typeface="Lucida Sans"/>
                <a:cs typeface="Lucida Sans"/>
              </a:rPr>
              <a:t> prob. that the </a:t>
            </a:r>
            <a:r>
              <a:rPr dirty="0" sz="1100" spc="10">
                <a:latin typeface="Lucida Sans"/>
                <a:cs typeface="Lucida Sans"/>
              </a:rPr>
              <a:t>number</a:t>
            </a:r>
            <a:r>
              <a:rPr dirty="0" sz="1100" spc="5">
                <a:latin typeface="Lucida Sans"/>
                <a:cs typeface="Lucida Sans"/>
              </a:rPr>
              <a:t> of </a:t>
            </a:r>
            <a:r>
              <a:rPr dirty="0" sz="1100" spc="-335">
                <a:latin typeface="Lucida Sans"/>
                <a:cs typeface="Lucida Sans"/>
              </a:rPr>
              <a:t> </a:t>
            </a:r>
            <a:r>
              <a:rPr dirty="0" sz="1100" spc="20">
                <a:latin typeface="Lucida Sans"/>
                <a:cs typeface="Lucida Sans"/>
              </a:rPr>
              <a:t>keys</a:t>
            </a:r>
            <a:r>
              <a:rPr dirty="0" sz="1100" spc="5">
                <a:latin typeface="Lucida Sans"/>
                <a:cs typeface="Lucida Sans"/>
              </a:rPr>
              <a:t> in </a:t>
            </a:r>
            <a:r>
              <a:rPr dirty="0" sz="1100" spc="10">
                <a:latin typeface="Lucida Sans"/>
                <a:cs typeface="Lucida Sans"/>
              </a:rPr>
              <a:t>a</a:t>
            </a:r>
            <a:r>
              <a:rPr dirty="0" sz="1100" spc="5">
                <a:latin typeface="Lucida Sans"/>
                <a:cs typeface="Lucida Sans"/>
              </a:rPr>
              <a:t> list is</a:t>
            </a:r>
            <a:r>
              <a:rPr dirty="0" sz="1100" spc="10">
                <a:latin typeface="Lucida Sans"/>
                <a:cs typeface="Lucida Sans"/>
              </a:rPr>
              <a:t> </a:t>
            </a:r>
            <a:r>
              <a:rPr dirty="0" sz="1100" spc="20">
                <a:latin typeface="Lucida Sans"/>
                <a:cs typeface="Lucida Sans"/>
              </a:rPr>
              <a:t>within</a:t>
            </a:r>
            <a:r>
              <a:rPr dirty="0" sz="1100" spc="5">
                <a:latin typeface="Lucida Sans"/>
                <a:cs typeface="Lucida Sans"/>
              </a:rPr>
              <a:t> </a:t>
            </a:r>
            <a:r>
              <a:rPr dirty="0" sz="1100" spc="10">
                <a:latin typeface="Lucida Sans"/>
                <a:cs typeface="Lucida Sans"/>
              </a:rPr>
              <a:t>a</a:t>
            </a:r>
            <a:r>
              <a:rPr dirty="0" sz="1100" spc="5">
                <a:latin typeface="Lucida Sans"/>
                <a:cs typeface="Lucida Sans"/>
              </a:rPr>
              <a:t> </a:t>
            </a:r>
            <a:r>
              <a:rPr dirty="0" sz="1100" spc="10">
                <a:latin typeface="Lucida Sans"/>
                <a:cs typeface="Lucida Sans"/>
              </a:rPr>
              <a:t>constant</a:t>
            </a:r>
            <a:r>
              <a:rPr dirty="0" sz="1100" spc="5">
                <a:latin typeface="Lucida Sans"/>
                <a:cs typeface="Lucida Sans"/>
              </a:rPr>
              <a:t> </a:t>
            </a:r>
            <a:r>
              <a:rPr dirty="0" sz="1100" spc="10">
                <a:latin typeface="Lucida Sans"/>
                <a:cs typeface="Lucida Sans"/>
              </a:rPr>
              <a:t>factor</a:t>
            </a:r>
            <a:r>
              <a:rPr dirty="0" sz="1100" spc="5">
                <a:latin typeface="Lucida Sans"/>
                <a:cs typeface="Lucida Sans"/>
              </a:rPr>
              <a:t> of</a:t>
            </a:r>
            <a:r>
              <a:rPr dirty="0" sz="1100" spc="10">
                <a:latin typeface="Lucida Sans"/>
                <a:cs typeface="Lucida Sans"/>
              </a:rPr>
              <a:t> </a:t>
            </a:r>
            <a:r>
              <a:rPr dirty="0" sz="1100" spc="10" i="1">
                <a:latin typeface="Times New Roman"/>
                <a:cs typeface="Times New Roman"/>
              </a:rPr>
              <a:t>N</a:t>
            </a:r>
            <a:r>
              <a:rPr dirty="0" sz="1100" i="1">
                <a:latin typeface="Times New Roman"/>
                <a:cs typeface="Times New Roman"/>
              </a:rPr>
              <a:t> </a:t>
            </a:r>
            <a:r>
              <a:rPr dirty="0" sz="1100" spc="5">
                <a:latin typeface="Times New Roman"/>
                <a:cs typeface="Times New Roman"/>
              </a:rPr>
              <a:t>/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15" i="1">
                <a:latin typeface="Times New Roman"/>
                <a:cs typeface="Times New Roman"/>
              </a:rPr>
              <a:t>M</a:t>
            </a:r>
            <a:r>
              <a:rPr dirty="0" sz="1100" spc="75" i="1">
                <a:latin typeface="Times New Roman"/>
                <a:cs typeface="Times New Roman"/>
              </a:rPr>
              <a:t> </a:t>
            </a:r>
            <a:r>
              <a:rPr dirty="0" sz="1100" spc="5">
                <a:latin typeface="Lucida Sans"/>
                <a:cs typeface="Lucida Sans"/>
              </a:rPr>
              <a:t>is </a:t>
            </a:r>
            <a:r>
              <a:rPr dirty="0" sz="1100" spc="10">
                <a:latin typeface="Lucida Sans"/>
                <a:cs typeface="Lucida Sans"/>
              </a:rPr>
              <a:t>extremely close</a:t>
            </a:r>
            <a:r>
              <a:rPr dirty="0" sz="1100" spc="5">
                <a:latin typeface="Lucida Sans"/>
                <a:cs typeface="Lucida Sans"/>
              </a:rPr>
              <a:t> to </a:t>
            </a:r>
            <a:r>
              <a:rPr dirty="0" sz="1100" spc="5">
                <a:latin typeface="Times New Roman"/>
                <a:cs typeface="Times New Roman"/>
              </a:rPr>
              <a:t>1</a:t>
            </a:r>
            <a:r>
              <a:rPr dirty="0" sz="1100" spc="5">
                <a:latin typeface="Lucida Sans"/>
                <a:cs typeface="Lucida Sans"/>
              </a:rPr>
              <a:t>.</a:t>
            </a:r>
            <a:endParaRPr sz="1100">
              <a:latin typeface="Lucida Sans"/>
              <a:cs typeface="Lucida Sans"/>
            </a:endParaRPr>
          </a:p>
        </p:txBody>
      </p:sp>
      <p:sp>
        <p:nvSpPr>
          <p:cNvPr id="125" name="object 125"/>
          <p:cNvSpPr txBox="1"/>
          <p:nvPr/>
        </p:nvSpPr>
        <p:spPr>
          <a:xfrm>
            <a:off x="6998899" y="6281064"/>
            <a:ext cx="4464685" cy="1962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dirty="0" sz="1100" spc="5">
                <a:solidFill>
                  <a:srgbClr val="005493"/>
                </a:solidFill>
                <a:latin typeface="Lucida Sans"/>
                <a:cs typeface="Lucida Sans"/>
              </a:rPr>
              <a:t>Pf</a:t>
            </a:r>
            <a:r>
              <a:rPr dirty="0" sz="1100" spc="10">
                <a:solidFill>
                  <a:srgbClr val="005493"/>
                </a:solidFill>
                <a:latin typeface="Lucida Sans"/>
                <a:cs typeface="Lucida Sans"/>
              </a:rPr>
              <a:t> sketch.  </a:t>
            </a:r>
            <a:r>
              <a:rPr dirty="0" sz="1100" spc="5">
                <a:latin typeface="Lucida Sans"/>
                <a:cs typeface="Lucida Sans"/>
              </a:rPr>
              <a:t>Distribution</a:t>
            </a:r>
            <a:r>
              <a:rPr dirty="0" sz="1100" spc="10">
                <a:latin typeface="Lucida Sans"/>
                <a:cs typeface="Lucida Sans"/>
              </a:rPr>
              <a:t> </a:t>
            </a:r>
            <a:r>
              <a:rPr dirty="0" sz="1100" spc="5">
                <a:latin typeface="Lucida Sans"/>
                <a:cs typeface="Lucida Sans"/>
              </a:rPr>
              <a:t>of</a:t>
            </a:r>
            <a:r>
              <a:rPr dirty="0" sz="1100" spc="10">
                <a:latin typeface="Lucida Sans"/>
                <a:cs typeface="Lucida Sans"/>
              </a:rPr>
              <a:t> </a:t>
            </a:r>
            <a:r>
              <a:rPr dirty="0" sz="1100" spc="5">
                <a:latin typeface="Lucida Sans"/>
                <a:cs typeface="Lucida Sans"/>
              </a:rPr>
              <a:t>list</a:t>
            </a:r>
            <a:r>
              <a:rPr dirty="0" sz="1100" spc="10">
                <a:latin typeface="Lucida Sans"/>
                <a:cs typeface="Lucida Sans"/>
              </a:rPr>
              <a:t> </a:t>
            </a:r>
            <a:r>
              <a:rPr dirty="0" sz="1100" spc="5">
                <a:latin typeface="Lucida Sans"/>
                <a:cs typeface="Lucida Sans"/>
              </a:rPr>
              <a:t>size</a:t>
            </a:r>
            <a:r>
              <a:rPr dirty="0" sz="1100" spc="10">
                <a:latin typeface="Lucida Sans"/>
                <a:cs typeface="Lucida Sans"/>
              </a:rPr>
              <a:t> </a:t>
            </a:r>
            <a:r>
              <a:rPr dirty="0" sz="1100" spc="20">
                <a:latin typeface="Lucida Sans"/>
                <a:cs typeface="Lucida Sans"/>
              </a:rPr>
              <a:t>obeys</a:t>
            </a:r>
            <a:r>
              <a:rPr dirty="0" sz="1100" spc="10">
                <a:latin typeface="Lucida Sans"/>
                <a:cs typeface="Lucida Sans"/>
              </a:rPr>
              <a:t> a binomial </a:t>
            </a:r>
            <a:r>
              <a:rPr dirty="0" sz="1100" spc="5">
                <a:latin typeface="Lucida Sans"/>
                <a:cs typeface="Lucida Sans"/>
              </a:rPr>
              <a:t>distribution.</a:t>
            </a:r>
            <a:endParaRPr sz="1100">
              <a:latin typeface="Lucida Sans"/>
              <a:cs typeface="Lucida Sans"/>
            </a:endParaRPr>
          </a:p>
        </p:txBody>
      </p:sp>
      <p:sp>
        <p:nvSpPr>
          <p:cNvPr id="126" name="object 126"/>
          <p:cNvSpPr txBox="1"/>
          <p:nvPr/>
        </p:nvSpPr>
        <p:spPr>
          <a:xfrm>
            <a:off x="6998899" y="8360401"/>
            <a:ext cx="5183505" cy="1962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dirty="0" sz="1100" spc="10">
                <a:solidFill>
                  <a:srgbClr val="005493"/>
                </a:solidFill>
                <a:latin typeface="Lucida Sans"/>
                <a:cs typeface="Lucida Sans"/>
              </a:rPr>
              <a:t>Consequence.</a:t>
            </a:r>
            <a:r>
              <a:rPr dirty="0" sz="1100" spc="365">
                <a:solidFill>
                  <a:srgbClr val="005493"/>
                </a:solidFill>
                <a:latin typeface="Lucida Sans"/>
                <a:cs typeface="Lucida Sans"/>
              </a:rPr>
              <a:t> </a:t>
            </a:r>
            <a:r>
              <a:rPr dirty="0" sz="1100" spc="10">
                <a:latin typeface="Lucida Sans"/>
                <a:cs typeface="Lucida Sans"/>
              </a:rPr>
              <a:t>Number </a:t>
            </a:r>
            <a:r>
              <a:rPr dirty="0" sz="1100" spc="5">
                <a:latin typeface="Lucida Sans"/>
                <a:cs typeface="Lucida Sans"/>
              </a:rPr>
              <a:t>of</a:t>
            </a:r>
            <a:r>
              <a:rPr dirty="0" sz="1100" spc="10">
                <a:latin typeface="Lucida Sans"/>
                <a:cs typeface="Lucida Sans"/>
              </a:rPr>
              <a:t> </a:t>
            </a:r>
            <a:r>
              <a:rPr dirty="0" sz="1100" spc="5">
                <a:latin typeface="Lucida Sans"/>
                <a:cs typeface="Lucida Sans"/>
              </a:rPr>
              <a:t>probes</a:t>
            </a:r>
            <a:r>
              <a:rPr dirty="0" sz="1100" spc="10">
                <a:latin typeface="Lucida Sans"/>
                <a:cs typeface="Lucida Sans"/>
              </a:rPr>
              <a:t> </a:t>
            </a:r>
            <a:r>
              <a:rPr dirty="0" sz="1100" spc="5">
                <a:latin typeface="Lucida Sans"/>
                <a:cs typeface="Lucida Sans"/>
              </a:rPr>
              <a:t>for</a:t>
            </a:r>
            <a:r>
              <a:rPr dirty="0" sz="1100" spc="10">
                <a:latin typeface="Lucida Sans"/>
                <a:cs typeface="Lucida Sans"/>
              </a:rPr>
              <a:t> </a:t>
            </a:r>
            <a:r>
              <a:rPr dirty="0" sz="1100" spc="5">
                <a:latin typeface="Lucida Sans"/>
                <a:cs typeface="Lucida Sans"/>
              </a:rPr>
              <a:t>search/insert</a:t>
            </a:r>
            <a:r>
              <a:rPr dirty="0" sz="1100" spc="10">
                <a:latin typeface="Lucida Sans"/>
                <a:cs typeface="Lucida Sans"/>
              </a:rPr>
              <a:t> </a:t>
            </a:r>
            <a:r>
              <a:rPr dirty="0" sz="1100" spc="5">
                <a:latin typeface="Lucida Sans"/>
                <a:cs typeface="Lucida Sans"/>
              </a:rPr>
              <a:t>is</a:t>
            </a:r>
            <a:r>
              <a:rPr dirty="0" sz="1100" spc="10">
                <a:latin typeface="Lucida Sans"/>
                <a:cs typeface="Lucida Sans"/>
              </a:rPr>
              <a:t> </a:t>
            </a:r>
            <a:r>
              <a:rPr dirty="0" sz="1100" spc="5">
                <a:latin typeface="Lucida Sans"/>
                <a:cs typeface="Lucida Sans"/>
              </a:rPr>
              <a:t>proportional</a:t>
            </a:r>
            <a:r>
              <a:rPr dirty="0" sz="1100" spc="10">
                <a:latin typeface="Lucida Sans"/>
                <a:cs typeface="Lucida Sans"/>
              </a:rPr>
              <a:t> </a:t>
            </a:r>
            <a:r>
              <a:rPr dirty="0" sz="1100" spc="5">
                <a:latin typeface="Lucida Sans"/>
                <a:cs typeface="Lucida Sans"/>
              </a:rPr>
              <a:t>to</a:t>
            </a:r>
            <a:r>
              <a:rPr dirty="0" sz="1100" spc="10">
                <a:latin typeface="Lucida Sans"/>
                <a:cs typeface="Lucida Sans"/>
              </a:rPr>
              <a:t> </a:t>
            </a:r>
            <a:r>
              <a:rPr dirty="0" sz="1100" spc="10" i="1">
                <a:latin typeface="Times New Roman"/>
                <a:cs typeface="Times New Roman"/>
              </a:rPr>
              <a:t>N</a:t>
            </a:r>
            <a:r>
              <a:rPr dirty="0" sz="1100" spc="5" i="1">
                <a:latin typeface="Times New Roman"/>
                <a:cs typeface="Times New Roman"/>
              </a:rPr>
              <a:t> </a:t>
            </a:r>
            <a:r>
              <a:rPr dirty="0" sz="1100" spc="5">
                <a:latin typeface="Times New Roman"/>
                <a:cs typeface="Times New Roman"/>
              </a:rPr>
              <a:t>/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10" i="1">
                <a:latin typeface="Times New Roman"/>
                <a:cs typeface="Times New Roman"/>
              </a:rPr>
              <a:t>M</a:t>
            </a:r>
            <a:r>
              <a:rPr dirty="0" sz="1100" spc="10">
                <a:latin typeface="Lucida Sans"/>
                <a:cs typeface="Lucida Sans"/>
              </a:rPr>
              <a:t>.</a:t>
            </a:r>
            <a:endParaRPr sz="1100">
              <a:latin typeface="Lucida Sans"/>
              <a:cs typeface="Lucida Sans"/>
            </a:endParaRPr>
          </a:p>
        </p:txBody>
      </p:sp>
      <p:sp>
        <p:nvSpPr>
          <p:cNvPr id="127" name="object 127"/>
          <p:cNvSpPr txBox="1"/>
          <p:nvPr/>
        </p:nvSpPr>
        <p:spPr>
          <a:xfrm>
            <a:off x="7005358" y="8496654"/>
            <a:ext cx="1079500" cy="3098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14"/>
              </a:spcBef>
            </a:pPr>
            <a:r>
              <a:rPr dirty="0" baseline="-12012" sz="2775" spc="22">
                <a:latin typeface="Microsoft JhengHei"/>
                <a:cs typeface="Microsoft JhengHei"/>
              </a:rPr>
              <a:t>・</a:t>
            </a:r>
            <a:r>
              <a:rPr dirty="0" sz="1100" spc="15" i="1">
                <a:latin typeface="Times New Roman"/>
                <a:cs typeface="Times New Roman"/>
              </a:rPr>
              <a:t>M</a:t>
            </a:r>
            <a:r>
              <a:rPr dirty="0" sz="1100" spc="45" i="1">
                <a:latin typeface="Times New Roman"/>
                <a:cs typeface="Times New Roman"/>
              </a:rPr>
              <a:t> </a:t>
            </a:r>
            <a:r>
              <a:rPr dirty="0" sz="1100" spc="10">
                <a:latin typeface="Lucida Sans"/>
                <a:cs typeface="Lucida Sans"/>
              </a:rPr>
              <a:t>too</a:t>
            </a:r>
            <a:r>
              <a:rPr dirty="0" sz="1100" spc="-20">
                <a:latin typeface="Lucida Sans"/>
                <a:cs typeface="Lucida Sans"/>
              </a:rPr>
              <a:t> </a:t>
            </a:r>
            <a:r>
              <a:rPr dirty="0" sz="1100">
                <a:latin typeface="Lucida Sans"/>
                <a:cs typeface="Lucida Sans"/>
              </a:rPr>
              <a:t>large</a:t>
            </a:r>
            <a:endParaRPr sz="1100">
              <a:latin typeface="Lucida Sans"/>
              <a:cs typeface="Lucida Sans"/>
            </a:endParaRPr>
          </a:p>
        </p:txBody>
      </p:sp>
      <p:sp>
        <p:nvSpPr>
          <p:cNvPr id="128" name="object 128"/>
          <p:cNvSpPr txBox="1"/>
          <p:nvPr/>
        </p:nvSpPr>
        <p:spPr>
          <a:xfrm>
            <a:off x="7005358" y="8727691"/>
            <a:ext cx="1332865" cy="3098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14"/>
              </a:spcBef>
            </a:pPr>
            <a:r>
              <a:rPr dirty="0" baseline="-12012" sz="2775" spc="22">
                <a:latin typeface="Microsoft JhengHei"/>
                <a:cs typeface="Microsoft JhengHei"/>
              </a:rPr>
              <a:t>・</a:t>
            </a:r>
            <a:r>
              <a:rPr dirty="0" sz="1100" spc="15" i="1">
                <a:latin typeface="Times New Roman"/>
                <a:cs typeface="Times New Roman"/>
              </a:rPr>
              <a:t>M</a:t>
            </a:r>
            <a:r>
              <a:rPr dirty="0" sz="1100" spc="55" i="1">
                <a:latin typeface="Times New Roman"/>
                <a:cs typeface="Times New Roman"/>
              </a:rPr>
              <a:t> </a:t>
            </a:r>
            <a:r>
              <a:rPr dirty="0" sz="1100" spc="10">
                <a:latin typeface="Lucida Sans"/>
                <a:cs typeface="Lucida Sans"/>
              </a:rPr>
              <a:t>too</a:t>
            </a:r>
            <a:r>
              <a:rPr dirty="0" sz="1100" spc="-15">
                <a:latin typeface="Lucida Sans"/>
                <a:cs typeface="Lucida Sans"/>
              </a:rPr>
              <a:t> </a:t>
            </a:r>
            <a:r>
              <a:rPr dirty="0" sz="1100" spc="10">
                <a:latin typeface="Lucida Sans"/>
                <a:cs typeface="Lucida Sans"/>
              </a:rPr>
              <a:t>small</a:t>
            </a:r>
            <a:r>
              <a:rPr dirty="0" sz="1100" spc="320">
                <a:latin typeface="Lucida Sans"/>
                <a:cs typeface="Lucida Sans"/>
              </a:rPr>
              <a:t> </a:t>
            </a:r>
            <a:r>
              <a:rPr dirty="0" sz="1100" spc="15">
                <a:latin typeface="Symbol"/>
                <a:cs typeface="Symbol"/>
              </a:rPr>
              <a:t></a:t>
            </a:r>
            <a:endParaRPr sz="1100">
              <a:latin typeface="Symbol"/>
              <a:cs typeface="Symbol"/>
            </a:endParaRPr>
          </a:p>
        </p:txBody>
      </p:sp>
      <p:sp>
        <p:nvSpPr>
          <p:cNvPr id="129" name="object 129"/>
          <p:cNvSpPr txBox="1"/>
          <p:nvPr/>
        </p:nvSpPr>
        <p:spPr>
          <a:xfrm>
            <a:off x="7005358" y="8958728"/>
            <a:ext cx="1313815" cy="3098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14"/>
              </a:spcBef>
            </a:pPr>
            <a:r>
              <a:rPr dirty="0" baseline="-10510" sz="2775" spc="22">
                <a:latin typeface="Microsoft JhengHei"/>
                <a:cs typeface="Microsoft JhengHei"/>
              </a:rPr>
              <a:t>・</a:t>
            </a:r>
            <a:r>
              <a:rPr dirty="0" sz="1100">
                <a:latin typeface="Lucida Sans"/>
                <a:cs typeface="Lucida Sans"/>
              </a:rPr>
              <a:t>Typical</a:t>
            </a:r>
            <a:r>
              <a:rPr dirty="0" sz="1100" spc="-40">
                <a:latin typeface="Lucida Sans"/>
                <a:cs typeface="Lucida Sans"/>
              </a:rPr>
              <a:t> </a:t>
            </a:r>
            <a:r>
              <a:rPr dirty="0" sz="1100" spc="10">
                <a:latin typeface="Lucida Sans"/>
                <a:cs typeface="Lucida Sans"/>
              </a:rPr>
              <a:t>choice:</a:t>
            </a:r>
            <a:endParaRPr sz="1100">
              <a:latin typeface="Lucida Sans"/>
              <a:cs typeface="Lucida Sans"/>
            </a:endParaRPr>
          </a:p>
        </p:txBody>
      </p:sp>
      <p:sp>
        <p:nvSpPr>
          <p:cNvPr id="130" name="object 130"/>
          <p:cNvSpPr txBox="1"/>
          <p:nvPr/>
        </p:nvSpPr>
        <p:spPr>
          <a:xfrm>
            <a:off x="8136278" y="8531013"/>
            <a:ext cx="2378075" cy="7188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53365" marR="474345" indent="-254000">
              <a:lnSpc>
                <a:spcPct val="137800"/>
              </a:lnSpc>
              <a:spcBef>
                <a:spcPts val="95"/>
              </a:spcBef>
            </a:pPr>
            <a:r>
              <a:rPr dirty="0" sz="1100" spc="15">
                <a:latin typeface="Symbol"/>
                <a:cs typeface="Symbol"/>
              </a:rPr>
              <a:t>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 spc="10">
                <a:latin typeface="Lucida Sans"/>
                <a:cs typeface="Lucida Sans"/>
              </a:rPr>
              <a:t>too</a:t>
            </a:r>
            <a:r>
              <a:rPr dirty="0" sz="1100" spc="-15">
                <a:latin typeface="Lucida Sans"/>
                <a:cs typeface="Lucida Sans"/>
              </a:rPr>
              <a:t> </a:t>
            </a:r>
            <a:r>
              <a:rPr dirty="0" sz="1100" spc="25">
                <a:latin typeface="Lucida Sans"/>
                <a:cs typeface="Lucida Sans"/>
              </a:rPr>
              <a:t>many</a:t>
            </a:r>
            <a:r>
              <a:rPr dirty="0" sz="1100" spc="-10">
                <a:latin typeface="Lucida Sans"/>
                <a:cs typeface="Lucida Sans"/>
              </a:rPr>
              <a:t> </a:t>
            </a:r>
            <a:r>
              <a:rPr dirty="0" sz="1100" spc="20">
                <a:latin typeface="Lucida Sans"/>
                <a:cs typeface="Lucida Sans"/>
              </a:rPr>
              <a:t>empty</a:t>
            </a:r>
            <a:r>
              <a:rPr dirty="0" sz="1100" spc="-10">
                <a:latin typeface="Lucida Sans"/>
                <a:cs typeface="Lucida Sans"/>
              </a:rPr>
              <a:t> </a:t>
            </a:r>
            <a:r>
              <a:rPr dirty="0" sz="1100" spc="10">
                <a:latin typeface="Lucida Sans"/>
                <a:cs typeface="Lucida Sans"/>
              </a:rPr>
              <a:t>chains. </a:t>
            </a:r>
            <a:r>
              <a:rPr dirty="0" sz="1100" spc="-335">
                <a:latin typeface="Lucida Sans"/>
                <a:cs typeface="Lucida Sans"/>
              </a:rPr>
              <a:t> </a:t>
            </a:r>
            <a:r>
              <a:rPr dirty="0" sz="1100" spc="10">
                <a:latin typeface="Lucida Sans"/>
                <a:cs typeface="Lucida Sans"/>
              </a:rPr>
              <a:t>chains</a:t>
            </a:r>
            <a:r>
              <a:rPr dirty="0" sz="1100" spc="-5">
                <a:latin typeface="Lucida Sans"/>
                <a:cs typeface="Lucida Sans"/>
              </a:rPr>
              <a:t> </a:t>
            </a:r>
            <a:r>
              <a:rPr dirty="0" sz="1100" spc="10">
                <a:latin typeface="Lucida Sans"/>
                <a:cs typeface="Lucida Sans"/>
              </a:rPr>
              <a:t>too</a:t>
            </a:r>
            <a:r>
              <a:rPr dirty="0" sz="1100">
                <a:latin typeface="Lucida Sans"/>
                <a:cs typeface="Lucida Sans"/>
              </a:rPr>
              <a:t> </a:t>
            </a:r>
            <a:r>
              <a:rPr dirty="0" sz="1100" spc="5">
                <a:latin typeface="Lucida Sans"/>
                <a:cs typeface="Lucida Sans"/>
              </a:rPr>
              <a:t>long.</a:t>
            </a:r>
            <a:endParaRPr sz="1100">
              <a:latin typeface="Lucida Sans"/>
              <a:cs typeface="Lucida Sans"/>
            </a:endParaRPr>
          </a:p>
          <a:p>
            <a:pPr marL="234315">
              <a:lnSpc>
                <a:spcPct val="100000"/>
              </a:lnSpc>
              <a:spcBef>
                <a:spcPts val="500"/>
              </a:spcBef>
            </a:pPr>
            <a:r>
              <a:rPr dirty="0" sz="1100" spc="15" i="1">
                <a:latin typeface="Times New Roman"/>
                <a:cs typeface="Times New Roman"/>
              </a:rPr>
              <a:t>M</a:t>
            </a:r>
            <a:r>
              <a:rPr dirty="0" sz="1100" spc="-10" i="1">
                <a:latin typeface="Times New Roman"/>
                <a:cs typeface="Times New Roman"/>
              </a:rPr>
              <a:t> </a:t>
            </a:r>
            <a:r>
              <a:rPr dirty="0" sz="1100" spc="10">
                <a:latin typeface="Times New Roman"/>
                <a:cs typeface="Times New Roman"/>
              </a:rPr>
              <a:t>~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10" i="1">
                <a:latin typeface="Times New Roman"/>
                <a:cs typeface="Times New Roman"/>
              </a:rPr>
              <a:t>N</a:t>
            </a:r>
            <a:r>
              <a:rPr dirty="0" sz="1100" spc="-5" i="1">
                <a:latin typeface="Times New Roman"/>
                <a:cs typeface="Times New Roman"/>
              </a:rPr>
              <a:t> </a:t>
            </a:r>
            <a:r>
              <a:rPr dirty="0" sz="1100" spc="5">
                <a:latin typeface="Times New Roman"/>
                <a:cs typeface="Times New Roman"/>
              </a:rPr>
              <a:t>/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5">
                <a:latin typeface="Times New Roman"/>
                <a:cs typeface="Times New Roman"/>
              </a:rPr>
              <a:t>4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15">
                <a:latin typeface="Symbol"/>
                <a:cs typeface="Symbol"/>
              </a:rPr>
              <a:t>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 spc="10">
                <a:latin typeface="Lucida Sans"/>
                <a:cs typeface="Lucida Sans"/>
              </a:rPr>
              <a:t>constant-time</a:t>
            </a:r>
            <a:r>
              <a:rPr dirty="0" sz="1100" spc="-5">
                <a:latin typeface="Lucida Sans"/>
                <a:cs typeface="Lucida Sans"/>
              </a:rPr>
              <a:t> </a:t>
            </a:r>
            <a:r>
              <a:rPr dirty="0" sz="1100" spc="10">
                <a:latin typeface="Lucida Sans"/>
                <a:cs typeface="Lucida Sans"/>
              </a:rPr>
              <a:t>ops.</a:t>
            </a:r>
            <a:endParaRPr sz="1100">
              <a:latin typeface="Lucida Sans"/>
              <a:cs typeface="Lucida Sans"/>
            </a:endParaRPr>
          </a:p>
        </p:txBody>
      </p:sp>
      <p:sp>
        <p:nvSpPr>
          <p:cNvPr id="131" name="object 131"/>
          <p:cNvSpPr txBox="1"/>
          <p:nvPr/>
        </p:nvSpPr>
        <p:spPr>
          <a:xfrm>
            <a:off x="6998899" y="5125877"/>
            <a:ext cx="2232025" cy="2247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dirty="0" sz="1300" spc="5">
                <a:latin typeface="Arial"/>
                <a:cs typeface="Arial"/>
              </a:rPr>
              <a:t>Analysis</a:t>
            </a:r>
            <a:r>
              <a:rPr dirty="0" sz="1300" spc="25">
                <a:latin typeface="Arial"/>
                <a:cs typeface="Arial"/>
              </a:rPr>
              <a:t> </a:t>
            </a:r>
            <a:r>
              <a:rPr dirty="0" sz="1300" spc="40">
                <a:latin typeface="Arial"/>
                <a:cs typeface="Arial"/>
              </a:rPr>
              <a:t>of</a:t>
            </a:r>
            <a:r>
              <a:rPr dirty="0" sz="1300" spc="30">
                <a:latin typeface="Arial"/>
                <a:cs typeface="Arial"/>
              </a:rPr>
              <a:t> </a:t>
            </a:r>
            <a:r>
              <a:rPr dirty="0" sz="1300" spc="10">
                <a:latin typeface="Arial"/>
                <a:cs typeface="Arial"/>
              </a:rPr>
              <a:t>separate</a:t>
            </a:r>
            <a:r>
              <a:rPr dirty="0" sz="1300" spc="25">
                <a:latin typeface="Arial"/>
                <a:cs typeface="Arial"/>
              </a:rPr>
              <a:t> </a:t>
            </a:r>
            <a:r>
              <a:rPr dirty="0" sz="1300" spc="20">
                <a:latin typeface="Arial"/>
                <a:cs typeface="Arial"/>
              </a:rPr>
              <a:t>chaining</a:t>
            </a:r>
            <a:endParaRPr sz="1300">
              <a:latin typeface="Arial"/>
              <a:cs typeface="Arial"/>
            </a:endParaRPr>
          </a:p>
        </p:txBody>
      </p:sp>
      <p:sp>
        <p:nvSpPr>
          <p:cNvPr id="132" name="object 132"/>
          <p:cNvSpPr txBox="1"/>
          <p:nvPr/>
        </p:nvSpPr>
        <p:spPr>
          <a:xfrm>
            <a:off x="11523984" y="8782192"/>
            <a:ext cx="904875" cy="2984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3180" marR="5080" indent="-43815">
              <a:lnSpc>
                <a:spcPct val="119200"/>
              </a:lnSpc>
              <a:spcBef>
                <a:spcPts val="100"/>
              </a:spcBef>
            </a:pPr>
            <a:r>
              <a:rPr dirty="0" sz="750" spc="-5">
                <a:solidFill>
                  <a:srgbClr val="8D3124"/>
                </a:solidFill>
                <a:latin typeface="Lucida Sans"/>
                <a:cs typeface="Lucida Sans"/>
              </a:rPr>
              <a:t>M</a:t>
            </a:r>
            <a:r>
              <a:rPr dirty="0" sz="750" spc="-25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dirty="0" sz="750" spc="-5">
                <a:solidFill>
                  <a:srgbClr val="8D3124"/>
                </a:solidFill>
                <a:latin typeface="Lucida Sans"/>
                <a:cs typeface="Lucida Sans"/>
              </a:rPr>
              <a:t>times</a:t>
            </a:r>
            <a:r>
              <a:rPr dirty="0" sz="750" spc="-20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dirty="0" sz="750" spc="-5">
                <a:solidFill>
                  <a:srgbClr val="8D3124"/>
                </a:solidFill>
                <a:latin typeface="Lucida Sans"/>
                <a:cs typeface="Lucida Sans"/>
              </a:rPr>
              <a:t>faster</a:t>
            </a:r>
            <a:r>
              <a:rPr dirty="0" sz="750" spc="-25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dirty="0" sz="750" spc="-5">
                <a:solidFill>
                  <a:srgbClr val="8D3124"/>
                </a:solidFill>
                <a:latin typeface="Lucida Sans"/>
                <a:cs typeface="Lucida Sans"/>
              </a:rPr>
              <a:t>than </a:t>
            </a:r>
            <a:r>
              <a:rPr dirty="0" sz="750" spc="-220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dirty="0" sz="750" spc="-5">
                <a:solidFill>
                  <a:srgbClr val="8D3124"/>
                </a:solidFill>
                <a:latin typeface="Lucida Sans"/>
                <a:cs typeface="Lucida Sans"/>
              </a:rPr>
              <a:t>sequential</a:t>
            </a:r>
            <a:r>
              <a:rPr dirty="0" sz="750" spc="-30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dirty="0" sz="750" spc="-5">
                <a:solidFill>
                  <a:srgbClr val="8D3124"/>
                </a:solidFill>
                <a:latin typeface="Lucida Sans"/>
                <a:cs typeface="Lucida Sans"/>
              </a:rPr>
              <a:t>search</a:t>
            </a:r>
            <a:endParaRPr sz="750">
              <a:latin typeface="Lucida Sans"/>
              <a:cs typeface="Lucida Sans"/>
            </a:endParaRPr>
          </a:p>
        </p:txBody>
      </p:sp>
      <p:grpSp>
        <p:nvGrpSpPr>
          <p:cNvPr id="133" name="object 133"/>
          <p:cNvGrpSpPr/>
          <p:nvPr/>
        </p:nvGrpSpPr>
        <p:grpSpPr>
          <a:xfrm>
            <a:off x="11901974" y="8593221"/>
            <a:ext cx="57150" cy="221615"/>
            <a:chOff x="11901974" y="8593221"/>
            <a:chExt cx="57150" cy="221615"/>
          </a:xfrm>
        </p:grpSpPr>
        <p:sp>
          <p:nvSpPr>
            <p:cNvPr id="134" name="object 134"/>
            <p:cNvSpPr/>
            <p:nvPr/>
          </p:nvSpPr>
          <p:spPr>
            <a:xfrm>
              <a:off x="11930365" y="8629951"/>
              <a:ext cx="635" cy="179070"/>
            </a:xfrm>
            <a:custGeom>
              <a:avLst/>
              <a:gdLst/>
              <a:ahLst/>
              <a:cxnLst/>
              <a:rect l="l" t="t" r="r" b="b"/>
              <a:pathLst>
                <a:path w="634" h="179070">
                  <a:moveTo>
                    <a:pt x="49" y="0"/>
                  </a:moveTo>
                  <a:lnTo>
                    <a:pt x="47" y="5924"/>
                  </a:lnTo>
                  <a:lnTo>
                    <a:pt x="0" y="178852"/>
                  </a:lnTo>
                </a:path>
              </a:pathLst>
            </a:custGeom>
            <a:ln w="11848">
              <a:solidFill>
                <a:srgbClr val="8D312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5" name="object 135"/>
            <p:cNvSpPr/>
            <p:nvPr/>
          </p:nvSpPr>
          <p:spPr>
            <a:xfrm>
              <a:off x="11901974" y="8593221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>
                  <a:moveTo>
                    <a:pt x="49762" y="42653"/>
                  </a:moveTo>
                  <a:lnTo>
                    <a:pt x="28438" y="42653"/>
                  </a:lnTo>
                  <a:lnTo>
                    <a:pt x="56870" y="56879"/>
                  </a:lnTo>
                  <a:lnTo>
                    <a:pt x="49762" y="42653"/>
                  </a:lnTo>
                  <a:close/>
                </a:path>
                <a:path w="57150" h="57150">
                  <a:moveTo>
                    <a:pt x="28450" y="0"/>
                  </a:moveTo>
                  <a:lnTo>
                    <a:pt x="0" y="56863"/>
                  </a:lnTo>
                  <a:lnTo>
                    <a:pt x="28438" y="42653"/>
                  </a:lnTo>
                  <a:lnTo>
                    <a:pt x="49762" y="42653"/>
                  </a:lnTo>
                  <a:lnTo>
                    <a:pt x="28450" y="0"/>
                  </a:lnTo>
                  <a:close/>
                </a:path>
              </a:pathLst>
            </a:custGeom>
            <a:solidFill>
              <a:srgbClr val="8D312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6" name="object 136"/>
          <p:cNvSpPr txBox="1"/>
          <p:nvPr/>
        </p:nvSpPr>
        <p:spPr>
          <a:xfrm>
            <a:off x="9177118" y="8093819"/>
            <a:ext cx="1270635" cy="1397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750" spc="-5">
                <a:solidFill>
                  <a:srgbClr val="8D3124"/>
                </a:solidFill>
                <a:latin typeface="Lucida Sans Typewriter"/>
                <a:cs typeface="Lucida Sans Typewriter"/>
              </a:rPr>
              <a:t>equals()</a:t>
            </a:r>
            <a:r>
              <a:rPr dirty="0" sz="750" spc="-220">
                <a:solidFill>
                  <a:srgbClr val="8D3124"/>
                </a:solidFill>
                <a:latin typeface="Lucida Sans Typewriter"/>
                <a:cs typeface="Lucida Sans Typewriter"/>
              </a:rPr>
              <a:t> </a:t>
            </a:r>
            <a:r>
              <a:rPr dirty="0" sz="750" spc="-5">
                <a:solidFill>
                  <a:srgbClr val="8D3124"/>
                </a:solidFill>
                <a:latin typeface="Lucida Sans"/>
                <a:cs typeface="Lucida Sans"/>
              </a:rPr>
              <a:t>and</a:t>
            </a:r>
            <a:r>
              <a:rPr dirty="0" sz="750" spc="-5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dirty="0" sz="750" spc="-5">
                <a:solidFill>
                  <a:srgbClr val="8D3124"/>
                </a:solidFill>
                <a:latin typeface="Lucida Sans Typewriter"/>
                <a:cs typeface="Lucida Sans Typewriter"/>
              </a:rPr>
              <a:t>hashCode()</a:t>
            </a:r>
            <a:endParaRPr sz="750">
              <a:latin typeface="Lucida Sans Typewriter"/>
              <a:cs typeface="Lucida Sans Typewriter"/>
            </a:endParaRPr>
          </a:p>
        </p:txBody>
      </p:sp>
      <p:grpSp>
        <p:nvGrpSpPr>
          <p:cNvPr id="137" name="object 137"/>
          <p:cNvGrpSpPr/>
          <p:nvPr/>
        </p:nvGrpSpPr>
        <p:grpSpPr>
          <a:xfrm>
            <a:off x="8360347" y="6855739"/>
            <a:ext cx="2138045" cy="1504315"/>
            <a:chOff x="8360347" y="6855739"/>
            <a:chExt cx="2138045" cy="1504315"/>
          </a:xfrm>
        </p:grpSpPr>
        <p:pic>
          <p:nvPicPr>
            <p:cNvPr id="138" name="object 13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934638" y="8218725"/>
              <a:ext cx="204661" cy="140781"/>
            </a:xfrm>
            <a:prstGeom prst="rect">
              <a:avLst/>
            </a:prstGeom>
          </p:spPr>
        </p:pic>
        <p:sp>
          <p:nvSpPr>
            <p:cNvPr id="139" name="object 139"/>
            <p:cNvSpPr/>
            <p:nvPr/>
          </p:nvSpPr>
          <p:spPr>
            <a:xfrm>
              <a:off x="8367014" y="6862407"/>
              <a:ext cx="2124710" cy="377825"/>
            </a:xfrm>
            <a:custGeom>
              <a:avLst/>
              <a:gdLst/>
              <a:ahLst/>
              <a:cxnLst/>
              <a:rect l="l" t="t" r="r" b="b"/>
              <a:pathLst>
                <a:path w="2124709" h="377825">
                  <a:moveTo>
                    <a:pt x="2060011" y="377807"/>
                  </a:moveTo>
                  <a:lnTo>
                    <a:pt x="2124395" y="377807"/>
                  </a:lnTo>
                </a:path>
                <a:path w="2124709" h="377825">
                  <a:moveTo>
                    <a:pt x="1995626" y="377807"/>
                  </a:moveTo>
                  <a:lnTo>
                    <a:pt x="2060011" y="377807"/>
                  </a:lnTo>
                </a:path>
                <a:path w="2124709" h="377825">
                  <a:moveTo>
                    <a:pt x="1931267" y="377807"/>
                  </a:moveTo>
                  <a:lnTo>
                    <a:pt x="1995626" y="377807"/>
                  </a:lnTo>
                </a:path>
                <a:path w="2124709" h="377825">
                  <a:moveTo>
                    <a:pt x="1866883" y="377807"/>
                  </a:moveTo>
                  <a:lnTo>
                    <a:pt x="1931267" y="377807"/>
                  </a:lnTo>
                </a:path>
                <a:path w="2124709" h="377825">
                  <a:moveTo>
                    <a:pt x="1802498" y="377807"/>
                  </a:moveTo>
                  <a:lnTo>
                    <a:pt x="1866883" y="377807"/>
                  </a:lnTo>
                </a:path>
                <a:path w="2124709" h="377825">
                  <a:moveTo>
                    <a:pt x="1738139" y="377757"/>
                  </a:moveTo>
                  <a:lnTo>
                    <a:pt x="1802498" y="377807"/>
                  </a:lnTo>
                </a:path>
                <a:path w="2124709" h="377825">
                  <a:moveTo>
                    <a:pt x="1673755" y="377707"/>
                  </a:moveTo>
                  <a:lnTo>
                    <a:pt x="1738139" y="377757"/>
                  </a:lnTo>
                </a:path>
                <a:path w="2124709" h="377825">
                  <a:moveTo>
                    <a:pt x="1609395" y="377557"/>
                  </a:moveTo>
                  <a:lnTo>
                    <a:pt x="1673755" y="377707"/>
                  </a:lnTo>
                </a:path>
                <a:path w="2124709" h="377825">
                  <a:moveTo>
                    <a:pt x="1545011" y="377246"/>
                  </a:moveTo>
                  <a:lnTo>
                    <a:pt x="1609395" y="377557"/>
                  </a:lnTo>
                </a:path>
                <a:path w="2124709" h="377825">
                  <a:moveTo>
                    <a:pt x="1480627" y="376510"/>
                  </a:moveTo>
                  <a:lnTo>
                    <a:pt x="1545011" y="377246"/>
                  </a:lnTo>
                </a:path>
                <a:path w="2124709" h="377825">
                  <a:moveTo>
                    <a:pt x="1416267" y="375051"/>
                  </a:moveTo>
                  <a:lnTo>
                    <a:pt x="1480627" y="376510"/>
                  </a:lnTo>
                </a:path>
                <a:path w="2124709" h="377825">
                  <a:moveTo>
                    <a:pt x="1351883" y="372134"/>
                  </a:moveTo>
                  <a:lnTo>
                    <a:pt x="1416267" y="375051"/>
                  </a:lnTo>
                </a:path>
                <a:path w="2124709" h="377825">
                  <a:moveTo>
                    <a:pt x="1287499" y="366648"/>
                  </a:moveTo>
                  <a:lnTo>
                    <a:pt x="1351883" y="372134"/>
                  </a:lnTo>
                </a:path>
                <a:path w="2124709" h="377825">
                  <a:moveTo>
                    <a:pt x="1223139" y="356961"/>
                  </a:moveTo>
                  <a:lnTo>
                    <a:pt x="1287499" y="366648"/>
                  </a:lnTo>
                </a:path>
                <a:path w="2124709" h="377825">
                  <a:moveTo>
                    <a:pt x="1158755" y="340790"/>
                  </a:moveTo>
                  <a:lnTo>
                    <a:pt x="1223139" y="356961"/>
                  </a:lnTo>
                </a:path>
                <a:path w="2124709" h="377825">
                  <a:moveTo>
                    <a:pt x="1094383" y="315556"/>
                  </a:moveTo>
                  <a:lnTo>
                    <a:pt x="1158755" y="340790"/>
                  </a:lnTo>
                </a:path>
                <a:path w="2124709" h="377825">
                  <a:moveTo>
                    <a:pt x="1029999" y="278963"/>
                  </a:moveTo>
                  <a:lnTo>
                    <a:pt x="1094383" y="315556"/>
                  </a:lnTo>
                </a:path>
                <a:path w="2124709" h="377825">
                  <a:moveTo>
                    <a:pt x="965627" y="230090"/>
                  </a:moveTo>
                  <a:lnTo>
                    <a:pt x="1029999" y="278963"/>
                  </a:lnTo>
                </a:path>
                <a:path w="2124709" h="377825">
                  <a:moveTo>
                    <a:pt x="901255" y="170869"/>
                  </a:moveTo>
                  <a:lnTo>
                    <a:pt x="965627" y="230090"/>
                  </a:lnTo>
                </a:path>
                <a:path w="2124709" h="377825">
                  <a:moveTo>
                    <a:pt x="836871" y="107271"/>
                  </a:moveTo>
                  <a:lnTo>
                    <a:pt x="901255" y="170869"/>
                  </a:lnTo>
                </a:path>
                <a:path w="2124709" h="377825">
                  <a:moveTo>
                    <a:pt x="772499" y="49421"/>
                  </a:moveTo>
                  <a:lnTo>
                    <a:pt x="836871" y="107271"/>
                  </a:lnTo>
                </a:path>
                <a:path w="2124709" h="377825">
                  <a:moveTo>
                    <a:pt x="708127" y="9899"/>
                  </a:moveTo>
                  <a:lnTo>
                    <a:pt x="772499" y="49421"/>
                  </a:lnTo>
                </a:path>
                <a:path w="2124709" h="377825">
                  <a:moveTo>
                    <a:pt x="643755" y="0"/>
                  </a:moveTo>
                  <a:lnTo>
                    <a:pt x="708127" y="9899"/>
                  </a:lnTo>
                </a:path>
                <a:path w="2124709" h="377825">
                  <a:moveTo>
                    <a:pt x="579371" y="25134"/>
                  </a:moveTo>
                  <a:lnTo>
                    <a:pt x="643755" y="0"/>
                  </a:lnTo>
                </a:path>
                <a:path w="2124709" h="377825">
                  <a:moveTo>
                    <a:pt x="514999" y="81563"/>
                  </a:moveTo>
                  <a:lnTo>
                    <a:pt x="579371" y="25134"/>
                  </a:lnTo>
                </a:path>
                <a:path w="2124709" h="377825">
                  <a:moveTo>
                    <a:pt x="450627" y="156618"/>
                  </a:moveTo>
                  <a:lnTo>
                    <a:pt x="514999" y="81563"/>
                  </a:lnTo>
                </a:path>
                <a:path w="2124709" h="377825">
                  <a:moveTo>
                    <a:pt x="386255" y="233319"/>
                  </a:moveTo>
                  <a:lnTo>
                    <a:pt x="450627" y="156618"/>
                  </a:lnTo>
                </a:path>
                <a:path w="2124709" h="377825">
                  <a:moveTo>
                    <a:pt x="321871" y="296904"/>
                  </a:moveTo>
                  <a:lnTo>
                    <a:pt x="386255" y="233319"/>
                  </a:lnTo>
                </a:path>
                <a:path w="2124709" h="377825">
                  <a:moveTo>
                    <a:pt x="257499" y="340067"/>
                  </a:moveTo>
                  <a:lnTo>
                    <a:pt x="321871" y="296904"/>
                  </a:lnTo>
                </a:path>
                <a:path w="2124709" h="377825">
                  <a:moveTo>
                    <a:pt x="193127" y="363731"/>
                  </a:moveTo>
                  <a:lnTo>
                    <a:pt x="257499" y="340067"/>
                  </a:lnTo>
                </a:path>
                <a:path w="2124709" h="377825">
                  <a:moveTo>
                    <a:pt x="128756" y="373867"/>
                  </a:moveTo>
                  <a:lnTo>
                    <a:pt x="193127" y="363731"/>
                  </a:lnTo>
                </a:path>
                <a:path w="2124709" h="377825">
                  <a:moveTo>
                    <a:pt x="64371" y="377071"/>
                  </a:moveTo>
                  <a:lnTo>
                    <a:pt x="128756" y="373867"/>
                  </a:lnTo>
                </a:path>
                <a:path w="2124709" h="377825">
                  <a:moveTo>
                    <a:pt x="0" y="377732"/>
                  </a:moveTo>
                  <a:lnTo>
                    <a:pt x="64371" y="377071"/>
                  </a:lnTo>
                </a:path>
              </a:pathLst>
            </a:custGeom>
            <a:ln w="12764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0" name="object 140"/>
          <p:cNvSpPr txBox="1"/>
          <p:nvPr/>
        </p:nvSpPr>
        <p:spPr>
          <a:xfrm>
            <a:off x="10601325" y="6770691"/>
            <a:ext cx="180340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dirty="0" sz="750" spc="25">
                <a:solidFill>
                  <a:srgbClr val="231F20"/>
                </a:solidFill>
                <a:latin typeface="Garamond"/>
                <a:cs typeface="Garamond"/>
              </a:rPr>
              <a:t>.125</a:t>
            </a:r>
            <a:endParaRPr sz="750">
              <a:latin typeface="Garamond"/>
              <a:cs typeface="Garamond"/>
            </a:endParaRPr>
          </a:p>
        </p:txBody>
      </p:sp>
      <p:sp>
        <p:nvSpPr>
          <p:cNvPr id="141" name="object 141"/>
          <p:cNvSpPr/>
          <p:nvPr/>
        </p:nvSpPr>
        <p:spPr>
          <a:xfrm>
            <a:off x="10529358" y="6858683"/>
            <a:ext cx="56515" cy="0"/>
          </a:xfrm>
          <a:custGeom>
            <a:avLst/>
            <a:gdLst/>
            <a:ahLst/>
            <a:cxnLst/>
            <a:rect l="l" t="t" r="r" b="b"/>
            <a:pathLst>
              <a:path w="56515" h="0">
                <a:moveTo>
                  <a:pt x="0" y="0"/>
                </a:moveTo>
                <a:lnTo>
                  <a:pt x="56083" y="0"/>
                </a:lnTo>
              </a:path>
            </a:pathLst>
          </a:custGeom>
          <a:ln w="6233">
            <a:solidFill>
              <a:srgbClr val="231F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2" name="object 142"/>
          <p:cNvSpPr txBox="1"/>
          <p:nvPr/>
        </p:nvSpPr>
        <p:spPr>
          <a:xfrm>
            <a:off x="10613789" y="7154071"/>
            <a:ext cx="60960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dirty="0" sz="750" spc="25">
                <a:solidFill>
                  <a:srgbClr val="231F20"/>
                </a:solidFill>
                <a:latin typeface="Garamond"/>
                <a:cs typeface="Garamond"/>
              </a:rPr>
              <a:t>0</a:t>
            </a:r>
            <a:endParaRPr sz="750">
              <a:latin typeface="Garamond"/>
              <a:cs typeface="Garamond"/>
            </a:endParaRPr>
          </a:p>
        </p:txBody>
      </p:sp>
      <p:sp>
        <p:nvSpPr>
          <p:cNvPr id="143" name="object 143"/>
          <p:cNvSpPr/>
          <p:nvPr/>
        </p:nvSpPr>
        <p:spPr>
          <a:xfrm>
            <a:off x="10529358" y="7242064"/>
            <a:ext cx="56515" cy="0"/>
          </a:xfrm>
          <a:custGeom>
            <a:avLst/>
            <a:gdLst/>
            <a:ahLst/>
            <a:cxnLst/>
            <a:rect l="l" t="t" r="r" b="b"/>
            <a:pathLst>
              <a:path w="56515" h="0">
                <a:moveTo>
                  <a:pt x="0" y="0"/>
                </a:moveTo>
                <a:lnTo>
                  <a:pt x="56083" y="0"/>
                </a:lnTo>
              </a:path>
            </a:pathLst>
          </a:custGeom>
          <a:ln w="6233">
            <a:solidFill>
              <a:srgbClr val="231F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4" name="object 144"/>
          <p:cNvSpPr txBox="1"/>
          <p:nvPr/>
        </p:nvSpPr>
        <p:spPr>
          <a:xfrm>
            <a:off x="8339970" y="7314128"/>
            <a:ext cx="60960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dirty="0" sz="750" spc="25">
                <a:solidFill>
                  <a:srgbClr val="231F20"/>
                </a:solidFill>
                <a:latin typeface="Garamond"/>
                <a:cs typeface="Garamond"/>
              </a:rPr>
              <a:t>0</a:t>
            </a:r>
            <a:endParaRPr sz="750">
              <a:latin typeface="Garamond"/>
              <a:cs typeface="Garamond"/>
            </a:endParaRPr>
          </a:p>
        </p:txBody>
      </p:sp>
      <p:grpSp>
        <p:nvGrpSpPr>
          <p:cNvPr id="145" name="object 145"/>
          <p:cNvGrpSpPr/>
          <p:nvPr/>
        </p:nvGrpSpPr>
        <p:grpSpPr>
          <a:xfrm>
            <a:off x="8359834" y="7270666"/>
            <a:ext cx="1960245" cy="62865"/>
            <a:chOff x="8359834" y="7270666"/>
            <a:chExt cx="1960245" cy="62865"/>
          </a:xfrm>
        </p:grpSpPr>
        <p:sp>
          <p:nvSpPr>
            <p:cNvPr id="146" name="object 146"/>
            <p:cNvSpPr/>
            <p:nvPr/>
          </p:nvSpPr>
          <p:spPr>
            <a:xfrm>
              <a:off x="8363009" y="7273841"/>
              <a:ext cx="0" cy="56515"/>
            </a:xfrm>
            <a:custGeom>
              <a:avLst/>
              <a:gdLst/>
              <a:ahLst/>
              <a:cxnLst/>
              <a:rect l="l" t="t" r="r" b="b"/>
              <a:pathLst>
                <a:path w="0" h="56515">
                  <a:moveTo>
                    <a:pt x="0" y="56104"/>
                  </a:moveTo>
                  <a:lnTo>
                    <a:pt x="0" y="0"/>
                  </a:lnTo>
                </a:path>
              </a:pathLst>
            </a:custGeom>
            <a:ln w="6231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7" name="object 147"/>
            <p:cNvSpPr/>
            <p:nvPr/>
          </p:nvSpPr>
          <p:spPr>
            <a:xfrm>
              <a:off x="9665401" y="7273841"/>
              <a:ext cx="0" cy="56515"/>
            </a:xfrm>
            <a:custGeom>
              <a:avLst/>
              <a:gdLst/>
              <a:ahLst/>
              <a:cxnLst/>
              <a:rect l="l" t="t" r="r" b="b"/>
              <a:pathLst>
                <a:path w="0" h="56515">
                  <a:moveTo>
                    <a:pt x="0" y="56104"/>
                  </a:moveTo>
                  <a:lnTo>
                    <a:pt x="0" y="0"/>
                  </a:lnTo>
                </a:path>
              </a:pathLst>
            </a:custGeom>
            <a:ln w="6231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8" name="object 148"/>
            <p:cNvSpPr/>
            <p:nvPr/>
          </p:nvSpPr>
          <p:spPr>
            <a:xfrm>
              <a:off x="10316597" y="7273841"/>
              <a:ext cx="0" cy="56515"/>
            </a:xfrm>
            <a:custGeom>
              <a:avLst/>
              <a:gdLst/>
              <a:ahLst/>
              <a:cxnLst/>
              <a:rect l="l" t="t" r="r" b="b"/>
              <a:pathLst>
                <a:path w="0" h="56515">
                  <a:moveTo>
                    <a:pt x="0" y="56104"/>
                  </a:moveTo>
                  <a:lnTo>
                    <a:pt x="0" y="0"/>
                  </a:lnTo>
                </a:path>
              </a:pathLst>
            </a:custGeom>
            <a:ln w="6231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9" name="object 149"/>
          <p:cNvSpPr txBox="1"/>
          <p:nvPr/>
        </p:nvSpPr>
        <p:spPr>
          <a:xfrm>
            <a:off x="8379557" y="7270907"/>
            <a:ext cx="2265045" cy="372110"/>
          </a:xfrm>
          <a:prstGeom prst="rect">
            <a:avLst/>
          </a:prstGeom>
        </p:spPr>
        <p:txBody>
          <a:bodyPr wrap="square" lIns="0" tIns="60325" rIns="0" bIns="0" rtlCol="0" vert="horz">
            <a:spAutoFit/>
          </a:bodyPr>
          <a:lstStyle/>
          <a:p>
            <a:pPr marL="584200">
              <a:lnSpc>
                <a:spcPct val="100000"/>
              </a:lnSpc>
              <a:spcBef>
                <a:spcPts val="475"/>
              </a:spcBef>
              <a:tabLst>
                <a:tab pos="1238250" algn="l"/>
                <a:tab pos="1892935" algn="l"/>
              </a:tabLst>
            </a:pPr>
            <a:r>
              <a:rPr dirty="0" sz="750" spc="25">
                <a:solidFill>
                  <a:srgbClr val="231F20"/>
                </a:solidFill>
                <a:latin typeface="Garamond"/>
                <a:cs typeface="Garamond"/>
              </a:rPr>
              <a:t>10	20	</a:t>
            </a:r>
            <a:r>
              <a:rPr dirty="0" baseline="3703" sz="1125" spc="37">
                <a:solidFill>
                  <a:srgbClr val="231F20"/>
                </a:solidFill>
                <a:latin typeface="Garamond"/>
                <a:cs typeface="Garamond"/>
              </a:rPr>
              <a:t>30</a:t>
            </a:r>
            <a:endParaRPr baseline="3703" sz="1125">
              <a:latin typeface="Garamond"/>
              <a:cs typeface="Garamond"/>
            </a:endParaRPr>
          </a:p>
          <a:p>
            <a:pPr marL="38100">
              <a:lnSpc>
                <a:spcPct val="100000"/>
              </a:lnSpc>
              <a:spcBef>
                <a:spcPts val="425"/>
              </a:spcBef>
            </a:pPr>
            <a:r>
              <a:rPr dirty="0" sz="750" spc="30" b="1">
                <a:solidFill>
                  <a:srgbClr val="231F20"/>
                </a:solidFill>
                <a:latin typeface="Calibri"/>
                <a:cs typeface="Calibri"/>
              </a:rPr>
              <a:t>Binomial</a:t>
            </a:r>
            <a:r>
              <a:rPr dirty="0" sz="750" spc="-10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750" spc="30" b="1">
                <a:solidFill>
                  <a:srgbClr val="231F20"/>
                </a:solidFill>
                <a:latin typeface="Calibri"/>
                <a:cs typeface="Calibri"/>
              </a:rPr>
              <a:t>distribution</a:t>
            </a:r>
            <a:r>
              <a:rPr dirty="0" sz="750" spc="55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850" spc="75">
                <a:solidFill>
                  <a:srgbClr val="231F20"/>
                </a:solidFill>
                <a:latin typeface="Garamond"/>
                <a:cs typeface="Garamond"/>
              </a:rPr>
              <a:t>(</a:t>
            </a:r>
            <a:r>
              <a:rPr dirty="0" sz="750" spc="50" i="1">
                <a:solidFill>
                  <a:srgbClr val="231F20"/>
                </a:solidFill>
                <a:latin typeface="Gill Sans MT"/>
                <a:cs typeface="Gill Sans MT"/>
              </a:rPr>
              <a:t>N</a:t>
            </a:r>
            <a:r>
              <a:rPr dirty="0" sz="750" spc="-10" i="1">
                <a:solidFill>
                  <a:srgbClr val="231F20"/>
                </a:solidFill>
                <a:latin typeface="Gill Sans MT"/>
                <a:cs typeface="Gill Sans MT"/>
              </a:rPr>
              <a:t> </a:t>
            </a:r>
            <a:r>
              <a:rPr dirty="0" sz="850" spc="45" i="1">
                <a:solidFill>
                  <a:srgbClr val="231F20"/>
                </a:solidFill>
                <a:latin typeface="Gill Sans MT"/>
                <a:cs typeface="Gill Sans MT"/>
              </a:rPr>
              <a:t>=</a:t>
            </a:r>
            <a:r>
              <a:rPr dirty="0" sz="850" spc="-35" i="1">
                <a:solidFill>
                  <a:srgbClr val="231F20"/>
                </a:solidFill>
                <a:latin typeface="Gill Sans MT"/>
                <a:cs typeface="Gill Sans MT"/>
              </a:rPr>
              <a:t> </a:t>
            </a:r>
            <a:r>
              <a:rPr dirty="0" sz="850" spc="25">
                <a:solidFill>
                  <a:srgbClr val="231F20"/>
                </a:solidFill>
                <a:latin typeface="Garamond"/>
                <a:cs typeface="Garamond"/>
              </a:rPr>
              <a:t>1</a:t>
            </a:r>
            <a:r>
              <a:rPr dirty="0" sz="850" spc="110">
                <a:solidFill>
                  <a:srgbClr val="231F20"/>
                </a:solidFill>
                <a:latin typeface="Garamond"/>
                <a:cs typeface="Garamond"/>
              </a:rPr>
              <a:t>0</a:t>
            </a:r>
            <a:r>
              <a:rPr dirty="0" baseline="25641" sz="975" spc="37">
                <a:solidFill>
                  <a:srgbClr val="231F20"/>
                </a:solidFill>
                <a:latin typeface="Garamond"/>
                <a:cs typeface="Garamond"/>
              </a:rPr>
              <a:t>4</a:t>
            </a:r>
            <a:r>
              <a:rPr dirty="0" baseline="25641" sz="975" spc="-142">
                <a:solidFill>
                  <a:srgbClr val="231F20"/>
                </a:solidFill>
                <a:latin typeface="Garamond"/>
                <a:cs typeface="Garamond"/>
              </a:rPr>
              <a:t> </a:t>
            </a:r>
            <a:r>
              <a:rPr dirty="0" sz="850" spc="40" i="1">
                <a:solidFill>
                  <a:srgbClr val="231F20"/>
                </a:solidFill>
                <a:latin typeface="Gill Sans MT"/>
                <a:cs typeface="Gill Sans MT"/>
              </a:rPr>
              <a:t>,</a:t>
            </a:r>
            <a:r>
              <a:rPr dirty="0" sz="850" spc="-50" i="1">
                <a:solidFill>
                  <a:srgbClr val="231F20"/>
                </a:solidFill>
                <a:latin typeface="Gill Sans MT"/>
                <a:cs typeface="Gill Sans MT"/>
              </a:rPr>
              <a:t> </a:t>
            </a:r>
            <a:r>
              <a:rPr dirty="0" sz="750" spc="75" i="1">
                <a:solidFill>
                  <a:srgbClr val="231F20"/>
                </a:solidFill>
                <a:latin typeface="Gill Sans MT"/>
                <a:cs typeface="Gill Sans MT"/>
              </a:rPr>
              <a:t>M</a:t>
            </a:r>
            <a:r>
              <a:rPr dirty="0" sz="750" spc="-10" i="1">
                <a:solidFill>
                  <a:srgbClr val="231F20"/>
                </a:solidFill>
                <a:latin typeface="Gill Sans MT"/>
                <a:cs typeface="Gill Sans MT"/>
              </a:rPr>
              <a:t> </a:t>
            </a:r>
            <a:r>
              <a:rPr dirty="0" sz="850" spc="45" i="1">
                <a:solidFill>
                  <a:srgbClr val="231F20"/>
                </a:solidFill>
                <a:latin typeface="Gill Sans MT"/>
                <a:cs typeface="Gill Sans MT"/>
              </a:rPr>
              <a:t>=</a:t>
            </a:r>
            <a:r>
              <a:rPr dirty="0" sz="850" spc="-35" i="1">
                <a:solidFill>
                  <a:srgbClr val="231F20"/>
                </a:solidFill>
                <a:latin typeface="Gill Sans MT"/>
                <a:cs typeface="Gill Sans MT"/>
              </a:rPr>
              <a:t> </a:t>
            </a:r>
            <a:r>
              <a:rPr dirty="0" sz="850" spc="25">
                <a:solidFill>
                  <a:srgbClr val="231F20"/>
                </a:solidFill>
                <a:latin typeface="Garamond"/>
                <a:cs typeface="Garamond"/>
              </a:rPr>
              <a:t>1</a:t>
            </a:r>
            <a:r>
              <a:rPr dirty="0" sz="850" spc="110">
                <a:solidFill>
                  <a:srgbClr val="231F20"/>
                </a:solidFill>
                <a:latin typeface="Garamond"/>
                <a:cs typeface="Garamond"/>
              </a:rPr>
              <a:t>0</a:t>
            </a:r>
            <a:r>
              <a:rPr dirty="0" baseline="25641" sz="975" spc="37">
                <a:solidFill>
                  <a:srgbClr val="231F20"/>
                </a:solidFill>
                <a:latin typeface="Garamond"/>
                <a:cs typeface="Garamond"/>
              </a:rPr>
              <a:t>3</a:t>
            </a:r>
            <a:r>
              <a:rPr dirty="0" baseline="25641" sz="975" spc="-142">
                <a:solidFill>
                  <a:srgbClr val="231F20"/>
                </a:solidFill>
                <a:latin typeface="Garamond"/>
                <a:cs typeface="Garamond"/>
              </a:rPr>
              <a:t> </a:t>
            </a:r>
            <a:r>
              <a:rPr dirty="0" sz="850" spc="40" i="1">
                <a:solidFill>
                  <a:srgbClr val="231F20"/>
                </a:solidFill>
                <a:latin typeface="Gill Sans MT"/>
                <a:cs typeface="Gill Sans MT"/>
              </a:rPr>
              <a:t>,</a:t>
            </a:r>
            <a:r>
              <a:rPr dirty="0" sz="850" spc="-50" i="1">
                <a:solidFill>
                  <a:srgbClr val="231F20"/>
                </a:solidFill>
                <a:latin typeface="Gill Sans MT"/>
                <a:cs typeface="Gill Sans MT"/>
              </a:rPr>
              <a:t> </a:t>
            </a:r>
            <a:r>
              <a:rPr dirty="0" sz="850" spc="25">
                <a:solidFill>
                  <a:srgbClr val="231F20"/>
                </a:solidFill>
                <a:latin typeface="Lucida Console"/>
                <a:cs typeface="Lucida Console"/>
              </a:rPr>
              <a:t>a</a:t>
            </a:r>
            <a:r>
              <a:rPr dirty="0" sz="850" spc="-310">
                <a:solidFill>
                  <a:srgbClr val="231F20"/>
                </a:solidFill>
                <a:latin typeface="Lucida Console"/>
                <a:cs typeface="Lucida Console"/>
              </a:rPr>
              <a:t> </a:t>
            </a:r>
            <a:r>
              <a:rPr dirty="0" sz="850" spc="45" i="1">
                <a:solidFill>
                  <a:srgbClr val="231F20"/>
                </a:solidFill>
                <a:latin typeface="Gill Sans MT"/>
                <a:cs typeface="Gill Sans MT"/>
              </a:rPr>
              <a:t>=</a:t>
            </a:r>
            <a:r>
              <a:rPr dirty="0" sz="850" spc="-35" i="1">
                <a:solidFill>
                  <a:srgbClr val="231F20"/>
                </a:solidFill>
                <a:latin typeface="Gill Sans MT"/>
                <a:cs typeface="Gill Sans MT"/>
              </a:rPr>
              <a:t> </a:t>
            </a:r>
            <a:r>
              <a:rPr dirty="0" sz="850" spc="25">
                <a:solidFill>
                  <a:srgbClr val="231F20"/>
                </a:solidFill>
                <a:latin typeface="Garamond"/>
                <a:cs typeface="Garamond"/>
              </a:rPr>
              <a:t>10</a:t>
            </a:r>
            <a:r>
              <a:rPr dirty="0" sz="850" spc="-125">
                <a:solidFill>
                  <a:srgbClr val="231F20"/>
                </a:solidFill>
                <a:latin typeface="Garamond"/>
                <a:cs typeface="Garamond"/>
              </a:rPr>
              <a:t> </a:t>
            </a:r>
            <a:r>
              <a:rPr dirty="0" sz="850" spc="75">
                <a:solidFill>
                  <a:srgbClr val="231F20"/>
                </a:solidFill>
                <a:latin typeface="Garamond"/>
                <a:cs typeface="Garamond"/>
              </a:rPr>
              <a:t>)</a:t>
            </a:r>
            <a:endParaRPr sz="850">
              <a:latin typeface="Garamond"/>
              <a:cs typeface="Garamond"/>
            </a:endParaRPr>
          </a:p>
        </p:txBody>
      </p:sp>
      <p:sp>
        <p:nvSpPr>
          <p:cNvPr id="150" name="object 150"/>
          <p:cNvSpPr/>
          <p:nvPr/>
        </p:nvSpPr>
        <p:spPr>
          <a:xfrm>
            <a:off x="9011089" y="7273841"/>
            <a:ext cx="0" cy="56515"/>
          </a:xfrm>
          <a:custGeom>
            <a:avLst/>
            <a:gdLst/>
            <a:ahLst/>
            <a:cxnLst/>
            <a:rect l="l" t="t" r="r" b="b"/>
            <a:pathLst>
              <a:path w="0" h="56515">
                <a:moveTo>
                  <a:pt x="0" y="56104"/>
                </a:moveTo>
                <a:lnTo>
                  <a:pt x="0" y="0"/>
                </a:lnTo>
              </a:path>
            </a:pathLst>
          </a:custGeom>
          <a:ln w="6231">
            <a:solidFill>
              <a:srgbClr val="231F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1" name="object 151"/>
          <p:cNvSpPr txBox="1"/>
          <p:nvPr/>
        </p:nvSpPr>
        <p:spPr>
          <a:xfrm>
            <a:off x="9223613" y="6704060"/>
            <a:ext cx="561340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dirty="0" sz="750" spc="35">
                <a:solidFill>
                  <a:srgbClr val="BF311A"/>
                </a:solidFill>
                <a:latin typeface="Garamond"/>
                <a:cs typeface="Garamond"/>
              </a:rPr>
              <a:t>(10,</a:t>
            </a:r>
            <a:r>
              <a:rPr dirty="0" sz="750" spc="-35">
                <a:solidFill>
                  <a:srgbClr val="BF311A"/>
                </a:solidFill>
                <a:latin typeface="Garamond"/>
                <a:cs typeface="Garamond"/>
              </a:rPr>
              <a:t> </a:t>
            </a:r>
            <a:r>
              <a:rPr dirty="0" sz="750" spc="25">
                <a:solidFill>
                  <a:srgbClr val="BF311A"/>
                </a:solidFill>
                <a:latin typeface="Garamond"/>
                <a:cs typeface="Garamond"/>
              </a:rPr>
              <a:t>.12511...)</a:t>
            </a:r>
            <a:endParaRPr sz="750">
              <a:latin typeface="Garamond"/>
              <a:cs typeface="Garamond"/>
            </a:endParaRPr>
          </a:p>
        </p:txBody>
      </p:sp>
      <p:grpSp>
        <p:nvGrpSpPr>
          <p:cNvPr id="152" name="object 152"/>
          <p:cNvGrpSpPr/>
          <p:nvPr/>
        </p:nvGrpSpPr>
        <p:grpSpPr>
          <a:xfrm>
            <a:off x="9033019" y="6790745"/>
            <a:ext cx="187960" cy="60960"/>
            <a:chOff x="9033019" y="6790745"/>
            <a:chExt cx="187960" cy="60960"/>
          </a:xfrm>
        </p:grpSpPr>
        <p:sp>
          <p:nvSpPr>
            <p:cNvPr id="153" name="object 153"/>
            <p:cNvSpPr/>
            <p:nvPr/>
          </p:nvSpPr>
          <p:spPr>
            <a:xfrm>
              <a:off x="9033015" y="6822363"/>
              <a:ext cx="52069" cy="29209"/>
            </a:xfrm>
            <a:custGeom>
              <a:avLst/>
              <a:gdLst/>
              <a:ahLst/>
              <a:cxnLst/>
              <a:rect l="l" t="t" r="r" b="b"/>
              <a:pathLst>
                <a:path w="52070" h="29209">
                  <a:moveTo>
                    <a:pt x="52070" y="28460"/>
                  </a:moveTo>
                  <a:lnTo>
                    <a:pt x="39039" y="17018"/>
                  </a:lnTo>
                  <a:lnTo>
                    <a:pt x="43192" y="101"/>
                  </a:lnTo>
                  <a:lnTo>
                    <a:pt x="42646" y="0"/>
                  </a:lnTo>
                  <a:lnTo>
                    <a:pt x="22440" y="16370"/>
                  </a:lnTo>
                  <a:lnTo>
                    <a:pt x="0" y="29210"/>
                  </a:lnTo>
                  <a:lnTo>
                    <a:pt x="25755" y="26974"/>
                  </a:lnTo>
                  <a:lnTo>
                    <a:pt x="51689" y="28930"/>
                  </a:lnTo>
                  <a:lnTo>
                    <a:pt x="52070" y="28460"/>
                  </a:lnTo>
                  <a:close/>
                </a:path>
              </a:pathLst>
            </a:custGeom>
            <a:solidFill>
              <a:srgbClr val="BF31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4" name="object 154"/>
            <p:cNvSpPr/>
            <p:nvPr/>
          </p:nvSpPr>
          <p:spPr>
            <a:xfrm>
              <a:off x="9068062" y="6793862"/>
              <a:ext cx="149860" cy="46990"/>
            </a:xfrm>
            <a:custGeom>
              <a:avLst/>
              <a:gdLst/>
              <a:ahLst/>
              <a:cxnLst/>
              <a:rect l="l" t="t" r="r" b="b"/>
              <a:pathLst>
                <a:path w="149859" h="46990">
                  <a:moveTo>
                    <a:pt x="149556" y="0"/>
                  </a:moveTo>
                  <a:lnTo>
                    <a:pt x="0" y="46753"/>
                  </a:lnTo>
                </a:path>
              </a:pathLst>
            </a:custGeom>
            <a:ln w="6233">
              <a:solidFill>
                <a:srgbClr val="BF31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5" name="object 155"/>
            <p:cNvSpPr/>
            <p:nvPr/>
          </p:nvSpPr>
          <p:spPr>
            <a:xfrm>
              <a:off x="9050534" y="6831485"/>
              <a:ext cx="26034" cy="15240"/>
            </a:xfrm>
            <a:custGeom>
              <a:avLst/>
              <a:gdLst/>
              <a:ahLst/>
              <a:cxnLst/>
              <a:rect l="l" t="t" r="r" b="b"/>
              <a:pathLst>
                <a:path w="26034" h="15240">
                  <a:moveTo>
                    <a:pt x="21336" y="0"/>
                  </a:moveTo>
                  <a:lnTo>
                    <a:pt x="11229" y="8191"/>
                  </a:lnTo>
                  <a:lnTo>
                    <a:pt x="0" y="14611"/>
                  </a:lnTo>
                  <a:lnTo>
                    <a:pt x="12886" y="13489"/>
                  </a:lnTo>
                  <a:lnTo>
                    <a:pt x="25848" y="14474"/>
                  </a:lnTo>
                  <a:lnTo>
                    <a:pt x="26035" y="14225"/>
                  </a:lnTo>
                  <a:lnTo>
                    <a:pt x="19529" y="8502"/>
                  </a:lnTo>
                  <a:lnTo>
                    <a:pt x="21610" y="49"/>
                  </a:lnTo>
                  <a:lnTo>
                    <a:pt x="21336" y="0"/>
                  </a:lnTo>
                  <a:close/>
                </a:path>
              </a:pathLst>
            </a:custGeom>
            <a:solidFill>
              <a:srgbClr val="BF311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6" name="object 156"/>
          <p:cNvSpPr txBox="1"/>
          <p:nvPr/>
        </p:nvSpPr>
        <p:spPr>
          <a:xfrm>
            <a:off x="6246003" y="9350039"/>
            <a:ext cx="115570" cy="109855"/>
          </a:xfrm>
          <a:prstGeom prst="rect">
            <a:avLst/>
          </a:prstGeom>
        </p:spPr>
        <p:txBody>
          <a:bodyPr wrap="square" lIns="0" tIns="88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dirty="0" sz="550" spc="5">
                <a:latin typeface="Lucida Sans"/>
                <a:cs typeface="Lucida Sans"/>
              </a:rPr>
              <a:t>19</a:t>
            </a:r>
            <a:endParaRPr sz="550">
              <a:latin typeface="Lucida Sans"/>
              <a:cs typeface="Lucida Sans"/>
            </a:endParaRPr>
          </a:p>
        </p:txBody>
      </p:sp>
      <p:sp>
        <p:nvSpPr>
          <p:cNvPr id="157" name="object 157"/>
          <p:cNvSpPr txBox="1"/>
          <p:nvPr/>
        </p:nvSpPr>
        <p:spPr>
          <a:xfrm>
            <a:off x="12492206" y="9350039"/>
            <a:ext cx="115570" cy="109855"/>
          </a:xfrm>
          <a:prstGeom prst="rect">
            <a:avLst/>
          </a:prstGeom>
        </p:spPr>
        <p:txBody>
          <a:bodyPr wrap="square" lIns="0" tIns="88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dirty="0" sz="550" spc="5">
                <a:latin typeface="Lucida Sans"/>
                <a:cs typeface="Lucida Sans"/>
              </a:rPr>
              <a:t>20</a:t>
            </a:r>
            <a:endParaRPr sz="550">
              <a:latin typeface="Lucida Sans"/>
              <a:cs typeface="Lucida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39997" y="858294"/>
            <a:ext cx="3165475" cy="1962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100" spc="5">
                <a:solidFill>
                  <a:srgbClr val="005493"/>
                </a:solidFill>
                <a:latin typeface="Lucida Sans"/>
                <a:cs typeface="Lucida Sans"/>
              </a:rPr>
              <a:t>Goal.</a:t>
            </a:r>
            <a:r>
              <a:rPr dirty="0" sz="1100" spc="350">
                <a:solidFill>
                  <a:srgbClr val="005493"/>
                </a:solidFill>
                <a:latin typeface="Lucida Sans"/>
                <a:cs typeface="Lucida Sans"/>
              </a:rPr>
              <a:t> </a:t>
            </a:r>
            <a:r>
              <a:rPr dirty="0" sz="1100" spc="15">
                <a:latin typeface="Lucida Sans"/>
                <a:cs typeface="Lucida Sans"/>
              </a:rPr>
              <a:t>Average</a:t>
            </a:r>
            <a:r>
              <a:rPr dirty="0" sz="1100" spc="5">
                <a:latin typeface="Lucida Sans"/>
                <a:cs typeface="Lucida Sans"/>
              </a:rPr>
              <a:t> length of list</a:t>
            </a:r>
            <a:r>
              <a:rPr dirty="0" sz="1100">
                <a:latin typeface="Lucida Sans"/>
                <a:cs typeface="Lucida Sans"/>
              </a:rPr>
              <a:t> </a:t>
            </a:r>
            <a:r>
              <a:rPr dirty="0" sz="1100" spc="10" i="1">
                <a:latin typeface="Times New Roman"/>
                <a:cs typeface="Times New Roman"/>
              </a:rPr>
              <a:t>N</a:t>
            </a:r>
            <a:r>
              <a:rPr dirty="0" sz="1100" i="1">
                <a:latin typeface="Times New Roman"/>
                <a:cs typeface="Times New Roman"/>
              </a:rPr>
              <a:t> </a:t>
            </a:r>
            <a:r>
              <a:rPr dirty="0" sz="1100" spc="5">
                <a:latin typeface="Times New Roman"/>
                <a:cs typeface="Times New Roman"/>
              </a:rPr>
              <a:t>/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15" i="1">
                <a:latin typeface="Times New Roman"/>
                <a:cs typeface="Times New Roman"/>
              </a:rPr>
              <a:t>M</a:t>
            </a:r>
            <a:r>
              <a:rPr dirty="0" sz="1100" spc="275" i="1">
                <a:latin typeface="Times New Roman"/>
                <a:cs typeface="Times New Roman"/>
              </a:rPr>
              <a:t> </a:t>
            </a:r>
            <a:r>
              <a:rPr dirty="0" sz="1100" spc="10">
                <a:latin typeface="Lucida Sans"/>
                <a:cs typeface="Lucida Sans"/>
              </a:rPr>
              <a:t>=</a:t>
            </a:r>
            <a:r>
              <a:rPr dirty="0" sz="1100" spc="5">
                <a:latin typeface="Lucida Sans"/>
                <a:cs typeface="Lucida Sans"/>
              </a:rPr>
              <a:t> </a:t>
            </a:r>
            <a:r>
              <a:rPr dirty="0" sz="1100" spc="10">
                <a:latin typeface="Lucida Sans"/>
                <a:cs typeface="Lucida Sans"/>
              </a:rPr>
              <a:t>constant.</a:t>
            </a:r>
            <a:endParaRPr sz="1100">
              <a:latin typeface="Lucida Sans"/>
              <a:cs typeface="Lucida San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46455" y="994547"/>
            <a:ext cx="2986405" cy="3098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dirty="0" baseline="-9009" sz="2775" spc="22">
                <a:latin typeface="Microsoft JhengHei"/>
                <a:cs typeface="Microsoft JhengHei"/>
              </a:rPr>
              <a:t>・</a:t>
            </a:r>
            <a:r>
              <a:rPr dirty="0" sz="1100" spc="10">
                <a:latin typeface="Lucida Sans"/>
                <a:cs typeface="Lucida Sans"/>
              </a:rPr>
              <a:t>Double</a:t>
            </a:r>
            <a:r>
              <a:rPr dirty="0" sz="1100">
                <a:latin typeface="Lucida Sans"/>
                <a:cs typeface="Lucida Sans"/>
              </a:rPr>
              <a:t> </a:t>
            </a:r>
            <a:r>
              <a:rPr dirty="0" sz="1100" spc="5">
                <a:latin typeface="Lucida Sans"/>
                <a:cs typeface="Lucida Sans"/>
              </a:rPr>
              <a:t>size of</a:t>
            </a:r>
            <a:r>
              <a:rPr dirty="0" sz="1100">
                <a:latin typeface="Lucida Sans"/>
                <a:cs typeface="Lucida Sans"/>
              </a:rPr>
              <a:t> </a:t>
            </a:r>
            <a:r>
              <a:rPr dirty="0" sz="1100" spc="15">
                <a:latin typeface="Lucida Sans"/>
                <a:cs typeface="Lucida Sans"/>
              </a:rPr>
              <a:t>array</a:t>
            </a:r>
            <a:r>
              <a:rPr dirty="0" sz="1100" spc="5">
                <a:latin typeface="Lucida Sans"/>
                <a:cs typeface="Lucida Sans"/>
              </a:rPr>
              <a:t> </a:t>
            </a:r>
            <a:r>
              <a:rPr dirty="0" sz="1100" spc="15" i="1">
                <a:latin typeface="Times New Roman"/>
                <a:cs typeface="Times New Roman"/>
              </a:rPr>
              <a:t>M</a:t>
            </a:r>
            <a:r>
              <a:rPr dirty="0" sz="1100" spc="-5" i="1">
                <a:latin typeface="Times New Roman"/>
                <a:cs typeface="Times New Roman"/>
              </a:rPr>
              <a:t> </a:t>
            </a:r>
            <a:r>
              <a:rPr dirty="0" sz="1100" spc="30">
                <a:latin typeface="Lucida Sans"/>
                <a:cs typeface="Lucida Sans"/>
              </a:rPr>
              <a:t>when</a:t>
            </a:r>
            <a:r>
              <a:rPr dirty="0" sz="1100" spc="5">
                <a:latin typeface="Lucida Sans"/>
                <a:cs typeface="Lucida Sans"/>
              </a:rPr>
              <a:t> </a:t>
            </a:r>
            <a:r>
              <a:rPr dirty="0" sz="1100" spc="10" i="1">
                <a:latin typeface="Times New Roman"/>
                <a:cs typeface="Times New Roman"/>
              </a:rPr>
              <a:t>N</a:t>
            </a:r>
            <a:r>
              <a:rPr dirty="0" sz="1100" i="1">
                <a:latin typeface="Times New Roman"/>
                <a:cs typeface="Times New Roman"/>
              </a:rPr>
              <a:t> </a:t>
            </a:r>
            <a:r>
              <a:rPr dirty="0" sz="1100" spc="5">
                <a:latin typeface="Times New Roman"/>
                <a:cs typeface="Times New Roman"/>
              </a:rPr>
              <a:t>/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 spc="15" i="1">
                <a:latin typeface="Times New Roman"/>
                <a:cs typeface="Times New Roman"/>
              </a:rPr>
              <a:t>M</a:t>
            </a:r>
            <a:r>
              <a:rPr dirty="0" sz="1100" spc="280" i="1">
                <a:latin typeface="Times New Roman"/>
                <a:cs typeface="Times New Roman"/>
              </a:rPr>
              <a:t> </a:t>
            </a:r>
            <a:r>
              <a:rPr dirty="0" sz="1100" spc="10">
                <a:latin typeface="Times New Roman"/>
                <a:cs typeface="Times New Roman"/>
              </a:rPr>
              <a:t>≥</a:t>
            </a:r>
            <a:r>
              <a:rPr dirty="0" sz="1100" spc="275">
                <a:latin typeface="Times New Roman"/>
                <a:cs typeface="Times New Roman"/>
              </a:rPr>
              <a:t> </a:t>
            </a:r>
            <a:r>
              <a:rPr dirty="0" sz="1100" spc="5">
                <a:latin typeface="Times New Roman"/>
                <a:cs typeface="Times New Roman"/>
              </a:rPr>
              <a:t>8</a:t>
            </a:r>
            <a:r>
              <a:rPr dirty="0" sz="1100" spc="5">
                <a:latin typeface="Lucida Sans"/>
                <a:cs typeface="Lucida Sans"/>
              </a:rPr>
              <a:t>.</a:t>
            </a:r>
            <a:endParaRPr sz="1100">
              <a:latin typeface="Lucida Sans"/>
              <a:cs typeface="Lucida San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46455" y="1225584"/>
            <a:ext cx="2879725" cy="3098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dirty="0" baseline="-9009" sz="2775" spc="22">
                <a:latin typeface="Microsoft JhengHei"/>
                <a:cs typeface="Microsoft JhengHei"/>
              </a:rPr>
              <a:t>・</a:t>
            </a:r>
            <a:r>
              <a:rPr dirty="0" sz="1100" spc="20">
                <a:latin typeface="Lucida Sans"/>
                <a:cs typeface="Lucida Sans"/>
              </a:rPr>
              <a:t>Halve</a:t>
            </a:r>
            <a:r>
              <a:rPr dirty="0" sz="1100">
                <a:latin typeface="Lucida Sans"/>
                <a:cs typeface="Lucida Sans"/>
              </a:rPr>
              <a:t> </a:t>
            </a:r>
            <a:r>
              <a:rPr dirty="0" sz="1100" spc="5">
                <a:latin typeface="Lucida Sans"/>
                <a:cs typeface="Lucida Sans"/>
              </a:rPr>
              <a:t>size of</a:t>
            </a:r>
            <a:r>
              <a:rPr dirty="0" sz="1100">
                <a:latin typeface="Lucida Sans"/>
                <a:cs typeface="Lucida Sans"/>
              </a:rPr>
              <a:t> </a:t>
            </a:r>
            <a:r>
              <a:rPr dirty="0" sz="1100" spc="15">
                <a:latin typeface="Lucida Sans"/>
                <a:cs typeface="Lucida Sans"/>
              </a:rPr>
              <a:t>array</a:t>
            </a:r>
            <a:r>
              <a:rPr dirty="0" sz="1100" spc="5">
                <a:latin typeface="Lucida Sans"/>
                <a:cs typeface="Lucida Sans"/>
              </a:rPr>
              <a:t> </a:t>
            </a:r>
            <a:r>
              <a:rPr dirty="0" sz="1100" spc="15" i="1">
                <a:latin typeface="Times New Roman"/>
                <a:cs typeface="Times New Roman"/>
              </a:rPr>
              <a:t>M</a:t>
            </a:r>
            <a:r>
              <a:rPr dirty="0" sz="1100" i="1">
                <a:latin typeface="Times New Roman"/>
                <a:cs typeface="Times New Roman"/>
              </a:rPr>
              <a:t> </a:t>
            </a:r>
            <a:r>
              <a:rPr dirty="0" sz="1100" spc="30">
                <a:latin typeface="Lucida Sans"/>
                <a:cs typeface="Lucida Sans"/>
              </a:rPr>
              <a:t>when</a:t>
            </a:r>
            <a:r>
              <a:rPr dirty="0" sz="1100">
                <a:latin typeface="Lucida Sans"/>
                <a:cs typeface="Lucida Sans"/>
              </a:rPr>
              <a:t> </a:t>
            </a:r>
            <a:r>
              <a:rPr dirty="0" sz="1100" spc="10" i="1">
                <a:latin typeface="Times New Roman"/>
                <a:cs typeface="Times New Roman"/>
              </a:rPr>
              <a:t>N</a:t>
            </a:r>
            <a:r>
              <a:rPr dirty="0" sz="1100" i="1">
                <a:latin typeface="Times New Roman"/>
                <a:cs typeface="Times New Roman"/>
              </a:rPr>
              <a:t> </a:t>
            </a:r>
            <a:r>
              <a:rPr dirty="0" sz="1100" spc="5">
                <a:latin typeface="Times New Roman"/>
                <a:cs typeface="Times New Roman"/>
              </a:rPr>
              <a:t>/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15" i="1">
                <a:latin typeface="Times New Roman"/>
                <a:cs typeface="Times New Roman"/>
              </a:rPr>
              <a:t>M</a:t>
            </a:r>
            <a:r>
              <a:rPr dirty="0" sz="1100" spc="275" i="1">
                <a:latin typeface="Times New Roman"/>
                <a:cs typeface="Times New Roman"/>
              </a:rPr>
              <a:t> </a:t>
            </a:r>
            <a:r>
              <a:rPr dirty="0" sz="1100" spc="10">
                <a:latin typeface="Times New Roman"/>
                <a:cs typeface="Times New Roman"/>
              </a:rPr>
              <a:t>≤</a:t>
            </a:r>
            <a:r>
              <a:rPr dirty="0" sz="1100" spc="280">
                <a:latin typeface="Times New Roman"/>
                <a:cs typeface="Times New Roman"/>
              </a:rPr>
              <a:t> </a:t>
            </a:r>
            <a:r>
              <a:rPr dirty="0" sz="1100" spc="5">
                <a:latin typeface="Times New Roman"/>
                <a:cs typeface="Times New Roman"/>
              </a:rPr>
              <a:t>2</a:t>
            </a:r>
            <a:r>
              <a:rPr dirty="0" sz="1100" spc="5">
                <a:latin typeface="Lucida Sans"/>
                <a:cs typeface="Lucida Sans"/>
              </a:rPr>
              <a:t>.</a:t>
            </a:r>
            <a:endParaRPr sz="1100">
              <a:latin typeface="Lucida Sans"/>
              <a:cs typeface="Lucida San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46455" y="1456622"/>
            <a:ext cx="2981960" cy="3098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dirty="0" baseline="-12012" sz="2775" spc="22">
                <a:latin typeface="Microsoft JhengHei"/>
                <a:cs typeface="Microsoft JhengHei"/>
              </a:rPr>
              <a:t>・</a:t>
            </a:r>
            <a:r>
              <a:rPr dirty="0" sz="1100" spc="10">
                <a:latin typeface="Lucida Sans"/>
                <a:cs typeface="Lucida Sans"/>
              </a:rPr>
              <a:t>Need</a:t>
            </a:r>
            <a:r>
              <a:rPr dirty="0" sz="1100" spc="-5">
                <a:latin typeface="Lucida Sans"/>
                <a:cs typeface="Lucida Sans"/>
              </a:rPr>
              <a:t> </a:t>
            </a:r>
            <a:r>
              <a:rPr dirty="0" sz="1100" spc="5">
                <a:latin typeface="Lucida Sans"/>
                <a:cs typeface="Lucida Sans"/>
              </a:rPr>
              <a:t>to</a:t>
            </a:r>
            <a:r>
              <a:rPr dirty="0" sz="1100">
                <a:latin typeface="Lucida Sans"/>
                <a:cs typeface="Lucida Sans"/>
              </a:rPr>
              <a:t> </a:t>
            </a:r>
            <a:r>
              <a:rPr dirty="0" sz="1100" spc="5">
                <a:latin typeface="Lucida Sans"/>
                <a:cs typeface="Lucida Sans"/>
              </a:rPr>
              <a:t>rehash</a:t>
            </a:r>
            <a:r>
              <a:rPr dirty="0" sz="1100">
                <a:latin typeface="Lucida Sans"/>
                <a:cs typeface="Lucida Sans"/>
              </a:rPr>
              <a:t> </a:t>
            </a:r>
            <a:r>
              <a:rPr dirty="0" sz="1100" spc="5">
                <a:latin typeface="Lucida Sans"/>
                <a:cs typeface="Lucida Sans"/>
              </a:rPr>
              <a:t>all</a:t>
            </a:r>
            <a:r>
              <a:rPr dirty="0" sz="1100">
                <a:latin typeface="Lucida Sans"/>
                <a:cs typeface="Lucida Sans"/>
              </a:rPr>
              <a:t> </a:t>
            </a:r>
            <a:r>
              <a:rPr dirty="0" sz="1100" spc="20">
                <a:latin typeface="Lucida Sans"/>
                <a:cs typeface="Lucida Sans"/>
              </a:rPr>
              <a:t>keys</a:t>
            </a:r>
            <a:r>
              <a:rPr dirty="0" sz="1100">
                <a:latin typeface="Lucida Sans"/>
                <a:cs typeface="Lucida Sans"/>
              </a:rPr>
              <a:t> </a:t>
            </a:r>
            <a:r>
              <a:rPr dirty="0" sz="1100" spc="30">
                <a:latin typeface="Lucida Sans"/>
                <a:cs typeface="Lucida Sans"/>
              </a:rPr>
              <a:t>when</a:t>
            </a:r>
            <a:r>
              <a:rPr dirty="0" sz="1100">
                <a:latin typeface="Lucida Sans"/>
                <a:cs typeface="Lucida Sans"/>
              </a:rPr>
              <a:t> </a:t>
            </a:r>
            <a:r>
              <a:rPr dirty="0" sz="1100" spc="5">
                <a:latin typeface="Lucida Sans"/>
                <a:cs typeface="Lucida Sans"/>
              </a:rPr>
              <a:t>resizing.</a:t>
            </a:r>
            <a:endParaRPr sz="1100">
              <a:latin typeface="Lucida Sans"/>
              <a:cs typeface="Lucida San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246003" y="4615831"/>
            <a:ext cx="115570" cy="1111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550" spc="5">
                <a:latin typeface="Lucida Sans"/>
                <a:cs typeface="Lucida Sans"/>
              </a:rPr>
              <a:t>21</a:t>
            </a:r>
            <a:endParaRPr sz="550">
              <a:latin typeface="Lucida Sans"/>
              <a:cs typeface="Lucida San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39997" y="396219"/>
            <a:ext cx="3190875" cy="2247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00" spc="-15">
                <a:latin typeface="Arial"/>
                <a:cs typeface="Arial"/>
              </a:rPr>
              <a:t>Resizing</a:t>
            </a:r>
            <a:r>
              <a:rPr dirty="0" sz="1300" spc="35">
                <a:latin typeface="Arial"/>
                <a:cs typeface="Arial"/>
              </a:rPr>
              <a:t> </a:t>
            </a:r>
            <a:r>
              <a:rPr dirty="0" sz="1300" spc="10">
                <a:latin typeface="Arial"/>
                <a:cs typeface="Arial"/>
              </a:rPr>
              <a:t>in</a:t>
            </a:r>
            <a:r>
              <a:rPr dirty="0" sz="1300" spc="35">
                <a:latin typeface="Arial"/>
                <a:cs typeface="Arial"/>
              </a:rPr>
              <a:t> </a:t>
            </a:r>
            <a:r>
              <a:rPr dirty="0" sz="1300" spc="60">
                <a:latin typeface="Arial"/>
                <a:cs typeface="Arial"/>
              </a:rPr>
              <a:t>a</a:t>
            </a:r>
            <a:r>
              <a:rPr dirty="0" sz="1300" spc="35">
                <a:latin typeface="Arial"/>
                <a:cs typeface="Arial"/>
              </a:rPr>
              <a:t> </a:t>
            </a:r>
            <a:r>
              <a:rPr dirty="0" sz="1300" spc="5">
                <a:latin typeface="Arial"/>
                <a:cs typeface="Arial"/>
              </a:rPr>
              <a:t>separate-chaining</a:t>
            </a:r>
            <a:r>
              <a:rPr dirty="0" sz="1300" spc="35">
                <a:latin typeface="Arial"/>
                <a:cs typeface="Arial"/>
              </a:rPr>
              <a:t> </a:t>
            </a:r>
            <a:r>
              <a:rPr dirty="0" sz="1300" spc="-20">
                <a:latin typeface="Arial"/>
                <a:cs typeface="Arial"/>
              </a:rPr>
              <a:t>hash</a:t>
            </a:r>
            <a:r>
              <a:rPr dirty="0" sz="1300" spc="35">
                <a:latin typeface="Arial"/>
                <a:cs typeface="Arial"/>
              </a:rPr>
              <a:t> </a:t>
            </a:r>
            <a:r>
              <a:rPr dirty="0" sz="1300" spc="30">
                <a:latin typeface="Arial"/>
                <a:cs typeface="Arial"/>
              </a:rPr>
              <a:t>table</a:t>
            </a:r>
            <a:endParaRPr sz="13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782932" y="2449750"/>
            <a:ext cx="836930" cy="184150"/>
            <a:chOff x="1782932" y="2449750"/>
            <a:chExt cx="836930" cy="184150"/>
          </a:xfrm>
        </p:grpSpPr>
        <p:sp>
          <p:nvSpPr>
            <p:cNvPr id="9" name="object 9"/>
            <p:cNvSpPr/>
            <p:nvPr/>
          </p:nvSpPr>
          <p:spPr>
            <a:xfrm>
              <a:off x="2432930" y="2541572"/>
              <a:ext cx="145415" cy="0"/>
            </a:xfrm>
            <a:custGeom>
              <a:avLst/>
              <a:gdLst/>
              <a:ahLst/>
              <a:cxnLst/>
              <a:rect l="l" t="t" r="r" b="b"/>
              <a:pathLst>
                <a:path w="145414" h="0">
                  <a:moveTo>
                    <a:pt x="0" y="0"/>
                  </a:moveTo>
                  <a:lnTo>
                    <a:pt x="35111" y="0"/>
                  </a:lnTo>
                  <a:lnTo>
                    <a:pt x="70223" y="0"/>
                  </a:lnTo>
                  <a:lnTo>
                    <a:pt x="105334" y="0"/>
                  </a:lnTo>
                  <a:lnTo>
                    <a:pt x="140446" y="0"/>
                  </a:lnTo>
                  <a:lnTo>
                    <a:pt x="144890" y="0"/>
                  </a:lnTo>
                </a:path>
              </a:pathLst>
            </a:custGeom>
            <a:ln w="88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2573376" y="2518469"/>
              <a:ext cx="46355" cy="46355"/>
            </a:xfrm>
            <a:custGeom>
              <a:avLst/>
              <a:gdLst/>
              <a:ahLst/>
              <a:cxnLst/>
              <a:rect l="l" t="t" r="r" b="b"/>
              <a:pathLst>
                <a:path w="46355" h="46355">
                  <a:moveTo>
                    <a:pt x="0" y="0"/>
                  </a:moveTo>
                  <a:lnTo>
                    <a:pt x="0" y="46207"/>
                  </a:lnTo>
                  <a:lnTo>
                    <a:pt x="46207" y="23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1787377" y="2557032"/>
              <a:ext cx="434975" cy="55880"/>
            </a:xfrm>
            <a:custGeom>
              <a:avLst/>
              <a:gdLst/>
              <a:ahLst/>
              <a:cxnLst/>
              <a:rect l="l" t="t" r="r" b="b"/>
              <a:pathLst>
                <a:path w="434975" h="55880">
                  <a:moveTo>
                    <a:pt x="434831" y="0"/>
                  </a:moveTo>
                  <a:lnTo>
                    <a:pt x="430425" y="566"/>
                  </a:lnTo>
                  <a:lnTo>
                    <a:pt x="382599" y="6708"/>
                  </a:lnTo>
                  <a:lnTo>
                    <a:pt x="334774" y="12851"/>
                  </a:lnTo>
                  <a:lnTo>
                    <a:pt x="286949" y="18994"/>
                  </a:lnTo>
                  <a:lnTo>
                    <a:pt x="239124" y="25137"/>
                  </a:lnTo>
                  <a:lnTo>
                    <a:pt x="191299" y="31279"/>
                  </a:lnTo>
                  <a:lnTo>
                    <a:pt x="143474" y="37422"/>
                  </a:lnTo>
                  <a:lnTo>
                    <a:pt x="95649" y="43565"/>
                  </a:lnTo>
                  <a:lnTo>
                    <a:pt x="47824" y="49707"/>
                  </a:lnTo>
                  <a:lnTo>
                    <a:pt x="0" y="55850"/>
                  </a:lnTo>
                </a:path>
              </a:pathLst>
            </a:custGeom>
            <a:ln w="88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03401" y="2449750"/>
              <a:ext cx="230997" cy="183645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2297175" y="2457784"/>
            <a:ext cx="90805" cy="1397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50" spc="-5">
                <a:latin typeface="Lucida Sans"/>
                <a:cs typeface="Lucida Sans"/>
              </a:rPr>
              <a:t>A</a:t>
            </a:r>
            <a:endParaRPr sz="750">
              <a:latin typeface="Lucida Sans"/>
              <a:cs typeface="Lucida Sans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2617831" y="2449537"/>
            <a:ext cx="369570" cy="184150"/>
            <a:chOff x="2617831" y="2449537"/>
            <a:chExt cx="369570" cy="184150"/>
          </a:xfrm>
        </p:grpSpPr>
        <p:sp>
          <p:nvSpPr>
            <p:cNvPr id="15" name="object 15"/>
            <p:cNvSpPr/>
            <p:nvPr/>
          </p:nvSpPr>
          <p:spPr>
            <a:xfrm>
              <a:off x="2800149" y="2541572"/>
              <a:ext cx="156845" cy="0"/>
            </a:xfrm>
            <a:custGeom>
              <a:avLst/>
              <a:gdLst/>
              <a:ahLst/>
              <a:cxnLst/>
              <a:rect l="l" t="t" r="r" b="b"/>
              <a:pathLst>
                <a:path w="156844" h="0">
                  <a:moveTo>
                    <a:pt x="156441" y="0"/>
                  </a:moveTo>
                  <a:lnTo>
                    <a:pt x="151998" y="0"/>
                  </a:lnTo>
                  <a:lnTo>
                    <a:pt x="113998" y="0"/>
                  </a:lnTo>
                  <a:lnTo>
                    <a:pt x="75998" y="0"/>
                  </a:lnTo>
                  <a:lnTo>
                    <a:pt x="37999" y="0"/>
                  </a:lnTo>
                  <a:lnTo>
                    <a:pt x="0" y="0"/>
                  </a:lnTo>
                </a:path>
              </a:pathLst>
            </a:custGeom>
            <a:ln w="88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2940595" y="2518468"/>
              <a:ext cx="46355" cy="46355"/>
            </a:xfrm>
            <a:custGeom>
              <a:avLst/>
              <a:gdLst/>
              <a:ahLst/>
              <a:cxnLst/>
              <a:rect l="l" t="t" r="r" b="b"/>
              <a:pathLst>
                <a:path w="46355" h="46355">
                  <a:moveTo>
                    <a:pt x="0" y="0"/>
                  </a:moveTo>
                  <a:lnTo>
                    <a:pt x="11552" y="23104"/>
                  </a:lnTo>
                  <a:lnTo>
                    <a:pt x="0" y="46207"/>
                  </a:lnTo>
                  <a:lnTo>
                    <a:pt x="46208" y="2310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2621006" y="2452712"/>
              <a:ext cx="177800" cy="177800"/>
            </a:xfrm>
            <a:custGeom>
              <a:avLst/>
              <a:gdLst/>
              <a:ahLst/>
              <a:cxnLst/>
              <a:rect l="l" t="t" r="r" b="b"/>
              <a:pathLst>
                <a:path w="177800" h="177800">
                  <a:moveTo>
                    <a:pt x="0" y="0"/>
                  </a:moveTo>
                  <a:lnTo>
                    <a:pt x="177721" y="0"/>
                  </a:lnTo>
                  <a:lnTo>
                    <a:pt x="177721" y="177721"/>
                  </a:lnTo>
                  <a:lnTo>
                    <a:pt x="0" y="1777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2621006" y="2452712"/>
              <a:ext cx="177800" cy="177800"/>
            </a:xfrm>
            <a:custGeom>
              <a:avLst/>
              <a:gdLst/>
              <a:ahLst/>
              <a:cxnLst/>
              <a:rect l="l" t="t" r="r" b="b"/>
              <a:pathLst>
                <a:path w="177800" h="177800">
                  <a:moveTo>
                    <a:pt x="0" y="0"/>
                  </a:moveTo>
                  <a:lnTo>
                    <a:pt x="177721" y="0"/>
                  </a:lnTo>
                  <a:lnTo>
                    <a:pt x="177721" y="177721"/>
                  </a:lnTo>
                  <a:lnTo>
                    <a:pt x="0" y="177721"/>
                  </a:lnTo>
                  <a:lnTo>
                    <a:pt x="0" y="0"/>
                  </a:lnTo>
                  <a:close/>
                </a:path>
              </a:pathLst>
            </a:custGeom>
            <a:ln w="59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2621006" y="2452712"/>
            <a:ext cx="177800" cy="17780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35"/>
              </a:spcBef>
            </a:pPr>
            <a:r>
              <a:rPr dirty="0" sz="750" spc="-5">
                <a:latin typeface="Lucida Sans"/>
                <a:cs typeface="Lucida Sans"/>
              </a:rPr>
              <a:t>B</a:t>
            </a:r>
            <a:endParaRPr sz="750">
              <a:latin typeface="Lucida Sans"/>
              <a:cs typeface="Lucida Sans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2985121" y="2449537"/>
            <a:ext cx="369570" cy="184150"/>
            <a:chOff x="2985121" y="2449537"/>
            <a:chExt cx="369570" cy="184150"/>
          </a:xfrm>
        </p:grpSpPr>
        <p:sp>
          <p:nvSpPr>
            <p:cNvPr id="21" name="object 21"/>
            <p:cNvSpPr/>
            <p:nvPr/>
          </p:nvSpPr>
          <p:spPr>
            <a:xfrm>
              <a:off x="3167510" y="2541572"/>
              <a:ext cx="145415" cy="0"/>
            </a:xfrm>
            <a:custGeom>
              <a:avLst/>
              <a:gdLst/>
              <a:ahLst/>
              <a:cxnLst/>
              <a:rect l="l" t="t" r="r" b="b"/>
              <a:pathLst>
                <a:path w="145414" h="0">
                  <a:moveTo>
                    <a:pt x="0" y="0"/>
                  </a:moveTo>
                  <a:lnTo>
                    <a:pt x="35111" y="0"/>
                  </a:lnTo>
                  <a:lnTo>
                    <a:pt x="70223" y="0"/>
                  </a:lnTo>
                  <a:lnTo>
                    <a:pt x="105334" y="0"/>
                  </a:lnTo>
                  <a:lnTo>
                    <a:pt x="140446" y="0"/>
                  </a:lnTo>
                  <a:lnTo>
                    <a:pt x="144890" y="0"/>
                  </a:lnTo>
                </a:path>
              </a:pathLst>
            </a:custGeom>
            <a:ln w="88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3307957" y="2518468"/>
              <a:ext cx="46355" cy="46355"/>
            </a:xfrm>
            <a:custGeom>
              <a:avLst/>
              <a:gdLst/>
              <a:ahLst/>
              <a:cxnLst/>
              <a:rect l="l" t="t" r="r" b="b"/>
              <a:pathLst>
                <a:path w="46354" h="46355">
                  <a:moveTo>
                    <a:pt x="0" y="0"/>
                  </a:moveTo>
                  <a:lnTo>
                    <a:pt x="0" y="46207"/>
                  </a:lnTo>
                  <a:lnTo>
                    <a:pt x="46206" y="23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2988296" y="2452712"/>
              <a:ext cx="177800" cy="177800"/>
            </a:xfrm>
            <a:custGeom>
              <a:avLst/>
              <a:gdLst/>
              <a:ahLst/>
              <a:cxnLst/>
              <a:rect l="l" t="t" r="r" b="b"/>
              <a:pathLst>
                <a:path w="177800" h="177800">
                  <a:moveTo>
                    <a:pt x="0" y="0"/>
                  </a:moveTo>
                  <a:lnTo>
                    <a:pt x="177721" y="0"/>
                  </a:lnTo>
                  <a:lnTo>
                    <a:pt x="177721" y="177721"/>
                  </a:lnTo>
                  <a:lnTo>
                    <a:pt x="0" y="1777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2988296" y="2452712"/>
              <a:ext cx="177800" cy="177800"/>
            </a:xfrm>
            <a:custGeom>
              <a:avLst/>
              <a:gdLst/>
              <a:ahLst/>
              <a:cxnLst/>
              <a:rect l="l" t="t" r="r" b="b"/>
              <a:pathLst>
                <a:path w="177800" h="177800">
                  <a:moveTo>
                    <a:pt x="0" y="0"/>
                  </a:moveTo>
                  <a:lnTo>
                    <a:pt x="177721" y="0"/>
                  </a:lnTo>
                  <a:lnTo>
                    <a:pt x="177721" y="177721"/>
                  </a:lnTo>
                  <a:lnTo>
                    <a:pt x="0" y="177721"/>
                  </a:lnTo>
                  <a:lnTo>
                    <a:pt x="0" y="0"/>
                  </a:lnTo>
                  <a:close/>
                </a:path>
              </a:pathLst>
            </a:custGeom>
            <a:ln w="59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/>
          <p:cNvSpPr txBox="1"/>
          <p:nvPr/>
        </p:nvSpPr>
        <p:spPr>
          <a:xfrm>
            <a:off x="2988296" y="2452712"/>
            <a:ext cx="177800" cy="17780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55880">
              <a:lnSpc>
                <a:spcPct val="100000"/>
              </a:lnSpc>
              <a:spcBef>
                <a:spcPts val="135"/>
              </a:spcBef>
            </a:pPr>
            <a:r>
              <a:rPr dirty="0" sz="750" spc="-5">
                <a:latin typeface="Lucida Sans"/>
                <a:cs typeface="Lucida Sans"/>
              </a:rPr>
              <a:t>C</a:t>
            </a:r>
            <a:endParaRPr sz="750">
              <a:latin typeface="Lucida Sans"/>
              <a:cs typeface="Lucida Sans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3352411" y="2449537"/>
            <a:ext cx="369570" cy="184150"/>
            <a:chOff x="3352411" y="2449537"/>
            <a:chExt cx="369570" cy="184150"/>
          </a:xfrm>
        </p:grpSpPr>
        <p:sp>
          <p:nvSpPr>
            <p:cNvPr id="27" name="object 27"/>
            <p:cNvSpPr/>
            <p:nvPr/>
          </p:nvSpPr>
          <p:spPr>
            <a:xfrm>
              <a:off x="3534801" y="2541572"/>
              <a:ext cx="145415" cy="0"/>
            </a:xfrm>
            <a:custGeom>
              <a:avLst/>
              <a:gdLst/>
              <a:ahLst/>
              <a:cxnLst/>
              <a:rect l="l" t="t" r="r" b="b"/>
              <a:pathLst>
                <a:path w="145414" h="0">
                  <a:moveTo>
                    <a:pt x="0" y="0"/>
                  </a:moveTo>
                  <a:lnTo>
                    <a:pt x="35111" y="0"/>
                  </a:lnTo>
                  <a:lnTo>
                    <a:pt x="70222" y="0"/>
                  </a:lnTo>
                  <a:lnTo>
                    <a:pt x="105334" y="0"/>
                  </a:lnTo>
                  <a:lnTo>
                    <a:pt x="140445" y="0"/>
                  </a:lnTo>
                  <a:lnTo>
                    <a:pt x="144889" y="0"/>
                  </a:lnTo>
                </a:path>
              </a:pathLst>
            </a:custGeom>
            <a:ln w="88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3675247" y="2518468"/>
              <a:ext cx="46355" cy="46355"/>
            </a:xfrm>
            <a:custGeom>
              <a:avLst/>
              <a:gdLst/>
              <a:ahLst/>
              <a:cxnLst/>
              <a:rect l="l" t="t" r="r" b="b"/>
              <a:pathLst>
                <a:path w="46354" h="46355">
                  <a:moveTo>
                    <a:pt x="0" y="0"/>
                  </a:moveTo>
                  <a:lnTo>
                    <a:pt x="0" y="46207"/>
                  </a:lnTo>
                  <a:lnTo>
                    <a:pt x="46206" y="23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3355586" y="2452712"/>
              <a:ext cx="177800" cy="177800"/>
            </a:xfrm>
            <a:custGeom>
              <a:avLst/>
              <a:gdLst/>
              <a:ahLst/>
              <a:cxnLst/>
              <a:rect l="l" t="t" r="r" b="b"/>
              <a:pathLst>
                <a:path w="177800" h="177800">
                  <a:moveTo>
                    <a:pt x="0" y="0"/>
                  </a:moveTo>
                  <a:lnTo>
                    <a:pt x="177721" y="0"/>
                  </a:lnTo>
                  <a:lnTo>
                    <a:pt x="177721" y="177721"/>
                  </a:lnTo>
                  <a:lnTo>
                    <a:pt x="0" y="1777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3355586" y="2452712"/>
              <a:ext cx="177800" cy="177800"/>
            </a:xfrm>
            <a:custGeom>
              <a:avLst/>
              <a:gdLst/>
              <a:ahLst/>
              <a:cxnLst/>
              <a:rect l="l" t="t" r="r" b="b"/>
              <a:pathLst>
                <a:path w="177800" h="177800">
                  <a:moveTo>
                    <a:pt x="0" y="0"/>
                  </a:moveTo>
                  <a:lnTo>
                    <a:pt x="177721" y="0"/>
                  </a:lnTo>
                  <a:lnTo>
                    <a:pt x="177721" y="177721"/>
                  </a:lnTo>
                  <a:lnTo>
                    <a:pt x="0" y="177721"/>
                  </a:lnTo>
                  <a:lnTo>
                    <a:pt x="0" y="0"/>
                  </a:lnTo>
                  <a:close/>
                </a:path>
              </a:pathLst>
            </a:custGeom>
            <a:ln w="59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" name="object 31"/>
          <p:cNvSpPr txBox="1"/>
          <p:nvPr/>
        </p:nvSpPr>
        <p:spPr>
          <a:xfrm>
            <a:off x="3355587" y="2452712"/>
            <a:ext cx="177800" cy="17780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53340">
              <a:lnSpc>
                <a:spcPct val="100000"/>
              </a:lnSpc>
              <a:spcBef>
                <a:spcPts val="135"/>
              </a:spcBef>
            </a:pPr>
            <a:r>
              <a:rPr dirty="0" sz="750" spc="-5">
                <a:latin typeface="Lucida Sans"/>
                <a:cs typeface="Lucida Sans"/>
              </a:rPr>
              <a:t>D</a:t>
            </a:r>
            <a:endParaRPr sz="750">
              <a:latin typeface="Lucida Sans"/>
              <a:cs typeface="Lucida Sans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3719702" y="2449537"/>
            <a:ext cx="369570" cy="184150"/>
            <a:chOff x="3719702" y="2449537"/>
            <a:chExt cx="369570" cy="184150"/>
          </a:xfrm>
        </p:grpSpPr>
        <p:sp>
          <p:nvSpPr>
            <p:cNvPr id="33" name="object 33"/>
            <p:cNvSpPr/>
            <p:nvPr/>
          </p:nvSpPr>
          <p:spPr>
            <a:xfrm>
              <a:off x="3902091" y="2541572"/>
              <a:ext cx="145415" cy="0"/>
            </a:xfrm>
            <a:custGeom>
              <a:avLst/>
              <a:gdLst/>
              <a:ahLst/>
              <a:cxnLst/>
              <a:rect l="l" t="t" r="r" b="b"/>
              <a:pathLst>
                <a:path w="145414" h="0">
                  <a:moveTo>
                    <a:pt x="0" y="0"/>
                  </a:moveTo>
                  <a:lnTo>
                    <a:pt x="35111" y="0"/>
                  </a:lnTo>
                  <a:lnTo>
                    <a:pt x="70223" y="0"/>
                  </a:lnTo>
                  <a:lnTo>
                    <a:pt x="105334" y="0"/>
                  </a:lnTo>
                  <a:lnTo>
                    <a:pt x="140446" y="0"/>
                  </a:lnTo>
                  <a:lnTo>
                    <a:pt x="144889" y="0"/>
                  </a:lnTo>
                </a:path>
              </a:pathLst>
            </a:custGeom>
            <a:ln w="88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4042538" y="2518468"/>
              <a:ext cx="46355" cy="46355"/>
            </a:xfrm>
            <a:custGeom>
              <a:avLst/>
              <a:gdLst/>
              <a:ahLst/>
              <a:cxnLst/>
              <a:rect l="l" t="t" r="r" b="b"/>
              <a:pathLst>
                <a:path w="46354" h="46355">
                  <a:moveTo>
                    <a:pt x="0" y="0"/>
                  </a:moveTo>
                  <a:lnTo>
                    <a:pt x="0" y="46207"/>
                  </a:lnTo>
                  <a:lnTo>
                    <a:pt x="46206" y="23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3722877" y="2452712"/>
              <a:ext cx="177800" cy="177800"/>
            </a:xfrm>
            <a:custGeom>
              <a:avLst/>
              <a:gdLst/>
              <a:ahLst/>
              <a:cxnLst/>
              <a:rect l="l" t="t" r="r" b="b"/>
              <a:pathLst>
                <a:path w="177800" h="177800">
                  <a:moveTo>
                    <a:pt x="0" y="0"/>
                  </a:moveTo>
                  <a:lnTo>
                    <a:pt x="177721" y="0"/>
                  </a:lnTo>
                  <a:lnTo>
                    <a:pt x="177721" y="177721"/>
                  </a:lnTo>
                  <a:lnTo>
                    <a:pt x="0" y="1777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3722877" y="2452712"/>
              <a:ext cx="177800" cy="177800"/>
            </a:xfrm>
            <a:custGeom>
              <a:avLst/>
              <a:gdLst/>
              <a:ahLst/>
              <a:cxnLst/>
              <a:rect l="l" t="t" r="r" b="b"/>
              <a:pathLst>
                <a:path w="177800" h="177800">
                  <a:moveTo>
                    <a:pt x="0" y="0"/>
                  </a:moveTo>
                  <a:lnTo>
                    <a:pt x="177721" y="0"/>
                  </a:lnTo>
                  <a:lnTo>
                    <a:pt x="177721" y="177721"/>
                  </a:lnTo>
                  <a:lnTo>
                    <a:pt x="0" y="177721"/>
                  </a:lnTo>
                  <a:lnTo>
                    <a:pt x="0" y="0"/>
                  </a:lnTo>
                  <a:close/>
                </a:path>
              </a:pathLst>
            </a:custGeom>
            <a:ln w="59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7" name="object 37"/>
          <p:cNvSpPr txBox="1"/>
          <p:nvPr/>
        </p:nvSpPr>
        <p:spPr>
          <a:xfrm>
            <a:off x="3722877" y="2452712"/>
            <a:ext cx="177800" cy="17780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35"/>
              </a:spcBef>
            </a:pPr>
            <a:r>
              <a:rPr dirty="0" sz="750" spc="-5">
                <a:latin typeface="Lucida Sans"/>
                <a:cs typeface="Lucida Sans"/>
              </a:rPr>
              <a:t>E</a:t>
            </a:r>
            <a:endParaRPr sz="750">
              <a:latin typeface="Lucida Sans"/>
              <a:cs typeface="Lucida Sans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4086992" y="2449537"/>
            <a:ext cx="369570" cy="184150"/>
            <a:chOff x="4086992" y="2449537"/>
            <a:chExt cx="369570" cy="184150"/>
          </a:xfrm>
        </p:grpSpPr>
        <p:sp>
          <p:nvSpPr>
            <p:cNvPr id="39" name="object 39"/>
            <p:cNvSpPr/>
            <p:nvPr/>
          </p:nvSpPr>
          <p:spPr>
            <a:xfrm>
              <a:off x="4269310" y="2541572"/>
              <a:ext cx="156845" cy="0"/>
            </a:xfrm>
            <a:custGeom>
              <a:avLst/>
              <a:gdLst/>
              <a:ahLst/>
              <a:cxnLst/>
              <a:rect l="l" t="t" r="r" b="b"/>
              <a:pathLst>
                <a:path w="156845" h="0">
                  <a:moveTo>
                    <a:pt x="156441" y="0"/>
                  </a:moveTo>
                  <a:lnTo>
                    <a:pt x="151998" y="0"/>
                  </a:lnTo>
                  <a:lnTo>
                    <a:pt x="113999" y="0"/>
                  </a:lnTo>
                  <a:lnTo>
                    <a:pt x="75999" y="0"/>
                  </a:lnTo>
                  <a:lnTo>
                    <a:pt x="37999" y="0"/>
                  </a:lnTo>
                  <a:lnTo>
                    <a:pt x="0" y="0"/>
                  </a:lnTo>
                </a:path>
              </a:pathLst>
            </a:custGeom>
            <a:ln w="88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4409757" y="2518468"/>
              <a:ext cx="46355" cy="46355"/>
            </a:xfrm>
            <a:custGeom>
              <a:avLst/>
              <a:gdLst/>
              <a:ahLst/>
              <a:cxnLst/>
              <a:rect l="l" t="t" r="r" b="b"/>
              <a:pathLst>
                <a:path w="46354" h="46355">
                  <a:moveTo>
                    <a:pt x="0" y="0"/>
                  </a:moveTo>
                  <a:lnTo>
                    <a:pt x="11551" y="23103"/>
                  </a:lnTo>
                  <a:lnTo>
                    <a:pt x="0" y="46207"/>
                  </a:lnTo>
                  <a:lnTo>
                    <a:pt x="46206" y="23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4090167" y="2452712"/>
              <a:ext cx="177800" cy="177800"/>
            </a:xfrm>
            <a:custGeom>
              <a:avLst/>
              <a:gdLst/>
              <a:ahLst/>
              <a:cxnLst/>
              <a:rect l="l" t="t" r="r" b="b"/>
              <a:pathLst>
                <a:path w="177800" h="177800">
                  <a:moveTo>
                    <a:pt x="0" y="0"/>
                  </a:moveTo>
                  <a:lnTo>
                    <a:pt x="177721" y="0"/>
                  </a:lnTo>
                  <a:lnTo>
                    <a:pt x="177721" y="177721"/>
                  </a:lnTo>
                  <a:lnTo>
                    <a:pt x="0" y="1777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4090167" y="2452712"/>
              <a:ext cx="177800" cy="177800"/>
            </a:xfrm>
            <a:custGeom>
              <a:avLst/>
              <a:gdLst/>
              <a:ahLst/>
              <a:cxnLst/>
              <a:rect l="l" t="t" r="r" b="b"/>
              <a:pathLst>
                <a:path w="177800" h="177800">
                  <a:moveTo>
                    <a:pt x="0" y="0"/>
                  </a:moveTo>
                  <a:lnTo>
                    <a:pt x="177721" y="0"/>
                  </a:lnTo>
                  <a:lnTo>
                    <a:pt x="177721" y="177721"/>
                  </a:lnTo>
                  <a:lnTo>
                    <a:pt x="0" y="177721"/>
                  </a:lnTo>
                  <a:lnTo>
                    <a:pt x="0" y="0"/>
                  </a:lnTo>
                  <a:close/>
                </a:path>
              </a:pathLst>
            </a:custGeom>
            <a:ln w="59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3" name="object 43"/>
          <p:cNvSpPr txBox="1"/>
          <p:nvPr/>
        </p:nvSpPr>
        <p:spPr>
          <a:xfrm>
            <a:off x="4090167" y="2452712"/>
            <a:ext cx="177800" cy="17780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35"/>
              </a:spcBef>
            </a:pPr>
            <a:r>
              <a:rPr dirty="0" sz="750" spc="-5">
                <a:latin typeface="Lucida Sans"/>
                <a:cs typeface="Lucida Sans"/>
              </a:rPr>
              <a:t>F</a:t>
            </a:r>
            <a:endParaRPr sz="750">
              <a:latin typeface="Lucida Sans"/>
              <a:cs typeface="Lucida Sans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4454282" y="2449537"/>
            <a:ext cx="369570" cy="184150"/>
            <a:chOff x="4454282" y="2449537"/>
            <a:chExt cx="369570" cy="184150"/>
          </a:xfrm>
        </p:grpSpPr>
        <p:sp>
          <p:nvSpPr>
            <p:cNvPr id="45" name="object 45"/>
            <p:cNvSpPr/>
            <p:nvPr/>
          </p:nvSpPr>
          <p:spPr>
            <a:xfrm>
              <a:off x="4636671" y="2541572"/>
              <a:ext cx="145415" cy="0"/>
            </a:xfrm>
            <a:custGeom>
              <a:avLst/>
              <a:gdLst/>
              <a:ahLst/>
              <a:cxnLst/>
              <a:rect l="l" t="t" r="r" b="b"/>
              <a:pathLst>
                <a:path w="145414" h="0">
                  <a:moveTo>
                    <a:pt x="0" y="0"/>
                  </a:moveTo>
                  <a:lnTo>
                    <a:pt x="35111" y="0"/>
                  </a:lnTo>
                  <a:lnTo>
                    <a:pt x="70223" y="0"/>
                  </a:lnTo>
                  <a:lnTo>
                    <a:pt x="105334" y="0"/>
                  </a:lnTo>
                  <a:lnTo>
                    <a:pt x="140446" y="0"/>
                  </a:lnTo>
                  <a:lnTo>
                    <a:pt x="144889" y="0"/>
                  </a:lnTo>
                </a:path>
              </a:pathLst>
            </a:custGeom>
            <a:ln w="88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/>
            <p:cNvSpPr/>
            <p:nvPr/>
          </p:nvSpPr>
          <p:spPr>
            <a:xfrm>
              <a:off x="4777118" y="2518468"/>
              <a:ext cx="46355" cy="46355"/>
            </a:xfrm>
            <a:custGeom>
              <a:avLst/>
              <a:gdLst/>
              <a:ahLst/>
              <a:cxnLst/>
              <a:rect l="l" t="t" r="r" b="b"/>
              <a:pathLst>
                <a:path w="46354" h="46355">
                  <a:moveTo>
                    <a:pt x="0" y="0"/>
                  </a:moveTo>
                  <a:lnTo>
                    <a:pt x="0" y="46207"/>
                  </a:lnTo>
                  <a:lnTo>
                    <a:pt x="46206" y="23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/>
            <p:cNvSpPr/>
            <p:nvPr/>
          </p:nvSpPr>
          <p:spPr>
            <a:xfrm>
              <a:off x="4457457" y="2452712"/>
              <a:ext cx="177800" cy="177800"/>
            </a:xfrm>
            <a:custGeom>
              <a:avLst/>
              <a:gdLst/>
              <a:ahLst/>
              <a:cxnLst/>
              <a:rect l="l" t="t" r="r" b="b"/>
              <a:pathLst>
                <a:path w="177800" h="177800">
                  <a:moveTo>
                    <a:pt x="0" y="0"/>
                  </a:moveTo>
                  <a:lnTo>
                    <a:pt x="177721" y="0"/>
                  </a:lnTo>
                  <a:lnTo>
                    <a:pt x="177721" y="177721"/>
                  </a:lnTo>
                  <a:lnTo>
                    <a:pt x="0" y="1777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/>
            <p:cNvSpPr/>
            <p:nvPr/>
          </p:nvSpPr>
          <p:spPr>
            <a:xfrm>
              <a:off x="4457457" y="2452712"/>
              <a:ext cx="177800" cy="177800"/>
            </a:xfrm>
            <a:custGeom>
              <a:avLst/>
              <a:gdLst/>
              <a:ahLst/>
              <a:cxnLst/>
              <a:rect l="l" t="t" r="r" b="b"/>
              <a:pathLst>
                <a:path w="177800" h="177800">
                  <a:moveTo>
                    <a:pt x="0" y="0"/>
                  </a:moveTo>
                  <a:lnTo>
                    <a:pt x="177721" y="0"/>
                  </a:lnTo>
                  <a:lnTo>
                    <a:pt x="177721" y="177721"/>
                  </a:lnTo>
                  <a:lnTo>
                    <a:pt x="0" y="177721"/>
                  </a:lnTo>
                  <a:lnTo>
                    <a:pt x="0" y="0"/>
                  </a:lnTo>
                  <a:close/>
                </a:path>
              </a:pathLst>
            </a:custGeom>
            <a:ln w="59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9" name="object 49"/>
          <p:cNvSpPr txBox="1"/>
          <p:nvPr/>
        </p:nvSpPr>
        <p:spPr>
          <a:xfrm>
            <a:off x="4457457" y="2452712"/>
            <a:ext cx="177800" cy="17780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53975">
              <a:lnSpc>
                <a:spcPct val="100000"/>
              </a:lnSpc>
              <a:spcBef>
                <a:spcPts val="135"/>
              </a:spcBef>
            </a:pPr>
            <a:r>
              <a:rPr dirty="0" sz="750" spc="-5">
                <a:latin typeface="Lucida Sans"/>
                <a:cs typeface="Lucida Sans"/>
              </a:rPr>
              <a:t>G</a:t>
            </a:r>
            <a:endParaRPr sz="750">
              <a:latin typeface="Lucida Sans"/>
              <a:cs typeface="Lucida Sans"/>
            </a:endParaRPr>
          </a:p>
        </p:txBody>
      </p:sp>
      <p:grpSp>
        <p:nvGrpSpPr>
          <p:cNvPr id="50" name="object 50"/>
          <p:cNvGrpSpPr/>
          <p:nvPr/>
        </p:nvGrpSpPr>
        <p:grpSpPr>
          <a:xfrm>
            <a:off x="4821572" y="2449537"/>
            <a:ext cx="369570" cy="184150"/>
            <a:chOff x="4821572" y="2449537"/>
            <a:chExt cx="369570" cy="184150"/>
          </a:xfrm>
        </p:grpSpPr>
        <p:sp>
          <p:nvSpPr>
            <p:cNvPr id="51" name="object 51"/>
            <p:cNvSpPr/>
            <p:nvPr/>
          </p:nvSpPr>
          <p:spPr>
            <a:xfrm>
              <a:off x="5003891" y="2541572"/>
              <a:ext cx="156845" cy="0"/>
            </a:xfrm>
            <a:custGeom>
              <a:avLst/>
              <a:gdLst/>
              <a:ahLst/>
              <a:cxnLst/>
              <a:rect l="l" t="t" r="r" b="b"/>
              <a:pathLst>
                <a:path w="156845" h="0">
                  <a:moveTo>
                    <a:pt x="156441" y="0"/>
                  </a:moveTo>
                  <a:lnTo>
                    <a:pt x="151998" y="0"/>
                  </a:lnTo>
                  <a:lnTo>
                    <a:pt x="113998" y="0"/>
                  </a:lnTo>
                  <a:lnTo>
                    <a:pt x="75998" y="0"/>
                  </a:lnTo>
                  <a:lnTo>
                    <a:pt x="37999" y="0"/>
                  </a:lnTo>
                  <a:lnTo>
                    <a:pt x="0" y="0"/>
                  </a:lnTo>
                </a:path>
              </a:pathLst>
            </a:custGeom>
            <a:ln w="88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/>
            <p:cNvSpPr/>
            <p:nvPr/>
          </p:nvSpPr>
          <p:spPr>
            <a:xfrm>
              <a:off x="5144338" y="2518469"/>
              <a:ext cx="46355" cy="46355"/>
            </a:xfrm>
            <a:custGeom>
              <a:avLst/>
              <a:gdLst/>
              <a:ahLst/>
              <a:cxnLst/>
              <a:rect l="l" t="t" r="r" b="b"/>
              <a:pathLst>
                <a:path w="46354" h="46355">
                  <a:moveTo>
                    <a:pt x="0" y="0"/>
                  </a:moveTo>
                  <a:lnTo>
                    <a:pt x="11551" y="23103"/>
                  </a:lnTo>
                  <a:lnTo>
                    <a:pt x="0" y="46207"/>
                  </a:lnTo>
                  <a:lnTo>
                    <a:pt x="46207" y="23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/>
            <p:cNvSpPr/>
            <p:nvPr/>
          </p:nvSpPr>
          <p:spPr>
            <a:xfrm>
              <a:off x="4824747" y="2452712"/>
              <a:ext cx="177800" cy="177800"/>
            </a:xfrm>
            <a:custGeom>
              <a:avLst/>
              <a:gdLst/>
              <a:ahLst/>
              <a:cxnLst/>
              <a:rect l="l" t="t" r="r" b="b"/>
              <a:pathLst>
                <a:path w="177800" h="177800">
                  <a:moveTo>
                    <a:pt x="0" y="0"/>
                  </a:moveTo>
                  <a:lnTo>
                    <a:pt x="177721" y="0"/>
                  </a:lnTo>
                  <a:lnTo>
                    <a:pt x="177721" y="177721"/>
                  </a:lnTo>
                  <a:lnTo>
                    <a:pt x="0" y="1777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/>
            <p:cNvSpPr/>
            <p:nvPr/>
          </p:nvSpPr>
          <p:spPr>
            <a:xfrm>
              <a:off x="4824747" y="2452712"/>
              <a:ext cx="177800" cy="177800"/>
            </a:xfrm>
            <a:custGeom>
              <a:avLst/>
              <a:gdLst/>
              <a:ahLst/>
              <a:cxnLst/>
              <a:rect l="l" t="t" r="r" b="b"/>
              <a:pathLst>
                <a:path w="177800" h="177800">
                  <a:moveTo>
                    <a:pt x="0" y="0"/>
                  </a:moveTo>
                  <a:lnTo>
                    <a:pt x="177721" y="0"/>
                  </a:lnTo>
                  <a:lnTo>
                    <a:pt x="177721" y="177721"/>
                  </a:lnTo>
                  <a:lnTo>
                    <a:pt x="0" y="177721"/>
                  </a:lnTo>
                  <a:lnTo>
                    <a:pt x="0" y="0"/>
                  </a:lnTo>
                  <a:close/>
                </a:path>
              </a:pathLst>
            </a:custGeom>
            <a:ln w="59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5" name="object 55"/>
          <p:cNvSpPr txBox="1"/>
          <p:nvPr/>
        </p:nvSpPr>
        <p:spPr>
          <a:xfrm>
            <a:off x="4824747" y="2452712"/>
            <a:ext cx="177800" cy="17780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53975">
              <a:lnSpc>
                <a:spcPct val="100000"/>
              </a:lnSpc>
              <a:spcBef>
                <a:spcPts val="135"/>
              </a:spcBef>
            </a:pPr>
            <a:r>
              <a:rPr dirty="0" sz="750" spc="-5">
                <a:latin typeface="Lucida Sans"/>
                <a:cs typeface="Lucida Sans"/>
              </a:rPr>
              <a:t>H</a:t>
            </a:r>
            <a:endParaRPr sz="750">
              <a:latin typeface="Lucida Sans"/>
              <a:cs typeface="Lucida Sans"/>
            </a:endParaRPr>
          </a:p>
        </p:txBody>
      </p:sp>
      <p:grpSp>
        <p:nvGrpSpPr>
          <p:cNvPr id="56" name="object 56"/>
          <p:cNvGrpSpPr/>
          <p:nvPr/>
        </p:nvGrpSpPr>
        <p:grpSpPr>
          <a:xfrm>
            <a:off x="5188862" y="2449537"/>
            <a:ext cx="369570" cy="184150"/>
            <a:chOff x="5188862" y="2449537"/>
            <a:chExt cx="369570" cy="184150"/>
          </a:xfrm>
        </p:grpSpPr>
        <p:sp>
          <p:nvSpPr>
            <p:cNvPr id="57" name="object 57"/>
            <p:cNvSpPr/>
            <p:nvPr/>
          </p:nvSpPr>
          <p:spPr>
            <a:xfrm>
              <a:off x="5371252" y="2541572"/>
              <a:ext cx="145415" cy="0"/>
            </a:xfrm>
            <a:custGeom>
              <a:avLst/>
              <a:gdLst/>
              <a:ahLst/>
              <a:cxnLst/>
              <a:rect l="l" t="t" r="r" b="b"/>
              <a:pathLst>
                <a:path w="145414" h="0">
                  <a:moveTo>
                    <a:pt x="0" y="0"/>
                  </a:moveTo>
                  <a:lnTo>
                    <a:pt x="35111" y="0"/>
                  </a:lnTo>
                  <a:lnTo>
                    <a:pt x="70223" y="0"/>
                  </a:lnTo>
                  <a:lnTo>
                    <a:pt x="105334" y="0"/>
                  </a:lnTo>
                  <a:lnTo>
                    <a:pt x="140446" y="0"/>
                  </a:lnTo>
                  <a:lnTo>
                    <a:pt x="144889" y="0"/>
                  </a:lnTo>
                </a:path>
              </a:pathLst>
            </a:custGeom>
            <a:ln w="88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/>
            <p:cNvSpPr/>
            <p:nvPr/>
          </p:nvSpPr>
          <p:spPr>
            <a:xfrm>
              <a:off x="5511698" y="2518468"/>
              <a:ext cx="46355" cy="46355"/>
            </a:xfrm>
            <a:custGeom>
              <a:avLst/>
              <a:gdLst/>
              <a:ahLst/>
              <a:cxnLst/>
              <a:rect l="l" t="t" r="r" b="b"/>
              <a:pathLst>
                <a:path w="46354" h="46355">
                  <a:moveTo>
                    <a:pt x="0" y="0"/>
                  </a:moveTo>
                  <a:lnTo>
                    <a:pt x="0" y="46207"/>
                  </a:lnTo>
                  <a:lnTo>
                    <a:pt x="46207" y="23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/>
            <p:cNvSpPr/>
            <p:nvPr/>
          </p:nvSpPr>
          <p:spPr>
            <a:xfrm>
              <a:off x="5192037" y="2452712"/>
              <a:ext cx="177800" cy="177800"/>
            </a:xfrm>
            <a:custGeom>
              <a:avLst/>
              <a:gdLst/>
              <a:ahLst/>
              <a:cxnLst/>
              <a:rect l="l" t="t" r="r" b="b"/>
              <a:pathLst>
                <a:path w="177800" h="177800">
                  <a:moveTo>
                    <a:pt x="0" y="0"/>
                  </a:moveTo>
                  <a:lnTo>
                    <a:pt x="177721" y="0"/>
                  </a:lnTo>
                  <a:lnTo>
                    <a:pt x="177721" y="177721"/>
                  </a:lnTo>
                  <a:lnTo>
                    <a:pt x="0" y="1777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/>
            <p:cNvSpPr/>
            <p:nvPr/>
          </p:nvSpPr>
          <p:spPr>
            <a:xfrm>
              <a:off x="5192037" y="2452712"/>
              <a:ext cx="177800" cy="177800"/>
            </a:xfrm>
            <a:custGeom>
              <a:avLst/>
              <a:gdLst/>
              <a:ahLst/>
              <a:cxnLst/>
              <a:rect l="l" t="t" r="r" b="b"/>
              <a:pathLst>
                <a:path w="177800" h="177800">
                  <a:moveTo>
                    <a:pt x="0" y="0"/>
                  </a:moveTo>
                  <a:lnTo>
                    <a:pt x="177721" y="0"/>
                  </a:lnTo>
                  <a:lnTo>
                    <a:pt x="177721" y="177721"/>
                  </a:lnTo>
                  <a:lnTo>
                    <a:pt x="0" y="177721"/>
                  </a:lnTo>
                  <a:lnTo>
                    <a:pt x="0" y="0"/>
                  </a:lnTo>
                  <a:close/>
                </a:path>
              </a:pathLst>
            </a:custGeom>
            <a:ln w="59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1" name="object 61"/>
          <p:cNvSpPr txBox="1"/>
          <p:nvPr/>
        </p:nvSpPr>
        <p:spPr>
          <a:xfrm>
            <a:off x="5192038" y="2452712"/>
            <a:ext cx="177800" cy="17780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35"/>
              </a:spcBef>
            </a:pPr>
            <a:r>
              <a:rPr dirty="0" sz="750" spc="-5">
                <a:latin typeface="Lucida Sans"/>
                <a:cs typeface="Lucida Sans"/>
              </a:rPr>
              <a:t>I</a:t>
            </a:r>
            <a:endParaRPr sz="750">
              <a:latin typeface="Lucida Sans"/>
              <a:cs typeface="Lucida Sans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5559328" y="2452712"/>
            <a:ext cx="177800" cy="177800"/>
          </a:xfrm>
          <a:prstGeom prst="rect">
            <a:avLst/>
          </a:prstGeom>
          <a:solidFill>
            <a:srgbClr val="FFFFFF"/>
          </a:solidFill>
          <a:ln w="5924">
            <a:solidFill>
              <a:srgbClr val="000000"/>
            </a:solidFill>
          </a:ln>
        </p:spPr>
        <p:txBody>
          <a:bodyPr wrap="square" lIns="0" tIns="1714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35"/>
              </a:spcBef>
            </a:pPr>
            <a:r>
              <a:rPr dirty="0" sz="750" spc="-5">
                <a:latin typeface="Lucida Sans"/>
                <a:cs typeface="Lucida Sans"/>
              </a:rPr>
              <a:t>J</a:t>
            </a:r>
            <a:endParaRPr sz="750">
              <a:latin typeface="Lucida Sans"/>
              <a:cs typeface="Lucida Sans"/>
            </a:endParaRPr>
          </a:p>
        </p:txBody>
      </p:sp>
      <p:grpSp>
        <p:nvGrpSpPr>
          <p:cNvPr id="63" name="object 63"/>
          <p:cNvGrpSpPr/>
          <p:nvPr/>
        </p:nvGrpSpPr>
        <p:grpSpPr>
          <a:xfrm>
            <a:off x="1782812" y="2799268"/>
            <a:ext cx="836930" cy="184150"/>
            <a:chOff x="1782812" y="2799268"/>
            <a:chExt cx="836930" cy="184150"/>
          </a:xfrm>
        </p:grpSpPr>
        <p:sp>
          <p:nvSpPr>
            <p:cNvPr id="64" name="object 64"/>
            <p:cNvSpPr/>
            <p:nvPr/>
          </p:nvSpPr>
          <p:spPr>
            <a:xfrm>
              <a:off x="2432929" y="2891090"/>
              <a:ext cx="145415" cy="0"/>
            </a:xfrm>
            <a:custGeom>
              <a:avLst/>
              <a:gdLst/>
              <a:ahLst/>
              <a:cxnLst/>
              <a:rect l="l" t="t" r="r" b="b"/>
              <a:pathLst>
                <a:path w="145414" h="0">
                  <a:moveTo>
                    <a:pt x="0" y="0"/>
                  </a:moveTo>
                  <a:lnTo>
                    <a:pt x="35111" y="0"/>
                  </a:lnTo>
                  <a:lnTo>
                    <a:pt x="70223" y="0"/>
                  </a:lnTo>
                  <a:lnTo>
                    <a:pt x="105335" y="0"/>
                  </a:lnTo>
                  <a:lnTo>
                    <a:pt x="140447" y="0"/>
                  </a:lnTo>
                  <a:lnTo>
                    <a:pt x="144890" y="0"/>
                  </a:lnTo>
                </a:path>
              </a:pathLst>
            </a:custGeom>
            <a:ln w="88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/>
            <p:cNvSpPr/>
            <p:nvPr/>
          </p:nvSpPr>
          <p:spPr>
            <a:xfrm>
              <a:off x="2573376" y="2867987"/>
              <a:ext cx="46355" cy="46355"/>
            </a:xfrm>
            <a:custGeom>
              <a:avLst/>
              <a:gdLst/>
              <a:ahLst/>
              <a:cxnLst/>
              <a:rect l="l" t="t" r="r" b="b"/>
              <a:pathLst>
                <a:path w="46355" h="46355">
                  <a:moveTo>
                    <a:pt x="0" y="0"/>
                  </a:moveTo>
                  <a:lnTo>
                    <a:pt x="0" y="46207"/>
                  </a:lnTo>
                  <a:lnTo>
                    <a:pt x="46207" y="23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/>
            <p:cNvSpPr/>
            <p:nvPr/>
          </p:nvSpPr>
          <p:spPr>
            <a:xfrm>
              <a:off x="1787257" y="2814670"/>
              <a:ext cx="424180" cy="58419"/>
            </a:xfrm>
            <a:custGeom>
              <a:avLst/>
              <a:gdLst/>
              <a:ahLst/>
              <a:cxnLst/>
              <a:rect l="l" t="t" r="r" b="b"/>
              <a:pathLst>
                <a:path w="424180" h="58419">
                  <a:moveTo>
                    <a:pt x="0" y="0"/>
                  </a:moveTo>
                  <a:lnTo>
                    <a:pt x="52446" y="7217"/>
                  </a:lnTo>
                  <a:lnTo>
                    <a:pt x="104893" y="14434"/>
                  </a:lnTo>
                  <a:lnTo>
                    <a:pt x="157340" y="21652"/>
                  </a:lnTo>
                  <a:lnTo>
                    <a:pt x="209787" y="28869"/>
                  </a:lnTo>
                  <a:lnTo>
                    <a:pt x="262234" y="36087"/>
                  </a:lnTo>
                  <a:lnTo>
                    <a:pt x="314681" y="43304"/>
                  </a:lnTo>
                  <a:lnTo>
                    <a:pt x="367128" y="50522"/>
                  </a:lnTo>
                  <a:lnTo>
                    <a:pt x="419575" y="57739"/>
                  </a:lnTo>
                  <a:lnTo>
                    <a:pt x="423979" y="58345"/>
                  </a:lnTo>
                </a:path>
              </a:pathLst>
            </a:custGeom>
            <a:ln w="88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7" name="object 6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203685" y="2799268"/>
              <a:ext cx="230713" cy="183645"/>
            </a:xfrm>
            <a:prstGeom prst="rect">
              <a:avLst/>
            </a:prstGeom>
          </p:spPr>
        </p:pic>
      </p:grpSp>
      <p:sp>
        <p:nvSpPr>
          <p:cNvPr id="68" name="object 68"/>
          <p:cNvSpPr txBox="1"/>
          <p:nvPr/>
        </p:nvSpPr>
        <p:spPr>
          <a:xfrm>
            <a:off x="2298929" y="2807302"/>
            <a:ext cx="87630" cy="1397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50" spc="-5">
                <a:latin typeface="Lucida Sans"/>
                <a:cs typeface="Lucida Sans"/>
              </a:rPr>
              <a:t>K</a:t>
            </a:r>
            <a:endParaRPr sz="750">
              <a:latin typeface="Lucida Sans"/>
              <a:cs typeface="Lucida Sans"/>
            </a:endParaRPr>
          </a:p>
        </p:txBody>
      </p:sp>
      <p:grpSp>
        <p:nvGrpSpPr>
          <p:cNvPr id="69" name="object 69"/>
          <p:cNvGrpSpPr/>
          <p:nvPr/>
        </p:nvGrpSpPr>
        <p:grpSpPr>
          <a:xfrm>
            <a:off x="2617831" y="2799055"/>
            <a:ext cx="369570" cy="184150"/>
            <a:chOff x="2617831" y="2799055"/>
            <a:chExt cx="369570" cy="184150"/>
          </a:xfrm>
        </p:grpSpPr>
        <p:sp>
          <p:nvSpPr>
            <p:cNvPr id="70" name="object 70"/>
            <p:cNvSpPr/>
            <p:nvPr/>
          </p:nvSpPr>
          <p:spPr>
            <a:xfrm>
              <a:off x="2800149" y="2891090"/>
              <a:ext cx="156845" cy="0"/>
            </a:xfrm>
            <a:custGeom>
              <a:avLst/>
              <a:gdLst/>
              <a:ahLst/>
              <a:cxnLst/>
              <a:rect l="l" t="t" r="r" b="b"/>
              <a:pathLst>
                <a:path w="156844" h="0">
                  <a:moveTo>
                    <a:pt x="156441" y="0"/>
                  </a:moveTo>
                  <a:lnTo>
                    <a:pt x="151998" y="0"/>
                  </a:lnTo>
                  <a:lnTo>
                    <a:pt x="113998" y="0"/>
                  </a:lnTo>
                  <a:lnTo>
                    <a:pt x="75998" y="0"/>
                  </a:lnTo>
                  <a:lnTo>
                    <a:pt x="37999" y="0"/>
                  </a:lnTo>
                  <a:lnTo>
                    <a:pt x="0" y="0"/>
                  </a:lnTo>
                </a:path>
              </a:pathLst>
            </a:custGeom>
            <a:ln w="88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/>
            <p:cNvSpPr/>
            <p:nvPr/>
          </p:nvSpPr>
          <p:spPr>
            <a:xfrm>
              <a:off x="2940596" y="2867986"/>
              <a:ext cx="46355" cy="46355"/>
            </a:xfrm>
            <a:custGeom>
              <a:avLst/>
              <a:gdLst/>
              <a:ahLst/>
              <a:cxnLst/>
              <a:rect l="l" t="t" r="r" b="b"/>
              <a:pathLst>
                <a:path w="46355" h="46355">
                  <a:moveTo>
                    <a:pt x="0" y="0"/>
                  </a:moveTo>
                  <a:lnTo>
                    <a:pt x="11551" y="23103"/>
                  </a:lnTo>
                  <a:lnTo>
                    <a:pt x="0" y="46207"/>
                  </a:lnTo>
                  <a:lnTo>
                    <a:pt x="46207" y="23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/>
            <p:cNvSpPr/>
            <p:nvPr/>
          </p:nvSpPr>
          <p:spPr>
            <a:xfrm>
              <a:off x="2621006" y="2802230"/>
              <a:ext cx="177800" cy="177800"/>
            </a:xfrm>
            <a:custGeom>
              <a:avLst/>
              <a:gdLst/>
              <a:ahLst/>
              <a:cxnLst/>
              <a:rect l="l" t="t" r="r" b="b"/>
              <a:pathLst>
                <a:path w="177800" h="177800">
                  <a:moveTo>
                    <a:pt x="0" y="0"/>
                  </a:moveTo>
                  <a:lnTo>
                    <a:pt x="177721" y="0"/>
                  </a:lnTo>
                  <a:lnTo>
                    <a:pt x="177721" y="177721"/>
                  </a:lnTo>
                  <a:lnTo>
                    <a:pt x="0" y="1777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/>
            <p:cNvSpPr/>
            <p:nvPr/>
          </p:nvSpPr>
          <p:spPr>
            <a:xfrm>
              <a:off x="2621006" y="2802230"/>
              <a:ext cx="177800" cy="177800"/>
            </a:xfrm>
            <a:custGeom>
              <a:avLst/>
              <a:gdLst/>
              <a:ahLst/>
              <a:cxnLst/>
              <a:rect l="l" t="t" r="r" b="b"/>
              <a:pathLst>
                <a:path w="177800" h="177800">
                  <a:moveTo>
                    <a:pt x="0" y="0"/>
                  </a:moveTo>
                  <a:lnTo>
                    <a:pt x="177721" y="0"/>
                  </a:lnTo>
                  <a:lnTo>
                    <a:pt x="177721" y="177721"/>
                  </a:lnTo>
                  <a:lnTo>
                    <a:pt x="0" y="177721"/>
                  </a:lnTo>
                  <a:lnTo>
                    <a:pt x="0" y="0"/>
                  </a:lnTo>
                  <a:close/>
                </a:path>
              </a:pathLst>
            </a:custGeom>
            <a:ln w="59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4" name="object 74"/>
          <p:cNvSpPr txBox="1"/>
          <p:nvPr/>
        </p:nvSpPr>
        <p:spPr>
          <a:xfrm>
            <a:off x="2621006" y="2802230"/>
            <a:ext cx="177800" cy="17780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35"/>
              </a:spcBef>
            </a:pPr>
            <a:r>
              <a:rPr dirty="0" sz="750" spc="-5">
                <a:latin typeface="Lucida Sans"/>
                <a:cs typeface="Lucida Sans"/>
              </a:rPr>
              <a:t>L</a:t>
            </a:r>
            <a:endParaRPr sz="750">
              <a:latin typeface="Lucida Sans"/>
              <a:cs typeface="Lucida Sans"/>
            </a:endParaRPr>
          </a:p>
        </p:txBody>
      </p:sp>
      <p:grpSp>
        <p:nvGrpSpPr>
          <p:cNvPr id="75" name="object 75"/>
          <p:cNvGrpSpPr/>
          <p:nvPr/>
        </p:nvGrpSpPr>
        <p:grpSpPr>
          <a:xfrm>
            <a:off x="2985121" y="2799055"/>
            <a:ext cx="369570" cy="184150"/>
            <a:chOff x="2985121" y="2799055"/>
            <a:chExt cx="369570" cy="184150"/>
          </a:xfrm>
        </p:grpSpPr>
        <p:sp>
          <p:nvSpPr>
            <p:cNvPr id="76" name="object 76"/>
            <p:cNvSpPr/>
            <p:nvPr/>
          </p:nvSpPr>
          <p:spPr>
            <a:xfrm>
              <a:off x="3167510" y="2891090"/>
              <a:ext cx="145415" cy="0"/>
            </a:xfrm>
            <a:custGeom>
              <a:avLst/>
              <a:gdLst/>
              <a:ahLst/>
              <a:cxnLst/>
              <a:rect l="l" t="t" r="r" b="b"/>
              <a:pathLst>
                <a:path w="145414" h="0">
                  <a:moveTo>
                    <a:pt x="0" y="0"/>
                  </a:moveTo>
                  <a:lnTo>
                    <a:pt x="35111" y="0"/>
                  </a:lnTo>
                  <a:lnTo>
                    <a:pt x="70223" y="0"/>
                  </a:lnTo>
                  <a:lnTo>
                    <a:pt x="105335" y="0"/>
                  </a:lnTo>
                  <a:lnTo>
                    <a:pt x="140447" y="0"/>
                  </a:lnTo>
                  <a:lnTo>
                    <a:pt x="144890" y="0"/>
                  </a:lnTo>
                </a:path>
              </a:pathLst>
            </a:custGeom>
            <a:ln w="88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/>
            <p:cNvSpPr/>
            <p:nvPr/>
          </p:nvSpPr>
          <p:spPr>
            <a:xfrm>
              <a:off x="3307957" y="2867986"/>
              <a:ext cx="46355" cy="46355"/>
            </a:xfrm>
            <a:custGeom>
              <a:avLst/>
              <a:gdLst/>
              <a:ahLst/>
              <a:cxnLst/>
              <a:rect l="l" t="t" r="r" b="b"/>
              <a:pathLst>
                <a:path w="46354" h="46355">
                  <a:moveTo>
                    <a:pt x="0" y="0"/>
                  </a:moveTo>
                  <a:lnTo>
                    <a:pt x="0" y="46207"/>
                  </a:lnTo>
                  <a:lnTo>
                    <a:pt x="46206" y="23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8" name="object 78"/>
            <p:cNvSpPr/>
            <p:nvPr/>
          </p:nvSpPr>
          <p:spPr>
            <a:xfrm>
              <a:off x="2988296" y="2802230"/>
              <a:ext cx="177800" cy="177800"/>
            </a:xfrm>
            <a:custGeom>
              <a:avLst/>
              <a:gdLst/>
              <a:ahLst/>
              <a:cxnLst/>
              <a:rect l="l" t="t" r="r" b="b"/>
              <a:pathLst>
                <a:path w="177800" h="177800">
                  <a:moveTo>
                    <a:pt x="0" y="0"/>
                  </a:moveTo>
                  <a:lnTo>
                    <a:pt x="177721" y="0"/>
                  </a:lnTo>
                  <a:lnTo>
                    <a:pt x="177721" y="177721"/>
                  </a:lnTo>
                  <a:lnTo>
                    <a:pt x="0" y="1777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9" name="object 79"/>
            <p:cNvSpPr/>
            <p:nvPr/>
          </p:nvSpPr>
          <p:spPr>
            <a:xfrm>
              <a:off x="2988296" y="2802230"/>
              <a:ext cx="177800" cy="177800"/>
            </a:xfrm>
            <a:custGeom>
              <a:avLst/>
              <a:gdLst/>
              <a:ahLst/>
              <a:cxnLst/>
              <a:rect l="l" t="t" r="r" b="b"/>
              <a:pathLst>
                <a:path w="177800" h="177800">
                  <a:moveTo>
                    <a:pt x="0" y="0"/>
                  </a:moveTo>
                  <a:lnTo>
                    <a:pt x="177721" y="0"/>
                  </a:lnTo>
                  <a:lnTo>
                    <a:pt x="177721" y="177721"/>
                  </a:lnTo>
                  <a:lnTo>
                    <a:pt x="0" y="177721"/>
                  </a:lnTo>
                  <a:lnTo>
                    <a:pt x="0" y="0"/>
                  </a:lnTo>
                  <a:close/>
                </a:path>
              </a:pathLst>
            </a:custGeom>
            <a:ln w="59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0" name="object 80"/>
          <p:cNvSpPr txBox="1"/>
          <p:nvPr/>
        </p:nvSpPr>
        <p:spPr>
          <a:xfrm>
            <a:off x="2988296" y="2802230"/>
            <a:ext cx="177800" cy="17780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47625">
              <a:lnSpc>
                <a:spcPct val="100000"/>
              </a:lnSpc>
              <a:spcBef>
                <a:spcPts val="135"/>
              </a:spcBef>
            </a:pPr>
            <a:r>
              <a:rPr dirty="0" sz="750" spc="-5">
                <a:latin typeface="Lucida Sans"/>
                <a:cs typeface="Lucida Sans"/>
              </a:rPr>
              <a:t>M</a:t>
            </a:r>
            <a:endParaRPr sz="750">
              <a:latin typeface="Lucida Sans"/>
              <a:cs typeface="Lucida Sans"/>
            </a:endParaRPr>
          </a:p>
        </p:txBody>
      </p:sp>
      <p:grpSp>
        <p:nvGrpSpPr>
          <p:cNvPr id="81" name="object 81"/>
          <p:cNvGrpSpPr/>
          <p:nvPr/>
        </p:nvGrpSpPr>
        <p:grpSpPr>
          <a:xfrm>
            <a:off x="3352411" y="2799055"/>
            <a:ext cx="369570" cy="184150"/>
            <a:chOff x="3352411" y="2799055"/>
            <a:chExt cx="369570" cy="184150"/>
          </a:xfrm>
        </p:grpSpPr>
        <p:sp>
          <p:nvSpPr>
            <p:cNvPr id="82" name="object 82"/>
            <p:cNvSpPr/>
            <p:nvPr/>
          </p:nvSpPr>
          <p:spPr>
            <a:xfrm>
              <a:off x="3534801" y="2891090"/>
              <a:ext cx="145415" cy="0"/>
            </a:xfrm>
            <a:custGeom>
              <a:avLst/>
              <a:gdLst/>
              <a:ahLst/>
              <a:cxnLst/>
              <a:rect l="l" t="t" r="r" b="b"/>
              <a:pathLst>
                <a:path w="145414" h="0">
                  <a:moveTo>
                    <a:pt x="0" y="0"/>
                  </a:moveTo>
                  <a:lnTo>
                    <a:pt x="35111" y="0"/>
                  </a:lnTo>
                  <a:lnTo>
                    <a:pt x="70222" y="0"/>
                  </a:lnTo>
                  <a:lnTo>
                    <a:pt x="105334" y="0"/>
                  </a:lnTo>
                  <a:lnTo>
                    <a:pt x="140445" y="0"/>
                  </a:lnTo>
                  <a:lnTo>
                    <a:pt x="144889" y="0"/>
                  </a:lnTo>
                </a:path>
              </a:pathLst>
            </a:custGeom>
            <a:ln w="88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3" name="object 83"/>
            <p:cNvSpPr/>
            <p:nvPr/>
          </p:nvSpPr>
          <p:spPr>
            <a:xfrm>
              <a:off x="3675247" y="2867986"/>
              <a:ext cx="46355" cy="46355"/>
            </a:xfrm>
            <a:custGeom>
              <a:avLst/>
              <a:gdLst/>
              <a:ahLst/>
              <a:cxnLst/>
              <a:rect l="l" t="t" r="r" b="b"/>
              <a:pathLst>
                <a:path w="46354" h="46355">
                  <a:moveTo>
                    <a:pt x="0" y="0"/>
                  </a:moveTo>
                  <a:lnTo>
                    <a:pt x="0" y="46207"/>
                  </a:lnTo>
                  <a:lnTo>
                    <a:pt x="46206" y="23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/>
            <p:cNvSpPr/>
            <p:nvPr/>
          </p:nvSpPr>
          <p:spPr>
            <a:xfrm>
              <a:off x="3355586" y="2802230"/>
              <a:ext cx="177800" cy="177800"/>
            </a:xfrm>
            <a:custGeom>
              <a:avLst/>
              <a:gdLst/>
              <a:ahLst/>
              <a:cxnLst/>
              <a:rect l="l" t="t" r="r" b="b"/>
              <a:pathLst>
                <a:path w="177800" h="177800">
                  <a:moveTo>
                    <a:pt x="0" y="0"/>
                  </a:moveTo>
                  <a:lnTo>
                    <a:pt x="177721" y="0"/>
                  </a:lnTo>
                  <a:lnTo>
                    <a:pt x="177721" y="177721"/>
                  </a:lnTo>
                  <a:lnTo>
                    <a:pt x="0" y="1777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/>
            <p:cNvSpPr/>
            <p:nvPr/>
          </p:nvSpPr>
          <p:spPr>
            <a:xfrm>
              <a:off x="3355586" y="2802230"/>
              <a:ext cx="177800" cy="177800"/>
            </a:xfrm>
            <a:custGeom>
              <a:avLst/>
              <a:gdLst/>
              <a:ahLst/>
              <a:cxnLst/>
              <a:rect l="l" t="t" r="r" b="b"/>
              <a:pathLst>
                <a:path w="177800" h="177800">
                  <a:moveTo>
                    <a:pt x="0" y="0"/>
                  </a:moveTo>
                  <a:lnTo>
                    <a:pt x="177721" y="0"/>
                  </a:lnTo>
                  <a:lnTo>
                    <a:pt x="177721" y="177721"/>
                  </a:lnTo>
                  <a:lnTo>
                    <a:pt x="0" y="177721"/>
                  </a:lnTo>
                  <a:lnTo>
                    <a:pt x="0" y="0"/>
                  </a:lnTo>
                  <a:close/>
                </a:path>
              </a:pathLst>
            </a:custGeom>
            <a:ln w="59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6" name="object 86"/>
          <p:cNvSpPr txBox="1"/>
          <p:nvPr/>
        </p:nvSpPr>
        <p:spPr>
          <a:xfrm>
            <a:off x="3355587" y="2802230"/>
            <a:ext cx="177800" cy="17780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53340">
              <a:lnSpc>
                <a:spcPct val="100000"/>
              </a:lnSpc>
              <a:spcBef>
                <a:spcPts val="135"/>
              </a:spcBef>
            </a:pPr>
            <a:r>
              <a:rPr dirty="0" sz="750" spc="-5">
                <a:latin typeface="Lucida Sans"/>
                <a:cs typeface="Lucida Sans"/>
              </a:rPr>
              <a:t>N</a:t>
            </a:r>
            <a:endParaRPr sz="750">
              <a:latin typeface="Lucida Sans"/>
              <a:cs typeface="Lucida Sans"/>
            </a:endParaRPr>
          </a:p>
        </p:txBody>
      </p:sp>
      <p:grpSp>
        <p:nvGrpSpPr>
          <p:cNvPr id="87" name="object 87"/>
          <p:cNvGrpSpPr/>
          <p:nvPr/>
        </p:nvGrpSpPr>
        <p:grpSpPr>
          <a:xfrm>
            <a:off x="3719702" y="2799055"/>
            <a:ext cx="369570" cy="184150"/>
            <a:chOff x="3719702" y="2799055"/>
            <a:chExt cx="369570" cy="184150"/>
          </a:xfrm>
        </p:grpSpPr>
        <p:sp>
          <p:nvSpPr>
            <p:cNvPr id="88" name="object 88"/>
            <p:cNvSpPr/>
            <p:nvPr/>
          </p:nvSpPr>
          <p:spPr>
            <a:xfrm>
              <a:off x="3902091" y="2891090"/>
              <a:ext cx="145415" cy="0"/>
            </a:xfrm>
            <a:custGeom>
              <a:avLst/>
              <a:gdLst/>
              <a:ahLst/>
              <a:cxnLst/>
              <a:rect l="l" t="t" r="r" b="b"/>
              <a:pathLst>
                <a:path w="145414" h="0">
                  <a:moveTo>
                    <a:pt x="0" y="0"/>
                  </a:moveTo>
                  <a:lnTo>
                    <a:pt x="35111" y="0"/>
                  </a:lnTo>
                  <a:lnTo>
                    <a:pt x="70223" y="0"/>
                  </a:lnTo>
                  <a:lnTo>
                    <a:pt x="105334" y="0"/>
                  </a:lnTo>
                  <a:lnTo>
                    <a:pt x="140446" y="0"/>
                  </a:lnTo>
                  <a:lnTo>
                    <a:pt x="144889" y="0"/>
                  </a:lnTo>
                </a:path>
              </a:pathLst>
            </a:custGeom>
            <a:ln w="88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9" name="object 89"/>
            <p:cNvSpPr/>
            <p:nvPr/>
          </p:nvSpPr>
          <p:spPr>
            <a:xfrm>
              <a:off x="4042538" y="2867986"/>
              <a:ext cx="46355" cy="46355"/>
            </a:xfrm>
            <a:custGeom>
              <a:avLst/>
              <a:gdLst/>
              <a:ahLst/>
              <a:cxnLst/>
              <a:rect l="l" t="t" r="r" b="b"/>
              <a:pathLst>
                <a:path w="46354" h="46355">
                  <a:moveTo>
                    <a:pt x="0" y="0"/>
                  </a:moveTo>
                  <a:lnTo>
                    <a:pt x="0" y="46207"/>
                  </a:lnTo>
                  <a:lnTo>
                    <a:pt x="46206" y="23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0" name="object 90"/>
            <p:cNvSpPr/>
            <p:nvPr/>
          </p:nvSpPr>
          <p:spPr>
            <a:xfrm>
              <a:off x="3722877" y="2802230"/>
              <a:ext cx="177800" cy="177800"/>
            </a:xfrm>
            <a:custGeom>
              <a:avLst/>
              <a:gdLst/>
              <a:ahLst/>
              <a:cxnLst/>
              <a:rect l="l" t="t" r="r" b="b"/>
              <a:pathLst>
                <a:path w="177800" h="177800">
                  <a:moveTo>
                    <a:pt x="0" y="0"/>
                  </a:moveTo>
                  <a:lnTo>
                    <a:pt x="177721" y="0"/>
                  </a:lnTo>
                  <a:lnTo>
                    <a:pt x="177721" y="177721"/>
                  </a:lnTo>
                  <a:lnTo>
                    <a:pt x="0" y="1777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1" name="object 91"/>
            <p:cNvSpPr/>
            <p:nvPr/>
          </p:nvSpPr>
          <p:spPr>
            <a:xfrm>
              <a:off x="3722877" y="2802230"/>
              <a:ext cx="177800" cy="177800"/>
            </a:xfrm>
            <a:custGeom>
              <a:avLst/>
              <a:gdLst/>
              <a:ahLst/>
              <a:cxnLst/>
              <a:rect l="l" t="t" r="r" b="b"/>
              <a:pathLst>
                <a:path w="177800" h="177800">
                  <a:moveTo>
                    <a:pt x="0" y="0"/>
                  </a:moveTo>
                  <a:lnTo>
                    <a:pt x="177721" y="0"/>
                  </a:lnTo>
                  <a:lnTo>
                    <a:pt x="177721" y="177721"/>
                  </a:lnTo>
                  <a:lnTo>
                    <a:pt x="0" y="177721"/>
                  </a:lnTo>
                  <a:lnTo>
                    <a:pt x="0" y="0"/>
                  </a:lnTo>
                  <a:close/>
                </a:path>
              </a:pathLst>
            </a:custGeom>
            <a:ln w="59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2" name="object 92"/>
          <p:cNvSpPr txBox="1"/>
          <p:nvPr/>
        </p:nvSpPr>
        <p:spPr>
          <a:xfrm>
            <a:off x="3722877" y="2802230"/>
            <a:ext cx="177800" cy="17780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51435">
              <a:lnSpc>
                <a:spcPct val="100000"/>
              </a:lnSpc>
              <a:spcBef>
                <a:spcPts val="135"/>
              </a:spcBef>
            </a:pPr>
            <a:r>
              <a:rPr dirty="0" sz="750" spc="-5">
                <a:latin typeface="Lucida Sans"/>
                <a:cs typeface="Lucida Sans"/>
              </a:rPr>
              <a:t>O</a:t>
            </a:r>
            <a:endParaRPr sz="750">
              <a:latin typeface="Lucida Sans"/>
              <a:cs typeface="Lucida Sans"/>
            </a:endParaRPr>
          </a:p>
        </p:txBody>
      </p:sp>
      <p:sp>
        <p:nvSpPr>
          <p:cNvPr id="93" name="object 93"/>
          <p:cNvSpPr txBox="1"/>
          <p:nvPr/>
        </p:nvSpPr>
        <p:spPr>
          <a:xfrm>
            <a:off x="4090167" y="2802230"/>
            <a:ext cx="177800" cy="177800"/>
          </a:xfrm>
          <a:prstGeom prst="rect">
            <a:avLst/>
          </a:prstGeom>
          <a:solidFill>
            <a:srgbClr val="FFFFFF"/>
          </a:solidFill>
          <a:ln w="5924">
            <a:solidFill>
              <a:srgbClr val="000000"/>
            </a:solidFill>
          </a:ln>
        </p:spPr>
        <p:txBody>
          <a:bodyPr wrap="square" lIns="0" tIns="1714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35"/>
              </a:spcBef>
            </a:pPr>
            <a:r>
              <a:rPr dirty="0" sz="750" spc="-5">
                <a:latin typeface="Lucida Sans"/>
                <a:cs typeface="Lucida Sans"/>
              </a:rPr>
              <a:t>P</a:t>
            </a:r>
            <a:endParaRPr sz="750">
              <a:latin typeface="Lucida Sans"/>
              <a:cs typeface="Lucida Sans"/>
            </a:endParaRPr>
          </a:p>
        </p:txBody>
      </p:sp>
      <p:pic>
        <p:nvPicPr>
          <p:cNvPr id="94" name="object 9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05034" y="2532686"/>
            <a:ext cx="183645" cy="361366"/>
          </a:xfrm>
          <a:prstGeom prst="rect">
            <a:avLst/>
          </a:prstGeom>
        </p:spPr>
      </p:pic>
      <p:sp>
        <p:nvSpPr>
          <p:cNvPr id="95" name="object 95"/>
          <p:cNvSpPr txBox="1"/>
          <p:nvPr/>
        </p:nvSpPr>
        <p:spPr>
          <a:xfrm>
            <a:off x="1480501" y="2558493"/>
            <a:ext cx="75565" cy="1250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50">
                <a:solidFill>
                  <a:srgbClr val="8D3124"/>
                </a:solidFill>
                <a:latin typeface="Lucida Sans Typewriter"/>
                <a:cs typeface="Lucida Sans Typewriter"/>
              </a:rPr>
              <a:t>0</a:t>
            </a:r>
            <a:endParaRPr sz="650">
              <a:latin typeface="Lucida Sans Typewriter"/>
              <a:cs typeface="Lucida Sans Typewriter"/>
            </a:endParaRPr>
          </a:p>
        </p:txBody>
      </p:sp>
      <p:sp>
        <p:nvSpPr>
          <p:cNvPr id="96" name="object 96"/>
          <p:cNvSpPr txBox="1"/>
          <p:nvPr/>
        </p:nvSpPr>
        <p:spPr>
          <a:xfrm>
            <a:off x="1480501" y="2771758"/>
            <a:ext cx="75565" cy="1250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50">
                <a:solidFill>
                  <a:srgbClr val="8D3124"/>
                </a:solidFill>
                <a:latin typeface="Lucida Sans Typewriter"/>
                <a:cs typeface="Lucida Sans Typewriter"/>
              </a:rPr>
              <a:t>1</a:t>
            </a:r>
            <a:endParaRPr sz="650">
              <a:latin typeface="Lucida Sans Typewriter"/>
              <a:cs typeface="Lucida Sans Typewriter"/>
            </a:endParaRPr>
          </a:p>
        </p:txBody>
      </p:sp>
      <p:grpSp>
        <p:nvGrpSpPr>
          <p:cNvPr id="97" name="object 97"/>
          <p:cNvGrpSpPr/>
          <p:nvPr/>
        </p:nvGrpSpPr>
        <p:grpSpPr>
          <a:xfrm>
            <a:off x="1783381" y="3438851"/>
            <a:ext cx="836294" cy="290195"/>
            <a:chOff x="1783381" y="3438851"/>
            <a:chExt cx="836294" cy="290195"/>
          </a:xfrm>
        </p:grpSpPr>
        <p:sp>
          <p:nvSpPr>
            <p:cNvPr id="98" name="object 98"/>
            <p:cNvSpPr/>
            <p:nvPr/>
          </p:nvSpPr>
          <p:spPr>
            <a:xfrm>
              <a:off x="1787826" y="3572574"/>
              <a:ext cx="435609" cy="151765"/>
            </a:xfrm>
            <a:custGeom>
              <a:avLst/>
              <a:gdLst/>
              <a:ahLst/>
              <a:cxnLst/>
              <a:rect l="l" t="t" r="r" b="b"/>
              <a:pathLst>
                <a:path w="435610" h="151764">
                  <a:moveTo>
                    <a:pt x="435174" y="0"/>
                  </a:moveTo>
                  <a:lnTo>
                    <a:pt x="430979" y="1462"/>
                  </a:lnTo>
                  <a:lnTo>
                    <a:pt x="383091" y="18157"/>
                  </a:lnTo>
                  <a:lnTo>
                    <a:pt x="335203" y="34852"/>
                  </a:lnTo>
                  <a:lnTo>
                    <a:pt x="287316" y="51546"/>
                  </a:lnTo>
                  <a:lnTo>
                    <a:pt x="239430" y="68240"/>
                  </a:lnTo>
                  <a:lnTo>
                    <a:pt x="191543" y="84935"/>
                  </a:lnTo>
                  <a:lnTo>
                    <a:pt x="143657" y="101629"/>
                  </a:lnTo>
                  <a:lnTo>
                    <a:pt x="95771" y="118323"/>
                  </a:lnTo>
                  <a:lnTo>
                    <a:pt x="47885" y="135017"/>
                  </a:lnTo>
                  <a:lnTo>
                    <a:pt x="0" y="151711"/>
                  </a:lnTo>
                </a:path>
              </a:pathLst>
            </a:custGeom>
            <a:ln w="88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9" name="object 99"/>
            <p:cNvSpPr/>
            <p:nvPr/>
          </p:nvSpPr>
          <p:spPr>
            <a:xfrm>
              <a:off x="2200292" y="3556023"/>
              <a:ext cx="51435" cy="43815"/>
            </a:xfrm>
            <a:custGeom>
              <a:avLst/>
              <a:gdLst/>
              <a:ahLst/>
              <a:cxnLst/>
              <a:rect l="l" t="t" r="r" b="b"/>
              <a:pathLst>
                <a:path w="51435" h="43814">
                  <a:moveTo>
                    <a:pt x="0" y="0"/>
                  </a:moveTo>
                  <a:lnTo>
                    <a:pt x="18514" y="18013"/>
                  </a:lnTo>
                  <a:lnTo>
                    <a:pt x="15211" y="43632"/>
                  </a:lnTo>
                  <a:lnTo>
                    <a:pt x="51238" y="660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0" name="object 100"/>
            <p:cNvSpPr/>
            <p:nvPr/>
          </p:nvSpPr>
          <p:spPr>
            <a:xfrm>
              <a:off x="2432930" y="3530886"/>
              <a:ext cx="145415" cy="0"/>
            </a:xfrm>
            <a:custGeom>
              <a:avLst/>
              <a:gdLst/>
              <a:ahLst/>
              <a:cxnLst/>
              <a:rect l="l" t="t" r="r" b="b"/>
              <a:pathLst>
                <a:path w="145414" h="0">
                  <a:moveTo>
                    <a:pt x="0" y="0"/>
                  </a:moveTo>
                  <a:lnTo>
                    <a:pt x="35111" y="0"/>
                  </a:lnTo>
                  <a:lnTo>
                    <a:pt x="70223" y="0"/>
                  </a:lnTo>
                  <a:lnTo>
                    <a:pt x="105335" y="0"/>
                  </a:lnTo>
                  <a:lnTo>
                    <a:pt x="140447" y="0"/>
                  </a:lnTo>
                  <a:lnTo>
                    <a:pt x="144890" y="0"/>
                  </a:lnTo>
                </a:path>
              </a:pathLst>
            </a:custGeom>
            <a:ln w="88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1" name="object 101"/>
            <p:cNvSpPr/>
            <p:nvPr/>
          </p:nvSpPr>
          <p:spPr>
            <a:xfrm>
              <a:off x="2573377" y="3507782"/>
              <a:ext cx="46355" cy="46355"/>
            </a:xfrm>
            <a:custGeom>
              <a:avLst/>
              <a:gdLst/>
              <a:ahLst/>
              <a:cxnLst/>
              <a:rect l="l" t="t" r="r" b="b"/>
              <a:pathLst>
                <a:path w="46355" h="46354">
                  <a:moveTo>
                    <a:pt x="0" y="0"/>
                  </a:moveTo>
                  <a:lnTo>
                    <a:pt x="0" y="46207"/>
                  </a:lnTo>
                  <a:lnTo>
                    <a:pt x="46206" y="23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2" name="object 102"/>
            <p:cNvSpPr/>
            <p:nvPr/>
          </p:nvSpPr>
          <p:spPr>
            <a:xfrm>
              <a:off x="2253716" y="3442026"/>
              <a:ext cx="177800" cy="177800"/>
            </a:xfrm>
            <a:custGeom>
              <a:avLst/>
              <a:gdLst/>
              <a:ahLst/>
              <a:cxnLst/>
              <a:rect l="l" t="t" r="r" b="b"/>
              <a:pathLst>
                <a:path w="177800" h="177800">
                  <a:moveTo>
                    <a:pt x="0" y="0"/>
                  </a:moveTo>
                  <a:lnTo>
                    <a:pt x="177721" y="0"/>
                  </a:lnTo>
                  <a:lnTo>
                    <a:pt x="177721" y="177721"/>
                  </a:lnTo>
                  <a:lnTo>
                    <a:pt x="0" y="1777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3" name="object 103"/>
            <p:cNvSpPr/>
            <p:nvPr/>
          </p:nvSpPr>
          <p:spPr>
            <a:xfrm>
              <a:off x="2253716" y="3442026"/>
              <a:ext cx="177800" cy="177800"/>
            </a:xfrm>
            <a:custGeom>
              <a:avLst/>
              <a:gdLst/>
              <a:ahLst/>
              <a:cxnLst/>
              <a:rect l="l" t="t" r="r" b="b"/>
              <a:pathLst>
                <a:path w="177800" h="177800">
                  <a:moveTo>
                    <a:pt x="0" y="0"/>
                  </a:moveTo>
                  <a:lnTo>
                    <a:pt x="177721" y="0"/>
                  </a:lnTo>
                  <a:lnTo>
                    <a:pt x="177721" y="177721"/>
                  </a:lnTo>
                  <a:lnTo>
                    <a:pt x="0" y="177721"/>
                  </a:lnTo>
                  <a:lnTo>
                    <a:pt x="0" y="0"/>
                  </a:lnTo>
                  <a:close/>
                </a:path>
              </a:pathLst>
            </a:custGeom>
            <a:ln w="59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4" name="object 104"/>
          <p:cNvSpPr txBox="1"/>
          <p:nvPr/>
        </p:nvSpPr>
        <p:spPr>
          <a:xfrm>
            <a:off x="2253716" y="3442025"/>
            <a:ext cx="177800" cy="17780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57785">
              <a:lnSpc>
                <a:spcPct val="100000"/>
              </a:lnSpc>
              <a:spcBef>
                <a:spcPts val="135"/>
              </a:spcBef>
            </a:pPr>
            <a:r>
              <a:rPr dirty="0" sz="750" spc="-5">
                <a:latin typeface="Lucida Sans"/>
                <a:cs typeface="Lucida Sans"/>
              </a:rPr>
              <a:t>K</a:t>
            </a:r>
            <a:endParaRPr sz="750">
              <a:latin typeface="Lucida Sans"/>
              <a:cs typeface="Lucida Sans"/>
            </a:endParaRPr>
          </a:p>
        </p:txBody>
      </p:sp>
      <p:grpSp>
        <p:nvGrpSpPr>
          <p:cNvPr id="105" name="object 105"/>
          <p:cNvGrpSpPr/>
          <p:nvPr/>
        </p:nvGrpSpPr>
        <p:grpSpPr>
          <a:xfrm>
            <a:off x="2617831" y="3438851"/>
            <a:ext cx="184150" cy="184150"/>
            <a:chOff x="2617831" y="3438851"/>
            <a:chExt cx="184150" cy="184150"/>
          </a:xfrm>
        </p:grpSpPr>
        <p:sp>
          <p:nvSpPr>
            <p:cNvPr id="106" name="object 106"/>
            <p:cNvSpPr/>
            <p:nvPr/>
          </p:nvSpPr>
          <p:spPr>
            <a:xfrm>
              <a:off x="2621006" y="3442026"/>
              <a:ext cx="177800" cy="177800"/>
            </a:xfrm>
            <a:custGeom>
              <a:avLst/>
              <a:gdLst/>
              <a:ahLst/>
              <a:cxnLst/>
              <a:rect l="l" t="t" r="r" b="b"/>
              <a:pathLst>
                <a:path w="177800" h="177800">
                  <a:moveTo>
                    <a:pt x="0" y="0"/>
                  </a:moveTo>
                  <a:lnTo>
                    <a:pt x="177721" y="0"/>
                  </a:lnTo>
                  <a:lnTo>
                    <a:pt x="177721" y="177721"/>
                  </a:lnTo>
                  <a:lnTo>
                    <a:pt x="0" y="1777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7" name="object 107"/>
            <p:cNvSpPr/>
            <p:nvPr/>
          </p:nvSpPr>
          <p:spPr>
            <a:xfrm>
              <a:off x="2621006" y="3442026"/>
              <a:ext cx="177800" cy="177800"/>
            </a:xfrm>
            <a:custGeom>
              <a:avLst/>
              <a:gdLst/>
              <a:ahLst/>
              <a:cxnLst/>
              <a:rect l="l" t="t" r="r" b="b"/>
              <a:pathLst>
                <a:path w="177800" h="177800">
                  <a:moveTo>
                    <a:pt x="0" y="0"/>
                  </a:moveTo>
                  <a:lnTo>
                    <a:pt x="177721" y="0"/>
                  </a:lnTo>
                  <a:lnTo>
                    <a:pt x="177721" y="177721"/>
                  </a:lnTo>
                  <a:lnTo>
                    <a:pt x="0" y="177721"/>
                  </a:lnTo>
                  <a:lnTo>
                    <a:pt x="0" y="0"/>
                  </a:lnTo>
                  <a:close/>
                </a:path>
              </a:pathLst>
            </a:custGeom>
            <a:ln w="59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8" name="object 108"/>
          <p:cNvSpPr txBox="1"/>
          <p:nvPr/>
        </p:nvSpPr>
        <p:spPr>
          <a:xfrm>
            <a:off x="2683517" y="3447098"/>
            <a:ext cx="52705" cy="1397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50" spc="-5">
                <a:latin typeface="Lucida Sans"/>
                <a:cs typeface="Lucida Sans"/>
              </a:rPr>
              <a:t>I</a:t>
            </a:r>
            <a:endParaRPr sz="750">
              <a:latin typeface="Lucida Sans"/>
              <a:cs typeface="Lucida Sans"/>
            </a:endParaRPr>
          </a:p>
        </p:txBody>
      </p:sp>
      <p:grpSp>
        <p:nvGrpSpPr>
          <p:cNvPr id="109" name="object 109"/>
          <p:cNvGrpSpPr/>
          <p:nvPr/>
        </p:nvGrpSpPr>
        <p:grpSpPr>
          <a:xfrm>
            <a:off x="1782812" y="3770597"/>
            <a:ext cx="836930" cy="184150"/>
            <a:chOff x="1782812" y="3770597"/>
            <a:chExt cx="836930" cy="184150"/>
          </a:xfrm>
        </p:grpSpPr>
        <p:sp>
          <p:nvSpPr>
            <p:cNvPr id="110" name="object 110"/>
            <p:cNvSpPr/>
            <p:nvPr/>
          </p:nvSpPr>
          <p:spPr>
            <a:xfrm>
              <a:off x="1787257" y="3878374"/>
              <a:ext cx="423545" cy="50800"/>
            </a:xfrm>
            <a:custGeom>
              <a:avLst/>
              <a:gdLst/>
              <a:ahLst/>
              <a:cxnLst/>
              <a:rect l="l" t="t" r="r" b="b"/>
              <a:pathLst>
                <a:path w="423544" h="50800">
                  <a:moveTo>
                    <a:pt x="0" y="50488"/>
                  </a:moveTo>
                  <a:lnTo>
                    <a:pt x="52364" y="44243"/>
                  </a:lnTo>
                  <a:lnTo>
                    <a:pt x="104728" y="37998"/>
                  </a:lnTo>
                  <a:lnTo>
                    <a:pt x="157092" y="31752"/>
                  </a:lnTo>
                  <a:lnTo>
                    <a:pt x="209456" y="25507"/>
                  </a:lnTo>
                  <a:lnTo>
                    <a:pt x="261820" y="19262"/>
                  </a:lnTo>
                  <a:lnTo>
                    <a:pt x="314185" y="13016"/>
                  </a:lnTo>
                  <a:lnTo>
                    <a:pt x="366549" y="6771"/>
                  </a:lnTo>
                  <a:lnTo>
                    <a:pt x="418913" y="526"/>
                  </a:lnTo>
                  <a:lnTo>
                    <a:pt x="423327" y="0"/>
                  </a:lnTo>
                </a:path>
              </a:pathLst>
            </a:custGeom>
            <a:ln w="88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1" name="object 111"/>
            <p:cNvSpPr/>
            <p:nvPr/>
          </p:nvSpPr>
          <p:spPr>
            <a:xfrm>
              <a:off x="2203437" y="3855959"/>
              <a:ext cx="48895" cy="46355"/>
            </a:xfrm>
            <a:custGeom>
              <a:avLst/>
              <a:gdLst/>
              <a:ahLst/>
              <a:cxnLst/>
              <a:rect l="l" t="t" r="r" b="b"/>
              <a:pathLst>
                <a:path w="48894" h="46354">
                  <a:moveTo>
                    <a:pt x="0" y="0"/>
                  </a:moveTo>
                  <a:lnTo>
                    <a:pt x="5472" y="45882"/>
                  </a:lnTo>
                  <a:lnTo>
                    <a:pt x="48618" y="174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2" name="object 112"/>
            <p:cNvSpPr/>
            <p:nvPr/>
          </p:nvSpPr>
          <p:spPr>
            <a:xfrm>
              <a:off x="2432929" y="3862632"/>
              <a:ext cx="145415" cy="0"/>
            </a:xfrm>
            <a:custGeom>
              <a:avLst/>
              <a:gdLst/>
              <a:ahLst/>
              <a:cxnLst/>
              <a:rect l="l" t="t" r="r" b="b"/>
              <a:pathLst>
                <a:path w="145414" h="0">
                  <a:moveTo>
                    <a:pt x="0" y="0"/>
                  </a:moveTo>
                  <a:lnTo>
                    <a:pt x="35111" y="0"/>
                  </a:lnTo>
                  <a:lnTo>
                    <a:pt x="70223" y="0"/>
                  </a:lnTo>
                  <a:lnTo>
                    <a:pt x="105335" y="0"/>
                  </a:lnTo>
                  <a:lnTo>
                    <a:pt x="140447" y="0"/>
                  </a:lnTo>
                  <a:lnTo>
                    <a:pt x="144890" y="0"/>
                  </a:lnTo>
                </a:path>
              </a:pathLst>
            </a:custGeom>
            <a:ln w="88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3" name="object 113"/>
            <p:cNvSpPr/>
            <p:nvPr/>
          </p:nvSpPr>
          <p:spPr>
            <a:xfrm>
              <a:off x="2573377" y="3839529"/>
              <a:ext cx="46355" cy="46355"/>
            </a:xfrm>
            <a:custGeom>
              <a:avLst/>
              <a:gdLst/>
              <a:ahLst/>
              <a:cxnLst/>
              <a:rect l="l" t="t" r="r" b="b"/>
              <a:pathLst>
                <a:path w="46355" h="46354">
                  <a:moveTo>
                    <a:pt x="0" y="0"/>
                  </a:moveTo>
                  <a:lnTo>
                    <a:pt x="0" y="46207"/>
                  </a:lnTo>
                  <a:lnTo>
                    <a:pt x="46206" y="23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4" name="object 114"/>
            <p:cNvSpPr/>
            <p:nvPr/>
          </p:nvSpPr>
          <p:spPr>
            <a:xfrm>
              <a:off x="2253716" y="3773772"/>
              <a:ext cx="177800" cy="177800"/>
            </a:xfrm>
            <a:custGeom>
              <a:avLst/>
              <a:gdLst/>
              <a:ahLst/>
              <a:cxnLst/>
              <a:rect l="l" t="t" r="r" b="b"/>
              <a:pathLst>
                <a:path w="177800" h="177800">
                  <a:moveTo>
                    <a:pt x="0" y="0"/>
                  </a:moveTo>
                  <a:lnTo>
                    <a:pt x="177721" y="0"/>
                  </a:lnTo>
                  <a:lnTo>
                    <a:pt x="177721" y="177721"/>
                  </a:lnTo>
                  <a:lnTo>
                    <a:pt x="0" y="1777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5" name="object 115"/>
            <p:cNvSpPr/>
            <p:nvPr/>
          </p:nvSpPr>
          <p:spPr>
            <a:xfrm>
              <a:off x="2253716" y="3773772"/>
              <a:ext cx="177800" cy="177800"/>
            </a:xfrm>
            <a:custGeom>
              <a:avLst/>
              <a:gdLst/>
              <a:ahLst/>
              <a:cxnLst/>
              <a:rect l="l" t="t" r="r" b="b"/>
              <a:pathLst>
                <a:path w="177800" h="177800">
                  <a:moveTo>
                    <a:pt x="0" y="0"/>
                  </a:moveTo>
                  <a:lnTo>
                    <a:pt x="177721" y="0"/>
                  </a:lnTo>
                  <a:lnTo>
                    <a:pt x="177721" y="177721"/>
                  </a:lnTo>
                  <a:lnTo>
                    <a:pt x="0" y="177721"/>
                  </a:lnTo>
                  <a:lnTo>
                    <a:pt x="0" y="0"/>
                  </a:lnTo>
                  <a:close/>
                </a:path>
              </a:pathLst>
            </a:custGeom>
            <a:ln w="59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6" name="object 116"/>
          <p:cNvSpPr txBox="1"/>
          <p:nvPr/>
        </p:nvSpPr>
        <p:spPr>
          <a:xfrm>
            <a:off x="2253716" y="3773771"/>
            <a:ext cx="177800" cy="17780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35"/>
              </a:spcBef>
            </a:pPr>
            <a:r>
              <a:rPr dirty="0" sz="750" spc="-5">
                <a:latin typeface="Lucida Sans"/>
                <a:cs typeface="Lucida Sans"/>
              </a:rPr>
              <a:t>P</a:t>
            </a:r>
            <a:endParaRPr sz="750">
              <a:latin typeface="Lucida Sans"/>
              <a:cs typeface="Lucida Sans"/>
            </a:endParaRPr>
          </a:p>
        </p:txBody>
      </p:sp>
      <p:grpSp>
        <p:nvGrpSpPr>
          <p:cNvPr id="117" name="object 117"/>
          <p:cNvGrpSpPr/>
          <p:nvPr/>
        </p:nvGrpSpPr>
        <p:grpSpPr>
          <a:xfrm>
            <a:off x="2617831" y="3770597"/>
            <a:ext cx="369570" cy="184150"/>
            <a:chOff x="2617831" y="3770597"/>
            <a:chExt cx="369570" cy="184150"/>
          </a:xfrm>
        </p:grpSpPr>
        <p:sp>
          <p:nvSpPr>
            <p:cNvPr id="118" name="object 118"/>
            <p:cNvSpPr/>
            <p:nvPr/>
          </p:nvSpPr>
          <p:spPr>
            <a:xfrm>
              <a:off x="2800149" y="3862632"/>
              <a:ext cx="156845" cy="0"/>
            </a:xfrm>
            <a:custGeom>
              <a:avLst/>
              <a:gdLst/>
              <a:ahLst/>
              <a:cxnLst/>
              <a:rect l="l" t="t" r="r" b="b"/>
              <a:pathLst>
                <a:path w="156844" h="0">
                  <a:moveTo>
                    <a:pt x="156441" y="0"/>
                  </a:moveTo>
                  <a:lnTo>
                    <a:pt x="151998" y="0"/>
                  </a:lnTo>
                  <a:lnTo>
                    <a:pt x="113998" y="0"/>
                  </a:lnTo>
                  <a:lnTo>
                    <a:pt x="75998" y="0"/>
                  </a:lnTo>
                  <a:lnTo>
                    <a:pt x="37999" y="0"/>
                  </a:lnTo>
                  <a:lnTo>
                    <a:pt x="0" y="0"/>
                  </a:lnTo>
                </a:path>
              </a:pathLst>
            </a:custGeom>
            <a:ln w="88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9" name="object 119"/>
            <p:cNvSpPr/>
            <p:nvPr/>
          </p:nvSpPr>
          <p:spPr>
            <a:xfrm>
              <a:off x="2940596" y="3839529"/>
              <a:ext cx="46355" cy="46355"/>
            </a:xfrm>
            <a:custGeom>
              <a:avLst/>
              <a:gdLst/>
              <a:ahLst/>
              <a:cxnLst/>
              <a:rect l="l" t="t" r="r" b="b"/>
              <a:pathLst>
                <a:path w="46355" h="46354">
                  <a:moveTo>
                    <a:pt x="0" y="0"/>
                  </a:moveTo>
                  <a:lnTo>
                    <a:pt x="11551" y="23103"/>
                  </a:lnTo>
                  <a:lnTo>
                    <a:pt x="0" y="46207"/>
                  </a:lnTo>
                  <a:lnTo>
                    <a:pt x="46207" y="23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0" name="object 120"/>
            <p:cNvSpPr/>
            <p:nvPr/>
          </p:nvSpPr>
          <p:spPr>
            <a:xfrm>
              <a:off x="2621006" y="3773772"/>
              <a:ext cx="177800" cy="177800"/>
            </a:xfrm>
            <a:custGeom>
              <a:avLst/>
              <a:gdLst/>
              <a:ahLst/>
              <a:cxnLst/>
              <a:rect l="l" t="t" r="r" b="b"/>
              <a:pathLst>
                <a:path w="177800" h="177800">
                  <a:moveTo>
                    <a:pt x="0" y="0"/>
                  </a:moveTo>
                  <a:lnTo>
                    <a:pt x="177721" y="0"/>
                  </a:lnTo>
                  <a:lnTo>
                    <a:pt x="177721" y="177721"/>
                  </a:lnTo>
                  <a:lnTo>
                    <a:pt x="0" y="1777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1" name="object 121"/>
            <p:cNvSpPr/>
            <p:nvPr/>
          </p:nvSpPr>
          <p:spPr>
            <a:xfrm>
              <a:off x="2621006" y="3773772"/>
              <a:ext cx="177800" cy="177800"/>
            </a:xfrm>
            <a:custGeom>
              <a:avLst/>
              <a:gdLst/>
              <a:ahLst/>
              <a:cxnLst/>
              <a:rect l="l" t="t" r="r" b="b"/>
              <a:pathLst>
                <a:path w="177800" h="177800">
                  <a:moveTo>
                    <a:pt x="0" y="0"/>
                  </a:moveTo>
                  <a:lnTo>
                    <a:pt x="177721" y="0"/>
                  </a:lnTo>
                  <a:lnTo>
                    <a:pt x="177721" y="177721"/>
                  </a:lnTo>
                  <a:lnTo>
                    <a:pt x="0" y="177721"/>
                  </a:lnTo>
                  <a:lnTo>
                    <a:pt x="0" y="0"/>
                  </a:lnTo>
                  <a:close/>
                </a:path>
              </a:pathLst>
            </a:custGeom>
            <a:ln w="59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2" name="object 122"/>
          <p:cNvSpPr txBox="1"/>
          <p:nvPr/>
        </p:nvSpPr>
        <p:spPr>
          <a:xfrm>
            <a:off x="2621006" y="3773771"/>
            <a:ext cx="177800" cy="17780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53340">
              <a:lnSpc>
                <a:spcPct val="100000"/>
              </a:lnSpc>
              <a:spcBef>
                <a:spcPts val="135"/>
              </a:spcBef>
            </a:pPr>
            <a:r>
              <a:rPr dirty="0" sz="750" spc="-5">
                <a:latin typeface="Lucida Sans"/>
                <a:cs typeface="Lucida Sans"/>
              </a:rPr>
              <a:t>N</a:t>
            </a:r>
            <a:endParaRPr sz="750">
              <a:latin typeface="Lucida Sans"/>
              <a:cs typeface="Lucida Sans"/>
            </a:endParaRPr>
          </a:p>
        </p:txBody>
      </p:sp>
      <p:grpSp>
        <p:nvGrpSpPr>
          <p:cNvPr id="123" name="object 123"/>
          <p:cNvGrpSpPr/>
          <p:nvPr/>
        </p:nvGrpSpPr>
        <p:grpSpPr>
          <a:xfrm>
            <a:off x="2985121" y="3770597"/>
            <a:ext cx="369570" cy="184150"/>
            <a:chOff x="2985121" y="3770597"/>
            <a:chExt cx="369570" cy="184150"/>
          </a:xfrm>
        </p:grpSpPr>
        <p:sp>
          <p:nvSpPr>
            <p:cNvPr id="124" name="object 124"/>
            <p:cNvSpPr/>
            <p:nvPr/>
          </p:nvSpPr>
          <p:spPr>
            <a:xfrm>
              <a:off x="3167510" y="3862632"/>
              <a:ext cx="145415" cy="0"/>
            </a:xfrm>
            <a:custGeom>
              <a:avLst/>
              <a:gdLst/>
              <a:ahLst/>
              <a:cxnLst/>
              <a:rect l="l" t="t" r="r" b="b"/>
              <a:pathLst>
                <a:path w="145414" h="0">
                  <a:moveTo>
                    <a:pt x="0" y="0"/>
                  </a:moveTo>
                  <a:lnTo>
                    <a:pt x="35111" y="0"/>
                  </a:lnTo>
                  <a:lnTo>
                    <a:pt x="70223" y="0"/>
                  </a:lnTo>
                  <a:lnTo>
                    <a:pt x="105335" y="0"/>
                  </a:lnTo>
                  <a:lnTo>
                    <a:pt x="140447" y="0"/>
                  </a:lnTo>
                  <a:lnTo>
                    <a:pt x="144890" y="0"/>
                  </a:lnTo>
                </a:path>
              </a:pathLst>
            </a:custGeom>
            <a:ln w="88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5" name="object 125"/>
            <p:cNvSpPr/>
            <p:nvPr/>
          </p:nvSpPr>
          <p:spPr>
            <a:xfrm>
              <a:off x="3307957" y="3839529"/>
              <a:ext cx="46355" cy="46355"/>
            </a:xfrm>
            <a:custGeom>
              <a:avLst/>
              <a:gdLst/>
              <a:ahLst/>
              <a:cxnLst/>
              <a:rect l="l" t="t" r="r" b="b"/>
              <a:pathLst>
                <a:path w="46354" h="46354">
                  <a:moveTo>
                    <a:pt x="0" y="0"/>
                  </a:moveTo>
                  <a:lnTo>
                    <a:pt x="0" y="46207"/>
                  </a:lnTo>
                  <a:lnTo>
                    <a:pt x="46206" y="23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6" name="object 126"/>
            <p:cNvSpPr/>
            <p:nvPr/>
          </p:nvSpPr>
          <p:spPr>
            <a:xfrm>
              <a:off x="2988296" y="3773772"/>
              <a:ext cx="177800" cy="177800"/>
            </a:xfrm>
            <a:custGeom>
              <a:avLst/>
              <a:gdLst/>
              <a:ahLst/>
              <a:cxnLst/>
              <a:rect l="l" t="t" r="r" b="b"/>
              <a:pathLst>
                <a:path w="177800" h="177800">
                  <a:moveTo>
                    <a:pt x="0" y="0"/>
                  </a:moveTo>
                  <a:lnTo>
                    <a:pt x="177721" y="0"/>
                  </a:lnTo>
                  <a:lnTo>
                    <a:pt x="177721" y="177721"/>
                  </a:lnTo>
                  <a:lnTo>
                    <a:pt x="0" y="1777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7" name="object 127"/>
            <p:cNvSpPr/>
            <p:nvPr/>
          </p:nvSpPr>
          <p:spPr>
            <a:xfrm>
              <a:off x="2988296" y="3773772"/>
              <a:ext cx="177800" cy="177800"/>
            </a:xfrm>
            <a:custGeom>
              <a:avLst/>
              <a:gdLst/>
              <a:ahLst/>
              <a:cxnLst/>
              <a:rect l="l" t="t" r="r" b="b"/>
              <a:pathLst>
                <a:path w="177800" h="177800">
                  <a:moveTo>
                    <a:pt x="0" y="0"/>
                  </a:moveTo>
                  <a:lnTo>
                    <a:pt x="177721" y="0"/>
                  </a:lnTo>
                  <a:lnTo>
                    <a:pt x="177721" y="177721"/>
                  </a:lnTo>
                  <a:lnTo>
                    <a:pt x="0" y="177721"/>
                  </a:lnTo>
                  <a:lnTo>
                    <a:pt x="0" y="0"/>
                  </a:lnTo>
                  <a:close/>
                </a:path>
              </a:pathLst>
            </a:custGeom>
            <a:ln w="59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8" name="object 128"/>
          <p:cNvSpPr txBox="1"/>
          <p:nvPr/>
        </p:nvSpPr>
        <p:spPr>
          <a:xfrm>
            <a:off x="2988296" y="3773771"/>
            <a:ext cx="177800" cy="17780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35"/>
              </a:spcBef>
            </a:pPr>
            <a:r>
              <a:rPr dirty="0" sz="750" spc="-5">
                <a:latin typeface="Lucida Sans"/>
                <a:cs typeface="Lucida Sans"/>
              </a:rPr>
              <a:t>L</a:t>
            </a:r>
            <a:endParaRPr sz="750">
              <a:latin typeface="Lucida Sans"/>
              <a:cs typeface="Lucida Sans"/>
            </a:endParaRPr>
          </a:p>
        </p:txBody>
      </p:sp>
      <p:grpSp>
        <p:nvGrpSpPr>
          <p:cNvPr id="129" name="object 129"/>
          <p:cNvGrpSpPr/>
          <p:nvPr/>
        </p:nvGrpSpPr>
        <p:grpSpPr>
          <a:xfrm>
            <a:off x="3352411" y="3770597"/>
            <a:ext cx="369570" cy="184150"/>
            <a:chOff x="3352411" y="3770597"/>
            <a:chExt cx="369570" cy="184150"/>
          </a:xfrm>
        </p:grpSpPr>
        <p:sp>
          <p:nvSpPr>
            <p:cNvPr id="130" name="object 130"/>
            <p:cNvSpPr/>
            <p:nvPr/>
          </p:nvSpPr>
          <p:spPr>
            <a:xfrm>
              <a:off x="3534801" y="3862632"/>
              <a:ext cx="145415" cy="0"/>
            </a:xfrm>
            <a:custGeom>
              <a:avLst/>
              <a:gdLst/>
              <a:ahLst/>
              <a:cxnLst/>
              <a:rect l="l" t="t" r="r" b="b"/>
              <a:pathLst>
                <a:path w="145414" h="0">
                  <a:moveTo>
                    <a:pt x="0" y="0"/>
                  </a:moveTo>
                  <a:lnTo>
                    <a:pt x="35111" y="0"/>
                  </a:lnTo>
                  <a:lnTo>
                    <a:pt x="70222" y="0"/>
                  </a:lnTo>
                  <a:lnTo>
                    <a:pt x="105334" y="0"/>
                  </a:lnTo>
                  <a:lnTo>
                    <a:pt x="140445" y="0"/>
                  </a:lnTo>
                  <a:lnTo>
                    <a:pt x="144889" y="0"/>
                  </a:lnTo>
                </a:path>
              </a:pathLst>
            </a:custGeom>
            <a:ln w="88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1" name="object 131"/>
            <p:cNvSpPr/>
            <p:nvPr/>
          </p:nvSpPr>
          <p:spPr>
            <a:xfrm>
              <a:off x="3675247" y="3839529"/>
              <a:ext cx="46355" cy="46355"/>
            </a:xfrm>
            <a:custGeom>
              <a:avLst/>
              <a:gdLst/>
              <a:ahLst/>
              <a:cxnLst/>
              <a:rect l="l" t="t" r="r" b="b"/>
              <a:pathLst>
                <a:path w="46354" h="46354">
                  <a:moveTo>
                    <a:pt x="0" y="0"/>
                  </a:moveTo>
                  <a:lnTo>
                    <a:pt x="0" y="46207"/>
                  </a:lnTo>
                  <a:lnTo>
                    <a:pt x="46206" y="23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2" name="object 132"/>
            <p:cNvSpPr/>
            <p:nvPr/>
          </p:nvSpPr>
          <p:spPr>
            <a:xfrm>
              <a:off x="3355586" y="3773772"/>
              <a:ext cx="177800" cy="177800"/>
            </a:xfrm>
            <a:custGeom>
              <a:avLst/>
              <a:gdLst/>
              <a:ahLst/>
              <a:cxnLst/>
              <a:rect l="l" t="t" r="r" b="b"/>
              <a:pathLst>
                <a:path w="177800" h="177800">
                  <a:moveTo>
                    <a:pt x="0" y="0"/>
                  </a:moveTo>
                  <a:lnTo>
                    <a:pt x="177721" y="0"/>
                  </a:lnTo>
                  <a:lnTo>
                    <a:pt x="177721" y="177721"/>
                  </a:lnTo>
                  <a:lnTo>
                    <a:pt x="0" y="1777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3" name="object 133"/>
            <p:cNvSpPr/>
            <p:nvPr/>
          </p:nvSpPr>
          <p:spPr>
            <a:xfrm>
              <a:off x="3355586" y="3773772"/>
              <a:ext cx="177800" cy="177800"/>
            </a:xfrm>
            <a:custGeom>
              <a:avLst/>
              <a:gdLst/>
              <a:ahLst/>
              <a:cxnLst/>
              <a:rect l="l" t="t" r="r" b="b"/>
              <a:pathLst>
                <a:path w="177800" h="177800">
                  <a:moveTo>
                    <a:pt x="0" y="0"/>
                  </a:moveTo>
                  <a:lnTo>
                    <a:pt x="177721" y="0"/>
                  </a:lnTo>
                  <a:lnTo>
                    <a:pt x="177721" y="177721"/>
                  </a:lnTo>
                  <a:lnTo>
                    <a:pt x="0" y="177721"/>
                  </a:lnTo>
                  <a:lnTo>
                    <a:pt x="0" y="0"/>
                  </a:lnTo>
                  <a:close/>
                </a:path>
              </a:pathLst>
            </a:custGeom>
            <a:ln w="59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4" name="object 134"/>
          <p:cNvSpPr txBox="1"/>
          <p:nvPr/>
        </p:nvSpPr>
        <p:spPr>
          <a:xfrm>
            <a:off x="3355587" y="3773771"/>
            <a:ext cx="177800" cy="17780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35"/>
              </a:spcBef>
            </a:pPr>
            <a:r>
              <a:rPr dirty="0" sz="750" spc="-5">
                <a:latin typeface="Lucida Sans"/>
                <a:cs typeface="Lucida Sans"/>
              </a:rPr>
              <a:t>E</a:t>
            </a:r>
            <a:endParaRPr sz="750">
              <a:latin typeface="Lucida Sans"/>
              <a:cs typeface="Lucida Sans"/>
            </a:endParaRPr>
          </a:p>
        </p:txBody>
      </p:sp>
      <p:grpSp>
        <p:nvGrpSpPr>
          <p:cNvPr id="135" name="object 135"/>
          <p:cNvGrpSpPr/>
          <p:nvPr/>
        </p:nvGrpSpPr>
        <p:grpSpPr>
          <a:xfrm>
            <a:off x="1604821" y="3664177"/>
            <a:ext cx="1014730" cy="837565"/>
            <a:chOff x="1604821" y="3664177"/>
            <a:chExt cx="1014730" cy="837565"/>
          </a:xfrm>
        </p:grpSpPr>
        <p:pic>
          <p:nvPicPr>
            <p:cNvPr id="136" name="object 13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605034" y="3664177"/>
              <a:ext cx="183645" cy="367290"/>
            </a:xfrm>
            <a:prstGeom prst="rect">
              <a:avLst/>
            </a:prstGeom>
          </p:spPr>
        </p:pic>
        <p:sp>
          <p:nvSpPr>
            <p:cNvPr id="137" name="object 137"/>
            <p:cNvSpPr/>
            <p:nvPr/>
          </p:nvSpPr>
          <p:spPr>
            <a:xfrm>
              <a:off x="1787257" y="4128147"/>
              <a:ext cx="424180" cy="50800"/>
            </a:xfrm>
            <a:custGeom>
              <a:avLst/>
              <a:gdLst/>
              <a:ahLst/>
              <a:cxnLst/>
              <a:rect l="l" t="t" r="r" b="b"/>
              <a:pathLst>
                <a:path w="424180" h="50800">
                  <a:moveTo>
                    <a:pt x="0" y="0"/>
                  </a:moveTo>
                  <a:lnTo>
                    <a:pt x="52433" y="6253"/>
                  </a:lnTo>
                  <a:lnTo>
                    <a:pt x="104867" y="12507"/>
                  </a:lnTo>
                  <a:lnTo>
                    <a:pt x="157300" y="18760"/>
                  </a:lnTo>
                  <a:lnTo>
                    <a:pt x="209734" y="25014"/>
                  </a:lnTo>
                  <a:lnTo>
                    <a:pt x="262168" y="31267"/>
                  </a:lnTo>
                  <a:lnTo>
                    <a:pt x="314601" y="37521"/>
                  </a:lnTo>
                  <a:lnTo>
                    <a:pt x="367035" y="43774"/>
                  </a:lnTo>
                  <a:lnTo>
                    <a:pt x="419469" y="50028"/>
                  </a:lnTo>
                  <a:lnTo>
                    <a:pt x="423883" y="50554"/>
                  </a:lnTo>
                </a:path>
              </a:pathLst>
            </a:custGeom>
            <a:ln w="88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8" name="object 138"/>
            <p:cNvSpPr/>
            <p:nvPr/>
          </p:nvSpPr>
          <p:spPr>
            <a:xfrm>
              <a:off x="2203992" y="4155235"/>
              <a:ext cx="48895" cy="46355"/>
            </a:xfrm>
            <a:custGeom>
              <a:avLst/>
              <a:gdLst/>
              <a:ahLst/>
              <a:cxnLst/>
              <a:rect l="l" t="t" r="r" b="b"/>
              <a:pathLst>
                <a:path w="48894" h="46354">
                  <a:moveTo>
                    <a:pt x="5472" y="0"/>
                  </a:moveTo>
                  <a:lnTo>
                    <a:pt x="0" y="45882"/>
                  </a:lnTo>
                  <a:lnTo>
                    <a:pt x="48618" y="28413"/>
                  </a:lnTo>
                  <a:lnTo>
                    <a:pt x="547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9" name="object 139"/>
            <p:cNvSpPr/>
            <p:nvPr/>
          </p:nvSpPr>
          <p:spPr>
            <a:xfrm>
              <a:off x="1607996" y="4028505"/>
              <a:ext cx="177800" cy="177800"/>
            </a:xfrm>
            <a:custGeom>
              <a:avLst/>
              <a:gdLst/>
              <a:ahLst/>
              <a:cxnLst/>
              <a:rect l="l" t="t" r="r" b="b"/>
              <a:pathLst>
                <a:path w="177800" h="177800">
                  <a:moveTo>
                    <a:pt x="0" y="0"/>
                  </a:moveTo>
                  <a:lnTo>
                    <a:pt x="177721" y="0"/>
                  </a:lnTo>
                  <a:lnTo>
                    <a:pt x="177721" y="177721"/>
                  </a:lnTo>
                  <a:lnTo>
                    <a:pt x="0" y="1777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5D5D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0" name="object 140"/>
            <p:cNvSpPr/>
            <p:nvPr/>
          </p:nvSpPr>
          <p:spPr>
            <a:xfrm>
              <a:off x="1607996" y="4028505"/>
              <a:ext cx="177800" cy="177800"/>
            </a:xfrm>
            <a:custGeom>
              <a:avLst/>
              <a:gdLst/>
              <a:ahLst/>
              <a:cxnLst/>
              <a:rect l="l" t="t" r="r" b="b"/>
              <a:pathLst>
                <a:path w="177800" h="177800">
                  <a:moveTo>
                    <a:pt x="0" y="0"/>
                  </a:moveTo>
                  <a:lnTo>
                    <a:pt x="177721" y="0"/>
                  </a:lnTo>
                  <a:lnTo>
                    <a:pt x="177721" y="177721"/>
                  </a:lnTo>
                  <a:lnTo>
                    <a:pt x="0" y="177721"/>
                  </a:lnTo>
                  <a:lnTo>
                    <a:pt x="0" y="0"/>
                  </a:lnTo>
                  <a:close/>
                </a:path>
              </a:pathLst>
            </a:custGeom>
            <a:ln w="59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1" name="object 141"/>
            <p:cNvSpPr/>
            <p:nvPr/>
          </p:nvSpPr>
          <p:spPr>
            <a:xfrm>
              <a:off x="1786611" y="4332302"/>
              <a:ext cx="426720" cy="149225"/>
            </a:xfrm>
            <a:custGeom>
              <a:avLst/>
              <a:gdLst/>
              <a:ahLst/>
              <a:cxnLst/>
              <a:rect l="l" t="t" r="r" b="b"/>
              <a:pathLst>
                <a:path w="426719" h="149225">
                  <a:moveTo>
                    <a:pt x="0" y="0"/>
                  </a:moveTo>
                  <a:lnTo>
                    <a:pt x="46916" y="16356"/>
                  </a:lnTo>
                  <a:lnTo>
                    <a:pt x="93833" y="32712"/>
                  </a:lnTo>
                  <a:lnTo>
                    <a:pt x="140750" y="49068"/>
                  </a:lnTo>
                  <a:lnTo>
                    <a:pt x="187667" y="65425"/>
                  </a:lnTo>
                  <a:lnTo>
                    <a:pt x="234584" y="81781"/>
                  </a:lnTo>
                  <a:lnTo>
                    <a:pt x="281501" y="98138"/>
                  </a:lnTo>
                  <a:lnTo>
                    <a:pt x="328418" y="114494"/>
                  </a:lnTo>
                  <a:lnTo>
                    <a:pt x="375335" y="130851"/>
                  </a:lnTo>
                  <a:lnTo>
                    <a:pt x="422252" y="147207"/>
                  </a:lnTo>
                  <a:lnTo>
                    <a:pt x="426457" y="148673"/>
                  </a:lnTo>
                </a:path>
              </a:pathLst>
            </a:custGeom>
            <a:ln w="88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2" name="object 142"/>
            <p:cNvSpPr/>
            <p:nvPr/>
          </p:nvSpPr>
          <p:spPr>
            <a:xfrm>
              <a:off x="2201268" y="4457696"/>
              <a:ext cx="51435" cy="43815"/>
            </a:xfrm>
            <a:custGeom>
              <a:avLst/>
              <a:gdLst/>
              <a:ahLst/>
              <a:cxnLst/>
              <a:rect l="l" t="t" r="r" b="b"/>
              <a:pathLst>
                <a:path w="51435" h="43814">
                  <a:moveTo>
                    <a:pt x="15211" y="0"/>
                  </a:moveTo>
                  <a:lnTo>
                    <a:pt x="0" y="43632"/>
                  </a:lnTo>
                  <a:lnTo>
                    <a:pt x="51237" y="37027"/>
                  </a:lnTo>
                  <a:lnTo>
                    <a:pt x="1521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3" name="object 143"/>
            <p:cNvSpPr/>
            <p:nvPr/>
          </p:nvSpPr>
          <p:spPr>
            <a:xfrm>
              <a:off x="1607996" y="4212150"/>
              <a:ext cx="177800" cy="177800"/>
            </a:xfrm>
            <a:custGeom>
              <a:avLst/>
              <a:gdLst/>
              <a:ahLst/>
              <a:cxnLst/>
              <a:rect l="l" t="t" r="r" b="b"/>
              <a:pathLst>
                <a:path w="177800" h="177800">
                  <a:moveTo>
                    <a:pt x="0" y="0"/>
                  </a:moveTo>
                  <a:lnTo>
                    <a:pt x="177721" y="0"/>
                  </a:lnTo>
                  <a:lnTo>
                    <a:pt x="177721" y="177721"/>
                  </a:lnTo>
                  <a:lnTo>
                    <a:pt x="0" y="1777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5D5D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4" name="object 144"/>
            <p:cNvSpPr/>
            <p:nvPr/>
          </p:nvSpPr>
          <p:spPr>
            <a:xfrm>
              <a:off x="1607996" y="4212150"/>
              <a:ext cx="177800" cy="177800"/>
            </a:xfrm>
            <a:custGeom>
              <a:avLst/>
              <a:gdLst/>
              <a:ahLst/>
              <a:cxnLst/>
              <a:rect l="l" t="t" r="r" b="b"/>
              <a:pathLst>
                <a:path w="177800" h="177800">
                  <a:moveTo>
                    <a:pt x="0" y="0"/>
                  </a:moveTo>
                  <a:lnTo>
                    <a:pt x="177721" y="0"/>
                  </a:lnTo>
                  <a:lnTo>
                    <a:pt x="177721" y="177721"/>
                  </a:lnTo>
                  <a:lnTo>
                    <a:pt x="0" y="177721"/>
                  </a:lnTo>
                  <a:lnTo>
                    <a:pt x="0" y="0"/>
                  </a:lnTo>
                  <a:close/>
                </a:path>
              </a:pathLst>
            </a:custGeom>
            <a:ln w="59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5" name="object 145"/>
            <p:cNvSpPr/>
            <p:nvPr/>
          </p:nvSpPr>
          <p:spPr>
            <a:xfrm>
              <a:off x="2432859" y="4194378"/>
              <a:ext cx="156845" cy="0"/>
            </a:xfrm>
            <a:custGeom>
              <a:avLst/>
              <a:gdLst/>
              <a:ahLst/>
              <a:cxnLst/>
              <a:rect l="l" t="t" r="r" b="b"/>
              <a:pathLst>
                <a:path w="156844" h="0">
                  <a:moveTo>
                    <a:pt x="156441" y="0"/>
                  </a:moveTo>
                  <a:lnTo>
                    <a:pt x="151998" y="0"/>
                  </a:lnTo>
                  <a:lnTo>
                    <a:pt x="113998" y="0"/>
                  </a:lnTo>
                  <a:lnTo>
                    <a:pt x="75998" y="0"/>
                  </a:lnTo>
                  <a:lnTo>
                    <a:pt x="37999" y="0"/>
                  </a:lnTo>
                  <a:lnTo>
                    <a:pt x="0" y="0"/>
                  </a:lnTo>
                </a:path>
              </a:pathLst>
            </a:custGeom>
            <a:ln w="88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6" name="object 146"/>
            <p:cNvSpPr/>
            <p:nvPr/>
          </p:nvSpPr>
          <p:spPr>
            <a:xfrm>
              <a:off x="2573306" y="4171274"/>
              <a:ext cx="46355" cy="46355"/>
            </a:xfrm>
            <a:custGeom>
              <a:avLst/>
              <a:gdLst/>
              <a:ahLst/>
              <a:cxnLst/>
              <a:rect l="l" t="t" r="r" b="b"/>
              <a:pathLst>
                <a:path w="46355" h="46354">
                  <a:moveTo>
                    <a:pt x="0" y="0"/>
                  </a:moveTo>
                  <a:lnTo>
                    <a:pt x="11551" y="23103"/>
                  </a:lnTo>
                  <a:lnTo>
                    <a:pt x="0" y="46207"/>
                  </a:lnTo>
                  <a:lnTo>
                    <a:pt x="46207" y="23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7" name="object 147"/>
            <p:cNvSpPr/>
            <p:nvPr/>
          </p:nvSpPr>
          <p:spPr>
            <a:xfrm>
              <a:off x="2253716" y="4105518"/>
              <a:ext cx="177800" cy="177800"/>
            </a:xfrm>
            <a:custGeom>
              <a:avLst/>
              <a:gdLst/>
              <a:ahLst/>
              <a:cxnLst/>
              <a:rect l="l" t="t" r="r" b="b"/>
              <a:pathLst>
                <a:path w="177800" h="177800">
                  <a:moveTo>
                    <a:pt x="0" y="0"/>
                  </a:moveTo>
                  <a:lnTo>
                    <a:pt x="177721" y="0"/>
                  </a:lnTo>
                  <a:lnTo>
                    <a:pt x="177721" y="177721"/>
                  </a:lnTo>
                  <a:lnTo>
                    <a:pt x="0" y="1777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8" name="object 148"/>
            <p:cNvSpPr/>
            <p:nvPr/>
          </p:nvSpPr>
          <p:spPr>
            <a:xfrm>
              <a:off x="2253716" y="4105518"/>
              <a:ext cx="177800" cy="177800"/>
            </a:xfrm>
            <a:custGeom>
              <a:avLst/>
              <a:gdLst/>
              <a:ahLst/>
              <a:cxnLst/>
              <a:rect l="l" t="t" r="r" b="b"/>
              <a:pathLst>
                <a:path w="177800" h="177800">
                  <a:moveTo>
                    <a:pt x="0" y="0"/>
                  </a:moveTo>
                  <a:lnTo>
                    <a:pt x="177721" y="0"/>
                  </a:lnTo>
                  <a:lnTo>
                    <a:pt x="177721" y="177721"/>
                  </a:lnTo>
                  <a:lnTo>
                    <a:pt x="0" y="177721"/>
                  </a:lnTo>
                  <a:lnTo>
                    <a:pt x="0" y="0"/>
                  </a:lnTo>
                  <a:close/>
                </a:path>
              </a:pathLst>
            </a:custGeom>
            <a:ln w="59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9" name="object 149"/>
          <p:cNvSpPr txBox="1"/>
          <p:nvPr/>
        </p:nvSpPr>
        <p:spPr>
          <a:xfrm>
            <a:off x="1480501" y="3689983"/>
            <a:ext cx="75565" cy="1250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50">
                <a:solidFill>
                  <a:srgbClr val="8D3124"/>
                </a:solidFill>
                <a:latin typeface="Lucida Sans Typewriter"/>
                <a:cs typeface="Lucida Sans Typewriter"/>
              </a:rPr>
              <a:t>0</a:t>
            </a:r>
            <a:endParaRPr sz="650">
              <a:latin typeface="Lucida Sans Typewriter"/>
              <a:cs typeface="Lucida Sans Typewriter"/>
            </a:endParaRPr>
          </a:p>
        </p:txBody>
      </p:sp>
      <p:sp>
        <p:nvSpPr>
          <p:cNvPr id="150" name="object 150"/>
          <p:cNvSpPr txBox="1"/>
          <p:nvPr/>
        </p:nvSpPr>
        <p:spPr>
          <a:xfrm>
            <a:off x="1480501" y="3891400"/>
            <a:ext cx="75565" cy="1250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50">
                <a:solidFill>
                  <a:srgbClr val="8D3124"/>
                </a:solidFill>
                <a:latin typeface="Lucida Sans Typewriter"/>
                <a:cs typeface="Lucida Sans Typewriter"/>
              </a:rPr>
              <a:t>1</a:t>
            </a:r>
            <a:endParaRPr sz="650">
              <a:latin typeface="Lucida Sans Typewriter"/>
              <a:cs typeface="Lucida Sans Typewriter"/>
            </a:endParaRPr>
          </a:p>
        </p:txBody>
      </p:sp>
      <p:sp>
        <p:nvSpPr>
          <p:cNvPr id="151" name="object 151"/>
          <p:cNvSpPr txBox="1"/>
          <p:nvPr/>
        </p:nvSpPr>
        <p:spPr>
          <a:xfrm>
            <a:off x="1480501" y="4092818"/>
            <a:ext cx="75565" cy="1250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50">
                <a:solidFill>
                  <a:srgbClr val="8D3124"/>
                </a:solidFill>
                <a:latin typeface="Lucida Sans Typewriter"/>
                <a:cs typeface="Lucida Sans Typewriter"/>
              </a:rPr>
              <a:t>2</a:t>
            </a:r>
            <a:endParaRPr sz="650">
              <a:latin typeface="Lucida Sans Typewriter"/>
              <a:cs typeface="Lucida Sans Typewriter"/>
            </a:endParaRPr>
          </a:p>
        </p:txBody>
      </p:sp>
      <p:sp>
        <p:nvSpPr>
          <p:cNvPr id="152" name="object 152"/>
          <p:cNvSpPr txBox="1"/>
          <p:nvPr/>
        </p:nvSpPr>
        <p:spPr>
          <a:xfrm>
            <a:off x="1480501" y="4294235"/>
            <a:ext cx="75565" cy="1250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50">
                <a:solidFill>
                  <a:srgbClr val="8D3124"/>
                </a:solidFill>
                <a:latin typeface="Lucida Sans Typewriter"/>
                <a:cs typeface="Lucida Sans Typewriter"/>
              </a:rPr>
              <a:t>3</a:t>
            </a:r>
            <a:endParaRPr sz="650">
              <a:latin typeface="Lucida Sans Typewriter"/>
              <a:cs typeface="Lucida Sans Typewriter"/>
            </a:endParaRPr>
          </a:p>
        </p:txBody>
      </p:sp>
      <p:sp>
        <p:nvSpPr>
          <p:cNvPr id="153" name="object 153"/>
          <p:cNvSpPr txBox="1"/>
          <p:nvPr/>
        </p:nvSpPr>
        <p:spPr>
          <a:xfrm>
            <a:off x="692604" y="2220822"/>
            <a:ext cx="768985" cy="1397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50" spc="5" b="1">
                <a:latin typeface="Tahoma"/>
                <a:cs typeface="Tahoma"/>
              </a:rPr>
              <a:t>before</a:t>
            </a:r>
            <a:r>
              <a:rPr dirty="0" sz="750" spc="-15" b="1">
                <a:latin typeface="Tahoma"/>
                <a:cs typeface="Tahoma"/>
              </a:rPr>
              <a:t> </a:t>
            </a:r>
            <a:r>
              <a:rPr dirty="0" sz="750" spc="15" b="1">
                <a:latin typeface="Tahoma"/>
                <a:cs typeface="Tahoma"/>
              </a:rPr>
              <a:t>resizing</a:t>
            </a:r>
            <a:endParaRPr sz="750">
              <a:latin typeface="Tahoma"/>
              <a:cs typeface="Tahoma"/>
            </a:endParaRPr>
          </a:p>
        </p:txBody>
      </p:sp>
      <p:sp>
        <p:nvSpPr>
          <p:cNvPr id="154" name="object 154"/>
          <p:cNvSpPr txBox="1"/>
          <p:nvPr/>
        </p:nvSpPr>
        <p:spPr>
          <a:xfrm>
            <a:off x="734073" y="3346389"/>
            <a:ext cx="683895" cy="1397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50" b="1">
                <a:latin typeface="Tahoma"/>
                <a:cs typeface="Tahoma"/>
              </a:rPr>
              <a:t>after</a:t>
            </a:r>
            <a:r>
              <a:rPr dirty="0" sz="750" spc="-30" b="1">
                <a:latin typeface="Tahoma"/>
                <a:cs typeface="Tahoma"/>
              </a:rPr>
              <a:t> </a:t>
            </a:r>
            <a:r>
              <a:rPr dirty="0" sz="750" spc="15" b="1">
                <a:latin typeface="Tahoma"/>
                <a:cs typeface="Tahoma"/>
              </a:rPr>
              <a:t>resizing</a:t>
            </a:r>
            <a:endParaRPr sz="750">
              <a:latin typeface="Tahoma"/>
              <a:cs typeface="Tahoma"/>
            </a:endParaRPr>
          </a:p>
        </p:txBody>
      </p:sp>
      <p:sp>
        <p:nvSpPr>
          <p:cNvPr id="155" name="object 155"/>
          <p:cNvSpPr txBox="1"/>
          <p:nvPr/>
        </p:nvSpPr>
        <p:spPr>
          <a:xfrm>
            <a:off x="2253716" y="4105518"/>
            <a:ext cx="177800" cy="17780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35"/>
              </a:spcBef>
            </a:pPr>
            <a:r>
              <a:rPr dirty="0" sz="750" spc="-5">
                <a:latin typeface="Lucida Sans"/>
                <a:cs typeface="Lucida Sans"/>
              </a:rPr>
              <a:t>J</a:t>
            </a:r>
            <a:endParaRPr sz="750">
              <a:latin typeface="Lucida Sans"/>
              <a:cs typeface="Lucida Sans"/>
            </a:endParaRPr>
          </a:p>
        </p:txBody>
      </p:sp>
      <p:grpSp>
        <p:nvGrpSpPr>
          <p:cNvPr id="156" name="object 156"/>
          <p:cNvGrpSpPr/>
          <p:nvPr/>
        </p:nvGrpSpPr>
        <p:grpSpPr>
          <a:xfrm>
            <a:off x="2617831" y="4102343"/>
            <a:ext cx="369570" cy="184150"/>
            <a:chOff x="2617831" y="4102343"/>
            <a:chExt cx="369570" cy="184150"/>
          </a:xfrm>
        </p:grpSpPr>
        <p:sp>
          <p:nvSpPr>
            <p:cNvPr id="157" name="object 157"/>
            <p:cNvSpPr/>
            <p:nvPr/>
          </p:nvSpPr>
          <p:spPr>
            <a:xfrm>
              <a:off x="2800220" y="4194378"/>
              <a:ext cx="145415" cy="0"/>
            </a:xfrm>
            <a:custGeom>
              <a:avLst/>
              <a:gdLst/>
              <a:ahLst/>
              <a:cxnLst/>
              <a:rect l="l" t="t" r="r" b="b"/>
              <a:pathLst>
                <a:path w="145414" h="0">
                  <a:moveTo>
                    <a:pt x="0" y="0"/>
                  </a:moveTo>
                  <a:lnTo>
                    <a:pt x="35111" y="0"/>
                  </a:lnTo>
                  <a:lnTo>
                    <a:pt x="70223" y="0"/>
                  </a:lnTo>
                  <a:lnTo>
                    <a:pt x="105334" y="0"/>
                  </a:lnTo>
                  <a:lnTo>
                    <a:pt x="140446" y="0"/>
                  </a:lnTo>
                  <a:lnTo>
                    <a:pt x="144889" y="0"/>
                  </a:lnTo>
                </a:path>
              </a:pathLst>
            </a:custGeom>
            <a:ln w="88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8" name="object 158"/>
            <p:cNvSpPr/>
            <p:nvPr/>
          </p:nvSpPr>
          <p:spPr>
            <a:xfrm>
              <a:off x="2940666" y="4171275"/>
              <a:ext cx="46355" cy="46355"/>
            </a:xfrm>
            <a:custGeom>
              <a:avLst/>
              <a:gdLst/>
              <a:ahLst/>
              <a:cxnLst/>
              <a:rect l="l" t="t" r="r" b="b"/>
              <a:pathLst>
                <a:path w="46355" h="46354">
                  <a:moveTo>
                    <a:pt x="0" y="0"/>
                  </a:moveTo>
                  <a:lnTo>
                    <a:pt x="0" y="46207"/>
                  </a:lnTo>
                  <a:lnTo>
                    <a:pt x="46207" y="23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9" name="object 159"/>
            <p:cNvSpPr/>
            <p:nvPr/>
          </p:nvSpPr>
          <p:spPr>
            <a:xfrm>
              <a:off x="2621006" y="4105518"/>
              <a:ext cx="177800" cy="177800"/>
            </a:xfrm>
            <a:custGeom>
              <a:avLst/>
              <a:gdLst/>
              <a:ahLst/>
              <a:cxnLst/>
              <a:rect l="l" t="t" r="r" b="b"/>
              <a:pathLst>
                <a:path w="177800" h="177800">
                  <a:moveTo>
                    <a:pt x="0" y="0"/>
                  </a:moveTo>
                  <a:lnTo>
                    <a:pt x="177721" y="0"/>
                  </a:lnTo>
                  <a:lnTo>
                    <a:pt x="177721" y="177721"/>
                  </a:lnTo>
                  <a:lnTo>
                    <a:pt x="0" y="1777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0" name="object 160"/>
            <p:cNvSpPr/>
            <p:nvPr/>
          </p:nvSpPr>
          <p:spPr>
            <a:xfrm>
              <a:off x="2621006" y="4105518"/>
              <a:ext cx="177800" cy="177800"/>
            </a:xfrm>
            <a:custGeom>
              <a:avLst/>
              <a:gdLst/>
              <a:ahLst/>
              <a:cxnLst/>
              <a:rect l="l" t="t" r="r" b="b"/>
              <a:pathLst>
                <a:path w="177800" h="177800">
                  <a:moveTo>
                    <a:pt x="0" y="0"/>
                  </a:moveTo>
                  <a:lnTo>
                    <a:pt x="177721" y="0"/>
                  </a:lnTo>
                  <a:lnTo>
                    <a:pt x="177721" y="177721"/>
                  </a:lnTo>
                  <a:lnTo>
                    <a:pt x="0" y="177721"/>
                  </a:lnTo>
                  <a:lnTo>
                    <a:pt x="0" y="0"/>
                  </a:lnTo>
                  <a:close/>
                </a:path>
              </a:pathLst>
            </a:custGeom>
            <a:ln w="59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1" name="object 161"/>
          <p:cNvSpPr txBox="1"/>
          <p:nvPr/>
        </p:nvSpPr>
        <p:spPr>
          <a:xfrm>
            <a:off x="2621006" y="4105518"/>
            <a:ext cx="177800" cy="17780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35"/>
              </a:spcBef>
            </a:pPr>
            <a:r>
              <a:rPr dirty="0" sz="750" spc="-5">
                <a:latin typeface="Lucida Sans"/>
                <a:cs typeface="Lucida Sans"/>
              </a:rPr>
              <a:t>F</a:t>
            </a:r>
            <a:endParaRPr sz="750">
              <a:latin typeface="Lucida Sans"/>
              <a:cs typeface="Lucida Sans"/>
            </a:endParaRPr>
          </a:p>
        </p:txBody>
      </p:sp>
      <p:grpSp>
        <p:nvGrpSpPr>
          <p:cNvPr id="162" name="object 162"/>
          <p:cNvGrpSpPr/>
          <p:nvPr/>
        </p:nvGrpSpPr>
        <p:grpSpPr>
          <a:xfrm>
            <a:off x="2985121" y="4102343"/>
            <a:ext cx="369570" cy="184150"/>
            <a:chOff x="2985121" y="4102343"/>
            <a:chExt cx="369570" cy="184150"/>
          </a:xfrm>
        </p:grpSpPr>
        <p:sp>
          <p:nvSpPr>
            <p:cNvPr id="163" name="object 163"/>
            <p:cNvSpPr/>
            <p:nvPr/>
          </p:nvSpPr>
          <p:spPr>
            <a:xfrm>
              <a:off x="3167440" y="4194378"/>
              <a:ext cx="156845" cy="0"/>
            </a:xfrm>
            <a:custGeom>
              <a:avLst/>
              <a:gdLst/>
              <a:ahLst/>
              <a:cxnLst/>
              <a:rect l="l" t="t" r="r" b="b"/>
              <a:pathLst>
                <a:path w="156845" h="0">
                  <a:moveTo>
                    <a:pt x="156441" y="0"/>
                  </a:moveTo>
                  <a:lnTo>
                    <a:pt x="151998" y="0"/>
                  </a:lnTo>
                  <a:lnTo>
                    <a:pt x="113999" y="0"/>
                  </a:lnTo>
                  <a:lnTo>
                    <a:pt x="75999" y="0"/>
                  </a:lnTo>
                  <a:lnTo>
                    <a:pt x="37999" y="0"/>
                  </a:lnTo>
                  <a:lnTo>
                    <a:pt x="0" y="0"/>
                  </a:lnTo>
                </a:path>
              </a:pathLst>
            </a:custGeom>
            <a:ln w="88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4" name="object 164"/>
            <p:cNvSpPr/>
            <p:nvPr/>
          </p:nvSpPr>
          <p:spPr>
            <a:xfrm>
              <a:off x="3307886" y="4171275"/>
              <a:ext cx="46355" cy="46355"/>
            </a:xfrm>
            <a:custGeom>
              <a:avLst/>
              <a:gdLst/>
              <a:ahLst/>
              <a:cxnLst/>
              <a:rect l="l" t="t" r="r" b="b"/>
              <a:pathLst>
                <a:path w="46354" h="46354">
                  <a:moveTo>
                    <a:pt x="0" y="0"/>
                  </a:moveTo>
                  <a:lnTo>
                    <a:pt x="11551" y="23103"/>
                  </a:lnTo>
                  <a:lnTo>
                    <a:pt x="0" y="46207"/>
                  </a:lnTo>
                  <a:lnTo>
                    <a:pt x="46207" y="23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5" name="object 165"/>
            <p:cNvSpPr/>
            <p:nvPr/>
          </p:nvSpPr>
          <p:spPr>
            <a:xfrm>
              <a:off x="2988296" y="4105518"/>
              <a:ext cx="177800" cy="177800"/>
            </a:xfrm>
            <a:custGeom>
              <a:avLst/>
              <a:gdLst/>
              <a:ahLst/>
              <a:cxnLst/>
              <a:rect l="l" t="t" r="r" b="b"/>
              <a:pathLst>
                <a:path w="177800" h="177800">
                  <a:moveTo>
                    <a:pt x="0" y="0"/>
                  </a:moveTo>
                  <a:lnTo>
                    <a:pt x="177721" y="0"/>
                  </a:lnTo>
                  <a:lnTo>
                    <a:pt x="177721" y="177721"/>
                  </a:lnTo>
                  <a:lnTo>
                    <a:pt x="0" y="1777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6" name="object 166"/>
            <p:cNvSpPr/>
            <p:nvPr/>
          </p:nvSpPr>
          <p:spPr>
            <a:xfrm>
              <a:off x="2988296" y="4105518"/>
              <a:ext cx="177800" cy="177800"/>
            </a:xfrm>
            <a:custGeom>
              <a:avLst/>
              <a:gdLst/>
              <a:ahLst/>
              <a:cxnLst/>
              <a:rect l="l" t="t" r="r" b="b"/>
              <a:pathLst>
                <a:path w="177800" h="177800">
                  <a:moveTo>
                    <a:pt x="0" y="0"/>
                  </a:moveTo>
                  <a:lnTo>
                    <a:pt x="177721" y="0"/>
                  </a:lnTo>
                  <a:lnTo>
                    <a:pt x="177721" y="177721"/>
                  </a:lnTo>
                  <a:lnTo>
                    <a:pt x="0" y="177721"/>
                  </a:lnTo>
                  <a:lnTo>
                    <a:pt x="0" y="0"/>
                  </a:lnTo>
                  <a:close/>
                </a:path>
              </a:pathLst>
            </a:custGeom>
            <a:ln w="59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7" name="object 167"/>
          <p:cNvSpPr txBox="1"/>
          <p:nvPr/>
        </p:nvSpPr>
        <p:spPr>
          <a:xfrm>
            <a:off x="2988296" y="4105518"/>
            <a:ext cx="177800" cy="17780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55880">
              <a:lnSpc>
                <a:spcPct val="100000"/>
              </a:lnSpc>
              <a:spcBef>
                <a:spcPts val="135"/>
              </a:spcBef>
            </a:pPr>
            <a:r>
              <a:rPr dirty="0" sz="750" spc="-5">
                <a:latin typeface="Lucida Sans"/>
                <a:cs typeface="Lucida Sans"/>
              </a:rPr>
              <a:t>C</a:t>
            </a:r>
            <a:endParaRPr sz="750">
              <a:latin typeface="Lucida Sans"/>
              <a:cs typeface="Lucida Sans"/>
            </a:endParaRPr>
          </a:p>
        </p:txBody>
      </p:sp>
      <p:grpSp>
        <p:nvGrpSpPr>
          <p:cNvPr id="168" name="object 168"/>
          <p:cNvGrpSpPr/>
          <p:nvPr/>
        </p:nvGrpSpPr>
        <p:grpSpPr>
          <a:xfrm>
            <a:off x="3352411" y="4102343"/>
            <a:ext cx="184150" cy="184150"/>
            <a:chOff x="3352411" y="4102343"/>
            <a:chExt cx="184150" cy="184150"/>
          </a:xfrm>
        </p:grpSpPr>
        <p:sp>
          <p:nvSpPr>
            <p:cNvPr id="169" name="object 169"/>
            <p:cNvSpPr/>
            <p:nvPr/>
          </p:nvSpPr>
          <p:spPr>
            <a:xfrm>
              <a:off x="3355586" y="4105518"/>
              <a:ext cx="177800" cy="177800"/>
            </a:xfrm>
            <a:custGeom>
              <a:avLst/>
              <a:gdLst/>
              <a:ahLst/>
              <a:cxnLst/>
              <a:rect l="l" t="t" r="r" b="b"/>
              <a:pathLst>
                <a:path w="177800" h="177800">
                  <a:moveTo>
                    <a:pt x="0" y="0"/>
                  </a:moveTo>
                  <a:lnTo>
                    <a:pt x="177721" y="0"/>
                  </a:lnTo>
                  <a:lnTo>
                    <a:pt x="177721" y="177721"/>
                  </a:lnTo>
                  <a:lnTo>
                    <a:pt x="0" y="1777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0" name="object 170"/>
            <p:cNvSpPr/>
            <p:nvPr/>
          </p:nvSpPr>
          <p:spPr>
            <a:xfrm>
              <a:off x="3355586" y="4105518"/>
              <a:ext cx="177800" cy="177800"/>
            </a:xfrm>
            <a:custGeom>
              <a:avLst/>
              <a:gdLst/>
              <a:ahLst/>
              <a:cxnLst/>
              <a:rect l="l" t="t" r="r" b="b"/>
              <a:pathLst>
                <a:path w="177800" h="177800">
                  <a:moveTo>
                    <a:pt x="0" y="0"/>
                  </a:moveTo>
                  <a:lnTo>
                    <a:pt x="177721" y="0"/>
                  </a:lnTo>
                  <a:lnTo>
                    <a:pt x="177721" y="177721"/>
                  </a:lnTo>
                  <a:lnTo>
                    <a:pt x="0" y="177721"/>
                  </a:lnTo>
                  <a:lnTo>
                    <a:pt x="0" y="0"/>
                  </a:lnTo>
                  <a:close/>
                </a:path>
              </a:pathLst>
            </a:custGeom>
            <a:ln w="59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1" name="object 171"/>
          <p:cNvSpPr txBox="1"/>
          <p:nvPr/>
        </p:nvSpPr>
        <p:spPr>
          <a:xfrm>
            <a:off x="3355587" y="4105518"/>
            <a:ext cx="177800" cy="17780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35"/>
              </a:spcBef>
            </a:pPr>
            <a:r>
              <a:rPr dirty="0" sz="750" spc="-5">
                <a:latin typeface="Lucida Sans"/>
                <a:cs typeface="Lucida Sans"/>
              </a:rPr>
              <a:t>B</a:t>
            </a:r>
            <a:endParaRPr sz="750">
              <a:latin typeface="Lucida Sans"/>
              <a:cs typeface="Lucida Sans"/>
            </a:endParaRPr>
          </a:p>
        </p:txBody>
      </p:sp>
      <p:grpSp>
        <p:nvGrpSpPr>
          <p:cNvPr id="172" name="object 172"/>
          <p:cNvGrpSpPr/>
          <p:nvPr/>
        </p:nvGrpSpPr>
        <p:grpSpPr>
          <a:xfrm>
            <a:off x="2250541" y="4434089"/>
            <a:ext cx="369570" cy="184150"/>
            <a:chOff x="2250541" y="4434089"/>
            <a:chExt cx="369570" cy="184150"/>
          </a:xfrm>
        </p:grpSpPr>
        <p:sp>
          <p:nvSpPr>
            <p:cNvPr id="173" name="object 173"/>
            <p:cNvSpPr/>
            <p:nvPr/>
          </p:nvSpPr>
          <p:spPr>
            <a:xfrm>
              <a:off x="2432930" y="4526124"/>
              <a:ext cx="145415" cy="0"/>
            </a:xfrm>
            <a:custGeom>
              <a:avLst/>
              <a:gdLst/>
              <a:ahLst/>
              <a:cxnLst/>
              <a:rect l="l" t="t" r="r" b="b"/>
              <a:pathLst>
                <a:path w="145414" h="0">
                  <a:moveTo>
                    <a:pt x="0" y="0"/>
                  </a:moveTo>
                  <a:lnTo>
                    <a:pt x="35111" y="0"/>
                  </a:lnTo>
                  <a:lnTo>
                    <a:pt x="70223" y="0"/>
                  </a:lnTo>
                  <a:lnTo>
                    <a:pt x="105334" y="0"/>
                  </a:lnTo>
                  <a:lnTo>
                    <a:pt x="140446" y="0"/>
                  </a:lnTo>
                  <a:lnTo>
                    <a:pt x="144890" y="0"/>
                  </a:lnTo>
                </a:path>
              </a:pathLst>
            </a:custGeom>
            <a:ln w="88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4" name="object 174"/>
            <p:cNvSpPr/>
            <p:nvPr/>
          </p:nvSpPr>
          <p:spPr>
            <a:xfrm>
              <a:off x="2573377" y="4503020"/>
              <a:ext cx="46355" cy="46355"/>
            </a:xfrm>
            <a:custGeom>
              <a:avLst/>
              <a:gdLst/>
              <a:ahLst/>
              <a:cxnLst/>
              <a:rect l="l" t="t" r="r" b="b"/>
              <a:pathLst>
                <a:path w="46355" h="46354">
                  <a:moveTo>
                    <a:pt x="0" y="0"/>
                  </a:moveTo>
                  <a:lnTo>
                    <a:pt x="0" y="46207"/>
                  </a:lnTo>
                  <a:lnTo>
                    <a:pt x="46206" y="23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5" name="object 175"/>
            <p:cNvSpPr/>
            <p:nvPr/>
          </p:nvSpPr>
          <p:spPr>
            <a:xfrm>
              <a:off x="2253716" y="4437263"/>
              <a:ext cx="177800" cy="177800"/>
            </a:xfrm>
            <a:custGeom>
              <a:avLst/>
              <a:gdLst/>
              <a:ahLst/>
              <a:cxnLst/>
              <a:rect l="l" t="t" r="r" b="b"/>
              <a:pathLst>
                <a:path w="177800" h="177800">
                  <a:moveTo>
                    <a:pt x="0" y="0"/>
                  </a:moveTo>
                  <a:lnTo>
                    <a:pt x="177721" y="0"/>
                  </a:lnTo>
                  <a:lnTo>
                    <a:pt x="177721" y="177721"/>
                  </a:lnTo>
                  <a:lnTo>
                    <a:pt x="0" y="1777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6" name="object 176"/>
            <p:cNvSpPr/>
            <p:nvPr/>
          </p:nvSpPr>
          <p:spPr>
            <a:xfrm>
              <a:off x="2253716" y="4437264"/>
              <a:ext cx="177800" cy="177800"/>
            </a:xfrm>
            <a:custGeom>
              <a:avLst/>
              <a:gdLst/>
              <a:ahLst/>
              <a:cxnLst/>
              <a:rect l="l" t="t" r="r" b="b"/>
              <a:pathLst>
                <a:path w="177800" h="177800">
                  <a:moveTo>
                    <a:pt x="0" y="0"/>
                  </a:moveTo>
                  <a:lnTo>
                    <a:pt x="177721" y="0"/>
                  </a:lnTo>
                  <a:lnTo>
                    <a:pt x="177721" y="177721"/>
                  </a:lnTo>
                  <a:lnTo>
                    <a:pt x="0" y="177721"/>
                  </a:lnTo>
                  <a:lnTo>
                    <a:pt x="0" y="0"/>
                  </a:lnTo>
                  <a:close/>
                </a:path>
              </a:pathLst>
            </a:custGeom>
            <a:ln w="59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7" name="object 177"/>
          <p:cNvSpPr txBox="1"/>
          <p:nvPr/>
        </p:nvSpPr>
        <p:spPr>
          <a:xfrm>
            <a:off x="2253716" y="4437264"/>
            <a:ext cx="177800" cy="17780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51435">
              <a:lnSpc>
                <a:spcPct val="100000"/>
              </a:lnSpc>
              <a:spcBef>
                <a:spcPts val="135"/>
              </a:spcBef>
            </a:pPr>
            <a:r>
              <a:rPr dirty="0" sz="750" spc="-5">
                <a:latin typeface="Lucida Sans"/>
                <a:cs typeface="Lucida Sans"/>
              </a:rPr>
              <a:t>O</a:t>
            </a:r>
            <a:endParaRPr sz="750">
              <a:latin typeface="Lucida Sans"/>
              <a:cs typeface="Lucida Sans"/>
            </a:endParaRPr>
          </a:p>
        </p:txBody>
      </p:sp>
      <p:grpSp>
        <p:nvGrpSpPr>
          <p:cNvPr id="178" name="object 178"/>
          <p:cNvGrpSpPr/>
          <p:nvPr/>
        </p:nvGrpSpPr>
        <p:grpSpPr>
          <a:xfrm>
            <a:off x="2617831" y="4434089"/>
            <a:ext cx="369570" cy="184150"/>
            <a:chOff x="2617831" y="4434089"/>
            <a:chExt cx="369570" cy="184150"/>
          </a:xfrm>
        </p:grpSpPr>
        <p:sp>
          <p:nvSpPr>
            <p:cNvPr id="179" name="object 179"/>
            <p:cNvSpPr/>
            <p:nvPr/>
          </p:nvSpPr>
          <p:spPr>
            <a:xfrm>
              <a:off x="2800149" y="4526124"/>
              <a:ext cx="156845" cy="0"/>
            </a:xfrm>
            <a:custGeom>
              <a:avLst/>
              <a:gdLst/>
              <a:ahLst/>
              <a:cxnLst/>
              <a:rect l="l" t="t" r="r" b="b"/>
              <a:pathLst>
                <a:path w="156844" h="0">
                  <a:moveTo>
                    <a:pt x="156441" y="1"/>
                  </a:moveTo>
                  <a:lnTo>
                    <a:pt x="151998" y="1"/>
                  </a:lnTo>
                  <a:lnTo>
                    <a:pt x="113998" y="0"/>
                  </a:lnTo>
                  <a:lnTo>
                    <a:pt x="75999" y="0"/>
                  </a:lnTo>
                  <a:lnTo>
                    <a:pt x="37999" y="0"/>
                  </a:lnTo>
                  <a:lnTo>
                    <a:pt x="0" y="0"/>
                  </a:lnTo>
                </a:path>
              </a:pathLst>
            </a:custGeom>
            <a:ln w="88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0" name="object 180"/>
            <p:cNvSpPr/>
            <p:nvPr/>
          </p:nvSpPr>
          <p:spPr>
            <a:xfrm>
              <a:off x="2940595" y="4503022"/>
              <a:ext cx="46355" cy="46355"/>
            </a:xfrm>
            <a:custGeom>
              <a:avLst/>
              <a:gdLst/>
              <a:ahLst/>
              <a:cxnLst/>
              <a:rect l="l" t="t" r="r" b="b"/>
              <a:pathLst>
                <a:path w="46355" h="46354">
                  <a:moveTo>
                    <a:pt x="0" y="0"/>
                  </a:moveTo>
                  <a:lnTo>
                    <a:pt x="11552" y="23103"/>
                  </a:lnTo>
                  <a:lnTo>
                    <a:pt x="1" y="46207"/>
                  </a:lnTo>
                  <a:lnTo>
                    <a:pt x="46208" y="231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1" name="object 181"/>
            <p:cNvSpPr/>
            <p:nvPr/>
          </p:nvSpPr>
          <p:spPr>
            <a:xfrm>
              <a:off x="2621006" y="4437263"/>
              <a:ext cx="177800" cy="177800"/>
            </a:xfrm>
            <a:custGeom>
              <a:avLst/>
              <a:gdLst/>
              <a:ahLst/>
              <a:cxnLst/>
              <a:rect l="l" t="t" r="r" b="b"/>
              <a:pathLst>
                <a:path w="177800" h="177800">
                  <a:moveTo>
                    <a:pt x="0" y="0"/>
                  </a:moveTo>
                  <a:lnTo>
                    <a:pt x="177721" y="0"/>
                  </a:lnTo>
                  <a:lnTo>
                    <a:pt x="177721" y="177721"/>
                  </a:lnTo>
                  <a:lnTo>
                    <a:pt x="0" y="1777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2" name="object 182"/>
            <p:cNvSpPr/>
            <p:nvPr/>
          </p:nvSpPr>
          <p:spPr>
            <a:xfrm>
              <a:off x="2621006" y="4437264"/>
              <a:ext cx="177800" cy="177800"/>
            </a:xfrm>
            <a:custGeom>
              <a:avLst/>
              <a:gdLst/>
              <a:ahLst/>
              <a:cxnLst/>
              <a:rect l="l" t="t" r="r" b="b"/>
              <a:pathLst>
                <a:path w="177800" h="177800">
                  <a:moveTo>
                    <a:pt x="0" y="0"/>
                  </a:moveTo>
                  <a:lnTo>
                    <a:pt x="177721" y="0"/>
                  </a:lnTo>
                  <a:lnTo>
                    <a:pt x="177721" y="177721"/>
                  </a:lnTo>
                  <a:lnTo>
                    <a:pt x="0" y="177721"/>
                  </a:lnTo>
                  <a:lnTo>
                    <a:pt x="0" y="0"/>
                  </a:lnTo>
                  <a:close/>
                </a:path>
              </a:pathLst>
            </a:custGeom>
            <a:ln w="59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3" name="object 183"/>
          <p:cNvSpPr txBox="1"/>
          <p:nvPr/>
        </p:nvSpPr>
        <p:spPr>
          <a:xfrm>
            <a:off x="2621006" y="4437264"/>
            <a:ext cx="177800" cy="17780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47625">
              <a:lnSpc>
                <a:spcPct val="100000"/>
              </a:lnSpc>
              <a:spcBef>
                <a:spcPts val="135"/>
              </a:spcBef>
            </a:pPr>
            <a:r>
              <a:rPr dirty="0" sz="750" spc="-5">
                <a:latin typeface="Lucida Sans"/>
                <a:cs typeface="Lucida Sans"/>
              </a:rPr>
              <a:t>M</a:t>
            </a:r>
            <a:endParaRPr sz="750">
              <a:latin typeface="Lucida Sans"/>
              <a:cs typeface="Lucida Sans"/>
            </a:endParaRPr>
          </a:p>
        </p:txBody>
      </p:sp>
      <p:grpSp>
        <p:nvGrpSpPr>
          <p:cNvPr id="184" name="object 184"/>
          <p:cNvGrpSpPr/>
          <p:nvPr/>
        </p:nvGrpSpPr>
        <p:grpSpPr>
          <a:xfrm>
            <a:off x="2985121" y="4434089"/>
            <a:ext cx="369570" cy="184150"/>
            <a:chOff x="2985121" y="4434089"/>
            <a:chExt cx="369570" cy="184150"/>
          </a:xfrm>
        </p:grpSpPr>
        <p:sp>
          <p:nvSpPr>
            <p:cNvPr id="185" name="object 185"/>
            <p:cNvSpPr/>
            <p:nvPr/>
          </p:nvSpPr>
          <p:spPr>
            <a:xfrm>
              <a:off x="3167510" y="4526124"/>
              <a:ext cx="145415" cy="0"/>
            </a:xfrm>
            <a:custGeom>
              <a:avLst/>
              <a:gdLst/>
              <a:ahLst/>
              <a:cxnLst/>
              <a:rect l="l" t="t" r="r" b="b"/>
              <a:pathLst>
                <a:path w="145414" h="0">
                  <a:moveTo>
                    <a:pt x="0" y="0"/>
                  </a:moveTo>
                  <a:lnTo>
                    <a:pt x="35111" y="0"/>
                  </a:lnTo>
                  <a:lnTo>
                    <a:pt x="70223" y="0"/>
                  </a:lnTo>
                  <a:lnTo>
                    <a:pt x="105335" y="0"/>
                  </a:lnTo>
                  <a:lnTo>
                    <a:pt x="140447" y="0"/>
                  </a:lnTo>
                  <a:lnTo>
                    <a:pt x="144890" y="0"/>
                  </a:lnTo>
                </a:path>
              </a:pathLst>
            </a:custGeom>
            <a:ln w="88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6" name="object 186"/>
            <p:cNvSpPr/>
            <p:nvPr/>
          </p:nvSpPr>
          <p:spPr>
            <a:xfrm>
              <a:off x="3307957" y="4503020"/>
              <a:ext cx="46355" cy="46355"/>
            </a:xfrm>
            <a:custGeom>
              <a:avLst/>
              <a:gdLst/>
              <a:ahLst/>
              <a:cxnLst/>
              <a:rect l="l" t="t" r="r" b="b"/>
              <a:pathLst>
                <a:path w="46354" h="46354">
                  <a:moveTo>
                    <a:pt x="0" y="0"/>
                  </a:moveTo>
                  <a:lnTo>
                    <a:pt x="0" y="46207"/>
                  </a:lnTo>
                  <a:lnTo>
                    <a:pt x="46206" y="23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7" name="object 187"/>
            <p:cNvSpPr/>
            <p:nvPr/>
          </p:nvSpPr>
          <p:spPr>
            <a:xfrm>
              <a:off x="2988296" y="4437263"/>
              <a:ext cx="177800" cy="177800"/>
            </a:xfrm>
            <a:custGeom>
              <a:avLst/>
              <a:gdLst/>
              <a:ahLst/>
              <a:cxnLst/>
              <a:rect l="l" t="t" r="r" b="b"/>
              <a:pathLst>
                <a:path w="177800" h="177800">
                  <a:moveTo>
                    <a:pt x="0" y="0"/>
                  </a:moveTo>
                  <a:lnTo>
                    <a:pt x="177721" y="0"/>
                  </a:lnTo>
                  <a:lnTo>
                    <a:pt x="177721" y="177721"/>
                  </a:lnTo>
                  <a:lnTo>
                    <a:pt x="0" y="1777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8" name="object 188"/>
            <p:cNvSpPr/>
            <p:nvPr/>
          </p:nvSpPr>
          <p:spPr>
            <a:xfrm>
              <a:off x="2988296" y="4437264"/>
              <a:ext cx="177800" cy="177800"/>
            </a:xfrm>
            <a:custGeom>
              <a:avLst/>
              <a:gdLst/>
              <a:ahLst/>
              <a:cxnLst/>
              <a:rect l="l" t="t" r="r" b="b"/>
              <a:pathLst>
                <a:path w="177800" h="177800">
                  <a:moveTo>
                    <a:pt x="0" y="0"/>
                  </a:moveTo>
                  <a:lnTo>
                    <a:pt x="177721" y="0"/>
                  </a:lnTo>
                  <a:lnTo>
                    <a:pt x="177721" y="177721"/>
                  </a:lnTo>
                  <a:lnTo>
                    <a:pt x="0" y="177721"/>
                  </a:lnTo>
                  <a:lnTo>
                    <a:pt x="0" y="0"/>
                  </a:lnTo>
                  <a:close/>
                </a:path>
              </a:pathLst>
            </a:custGeom>
            <a:ln w="59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9" name="object 189"/>
          <p:cNvSpPr txBox="1"/>
          <p:nvPr/>
        </p:nvSpPr>
        <p:spPr>
          <a:xfrm>
            <a:off x="2988296" y="4437264"/>
            <a:ext cx="177800" cy="17780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53975">
              <a:lnSpc>
                <a:spcPct val="100000"/>
              </a:lnSpc>
              <a:spcBef>
                <a:spcPts val="135"/>
              </a:spcBef>
            </a:pPr>
            <a:r>
              <a:rPr dirty="0" sz="750" spc="-5">
                <a:latin typeface="Lucida Sans"/>
                <a:cs typeface="Lucida Sans"/>
              </a:rPr>
              <a:t>H</a:t>
            </a:r>
            <a:endParaRPr sz="750">
              <a:latin typeface="Lucida Sans"/>
              <a:cs typeface="Lucida Sans"/>
            </a:endParaRPr>
          </a:p>
        </p:txBody>
      </p:sp>
      <p:grpSp>
        <p:nvGrpSpPr>
          <p:cNvPr id="190" name="object 190"/>
          <p:cNvGrpSpPr/>
          <p:nvPr/>
        </p:nvGrpSpPr>
        <p:grpSpPr>
          <a:xfrm>
            <a:off x="3352411" y="4434089"/>
            <a:ext cx="369570" cy="184150"/>
            <a:chOff x="3352411" y="4434089"/>
            <a:chExt cx="369570" cy="184150"/>
          </a:xfrm>
        </p:grpSpPr>
        <p:sp>
          <p:nvSpPr>
            <p:cNvPr id="191" name="object 191"/>
            <p:cNvSpPr/>
            <p:nvPr/>
          </p:nvSpPr>
          <p:spPr>
            <a:xfrm>
              <a:off x="3534801" y="4526124"/>
              <a:ext cx="145415" cy="0"/>
            </a:xfrm>
            <a:custGeom>
              <a:avLst/>
              <a:gdLst/>
              <a:ahLst/>
              <a:cxnLst/>
              <a:rect l="l" t="t" r="r" b="b"/>
              <a:pathLst>
                <a:path w="145414" h="0">
                  <a:moveTo>
                    <a:pt x="0" y="0"/>
                  </a:moveTo>
                  <a:lnTo>
                    <a:pt x="35111" y="0"/>
                  </a:lnTo>
                  <a:lnTo>
                    <a:pt x="70222" y="0"/>
                  </a:lnTo>
                  <a:lnTo>
                    <a:pt x="105334" y="0"/>
                  </a:lnTo>
                  <a:lnTo>
                    <a:pt x="140445" y="0"/>
                  </a:lnTo>
                  <a:lnTo>
                    <a:pt x="144889" y="0"/>
                  </a:lnTo>
                </a:path>
              </a:pathLst>
            </a:custGeom>
            <a:ln w="88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2" name="object 192"/>
            <p:cNvSpPr/>
            <p:nvPr/>
          </p:nvSpPr>
          <p:spPr>
            <a:xfrm>
              <a:off x="3675247" y="4503021"/>
              <a:ext cx="46355" cy="46355"/>
            </a:xfrm>
            <a:custGeom>
              <a:avLst/>
              <a:gdLst/>
              <a:ahLst/>
              <a:cxnLst/>
              <a:rect l="l" t="t" r="r" b="b"/>
              <a:pathLst>
                <a:path w="46354" h="46354">
                  <a:moveTo>
                    <a:pt x="0" y="0"/>
                  </a:moveTo>
                  <a:lnTo>
                    <a:pt x="0" y="46207"/>
                  </a:lnTo>
                  <a:lnTo>
                    <a:pt x="46207" y="23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3" name="object 193"/>
            <p:cNvSpPr/>
            <p:nvPr/>
          </p:nvSpPr>
          <p:spPr>
            <a:xfrm>
              <a:off x="3355586" y="4437263"/>
              <a:ext cx="177800" cy="177800"/>
            </a:xfrm>
            <a:custGeom>
              <a:avLst/>
              <a:gdLst/>
              <a:ahLst/>
              <a:cxnLst/>
              <a:rect l="l" t="t" r="r" b="b"/>
              <a:pathLst>
                <a:path w="177800" h="177800">
                  <a:moveTo>
                    <a:pt x="0" y="0"/>
                  </a:moveTo>
                  <a:lnTo>
                    <a:pt x="177721" y="0"/>
                  </a:lnTo>
                  <a:lnTo>
                    <a:pt x="177721" y="177721"/>
                  </a:lnTo>
                  <a:lnTo>
                    <a:pt x="0" y="1777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4" name="object 194"/>
            <p:cNvSpPr/>
            <p:nvPr/>
          </p:nvSpPr>
          <p:spPr>
            <a:xfrm>
              <a:off x="3355586" y="4437264"/>
              <a:ext cx="177800" cy="177800"/>
            </a:xfrm>
            <a:custGeom>
              <a:avLst/>
              <a:gdLst/>
              <a:ahLst/>
              <a:cxnLst/>
              <a:rect l="l" t="t" r="r" b="b"/>
              <a:pathLst>
                <a:path w="177800" h="177800">
                  <a:moveTo>
                    <a:pt x="0" y="0"/>
                  </a:moveTo>
                  <a:lnTo>
                    <a:pt x="177721" y="0"/>
                  </a:lnTo>
                  <a:lnTo>
                    <a:pt x="177721" y="177721"/>
                  </a:lnTo>
                  <a:lnTo>
                    <a:pt x="0" y="177721"/>
                  </a:lnTo>
                  <a:lnTo>
                    <a:pt x="0" y="0"/>
                  </a:lnTo>
                  <a:close/>
                </a:path>
              </a:pathLst>
            </a:custGeom>
            <a:ln w="59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5" name="object 195"/>
          <p:cNvSpPr txBox="1"/>
          <p:nvPr/>
        </p:nvSpPr>
        <p:spPr>
          <a:xfrm>
            <a:off x="3355587" y="4437264"/>
            <a:ext cx="177800" cy="17780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53975">
              <a:lnSpc>
                <a:spcPct val="100000"/>
              </a:lnSpc>
              <a:spcBef>
                <a:spcPts val="135"/>
              </a:spcBef>
            </a:pPr>
            <a:r>
              <a:rPr dirty="0" sz="750" spc="-5">
                <a:latin typeface="Lucida Sans"/>
                <a:cs typeface="Lucida Sans"/>
              </a:rPr>
              <a:t>G</a:t>
            </a:r>
            <a:endParaRPr sz="750">
              <a:latin typeface="Lucida Sans"/>
              <a:cs typeface="Lucida Sans"/>
            </a:endParaRPr>
          </a:p>
        </p:txBody>
      </p:sp>
      <p:grpSp>
        <p:nvGrpSpPr>
          <p:cNvPr id="196" name="object 196"/>
          <p:cNvGrpSpPr/>
          <p:nvPr/>
        </p:nvGrpSpPr>
        <p:grpSpPr>
          <a:xfrm>
            <a:off x="3719702" y="4434089"/>
            <a:ext cx="184150" cy="184150"/>
            <a:chOff x="3719702" y="4434089"/>
            <a:chExt cx="184150" cy="184150"/>
          </a:xfrm>
        </p:grpSpPr>
        <p:sp>
          <p:nvSpPr>
            <p:cNvPr id="197" name="object 197"/>
            <p:cNvSpPr/>
            <p:nvPr/>
          </p:nvSpPr>
          <p:spPr>
            <a:xfrm>
              <a:off x="3722877" y="4437263"/>
              <a:ext cx="177800" cy="177800"/>
            </a:xfrm>
            <a:custGeom>
              <a:avLst/>
              <a:gdLst/>
              <a:ahLst/>
              <a:cxnLst/>
              <a:rect l="l" t="t" r="r" b="b"/>
              <a:pathLst>
                <a:path w="177800" h="177800">
                  <a:moveTo>
                    <a:pt x="0" y="0"/>
                  </a:moveTo>
                  <a:lnTo>
                    <a:pt x="177721" y="0"/>
                  </a:lnTo>
                  <a:lnTo>
                    <a:pt x="177721" y="177721"/>
                  </a:lnTo>
                  <a:lnTo>
                    <a:pt x="0" y="1777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8" name="object 198"/>
            <p:cNvSpPr/>
            <p:nvPr/>
          </p:nvSpPr>
          <p:spPr>
            <a:xfrm>
              <a:off x="3722877" y="4437264"/>
              <a:ext cx="177800" cy="177800"/>
            </a:xfrm>
            <a:custGeom>
              <a:avLst/>
              <a:gdLst/>
              <a:ahLst/>
              <a:cxnLst/>
              <a:rect l="l" t="t" r="r" b="b"/>
              <a:pathLst>
                <a:path w="177800" h="177800">
                  <a:moveTo>
                    <a:pt x="0" y="0"/>
                  </a:moveTo>
                  <a:lnTo>
                    <a:pt x="177721" y="0"/>
                  </a:lnTo>
                  <a:lnTo>
                    <a:pt x="177721" y="177721"/>
                  </a:lnTo>
                  <a:lnTo>
                    <a:pt x="0" y="177721"/>
                  </a:lnTo>
                  <a:lnTo>
                    <a:pt x="0" y="0"/>
                  </a:lnTo>
                  <a:close/>
                </a:path>
              </a:pathLst>
            </a:custGeom>
            <a:ln w="59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9" name="object 199"/>
          <p:cNvSpPr txBox="1"/>
          <p:nvPr/>
        </p:nvSpPr>
        <p:spPr>
          <a:xfrm>
            <a:off x="3763540" y="4442336"/>
            <a:ext cx="96520" cy="1397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50" spc="-5">
                <a:latin typeface="Lucida Sans"/>
                <a:cs typeface="Lucida Sans"/>
              </a:rPr>
              <a:t>D</a:t>
            </a:r>
            <a:endParaRPr sz="750">
              <a:latin typeface="Lucida Sans"/>
              <a:cs typeface="Lucida Sans"/>
            </a:endParaRPr>
          </a:p>
        </p:txBody>
      </p:sp>
      <p:grpSp>
        <p:nvGrpSpPr>
          <p:cNvPr id="200" name="object 200"/>
          <p:cNvGrpSpPr/>
          <p:nvPr/>
        </p:nvGrpSpPr>
        <p:grpSpPr>
          <a:xfrm>
            <a:off x="3719914" y="3770810"/>
            <a:ext cx="184150" cy="184150"/>
            <a:chOff x="3719914" y="3770810"/>
            <a:chExt cx="184150" cy="184150"/>
          </a:xfrm>
        </p:grpSpPr>
        <p:sp>
          <p:nvSpPr>
            <p:cNvPr id="201" name="object 201"/>
            <p:cNvSpPr/>
            <p:nvPr/>
          </p:nvSpPr>
          <p:spPr>
            <a:xfrm>
              <a:off x="3722876" y="3773772"/>
              <a:ext cx="177800" cy="177800"/>
            </a:xfrm>
            <a:custGeom>
              <a:avLst/>
              <a:gdLst/>
              <a:ahLst/>
              <a:cxnLst/>
              <a:rect l="l" t="t" r="r" b="b"/>
              <a:pathLst>
                <a:path w="177800" h="177800">
                  <a:moveTo>
                    <a:pt x="0" y="0"/>
                  </a:moveTo>
                  <a:lnTo>
                    <a:pt x="177721" y="0"/>
                  </a:lnTo>
                  <a:lnTo>
                    <a:pt x="177721" y="177721"/>
                  </a:lnTo>
                  <a:lnTo>
                    <a:pt x="0" y="1777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2" name="object 202"/>
            <p:cNvSpPr/>
            <p:nvPr/>
          </p:nvSpPr>
          <p:spPr>
            <a:xfrm>
              <a:off x="3722876" y="3773772"/>
              <a:ext cx="177800" cy="177800"/>
            </a:xfrm>
            <a:custGeom>
              <a:avLst/>
              <a:gdLst/>
              <a:ahLst/>
              <a:cxnLst/>
              <a:rect l="l" t="t" r="r" b="b"/>
              <a:pathLst>
                <a:path w="177800" h="177800">
                  <a:moveTo>
                    <a:pt x="0" y="0"/>
                  </a:moveTo>
                  <a:lnTo>
                    <a:pt x="177721" y="0"/>
                  </a:lnTo>
                  <a:lnTo>
                    <a:pt x="177721" y="177721"/>
                  </a:lnTo>
                  <a:lnTo>
                    <a:pt x="0" y="177721"/>
                  </a:lnTo>
                  <a:lnTo>
                    <a:pt x="0" y="0"/>
                  </a:lnTo>
                  <a:close/>
                </a:path>
              </a:pathLst>
            </a:custGeom>
            <a:ln w="59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3" name="object 203"/>
          <p:cNvSpPr txBox="1"/>
          <p:nvPr/>
        </p:nvSpPr>
        <p:spPr>
          <a:xfrm>
            <a:off x="3766336" y="3778844"/>
            <a:ext cx="90805" cy="1397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50" spc="-5">
                <a:latin typeface="Lucida Sans"/>
                <a:cs typeface="Lucida Sans"/>
              </a:rPr>
              <a:t>A</a:t>
            </a:r>
            <a:endParaRPr sz="750">
              <a:latin typeface="Lucida Sans"/>
              <a:cs typeface="Lucida Sans"/>
            </a:endParaRPr>
          </a:p>
        </p:txBody>
      </p:sp>
      <p:sp>
        <p:nvSpPr>
          <p:cNvPr id="204" name="object 204"/>
          <p:cNvSpPr txBox="1"/>
          <p:nvPr/>
        </p:nvSpPr>
        <p:spPr>
          <a:xfrm>
            <a:off x="4068664" y="1552591"/>
            <a:ext cx="1416685" cy="2984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65735" marR="5080" indent="-153670">
              <a:lnSpc>
                <a:spcPct val="119200"/>
              </a:lnSpc>
              <a:spcBef>
                <a:spcPts val="100"/>
              </a:spcBef>
            </a:pPr>
            <a:r>
              <a:rPr dirty="0" sz="650">
                <a:solidFill>
                  <a:srgbClr val="8D3124"/>
                </a:solidFill>
                <a:latin typeface="Lucida Sans Typewriter"/>
                <a:cs typeface="Lucida Sans Typewriter"/>
              </a:rPr>
              <a:t>x.hashCode()</a:t>
            </a:r>
            <a:r>
              <a:rPr dirty="0" sz="650" spc="-160">
                <a:solidFill>
                  <a:srgbClr val="8D3124"/>
                </a:solidFill>
                <a:latin typeface="Lucida Sans Typewriter"/>
                <a:cs typeface="Lucida Sans Typewriter"/>
              </a:rPr>
              <a:t> </a:t>
            </a:r>
            <a:r>
              <a:rPr dirty="0" sz="750" spc="-5">
                <a:solidFill>
                  <a:srgbClr val="8D3124"/>
                </a:solidFill>
                <a:latin typeface="Lucida Sans"/>
                <a:cs typeface="Lucida Sans"/>
              </a:rPr>
              <a:t>does</a:t>
            </a:r>
            <a:r>
              <a:rPr dirty="0" sz="750" spc="-5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dirty="0" sz="750" spc="-5">
                <a:solidFill>
                  <a:srgbClr val="8D3124"/>
                </a:solidFill>
                <a:latin typeface="Lucida Sans"/>
                <a:cs typeface="Lucida Sans"/>
              </a:rPr>
              <a:t>not</a:t>
            </a:r>
            <a:r>
              <a:rPr dirty="0" sz="750" spc="-5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dirty="0" sz="750" spc="-5">
                <a:solidFill>
                  <a:srgbClr val="8D3124"/>
                </a:solidFill>
                <a:latin typeface="Lucida Sans"/>
                <a:cs typeface="Lucida Sans"/>
              </a:rPr>
              <a:t>change  </a:t>
            </a:r>
            <a:r>
              <a:rPr dirty="0" sz="750" spc="-5">
                <a:solidFill>
                  <a:srgbClr val="8D3124"/>
                </a:solidFill>
                <a:latin typeface="Lucida Sans"/>
                <a:cs typeface="Lucida Sans"/>
              </a:rPr>
              <a:t>but</a:t>
            </a:r>
            <a:r>
              <a:rPr dirty="0" sz="750" spc="-5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dirty="0" sz="650">
                <a:solidFill>
                  <a:srgbClr val="8D3124"/>
                </a:solidFill>
                <a:latin typeface="Lucida Sans Typewriter"/>
                <a:cs typeface="Lucida Sans Typewriter"/>
              </a:rPr>
              <a:t>hash(x)</a:t>
            </a:r>
            <a:r>
              <a:rPr dirty="0" sz="650" spc="-160">
                <a:solidFill>
                  <a:srgbClr val="8D3124"/>
                </a:solidFill>
                <a:latin typeface="Lucida Sans Typewriter"/>
                <a:cs typeface="Lucida Sans Typewriter"/>
              </a:rPr>
              <a:t> </a:t>
            </a:r>
            <a:r>
              <a:rPr dirty="0" sz="750" spc="-5">
                <a:solidFill>
                  <a:srgbClr val="8D3124"/>
                </a:solidFill>
                <a:latin typeface="Lucida Sans"/>
                <a:cs typeface="Lucida Sans"/>
              </a:rPr>
              <a:t>can</a:t>
            </a:r>
            <a:r>
              <a:rPr dirty="0" sz="750" spc="-5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dirty="0" sz="750" spc="-5">
                <a:solidFill>
                  <a:srgbClr val="8D3124"/>
                </a:solidFill>
                <a:latin typeface="Lucida Sans"/>
                <a:cs typeface="Lucida Sans"/>
              </a:rPr>
              <a:t>change</a:t>
            </a:r>
            <a:endParaRPr sz="750">
              <a:latin typeface="Lucida Sans"/>
              <a:cs typeface="Lucida Sans"/>
            </a:endParaRPr>
          </a:p>
        </p:txBody>
      </p:sp>
      <p:grpSp>
        <p:nvGrpSpPr>
          <p:cNvPr id="205" name="object 205"/>
          <p:cNvGrpSpPr/>
          <p:nvPr/>
        </p:nvGrpSpPr>
        <p:grpSpPr>
          <a:xfrm>
            <a:off x="3764345" y="1636379"/>
            <a:ext cx="260985" cy="57150"/>
            <a:chOff x="3764345" y="1636379"/>
            <a:chExt cx="260985" cy="57150"/>
          </a:xfrm>
        </p:grpSpPr>
        <p:sp>
          <p:nvSpPr>
            <p:cNvPr id="206" name="object 206"/>
            <p:cNvSpPr/>
            <p:nvPr/>
          </p:nvSpPr>
          <p:spPr>
            <a:xfrm>
              <a:off x="3801074" y="1664815"/>
              <a:ext cx="224154" cy="0"/>
            </a:xfrm>
            <a:custGeom>
              <a:avLst/>
              <a:gdLst/>
              <a:ahLst/>
              <a:cxnLst/>
              <a:rect l="l" t="t" r="r" b="b"/>
              <a:pathLst>
                <a:path w="224154" h="0">
                  <a:moveTo>
                    <a:pt x="0" y="0"/>
                  </a:moveTo>
                  <a:lnTo>
                    <a:pt x="5924" y="0"/>
                  </a:lnTo>
                  <a:lnTo>
                    <a:pt x="223795" y="0"/>
                  </a:lnTo>
                </a:path>
              </a:pathLst>
            </a:custGeom>
            <a:ln w="11848">
              <a:solidFill>
                <a:srgbClr val="8D312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7" name="object 207"/>
            <p:cNvSpPr/>
            <p:nvPr/>
          </p:nvSpPr>
          <p:spPr>
            <a:xfrm>
              <a:off x="3764345" y="1636379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>
                  <a:moveTo>
                    <a:pt x="56870" y="0"/>
                  </a:moveTo>
                  <a:lnTo>
                    <a:pt x="0" y="28435"/>
                  </a:lnTo>
                  <a:lnTo>
                    <a:pt x="56870" y="56870"/>
                  </a:lnTo>
                  <a:lnTo>
                    <a:pt x="42652" y="28435"/>
                  </a:lnTo>
                  <a:lnTo>
                    <a:pt x="56870" y="0"/>
                  </a:lnTo>
                  <a:close/>
                </a:path>
              </a:pathLst>
            </a:custGeom>
            <a:solidFill>
              <a:srgbClr val="8D312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8" name="object 208"/>
          <p:cNvSpPr txBox="1"/>
          <p:nvPr/>
        </p:nvSpPr>
        <p:spPr>
          <a:xfrm>
            <a:off x="1581210" y="2368924"/>
            <a:ext cx="225425" cy="1250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50">
                <a:solidFill>
                  <a:srgbClr val="8D3124"/>
                </a:solidFill>
                <a:latin typeface="Lucida Sans Typewriter"/>
                <a:cs typeface="Lucida Sans Typewriter"/>
              </a:rPr>
              <a:t>st[]</a:t>
            </a:r>
            <a:endParaRPr sz="650">
              <a:latin typeface="Lucida Sans Typewriter"/>
              <a:cs typeface="Lucida Sans Typewriter"/>
            </a:endParaRPr>
          </a:p>
        </p:txBody>
      </p:sp>
      <p:sp>
        <p:nvSpPr>
          <p:cNvPr id="209" name="object 209"/>
          <p:cNvSpPr txBox="1"/>
          <p:nvPr/>
        </p:nvSpPr>
        <p:spPr>
          <a:xfrm>
            <a:off x="1587134" y="3506338"/>
            <a:ext cx="225425" cy="1250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50">
                <a:solidFill>
                  <a:srgbClr val="8D3124"/>
                </a:solidFill>
                <a:latin typeface="Lucida Sans Typewriter"/>
                <a:cs typeface="Lucida Sans Typewriter"/>
              </a:rPr>
              <a:t>st[]</a:t>
            </a:r>
            <a:endParaRPr sz="650">
              <a:latin typeface="Lucida Sans Typewriter"/>
              <a:cs typeface="Lucida Sans Typewriter"/>
            </a:endParaRPr>
          </a:p>
        </p:txBody>
      </p:sp>
      <p:grpSp>
        <p:nvGrpSpPr>
          <p:cNvPr id="210" name="object 210"/>
          <p:cNvGrpSpPr/>
          <p:nvPr/>
        </p:nvGrpSpPr>
        <p:grpSpPr>
          <a:xfrm>
            <a:off x="6592379" y="237122"/>
            <a:ext cx="6066790" cy="4549775"/>
            <a:chOff x="6592379" y="237122"/>
            <a:chExt cx="6066790" cy="4549775"/>
          </a:xfrm>
        </p:grpSpPr>
        <p:sp>
          <p:nvSpPr>
            <p:cNvPr id="211" name="object 211"/>
            <p:cNvSpPr/>
            <p:nvPr/>
          </p:nvSpPr>
          <p:spPr>
            <a:xfrm>
              <a:off x="6592379" y="237122"/>
              <a:ext cx="6066790" cy="4549775"/>
            </a:xfrm>
            <a:custGeom>
              <a:avLst/>
              <a:gdLst/>
              <a:ahLst/>
              <a:cxnLst/>
              <a:rect l="l" t="t" r="r" b="b"/>
              <a:pathLst>
                <a:path w="6066790" h="4549775">
                  <a:moveTo>
                    <a:pt x="0" y="0"/>
                  </a:moveTo>
                  <a:lnTo>
                    <a:pt x="6066212" y="0"/>
                  </a:lnTo>
                  <a:lnTo>
                    <a:pt x="6066212" y="4549659"/>
                  </a:lnTo>
                  <a:lnTo>
                    <a:pt x="0" y="45496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2" name="object 212"/>
            <p:cNvSpPr/>
            <p:nvPr/>
          </p:nvSpPr>
          <p:spPr>
            <a:xfrm>
              <a:off x="6977442" y="699147"/>
              <a:ext cx="5302250" cy="635"/>
            </a:xfrm>
            <a:custGeom>
              <a:avLst/>
              <a:gdLst/>
              <a:ahLst/>
              <a:cxnLst/>
              <a:rect l="l" t="t" r="r" b="b"/>
              <a:pathLst>
                <a:path w="5302250" h="634">
                  <a:moveTo>
                    <a:pt x="0" y="49"/>
                  </a:moveTo>
                  <a:lnTo>
                    <a:pt x="5302012" y="0"/>
                  </a:lnTo>
                </a:path>
              </a:pathLst>
            </a:custGeom>
            <a:ln w="59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3" name="object 213"/>
          <p:cNvSpPr txBox="1"/>
          <p:nvPr/>
        </p:nvSpPr>
        <p:spPr>
          <a:xfrm>
            <a:off x="6998899" y="797869"/>
            <a:ext cx="3481704" cy="487680"/>
          </a:xfrm>
          <a:prstGeom prst="rect">
            <a:avLst/>
          </a:prstGeom>
        </p:spPr>
        <p:txBody>
          <a:bodyPr wrap="square" lIns="0" tIns="755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595"/>
              </a:spcBef>
            </a:pPr>
            <a:r>
              <a:rPr dirty="0" sz="1100" spc="10">
                <a:solidFill>
                  <a:srgbClr val="005493"/>
                </a:solidFill>
                <a:latin typeface="Lucida Sans"/>
                <a:cs typeface="Lucida Sans"/>
              </a:rPr>
              <a:t>Q.</a:t>
            </a:r>
            <a:r>
              <a:rPr dirty="0" sz="1100" spc="355">
                <a:solidFill>
                  <a:srgbClr val="005493"/>
                </a:solidFill>
                <a:latin typeface="Lucida Sans"/>
                <a:cs typeface="Lucida Sans"/>
              </a:rPr>
              <a:t> </a:t>
            </a:r>
            <a:r>
              <a:rPr dirty="0" sz="1100" spc="35">
                <a:latin typeface="Lucida Sans"/>
                <a:cs typeface="Lucida Sans"/>
              </a:rPr>
              <a:t>How</a:t>
            </a:r>
            <a:r>
              <a:rPr dirty="0" sz="1100" spc="5">
                <a:latin typeface="Lucida Sans"/>
                <a:cs typeface="Lucida Sans"/>
              </a:rPr>
              <a:t> to delete </a:t>
            </a:r>
            <a:r>
              <a:rPr dirty="0" sz="1100" spc="10">
                <a:latin typeface="Lucida Sans"/>
                <a:cs typeface="Lucida Sans"/>
              </a:rPr>
              <a:t>a</a:t>
            </a:r>
            <a:r>
              <a:rPr dirty="0" sz="1100" spc="5">
                <a:latin typeface="Lucida Sans"/>
                <a:cs typeface="Lucida Sans"/>
              </a:rPr>
              <a:t> </a:t>
            </a:r>
            <a:r>
              <a:rPr dirty="0" sz="1100" spc="25">
                <a:latin typeface="Lucida Sans"/>
                <a:cs typeface="Lucida Sans"/>
              </a:rPr>
              <a:t>key</a:t>
            </a:r>
            <a:r>
              <a:rPr dirty="0" sz="1100">
                <a:latin typeface="Lucida Sans"/>
                <a:cs typeface="Lucida Sans"/>
              </a:rPr>
              <a:t> </a:t>
            </a:r>
            <a:r>
              <a:rPr dirty="0" sz="1100" spc="10">
                <a:latin typeface="Lucida Sans"/>
                <a:cs typeface="Lucida Sans"/>
              </a:rPr>
              <a:t>(and</a:t>
            </a:r>
            <a:r>
              <a:rPr dirty="0" sz="1100" spc="5">
                <a:latin typeface="Lucida Sans"/>
                <a:cs typeface="Lucida Sans"/>
              </a:rPr>
              <a:t> its </a:t>
            </a:r>
            <a:r>
              <a:rPr dirty="0" sz="1100" spc="10">
                <a:latin typeface="Lucida Sans"/>
                <a:cs typeface="Lucida Sans"/>
              </a:rPr>
              <a:t>associated</a:t>
            </a:r>
            <a:r>
              <a:rPr dirty="0" sz="1100" spc="5">
                <a:latin typeface="Lucida Sans"/>
                <a:cs typeface="Lucida Sans"/>
              </a:rPr>
              <a:t> </a:t>
            </a:r>
            <a:r>
              <a:rPr dirty="0" sz="1100" spc="15">
                <a:latin typeface="Lucida Sans"/>
                <a:cs typeface="Lucida Sans"/>
              </a:rPr>
              <a:t>value)?</a:t>
            </a:r>
            <a:endParaRPr sz="1100">
              <a:latin typeface="Lucida Sans"/>
              <a:cs typeface="Lucida Sans"/>
            </a:endParaRPr>
          </a:p>
          <a:p>
            <a:pPr>
              <a:lnSpc>
                <a:spcPct val="100000"/>
              </a:lnSpc>
              <a:spcBef>
                <a:spcPts val="500"/>
              </a:spcBef>
            </a:pPr>
            <a:r>
              <a:rPr dirty="0" sz="1100" spc="5">
                <a:solidFill>
                  <a:srgbClr val="005493"/>
                </a:solidFill>
                <a:latin typeface="Lucida Sans"/>
                <a:cs typeface="Lucida Sans"/>
              </a:rPr>
              <a:t>A.</a:t>
            </a:r>
            <a:r>
              <a:rPr dirty="0" sz="1100" spc="350">
                <a:solidFill>
                  <a:srgbClr val="005493"/>
                </a:solidFill>
                <a:latin typeface="Lucida Sans"/>
                <a:cs typeface="Lucida Sans"/>
              </a:rPr>
              <a:t> </a:t>
            </a:r>
            <a:r>
              <a:rPr dirty="0" sz="1100" spc="15">
                <a:latin typeface="Lucida Sans"/>
                <a:cs typeface="Lucida Sans"/>
              </a:rPr>
              <a:t>Easy:</a:t>
            </a:r>
            <a:r>
              <a:rPr dirty="0" sz="1100">
                <a:latin typeface="Lucida Sans"/>
                <a:cs typeface="Lucida Sans"/>
              </a:rPr>
              <a:t> </a:t>
            </a:r>
            <a:r>
              <a:rPr dirty="0" sz="1100" spc="10">
                <a:latin typeface="Lucida Sans"/>
                <a:cs typeface="Lucida Sans"/>
              </a:rPr>
              <a:t>need</a:t>
            </a:r>
            <a:r>
              <a:rPr dirty="0" sz="1100" spc="5">
                <a:latin typeface="Lucida Sans"/>
                <a:cs typeface="Lucida Sans"/>
              </a:rPr>
              <a:t> </a:t>
            </a:r>
            <a:r>
              <a:rPr dirty="0" sz="1100" spc="20">
                <a:latin typeface="Lucida Sans"/>
                <a:cs typeface="Lucida Sans"/>
              </a:rPr>
              <a:t>only</a:t>
            </a:r>
            <a:r>
              <a:rPr dirty="0" sz="1100">
                <a:latin typeface="Lucida Sans"/>
                <a:cs typeface="Lucida Sans"/>
              </a:rPr>
              <a:t> </a:t>
            </a:r>
            <a:r>
              <a:rPr dirty="0" sz="1100" spc="10">
                <a:latin typeface="Lucida Sans"/>
                <a:cs typeface="Lucida Sans"/>
              </a:rPr>
              <a:t>consider</a:t>
            </a:r>
            <a:r>
              <a:rPr dirty="0" sz="1100" spc="5">
                <a:latin typeface="Lucida Sans"/>
                <a:cs typeface="Lucida Sans"/>
              </a:rPr>
              <a:t> </a:t>
            </a:r>
            <a:r>
              <a:rPr dirty="0" sz="1100" spc="10">
                <a:latin typeface="Lucida Sans"/>
                <a:cs typeface="Lucida Sans"/>
              </a:rPr>
              <a:t>chain</a:t>
            </a:r>
            <a:r>
              <a:rPr dirty="0" sz="1100">
                <a:latin typeface="Lucida Sans"/>
                <a:cs typeface="Lucida Sans"/>
              </a:rPr>
              <a:t> </a:t>
            </a:r>
            <a:r>
              <a:rPr dirty="0" sz="1100" spc="10">
                <a:latin typeface="Lucida Sans"/>
                <a:cs typeface="Lucida Sans"/>
              </a:rPr>
              <a:t>containing</a:t>
            </a:r>
            <a:r>
              <a:rPr dirty="0" sz="1100" spc="5">
                <a:latin typeface="Lucida Sans"/>
                <a:cs typeface="Lucida Sans"/>
              </a:rPr>
              <a:t> </a:t>
            </a:r>
            <a:r>
              <a:rPr dirty="0" sz="1100" spc="-10">
                <a:latin typeface="Lucida Sans"/>
                <a:cs typeface="Lucida Sans"/>
              </a:rPr>
              <a:t>key.</a:t>
            </a:r>
            <a:endParaRPr sz="1100">
              <a:latin typeface="Lucida Sans"/>
              <a:cs typeface="Lucida Sans"/>
            </a:endParaRPr>
          </a:p>
        </p:txBody>
      </p:sp>
      <p:sp>
        <p:nvSpPr>
          <p:cNvPr id="214" name="object 214"/>
          <p:cNvSpPr txBox="1"/>
          <p:nvPr/>
        </p:nvSpPr>
        <p:spPr>
          <a:xfrm>
            <a:off x="12504906" y="4615831"/>
            <a:ext cx="102870" cy="1111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dirty="0" sz="550" spc="5">
                <a:latin typeface="Lucida Sans"/>
                <a:cs typeface="Lucida Sans"/>
              </a:rPr>
              <a:t>22</a:t>
            </a:r>
            <a:endParaRPr sz="550">
              <a:latin typeface="Lucida Sans"/>
              <a:cs typeface="Lucida Sans"/>
            </a:endParaRPr>
          </a:p>
        </p:txBody>
      </p:sp>
      <p:sp>
        <p:nvSpPr>
          <p:cNvPr id="215" name="object 215"/>
          <p:cNvSpPr txBox="1"/>
          <p:nvPr/>
        </p:nvSpPr>
        <p:spPr>
          <a:xfrm>
            <a:off x="6998899" y="396219"/>
            <a:ext cx="3182620" cy="2247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dirty="0" sz="1300" spc="15">
                <a:latin typeface="Arial"/>
                <a:cs typeface="Arial"/>
              </a:rPr>
              <a:t>Deletion</a:t>
            </a:r>
            <a:r>
              <a:rPr dirty="0" sz="1300" spc="35">
                <a:latin typeface="Arial"/>
                <a:cs typeface="Arial"/>
              </a:rPr>
              <a:t> </a:t>
            </a:r>
            <a:r>
              <a:rPr dirty="0" sz="1300" spc="10">
                <a:latin typeface="Arial"/>
                <a:cs typeface="Arial"/>
              </a:rPr>
              <a:t>in</a:t>
            </a:r>
            <a:r>
              <a:rPr dirty="0" sz="1300" spc="40">
                <a:latin typeface="Arial"/>
                <a:cs typeface="Arial"/>
              </a:rPr>
              <a:t> </a:t>
            </a:r>
            <a:r>
              <a:rPr dirty="0" sz="1300" spc="60">
                <a:latin typeface="Arial"/>
                <a:cs typeface="Arial"/>
              </a:rPr>
              <a:t>a</a:t>
            </a:r>
            <a:r>
              <a:rPr dirty="0" sz="1300" spc="40">
                <a:latin typeface="Arial"/>
                <a:cs typeface="Arial"/>
              </a:rPr>
              <a:t> </a:t>
            </a:r>
            <a:r>
              <a:rPr dirty="0" sz="1300" spc="5">
                <a:latin typeface="Arial"/>
                <a:cs typeface="Arial"/>
              </a:rPr>
              <a:t>separate-chaining</a:t>
            </a:r>
            <a:r>
              <a:rPr dirty="0" sz="1300" spc="35">
                <a:latin typeface="Arial"/>
                <a:cs typeface="Arial"/>
              </a:rPr>
              <a:t> </a:t>
            </a:r>
            <a:r>
              <a:rPr dirty="0" sz="1300" spc="-20">
                <a:latin typeface="Arial"/>
                <a:cs typeface="Arial"/>
              </a:rPr>
              <a:t>hash</a:t>
            </a:r>
            <a:r>
              <a:rPr dirty="0" sz="1300" spc="40">
                <a:latin typeface="Arial"/>
                <a:cs typeface="Arial"/>
              </a:rPr>
              <a:t> </a:t>
            </a:r>
            <a:r>
              <a:rPr dirty="0" sz="1300" spc="30">
                <a:latin typeface="Arial"/>
                <a:cs typeface="Arial"/>
              </a:rPr>
              <a:t>table</a:t>
            </a:r>
            <a:endParaRPr sz="1300">
              <a:latin typeface="Arial"/>
              <a:cs typeface="Arial"/>
            </a:endParaRPr>
          </a:p>
        </p:txBody>
      </p:sp>
      <p:sp>
        <p:nvSpPr>
          <p:cNvPr id="216" name="object 216"/>
          <p:cNvSpPr txBox="1"/>
          <p:nvPr/>
        </p:nvSpPr>
        <p:spPr>
          <a:xfrm>
            <a:off x="7301025" y="2007557"/>
            <a:ext cx="859155" cy="1397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750" spc="5" b="1">
                <a:latin typeface="Tahoma"/>
                <a:cs typeface="Tahoma"/>
              </a:rPr>
              <a:t>before</a:t>
            </a:r>
            <a:r>
              <a:rPr dirty="0" sz="750" b="1">
                <a:latin typeface="Tahoma"/>
                <a:cs typeface="Tahoma"/>
              </a:rPr>
              <a:t> </a:t>
            </a:r>
            <a:r>
              <a:rPr dirty="0" sz="750" spc="5" b="1">
                <a:latin typeface="Tahoma"/>
                <a:cs typeface="Tahoma"/>
              </a:rPr>
              <a:t>deleting</a:t>
            </a:r>
            <a:r>
              <a:rPr dirty="0" sz="750" b="1">
                <a:latin typeface="Tahoma"/>
                <a:cs typeface="Tahoma"/>
              </a:rPr>
              <a:t> </a:t>
            </a:r>
            <a:r>
              <a:rPr dirty="0" sz="750" spc="30" b="1">
                <a:latin typeface="Tahoma"/>
                <a:cs typeface="Tahoma"/>
              </a:rPr>
              <a:t>C</a:t>
            </a:r>
            <a:endParaRPr sz="750">
              <a:latin typeface="Tahoma"/>
              <a:cs typeface="Tahoma"/>
            </a:endParaRPr>
          </a:p>
        </p:txBody>
      </p:sp>
      <p:grpSp>
        <p:nvGrpSpPr>
          <p:cNvPr id="217" name="object 217"/>
          <p:cNvGrpSpPr/>
          <p:nvPr/>
        </p:nvGrpSpPr>
        <p:grpSpPr>
          <a:xfrm>
            <a:off x="7603054" y="2431978"/>
            <a:ext cx="836294" cy="295275"/>
            <a:chOff x="7603054" y="2431978"/>
            <a:chExt cx="836294" cy="295275"/>
          </a:xfrm>
        </p:grpSpPr>
        <p:sp>
          <p:nvSpPr>
            <p:cNvPr id="218" name="object 218"/>
            <p:cNvSpPr/>
            <p:nvPr/>
          </p:nvSpPr>
          <p:spPr>
            <a:xfrm>
              <a:off x="8252602" y="2523800"/>
              <a:ext cx="145415" cy="0"/>
            </a:xfrm>
            <a:custGeom>
              <a:avLst/>
              <a:gdLst/>
              <a:ahLst/>
              <a:cxnLst/>
              <a:rect l="l" t="t" r="r" b="b"/>
              <a:pathLst>
                <a:path w="145415" h="0">
                  <a:moveTo>
                    <a:pt x="0" y="0"/>
                  </a:moveTo>
                  <a:lnTo>
                    <a:pt x="35111" y="0"/>
                  </a:lnTo>
                  <a:lnTo>
                    <a:pt x="70223" y="0"/>
                  </a:lnTo>
                  <a:lnTo>
                    <a:pt x="105335" y="0"/>
                  </a:lnTo>
                  <a:lnTo>
                    <a:pt x="140447" y="0"/>
                  </a:lnTo>
                  <a:lnTo>
                    <a:pt x="144890" y="0"/>
                  </a:lnTo>
                </a:path>
              </a:pathLst>
            </a:custGeom>
            <a:ln w="88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9" name="object 219"/>
            <p:cNvSpPr/>
            <p:nvPr/>
          </p:nvSpPr>
          <p:spPr>
            <a:xfrm>
              <a:off x="8393049" y="2500696"/>
              <a:ext cx="46355" cy="46355"/>
            </a:xfrm>
            <a:custGeom>
              <a:avLst/>
              <a:gdLst/>
              <a:ahLst/>
              <a:cxnLst/>
              <a:rect l="l" t="t" r="r" b="b"/>
              <a:pathLst>
                <a:path w="46354" h="46355">
                  <a:moveTo>
                    <a:pt x="0" y="0"/>
                  </a:moveTo>
                  <a:lnTo>
                    <a:pt x="0" y="46207"/>
                  </a:lnTo>
                  <a:lnTo>
                    <a:pt x="46206" y="23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0" name="object 220"/>
            <p:cNvSpPr/>
            <p:nvPr/>
          </p:nvSpPr>
          <p:spPr>
            <a:xfrm>
              <a:off x="7607499" y="2566555"/>
              <a:ext cx="435609" cy="156210"/>
            </a:xfrm>
            <a:custGeom>
              <a:avLst/>
              <a:gdLst/>
              <a:ahLst/>
              <a:cxnLst/>
              <a:rect l="l" t="t" r="r" b="b"/>
              <a:pathLst>
                <a:path w="435609" h="156210">
                  <a:moveTo>
                    <a:pt x="435256" y="0"/>
                  </a:moveTo>
                  <a:lnTo>
                    <a:pt x="383174" y="18634"/>
                  </a:lnTo>
                  <a:lnTo>
                    <a:pt x="335276" y="35772"/>
                  </a:lnTo>
                  <a:lnTo>
                    <a:pt x="287379" y="52909"/>
                  </a:lnTo>
                  <a:lnTo>
                    <a:pt x="239482" y="70047"/>
                  </a:lnTo>
                  <a:lnTo>
                    <a:pt x="191585" y="87184"/>
                  </a:lnTo>
                  <a:lnTo>
                    <a:pt x="143688" y="104322"/>
                  </a:lnTo>
                  <a:lnTo>
                    <a:pt x="95792" y="121459"/>
                  </a:lnTo>
                  <a:lnTo>
                    <a:pt x="47896" y="138596"/>
                  </a:lnTo>
                  <a:lnTo>
                    <a:pt x="0" y="155734"/>
                  </a:lnTo>
                </a:path>
              </a:pathLst>
            </a:custGeom>
            <a:ln w="88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21" name="object 22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019913" y="2431978"/>
              <a:ext cx="234158" cy="183645"/>
            </a:xfrm>
            <a:prstGeom prst="rect">
              <a:avLst/>
            </a:prstGeom>
          </p:spPr>
        </p:pic>
      </p:grpSp>
      <p:sp>
        <p:nvSpPr>
          <p:cNvPr id="222" name="object 222"/>
          <p:cNvSpPr txBox="1"/>
          <p:nvPr/>
        </p:nvSpPr>
        <p:spPr>
          <a:xfrm>
            <a:off x="8131302" y="2440011"/>
            <a:ext cx="74930" cy="1397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750" spc="-5">
                <a:latin typeface="Lucida Sans"/>
                <a:cs typeface="Lucida Sans"/>
              </a:rPr>
              <a:t>K</a:t>
            </a:r>
            <a:endParaRPr sz="750">
              <a:latin typeface="Lucida Sans"/>
              <a:cs typeface="Lucida Sans"/>
            </a:endParaRPr>
          </a:p>
        </p:txBody>
      </p:sp>
      <p:sp>
        <p:nvSpPr>
          <p:cNvPr id="223" name="object 223"/>
          <p:cNvSpPr txBox="1"/>
          <p:nvPr/>
        </p:nvSpPr>
        <p:spPr>
          <a:xfrm>
            <a:off x="8440678" y="2434940"/>
            <a:ext cx="177800" cy="177800"/>
          </a:xfrm>
          <a:prstGeom prst="rect">
            <a:avLst/>
          </a:prstGeom>
          <a:solidFill>
            <a:srgbClr val="FFFFFF"/>
          </a:solidFill>
          <a:ln w="5924">
            <a:solidFill>
              <a:srgbClr val="000000"/>
            </a:solidFill>
          </a:ln>
        </p:spPr>
        <p:txBody>
          <a:bodyPr wrap="square" lIns="0" tIns="1714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35"/>
              </a:spcBef>
            </a:pPr>
            <a:r>
              <a:rPr dirty="0" sz="750" spc="-5">
                <a:latin typeface="Lucida Sans"/>
                <a:cs typeface="Lucida Sans"/>
              </a:rPr>
              <a:t>I</a:t>
            </a:r>
            <a:endParaRPr sz="750">
              <a:latin typeface="Lucida Sans"/>
              <a:cs typeface="Lucida Sans"/>
            </a:endParaRPr>
          </a:p>
        </p:txBody>
      </p:sp>
      <p:grpSp>
        <p:nvGrpSpPr>
          <p:cNvPr id="224" name="object 224"/>
          <p:cNvGrpSpPr/>
          <p:nvPr/>
        </p:nvGrpSpPr>
        <p:grpSpPr>
          <a:xfrm>
            <a:off x="7602484" y="2763511"/>
            <a:ext cx="836930" cy="184150"/>
            <a:chOff x="7602484" y="2763511"/>
            <a:chExt cx="836930" cy="184150"/>
          </a:xfrm>
        </p:grpSpPr>
        <p:sp>
          <p:nvSpPr>
            <p:cNvPr id="225" name="object 225"/>
            <p:cNvSpPr/>
            <p:nvPr/>
          </p:nvSpPr>
          <p:spPr>
            <a:xfrm>
              <a:off x="7606929" y="2871288"/>
              <a:ext cx="423545" cy="50800"/>
            </a:xfrm>
            <a:custGeom>
              <a:avLst/>
              <a:gdLst/>
              <a:ahLst/>
              <a:cxnLst/>
              <a:rect l="l" t="t" r="r" b="b"/>
              <a:pathLst>
                <a:path w="423545" h="50800">
                  <a:moveTo>
                    <a:pt x="0" y="50488"/>
                  </a:moveTo>
                  <a:lnTo>
                    <a:pt x="52364" y="44243"/>
                  </a:lnTo>
                  <a:lnTo>
                    <a:pt x="104728" y="37998"/>
                  </a:lnTo>
                  <a:lnTo>
                    <a:pt x="157092" y="31752"/>
                  </a:lnTo>
                  <a:lnTo>
                    <a:pt x="209456" y="25507"/>
                  </a:lnTo>
                  <a:lnTo>
                    <a:pt x="261820" y="19262"/>
                  </a:lnTo>
                  <a:lnTo>
                    <a:pt x="314185" y="13017"/>
                  </a:lnTo>
                  <a:lnTo>
                    <a:pt x="366549" y="6771"/>
                  </a:lnTo>
                  <a:lnTo>
                    <a:pt x="418913" y="526"/>
                  </a:lnTo>
                  <a:lnTo>
                    <a:pt x="423327" y="0"/>
                  </a:lnTo>
                </a:path>
              </a:pathLst>
            </a:custGeom>
            <a:ln w="88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6" name="object 226"/>
            <p:cNvSpPr/>
            <p:nvPr/>
          </p:nvSpPr>
          <p:spPr>
            <a:xfrm>
              <a:off x="8023109" y="2848873"/>
              <a:ext cx="48895" cy="46355"/>
            </a:xfrm>
            <a:custGeom>
              <a:avLst/>
              <a:gdLst/>
              <a:ahLst/>
              <a:cxnLst/>
              <a:rect l="l" t="t" r="r" b="b"/>
              <a:pathLst>
                <a:path w="48895" h="46355">
                  <a:moveTo>
                    <a:pt x="0" y="0"/>
                  </a:moveTo>
                  <a:lnTo>
                    <a:pt x="5472" y="45882"/>
                  </a:lnTo>
                  <a:lnTo>
                    <a:pt x="48618" y="174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7" name="object 227"/>
            <p:cNvSpPr/>
            <p:nvPr/>
          </p:nvSpPr>
          <p:spPr>
            <a:xfrm>
              <a:off x="8252602" y="2855546"/>
              <a:ext cx="145415" cy="0"/>
            </a:xfrm>
            <a:custGeom>
              <a:avLst/>
              <a:gdLst/>
              <a:ahLst/>
              <a:cxnLst/>
              <a:rect l="l" t="t" r="r" b="b"/>
              <a:pathLst>
                <a:path w="145415" h="0">
                  <a:moveTo>
                    <a:pt x="0" y="0"/>
                  </a:moveTo>
                  <a:lnTo>
                    <a:pt x="35111" y="0"/>
                  </a:lnTo>
                  <a:lnTo>
                    <a:pt x="70223" y="0"/>
                  </a:lnTo>
                  <a:lnTo>
                    <a:pt x="105335" y="0"/>
                  </a:lnTo>
                  <a:lnTo>
                    <a:pt x="140447" y="0"/>
                  </a:lnTo>
                  <a:lnTo>
                    <a:pt x="144890" y="0"/>
                  </a:lnTo>
                </a:path>
              </a:pathLst>
            </a:custGeom>
            <a:ln w="88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8" name="object 228"/>
            <p:cNvSpPr/>
            <p:nvPr/>
          </p:nvSpPr>
          <p:spPr>
            <a:xfrm>
              <a:off x="8393049" y="2832442"/>
              <a:ext cx="46355" cy="46355"/>
            </a:xfrm>
            <a:custGeom>
              <a:avLst/>
              <a:gdLst/>
              <a:ahLst/>
              <a:cxnLst/>
              <a:rect l="l" t="t" r="r" b="b"/>
              <a:pathLst>
                <a:path w="46354" h="46355">
                  <a:moveTo>
                    <a:pt x="0" y="0"/>
                  </a:moveTo>
                  <a:lnTo>
                    <a:pt x="0" y="46207"/>
                  </a:lnTo>
                  <a:lnTo>
                    <a:pt x="46206" y="23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9" name="object 229"/>
            <p:cNvSpPr/>
            <p:nvPr/>
          </p:nvSpPr>
          <p:spPr>
            <a:xfrm>
              <a:off x="8073388" y="2766685"/>
              <a:ext cx="177800" cy="177800"/>
            </a:xfrm>
            <a:custGeom>
              <a:avLst/>
              <a:gdLst/>
              <a:ahLst/>
              <a:cxnLst/>
              <a:rect l="l" t="t" r="r" b="b"/>
              <a:pathLst>
                <a:path w="177800" h="177800">
                  <a:moveTo>
                    <a:pt x="0" y="0"/>
                  </a:moveTo>
                  <a:lnTo>
                    <a:pt x="177721" y="0"/>
                  </a:lnTo>
                  <a:lnTo>
                    <a:pt x="177721" y="177721"/>
                  </a:lnTo>
                  <a:lnTo>
                    <a:pt x="0" y="1777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0" name="object 230"/>
            <p:cNvSpPr/>
            <p:nvPr/>
          </p:nvSpPr>
          <p:spPr>
            <a:xfrm>
              <a:off x="8073388" y="2766686"/>
              <a:ext cx="177800" cy="177800"/>
            </a:xfrm>
            <a:custGeom>
              <a:avLst/>
              <a:gdLst/>
              <a:ahLst/>
              <a:cxnLst/>
              <a:rect l="l" t="t" r="r" b="b"/>
              <a:pathLst>
                <a:path w="177800" h="177800">
                  <a:moveTo>
                    <a:pt x="0" y="0"/>
                  </a:moveTo>
                  <a:lnTo>
                    <a:pt x="177721" y="0"/>
                  </a:lnTo>
                  <a:lnTo>
                    <a:pt x="177721" y="177721"/>
                  </a:lnTo>
                  <a:lnTo>
                    <a:pt x="0" y="177721"/>
                  </a:lnTo>
                  <a:lnTo>
                    <a:pt x="0" y="0"/>
                  </a:lnTo>
                  <a:close/>
                </a:path>
              </a:pathLst>
            </a:custGeom>
            <a:ln w="59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1" name="object 231"/>
          <p:cNvSpPr txBox="1"/>
          <p:nvPr/>
        </p:nvSpPr>
        <p:spPr>
          <a:xfrm>
            <a:off x="8073388" y="2766685"/>
            <a:ext cx="177800" cy="17780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35"/>
              </a:spcBef>
            </a:pPr>
            <a:r>
              <a:rPr dirty="0" sz="750" spc="-5">
                <a:latin typeface="Lucida Sans"/>
                <a:cs typeface="Lucida Sans"/>
              </a:rPr>
              <a:t>P</a:t>
            </a:r>
            <a:endParaRPr sz="750">
              <a:latin typeface="Lucida Sans"/>
              <a:cs typeface="Lucida Sans"/>
            </a:endParaRPr>
          </a:p>
        </p:txBody>
      </p:sp>
      <p:grpSp>
        <p:nvGrpSpPr>
          <p:cNvPr id="232" name="object 232"/>
          <p:cNvGrpSpPr/>
          <p:nvPr/>
        </p:nvGrpSpPr>
        <p:grpSpPr>
          <a:xfrm>
            <a:off x="8437503" y="2763511"/>
            <a:ext cx="369570" cy="184150"/>
            <a:chOff x="8437503" y="2763511"/>
            <a:chExt cx="369570" cy="184150"/>
          </a:xfrm>
        </p:grpSpPr>
        <p:sp>
          <p:nvSpPr>
            <p:cNvPr id="233" name="object 233"/>
            <p:cNvSpPr/>
            <p:nvPr/>
          </p:nvSpPr>
          <p:spPr>
            <a:xfrm>
              <a:off x="8619822" y="2855546"/>
              <a:ext cx="156845" cy="0"/>
            </a:xfrm>
            <a:custGeom>
              <a:avLst/>
              <a:gdLst/>
              <a:ahLst/>
              <a:cxnLst/>
              <a:rect l="l" t="t" r="r" b="b"/>
              <a:pathLst>
                <a:path w="156845" h="0">
                  <a:moveTo>
                    <a:pt x="156441" y="0"/>
                  </a:moveTo>
                  <a:lnTo>
                    <a:pt x="151998" y="0"/>
                  </a:lnTo>
                  <a:lnTo>
                    <a:pt x="113998" y="0"/>
                  </a:lnTo>
                  <a:lnTo>
                    <a:pt x="75999" y="0"/>
                  </a:lnTo>
                  <a:lnTo>
                    <a:pt x="37999" y="0"/>
                  </a:lnTo>
                  <a:lnTo>
                    <a:pt x="0" y="0"/>
                  </a:lnTo>
                </a:path>
              </a:pathLst>
            </a:custGeom>
            <a:ln w="88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4" name="object 234"/>
            <p:cNvSpPr/>
            <p:nvPr/>
          </p:nvSpPr>
          <p:spPr>
            <a:xfrm>
              <a:off x="8760268" y="2832443"/>
              <a:ext cx="46355" cy="46355"/>
            </a:xfrm>
            <a:custGeom>
              <a:avLst/>
              <a:gdLst/>
              <a:ahLst/>
              <a:cxnLst/>
              <a:rect l="l" t="t" r="r" b="b"/>
              <a:pathLst>
                <a:path w="46354" h="46355">
                  <a:moveTo>
                    <a:pt x="0" y="0"/>
                  </a:moveTo>
                  <a:lnTo>
                    <a:pt x="11551" y="23103"/>
                  </a:lnTo>
                  <a:lnTo>
                    <a:pt x="0" y="46207"/>
                  </a:lnTo>
                  <a:lnTo>
                    <a:pt x="46207" y="23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5" name="object 235"/>
            <p:cNvSpPr/>
            <p:nvPr/>
          </p:nvSpPr>
          <p:spPr>
            <a:xfrm>
              <a:off x="8440678" y="2766685"/>
              <a:ext cx="177800" cy="177800"/>
            </a:xfrm>
            <a:custGeom>
              <a:avLst/>
              <a:gdLst/>
              <a:ahLst/>
              <a:cxnLst/>
              <a:rect l="l" t="t" r="r" b="b"/>
              <a:pathLst>
                <a:path w="177800" h="177800">
                  <a:moveTo>
                    <a:pt x="0" y="0"/>
                  </a:moveTo>
                  <a:lnTo>
                    <a:pt x="177721" y="0"/>
                  </a:lnTo>
                  <a:lnTo>
                    <a:pt x="177721" y="177721"/>
                  </a:lnTo>
                  <a:lnTo>
                    <a:pt x="0" y="1777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6" name="object 236"/>
            <p:cNvSpPr/>
            <p:nvPr/>
          </p:nvSpPr>
          <p:spPr>
            <a:xfrm>
              <a:off x="8440678" y="2766686"/>
              <a:ext cx="177800" cy="177800"/>
            </a:xfrm>
            <a:custGeom>
              <a:avLst/>
              <a:gdLst/>
              <a:ahLst/>
              <a:cxnLst/>
              <a:rect l="l" t="t" r="r" b="b"/>
              <a:pathLst>
                <a:path w="177800" h="177800">
                  <a:moveTo>
                    <a:pt x="0" y="0"/>
                  </a:moveTo>
                  <a:lnTo>
                    <a:pt x="177721" y="0"/>
                  </a:lnTo>
                  <a:lnTo>
                    <a:pt x="177721" y="177721"/>
                  </a:lnTo>
                  <a:lnTo>
                    <a:pt x="0" y="177721"/>
                  </a:lnTo>
                  <a:lnTo>
                    <a:pt x="0" y="0"/>
                  </a:lnTo>
                  <a:close/>
                </a:path>
              </a:pathLst>
            </a:custGeom>
            <a:ln w="59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7" name="object 237"/>
          <p:cNvSpPr txBox="1"/>
          <p:nvPr/>
        </p:nvSpPr>
        <p:spPr>
          <a:xfrm>
            <a:off x="8440678" y="2766685"/>
            <a:ext cx="177800" cy="17780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53340">
              <a:lnSpc>
                <a:spcPct val="100000"/>
              </a:lnSpc>
              <a:spcBef>
                <a:spcPts val="135"/>
              </a:spcBef>
            </a:pPr>
            <a:r>
              <a:rPr dirty="0" sz="750" spc="-5">
                <a:latin typeface="Lucida Sans"/>
                <a:cs typeface="Lucida Sans"/>
              </a:rPr>
              <a:t>N</a:t>
            </a:r>
            <a:endParaRPr sz="750">
              <a:latin typeface="Lucida Sans"/>
              <a:cs typeface="Lucida Sans"/>
            </a:endParaRPr>
          </a:p>
        </p:txBody>
      </p:sp>
      <p:grpSp>
        <p:nvGrpSpPr>
          <p:cNvPr id="238" name="object 238"/>
          <p:cNvGrpSpPr/>
          <p:nvPr/>
        </p:nvGrpSpPr>
        <p:grpSpPr>
          <a:xfrm>
            <a:off x="8804793" y="2763511"/>
            <a:ext cx="184150" cy="184150"/>
            <a:chOff x="8804793" y="2763511"/>
            <a:chExt cx="184150" cy="184150"/>
          </a:xfrm>
        </p:grpSpPr>
        <p:sp>
          <p:nvSpPr>
            <p:cNvPr id="239" name="object 239"/>
            <p:cNvSpPr/>
            <p:nvPr/>
          </p:nvSpPr>
          <p:spPr>
            <a:xfrm>
              <a:off x="8807968" y="2766685"/>
              <a:ext cx="177800" cy="177800"/>
            </a:xfrm>
            <a:custGeom>
              <a:avLst/>
              <a:gdLst/>
              <a:ahLst/>
              <a:cxnLst/>
              <a:rect l="l" t="t" r="r" b="b"/>
              <a:pathLst>
                <a:path w="177800" h="177800">
                  <a:moveTo>
                    <a:pt x="0" y="0"/>
                  </a:moveTo>
                  <a:lnTo>
                    <a:pt x="177721" y="0"/>
                  </a:lnTo>
                  <a:lnTo>
                    <a:pt x="177721" y="177721"/>
                  </a:lnTo>
                  <a:lnTo>
                    <a:pt x="0" y="1777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0" name="object 240"/>
            <p:cNvSpPr/>
            <p:nvPr/>
          </p:nvSpPr>
          <p:spPr>
            <a:xfrm>
              <a:off x="8807968" y="2766686"/>
              <a:ext cx="177800" cy="177800"/>
            </a:xfrm>
            <a:custGeom>
              <a:avLst/>
              <a:gdLst/>
              <a:ahLst/>
              <a:cxnLst/>
              <a:rect l="l" t="t" r="r" b="b"/>
              <a:pathLst>
                <a:path w="177800" h="177800">
                  <a:moveTo>
                    <a:pt x="0" y="0"/>
                  </a:moveTo>
                  <a:lnTo>
                    <a:pt x="177721" y="0"/>
                  </a:lnTo>
                  <a:lnTo>
                    <a:pt x="177721" y="177721"/>
                  </a:lnTo>
                  <a:lnTo>
                    <a:pt x="0" y="177721"/>
                  </a:lnTo>
                  <a:lnTo>
                    <a:pt x="0" y="0"/>
                  </a:lnTo>
                  <a:close/>
                </a:path>
              </a:pathLst>
            </a:custGeom>
            <a:ln w="59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1" name="object 241"/>
          <p:cNvSpPr txBox="1"/>
          <p:nvPr/>
        </p:nvSpPr>
        <p:spPr>
          <a:xfrm>
            <a:off x="8807968" y="2766685"/>
            <a:ext cx="177800" cy="17780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35"/>
              </a:spcBef>
            </a:pPr>
            <a:r>
              <a:rPr dirty="0" sz="750" spc="-5">
                <a:latin typeface="Lucida Sans"/>
                <a:cs typeface="Lucida Sans"/>
              </a:rPr>
              <a:t>L</a:t>
            </a:r>
            <a:endParaRPr sz="750">
              <a:latin typeface="Lucida Sans"/>
              <a:cs typeface="Lucida Sans"/>
            </a:endParaRPr>
          </a:p>
        </p:txBody>
      </p:sp>
      <p:grpSp>
        <p:nvGrpSpPr>
          <p:cNvPr id="242" name="object 242"/>
          <p:cNvGrpSpPr/>
          <p:nvPr/>
        </p:nvGrpSpPr>
        <p:grpSpPr>
          <a:xfrm>
            <a:off x="7424493" y="2663015"/>
            <a:ext cx="1014730" cy="830580"/>
            <a:chOff x="7424493" y="2663015"/>
            <a:chExt cx="1014730" cy="830580"/>
          </a:xfrm>
        </p:grpSpPr>
        <p:pic>
          <p:nvPicPr>
            <p:cNvPr id="243" name="object 24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424706" y="2663015"/>
              <a:ext cx="183645" cy="361366"/>
            </a:xfrm>
            <a:prstGeom prst="rect">
              <a:avLst/>
            </a:prstGeom>
          </p:spPr>
        </p:pic>
        <p:sp>
          <p:nvSpPr>
            <p:cNvPr id="244" name="object 244"/>
            <p:cNvSpPr/>
            <p:nvPr/>
          </p:nvSpPr>
          <p:spPr>
            <a:xfrm>
              <a:off x="7606929" y="3121062"/>
              <a:ext cx="424180" cy="50800"/>
            </a:xfrm>
            <a:custGeom>
              <a:avLst/>
              <a:gdLst/>
              <a:ahLst/>
              <a:cxnLst/>
              <a:rect l="l" t="t" r="r" b="b"/>
              <a:pathLst>
                <a:path w="424179" h="50800">
                  <a:moveTo>
                    <a:pt x="0" y="0"/>
                  </a:moveTo>
                  <a:lnTo>
                    <a:pt x="52433" y="6253"/>
                  </a:lnTo>
                  <a:lnTo>
                    <a:pt x="104867" y="12506"/>
                  </a:lnTo>
                  <a:lnTo>
                    <a:pt x="157300" y="18760"/>
                  </a:lnTo>
                  <a:lnTo>
                    <a:pt x="209734" y="25014"/>
                  </a:lnTo>
                  <a:lnTo>
                    <a:pt x="262168" y="31267"/>
                  </a:lnTo>
                  <a:lnTo>
                    <a:pt x="314601" y="37521"/>
                  </a:lnTo>
                  <a:lnTo>
                    <a:pt x="367035" y="43774"/>
                  </a:lnTo>
                  <a:lnTo>
                    <a:pt x="419469" y="50028"/>
                  </a:lnTo>
                  <a:lnTo>
                    <a:pt x="423882" y="50555"/>
                  </a:lnTo>
                </a:path>
              </a:pathLst>
            </a:custGeom>
            <a:ln w="88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5" name="object 245"/>
            <p:cNvSpPr/>
            <p:nvPr/>
          </p:nvSpPr>
          <p:spPr>
            <a:xfrm>
              <a:off x="8023664" y="3148149"/>
              <a:ext cx="48895" cy="46355"/>
            </a:xfrm>
            <a:custGeom>
              <a:avLst/>
              <a:gdLst/>
              <a:ahLst/>
              <a:cxnLst/>
              <a:rect l="l" t="t" r="r" b="b"/>
              <a:pathLst>
                <a:path w="48895" h="46355">
                  <a:moveTo>
                    <a:pt x="5472" y="0"/>
                  </a:moveTo>
                  <a:lnTo>
                    <a:pt x="0" y="45882"/>
                  </a:lnTo>
                  <a:lnTo>
                    <a:pt x="48617" y="28412"/>
                  </a:lnTo>
                  <a:lnTo>
                    <a:pt x="547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6" name="object 246"/>
            <p:cNvSpPr/>
            <p:nvPr/>
          </p:nvSpPr>
          <p:spPr>
            <a:xfrm>
              <a:off x="7427668" y="3021419"/>
              <a:ext cx="177800" cy="177800"/>
            </a:xfrm>
            <a:custGeom>
              <a:avLst/>
              <a:gdLst/>
              <a:ahLst/>
              <a:cxnLst/>
              <a:rect l="l" t="t" r="r" b="b"/>
              <a:pathLst>
                <a:path w="177800" h="177800">
                  <a:moveTo>
                    <a:pt x="0" y="0"/>
                  </a:moveTo>
                  <a:lnTo>
                    <a:pt x="177721" y="0"/>
                  </a:lnTo>
                  <a:lnTo>
                    <a:pt x="177721" y="177721"/>
                  </a:lnTo>
                  <a:lnTo>
                    <a:pt x="0" y="1777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5D5D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7" name="object 247"/>
            <p:cNvSpPr/>
            <p:nvPr/>
          </p:nvSpPr>
          <p:spPr>
            <a:xfrm>
              <a:off x="7427668" y="3021419"/>
              <a:ext cx="177800" cy="177800"/>
            </a:xfrm>
            <a:custGeom>
              <a:avLst/>
              <a:gdLst/>
              <a:ahLst/>
              <a:cxnLst/>
              <a:rect l="l" t="t" r="r" b="b"/>
              <a:pathLst>
                <a:path w="177800" h="177800">
                  <a:moveTo>
                    <a:pt x="0" y="0"/>
                  </a:moveTo>
                  <a:lnTo>
                    <a:pt x="177721" y="0"/>
                  </a:lnTo>
                  <a:lnTo>
                    <a:pt x="177721" y="177721"/>
                  </a:lnTo>
                  <a:lnTo>
                    <a:pt x="0" y="177721"/>
                  </a:lnTo>
                  <a:lnTo>
                    <a:pt x="0" y="0"/>
                  </a:lnTo>
                  <a:close/>
                </a:path>
              </a:pathLst>
            </a:custGeom>
            <a:ln w="59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8" name="object 248"/>
            <p:cNvSpPr/>
            <p:nvPr/>
          </p:nvSpPr>
          <p:spPr>
            <a:xfrm>
              <a:off x="7606283" y="3320115"/>
              <a:ext cx="426720" cy="153035"/>
            </a:xfrm>
            <a:custGeom>
              <a:avLst/>
              <a:gdLst/>
              <a:ahLst/>
              <a:cxnLst/>
              <a:rect l="l" t="t" r="r" b="b"/>
              <a:pathLst>
                <a:path w="426720" h="153035">
                  <a:moveTo>
                    <a:pt x="0" y="0"/>
                  </a:moveTo>
                  <a:lnTo>
                    <a:pt x="46930" y="16791"/>
                  </a:lnTo>
                  <a:lnTo>
                    <a:pt x="93861" y="33583"/>
                  </a:lnTo>
                  <a:lnTo>
                    <a:pt x="140792" y="50375"/>
                  </a:lnTo>
                  <a:lnTo>
                    <a:pt x="187723" y="67167"/>
                  </a:lnTo>
                  <a:lnTo>
                    <a:pt x="234654" y="83958"/>
                  </a:lnTo>
                  <a:lnTo>
                    <a:pt x="281585" y="100750"/>
                  </a:lnTo>
                  <a:lnTo>
                    <a:pt x="328516" y="117542"/>
                  </a:lnTo>
                  <a:lnTo>
                    <a:pt x="375447" y="134334"/>
                  </a:lnTo>
                  <a:lnTo>
                    <a:pt x="422377" y="151125"/>
                  </a:lnTo>
                  <a:lnTo>
                    <a:pt x="426571" y="152626"/>
                  </a:lnTo>
                </a:path>
              </a:pathLst>
            </a:custGeom>
            <a:ln w="88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9" name="object 249"/>
            <p:cNvSpPr/>
            <p:nvPr/>
          </p:nvSpPr>
          <p:spPr>
            <a:xfrm>
              <a:off x="8020888" y="3449492"/>
              <a:ext cx="51435" cy="43815"/>
            </a:xfrm>
            <a:custGeom>
              <a:avLst/>
              <a:gdLst/>
              <a:ahLst/>
              <a:cxnLst/>
              <a:rect l="l" t="t" r="r" b="b"/>
              <a:pathLst>
                <a:path w="51434" h="43814">
                  <a:moveTo>
                    <a:pt x="15566" y="0"/>
                  </a:moveTo>
                  <a:lnTo>
                    <a:pt x="0" y="43506"/>
                  </a:lnTo>
                  <a:lnTo>
                    <a:pt x="51289" y="37319"/>
                  </a:lnTo>
                  <a:lnTo>
                    <a:pt x="1556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0" name="object 250"/>
            <p:cNvSpPr/>
            <p:nvPr/>
          </p:nvSpPr>
          <p:spPr>
            <a:xfrm>
              <a:off x="7427668" y="3199140"/>
              <a:ext cx="177800" cy="177800"/>
            </a:xfrm>
            <a:custGeom>
              <a:avLst/>
              <a:gdLst/>
              <a:ahLst/>
              <a:cxnLst/>
              <a:rect l="l" t="t" r="r" b="b"/>
              <a:pathLst>
                <a:path w="177800" h="177800">
                  <a:moveTo>
                    <a:pt x="0" y="0"/>
                  </a:moveTo>
                  <a:lnTo>
                    <a:pt x="177721" y="0"/>
                  </a:lnTo>
                  <a:lnTo>
                    <a:pt x="177721" y="177721"/>
                  </a:lnTo>
                  <a:lnTo>
                    <a:pt x="0" y="1777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5D5D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1" name="object 251"/>
            <p:cNvSpPr/>
            <p:nvPr/>
          </p:nvSpPr>
          <p:spPr>
            <a:xfrm>
              <a:off x="7427668" y="3199140"/>
              <a:ext cx="177800" cy="177800"/>
            </a:xfrm>
            <a:custGeom>
              <a:avLst/>
              <a:gdLst/>
              <a:ahLst/>
              <a:cxnLst/>
              <a:rect l="l" t="t" r="r" b="b"/>
              <a:pathLst>
                <a:path w="177800" h="177800">
                  <a:moveTo>
                    <a:pt x="0" y="0"/>
                  </a:moveTo>
                  <a:lnTo>
                    <a:pt x="177721" y="0"/>
                  </a:lnTo>
                  <a:lnTo>
                    <a:pt x="177721" y="177721"/>
                  </a:lnTo>
                  <a:lnTo>
                    <a:pt x="0" y="177721"/>
                  </a:lnTo>
                  <a:lnTo>
                    <a:pt x="0" y="0"/>
                  </a:lnTo>
                  <a:close/>
                </a:path>
              </a:pathLst>
            </a:custGeom>
            <a:ln w="59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2" name="object 252"/>
            <p:cNvSpPr/>
            <p:nvPr/>
          </p:nvSpPr>
          <p:spPr>
            <a:xfrm>
              <a:off x="8252531" y="3187292"/>
              <a:ext cx="156845" cy="0"/>
            </a:xfrm>
            <a:custGeom>
              <a:avLst/>
              <a:gdLst/>
              <a:ahLst/>
              <a:cxnLst/>
              <a:rect l="l" t="t" r="r" b="b"/>
              <a:pathLst>
                <a:path w="156845" h="0">
                  <a:moveTo>
                    <a:pt x="156441" y="0"/>
                  </a:moveTo>
                  <a:lnTo>
                    <a:pt x="151998" y="0"/>
                  </a:lnTo>
                  <a:lnTo>
                    <a:pt x="113998" y="0"/>
                  </a:lnTo>
                  <a:lnTo>
                    <a:pt x="75998" y="0"/>
                  </a:lnTo>
                  <a:lnTo>
                    <a:pt x="37999" y="0"/>
                  </a:lnTo>
                  <a:lnTo>
                    <a:pt x="0" y="0"/>
                  </a:lnTo>
                </a:path>
              </a:pathLst>
            </a:custGeom>
            <a:ln w="88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3" name="object 253"/>
            <p:cNvSpPr/>
            <p:nvPr/>
          </p:nvSpPr>
          <p:spPr>
            <a:xfrm>
              <a:off x="8392978" y="3164188"/>
              <a:ext cx="46355" cy="46355"/>
            </a:xfrm>
            <a:custGeom>
              <a:avLst/>
              <a:gdLst/>
              <a:ahLst/>
              <a:cxnLst/>
              <a:rect l="l" t="t" r="r" b="b"/>
              <a:pathLst>
                <a:path w="46354" h="46355">
                  <a:moveTo>
                    <a:pt x="0" y="0"/>
                  </a:moveTo>
                  <a:lnTo>
                    <a:pt x="11551" y="23103"/>
                  </a:lnTo>
                  <a:lnTo>
                    <a:pt x="0" y="46207"/>
                  </a:lnTo>
                  <a:lnTo>
                    <a:pt x="46207" y="23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4" name="object 254"/>
            <p:cNvSpPr/>
            <p:nvPr/>
          </p:nvSpPr>
          <p:spPr>
            <a:xfrm>
              <a:off x="8073388" y="3098431"/>
              <a:ext cx="177800" cy="177800"/>
            </a:xfrm>
            <a:custGeom>
              <a:avLst/>
              <a:gdLst/>
              <a:ahLst/>
              <a:cxnLst/>
              <a:rect l="l" t="t" r="r" b="b"/>
              <a:pathLst>
                <a:path w="177800" h="177800">
                  <a:moveTo>
                    <a:pt x="0" y="0"/>
                  </a:moveTo>
                  <a:lnTo>
                    <a:pt x="177721" y="0"/>
                  </a:lnTo>
                  <a:lnTo>
                    <a:pt x="177721" y="177721"/>
                  </a:lnTo>
                  <a:lnTo>
                    <a:pt x="0" y="1777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5" name="object 255"/>
            <p:cNvSpPr/>
            <p:nvPr/>
          </p:nvSpPr>
          <p:spPr>
            <a:xfrm>
              <a:off x="8073388" y="3098432"/>
              <a:ext cx="177800" cy="177800"/>
            </a:xfrm>
            <a:custGeom>
              <a:avLst/>
              <a:gdLst/>
              <a:ahLst/>
              <a:cxnLst/>
              <a:rect l="l" t="t" r="r" b="b"/>
              <a:pathLst>
                <a:path w="177800" h="177800">
                  <a:moveTo>
                    <a:pt x="0" y="0"/>
                  </a:moveTo>
                  <a:lnTo>
                    <a:pt x="177721" y="0"/>
                  </a:lnTo>
                  <a:lnTo>
                    <a:pt x="177721" y="177721"/>
                  </a:lnTo>
                  <a:lnTo>
                    <a:pt x="0" y="177721"/>
                  </a:lnTo>
                  <a:lnTo>
                    <a:pt x="0" y="0"/>
                  </a:lnTo>
                  <a:close/>
                </a:path>
              </a:pathLst>
            </a:custGeom>
            <a:ln w="59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6" name="object 256"/>
          <p:cNvSpPr txBox="1"/>
          <p:nvPr/>
        </p:nvSpPr>
        <p:spPr>
          <a:xfrm>
            <a:off x="7312873" y="2682897"/>
            <a:ext cx="62865" cy="1250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650">
                <a:solidFill>
                  <a:srgbClr val="8D3124"/>
                </a:solidFill>
                <a:latin typeface="Lucida Sans Typewriter"/>
                <a:cs typeface="Lucida Sans Typewriter"/>
              </a:rPr>
              <a:t>0</a:t>
            </a:r>
            <a:endParaRPr sz="650">
              <a:latin typeface="Lucida Sans Typewriter"/>
              <a:cs typeface="Lucida Sans Typewriter"/>
            </a:endParaRPr>
          </a:p>
        </p:txBody>
      </p:sp>
      <p:sp>
        <p:nvSpPr>
          <p:cNvPr id="257" name="object 257"/>
          <p:cNvSpPr txBox="1"/>
          <p:nvPr/>
        </p:nvSpPr>
        <p:spPr>
          <a:xfrm>
            <a:off x="7312873" y="2884315"/>
            <a:ext cx="62865" cy="1250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650">
                <a:solidFill>
                  <a:srgbClr val="8D3124"/>
                </a:solidFill>
                <a:latin typeface="Lucida Sans Typewriter"/>
                <a:cs typeface="Lucida Sans Typewriter"/>
              </a:rPr>
              <a:t>1</a:t>
            </a:r>
            <a:endParaRPr sz="650">
              <a:latin typeface="Lucida Sans Typewriter"/>
              <a:cs typeface="Lucida Sans Typewriter"/>
            </a:endParaRPr>
          </a:p>
        </p:txBody>
      </p:sp>
      <p:sp>
        <p:nvSpPr>
          <p:cNvPr id="258" name="object 258"/>
          <p:cNvSpPr txBox="1"/>
          <p:nvPr/>
        </p:nvSpPr>
        <p:spPr>
          <a:xfrm>
            <a:off x="7312873" y="3085732"/>
            <a:ext cx="62865" cy="1250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650">
                <a:solidFill>
                  <a:srgbClr val="8D3124"/>
                </a:solidFill>
                <a:latin typeface="Lucida Sans Typewriter"/>
                <a:cs typeface="Lucida Sans Typewriter"/>
              </a:rPr>
              <a:t>2</a:t>
            </a:r>
            <a:endParaRPr sz="650">
              <a:latin typeface="Lucida Sans Typewriter"/>
              <a:cs typeface="Lucida Sans Typewriter"/>
            </a:endParaRPr>
          </a:p>
        </p:txBody>
      </p:sp>
      <p:sp>
        <p:nvSpPr>
          <p:cNvPr id="259" name="object 259"/>
          <p:cNvSpPr txBox="1"/>
          <p:nvPr/>
        </p:nvSpPr>
        <p:spPr>
          <a:xfrm>
            <a:off x="8073388" y="3098431"/>
            <a:ext cx="177800" cy="17780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35"/>
              </a:spcBef>
            </a:pPr>
            <a:r>
              <a:rPr dirty="0" sz="750" spc="-5">
                <a:latin typeface="Lucida Sans"/>
                <a:cs typeface="Lucida Sans"/>
              </a:rPr>
              <a:t>J</a:t>
            </a:r>
            <a:endParaRPr sz="750">
              <a:latin typeface="Lucida Sans"/>
              <a:cs typeface="Lucida Sans"/>
            </a:endParaRPr>
          </a:p>
        </p:txBody>
      </p:sp>
      <p:grpSp>
        <p:nvGrpSpPr>
          <p:cNvPr id="260" name="object 260"/>
          <p:cNvGrpSpPr/>
          <p:nvPr/>
        </p:nvGrpSpPr>
        <p:grpSpPr>
          <a:xfrm>
            <a:off x="8437503" y="3095257"/>
            <a:ext cx="369570" cy="184150"/>
            <a:chOff x="8437503" y="3095257"/>
            <a:chExt cx="369570" cy="184150"/>
          </a:xfrm>
        </p:grpSpPr>
        <p:sp>
          <p:nvSpPr>
            <p:cNvPr id="261" name="object 261"/>
            <p:cNvSpPr/>
            <p:nvPr/>
          </p:nvSpPr>
          <p:spPr>
            <a:xfrm>
              <a:off x="8619892" y="3187292"/>
              <a:ext cx="145415" cy="0"/>
            </a:xfrm>
            <a:custGeom>
              <a:avLst/>
              <a:gdLst/>
              <a:ahLst/>
              <a:cxnLst/>
              <a:rect l="l" t="t" r="r" b="b"/>
              <a:pathLst>
                <a:path w="145415" h="0">
                  <a:moveTo>
                    <a:pt x="0" y="0"/>
                  </a:moveTo>
                  <a:lnTo>
                    <a:pt x="35111" y="0"/>
                  </a:lnTo>
                  <a:lnTo>
                    <a:pt x="70223" y="0"/>
                  </a:lnTo>
                  <a:lnTo>
                    <a:pt x="105334" y="0"/>
                  </a:lnTo>
                  <a:lnTo>
                    <a:pt x="140445" y="0"/>
                  </a:lnTo>
                  <a:lnTo>
                    <a:pt x="144890" y="0"/>
                  </a:lnTo>
                </a:path>
              </a:pathLst>
            </a:custGeom>
            <a:ln w="88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2" name="object 262"/>
            <p:cNvSpPr/>
            <p:nvPr/>
          </p:nvSpPr>
          <p:spPr>
            <a:xfrm>
              <a:off x="8760339" y="3164189"/>
              <a:ext cx="46355" cy="46355"/>
            </a:xfrm>
            <a:custGeom>
              <a:avLst/>
              <a:gdLst/>
              <a:ahLst/>
              <a:cxnLst/>
              <a:rect l="l" t="t" r="r" b="b"/>
              <a:pathLst>
                <a:path w="46354" h="46355">
                  <a:moveTo>
                    <a:pt x="0" y="0"/>
                  </a:moveTo>
                  <a:lnTo>
                    <a:pt x="0" y="46207"/>
                  </a:lnTo>
                  <a:lnTo>
                    <a:pt x="46207" y="23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3" name="object 263"/>
            <p:cNvSpPr/>
            <p:nvPr/>
          </p:nvSpPr>
          <p:spPr>
            <a:xfrm>
              <a:off x="8440678" y="3098432"/>
              <a:ext cx="177800" cy="177800"/>
            </a:xfrm>
            <a:custGeom>
              <a:avLst/>
              <a:gdLst/>
              <a:ahLst/>
              <a:cxnLst/>
              <a:rect l="l" t="t" r="r" b="b"/>
              <a:pathLst>
                <a:path w="177800" h="177800">
                  <a:moveTo>
                    <a:pt x="0" y="0"/>
                  </a:moveTo>
                  <a:lnTo>
                    <a:pt x="177721" y="0"/>
                  </a:lnTo>
                  <a:lnTo>
                    <a:pt x="177721" y="177721"/>
                  </a:lnTo>
                  <a:lnTo>
                    <a:pt x="0" y="1777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4" name="object 264"/>
            <p:cNvSpPr/>
            <p:nvPr/>
          </p:nvSpPr>
          <p:spPr>
            <a:xfrm>
              <a:off x="8440678" y="3098432"/>
              <a:ext cx="177800" cy="177800"/>
            </a:xfrm>
            <a:custGeom>
              <a:avLst/>
              <a:gdLst/>
              <a:ahLst/>
              <a:cxnLst/>
              <a:rect l="l" t="t" r="r" b="b"/>
              <a:pathLst>
                <a:path w="177800" h="177800">
                  <a:moveTo>
                    <a:pt x="0" y="0"/>
                  </a:moveTo>
                  <a:lnTo>
                    <a:pt x="177721" y="0"/>
                  </a:lnTo>
                  <a:lnTo>
                    <a:pt x="177721" y="177721"/>
                  </a:lnTo>
                  <a:lnTo>
                    <a:pt x="0" y="177721"/>
                  </a:lnTo>
                  <a:lnTo>
                    <a:pt x="0" y="0"/>
                  </a:lnTo>
                  <a:close/>
                </a:path>
              </a:pathLst>
            </a:custGeom>
            <a:ln w="59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5" name="object 265"/>
          <p:cNvSpPr txBox="1"/>
          <p:nvPr/>
        </p:nvSpPr>
        <p:spPr>
          <a:xfrm>
            <a:off x="8440678" y="3098431"/>
            <a:ext cx="177800" cy="17780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35"/>
              </a:spcBef>
            </a:pPr>
            <a:r>
              <a:rPr dirty="0" sz="750" spc="-5">
                <a:latin typeface="Lucida Sans"/>
                <a:cs typeface="Lucida Sans"/>
              </a:rPr>
              <a:t>F</a:t>
            </a:r>
            <a:endParaRPr sz="750">
              <a:latin typeface="Lucida Sans"/>
              <a:cs typeface="Lucida Sans"/>
            </a:endParaRPr>
          </a:p>
        </p:txBody>
      </p:sp>
      <p:grpSp>
        <p:nvGrpSpPr>
          <p:cNvPr id="266" name="object 266"/>
          <p:cNvGrpSpPr/>
          <p:nvPr/>
        </p:nvGrpSpPr>
        <p:grpSpPr>
          <a:xfrm>
            <a:off x="8982667" y="3164188"/>
            <a:ext cx="191135" cy="46355"/>
            <a:chOff x="8982667" y="3164188"/>
            <a:chExt cx="191135" cy="46355"/>
          </a:xfrm>
        </p:grpSpPr>
        <p:sp>
          <p:nvSpPr>
            <p:cNvPr id="267" name="object 267"/>
            <p:cNvSpPr/>
            <p:nvPr/>
          </p:nvSpPr>
          <p:spPr>
            <a:xfrm>
              <a:off x="8987112" y="3187292"/>
              <a:ext cx="156845" cy="0"/>
            </a:xfrm>
            <a:custGeom>
              <a:avLst/>
              <a:gdLst/>
              <a:ahLst/>
              <a:cxnLst/>
              <a:rect l="l" t="t" r="r" b="b"/>
              <a:pathLst>
                <a:path w="156845" h="0">
                  <a:moveTo>
                    <a:pt x="156441" y="0"/>
                  </a:moveTo>
                  <a:lnTo>
                    <a:pt x="151998" y="0"/>
                  </a:lnTo>
                  <a:lnTo>
                    <a:pt x="113998" y="0"/>
                  </a:lnTo>
                  <a:lnTo>
                    <a:pt x="75998" y="0"/>
                  </a:lnTo>
                  <a:lnTo>
                    <a:pt x="37999" y="0"/>
                  </a:lnTo>
                  <a:lnTo>
                    <a:pt x="0" y="0"/>
                  </a:lnTo>
                </a:path>
              </a:pathLst>
            </a:custGeom>
            <a:ln w="88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8" name="object 268"/>
            <p:cNvSpPr/>
            <p:nvPr/>
          </p:nvSpPr>
          <p:spPr>
            <a:xfrm>
              <a:off x="9127558" y="3164188"/>
              <a:ext cx="46355" cy="46355"/>
            </a:xfrm>
            <a:custGeom>
              <a:avLst/>
              <a:gdLst/>
              <a:ahLst/>
              <a:cxnLst/>
              <a:rect l="l" t="t" r="r" b="b"/>
              <a:pathLst>
                <a:path w="46354" h="46355">
                  <a:moveTo>
                    <a:pt x="0" y="0"/>
                  </a:moveTo>
                  <a:lnTo>
                    <a:pt x="11551" y="23103"/>
                  </a:lnTo>
                  <a:lnTo>
                    <a:pt x="0" y="46207"/>
                  </a:lnTo>
                  <a:lnTo>
                    <a:pt x="46207" y="23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9" name="object 269"/>
          <p:cNvSpPr txBox="1"/>
          <p:nvPr/>
        </p:nvSpPr>
        <p:spPr>
          <a:xfrm>
            <a:off x="8805006" y="3095470"/>
            <a:ext cx="184150" cy="184150"/>
          </a:xfrm>
          <a:prstGeom prst="rect">
            <a:avLst/>
          </a:prstGeom>
          <a:solidFill>
            <a:srgbClr val="000000"/>
          </a:solidFill>
        </p:spPr>
        <p:txBody>
          <a:bodyPr wrap="square" lIns="0" tIns="20320" rIns="0" bIns="0" rtlCol="0" vert="horz">
            <a:spAutoFit/>
          </a:bodyPr>
          <a:lstStyle/>
          <a:p>
            <a:pPr marL="58419">
              <a:lnSpc>
                <a:spcPct val="100000"/>
              </a:lnSpc>
              <a:spcBef>
                <a:spcPts val="160"/>
              </a:spcBef>
            </a:pPr>
            <a:r>
              <a:rPr dirty="0" sz="750" spc="-5">
                <a:solidFill>
                  <a:srgbClr val="FFFFFF"/>
                </a:solidFill>
                <a:latin typeface="Lucida Sans"/>
                <a:cs typeface="Lucida Sans"/>
              </a:rPr>
              <a:t>C</a:t>
            </a:r>
            <a:endParaRPr sz="750">
              <a:latin typeface="Lucida Sans"/>
              <a:cs typeface="Lucida Sans"/>
            </a:endParaRPr>
          </a:p>
        </p:txBody>
      </p:sp>
      <p:grpSp>
        <p:nvGrpSpPr>
          <p:cNvPr id="270" name="object 270"/>
          <p:cNvGrpSpPr/>
          <p:nvPr/>
        </p:nvGrpSpPr>
        <p:grpSpPr>
          <a:xfrm>
            <a:off x="9172084" y="3095257"/>
            <a:ext cx="184150" cy="184150"/>
            <a:chOff x="9172084" y="3095257"/>
            <a:chExt cx="184150" cy="184150"/>
          </a:xfrm>
        </p:grpSpPr>
        <p:sp>
          <p:nvSpPr>
            <p:cNvPr id="271" name="object 271"/>
            <p:cNvSpPr/>
            <p:nvPr/>
          </p:nvSpPr>
          <p:spPr>
            <a:xfrm>
              <a:off x="9175259" y="3098432"/>
              <a:ext cx="177800" cy="177800"/>
            </a:xfrm>
            <a:custGeom>
              <a:avLst/>
              <a:gdLst/>
              <a:ahLst/>
              <a:cxnLst/>
              <a:rect l="l" t="t" r="r" b="b"/>
              <a:pathLst>
                <a:path w="177800" h="177800">
                  <a:moveTo>
                    <a:pt x="0" y="0"/>
                  </a:moveTo>
                  <a:lnTo>
                    <a:pt x="177721" y="0"/>
                  </a:lnTo>
                  <a:lnTo>
                    <a:pt x="177721" y="177721"/>
                  </a:lnTo>
                  <a:lnTo>
                    <a:pt x="0" y="1777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2" name="object 272"/>
            <p:cNvSpPr/>
            <p:nvPr/>
          </p:nvSpPr>
          <p:spPr>
            <a:xfrm>
              <a:off x="9175259" y="3098432"/>
              <a:ext cx="177800" cy="177800"/>
            </a:xfrm>
            <a:custGeom>
              <a:avLst/>
              <a:gdLst/>
              <a:ahLst/>
              <a:cxnLst/>
              <a:rect l="l" t="t" r="r" b="b"/>
              <a:pathLst>
                <a:path w="177800" h="177800">
                  <a:moveTo>
                    <a:pt x="0" y="0"/>
                  </a:moveTo>
                  <a:lnTo>
                    <a:pt x="177721" y="0"/>
                  </a:lnTo>
                  <a:lnTo>
                    <a:pt x="177721" y="177721"/>
                  </a:lnTo>
                  <a:lnTo>
                    <a:pt x="0" y="177721"/>
                  </a:lnTo>
                  <a:lnTo>
                    <a:pt x="0" y="0"/>
                  </a:lnTo>
                  <a:close/>
                </a:path>
              </a:pathLst>
            </a:custGeom>
            <a:ln w="59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3" name="object 273"/>
          <p:cNvSpPr txBox="1"/>
          <p:nvPr/>
        </p:nvSpPr>
        <p:spPr>
          <a:xfrm>
            <a:off x="9175259" y="3098431"/>
            <a:ext cx="177800" cy="17780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35"/>
              </a:spcBef>
            </a:pPr>
            <a:r>
              <a:rPr dirty="0" sz="750" spc="-5">
                <a:latin typeface="Lucida Sans"/>
                <a:cs typeface="Lucida Sans"/>
              </a:rPr>
              <a:t>B</a:t>
            </a:r>
            <a:endParaRPr sz="750">
              <a:latin typeface="Lucida Sans"/>
              <a:cs typeface="Lucida Sans"/>
            </a:endParaRPr>
          </a:p>
        </p:txBody>
      </p:sp>
      <p:grpSp>
        <p:nvGrpSpPr>
          <p:cNvPr id="274" name="object 274"/>
          <p:cNvGrpSpPr/>
          <p:nvPr/>
        </p:nvGrpSpPr>
        <p:grpSpPr>
          <a:xfrm>
            <a:off x="8070213" y="3427003"/>
            <a:ext cx="369570" cy="184150"/>
            <a:chOff x="8070213" y="3427003"/>
            <a:chExt cx="369570" cy="184150"/>
          </a:xfrm>
        </p:grpSpPr>
        <p:sp>
          <p:nvSpPr>
            <p:cNvPr id="275" name="object 275"/>
            <p:cNvSpPr/>
            <p:nvPr/>
          </p:nvSpPr>
          <p:spPr>
            <a:xfrm>
              <a:off x="8252602" y="3519038"/>
              <a:ext cx="145415" cy="0"/>
            </a:xfrm>
            <a:custGeom>
              <a:avLst/>
              <a:gdLst/>
              <a:ahLst/>
              <a:cxnLst/>
              <a:rect l="l" t="t" r="r" b="b"/>
              <a:pathLst>
                <a:path w="145415" h="0">
                  <a:moveTo>
                    <a:pt x="0" y="0"/>
                  </a:moveTo>
                  <a:lnTo>
                    <a:pt x="35111" y="0"/>
                  </a:lnTo>
                  <a:lnTo>
                    <a:pt x="70223" y="0"/>
                  </a:lnTo>
                  <a:lnTo>
                    <a:pt x="105335" y="0"/>
                  </a:lnTo>
                  <a:lnTo>
                    <a:pt x="140447" y="0"/>
                  </a:lnTo>
                  <a:lnTo>
                    <a:pt x="144890" y="0"/>
                  </a:lnTo>
                </a:path>
              </a:pathLst>
            </a:custGeom>
            <a:ln w="88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6" name="object 276"/>
            <p:cNvSpPr/>
            <p:nvPr/>
          </p:nvSpPr>
          <p:spPr>
            <a:xfrm>
              <a:off x="8393049" y="3495934"/>
              <a:ext cx="46355" cy="46355"/>
            </a:xfrm>
            <a:custGeom>
              <a:avLst/>
              <a:gdLst/>
              <a:ahLst/>
              <a:cxnLst/>
              <a:rect l="l" t="t" r="r" b="b"/>
              <a:pathLst>
                <a:path w="46354" h="46354">
                  <a:moveTo>
                    <a:pt x="0" y="0"/>
                  </a:moveTo>
                  <a:lnTo>
                    <a:pt x="0" y="46207"/>
                  </a:lnTo>
                  <a:lnTo>
                    <a:pt x="46206" y="23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7" name="object 277"/>
            <p:cNvSpPr/>
            <p:nvPr/>
          </p:nvSpPr>
          <p:spPr>
            <a:xfrm>
              <a:off x="8073388" y="3430178"/>
              <a:ext cx="177800" cy="177800"/>
            </a:xfrm>
            <a:custGeom>
              <a:avLst/>
              <a:gdLst/>
              <a:ahLst/>
              <a:cxnLst/>
              <a:rect l="l" t="t" r="r" b="b"/>
              <a:pathLst>
                <a:path w="177800" h="177800">
                  <a:moveTo>
                    <a:pt x="0" y="0"/>
                  </a:moveTo>
                  <a:lnTo>
                    <a:pt x="177721" y="0"/>
                  </a:lnTo>
                  <a:lnTo>
                    <a:pt x="177721" y="177721"/>
                  </a:lnTo>
                  <a:lnTo>
                    <a:pt x="0" y="1777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8" name="object 278"/>
            <p:cNvSpPr/>
            <p:nvPr/>
          </p:nvSpPr>
          <p:spPr>
            <a:xfrm>
              <a:off x="8073388" y="3430178"/>
              <a:ext cx="177800" cy="177800"/>
            </a:xfrm>
            <a:custGeom>
              <a:avLst/>
              <a:gdLst/>
              <a:ahLst/>
              <a:cxnLst/>
              <a:rect l="l" t="t" r="r" b="b"/>
              <a:pathLst>
                <a:path w="177800" h="177800">
                  <a:moveTo>
                    <a:pt x="0" y="0"/>
                  </a:moveTo>
                  <a:lnTo>
                    <a:pt x="177721" y="0"/>
                  </a:lnTo>
                  <a:lnTo>
                    <a:pt x="177721" y="177721"/>
                  </a:lnTo>
                  <a:lnTo>
                    <a:pt x="0" y="177721"/>
                  </a:lnTo>
                  <a:lnTo>
                    <a:pt x="0" y="0"/>
                  </a:lnTo>
                  <a:close/>
                </a:path>
              </a:pathLst>
            </a:custGeom>
            <a:ln w="59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9" name="object 279"/>
          <p:cNvSpPr txBox="1"/>
          <p:nvPr/>
        </p:nvSpPr>
        <p:spPr>
          <a:xfrm>
            <a:off x="8073388" y="3430177"/>
            <a:ext cx="177800" cy="17780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51435">
              <a:lnSpc>
                <a:spcPct val="100000"/>
              </a:lnSpc>
              <a:spcBef>
                <a:spcPts val="135"/>
              </a:spcBef>
            </a:pPr>
            <a:r>
              <a:rPr dirty="0" sz="750" spc="-5">
                <a:latin typeface="Lucida Sans"/>
                <a:cs typeface="Lucida Sans"/>
              </a:rPr>
              <a:t>O</a:t>
            </a:r>
            <a:endParaRPr sz="750">
              <a:latin typeface="Lucida Sans"/>
              <a:cs typeface="Lucida Sans"/>
            </a:endParaRPr>
          </a:p>
        </p:txBody>
      </p:sp>
      <p:grpSp>
        <p:nvGrpSpPr>
          <p:cNvPr id="280" name="object 280"/>
          <p:cNvGrpSpPr/>
          <p:nvPr/>
        </p:nvGrpSpPr>
        <p:grpSpPr>
          <a:xfrm>
            <a:off x="8437503" y="2431765"/>
            <a:ext cx="3005455" cy="1179830"/>
            <a:chOff x="8437503" y="2431765"/>
            <a:chExt cx="3005455" cy="1179830"/>
          </a:xfrm>
        </p:grpSpPr>
        <p:sp>
          <p:nvSpPr>
            <p:cNvPr id="281" name="object 281"/>
            <p:cNvSpPr/>
            <p:nvPr/>
          </p:nvSpPr>
          <p:spPr>
            <a:xfrm>
              <a:off x="8440678" y="3430178"/>
              <a:ext cx="177800" cy="177800"/>
            </a:xfrm>
            <a:custGeom>
              <a:avLst/>
              <a:gdLst/>
              <a:ahLst/>
              <a:cxnLst/>
              <a:rect l="l" t="t" r="r" b="b"/>
              <a:pathLst>
                <a:path w="177800" h="177800">
                  <a:moveTo>
                    <a:pt x="0" y="0"/>
                  </a:moveTo>
                  <a:lnTo>
                    <a:pt x="177721" y="0"/>
                  </a:lnTo>
                  <a:lnTo>
                    <a:pt x="177721" y="177721"/>
                  </a:lnTo>
                  <a:lnTo>
                    <a:pt x="0" y="1777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2" name="object 282"/>
            <p:cNvSpPr/>
            <p:nvPr/>
          </p:nvSpPr>
          <p:spPr>
            <a:xfrm>
              <a:off x="8440678" y="3430178"/>
              <a:ext cx="177800" cy="177800"/>
            </a:xfrm>
            <a:custGeom>
              <a:avLst/>
              <a:gdLst/>
              <a:ahLst/>
              <a:cxnLst/>
              <a:rect l="l" t="t" r="r" b="b"/>
              <a:pathLst>
                <a:path w="177800" h="177800">
                  <a:moveTo>
                    <a:pt x="0" y="0"/>
                  </a:moveTo>
                  <a:lnTo>
                    <a:pt x="177721" y="0"/>
                  </a:lnTo>
                  <a:lnTo>
                    <a:pt x="177721" y="177721"/>
                  </a:lnTo>
                  <a:lnTo>
                    <a:pt x="0" y="177721"/>
                  </a:lnTo>
                  <a:lnTo>
                    <a:pt x="0" y="0"/>
                  </a:lnTo>
                  <a:close/>
                </a:path>
              </a:pathLst>
            </a:custGeom>
            <a:ln w="59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3" name="object 283"/>
            <p:cNvSpPr/>
            <p:nvPr/>
          </p:nvSpPr>
          <p:spPr>
            <a:xfrm>
              <a:off x="10610985" y="2566555"/>
              <a:ext cx="435609" cy="156210"/>
            </a:xfrm>
            <a:custGeom>
              <a:avLst/>
              <a:gdLst/>
              <a:ahLst/>
              <a:cxnLst/>
              <a:rect l="l" t="t" r="r" b="b"/>
              <a:pathLst>
                <a:path w="435609" h="156210">
                  <a:moveTo>
                    <a:pt x="435256" y="0"/>
                  </a:moveTo>
                  <a:lnTo>
                    <a:pt x="383174" y="18634"/>
                  </a:lnTo>
                  <a:lnTo>
                    <a:pt x="335277" y="35772"/>
                  </a:lnTo>
                  <a:lnTo>
                    <a:pt x="287379" y="52910"/>
                  </a:lnTo>
                  <a:lnTo>
                    <a:pt x="239482" y="70047"/>
                  </a:lnTo>
                  <a:lnTo>
                    <a:pt x="191585" y="87184"/>
                  </a:lnTo>
                  <a:lnTo>
                    <a:pt x="143689" y="104322"/>
                  </a:lnTo>
                  <a:lnTo>
                    <a:pt x="95792" y="121459"/>
                  </a:lnTo>
                  <a:lnTo>
                    <a:pt x="47896" y="138596"/>
                  </a:lnTo>
                  <a:lnTo>
                    <a:pt x="0" y="155733"/>
                  </a:lnTo>
                </a:path>
              </a:pathLst>
            </a:custGeom>
            <a:ln w="88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4" name="object 284"/>
            <p:cNvSpPr/>
            <p:nvPr/>
          </p:nvSpPr>
          <p:spPr>
            <a:xfrm>
              <a:off x="11023399" y="2550190"/>
              <a:ext cx="51435" cy="43815"/>
            </a:xfrm>
            <a:custGeom>
              <a:avLst/>
              <a:gdLst/>
              <a:ahLst/>
              <a:cxnLst/>
              <a:rect l="l" t="t" r="r" b="b"/>
              <a:pathLst>
                <a:path w="51434" h="43814">
                  <a:moveTo>
                    <a:pt x="0" y="0"/>
                  </a:moveTo>
                  <a:lnTo>
                    <a:pt x="18660" y="17861"/>
                  </a:lnTo>
                  <a:lnTo>
                    <a:pt x="15567" y="43506"/>
                  </a:lnTo>
                  <a:lnTo>
                    <a:pt x="51289" y="618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5" name="object 285"/>
            <p:cNvSpPr/>
            <p:nvPr/>
          </p:nvSpPr>
          <p:spPr>
            <a:xfrm>
              <a:off x="11256089" y="2523800"/>
              <a:ext cx="145415" cy="0"/>
            </a:xfrm>
            <a:custGeom>
              <a:avLst/>
              <a:gdLst/>
              <a:ahLst/>
              <a:cxnLst/>
              <a:rect l="l" t="t" r="r" b="b"/>
              <a:pathLst>
                <a:path w="145415" h="0">
                  <a:moveTo>
                    <a:pt x="0" y="0"/>
                  </a:moveTo>
                  <a:lnTo>
                    <a:pt x="35111" y="0"/>
                  </a:lnTo>
                  <a:lnTo>
                    <a:pt x="70222" y="0"/>
                  </a:lnTo>
                  <a:lnTo>
                    <a:pt x="105334" y="0"/>
                  </a:lnTo>
                  <a:lnTo>
                    <a:pt x="140445" y="0"/>
                  </a:lnTo>
                  <a:lnTo>
                    <a:pt x="144888" y="0"/>
                  </a:lnTo>
                </a:path>
              </a:pathLst>
            </a:custGeom>
            <a:ln w="88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6" name="object 286"/>
            <p:cNvSpPr/>
            <p:nvPr/>
          </p:nvSpPr>
          <p:spPr>
            <a:xfrm>
              <a:off x="11396534" y="2500696"/>
              <a:ext cx="46355" cy="46355"/>
            </a:xfrm>
            <a:custGeom>
              <a:avLst/>
              <a:gdLst/>
              <a:ahLst/>
              <a:cxnLst/>
              <a:rect l="l" t="t" r="r" b="b"/>
              <a:pathLst>
                <a:path w="46354" h="46355">
                  <a:moveTo>
                    <a:pt x="0" y="0"/>
                  </a:moveTo>
                  <a:lnTo>
                    <a:pt x="0" y="46207"/>
                  </a:lnTo>
                  <a:lnTo>
                    <a:pt x="46207" y="23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7" name="object 287"/>
            <p:cNvSpPr/>
            <p:nvPr/>
          </p:nvSpPr>
          <p:spPr>
            <a:xfrm>
              <a:off x="11076874" y="2434939"/>
              <a:ext cx="177800" cy="177800"/>
            </a:xfrm>
            <a:custGeom>
              <a:avLst/>
              <a:gdLst/>
              <a:ahLst/>
              <a:cxnLst/>
              <a:rect l="l" t="t" r="r" b="b"/>
              <a:pathLst>
                <a:path w="177800" h="177800">
                  <a:moveTo>
                    <a:pt x="0" y="0"/>
                  </a:moveTo>
                  <a:lnTo>
                    <a:pt x="177721" y="0"/>
                  </a:lnTo>
                  <a:lnTo>
                    <a:pt x="177721" y="177721"/>
                  </a:lnTo>
                  <a:lnTo>
                    <a:pt x="0" y="1777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8" name="object 288"/>
            <p:cNvSpPr/>
            <p:nvPr/>
          </p:nvSpPr>
          <p:spPr>
            <a:xfrm>
              <a:off x="11076874" y="2434940"/>
              <a:ext cx="177800" cy="177800"/>
            </a:xfrm>
            <a:custGeom>
              <a:avLst/>
              <a:gdLst/>
              <a:ahLst/>
              <a:cxnLst/>
              <a:rect l="l" t="t" r="r" b="b"/>
              <a:pathLst>
                <a:path w="177800" h="177800">
                  <a:moveTo>
                    <a:pt x="0" y="0"/>
                  </a:moveTo>
                  <a:lnTo>
                    <a:pt x="177721" y="0"/>
                  </a:lnTo>
                  <a:lnTo>
                    <a:pt x="177721" y="177721"/>
                  </a:lnTo>
                  <a:lnTo>
                    <a:pt x="0" y="177721"/>
                  </a:lnTo>
                  <a:lnTo>
                    <a:pt x="0" y="0"/>
                  </a:lnTo>
                  <a:close/>
                </a:path>
              </a:pathLst>
            </a:custGeom>
            <a:ln w="59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9" name="object 289"/>
          <p:cNvSpPr txBox="1"/>
          <p:nvPr/>
        </p:nvSpPr>
        <p:spPr>
          <a:xfrm>
            <a:off x="7419506" y="2499252"/>
            <a:ext cx="212725" cy="1250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650">
                <a:solidFill>
                  <a:srgbClr val="8D3124"/>
                </a:solidFill>
                <a:latin typeface="Lucida Sans Typewriter"/>
                <a:cs typeface="Lucida Sans Typewriter"/>
              </a:rPr>
              <a:t>st[]</a:t>
            </a:r>
            <a:endParaRPr sz="650">
              <a:latin typeface="Lucida Sans Typewriter"/>
              <a:cs typeface="Lucida Sans Typewriter"/>
            </a:endParaRPr>
          </a:p>
        </p:txBody>
      </p:sp>
      <p:sp>
        <p:nvSpPr>
          <p:cNvPr id="290" name="object 290"/>
          <p:cNvSpPr txBox="1"/>
          <p:nvPr/>
        </p:nvSpPr>
        <p:spPr>
          <a:xfrm>
            <a:off x="11076875" y="2434939"/>
            <a:ext cx="177800" cy="17780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57785">
              <a:lnSpc>
                <a:spcPct val="100000"/>
              </a:lnSpc>
              <a:spcBef>
                <a:spcPts val="135"/>
              </a:spcBef>
            </a:pPr>
            <a:r>
              <a:rPr dirty="0" sz="750" spc="-5">
                <a:latin typeface="Lucida Sans"/>
                <a:cs typeface="Lucida Sans"/>
              </a:rPr>
              <a:t>K</a:t>
            </a:r>
            <a:endParaRPr sz="750">
              <a:latin typeface="Lucida Sans"/>
              <a:cs typeface="Lucida Sans"/>
            </a:endParaRPr>
          </a:p>
        </p:txBody>
      </p:sp>
      <p:sp>
        <p:nvSpPr>
          <p:cNvPr id="291" name="object 291"/>
          <p:cNvSpPr txBox="1"/>
          <p:nvPr/>
        </p:nvSpPr>
        <p:spPr>
          <a:xfrm>
            <a:off x="11444165" y="2434940"/>
            <a:ext cx="177800" cy="177800"/>
          </a:xfrm>
          <a:prstGeom prst="rect">
            <a:avLst/>
          </a:prstGeom>
          <a:solidFill>
            <a:srgbClr val="FFFFFF"/>
          </a:solidFill>
          <a:ln w="5924">
            <a:solidFill>
              <a:srgbClr val="000000"/>
            </a:solidFill>
          </a:ln>
        </p:spPr>
        <p:txBody>
          <a:bodyPr wrap="square" lIns="0" tIns="1714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35"/>
              </a:spcBef>
            </a:pPr>
            <a:r>
              <a:rPr dirty="0" sz="750" spc="-5">
                <a:latin typeface="Lucida Sans"/>
                <a:cs typeface="Lucida Sans"/>
              </a:rPr>
              <a:t>I</a:t>
            </a:r>
            <a:endParaRPr sz="750">
              <a:latin typeface="Lucida Sans"/>
              <a:cs typeface="Lucida Sans"/>
            </a:endParaRPr>
          </a:p>
        </p:txBody>
      </p:sp>
      <p:grpSp>
        <p:nvGrpSpPr>
          <p:cNvPr id="292" name="object 292"/>
          <p:cNvGrpSpPr/>
          <p:nvPr/>
        </p:nvGrpSpPr>
        <p:grpSpPr>
          <a:xfrm>
            <a:off x="10605970" y="2763724"/>
            <a:ext cx="836930" cy="184150"/>
            <a:chOff x="10605970" y="2763724"/>
            <a:chExt cx="836930" cy="184150"/>
          </a:xfrm>
        </p:grpSpPr>
        <p:sp>
          <p:nvSpPr>
            <p:cNvPr id="293" name="object 293"/>
            <p:cNvSpPr/>
            <p:nvPr/>
          </p:nvSpPr>
          <p:spPr>
            <a:xfrm>
              <a:off x="11256089" y="2855546"/>
              <a:ext cx="145415" cy="0"/>
            </a:xfrm>
            <a:custGeom>
              <a:avLst/>
              <a:gdLst/>
              <a:ahLst/>
              <a:cxnLst/>
              <a:rect l="l" t="t" r="r" b="b"/>
              <a:pathLst>
                <a:path w="145415" h="0">
                  <a:moveTo>
                    <a:pt x="0" y="0"/>
                  </a:moveTo>
                  <a:lnTo>
                    <a:pt x="35111" y="0"/>
                  </a:lnTo>
                  <a:lnTo>
                    <a:pt x="70222" y="0"/>
                  </a:lnTo>
                  <a:lnTo>
                    <a:pt x="105334" y="0"/>
                  </a:lnTo>
                  <a:lnTo>
                    <a:pt x="140445" y="0"/>
                  </a:lnTo>
                  <a:lnTo>
                    <a:pt x="144888" y="0"/>
                  </a:lnTo>
                </a:path>
              </a:pathLst>
            </a:custGeom>
            <a:ln w="88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4" name="object 294"/>
            <p:cNvSpPr/>
            <p:nvPr/>
          </p:nvSpPr>
          <p:spPr>
            <a:xfrm>
              <a:off x="11396535" y="2832442"/>
              <a:ext cx="46355" cy="46355"/>
            </a:xfrm>
            <a:custGeom>
              <a:avLst/>
              <a:gdLst/>
              <a:ahLst/>
              <a:cxnLst/>
              <a:rect l="l" t="t" r="r" b="b"/>
              <a:pathLst>
                <a:path w="46354" h="46355">
                  <a:moveTo>
                    <a:pt x="0" y="0"/>
                  </a:moveTo>
                  <a:lnTo>
                    <a:pt x="0" y="46207"/>
                  </a:lnTo>
                  <a:lnTo>
                    <a:pt x="46207" y="23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5" name="object 295"/>
            <p:cNvSpPr/>
            <p:nvPr/>
          </p:nvSpPr>
          <p:spPr>
            <a:xfrm>
              <a:off x="10610415" y="2871288"/>
              <a:ext cx="423545" cy="50800"/>
            </a:xfrm>
            <a:custGeom>
              <a:avLst/>
              <a:gdLst/>
              <a:ahLst/>
              <a:cxnLst/>
              <a:rect l="l" t="t" r="r" b="b"/>
              <a:pathLst>
                <a:path w="423545" h="50800">
                  <a:moveTo>
                    <a:pt x="0" y="50488"/>
                  </a:moveTo>
                  <a:lnTo>
                    <a:pt x="52364" y="44243"/>
                  </a:lnTo>
                  <a:lnTo>
                    <a:pt x="104728" y="37998"/>
                  </a:lnTo>
                  <a:lnTo>
                    <a:pt x="157092" y="31752"/>
                  </a:lnTo>
                  <a:lnTo>
                    <a:pt x="209457" y="25507"/>
                  </a:lnTo>
                  <a:lnTo>
                    <a:pt x="261821" y="19262"/>
                  </a:lnTo>
                  <a:lnTo>
                    <a:pt x="314185" y="13017"/>
                  </a:lnTo>
                  <a:lnTo>
                    <a:pt x="366549" y="6771"/>
                  </a:lnTo>
                  <a:lnTo>
                    <a:pt x="418913" y="526"/>
                  </a:lnTo>
                  <a:lnTo>
                    <a:pt x="423327" y="0"/>
                  </a:lnTo>
                </a:path>
              </a:pathLst>
            </a:custGeom>
            <a:ln w="88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96" name="object 29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026595" y="2763724"/>
              <a:ext cx="230962" cy="183645"/>
            </a:xfrm>
            <a:prstGeom prst="rect">
              <a:avLst/>
            </a:prstGeom>
          </p:spPr>
        </p:pic>
      </p:grpSp>
      <p:sp>
        <p:nvSpPr>
          <p:cNvPr id="297" name="object 297"/>
          <p:cNvSpPr txBox="1"/>
          <p:nvPr/>
        </p:nvSpPr>
        <p:spPr>
          <a:xfrm>
            <a:off x="11139527" y="2771758"/>
            <a:ext cx="65405" cy="1397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750" spc="-5">
                <a:latin typeface="Lucida Sans"/>
                <a:cs typeface="Lucida Sans"/>
              </a:rPr>
              <a:t>P</a:t>
            </a:r>
            <a:endParaRPr sz="750">
              <a:latin typeface="Lucida Sans"/>
              <a:cs typeface="Lucida Sans"/>
            </a:endParaRPr>
          </a:p>
        </p:txBody>
      </p:sp>
      <p:grpSp>
        <p:nvGrpSpPr>
          <p:cNvPr id="298" name="object 298"/>
          <p:cNvGrpSpPr/>
          <p:nvPr/>
        </p:nvGrpSpPr>
        <p:grpSpPr>
          <a:xfrm>
            <a:off x="11440990" y="2763511"/>
            <a:ext cx="369570" cy="184150"/>
            <a:chOff x="11440990" y="2763511"/>
            <a:chExt cx="369570" cy="184150"/>
          </a:xfrm>
        </p:grpSpPr>
        <p:sp>
          <p:nvSpPr>
            <p:cNvPr id="299" name="object 299"/>
            <p:cNvSpPr/>
            <p:nvPr/>
          </p:nvSpPr>
          <p:spPr>
            <a:xfrm>
              <a:off x="11623309" y="2855546"/>
              <a:ext cx="156845" cy="0"/>
            </a:xfrm>
            <a:custGeom>
              <a:avLst/>
              <a:gdLst/>
              <a:ahLst/>
              <a:cxnLst/>
              <a:rect l="l" t="t" r="r" b="b"/>
              <a:pathLst>
                <a:path w="156845" h="0">
                  <a:moveTo>
                    <a:pt x="156441" y="0"/>
                  </a:moveTo>
                  <a:lnTo>
                    <a:pt x="151998" y="0"/>
                  </a:lnTo>
                  <a:lnTo>
                    <a:pt x="113998" y="0"/>
                  </a:lnTo>
                  <a:lnTo>
                    <a:pt x="75998" y="0"/>
                  </a:lnTo>
                  <a:lnTo>
                    <a:pt x="37999" y="0"/>
                  </a:lnTo>
                  <a:lnTo>
                    <a:pt x="0" y="0"/>
                  </a:lnTo>
                </a:path>
              </a:pathLst>
            </a:custGeom>
            <a:ln w="88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0" name="object 300"/>
            <p:cNvSpPr/>
            <p:nvPr/>
          </p:nvSpPr>
          <p:spPr>
            <a:xfrm>
              <a:off x="11763755" y="2832442"/>
              <a:ext cx="46355" cy="46355"/>
            </a:xfrm>
            <a:custGeom>
              <a:avLst/>
              <a:gdLst/>
              <a:ahLst/>
              <a:cxnLst/>
              <a:rect l="l" t="t" r="r" b="b"/>
              <a:pathLst>
                <a:path w="46354" h="46355">
                  <a:moveTo>
                    <a:pt x="0" y="0"/>
                  </a:moveTo>
                  <a:lnTo>
                    <a:pt x="11551" y="23103"/>
                  </a:lnTo>
                  <a:lnTo>
                    <a:pt x="0" y="46207"/>
                  </a:lnTo>
                  <a:lnTo>
                    <a:pt x="46207" y="23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1" name="object 301"/>
            <p:cNvSpPr/>
            <p:nvPr/>
          </p:nvSpPr>
          <p:spPr>
            <a:xfrm>
              <a:off x="11444165" y="2766685"/>
              <a:ext cx="177800" cy="177800"/>
            </a:xfrm>
            <a:custGeom>
              <a:avLst/>
              <a:gdLst/>
              <a:ahLst/>
              <a:cxnLst/>
              <a:rect l="l" t="t" r="r" b="b"/>
              <a:pathLst>
                <a:path w="177800" h="177800">
                  <a:moveTo>
                    <a:pt x="0" y="0"/>
                  </a:moveTo>
                  <a:lnTo>
                    <a:pt x="177721" y="0"/>
                  </a:lnTo>
                  <a:lnTo>
                    <a:pt x="177721" y="177721"/>
                  </a:lnTo>
                  <a:lnTo>
                    <a:pt x="0" y="1777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2" name="object 302"/>
            <p:cNvSpPr/>
            <p:nvPr/>
          </p:nvSpPr>
          <p:spPr>
            <a:xfrm>
              <a:off x="11444165" y="2766686"/>
              <a:ext cx="177800" cy="177800"/>
            </a:xfrm>
            <a:custGeom>
              <a:avLst/>
              <a:gdLst/>
              <a:ahLst/>
              <a:cxnLst/>
              <a:rect l="l" t="t" r="r" b="b"/>
              <a:pathLst>
                <a:path w="177800" h="177800">
                  <a:moveTo>
                    <a:pt x="0" y="0"/>
                  </a:moveTo>
                  <a:lnTo>
                    <a:pt x="177721" y="0"/>
                  </a:lnTo>
                  <a:lnTo>
                    <a:pt x="177721" y="177721"/>
                  </a:lnTo>
                  <a:lnTo>
                    <a:pt x="0" y="177721"/>
                  </a:lnTo>
                  <a:lnTo>
                    <a:pt x="0" y="0"/>
                  </a:lnTo>
                  <a:close/>
                </a:path>
              </a:pathLst>
            </a:custGeom>
            <a:ln w="59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3" name="object 303"/>
          <p:cNvSpPr txBox="1"/>
          <p:nvPr/>
        </p:nvSpPr>
        <p:spPr>
          <a:xfrm>
            <a:off x="11444165" y="2766685"/>
            <a:ext cx="177800" cy="17780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53340">
              <a:lnSpc>
                <a:spcPct val="100000"/>
              </a:lnSpc>
              <a:spcBef>
                <a:spcPts val="135"/>
              </a:spcBef>
            </a:pPr>
            <a:r>
              <a:rPr dirty="0" sz="750" spc="-5">
                <a:latin typeface="Lucida Sans"/>
                <a:cs typeface="Lucida Sans"/>
              </a:rPr>
              <a:t>N</a:t>
            </a:r>
            <a:endParaRPr sz="750">
              <a:latin typeface="Lucida Sans"/>
              <a:cs typeface="Lucida Sans"/>
            </a:endParaRPr>
          </a:p>
        </p:txBody>
      </p:sp>
      <p:grpSp>
        <p:nvGrpSpPr>
          <p:cNvPr id="304" name="object 304"/>
          <p:cNvGrpSpPr/>
          <p:nvPr/>
        </p:nvGrpSpPr>
        <p:grpSpPr>
          <a:xfrm>
            <a:off x="11808280" y="2763511"/>
            <a:ext cx="184150" cy="184150"/>
            <a:chOff x="11808280" y="2763511"/>
            <a:chExt cx="184150" cy="184150"/>
          </a:xfrm>
        </p:grpSpPr>
        <p:sp>
          <p:nvSpPr>
            <p:cNvPr id="305" name="object 305"/>
            <p:cNvSpPr/>
            <p:nvPr/>
          </p:nvSpPr>
          <p:spPr>
            <a:xfrm>
              <a:off x="11811455" y="2766685"/>
              <a:ext cx="177800" cy="177800"/>
            </a:xfrm>
            <a:custGeom>
              <a:avLst/>
              <a:gdLst/>
              <a:ahLst/>
              <a:cxnLst/>
              <a:rect l="l" t="t" r="r" b="b"/>
              <a:pathLst>
                <a:path w="177800" h="177800">
                  <a:moveTo>
                    <a:pt x="0" y="0"/>
                  </a:moveTo>
                  <a:lnTo>
                    <a:pt x="177721" y="0"/>
                  </a:lnTo>
                  <a:lnTo>
                    <a:pt x="177721" y="177721"/>
                  </a:lnTo>
                  <a:lnTo>
                    <a:pt x="0" y="1777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6" name="object 306"/>
            <p:cNvSpPr/>
            <p:nvPr/>
          </p:nvSpPr>
          <p:spPr>
            <a:xfrm>
              <a:off x="11811455" y="2766686"/>
              <a:ext cx="177800" cy="177800"/>
            </a:xfrm>
            <a:custGeom>
              <a:avLst/>
              <a:gdLst/>
              <a:ahLst/>
              <a:cxnLst/>
              <a:rect l="l" t="t" r="r" b="b"/>
              <a:pathLst>
                <a:path w="177800" h="177800">
                  <a:moveTo>
                    <a:pt x="0" y="0"/>
                  </a:moveTo>
                  <a:lnTo>
                    <a:pt x="177721" y="0"/>
                  </a:lnTo>
                  <a:lnTo>
                    <a:pt x="177721" y="177721"/>
                  </a:lnTo>
                  <a:lnTo>
                    <a:pt x="0" y="177721"/>
                  </a:lnTo>
                  <a:lnTo>
                    <a:pt x="0" y="0"/>
                  </a:lnTo>
                  <a:close/>
                </a:path>
              </a:pathLst>
            </a:custGeom>
            <a:ln w="59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7" name="object 307"/>
          <p:cNvSpPr txBox="1"/>
          <p:nvPr/>
        </p:nvSpPr>
        <p:spPr>
          <a:xfrm>
            <a:off x="11811455" y="2766685"/>
            <a:ext cx="177800" cy="17780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35"/>
              </a:spcBef>
            </a:pPr>
            <a:r>
              <a:rPr dirty="0" sz="750" spc="-5">
                <a:latin typeface="Lucida Sans"/>
                <a:cs typeface="Lucida Sans"/>
              </a:rPr>
              <a:t>L</a:t>
            </a:r>
            <a:endParaRPr sz="750">
              <a:latin typeface="Lucida Sans"/>
              <a:cs typeface="Lucida Sans"/>
            </a:endParaRPr>
          </a:p>
        </p:txBody>
      </p:sp>
      <p:grpSp>
        <p:nvGrpSpPr>
          <p:cNvPr id="308" name="object 308"/>
          <p:cNvGrpSpPr/>
          <p:nvPr/>
        </p:nvGrpSpPr>
        <p:grpSpPr>
          <a:xfrm>
            <a:off x="10427979" y="2663015"/>
            <a:ext cx="1014730" cy="830580"/>
            <a:chOff x="10427979" y="2663015"/>
            <a:chExt cx="1014730" cy="830580"/>
          </a:xfrm>
        </p:grpSpPr>
        <p:pic>
          <p:nvPicPr>
            <p:cNvPr id="309" name="object 30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428192" y="2663015"/>
              <a:ext cx="183645" cy="361366"/>
            </a:xfrm>
            <a:prstGeom prst="rect">
              <a:avLst/>
            </a:prstGeom>
          </p:spPr>
        </p:pic>
        <p:sp>
          <p:nvSpPr>
            <p:cNvPr id="310" name="object 310"/>
            <p:cNvSpPr/>
            <p:nvPr/>
          </p:nvSpPr>
          <p:spPr>
            <a:xfrm>
              <a:off x="10610415" y="3121062"/>
              <a:ext cx="424180" cy="50800"/>
            </a:xfrm>
            <a:custGeom>
              <a:avLst/>
              <a:gdLst/>
              <a:ahLst/>
              <a:cxnLst/>
              <a:rect l="l" t="t" r="r" b="b"/>
              <a:pathLst>
                <a:path w="424179" h="50800">
                  <a:moveTo>
                    <a:pt x="0" y="0"/>
                  </a:moveTo>
                  <a:lnTo>
                    <a:pt x="52433" y="6253"/>
                  </a:lnTo>
                  <a:lnTo>
                    <a:pt x="104867" y="12507"/>
                  </a:lnTo>
                  <a:lnTo>
                    <a:pt x="157300" y="18760"/>
                  </a:lnTo>
                  <a:lnTo>
                    <a:pt x="209734" y="25014"/>
                  </a:lnTo>
                  <a:lnTo>
                    <a:pt x="262168" y="31267"/>
                  </a:lnTo>
                  <a:lnTo>
                    <a:pt x="314601" y="37521"/>
                  </a:lnTo>
                  <a:lnTo>
                    <a:pt x="367035" y="43774"/>
                  </a:lnTo>
                  <a:lnTo>
                    <a:pt x="419469" y="50028"/>
                  </a:lnTo>
                  <a:lnTo>
                    <a:pt x="423883" y="50554"/>
                  </a:lnTo>
                </a:path>
              </a:pathLst>
            </a:custGeom>
            <a:ln w="88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1" name="object 311"/>
            <p:cNvSpPr/>
            <p:nvPr/>
          </p:nvSpPr>
          <p:spPr>
            <a:xfrm>
              <a:off x="11027150" y="3148148"/>
              <a:ext cx="48895" cy="46355"/>
            </a:xfrm>
            <a:custGeom>
              <a:avLst/>
              <a:gdLst/>
              <a:ahLst/>
              <a:cxnLst/>
              <a:rect l="l" t="t" r="r" b="b"/>
              <a:pathLst>
                <a:path w="48895" h="46355">
                  <a:moveTo>
                    <a:pt x="5472" y="0"/>
                  </a:moveTo>
                  <a:lnTo>
                    <a:pt x="0" y="45882"/>
                  </a:lnTo>
                  <a:lnTo>
                    <a:pt x="48618" y="28413"/>
                  </a:lnTo>
                  <a:lnTo>
                    <a:pt x="547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2" name="object 312"/>
            <p:cNvSpPr/>
            <p:nvPr/>
          </p:nvSpPr>
          <p:spPr>
            <a:xfrm>
              <a:off x="10431154" y="3021419"/>
              <a:ext cx="177800" cy="177800"/>
            </a:xfrm>
            <a:custGeom>
              <a:avLst/>
              <a:gdLst/>
              <a:ahLst/>
              <a:cxnLst/>
              <a:rect l="l" t="t" r="r" b="b"/>
              <a:pathLst>
                <a:path w="177800" h="177800">
                  <a:moveTo>
                    <a:pt x="0" y="0"/>
                  </a:moveTo>
                  <a:lnTo>
                    <a:pt x="177721" y="0"/>
                  </a:lnTo>
                  <a:lnTo>
                    <a:pt x="177721" y="177721"/>
                  </a:lnTo>
                  <a:lnTo>
                    <a:pt x="0" y="1777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5D5D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3" name="object 313"/>
            <p:cNvSpPr/>
            <p:nvPr/>
          </p:nvSpPr>
          <p:spPr>
            <a:xfrm>
              <a:off x="10431154" y="3021419"/>
              <a:ext cx="177800" cy="177800"/>
            </a:xfrm>
            <a:custGeom>
              <a:avLst/>
              <a:gdLst/>
              <a:ahLst/>
              <a:cxnLst/>
              <a:rect l="l" t="t" r="r" b="b"/>
              <a:pathLst>
                <a:path w="177800" h="177800">
                  <a:moveTo>
                    <a:pt x="0" y="0"/>
                  </a:moveTo>
                  <a:lnTo>
                    <a:pt x="177721" y="0"/>
                  </a:lnTo>
                  <a:lnTo>
                    <a:pt x="177721" y="177721"/>
                  </a:lnTo>
                  <a:lnTo>
                    <a:pt x="0" y="177721"/>
                  </a:lnTo>
                  <a:lnTo>
                    <a:pt x="0" y="0"/>
                  </a:lnTo>
                  <a:close/>
                </a:path>
              </a:pathLst>
            </a:custGeom>
            <a:ln w="59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4" name="object 314"/>
            <p:cNvSpPr/>
            <p:nvPr/>
          </p:nvSpPr>
          <p:spPr>
            <a:xfrm>
              <a:off x="10609769" y="3320115"/>
              <a:ext cx="426720" cy="153035"/>
            </a:xfrm>
            <a:custGeom>
              <a:avLst/>
              <a:gdLst/>
              <a:ahLst/>
              <a:cxnLst/>
              <a:rect l="l" t="t" r="r" b="b"/>
              <a:pathLst>
                <a:path w="426720" h="153035">
                  <a:moveTo>
                    <a:pt x="0" y="0"/>
                  </a:moveTo>
                  <a:lnTo>
                    <a:pt x="46931" y="16791"/>
                  </a:lnTo>
                  <a:lnTo>
                    <a:pt x="93862" y="33583"/>
                  </a:lnTo>
                  <a:lnTo>
                    <a:pt x="140793" y="50375"/>
                  </a:lnTo>
                  <a:lnTo>
                    <a:pt x="187724" y="67167"/>
                  </a:lnTo>
                  <a:lnTo>
                    <a:pt x="234655" y="83959"/>
                  </a:lnTo>
                  <a:lnTo>
                    <a:pt x="281586" y="100751"/>
                  </a:lnTo>
                  <a:lnTo>
                    <a:pt x="328517" y="117542"/>
                  </a:lnTo>
                  <a:lnTo>
                    <a:pt x="375448" y="134334"/>
                  </a:lnTo>
                  <a:lnTo>
                    <a:pt x="422379" y="151126"/>
                  </a:lnTo>
                  <a:lnTo>
                    <a:pt x="426572" y="152626"/>
                  </a:lnTo>
                </a:path>
              </a:pathLst>
            </a:custGeom>
            <a:ln w="88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5" name="object 315"/>
            <p:cNvSpPr/>
            <p:nvPr/>
          </p:nvSpPr>
          <p:spPr>
            <a:xfrm>
              <a:off x="11024375" y="3449490"/>
              <a:ext cx="51435" cy="43815"/>
            </a:xfrm>
            <a:custGeom>
              <a:avLst/>
              <a:gdLst/>
              <a:ahLst/>
              <a:cxnLst/>
              <a:rect l="l" t="t" r="r" b="b"/>
              <a:pathLst>
                <a:path w="51434" h="43814">
                  <a:moveTo>
                    <a:pt x="15567" y="0"/>
                  </a:moveTo>
                  <a:lnTo>
                    <a:pt x="0" y="43506"/>
                  </a:lnTo>
                  <a:lnTo>
                    <a:pt x="51289" y="37320"/>
                  </a:lnTo>
                  <a:lnTo>
                    <a:pt x="1556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6" name="object 316"/>
            <p:cNvSpPr/>
            <p:nvPr/>
          </p:nvSpPr>
          <p:spPr>
            <a:xfrm>
              <a:off x="10431154" y="3199140"/>
              <a:ext cx="177800" cy="177800"/>
            </a:xfrm>
            <a:custGeom>
              <a:avLst/>
              <a:gdLst/>
              <a:ahLst/>
              <a:cxnLst/>
              <a:rect l="l" t="t" r="r" b="b"/>
              <a:pathLst>
                <a:path w="177800" h="177800">
                  <a:moveTo>
                    <a:pt x="0" y="0"/>
                  </a:moveTo>
                  <a:lnTo>
                    <a:pt x="177721" y="0"/>
                  </a:lnTo>
                  <a:lnTo>
                    <a:pt x="177721" y="177721"/>
                  </a:lnTo>
                  <a:lnTo>
                    <a:pt x="0" y="1777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5D5D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7" name="object 317"/>
            <p:cNvSpPr/>
            <p:nvPr/>
          </p:nvSpPr>
          <p:spPr>
            <a:xfrm>
              <a:off x="10431154" y="3199140"/>
              <a:ext cx="177800" cy="177800"/>
            </a:xfrm>
            <a:custGeom>
              <a:avLst/>
              <a:gdLst/>
              <a:ahLst/>
              <a:cxnLst/>
              <a:rect l="l" t="t" r="r" b="b"/>
              <a:pathLst>
                <a:path w="177800" h="177800">
                  <a:moveTo>
                    <a:pt x="0" y="0"/>
                  </a:moveTo>
                  <a:lnTo>
                    <a:pt x="177721" y="0"/>
                  </a:lnTo>
                  <a:lnTo>
                    <a:pt x="177721" y="177721"/>
                  </a:lnTo>
                  <a:lnTo>
                    <a:pt x="0" y="177721"/>
                  </a:lnTo>
                  <a:lnTo>
                    <a:pt x="0" y="0"/>
                  </a:lnTo>
                  <a:close/>
                </a:path>
              </a:pathLst>
            </a:custGeom>
            <a:ln w="59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8" name="object 318"/>
            <p:cNvSpPr/>
            <p:nvPr/>
          </p:nvSpPr>
          <p:spPr>
            <a:xfrm>
              <a:off x="11256018" y="3187292"/>
              <a:ext cx="156845" cy="0"/>
            </a:xfrm>
            <a:custGeom>
              <a:avLst/>
              <a:gdLst/>
              <a:ahLst/>
              <a:cxnLst/>
              <a:rect l="l" t="t" r="r" b="b"/>
              <a:pathLst>
                <a:path w="156845" h="0">
                  <a:moveTo>
                    <a:pt x="156441" y="0"/>
                  </a:moveTo>
                  <a:lnTo>
                    <a:pt x="151998" y="0"/>
                  </a:lnTo>
                  <a:lnTo>
                    <a:pt x="113999" y="0"/>
                  </a:lnTo>
                  <a:lnTo>
                    <a:pt x="75999" y="0"/>
                  </a:lnTo>
                  <a:lnTo>
                    <a:pt x="37999" y="0"/>
                  </a:lnTo>
                  <a:lnTo>
                    <a:pt x="0" y="0"/>
                  </a:lnTo>
                </a:path>
              </a:pathLst>
            </a:custGeom>
            <a:ln w="88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9" name="object 319"/>
            <p:cNvSpPr/>
            <p:nvPr/>
          </p:nvSpPr>
          <p:spPr>
            <a:xfrm>
              <a:off x="11396465" y="3164188"/>
              <a:ext cx="46355" cy="46355"/>
            </a:xfrm>
            <a:custGeom>
              <a:avLst/>
              <a:gdLst/>
              <a:ahLst/>
              <a:cxnLst/>
              <a:rect l="l" t="t" r="r" b="b"/>
              <a:pathLst>
                <a:path w="46354" h="46355">
                  <a:moveTo>
                    <a:pt x="0" y="0"/>
                  </a:moveTo>
                  <a:lnTo>
                    <a:pt x="11551" y="23103"/>
                  </a:lnTo>
                  <a:lnTo>
                    <a:pt x="0" y="46207"/>
                  </a:lnTo>
                  <a:lnTo>
                    <a:pt x="46207" y="23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0" name="object 320"/>
            <p:cNvSpPr/>
            <p:nvPr/>
          </p:nvSpPr>
          <p:spPr>
            <a:xfrm>
              <a:off x="11076874" y="3098431"/>
              <a:ext cx="177800" cy="177800"/>
            </a:xfrm>
            <a:custGeom>
              <a:avLst/>
              <a:gdLst/>
              <a:ahLst/>
              <a:cxnLst/>
              <a:rect l="l" t="t" r="r" b="b"/>
              <a:pathLst>
                <a:path w="177800" h="177800">
                  <a:moveTo>
                    <a:pt x="0" y="0"/>
                  </a:moveTo>
                  <a:lnTo>
                    <a:pt x="177721" y="0"/>
                  </a:lnTo>
                  <a:lnTo>
                    <a:pt x="177721" y="177721"/>
                  </a:lnTo>
                  <a:lnTo>
                    <a:pt x="0" y="1777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1" name="object 321"/>
            <p:cNvSpPr/>
            <p:nvPr/>
          </p:nvSpPr>
          <p:spPr>
            <a:xfrm>
              <a:off x="11076874" y="3098432"/>
              <a:ext cx="177800" cy="177800"/>
            </a:xfrm>
            <a:custGeom>
              <a:avLst/>
              <a:gdLst/>
              <a:ahLst/>
              <a:cxnLst/>
              <a:rect l="l" t="t" r="r" b="b"/>
              <a:pathLst>
                <a:path w="177800" h="177800">
                  <a:moveTo>
                    <a:pt x="0" y="0"/>
                  </a:moveTo>
                  <a:lnTo>
                    <a:pt x="177721" y="0"/>
                  </a:lnTo>
                  <a:lnTo>
                    <a:pt x="177721" y="177721"/>
                  </a:lnTo>
                  <a:lnTo>
                    <a:pt x="0" y="177721"/>
                  </a:lnTo>
                  <a:lnTo>
                    <a:pt x="0" y="0"/>
                  </a:lnTo>
                  <a:close/>
                </a:path>
              </a:pathLst>
            </a:custGeom>
            <a:ln w="59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2" name="object 322"/>
          <p:cNvSpPr txBox="1"/>
          <p:nvPr/>
        </p:nvSpPr>
        <p:spPr>
          <a:xfrm>
            <a:off x="11076875" y="3098431"/>
            <a:ext cx="177800" cy="17780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35"/>
              </a:spcBef>
            </a:pPr>
            <a:r>
              <a:rPr dirty="0" sz="750" spc="-5">
                <a:latin typeface="Lucida Sans"/>
                <a:cs typeface="Lucida Sans"/>
              </a:rPr>
              <a:t>J</a:t>
            </a:r>
            <a:endParaRPr sz="750">
              <a:latin typeface="Lucida Sans"/>
              <a:cs typeface="Lucida Sans"/>
            </a:endParaRPr>
          </a:p>
        </p:txBody>
      </p:sp>
      <p:grpSp>
        <p:nvGrpSpPr>
          <p:cNvPr id="323" name="object 323"/>
          <p:cNvGrpSpPr/>
          <p:nvPr/>
        </p:nvGrpSpPr>
        <p:grpSpPr>
          <a:xfrm>
            <a:off x="11440990" y="3095257"/>
            <a:ext cx="369570" cy="184150"/>
            <a:chOff x="11440990" y="3095257"/>
            <a:chExt cx="369570" cy="184150"/>
          </a:xfrm>
        </p:grpSpPr>
        <p:sp>
          <p:nvSpPr>
            <p:cNvPr id="324" name="object 324"/>
            <p:cNvSpPr/>
            <p:nvPr/>
          </p:nvSpPr>
          <p:spPr>
            <a:xfrm>
              <a:off x="11623379" y="3187292"/>
              <a:ext cx="145415" cy="0"/>
            </a:xfrm>
            <a:custGeom>
              <a:avLst/>
              <a:gdLst/>
              <a:ahLst/>
              <a:cxnLst/>
              <a:rect l="l" t="t" r="r" b="b"/>
              <a:pathLst>
                <a:path w="145415" h="0">
                  <a:moveTo>
                    <a:pt x="0" y="0"/>
                  </a:moveTo>
                  <a:lnTo>
                    <a:pt x="35111" y="0"/>
                  </a:lnTo>
                  <a:lnTo>
                    <a:pt x="70222" y="0"/>
                  </a:lnTo>
                  <a:lnTo>
                    <a:pt x="105333" y="0"/>
                  </a:lnTo>
                  <a:lnTo>
                    <a:pt x="140444" y="0"/>
                  </a:lnTo>
                  <a:lnTo>
                    <a:pt x="144888" y="0"/>
                  </a:lnTo>
                </a:path>
              </a:pathLst>
            </a:custGeom>
            <a:ln w="88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5" name="object 325"/>
            <p:cNvSpPr/>
            <p:nvPr/>
          </p:nvSpPr>
          <p:spPr>
            <a:xfrm>
              <a:off x="11763825" y="3164188"/>
              <a:ext cx="46355" cy="46355"/>
            </a:xfrm>
            <a:custGeom>
              <a:avLst/>
              <a:gdLst/>
              <a:ahLst/>
              <a:cxnLst/>
              <a:rect l="l" t="t" r="r" b="b"/>
              <a:pathLst>
                <a:path w="46354" h="46355">
                  <a:moveTo>
                    <a:pt x="0" y="0"/>
                  </a:moveTo>
                  <a:lnTo>
                    <a:pt x="0" y="46207"/>
                  </a:lnTo>
                  <a:lnTo>
                    <a:pt x="46207" y="23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6" name="object 326"/>
            <p:cNvSpPr/>
            <p:nvPr/>
          </p:nvSpPr>
          <p:spPr>
            <a:xfrm>
              <a:off x="11444165" y="3098432"/>
              <a:ext cx="177800" cy="177800"/>
            </a:xfrm>
            <a:custGeom>
              <a:avLst/>
              <a:gdLst/>
              <a:ahLst/>
              <a:cxnLst/>
              <a:rect l="l" t="t" r="r" b="b"/>
              <a:pathLst>
                <a:path w="177800" h="177800">
                  <a:moveTo>
                    <a:pt x="0" y="0"/>
                  </a:moveTo>
                  <a:lnTo>
                    <a:pt x="177721" y="0"/>
                  </a:lnTo>
                  <a:lnTo>
                    <a:pt x="177721" y="177721"/>
                  </a:lnTo>
                  <a:lnTo>
                    <a:pt x="0" y="1777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7" name="object 327"/>
            <p:cNvSpPr/>
            <p:nvPr/>
          </p:nvSpPr>
          <p:spPr>
            <a:xfrm>
              <a:off x="11444165" y="3098432"/>
              <a:ext cx="177800" cy="177800"/>
            </a:xfrm>
            <a:custGeom>
              <a:avLst/>
              <a:gdLst/>
              <a:ahLst/>
              <a:cxnLst/>
              <a:rect l="l" t="t" r="r" b="b"/>
              <a:pathLst>
                <a:path w="177800" h="177800">
                  <a:moveTo>
                    <a:pt x="0" y="0"/>
                  </a:moveTo>
                  <a:lnTo>
                    <a:pt x="177721" y="0"/>
                  </a:lnTo>
                  <a:lnTo>
                    <a:pt x="177721" y="177721"/>
                  </a:lnTo>
                  <a:lnTo>
                    <a:pt x="0" y="177721"/>
                  </a:lnTo>
                  <a:lnTo>
                    <a:pt x="0" y="0"/>
                  </a:lnTo>
                  <a:close/>
                </a:path>
              </a:pathLst>
            </a:custGeom>
            <a:ln w="59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8" name="object 328"/>
          <p:cNvSpPr txBox="1"/>
          <p:nvPr/>
        </p:nvSpPr>
        <p:spPr>
          <a:xfrm>
            <a:off x="11444165" y="3098431"/>
            <a:ext cx="177800" cy="17780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35"/>
              </a:spcBef>
            </a:pPr>
            <a:r>
              <a:rPr dirty="0" sz="750" spc="-5">
                <a:latin typeface="Lucida Sans"/>
                <a:cs typeface="Lucida Sans"/>
              </a:rPr>
              <a:t>F</a:t>
            </a:r>
            <a:endParaRPr sz="750">
              <a:latin typeface="Lucida Sans"/>
              <a:cs typeface="Lucida Sans"/>
            </a:endParaRPr>
          </a:p>
        </p:txBody>
      </p:sp>
      <p:grpSp>
        <p:nvGrpSpPr>
          <p:cNvPr id="329" name="object 329"/>
          <p:cNvGrpSpPr/>
          <p:nvPr/>
        </p:nvGrpSpPr>
        <p:grpSpPr>
          <a:xfrm>
            <a:off x="11808280" y="3095257"/>
            <a:ext cx="184150" cy="184150"/>
            <a:chOff x="11808280" y="3095257"/>
            <a:chExt cx="184150" cy="184150"/>
          </a:xfrm>
        </p:grpSpPr>
        <p:sp>
          <p:nvSpPr>
            <p:cNvPr id="330" name="object 330"/>
            <p:cNvSpPr/>
            <p:nvPr/>
          </p:nvSpPr>
          <p:spPr>
            <a:xfrm>
              <a:off x="11811455" y="3098432"/>
              <a:ext cx="177800" cy="177800"/>
            </a:xfrm>
            <a:custGeom>
              <a:avLst/>
              <a:gdLst/>
              <a:ahLst/>
              <a:cxnLst/>
              <a:rect l="l" t="t" r="r" b="b"/>
              <a:pathLst>
                <a:path w="177800" h="177800">
                  <a:moveTo>
                    <a:pt x="0" y="0"/>
                  </a:moveTo>
                  <a:lnTo>
                    <a:pt x="177721" y="0"/>
                  </a:lnTo>
                  <a:lnTo>
                    <a:pt x="177721" y="177721"/>
                  </a:lnTo>
                  <a:lnTo>
                    <a:pt x="0" y="1777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1" name="object 331"/>
            <p:cNvSpPr/>
            <p:nvPr/>
          </p:nvSpPr>
          <p:spPr>
            <a:xfrm>
              <a:off x="11811455" y="3098432"/>
              <a:ext cx="177800" cy="177800"/>
            </a:xfrm>
            <a:custGeom>
              <a:avLst/>
              <a:gdLst/>
              <a:ahLst/>
              <a:cxnLst/>
              <a:rect l="l" t="t" r="r" b="b"/>
              <a:pathLst>
                <a:path w="177800" h="177800">
                  <a:moveTo>
                    <a:pt x="0" y="0"/>
                  </a:moveTo>
                  <a:lnTo>
                    <a:pt x="177721" y="0"/>
                  </a:lnTo>
                  <a:lnTo>
                    <a:pt x="177721" y="177721"/>
                  </a:lnTo>
                  <a:lnTo>
                    <a:pt x="0" y="177721"/>
                  </a:lnTo>
                  <a:lnTo>
                    <a:pt x="0" y="0"/>
                  </a:lnTo>
                  <a:close/>
                </a:path>
              </a:pathLst>
            </a:custGeom>
            <a:ln w="59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32" name="object 332"/>
          <p:cNvSpPr txBox="1"/>
          <p:nvPr/>
        </p:nvSpPr>
        <p:spPr>
          <a:xfrm>
            <a:off x="11873065" y="3103503"/>
            <a:ext cx="67310" cy="1397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750" spc="-5">
                <a:latin typeface="Lucida Sans"/>
                <a:cs typeface="Lucida Sans"/>
              </a:rPr>
              <a:t>B</a:t>
            </a:r>
            <a:endParaRPr sz="750">
              <a:latin typeface="Lucida Sans"/>
              <a:cs typeface="Lucida Sans"/>
            </a:endParaRPr>
          </a:p>
        </p:txBody>
      </p:sp>
      <p:grpSp>
        <p:nvGrpSpPr>
          <p:cNvPr id="333" name="object 333"/>
          <p:cNvGrpSpPr/>
          <p:nvPr/>
        </p:nvGrpSpPr>
        <p:grpSpPr>
          <a:xfrm>
            <a:off x="11073699" y="3427003"/>
            <a:ext cx="369570" cy="184150"/>
            <a:chOff x="11073699" y="3427003"/>
            <a:chExt cx="369570" cy="184150"/>
          </a:xfrm>
        </p:grpSpPr>
        <p:sp>
          <p:nvSpPr>
            <p:cNvPr id="334" name="object 334"/>
            <p:cNvSpPr/>
            <p:nvPr/>
          </p:nvSpPr>
          <p:spPr>
            <a:xfrm>
              <a:off x="11256088" y="3519038"/>
              <a:ext cx="145415" cy="0"/>
            </a:xfrm>
            <a:custGeom>
              <a:avLst/>
              <a:gdLst/>
              <a:ahLst/>
              <a:cxnLst/>
              <a:rect l="l" t="t" r="r" b="b"/>
              <a:pathLst>
                <a:path w="145415" h="0">
                  <a:moveTo>
                    <a:pt x="0" y="0"/>
                  </a:moveTo>
                  <a:lnTo>
                    <a:pt x="35111" y="0"/>
                  </a:lnTo>
                  <a:lnTo>
                    <a:pt x="70222" y="0"/>
                  </a:lnTo>
                  <a:lnTo>
                    <a:pt x="105334" y="0"/>
                  </a:lnTo>
                  <a:lnTo>
                    <a:pt x="140445" y="0"/>
                  </a:lnTo>
                  <a:lnTo>
                    <a:pt x="144888" y="0"/>
                  </a:lnTo>
                </a:path>
              </a:pathLst>
            </a:custGeom>
            <a:ln w="88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5" name="object 335"/>
            <p:cNvSpPr/>
            <p:nvPr/>
          </p:nvSpPr>
          <p:spPr>
            <a:xfrm>
              <a:off x="11396534" y="3495934"/>
              <a:ext cx="46355" cy="46355"/>
            </a:xfrm>
            <a:custGeom>
              <a:avLst/>
              <a:gdLst/>
              <a:ahLst/>
              <a:cxnLst/>
              <a:rect l="l" t="t" r="r" b="b"/>
              <a:pathLst>
                <a:path w="46354" h="46354">
                  <a:moveTo>
                    <a:pt x="0" y="0"/>
                  </a:moveTo>
                  <a:lnTo>
                    <a:pt x="0" y="46207"/>
                  </a:lnTo>
                  <a:lnTo>
                    <a:pt x="46207" y="23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6" name="object 336"/>
            <p:cNvSpPr/>
            <p:nvPr/>
          </p:nvSpPr>
          <p:spPr>
            <a:xfrm>
              <a:off x="11076874" y="3430178"/>
              <a:ext cx="177800" cy="177800"/>
            </a:xfrm>
            <a:custGeom>
              <a:avLst/>
              <a:gdLst/>
              <a:ahLst/>
              <a:cxnLst/>
              <a:rect l="l" t="t" r="r" b="b"/>
              <a:pathLst>
                <a:path w="177800" h="177800">
                  <a:moveTo>
                    <a:pt x="0" y="0"/>
                  </a:moveTo>
                  <a:lnTo>
                    <a:pt x="177721" y="0"/>
                  </a:lnTo>
                  <a:lnTo>
                    <a:pt x="177721" y="177721"/>
                  </a:lnTo>
                  <a:lnTo>
                    <a:pt x="0" y="1777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7" name="object 337"/>
            <p:cNvSpPr/>
            <p:nvPr/>
          </p:nvSpPr>
          <p:spPr>
            <a:xfrm>
              <a:off x="11076874" y="3430178"/>
              <a:ext cx="177800" cy="177800"/>
            </a:xfrm>
            <a:custGeom>
              <a:avLst/>
              <a:gdLst/>
              <a:ahLst/>
              <a:cxnLst/>
              <a:rect l="l" t="t" r="r" b="b"/>
              <a:pathLst>
                <a:path w="177800" h="177800">
                  <a:moveTo>
                    <a:pt x="0" y="0"/>
                  </a:moveTo>
                  <a:lnTo>
                    <a:pt x="177721" y="0"/>
                  </a:lnTo>
                  <a:lnTo>
                    <a:pt x="177721" y="177721"/>
                  </a:lnTo>
                  <a:lnTo>
                    <a:pt x="0" y="177721"/>
                  </a:lnTo>
                  <a:lnTo>
                    <a:pt x="0" y="0"/>
                  </a:lnTo>
                  <a:close/>
                </a:path>
              </a:pathLst>
            </a:custGeom>
            <a:ln w="59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38" name="object 338"/>
          <p:cNvSpPr txBox="1"/>
          <p:nvPr/>
        </p:nvSpPr>
        <p:spPr>
          <a:xfrm>
            <a:off x="11076875" y="3430177"/>
            <a:ext cx="177800" cy="17780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51435">
              <a:lnSpc>
                <a:spcPct val="100000"/>
              </a:lnSpc>
              <a:spcBef>
                <a:spcPts val="135"/>
              </a:spcBef>
            </a:pPr>
            <a:r>
              <a:rPr dirty="0" sz="750" spc="-5">
                <a:latin typeface="Lucida Sans"/>
                <a:cs typeface="Lucida Sans"/>
              </a:rPr>
              <a:t>O</a:t>
            </a:r>
            <a:endParaRPr sz="750">
              <a:latin typeface="Lucida Sans"/>
              <a:cs typeface="Lucida Sans"/>
            </a:endParaRPr>
          </a:p>
        </p:txBody>
      </p:sp>
      <p:grpSp>
        <p:nvGrpSpPr>
          <p:cNvPr id="339" name="object 339"/>
          <p:cNvGrpSpPr/>
          <p:nvPr/>
        </p:nvGrpSpPr>
        <p:grpSpPr>
          <a:xfrm>
            <a:off x="11441203" y="3427216"/>
            <a:ext cx="184150" cy="184150"/>
            <a:chOff x="11441203" y="3427216"/>
            <a:chExt cx="184150" cy="184150"/>
          </a:xfrm>
        </p:grpSpPr>
        <p:sp>
          <p:nvSpPr>
            <p:cNvPr id="340" name="object 340"/>
            <p:cNvSpPr/>
            <p:nvPr/>
          </p:nvSpPr>
          <p:spPr>
            <a:xfrm>
              <a:off x="11444165" y="3430177"/>
              <a:ext cx="177800" cy="177800"/>
            </a:xfrm>
            <a:custGeom>
              <a:avLst/>
              <a:gdLst/>
              <a:ahLst/>
              <a:cxnLst/>
              <a:rect l="l" t="t" r="r" b="b"/>
              <a:pathLst>
                <a:path w="177800" h="177800">
                  <a:moveTo>
                    <a:pt x="0" y="0"/>
                  </a:moveTo>
                  <a:lnTo>
                    <a:pt x="177721" y="0"/>
                  </a:lnTo>
                  <a:lnTo>
                    <a:pt x="177721" y="177721"/>
                  </a:lnTo>
                  <a:lnTo>
                    <a:pt x="0" y="1777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1" name="object 341"/>
            <p:cNvSpPr/>
            <p:nvPr/>
          </p:nvSpPr>
          <p:spPr>
            <a:xfrm>
              <a:off x="11444165" y="3430178"/>
              <a:ext cx="177800" cy="177800"/>
            </a:xfrm>
            <a:custGeom>
              <a:avLst/>
              <a:gdLst/>
              <a:ahLst/>
              <a:cxnLst/>
              <a:rect l="l" t="t" r="r" b="b"/>
              <a:pathLst>
                <a:path w="177800" h="177800">
                  <a:moveTo>
                    <a:pt x="0" y="0"/>
                  </a:moveTo>
                  <a:lnTo>
                    <a:pt x="177721" y="0"/>
                  </a:lnTo>
                  <a:lnTo>
                    <a:pt x="177721" y="177721"/>
                  </a:lnTo>
                  <a:lnTo>
                    <a:pt x="0" y="177721"/>
                  </a:lnTo>
                  <a:lnTo>
                    <a:pt x="0" y="0"/>
                  </a:lnTo>
                  <a:close/>
                </a:path>
              </a:pathLst>
            </a:custGeom>
            <a:ln w="59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42" name="object 342"/>
          <p:cNvSpPr txBox="1"/>
          <p:nvPr/>
        </p:nvSpPr>
        <p:spPr>
          <a:xfrm>
            <a:off x="10304512" y="2007557"/>
            <a:ext cx="774700" cy="1397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750" b="1">
                <a:latin typeface="Tahoma"/>
                <a:cs typeface="Tahoma"/>
              </a:rPr>
              <a:t>after</a:t>
            </a:r>
            <a:r>
              <a:rPr dirty="0" sz="750" spc="-5" b="1">
                <a:latin typeface="Tahoma"/>
                <a:cs typeface="Tahoma"/>
              </a:rPr>
              <a:t> </a:t>
            </a:r>
            <a:r>
              <a:rPr dirty="0" sz="750" spc="5" b="1">
                <a:latin typeface="Tahoma"/>
                <a:cs typeface="Tahoma"/>
              </a:rPr>
              <a:t>deleting</a:t>
            </a:r>
            <a:r>
              <a:rPr dirty="0" sz="750" spc="-5" b="1">
                <a:latin typeface="Tahoma"/>
                <a:cs typeface="Tahoma"/>
              </a:rPr>
              <a:t> </a:t>
            </a:r>
            <a:r>
              <a:rPr dirty="0" sz="750" spc="30" b="1">
                <a:latin typeface="Tahoma"/>
                <a:cs typeface="Tahoma"/>
              </a:rPr>
              <a:t>C</a:t>
            </a:r>
            <a:endParaRPr sz="750">
              <a:latin typeface="Tahoma"/>
              <a:cs typeface="Tahoma"/>
            </a:endParaRPr>
          </a:p>
        </p:txBody>
      </p:sp>
      <p:sp>
        <p:nvSpPr>
          <p:cNvPr id="343" name="object 343"/>
          <p:cNvSpPr txBox="1"/>
          <p:nvPr/>
        </p:nvSpPr>
        <p:spPr>
          <a:xfrm>
            <a:off x="10316360" y="2682897"/>
            <a:ext cx="62865" cy="1250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650">
                <a:solidFill>
                  <a:srgbClr val="8D3124"/>
                </a:solidFill>
                <a:latin typeface="Lucida Sans Typewriter"/>
                <a:cs typeface="Lucida Sans Typewriter"/>
              </a:rPr>
              <a:t>0</a:t>
            </a:r>
            <a:endParaRPr sz="650">
              <a:latin typeface="Lucida Sans Typewriter"/>
              <a:cs typeface="Lucida Sans Typewriter"/>
            </a:endParaRPr>
          </a:p>
        </p:txBody>
      </p:sp>
      <p:sp>
        <p:nvSpPr>
          <p:cNvPr id="344" name="object 344"/>
          <p:cNvSpPr txBox="1"/>
          <p:nvPr/>
        </p:nvSpPr>
        <p:spPr>
          <a:xfrm>
            <a:off x="10316360" y="2884315"/>
            <a:ext cx="62865" cy="1250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650">
                <a:solidFill>
                  <a:srgbClr val="8D3124"/>
                </a:solidFill>
                <a:latin typeface="Lucida Sans Typewriter"/>
                <a:cs typeface="Lucida Sans Typewriter"/>
              </a:rPr>
              <a:t>1</a:t>
            </a:r>
            <a:endParaRPr sz="650">
              <a:latin typeface="Lucida Sans Typewriter"/>
              <a:cs typeface="Lucida Sans Typewriter"/>
            </a:endParaRPr>
          </a:p>
        </p:txBody>
      </p:sp>
      <p:sp>
        <p:nvSpPr>
          <p:cNvPr id="345" name="object 345"/>
          <p:cNvSpPr txBox="1"/>
          <p:nvPr/>
        </p:nvSpPr>
        <p:spPr>
          <a:xfrm>
            <a:off x="10316360" y="3085732"/>
            <a:ext cx="62865" cy="1250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650">
                <a:solidFill>
                  <a:srgbClr val="8D3124"/>
                </a:solidFill>
                <a:latin typeface="Lucida Sans Typewriter"/>
                <a:cs typeface="Lucida Sans Typewriter"/>
              </a:rPr>
              <a:t>2</a:t>
            </a:r>
            <a:endParaRPr sz="650">
              <a:latin typeface="Lucida Sans Typewriter"/>
              <a:cs typeface="Lucida Sans Typewriter"/>
            </a:endParaRPr>
          </a:p>
        </p:txBody>
      </p:sp>
      <p:sp>
        <p:nvSpPr>
          <p:cNvPr id="346" name="object 346"/>
          <p:cNvSpPr txBox="1"/>
          <p:nvPr/>
        </p:nvSpPr>
        <p:spPr>
          <a:xfrm>
            <a:off x="7312873" y="3244644"/>
            <a:ext cx="4274185" cy="330200"/>
          </a:xfrm>
          <a:prstGeom prst="rect">
            <a:avLst/>
          </a:prstGeom>
        </p:spPr>
        <p:txBody>
          <a:bodyPr wrap="square" lIns="0" tIns="55244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434"/>
              </a:spcBef>
              <a:tabLst>
                <a:tab pos="3002915" algn="l"/>
              </a:tabLst>
            </a:pPr>
            <a:r>
              <a:rPr dirty="0" sz="650">
                <a:solidFill>
                  <a:srgbClr val="8D3124"/>
                </a:solidFill>
                <a:latin typeface="Lucida Sans Typewriter"/>
                <a:cs typeface="Lucida Sans Typewriter"/>
              </a:rPr>
              <a:t>3	3</a:t>
            </a:r>
            <a:endParaRPr sz="650">
              <a:latin typeface="Lucida Sans Typewriter"/>
              <a:cs typeface="Lucida Sans Typewriter"/>
            </a:endParaRPr>
          </a:p>
          <a:p>
            <a:pPr marL="1175385">
              <a:lnSpc>
                <a:spcPct val="100000"/>
              </a:lnSpc>
              <a:spcBef>
                <a:spcPts val="380"/>
              </a:spcBef>
              <a:tabLst>
                <a:tab pos="4178935" algn="l"/>
              </a:tabLst>
            </a:pPr>
            <a:r>
              <a:rPr dirty="0" sz="750" spc="-5">
                <a:latin typeface="Lucida Sans"/>
                <a:cs typeface="Lucida Sans"/>
              </a:rPr>
              <a:t>M</a:t>
            </a:r>
            <a:r>
              <a:rPr dirty="0" sz="750" spc="-5">
                <a:latin typeface="Lucida Sans"/>
                <a:cs typeface="Lucida Sans"/>
              </a:rPr>
              <a:t>	</a:t>
            </a:r>
            <a:r>
              <a:rPr dirty="0" sz="750" spc="-5">
                <a:latin typeface="Lucida Sans"/>
                <a:cs typeface="Lucida Sans"/>
              </a:rPr>
              <a:t>M</a:t>
            </a:r>
            <a:endParaRPr sz="750">
              <a:latin typeface="Lucida Sans"/>
              <a:cs typeface="Lucida Sans"/>
            </a:endParaRPr>
          </a:p>
        </p:txBody>
      </p:sp>
      <p:sp>
        <p:nvSpPr>
          <p:cNvPr id="347" name="object 347"/>
          <p:cNvSpPr txBox="1"/>
          <p:nvPr/>
        </p:nvSpPr>
        <p:spPr>
          <a:xfrm>
            <a:off x="10422992" y="2499252"/>
            <a:ext cx="212725" cy="1250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650">
                <a:solidFill>
                  <a:srgbClr val="8D3124"/>
                </a:solidFill>
                <a:latin typeface="Lucida Sans Typewriter"/>
                <a:cs typeface="Lucida Sans Typewriter"/>
              </a:rPr>
              <a:t>st[]</a:t>
            </a:r>
            <a:endParaRPr sz="650">
              <a:latin typeface="Lucida Sans Typewriter"/>
              <a:cs typeface="Lucida Sans Typewriter"/>
            </a:endParaRPr>
          </a:p>
        </p:txBody>
      </p:sp>
      <p:grpSp>
        <p:nvGrpSpPr>
          <p:cNvPr id="348" name="object 348"/>
          <p:cNvGrpSpPr/>
          <p:nvPr/>
        </p:nvGrpSpPr>
        <p:grpSpPr>
          <a:xfrm>
            <a:off x="346176" y="4966780"/>
            <a:ext cx="6066790" cy="4549775"/>
            <a:chOff x="346176" y="4966780"/>
            <a:chExt cx="6066790" cy="4549775"/>
          </a:xfrm>
        </p:grpSpPr>
        <p:sp>
          <p:nvSpPr>
            <p:cNvPr id="349" name="object 349"/>
            <p:cNvSpPr/>
            <p:nvPr/>
          </p:nvSpPr>
          <p:spPr>
            <a:xfrm>
              <a:off x="346176" y="4966780"/>
              <a:ext cx="6066790" cy="4549775"/>
            </a:xfrm>
            <a:custGeom>
              <a:avLst/>
              <a:gdLst/>
              <a:ahLst/>
              <a:cxnLst/>
              <a:rect l="l" t="t" r="r" b="b"/>
              <a:pathLst>
                <a:path w="6066790" h="4549775">
                  <a:moveTo>
                    <a:pt x="0" y="0"/>
                  </a:moveTo>
                  <a:lnTo>
                    <a:pt x="6066212" y="0"/>
                  </a:lnTo>
                  <a:lnTo>
                    <a:pt x="6066212" y="4549659"/>
                  </a:lnTo>
                  <a:lnTo>
                    <a:pt x="0" y="45496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0" name="object 350"/>
            <p:cNvSpPr/>
            <p:nvPr/>
          </p:nvSpPr>
          <p:spPr>
            <a:xfrm>
              <a:off x="731238" y="5428805"/>
              <a:ext cx="5302250" cy="635"/>
            </a:xfrm>
            <a:custGeom>
              <a:avLst/>
              <a:gdLst/>
              <a:ahLst/>
              <a:cxnLst/>
              <a:rect l="l" t="t" r="r" b="b"/>
              <a:pathLst>
                <a:path w="5302250" h="635">
                  <a:moveTo>
                    <a:pt x="0" y="49"/>
                  </a:moveTo>
                  <a:lnTo>
                    <a:pt x="5302012" y="0"/>
                  </a:lnTo>
                </a:path>
              </a:pathLst>
            </a:custGeom>
            <a:ln w="59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51" name="object 351"/>
          <p:cNvSpPr txBox="1"/>
          <p:nvPr/>
        </p:nvSpPr>
        <p:spPr>
          <a:xfrm>
            <a:off x="739997" y="5125877"/>
            <a:ext cx="3109595" cy="2247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00" spc="5">
                <a:latin typeface="Arial"/>
                <a:cs typeface="Arial"/>
              </a:rPr>
              <a:t>Symbol</a:t>
            </a:r>
            <a:r>
              <a:rPr dirty="0" sz="1300" spc="35">
                <a:latin typeface="Arial"/>
                <a:cs typeface="Arial"/>
              </a:rPr>
              <a:t> </a:t>
            </a:r>
            <a:r>
              <a:rPr dirty="0" sz="1300" spc="30">
                <a:latin typeface="Arial"/>
                <a:cs typeface="Arial"/>
              </a:rPr>
              <a:t>table</a:t>
            </a:r>
            <a:r>
              <a:rPr dirty="0" sz="1300" spc="40">
                <a:latin typeface="Arial"/>
                <a:cs typeface="Arial"/>
              </a:rPr>
              <a:t> </a:t>
            </a:r>
            <a:r>
              <a:rPr dirty="0" sz="1300" spc="5">
                <a:latin typeface="Arial"/>
                <a:cs typeface="Arial"/>
              </a:rPr>
              <a:t>implementations: </a:t>
            </a:r>
            <a:r>
              <a:rPr dirty="0" sz="1300" spc="75">
                <a:latin typeface="Arial"/>
                <a:cs typeface="Arial"/>
              </a:rPr>
              <a:t> </a:t>
            </a:r>
            <a:r>
              <a:rPr dirty="0" sz="1300" spc="-5">
                <a:latin typeface="Arial"/>
                <a:cs typeface="Arial"/>
              </a:rPr>
              <a:t>summary</a:t>
            </a:r>
            <a:endParaRPr sz="1300">
              <a:latin typeface="Arial"/>
              <a:cs typeface="Arial"/>
            </a:endParaRPr>
          </a:p>
        </p:txBody>
      </p:sp>
      <p:sp>
        <p:nvSpPr>
          <p:cNvPr id="352" name="object 352"/>
          <p:cNvSpPr txBox="1"/>
          <p:nvPr/>
        </p:nvSpPr>
        <p:spPr>
          <a:xfrm>
            <a:off x="4460291" y="8792855"/>
            <a:ext cx="1754505" cy="1397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50" spc="-5">
                <a:solidFill>
                  <a:srgbClr val="8D3124"/>
                </a:solidFill>
                <a:latin typeface="Lucida Sans"/>
                <a:cs typeface="Lucida Sans"/>
              </a:rPr>
              <a:t>*</a:t>
            </a:r>
            <a:r>
              <a:rPr dirty="0" sz="750" spc="225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dirty="0" sz="750" spc="-5">
                <a:solidFill>
                  <a:srgbClr val="8D3124"/>
                </a:solidFill>
                <a:latin typeface="Lucida Sans"/>
                <a:cs typeface="Lucida Sans"/>
              </a:rPr>
              <a:t>under</a:t>
            </a:r>
            <a:r>
              <a:rPr dirty="0" sz="750" spc="-10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dirty="0" sz="750" spc="-5">
                <a:solidFill>
                  <a:srgbClr val="8D3124"/>
                </a:solidFill>
                <a:latin typeface="Lucida Sans"/>
                <a:cs typeface="Lucida Sans"/>
              </a:rPr>
              <a:t>uniform hashing</a:t>
            </a:r>
            <a:r>
              <a:rPr dirty="0" sz="750" spc="-10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dirty="0" sz="750" spc="-5">
                <a:solidFill>
                  <a:srgbClr val="8D3124"/>
                </a:solidFill>
                <a:latin typeface="Lucida Sans"/>
                <a:cs typeface="Lucida Sans"/>
              </a:rPr>
              <a:t>assumption</a:t>
            </a:r>
            <a:endParaRPr sz="750">
              <a:latin typeface="Lucida Sans"/>
              <a:cs typeface="Lucida Sans"/>
            </a:endParaRPr>
          </a:p>
        </p:txBody>
      </p:sp>
      <p:graphicFrame>
        <p:nvGraphicFramePr>
          <p:cNvPr id="353" name="object 353"/>
          <p:cNvGraphicFramePr>
            <a:graphicFrameLocks noGrp="1"/>
          </p:cNvGraphicFramePr>
          <p:nvPr/>
        </p:nvGraphicFramePr>
        <p:xfrm>
          <a:off x="486270" y="5725057"/>
          <a:ext cx="5744210" cy="296100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05205"/>
                <a:gridCol w="467994"/>
                <a:gridCol w="467994"/>
                <a:gridCol w="467994"/>
                <a:gridCol w="628014"/>
                <a:gridCol w="628014"/>
                <a:gridCol w="628014"/>
                <a:gridCol w="605154"/>
                <a:gridCol w="846454"/>
              </a:tblGrid>
              <a:tr h="354965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140335">
                        <a:lnSpc>
                          <a:spcPct val="100000"/>
                        </a:lnSpc>
                      </a:pPr>
                      <a:r>
                        <a:rPr dirty="0" sz="750" spc="-5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implementation</a:t>
                      </a:r>
                      <a:endParaRPr sz="750">
                        <a:latin typeface="Lucida Sans"/>
                        <a:cs typeface="Lucida Sans"/>
                      </a:endParaRPr>
                    </a:p>
                  </a:txBody>
                  <a:tcPr marL="0" marR="0" marB="0" marT="0">
                    <a:lnR w="3175">
                      <a:solidFill>
                        <a:srgbClr val="E7EAEB"/>
                      </a:solidFill>
                      <a:prstDash val="solid"/>
                    </a:lnR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606060"/>
                    </a:solidFill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750" spc="-5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guarantee</a:t>
                      </a:r>
                      <a:endParaRPr sz="750">
                        <a:latin typeface="Lucida Sans"/>
                        <a:cs typeface="Lucida Sans"/>
                      </a:endParaRPr>
                    </a:p>
                  </a:txBody>
                  <a:tcPr marL="0" marR="0" marB="0" marT="381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606060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75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average</a:t>
                      </a:r>
                      <a:r>
                        <a:rPr dirty="0" sz="750" spc="-35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 </a:t>
                      </a:r>
                      <a:r>
                        <a:rPr dirty="0" sz="750" spc="-5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case</a:t>
                      </a:r>
                      <a:endParaRPr sz="750">
                        <a:latin typeface="Lucida Sans"/>
                        <a:cs typeface="Lucida Sans"/>
                      </a:endParaRPr>
                    </a:p>
                  </a:txBody>
                  <a:tcPr marL="0" marR="0" marB="0" marT="381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606060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198755" marR="116205" indent="-75565">
                        <a:lnSpc>
                          <a:spcPct val="108800"/>
                        </a:lnSpc>
                        <a:spcBef>
                          <a:spcPts val="655"/>
                        </a:spcBef>
                      </a:pPr>
                      <a:r>
                        <a:rPr dirty="0" sz="75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o</a:t>
                      </a:r>
                      <a:r>
                        <a:rPr dirty="0" sz="750" spc="-15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r</a:t>
                      </a:r>
                      <a:r>
                        <a:rPr dirty="0" sz="75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de</a:t>
                      </a:r>
                      <a:r>
                        <a:rPr dirty="0" sz="750" spc="-15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r</a:t>
                      </a:r>
                      <a:r>
                        <a:rPr dirty="0" sz="75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ed  </a:t>
                      </a:r>
                      <a:r>
                        <a:rPr dirty="0" sz="750" spc="-5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ops?</a:t>
                      </a:r>
                      <a:endParaRPr sz="750">
                        <a:latin typeface="Lucida Sans"/>
                        <a:cs typeface="Lucida Sans"/>
                      </a:endParaRPr>
                    </a:p>
                  </a:txBody>
                  <a:tcPr marL="0" marR="0" marB="0" marT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606060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222250" marR="213360" indent="120014">
                        <a:lnSpc>
                          <a:spcPct val="108800"/>
                        </a:lnSpc>
                        <a:spcBef>
                          <a:spcPts val="655"/>
                        </a:spcBef>
                      </a:pPr>
                      <a:r>
                        <a:rPr dirty="0" sz="750" spc="5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key </a:t>
                      </a:r>
                      <a:r>
                        <a:rPr dirty="0" sz="750" spc="1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 </a:t>
                      </a:r>
                      <a:r>
                        <a:rPr dirty="0" sz="75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interface</a:t>
                      </a:r>
                      <a:endParaRPr sz="750">
                        <a:latin typeface="Lucida Sans"/>
                        <a:cs typeface="Lucida Sans"/>
                      </a:endParaRPr>
                    </a:p>
                  </a:txBody>
                  <a:tcPr marL="0" marR="0" marB="0" marT="0">
                    <a:lnL w="3175">
                      <a:solidFill>
                        <a:srgbClr val="E7EAEB"/>
                      </a:solidFill>
                      <a:prstDash val="solid"/>
                    </a:lnL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606060"/>
                    </a:solidFill>
                  </a:tcPr>
                </a:tc>
              </a:tr>
              <a:tr h="35496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R w="3175">
                      <a:solidFill>
                        <a:srgbClr val="E7EAEB"/>
                      </a:solidFill>
                      <a:prstDash val="solid"/>
                    </a:lnR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6060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750" spc="-5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search</a:t>
                      </a:r>
                      <a:endParaRPr sz="750">
                        <a:latin typeface="Lucida Sans"/>
                        <a:cs typeface="Lucida Sans"/>
                      </a:endParaRPr>
                    </a:p>
                  </a:txBody>
                  <a:tcPr marL="0" marR="0" marB="0" marT="4445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6060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750" spc="-5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insert</a:t>
                      </a:r>
                      <a:endParaRPr sz="750">
                        <a:latin typeface="Lucida Sans"/>
                        <a:cs typeface="Lucida Sans"/>
                      </a:endParaRPr>
                    </a:p>
                  </a:txBody>
                  <a:tcPr marL="0" marR="0" marB="0" marT="4445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6060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750" spc="-5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delete</a:t>
                      </a:r>
                      <a:endParaRPr sz="750">
                        <a:latin typeface="Lucida Sans"/>
                        <a:cs typeface="Lucida Sans"/>
                      </a:endParaRPr>
                    </a:p>
                  </a:txBody>
                  <a:tcPr marL="0" marR="0" marB="0" marT="4445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6060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750" spc="-5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search</a:t>
                      </a:r>
                      <a:r>
                        <a:rPr dirty="0" sz="750" spc="-5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 </a:t>
                      </a:r>
                      <a:r>
                        <a:rPr dirty="0" sz="750" spc="-5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hit</a:t>
                      </a:r>
                      <a:endParaRPr sz="750">
                        <a:latin typeface="Lucida Sans"/>
                        <a:cs typeface="Lucida Sans"/>
                      </a:endParaRPr>
                    </a:p>
                  </a:txBody>
                  <a:tcPr marL="0" marR="0" marB="0" marT="4445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6060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750" spc="-5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insert</a:t>
                      </a:r>
                      <a:endParaRPr sz="750">
                        <a:latin typeface="Lucida Sans"/>
                        <a:cs typeface="Lucida Sans"/>
                      </a:endParaRPr>
                    </a:p>
                  </a:txBody>
                  <a:tcPr marL="0" marR="0" marB="0" marT="4445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6060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750" spc="-5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delete</a:t>
                      </a:r>
                      <a:endParaRPr sz="750">
                        <a:latin typeface="Lucida Sans"/>
                        <a:cs typeface="Lucida Sans"/>
                      </a:endParaRPr>
                    </a:p>
                  </a:txBody>
                  <a:tcPr marL="0" marR="0" marB="0" marT="4445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606060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606060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3175">
                      <a:solidFill>
                        <a:srgbClr val="E7EAEB"/>
                      </a:solidFill>
                      <a:prstDash val="solid"/>
                    </a:lnL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606060"/>
                    </a:solidFill>
                  </a:tcPr>
                </a:tc>
              </a:tr>
              <a:tr h="450215">
                <a:tc>
                  <a:txBody>
                    <a:bodyPr/>
                    <a:lstStyle/>
                    <a:p>
                      <a:pPr marL="120014" marR="67945" indent="-51435">
                        <a:lnSpc>
                          <a:spcPct val="119200"/>
                        </a:lnSpc>
                        <a:spcBef>
                          <a:spcPts val="575"/>
                        </a:spcBef>
                      </a:pPr>
                      <a:r>
                        <a:rPr dirty="0" sz="750" b="1">
                          <a:latin typeface="Tahoma"/>
                          <a:cs typeface="Tahoma"/>
                        </a:rPr>
                        <a:t>sequential</a:t>
                      </a:r>
                      <a:r>
                        <a:rPr dirty="0" sz="750" spc="5" b="1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750" b="1">
                          <a:latin typeface="Tahoma"/>
                          <a:cs typeface="Tahoma"/>
                        </a:rPr>
                        <a:t>search </a:t>
                      </a:r>
                      <a:r>
                        <a:rPr dirty="0" sz="750" spc="-204" b="1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750" b="1">
                          <a:latin typeface="Tahoma"/>
                          <a:cs typeface="Tahoma"/>
                        </a:rPr>
                        <a:t>(unordered </a:t>
                      </a:r>
                      <a:r>
                        <a:rPr dirty="0" sz="750" spc="-5" b="1">
                          <a:latin typeface="Tahoma"/>
                          <a:cs typeface="Tahoma"/>
                        </a:rPr>
                        <a:t>list)</a:t>
                      </a:r>
                      <a:endParaRPr sz="750">
                        <a:latin typeface="Tahoma"/>
                        <a:cs typeface="Tahoma"/>
                      </a:endParaRPr>
                    </a:p>
                  </a:txBody>
                  <a:tcPr marL="0" marR="0" marB="0" marT="73025"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900" i="1">
                          <a:latin typeface="Times New Roman"/>
                          <a:cs typeface="Times New Roman"/>
                        </a:rPr>
                        <a:t>N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900" i="1">
                          <a:latin typeface="Times New Roman"/>
                          <a:cs typeface="Times New Roman"/>
                        </a:rPr>
                        <a:t>N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900" i="1">
                          <a:latin typeface="Times New Roman"/>
                          <a:cs typeface="Times New Roman"/>
                        </a:rPr>
                        <a:t>N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900" spc="20">
                          <a:latin typeface="Times New Roman"/>
                          <a:cs typeface="Times New Roman"/>
                        </a:rPr>
                        <a:t>½</a:t>
                      </a:r>
                      <a:r>
                        <a:rPr dirty="0" sz="9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00" spc="20" i="1">
                          <a:latin typeface="Times New Roman"/>
                          <a:cs typeface="Times New Roman"/>
                        </a:rPr>
                        <a:t>N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900" i="1">
                          <a:latin typeface="Times New Roman"/>
                          <a:cs typeface="Times New Roman"/>
                        </a:rPr>
                        <a:t>N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900" spc="20">
                          <a:latin typeface="Times New Roman"/>
                          <a:cs typeface="Times New Roman"/>
                        </a:rPr>
                        <a:t>½</a:t>
                      </a:r>
                      <a:r>
                        <a:rPr dirty="0" sz="9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00" spc="20" i="1">
                          <a:latin typeface="Times New Roman"/>
                          <a:cs typeface="Times New Roman"/>
                        </a:rPr>
                        <a:t>N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algn="ctr" marL="635">
                        <a:lnSpc>
                          <a:spcPct val="100000"/>
                        </a:lnSpc>
                      </a:pPr>
                      <a:r>
                        <a:rPr dirty="0" sz="750" spc="-5">
                          <a:latin typeface="Lucida Sans Typewriter"/>
                          <a:cs typeface="Lucida Sans Typewriter"/>
                        </a:rPr>
                        <a:t>equals()</a:t>
                      </a:r>
                      <a:endParaRPr sz="750">
                        <a:latin typeface="Lucida Sans Typewriter"/>
                        <a:cs typeface="Lucida Sans Typewriter"/>
                      </a:endParaRPr>
                    </a:p>
                  </a:txBody>
                  <a:tcPr marL="0" marR="0" marB="0" marT="635">
                    <a:lnL w="3175">
                      <a:solidFill>
                        <a:srgbClr val="E7EAEB"/>
                      </a:solidFill>
                      <a:prstDash val="solid"/>
                    </a:lnL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D5D5D5"/>
                    </a:solidFill>
                  </a:tcPr>
                </a:tc>
              </a:tr>
              <a:tr h="450215">
                <a:tc>
                  <a:txBody>
                    <a:bodyPr/>
                    <a:lstStyle/>
                    <a:p>
                      <a:pPr marL="132715" marR="126364" indent="36830">
                        <a:lnSpc>
                          <a:spcPct val="119200"/>
                        </a:lnSpc>
                        <a:spcBef>
                          <a:spcPts val="575"/>
                        </a:spcBef>
                      </a:pPr>
                      <a:r>
                        <a:rPr dirty="0" sz="750" spc="5" b="1">
                          <a:latin typeface="Tahoma"/>
                          <a:cs typeface="Tahoma"/>
                        </a:rPr>
                        <a:t>binary search </a:t>
                      </a:r>
                      <a:r>
                        <a:rPr dirty="0" sz="750" spc="10" b="1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750" b="1">
                          <a:latin typeface="Tahoma"/>
                          <a:cs typeface="Tahoma"/>
                        </a:rPr>
                        <a:t>(</a:t>
                      </a:r>
                      <a:r>
                        <a:rPr dirty="0" sz="750" b="1">
                          <a:latin typeface="Tahoma"/>
                          <a:cs typeface="Tahoma"/>
                        </a:rPr>
                        <a:t>o</a:t>
                      </a:r>
                      <a:r>
                        <a:rPr dirty="0" sz="750" b="1">
                          <a:latin typeface="Tahoma"/>
                          <a:cs typeface="Tahoma"/>
                        </a:rPr>
                        <a:t>r</a:t>
                      </a:r>
                      <a:r>
                        <a:rPr dirty="0" sz="750" b="1">
                          <a:latin typeface="Tahoma"/>
                          <a:cs typeface="Tahoma"/>
                        </a:rPr>
                        <a:t>d</a:t>
                      </a:r>
                      <a:r>
                        <a:rPr dirty="0" sz="750" b="1">
                          <a:latin typeface="Tahoma"/>
                          <a:cs typeface="Tahoma"/>
                        </a:rPr>
                        <a:t>e</a:t>
                      </a:r>
                      <a:r>
                        <a:rPr dirty="0" sz="750" b="1">
                          <a:latin typeface="Tahoma"/>
                          <a:cs typeface="Tahoma"/>
                        </a:rPr>
                        <a:t>r</a:t>
                      </a:r>
                      <a:r>
                        <a:rPr dirty="0" sz="750" b="1">
                          <a:latin typeface="Tahoma"/>
                          <a:cs typeface="Tahoma"/>
                        </a:rPr>
                        <a:t>e</a:t>
                      </a:r>
                      <a:r>
                        <a:rPr dirty="0" sz="750" b="1">
                          <a:latin typeface="Tahoma"/>
                          <a:cs typeface="Tahoma"/>
                        </a:rPr>
                        <a:t>d</a:t>
                      </a:r>
                      <a:r>
                        <a:rPr dirty="0" sz="750" spc="25" b="1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750" b="1">
                          <a:latin typeface="Tahoma"/>
                          <a:cs typeface="Tahoma"/>
                        </a:rPr>
                        <a:t>a</a:t>
                      </a:r>
                      <a:r>
                        <a:rPr dirty="0" sz="750" b="1">
                          <a:latin typeface="Tahoma"/>
                          <a:cs typeface="Tahoma"/>
                        </a:rPr>
                        <a:t>rr</a:t>
                      </a:r>
                      <a:r>
                        <a:rPr dirty="0" sz="750" b="1">
                          <a:latin typeface="Tahoma"/>
                          <a:cs typeface="Tahoma"/>
                        </a:rPr>
                        <a:t>a</a:t>
                      </a:r>
                      <a:r>
                        <a:rPr dirty="0" sz="750" b="1">
                          <a:latin typeface="Tahoma"/>
                          <a:cs typeface="Tahoma"/>
                        </a:rPr>
                        <a:t>y)</a:t>
                      </a:r>
                      <a:endParaRPr sz="750">
                        <a:latin typeface="Tahoma"/>
                        <a:cs typeface="Tahoma"/>
                      </a:endParaRPr>
                    </a:p>
                  </a:txBody>
                  <a:tcPr marL="0" marR="0" marB="0" marT="73025"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900" spc="10">
                          <a:latin typeface="Times New Roman"/>
                          <a:cs typeface="Times New Roman"/>
                        </a:rPr>
                        <a:t>lg</a:t>
                      </a:r>
                      <a:r>
                        <a:rPr dirty="0" sz="9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00" spc="20" i="1">
                          <a:latin typeface="Times New Roman"/>
                          <a:cs typeface="Times New Roman"/>
                        </a:rPr>
                        <a:t>N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900" i="1">
                          <a:latin typeface="Times New Roman"/>
                          <a:cs typeface="Times New Roman"/>
                        </a:rPr>
                        <a:t>N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900" i="1">
                          <a:latin typeface="Times New Roman"/>
                          <a:cs typeface="Times New Roman"/>
                        </a:rPr>
                        <a:t>N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900" spc="10">
                          <a:latin typeface="Times New Roman"/>
                          <a:cs typeface="Times New Roman"/>
                        </a:rPr>
                        <a:t>lg</a:t>
                      </a:r>
                      <a:r>
                        <a:rPr dirty="0" sz="9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00" spc="20" i="1">
                          <a:latin typeface="Times New Roman"/>
                          <a:cs typeface="Times New Roman"/>
                        </a:rPr>
                        <a:t>N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900" spc="20">
                          <a:latin typeface="Times New Roman"/>
                          <a:cs typeface="Times New Roman"/>
                        </a:rPr>
                        <a:t>½</a:t>
                      </a:r>
                      <a:r>
                        <a:rPr dirty="0" sz="9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00" spc="20" i="1">
                          <a:latin typeface="Times New Roman"/>
                          <a:cs typeface="Times New Roman"/>
                        </a:rPr>
                        <a:t>N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900" spc="20">
                          <a:latin typeface="Times New Roman"/>
                          <a:cs typeface="Times New Roman"/>
                        </a:rPr>
                        <a:t>½</a:t>
                      </a:r>
                      <a:r>
                        <a:rPr dirty="0" sz="9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00" spc="20" i="1">
                          <a:latin typeface="Times New Roman"/>
                          <a:cs typeface="Times New Roman"/>
                        </a:rPr>
                        <a:t>N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800">
                          <a:latin typeface="MS UI Gothic"/>
                          <a:cs typeface="MS UI Gothic"/>
                        </a:rPr>
                        <a:t>✔</a:t>
                      </a:r>
                      <a:endParaRPr sz="800">
                        <a:latin typeface="MS UI Gothic"/>
                        <a:cs typeface="MS UI Gothic"/>
                      </a:endParaRPr>
                    </a:p>
                  </a:txBody>
                  <a:tcPr marL="0" marR="0" marB="0" marT="635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algn="ctr" marL="635">
                        <a:lnSpc>
                          <a:spcPct val="100000"/>
                        </a:lnSpc>
                      </a:pPr>
                      <a:r>
                        <a:rPr dirty="0" sz="750" spc="-5">
                          <a:latin typeface="Lucida Sans Typewriter"/>
                          <a:cs typeface="Lucida Sans Typewriter"/>
                        </a:rPr>
                        <a:t>compareTo()</a:t>
                      </a:r>
                      <a:endParaRPr sz="750">
                        <a:latin typeface="Lucida Sans Typewriter"/>
                        <a:cs typeface="Lucida Sans Typewriter"/>
                      </a:endParaRPr>
                    </a:p>
                  </a:txBody>
                  <a:tcPr marL="0" marR="0" marB="0" marT="635">
                    <a:lnL w="3175">
                      <a:solidFill>
                        <a:srgbClr val="E7EAEB"/>
                      </a:solidFill>
                      <a:prstDash val="solid"/>
                    </a:lnL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D5D5D5"/>
                    </a:solidFill>
                  </a:tcPr>
                </a:tc>
              </a:tr>
              <a:tr h="4502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750" spc="-15" b="1">
                          <a:latin typeface="Tahoma"/>
                          <a:cs typeface="Tahoma"/>
                        </a:rPr>
                        <a:t>BST</a:t>
                      </a:r>
                      <a:endParaRPr sz="750">
                        <a:latin typeface="Tahoma"/>
                        <a:cs typeface="Tahoma"/>
                      </a:endParaRPr>
                    </a:p>
                  </a:txBody>
                  <a:tcPr marL="0" marR="0" marB="0" marT="5080"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900" i="1">
                          <a:latin typeface="Times New Roman"/>
                          <a:cs typeface="Times New Roman"/>
                        </a:rPr>
                        <a:t>N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900" i="1">
                          <a:latin typeface="Times New Roman"/>
                          <a:cs typeface="Times New Roman"/>
                        </a:rPr>
                        <a:t>N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900" i="1">
                          <a:latin typeface="Times New Roman"/>
                          <a:cs typeface="Times New Roman"/>
                        </a:rPr>
                        <a:t>N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94615">
                        <a:lnSpc>
                          <a:spcPct val="100000"/>
                        </a:lnSpc>
                      </a:pPr>
                      <a:r>
                        <a:rPr dirty="0" sz="900" spc="10">
                          <a:latin typeface="Times New Roman"/>
                          <a:cs typeface="Times New Roman"/>
                        </a:rPr>
                        <a:t>1.39</a:t>
                      </a:r>
                      <a:r>
                        <a:rPr dirty="0" sz="9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00" spc="10">
                          <a:latin typeface="Times New Roman"/>
                          <a:cs typeface="Times New Roman"/>
                        </a:rPr>
                        <a:t>lg</a:t>
                      </a:r>
                      <a:r>
                        <a:rPr dirty="0" sz="9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00" spc="20" i="1">
                          <a:latin typeface="Times New Roman"/>
                          <a:cs typeface="Times New Roman"/>
                        </a:rPr>
                        <a:t>N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94615">
                        <a:lnSpc>
                          <a:spcPct val="100000"/>
                        </a:lnSpc>
                      </a:pPr>
                      <a:r>
                        <a:rPr dirty="0" sz="900" spc="10">
                          <a:latin typeface="Times New Roman"/>
                          <a:cs typeface="Times New Roman"/>
                        </a:rPr>
                        <a:t>1.39</a:t>
                      </a:r>
                      <a:r>
                        <a:rPr dirty="0" sz="9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00" spc="10">
                          <a:latin typeface="Times New Roman"/>
                          <a:cs typeface="Times New Roman"/>
                        </a:rPr>
                        <a:t>lg</a:t>
                      </a:r>
                      <a:r>
                        <a:rPr dirty="0" sz="9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00" spc="20" i="1">
                          <a:latin typeface="Times New Roman"/>
                          <a:cs typeface="Times New Roman"/>
                        </a:rPr>
                        <a:t>N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900">
                          <a:latin typeface="Times New Roman"/>
                          <a:cs typeface="Times New Roman"/>
                        </a:rPr>
                        <a:t>√</a:t>
                      </a:r>
                      <a:r>
                        <a:rPr dirty="0" sz="900" spc="-7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00" i="1">
                          <a:latin typeface="Times New Roman"/>
                          <a:cs typeface="Times New Roman"/>
                        </a:rPr>
                        <a:t>N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800">
                          <a:latin typeface="MS UI Gothic"/>
                          <a:cs typeface="MS UI Gothic"/>
                        </a:rPr>
                        <a:t>✔</a:t>
                      </a:r>
                      <a:endParaRPr sz="800">
                        <a:latin typeface="MS UI Gothic"/>
                        <a:cs typeface="MS UI Gothic"/>
                      </a:endParaRPr>
                    </a:p>
                  </a:txBody>
                  <a:tcPr marL="0" marR="0" marB="0" marT="635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algn="ctr" marL="635">
                        <a:lnSpc>
                          <a:spcPct val="100000"/>
                        </a:lnSpc>
                      </a:pPr>
                      <a:r>
                        <a:rPr dirty="0" sz="750" spc="-5">
                          <a:latin typeface="Lucida Sans Typewriter"/>
                          <a:cs typeface="Lucida Sans Typewriter"/>
                        </a:rPr>
                        <a:t>compareTo()</a:t>
                      </a:r>
                      <a:endParaRPr sz="750">
                        <a:latin typeface="Lucida Sans Typewriter"/>
                        <a:cs typeface="Lucida Sans Typewriter"/>
                      </a:endParaRPr>
                    </a:p>
                  </a:txBody>
                  <a:tcPr marL="0" marR="0" marB="0" marT="635">
                    <a:lnL w="3175">
                      <a:solidFill>
                        <a:srgbClr val="E7EAEB"/>
                      </a:solidFill>
                      <a:prstDash val="solid"/>
                    </a:lnL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D5D5D5"/>
                    </a:solidFill>
                  </a:tcPr>
                </a:tc>
              </a:tr>
              <a:tr h="4502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750" spc="25" b="1">
                          <a:latin typeface="Tahoma"/>
                          <a:cs typeface="Tahoma"/>
                        </a:rPr>
                        <a:t>red-black</a:t>
                      </a:r>
                      <a:r>
                        <a:rPr dirty="0" sz="750" spc="-25" b="1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750" spc="-15" b="1">
                          <a:latin typeface="Tahoma"/>
                          <a:cs typeface="Tahoma"/>
                        </a:rPr>
                        <a:t>BST</a:t>
                      </a:r>
                      <a:endParaRPr sz="750">
                        <a:latin typeface="Tahoma"/>
                        <a:cs typeface="Tahoma"/>
                      </a:endParaRPr>
                    </a:p>
                  </a:txBody>
                  <a:tcPr marL="0" marR="0" marB="0" marT="5080"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900" spc="15">
                          <a:latin typeface="Times New Roman"/>
                          <a:cs typeface="Times New Roman"/>
                        </a:rPr>
                        <a:t>2</a:t>
                      </a:r>
                      <a:r>
                        <a:rPr dirty="0" sz="9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00" spc="10">
                          <a:latin typeface="Times New Roman"/>
                          <a:cs typeface="Times New Roman"/>
                        </a:rPr>
                        <a:t>lg</a:t>
                      </a:r>
                      <a:r>
                        <a:rPr dirty="0" sz="9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00" spc="20" i="1">
                          <a:latin typeface="Times New Roman"/>
                          <a:cs typeface="Times New Roman"/>
                        </a:rPr>
                        <a:t>N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900" spc="15">
                          <a:latin typeface="Times New Roman"/>
                          <a:cs typeface="Times New Roman"/>
                        </a:rPr>
                        <a:t>2</a:t>
                      </a:r>
                      <a:r>
                        <a:rPr dirty="0" sz="9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00" spc="10">
                          <a:latin typeface="Times New Roman"/>
                          <a:cs typeface="Times New Roman"/>
                        </a:rPr>
                        <a:t>lg</a:t>
                      </a:r>
                      <a:r>
                        <a:rPr dirty="0" sz="9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00" spc="20" i="1">
                          <a:latin typeface="Times New Roman"/>
                          <a:cs typeface="Times New Roman"/>
                        </a:rPr>
                        <a:t>N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900" spc="15">
                          <a:latin typeface="Times New Roman"/>
                          <a:cs typeface="Times New Roman"/>
                        </a:rPr>
                        <a:t>2</a:t>
                      </a:r>
                      <a:r>
                        <a:rPr dirty="0" sz="9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00" spc="10">
                          <a:latin typeface="Times New Roman"/>
                          <a:cs typeface="Times New Roman"/>
                        </a:rPr>
                        <a:t>lg</a:t>
                      </a:r>
                      <a:r>
                        <a:rPr dirty="0" sz="9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00" spc="20" i="1">
                          <a:latin typeface="Times New Roman"/>
                          <a:cs typeface="Times New Roman"/>
                        </a:rPr>
                        <a:t>N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124460">
                        <a:lnSpc>
                          <a:spcPct val="100000"/>
                        </a:lnSpc>
                      </a:pPr>
                      <a:r>
                        <a:rPr dirty="0" sz="900" spc="10">
                          <a:latin typeface="Times New Roman"/>
                          <a:cs typeface="Times New Roman"/>
                        </a:rPr>
                        <a:t>1.0</a:t>
                      </a:r>
                      <a:r>
                        <a:rPr dirty="0" sz="9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00" spc="10">
                          <a:latin typeface="Times New Roman"/>
                          <a:cs typeface="Times New Roman"/>
                        </a:rPr>
                        <a:t>lg</a:t>
                      </a:r>
                      <a:r>
                        <a:rPr dirty="0" sz="9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00" spc="20" i="1">
                          <a:latin typeface="Times New Roman"/>
                          <a:cs typeface="Times New Roman"/>
                        </a:rPr>
                        <a:t>N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124460">
                        <a:lnSpc>
                          <a:spcPct val="100000"/>
                        </a:lnSpc>
                      </a:pPr>
                      <a:r>
                        <a:rPr dirty="0" sz="900" spc="10">
                          <a:latin typeface="Times New Roman"/>
                          <a:cs typeface="Times New Roman"/>
                        </a:rPr>
                        <a:t>1.0</a:t>
                      </a:r>
                      <a:r>
                        <a:rPr dirty="0" sz="9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00" spc="10">
                          <a:latin typeface="Times New Roman"/>
                          <a:cs typeface="Times New Roman"/>
                        </a:rPr>
                        <a:t>lg</a:t>
                      </a:r>
                      <a:r>
                        <a:rPr dirty="0" sz="9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00" spc="20" i="1">
                          <a:latin typeface="Times New Roman"/>
                          <a:cs typeface="Times New Roman"/>
                        </a:rPr>
                        <a:t>N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124460">
                        <a:lnSpc>
                          <a:spcPct val="100000"/>
                        </a:lnSpc>
                      </a:pPr>
                      <a:r>
                        <a:rPr dirty="0" sz="900" spc="10">
                          <a:latin typeface="Times New Roman"/>
                          <a:cs typeface="Times New Roman"/>
                        </a:rPr>
                        <a:t>1.0</a:t>
                      </a:r>
                      <a:r>
                        <a:rPr dirty="0" sz="9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00" spc="10">
                          <a:latin typeface="Times New Roman"/>
                          <a:cs typeface="Times New Roman"/>
                        </a:rPr>
                        <a:t>lg</a:t>
                      </a:r>
                      <a:r>
                        <a:rPr dirty="0" sz="9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00" spc="20" i="1">
                          <a:latin typeface="Times New Roman"/>
                          <a:cs typeface="Times New Roman"/>
                        </a:rPr>
                        <a:t>N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800">
                          <a:latin typeface="MS UI Gothic"/>
                          <a:cs typeface="MS UI Gothic"/>
                        </a:rPr>
                        <a:t>✔</a:t>
                      </a:r>
                      <a:endParaRPr sz="800">
                        <a:latin typeface="MS UI Gothic"/>
                        <a:cs typeface="MS UI Gothic"/>
                      </a:endParaRPr>
                    </a:p>
                  </a:txBody>
                  <a:tcPr marL="0" marR="0" marB="0" marT="635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algn="ctr" marL="635">
                        <a:lnSpc>
                          <a:spcPct val="100000"/>
                        </a:lnSpc>
                      </a:pPr>
                      <a:r>
                        <a:rPr dirty="0" sz="750" spc="-5">
                          <a:latin typeface="Lucida Sans Typewriter"/>
                          <a:cs typeface="Lucida Sans Typewriter"/>
                        </a:rPr>
                        <a:t>compareTo()</a:t>
                      </a:r>
                      <a:endParaRPr sz="750">
                        <a:latin typeface="Lucida Sans Typewriter"/>
                        <a:cs typeface="Lucida Sans Typewriter"/>
                      </a:endParaRPr>
                    </a:p>
                  </a:txBody>
                  <a:tcPr marL="0" marR="0" marB="0" marT="635">
                    <a:lnL w="3175">
                      <a:solidFill>
                        <a:srgbClr val="E7EAEB"/>
                      </a:solidFill>
                      <a:prstDash val="solid"/>
                    </a:lnL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D5D5D5"/>
                    </a:solidFill>
                  </a:tcPr>
                </a:tc>
              </a:tr>
              <a:tr h="4502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750" b="1">
                          <a:latin typeface="Tahoma"/>
                          <a:cs typeface="Tahoma"/>
                        </a:rPr>
                        <a:t>separate</a:t>
                      </a:r>
                      <a:r>
                        <a:rPr dirty="0" sz="750" spc="-20" b="1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750" spc="5" b="1">
                          <a:latin typeface="Tahoma"/>
                          <a:cs typeface="Tahoma"/>
                        </a:rPr>
                        <a:t>chaining</a:t>
                      </a:r>
                      <a:endParaRPr sz="750">
                        <a:latin typeface="Tahoma"/>
                        <a:cs typeface="Tahoma"/>
                      </a:endParaRPr>
                    </a:p>
                  </a:txBody>
                  <a:tcPr marL="0" marR="0" marB="0" marT="5080"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900" i="1">
                          <a:latin typeface="Times New Roman"/>
                          <a:cs typeface="Times New Roman"/>
                        </a:rPr>
                        <a:t>N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900" i="1">
                          <a:latin typeface="Times New Roman"/>
                          <a:cs typeface="Times New Roman"/>
                        </a:rPr>
                        <a:t>N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900" i="1">
                          <a:latin typeface="Times New Roman"/>
                          <a:cs typeface="Times New Roman"/>
                        </a:rPr>
                        <a:t>N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900" spc="10">
                          <a:latin typeface="Times New Roman"/>
                          <a:cs typeface="Times New Roman"/>
                        </a:rPr>
                        <a:t>3-5</a:t>
                      </a:r>
                      <a:r>
                        <a:rPr dirty="0" sz="9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00" spc="15">
                          <a:solidFill>
                            <a:srgbClr val="AB3326"/>
                          </a:solidFill>
                          <a:latin typeface="Times New Roman"/>
                          <a:cs typeface="Times New Roman"/>
                        </a:rPr>
                        <a:t>*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900" spc="10">
                          <a:latin typeface="Times New Roman"/>
                          <a:cs typeface="Times New Roman"/>
                        </a:rPr>
                        <a:t>3-5</a:t>
                      </a:r>
                      <a:r>
                        <a:rPr dirty="0" sz="9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00" spc="15">
                          <a:solidFill>
                            <a:srgbClr val="AB3326"/>
                          </a:solidFill>
                          <a:latin typeface="Times New Roman"/>
                          <a:cs typeface="Times New Roman"/>
                        </a:rPr>
                        <a:t>*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900" spc="10">
                          <a:latin typeface="Times New Roman"/>
                          <a:cs typeface="Times New Roman"/>
                        </a:rPr>
                        <a:t>3-5</a:t>
                      </a:r>
                      <a:r>
                        <a:rPr dirty="0" sz="9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00" spc="15">
                          <a:solidFill>
                            <a:srgbClr val="AB3326"/>
                          </a:solidFill>
                          <a:latin typeface="Times New Roman"/>
                          <a:cs typeface="Times New Roman"/>
                        </a:rPr>
                        <a:t>*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37795" marR="129539" indent="56515">
                        <a:lnSpc>
                          <a:spcPct val="113999"/>
                        </a:lnSpc>
                        <a:spcBef>
                          <a:spcPts val="575"/>
                        </a:spcBef>
                      </a:pPr>
                      <a:r>
                        <a:rPr dirty="0" sz="750" spc="-5">
                          <a:latin typeface="Lucida Sans Typewriter"/>
                          <a:cs typeface="Lucida Sans Typewriter"/>
                        </a:rPr>
                        <a:t>equals() </a:t>
                      </a:r>
                      <a:r>
                        <a:rPr dirty="0" sz="750" spc="-440">
                          <a:latin typeface="Lucida Sans Typewriter"/>
                          <a:cs typeface="Lucida Sans Typewriter"/>
                        </a:rPr>
                        <a:t> </a:t>
                      </a:r>
                      <a:r>
                        <a:rPr dirty="0" sz="750">
                          <a:latin typeface="Lucida Sans Typewriter"/>
                          <a:cs typeface="Lucida Sans Typewriter"/>
                        </a:rPr>
                        <a:t>hashCode()</a:t>
                      </a:r>
                      <a:endParaRPr sz="750">
                        <a:latin typeface="Lucida Sans Typewriter"/>
                        <a:cs typeface="Lucida Sans Typewriter"/>
                      </a:endParaRPr>
                    </a:p>
                  </a:txBody>
                  <a:tcPr marL="0" marR="0" marB="0" marT="73025">
                    <a:lnL w="3175">
                      <a:solidFill>
                        <a:srgbClr val="E7EAEB"/>
                      </a:solidFill>
                      <a:prstDash val="solid"/>
                    </a:lnL>
                    <a:lnT w="3175">
                      <a:solidFill>
                        <a:srgbClr val="E7EAEB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id="354" name="object 354"/>
          <p:cNvGrpSpPr/>
          <p:nvPr/>
        </p:nvGrpSpPr>
        <p:grpSpPr>
          <a:xfrm>
            <a:off x="6588569" y="4962970"/>
            <a:ext cx="6073775" cy="4557395"/>
            <a:chOff x="6588569" y="4962970"/>
            <a:chExt cx="6073775" cy="4557395"/>
          </a:xfrm>
        </p:grpSpPr>
        <p:sp>
          <p:nvSpPr>
            <p:cNvPr id="355" name="object 355"/>
            <p:cNvSpPr/>
            <p:nvPr/>
          </p:nvSpPr>
          <p:spPr>
            <a:xfrm>
              <a:off x="6592379" y="4966780"/>
              <a:ext cx="6066790" cy="4549775"/>
            </a:xfrm>
            <a:custGeom>
              <a:avLst/>
              <a:gdLst/>
              <a:ahLst/>
              <a:cxnLst/>
              <a:rect l="l" t="t" r="r" b="b"/>
              <a:pathLst>
                <a:path w="6066790" h="4549775">
                  <a:moveTo>
                    <a:pt x="0" y="0"/>
                  </a:moveTo>
                  <a:lnTo>
                    <a:pt x="6066212" y="0"/>
                  </a:lnTo>
                  <a:lnTo>
                    <a:pt x="6066212" y="4549659"/>
                  </a:lnTo>
                  <a:lnTo>
                    <a:pt x="0" y="45496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5F5F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6" name="object 356"/>
            <p:cNvSpPr/>
            <p:nvPr/>
          </p:nvSpPr>
          <p:spPr>
            <a:xfrm>
              <a:off x="6592379" y="4966780"/>
              <a:ext cx="5197475" cy="156845"/>
            </a:xfrm>
            <a:custGeom>
              <a:avLst/>
              <a:gdLst/>
              <a:ahLst/>
              <a:cxnLst/>
              <a:rect l="l" t="t" r="r" b="b"/>
              <a:pathLst>
                <a:path w="5197475" h="156845">
                  <a:moveTo>
                    <a:pt x="4400264" y="53541"/>
                  </a:moveTo>
                  <a:lnTo>
                    <a:pt x="4458336" y="32432"/>
                  </a:lnTo>
                </a:path>
                <a:path w="5197475" h="156845">
                  <a:moveTo>
                    <a:pt x="2180278" y="0"/>
                  </a:moveTo>
                  <a:lnTo>
                    <a:pt x="2180278" y="13946"/>
                  </a:lnTo>
                </a:path>
                <a:path w="5197475" h="156845">
                  <a:moveTo>
                    <a:pt x="4260361" y="132702"/>
                  </a:moveTo>
                  <a:lnTo>
                    <a:pt x="4268280" y="108969"/>
                  </a:lnTo>
                  <a:lnTo>
                    <a:pt x="4265641" y="93122"/>
                  </a:lnTo>
                  <a:lnTo>
                    <a:pt x="4313154" y="72012"/>
                  </a:lnTo>
                  <a:lnTo>
                    <a:pt x="4313154" y="3391"/>
                  </a:lnTo>
                  <a:lnTo>
                    <a:pt x="4306359" y="0"/>
                  </a:lnTo>
                </a:path>
                <a:path w="5197475" h="156845">
                  <a:moveTo>
                    <a:pt x="123968" y="11307"/>
                  </a:moveTo>
                  <a:lnTo>
                    <a:pt x="124482" y="0"/>
                  </a:lnTo>
                </a:path>
                <a:path w="5197475" h="156845">
                  <a:moveTo>
                    <a:pt x="1858252" y="16614"/>
                  </a:moveTo>
                  <a:lnTo>
                    <a:pt x="1838868" y="0"/>
                  </a:lnTo>
                </a:path>
                <a:path w="5197475" h="156845">
                  <a:moveTo>
                    <a:pt x="2977461" y="19238"/>
                  </a:moveTo>
                  <a:lnTo>
                    <a:pt x="2985480" y="0"/>
                  </a:lnTo>
                </a:path>
                <a:path w="5197475" h="156845">
                  <a:moveTo>
                    <a:pt x="5155197" y="21877"/>
                  </a:moveTo>
                  <a:lnTo>
                    <a:pt x="5197446" y="29778"/>
                  </a:lnTo>
                  <a:lnTo>
                    <a:pt x="5193308" y="0"/>
                  </a:lnTo>
                </a:path>
                <a:path w="5197475" h="156845">
                  <a:moveTo>
                    <a:pt x="0" y="109443"/>
                  </a:moveTo>
                  <a:lnTo>
                    <a:pt x="21021" y="103662"/>
                  </a:lnTo>
                </a:path>
                <a:path w="5197475" h="156845">
                  <a:moveTo>
                    <a:pt x="4363294" y="114217"/>
                  </a:moveTo>
                  <a:lnTo>
                    <a:pt x="4400264" y="53541"/>
                  </a:lnTo>
                  <a:lnTo>
                    <a:pt x="4406484" y="0"/>
                  </a:lnTo>
                </a:path>
                <a:path w="5197475" h="156845">
                  <a:moveTo>
                    <a:pt x="3035535" y="66735"/>
                  </a:moveTo>
                  <a:lnTo>
                    <a:pt x="3033777" y="0"/>
                  </a:lnTo>
                </a:path>
                <a:path w="5197475" h="156845">
                  <a:moveTo>
                    <a:pt x="3094101" y="0"/>
                  </a:moveTo>
                  <a:lnTo>
                    <a:pt x="3114739" y="11307"/>
                  </a:lnTo>
                </a:path>
                <a:path w="5197475" h="156845">
                  <a:moveTo>
                    <a:pt x="4313154" y="72012"/>
                  </a:moveTo>
                  <a:lnTo>
                    <a:pt x="4363294" y="114217"/>
                  </a:lnTo>
                  <a:lnTo>
                    <a:pt x="4431941" y="156421"/>
                  </a:lnTo>
                </a:path>
              </a:pathLst>
            </a:custGeom>
            <a:ln w="7331">
              <a:solidFill>
                <a:srgbClr val="6D6E7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57" name="object 35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588713" y="4963114"/>
              <a:ext cx="6073544" cy="4556992"/>
            </a:xfrm>
            <a:prstGeom prst="rect">
              <a:avLst/>
            </a:prstGeom>
          </p:spPr>
        </p:pic>
        <p:sp>
          <p:nvSpPr>
            <p:cNvPr id="358" name="object 358"/>
            <p:cNvSpPr/>
            <p:nvPr/>
          </p:nvSpPr>
          <p:spPr>
            <a:xfrm>
              <a:off x="9222631" y="6832852"/>
              <a:ext cx="3039745" cy="0"/>
            </a:xfrm>
            <a:custGeom>
              <a:avLst/>
              <a:gdLst/>
              <a:ahLst/>
              <a:cxnLst/>
              <a:rect l="l" t="t" r="r" b="b"/>
              <a:pathLst>
                <a:path w="3039745" h="0">
                  <a:moveTo>
                    <a:pt x="0" y="0"/>
                  </a:moveTo>
                  <a:lnTo>
                    <a:pt x="3039461" y="0"/>
                  </a:lnTo>
                </a:path>
              </a:pathLst>
            </a:custGeom>
            <a:ln w="88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9" name="object 359"/>
            <p:cNvSpPr/>
            <p:nvPr/>
          </p:nvSpPr>
          <p:spPr>
            <a:xfrm>
              <a:off x="6995214" y="6536650"/>
              <a:ext cx="1522730" cy="1907539"/>
            </a:xfrm>
            <a:custGeom>
              <a:avLst/>
              <a:gdLst/>
              <a:ahLst/>
              <a:cxnLst/>
              <a:rect l="l" t="t" r="r" b="b"/>
              <a:pathLst>
                <a:path w="1522729" h="1907540">
                  <a:moveTo>
                    <a:pt x="1522477" y="0"/>
                  </a:moveTo>
                  <a:lnTo>
                    <a:pt x="0" y="0"/>
                  </a:lnTo>
                  <a:lnTo>
                    <a:pt x="0" y="1907539"/>
                  </a:lnTo>
                  <a:lnTo>
                    <a:pt x="1522477" y="1907539"/>
                  </a:lnTo>
                  <a:lnTo>
                    <a:pt x="1522477" y="0"/>
                  </a:lnTo>
                  <a:close/>
                </a:path>
              </a:pathLst>
            </a:custGeom>
            <a:solidFill>
              <a:srgbClr val="E6E7E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60" name="object 360"/>
          <p:cNvSpPr txBox="1"/>
          <p:nvPr/>
        </p:nvSpPr>
        <p:spPr>
          <a:xfrm>
            <a:off x="6992224" y="8265549"/>
            <a:ext cx="1532255" cy="32067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0"/>
              </a:spcBef>
            </a:pPr>
            <a:r>
              <a:rPr dirty="0" sz="700" spc="35">
                <a:solidFill>
                  <a:srgbClr val="231F20"/>
                </a:solidFill>
                <a:latin typeface="Garamond"/>
                <a:cs typeface="Garamond"/>
              </a:rPr>
              <a:t>R</a:t>
            </a:r>
            <a:r>
              <a:rPr dirty="0" sz="450" spc="35">
                <a:solidFill>
                  <a:srgbClr val="231F20"/>
                </a:solidFill>
                <a:latin typeface="Garamond"/>
                <a:cs typeface="Garamond"/>
              </a:rPr>
              <a:t>OBERT</a:t>
            </a:r>
            <a:r>
              <a:rPr dirty="0" sz="450" spc="80">
                <a:solidFill>
                  <a:srgbClr val="231F20"/>
                </a:solidFill>
                <a:latin typeface="Garamond"/>
                <a:cs typeface="Garamond"/>
              </a:rPr>
              <a:t> </a:t>
            </a:r>
            <a:r>
              <a:rPr dirty="0" sz="700" spc="35">
                <a:solidFill>
                  <a:srgbClr val="231F20"/>
                </a:solidFill>
                <a:latin typeface="Garamond"/>
                <a:cs typeface="Garamond"/>
              </a:rPr>
              <a:t>S</a:t>
            </a:r>
            <a:r>
              <a:rPr dirty="0" sz="450" spc="35">
                <a:solidFill>
                  <a:srgbClr val="231F20"/>
                </a:solidFill>
                <a:latin typeface="Garamond"/>
                <a:cs typeface="Garamond"/>
              </a:rPr>
              <a:t>EDGEWICK </a:t>
            </a:r>
            <a:r>
              <a:rPr dirty="0" sz="450" spc="114">
                <a:solidFill>
                  <a:srgbClr val="231F20"/>
                </a:solidFill>
                <a:latin typeface="Garamond"/>
                <a:cs typeface="Garamond"/>
              </a:rPr>
              <a:t> </a:t>
            </a:r>
            <a:r>
              <a:rPr dirty="0" sz="700" spc="-200">
                <a:solidFill>
                  <a:srgbClr val="231F20"/>
                </a:solidFill>
                <a:latin typeface="Garamond"/>
                <a:cs typeface="Garamond"/>
              </a:rPr>
              <a:t>|</a:t>
            </a:r>
            <a:r>
              <a:rPr dirty="0" sz="700" spc="210">
                <a:solidFill>
                  <a:srgbClr val="231F20"/>
                </a:solidFill>
                <a:latin typeface="Garamond"/>
                <a:cs typeface="Garamond"/>
              </a:rPr>
              <a:t> </a:t>
            </a:r>
            <a:r>
              <a:rPr dirty="0" sz="700" spc="30">
                <a:solidFill>
                  <a:srgbClr val="231F20"/>
                </a:solidFill>
                <a:latin typeface="Garamond"/>
                <a:cs typeface="Garamond"/>
              </a:rPr>
              <a:t>K</a:t>
            </a:r>
            <a:r>
              <a:rPr dirty="0" sz="450" spc="30">
                <a:solidFill>
                  <a:srgbClr val="231F20"/>
                </a:solidFill>
                <a:latin typeface="Garamond"/>
                <a:cs typeface="Garamond"/>
              </a:rPr>
              <a:t>EVIN</a:t>
            </a:r>
            <a:r>
              <a:rPr dirty="0" sz="450" spc="80">
                <a:solidFill>
                  <a:srgbClr val="231F20"/>
                </a:solidFill>
                <a:latin typeface="Garamond"/>
                <a:cs typeface="Garamond"/>
              </a:rPr>
              <a:t> </a:t>
            </a:r>
            <a:r>
              <a:rPr dirty="0" sz="700" spc="40">
                <a:solidFill>
                  <a:srgbClr val="231F20"/>
                </a:solidFill>
                <a:latin typeface="Garamond"/>
                <a:cs typeface="Garamond"/>
              </a:rPr>
              <a:t>W</a:t>
            </a:r>
            <a:r>
              <a:rPr dirty="0" sz="450" spc="40">
                <a:solidFill>
                  <a:srgbClr val="231F20"/>
                </a:solidFill>
                <a:latin typeface="Garamond"/>
                <a:cs typeface="Garamond"/>
              </a:rPr>
              <a:t>AYNE</a:t>
            </a:r>
            <a:endParaRPr sz="45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600">
              <a:latin typeface="Garamond"/>
              <a:cs typeface="Garamond"/>
            </a:endParaRPr>
          </a:p>
          <a:p>
            <a:pPr algn="ctr">
              <a:lnSpc>
                <a:spcPct val="100000"/>
              </a:lnSpc>
            </a:pPr>
            <a:r>
              <a:rPr dirty="0" sz="650" spc="65" b="1">
                <a:latin typeface="Tahoma"/>
                <a:cs typeface="Tahoma"/>
                <a:hlinkClick r:id="rId10"/>
              </a:rPr>
              <a:t>http://algs4.cs.princeton.edu</a:t>
            </a:r>
            <a:r>
              <a:rPr dirty="0" sz="650" spc="-120" b="1">
                <a:latin typeface="Tahoma"/>
                <a:cs typeface="Tahoma"/>
                <a:hlinkClick r:id="rId10"/>
              </a:rPr>
              <a:t> </a:t>
            </a:r>
            <a:endParaRPr sz="650">
              <a:latin typeface="Tahoma"/>
              <a:cs typeface="Tahoma"/>
            </a:endParaRPr>
          </a:p>
        </p:txBody>
      </p:sp>
      <p:sp>
        <p:nvSpPr>
          <p:cNvPr id="361" name="object 361"/>
          <p:cNvSpPr/>
          <p:nvPr/>
        </p:nvSpPr>
        <p:spPr>
          <a:xfrm>
            <a:off x="6995211" y="6536651"/>
            <a:ext cx="1499870" cy="1086485"/>
          </a:xfrm>
          <a:custGeom>
            <a:avLst/>
            <a:gdLst/>
            <a:ahLst/>
            <a:cxnLst/>
            <a:rect l="l" t="t" r="r" b="b"/>
            <a:pathLst>
              <a:path w="1499870" h="1086484">
                <a:moveTo>
                  <a:pt x="1320" y="726338"/>
                </a:moveTo>
                <a:lnTo>
                  <a:pt x="0" y="726338"/>
                </a:lnTo>
                <a:lnTo>
                  <a:pt x="0" y="1051356"/>
                </a:lnTo>
                <a:lnTo>
                  <a:pt x="1320" y="1051356"/>
                </a:lnTo>
                <a:lnTo>
                  <a:pt x="1320" y="726338"/>
                </a:lnTo>
                <a:close/>
              </a:path>
              <a:path w="1499870" h="1086484">
                <a:moveTo>
                  <a:pt x="62471" y="912685"/>
                </a:moveTo>
                <a:lnTo>
                  <a:pt x="24079" y="912685"/>
                </a:lnTo>
                <a:lnTo>
                  <a:pt x="24079" y="1086027"/>
                </a:lnTo>
                <a:lnTo>
                  <a:pt x="62471" y="1086027"/>
                </a:lnTo>
                <a:lnTo>
                  <a:pt x="62471" y="912685"/>
                </a:lnTo>
                <a:close/>
              </a:path>
              <a:path w="1499870" h="1086484">
                <a:moveTo>
                  <a:pt x="134277" y="856348"/>
                </a:moveTo>
                <a:lnTo>
                  <a:pt x="95885" y="856348"/>
                </a:lnTo>
                <a:lnTo>
                  <a:pt x="95885" y="1029690"/>
                </a:lnTo>
                <a:lnTo>
                  <a:pt x="134277" y="1029690"/>
                </a:lnTo>
                <a:lnTo>
                  <a:pt x="134277" y="856348"/>
                </a:lnTo>
                <a:close/>
              </a:path>
              <a:path w="1499870" h="1086484">
                <a:moveTo>
                  <a:pt x="206095" y="827328"/>
                </a:moveTo>
                <a:lnTo>
                  <a:pt x="167703" y="827328"/>
                </a:lnTo>
                <a:lnTo>
                  <a:pt x="167703" y="1074343"/>
                </a:lnTo>
                <a:lnTo>
                  <a:pt x="206095" y="1074343"/>
                </a:lnTo>
                <a:lnTo>
                  <a:pt x="206095" y="827328"/>
                </a:lnTo>
                <a:close/>
              </a:path>
              <a:path w="1499870" h="1086484">
                <a:moveTo>
                  <a:pt x="277914" y="656996"/>
                </a:moveTo>
                <a:lnTo>
                  <a:pt x="239522" y="656996"/>
                </a:lnTo>
                <a:lnTo>
                  <a:pt x="239522" y="982014"/>
                </a:lnTo>
                <a:lnTo>
                  <a:pt x="277914" y="982014"/>
                </a:lnTo>
                <a:lnTo>
                  <a:pt x="277914" y="656996"/>
                </a:lnTo>
                <a:close/>
              </a:path>
              <a:path w="1499870" h="1086484">
                <a:moveTo>
                  <a:pt x="349732" y="778319"/>
                </a:moveTo>
                <a:lnTo>
                  <a:pt x="311327" y="778319"/>
                </a:lnTo>
                <a:lnTo>
                  <a:pt x="311327" y="951661"/>
                </a:lnTo>
                <a:lnTo>
                  <a:pt x="349732" y="951661"/>
                </a:lnTo>
                <a:lnTo>
                  <a:pt x="349732" y="778319"/>
                </a:lnTo>
                <a:close/>
              </a:path>
              <a:path w="1499870" h="1086484">
                <a:moveTo>
                  <a:pt x="421538" y="808659"/>
                </a:moveTo>
                <a:lnTo>
                  <a:pt x="383146" y="808659"/>
                </a:lnTo>
                <a:lnTo>
                  <a:pt x="383146" y="982002"/>
                </a:lnTo>
                <a:lnTo>
                  <a:pt x="421538" y="982002"/>
                </a:lnTo>
                <a:lnTo>
                  <a:pt x="421538" y="808659"/>
                </a:lnTo>
                <a:close/>
              </a:path>
              <a:path w="1499870" h="1086484">
                <a:moveTo>
                  <a:pt x="493356" y="726338"/>
                </a:moveTo>
                <a:lnTo>
                  <a:pt x="454964" y="726338"/>
                </a:lnTo>
                <a:lnTo>
                  <a:pt x="454964" y="1029690"/>
                </a:lnTo>
                <a:lnTo>
                  <a:pt x="493356" y="1029690"/>
                </a:lnTo>
                <a:lnTo>
                  <a:pt x="493356" y="726338"/>
                </a:lnTo>
                <a:close/>
              </a:path>
              <a:path w="1499870" h="1086484">
                <a:moveTo>
                  <a:pt x="565175" y="735012"/>
                </a:moveTo>
                <a:lnTo>
                  <a:pt x="526770" y="735012"/>
                </a:lnTo>
                <a:lnTo>
                  <a:pt x="526770" y="908354"/>
                </a:lnTo>
                <a:lnTo>
                  <a:pt x="565175" y="908354"/>
                </a:lnTo>
                <a:lnTo>
                  <a:pt x="565175" y="735012"/>
                </a:lnTo>
                <a:close/>
              </a:path>
              <a:path w="1499870" h="1086484">
                <a:moveTo>
                  <a:pt x="636981" y="826008"/>
                </a:moveTo>
                <a:lnTo>
                  <a:pt x="598589" y="826008"/>
                </a:lnTo>
                <a:lnTo>
                  <a:pt x="598589" y="999350"/>
                </a:lnTo>
                <a:lnTo>
                  <a:pt x="636981" y="999350"/>
                </a:lnTo>
                <a:lnTo>
                  <a:pt x="636981" y="826008"/>
                </a:lnTo>
                <a:close/>
              </a:path>
              <a:path w="1499870" h="1086484">
                <a:moveTo>
                  <a:pt x="708799" y="851992"/>
                </a:moveTo>
                <a:lnTo>
                  <a:pt x="670407" y="851992"/>
                </a:lnTo>
                <a:lnTo>
                  <a:pt x="670407" y="1025334"/>
                </a:lnTo>
                <a:lnTo>
                  <a:pt x="708799" y="1025334"/>
                </a:lnTo>
                <a:lnTo>
                  <a:pt x="708799" y="851992"/>
                </a:lnTo>
                <a:close/>
              </a:path>
              <a:path w="1499870" h="1086484">
                <a:moveTo>
                  <a:pt x="780618" y="734974"/>
                </a:moveTo>
                <a:lnTo>
                  <a:pt x="742213" y="734974"/>
                </a:lnTo>
                <a:lnTo>
                  <a:pt x="742213" y="908316"/>
                </a:lnTo>
                <a:lnTo>
                  <a:pt x="780618" y="908316"/>
                </a:lnTo>
                <a:lnTo>
                  <a:pt x="780618" y="734974"/>
                </a:lnTo>
                <a:close/>
              </a:path>
              <a:path w="1499870" h="1086484">
                <a:moveTo>
                  <a:pt x="852436" y="843318"/>
                </a:moveTo>
                <a:lnTo>
                  <a:pt x="814031" y="843318"/>
                </a:lnTo>
                <a:lnTo>
                  <a:pt x="814031" y="1016660"/>
                </a:lnTo>
                <a:lnTo>
                  <a:pt x="852436" y="1016660"/>
                </a:lnTo>
                <a:lnTo>
                  <a:pt x="852436" y="843318"/>
                </a:lnTo>
                <a:close/>
              </a:path>
              <a:path w="1499870" h="1086484">
                <a:moveTo>
                  <a:pt x="924242" y="912647"/>
                </a:moveTo>
                <a:lnTo>
                  <a:pt x="885837" y="912647"/>
                </a:lnTo>
                <a:lnTo>
                  <a:pt x="885837" y="1085989"/>
                </a:lnTo>
                <a:lnTo>
                  <a:pt x="924242" y="1085989"/>
                </a:lnTo>
                <a:lnTo>
                  <a:pt x="924242" y="912647"/>
                </a:lnTo>
                <a:close/>
              </a:path>
              <a:path w="1499870" h="1086484">
                <a:moveTo>
                  <a:pt x="996061" y="0"/>
                </a:moveTo>
                <a:lnTo>
                  <a:pt x="957656" y="0"/>
                </a:lnTo>
                <a:lnTo>
                  <a:pt x="957656" y="1085989"/>
                </a:lnTo>
                <a:lnTo>
                  <a:pt x="996061" y="1085989"/>
                </a:lnTo>
                <a:lnTo>
                  <a:pt x="996061" y="0"/>
                </a:lnTo>
                <a:close/>
              </a:path>
              <a:path w="1499870" h="1086484">
                <a:moveTo>
                  <a:pt x="1067866" y="912647"/>
                </a:moveTo>
                <a:lnTo>
                  <a:pt x="1029474" y="912647"/>
                </a:lnTo>
                <a:lnTo>
                  <a:pt x="1029474" y="1085989"/>
                </a:lnTo>
                <a:lnTo>
                  <a:pt x="1067866" y="1085989"/>
                </a:lnTo>
                <a:lnTo>
                  <a:pt x="1067866" y="912647"/>
                </a:lnTo>
                <a:close/>
              </a:path>
              <a:path w="1499870" h="1086484">
                <a:moveTo>
                  <a:pt x="1139685" y="912647"/>
                </a:moveTo>
                <a:lnTo>
                  <a:pt x="1101280" y="912647"/>
                </a:lnTo>
                <a:lnTo>
                  <a:pt x="1101280" y="1085989"/>
                </a:lnTo>
                <a:lnTo>
                  <a:pt x="1139685" y="1085989"/>
                </a:lnTo>
                <a:lnTo>
                  <a:pt x="1139685" y="912647"/>
                </a:lnTo>
                <a:close/>
              </a:path>
              <a:path w="1499870" h="1086484">
                <a:moveTo>
                  <a:pt x="1211491" y="912634"/>
                </a:moveTo>
                <a:lnTo>
                  <a:pt x="1173099" y="912634"/>
                </a:lnTo>
                <a:lnTo>
                  <a:pt x="1173099" y="1085977"/>
                </a:lnTo>
                <a:lnTo>
                  <a:pt x="1211491" y="1085977"/>
                </a:lnTo>
                <a:lnTo>
                  <a:pt x="1211491" y="912634"/>
                </a:lnTo>
                <a:close/>
              </a:path>
              <a:path w="1499870" h="1086484">
                <a:moveTo>
                  <a:pt x="1283309" y="912634"/>
                </a:moveTo>
                <a:lnTo>
                  <a:pt x="1244904" y="912634"/>
                </a:lnTo>
                <a:lnTo>
                  <a:pt x="1244904" y="1085977"/>
                </a:lnTo>
                <a:lnTo>
                  <a:pt x="1283309" y="1085977"/>
                </a:lnTo>
                <a:lnTo>
                  <a:pt x="1283309" y="912634"/>
                </a:lnTo>
                <a:close/>
              </a:path>
              <a:path w="1499870" h="1086484">
                <a:moveTo>
                  <a:pt x="1355115" y="912634"/>
                </a:moveTo>
                <a:lnTo>
                  <a:pt x="1316723" y="912634"/>
                </a:lnTo>
                <a:lnTo>
                  <a:pt x="1316723" y="1085977"/>
                </a:lnTo>
                <a:lnTo>
                  <a:pt x="1355115" y="1085977"/>
                </a:lnTo>
                <a:lnTo>
                  <a:pt x="1355115" y="912634"/>
                </a:lnTo>
                <a:close/>
              </a:path>
              <a:path w="1499870" h="1086484">
                <a:moveTo>
                  <a:pt x="1426933" y="912634"/>
                </a:moveTo>
                <a:lnTo>
                  <a:pt x="1388541" y="912634"/>
                </a:lnTo>
                <a:lnTo>
                  <a:pt x="1388541" y="1085977"/>
                </a:lnTo>
                <a:lnTo>
                  <a:pt x="1426933" y="1085977"/>
                </a:lnTo>
                <a:lnTo>
                  <a:pt x="1426933" y="912634"/>
                </a:lnTo>
                <a:close/>
              </a:path>
              <a:path w="1499870" h="1086484">
                <a:moveTo>
                  <a:pt x="1499438" y="912634"/>
                </a:moveTo>
                <a:lnTo>
                  <a:pt x="1461046" y="912634"/>
                </a:lnTo>
                <a:lnTo>
                  <a:pt x="1461046" y="1085977"/>
                </a:lnTo>
                <a:lnTo>
                  <a:pt x="1499438" y="1085977"/>
                </a:lnTo>
                <a:lnTo>
                  <a:pt x="1499438" y="912634"/>
                </a:lnTo>
                <a:close/>
              </a:path>
            </a:pathLst>
          </a:custGeom>
          <a:solidFill>
            <a:srgbClr val="808285">
              <a:alpha val="29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62" name="object 362"/>
          <p:cNvSpPr txBox="1"/>
          <p:nvPr/>
        </p:nvSpPr>
        <p:spPr>
          <a:xfrm>
            <a:off x="7057512" y="7533001"/>
            <a:ext cx="1395095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 spc="114">
                <a:solidFill>
                  <a:srgbClr val="231F20"/>
                </a:solidFill>
                <a:latin typeface="Garamond"/>
                <a:cs typeface="Garamond"/>
              </a:rPr>
              <a:t>Algorithms</a:t>
            </a:r>
            <a:endParaRPr sz="2200">
              <a:latin typeface="Garamond"/>
              <a:cs typeface="Garamond"/>
            </a:endParaRPr>
          </a:p>
        </p:txBody>
      </p:sp>
      <p:sp>
        <p:nvSpPr>
          <p:cNvPr id="365" name="object 365"/>
          <p:cNvSpPr txBox="1"/>
          <p:nvPr/>
        </p:nvSpPr>
        <p:spPr>
          <a:xfrm>
            <a:off x="6246003" y="9350039"/>
            <a:ext cx="115570" cy="109855"/>
          </a:xfrm>
          <a:prstGeom prst="rect">
            <a:avLst/>
          </a:prstGeom>
        </p:spPr>
        <p:txBody>
          <a:bodyPr wrap="square" lIns="0" tIns="88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dirty="0" sz="550" spc="5">
                <a:latin typeface="Lucida Sans"/>
                <a:cs typeface="Lucida Sans"/>
              </a:rPr>
              <a:t>23</a:t>
            </a:r>
            <a:endParaRPr sz="550">
              <a:latin typeface="Lucida Sans"/>
              <a:cs typeface="Lucida Sans"/>
            </a:endParaRPr>
          </a:p>
        </p:txBody>
      </p:sp>
      <p:sp>
        <p:nvSpPr>
          <p:cNvPr id="363" name="object 363"/>
          <p:cNvSpPr txBox="1"/>
          <p:nvPr/>
        </p:nvSpPr>
        <p:spPr>
          <a:xfrm>
            <a:off x="9195799" y="6873468"/>
            <a:ext cx="1513205" cy="1163320"/>
          </a:xfrm>
          <a:prstGeom prst="rect">
            <a:avLst/>
          </a:prstGeom>
        </p:spPr>
        <p:txBody>
          <a:bodyPr wrap="square" lIns="0" tIns="83820" rIns="0" bIns="0" rtlCol="0" vert="horz">
            <a:spAutoFit/>
          </a:bodyPr>
          <a:lstStyle/>
          <a:p>
            <a:pPr marL="160655" indent="-148590">
              <a:lnSpc>
                <a:spcPct val="100000"/>
              </a:lnSpc>
              <a:spcBef>
                <a:spcPts val="660"/>
              </a:spcBef>
              <a:buFont typeface="Tahoma"/>
              <a:buChar char="‣"/>
              <a:tabLst>
                <a:tab pos="161290" algn="l"/>
              </a:tabLst>
            </a:pPr>
            <a:r>
              <a:rPr dirty="0" sz="1400" spc="15" i="1">
                <a:solidFill>
                  <a:srgbClr val="BABABA"/>
                </a:solidFill>
                <a:latin typeface="Calibri"/>
                <a:cs typeface="Calibri"/>
              </a:rPr>
              <a:t>hash</a:t>
            </a:r>
            <a:r>
              <a:rPr dirty="0" sz="1400" spc="60" i="1">
                <a:solidFill>
                  <a:srgbClr val="BABABA"/>
                </a:solidFill>
                <a:latin typeface="Calibri"/>
                <a:cs typeface="Calibri"/>
              </a:rPr>
              <a:t> </a:t>
            </a:r>
            <a:r>
              <a:rPr dirty="0" sz="1400" spc="-10" i="1">
                <a:solidFill>
                  <a:srgbClr val="BABABA"/>
                </a:solidFill>
                <a:latin typeface="Calibri"/>
                <a:cs typeface="Calibri"/>
              </a:rPr>
              <a:t>functions</a:t>
            </a:r>
            <a:endParaRPr sz="1400">
              <a:latin typeface="Calibri"/>
              <a:cs typeface="Calibri"/>
            </a:endParaRPr>
          </a:p>
          <a:p>
            <a:pPr marL="160655" indent="-148590">
              <a:lnSpc>
                <a:spcPct val="100000"/>
              </a:lnSpc>
              <a:spcBef>
                <a:spcPts val="555"/>
              </a:spcBef>
              <a:buFont typeface="Tahoma"/>
              <a:buChar char="‣"/>
              <a:tabLst>
                <a:tab pos="161290" algn="l"/>
              </a:tabLst>
            </a:pPr>
            <a:r>
              <a:rPr dirty="0" sz="1400" spc="5" i="1">
                <a:solidFill>
                  <a:srgbClr val="BABABA"/>
                </a:solidFill>
                <a:latin typeface="Calibri"/>
                <a:cs typeface="Calibri"/>
              </a:rPr>
              <a:t>separate</a:t>
            </a:r>
            <a:r>
              <a:rPr dirty="0" sz="1400" spc="45" i="1">
                <a:solidFill>
                  <a:srgbClr val="BABABA"/>
                </a:solidFill>
                <a:latin typeface="Calibri"/>
                <a:cs typeface="Calibri"/>
              </a:rPr>
              <a:t> </a:t>
            </a:r>
            <a:r>
              <a:rPr dirty="0" sz="1400" spc="30" i="1">
                <a:solidFill>
                  <a:srgbClr val="BABABA"/>
                </a:solidFill>
                <a:latin typeface="Calibri"/>
                <a:cs typeface="Calibri"/>
              </a:rPr>
              <a:t>chaining</a:t>
            </a:r>
            <a:endParaRPr sz="1400">
              <a:latin typeface="Calibri"/>
              <a:cs typeface="Calibri"/>
            </a:endParaRPr>
          </a:p>
          <a:p>
            <a:pPr marL="160655" indent="-148590">
              <a:lnSpc>
                <a:spcPct val="100000"/>
              </a:lnSpc>
              <a:spcBef>
                <a:spcPts val="560"/>
              </a:spcBef>
              <a:buFont typeface="Tahoma"/>
              <a:buChar char="‣"/>
              <a:tabLst>
                <a:tab pos="161290" algn="l"/>
              </a:tabLst>
            </a:pPr>
            <a:r>
              <a:rPr dirty="0" sz="1400" spc="20" i="1">
                <a:latin typeface="Calibri"/>
                <a:cs typeface="Calibri"/>
              </a:rPr>
              <a:t>linear</a:t>
            </a:r>
            <a:r>
              <a:rPr dirty="0" sz="1400" spc="50" i="1">
                <a:latin typeface="Calibri"/>
                <a:cs typeface="Calibri"/>
              </a:rPr>
              <a:t> </a:t>
            </a:r>
            <a:r>
              <a:rPr dirty="0" sz="1400" spc="35" i="1">
                <a:latin typeface="Calibri"/>
                <a:cs typeface="Calibri"/>
              </a:rPr>
              <a:t>probing</a:t>
            </a:r>
            <a:endParaRPr sz="1400">
              <a:latin typeface="Calibri"/>
              <a:cs typeface="Calibri"/>
            </a:endParaRPr>
          </a:p>
          <a:p>
            <a:pPr marL="160655" indent="-148590">
              <a:lnSpc>
                <a:spcPct val="100000"/>
              </a:lnSpc>
              <a:spcBef>
                <a:spcPts val="560"/>
              </a:spcBef>
              <a:buFont typeface="Tahoma"/>
              <a:buChar char="‣"/>
              <a:tabLst>
                <a:tab pos="161290" algn="l"/>
              </a:tabLst>
            </a:pPr>
            <a:r>
              <a:rPr dirty="0" sz="1400" spc="-15" i="1">
                <a:solidFill>
                  <a:srgbClr val="BABABA"/>
                </a:solidFill>
                <a:latin typeface="Calibri"/>
                <a:cs typeface="Calibri"/>
              </a:rPr>
              <a:t>context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64" name="object 364"/>
          <p:cNvSpPr txBox="1"/>
          <p:nvPr/>
        </p:nvSpPr>
        <p:spPr>
          <a:xfrm>
            <a:off x="9213637" y="6485444"/>
            <a:ext cx="1696085" cy="2921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80695" algn="l"/>
              </a:tabLst>
            </a:pPr>
            <a:r>
              <a:rPr dirty="0" sz="1750" spc="70" b="1">
                <a:latin typeface="Century Gothic"/>
                <a:cs typeface="Century Gothic"/>
              </a:rPr>
              <a:t>3.4	</a:t>
            </a:r>
            <a:r>
              <a:rPr dirty="0" sz="1750" spc="25" b="1">
                <a:latin typeface="Century Gothic"/>
                <a:cs typeface="Century Gothic"/>
              </a:rPr>
              <a:t>H</a:t>
            </a:r>
            <a:r>
              <a:rPr dirty="0" sz="1400" spc="25" b="1">
                <a:latin typeface="Century Gothic"/>
                <a:cs typeface="Century Gothic"/>
              </a:rPr>
              <a:t>ASH</a:t>
            </a:r>
            <a:r>
              <a:rPr dirty="0" sz="1400" spc="85" b="1">
                <a:latin typeface="Century Gothic"/>
                <a:cs typeface="Century Gothic"/>
              </a:rPr>
              <a:t> </a:t>
            </a:r>
            <a:r>
              <a:rPr dirty="0" sz="1750" spc="40" b="1">
                <a:latin typeface="Century Gothic"/>
                <a:cs typeface="Century Gothic"/>
              </a:rPr>
              <a:t>T</a:t>
            </a:r>
            <a:r>
              <a:rPr dirty="0" sz="1400" spc="40" b="1">
                <a:latin typeface="Century Gothic"/>
                <a:cs typeface="Century Gothic"/>
              </a:rPr>
              <a:t>ABLES</a:t>
            </a:r>
            <a:endParaRPr sz="14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39997" y="797869"/>
            <a:ext cx="4602480" cy="487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37800"/>
              </a:lnSpc>
              <a:spcBef>
                <a:spcPts val="95"/>
              </a:spcBef>
            </a:pPr>
            <a:r>
              <a:rPr dirty="0" sz="1100" spc="10">
                <a:solidFill>
                  <a:srgbClr val="005493"/>
                </a:solidFill>
                <a:latin typeface="Lucida Sans"/>
                <a:cs typeface="Lucida Sans"/>
              </a:rPr>
              <a:t>Open</a:t>
            </a:r>
            <a:r>
              <a:rPr dirty="0" sz="1100" spc="15">
                <a:solidFill>
                  <a:srgbClr val="005493"/>
                </a:solidFill>
                <a:latin typeface="Lucida Sans"/>
                <a:cs typeface="Lucida Sans"/>
              </a:rPr>
              <a:t> </a:t>
            </a:r>
            <a:r>
              <a:rPr dirty="0" sz="1100" spc="5">
                <a:solidFill>
                  <a:srgbClr val="005493"/>
                </a:solidFill>
                <a:latin typeface="Lucida Sans"/>
                <a:cs typeface="Lucida Sans"/>
              </a:rPr>
              <a:t>addressing.</a:t>
            </a:r>
            <a:r>
              <a:rPr dirty="0" sz="1100" spc="35">
                <a:solidFill>
                  <a:srgbClr val="005493"/>
                </a:solidFill>
                <a:latin typeface="Lucida Sans"/>
                <a:cs typeface="Lucida Sans"/>
              </a:rPr>
              <a:t> </a:t>
            </a:r>
            <a:r>
              <a:rPr dirty="0" sz="1100" spc="5">
                <a:solidFill>
                  <a:srgbClr val="606060"/>
                </a:solidFill>
                <a:latin typeface="Lucida Sans"/>
                <a:cs typeface="Lucida Sans"/>
              </a:rPr>
              <a:t>[Amdahl-Boehme-Rocherster-Samuel,</a:t>
            </a:r>
            <a:r>
              <a:rPr dirty="0" sz="1100" spc="20">
                <a:solidFill>
                  <a:srgbClr val="606060"/>
                </a:solidFill>
                <a:latin typeface="Lucida Sans"/>
                <a:cs typeface="Lucida Sans"/>
              </a:rPr>
              <a:t> </a:t>
            </a:r>
            <a:r>
              <a:rPr dirty="0" sz="1100" spc="10">
                <a:solidFill>
                  <a:srgbClr val="606060"/>
                </a:solidFill>
                <a:latin typeface="Lucida Sans"/>
                <a:cs typeface="Lucida Sans"/>
              </a:rPr>
              <a:t>IBM</a:t>
            </a:r>
            <a:r>
              <a:rPr dirty="0" sz="1100" spc="20">
                <a:solidFill>
                  <a:srgbClr val="606060"/>
                </a:solidFill>
                <a:latin typeface="Lucida Sans"/>
                <a:cs typeface="Lucida Sans"/>
              </a:rPr>
              <a:t> </a:t>
            </a:r>
            <a:r>
              <a:rPr dirty="0" sz="1100" spc="10">
                <a:solidFill>
                  <a:srgbClr val="606060"/>
                </a:solidFill>
                <a:latin typeface="Lucida Sans"/>
                <a:cs typeface="Lucida Sans"/>
              </a:rPr>
              <a:t>1953] </a:t>
            </a:r>
            <a:r>
              <a:rPr dirty="0" sz="1100" spc="-335">
                <a:solidFill>
                  <a:srgbClr val="606060"/>
                </a:solidFill>
                <a:latin typeface="Lucida Sans"/>
                <a:cs typeface="Lucida Sans"/>
              </a:rPr>
              <a:t> </a:t>
            </a:r>
            <a:r>
              <a:rPr dirty="0" sz="1100" spc="10">
                <a:latin typeface="Lucida Sans"/>
                <a:cs typeface="Lucida Sans"/>
              </a:rPr>
              <a:t>When</a:t>
            </a:r>
            <a:r>
              <a:rPr dirty="0" sz="1100" spc="5">
                <a:latin typeface="Lucida Sans"/>
                <a:cs typeface="Lucida Sans"/>
              </a:rPr>
              <a:t> </a:t>
            </a:r>
            <a:r>
              <a:rPr dirty="0" sz="1100" spc="10">
                <a:latin typeface="Lucida Sans"/>
                <a:cs typeface="Lucida Sans"/>
              </a:rPr>
              <a:t>a </a:t>
            </a:r>
            <a:r>
              <a:rPr dirty="0" sz="1100" spc="35">
                <a:latin typeface="Lucida Sans"/>
                <a:cs typeface="Lucida Sans"/>
              </a:rPr>
              <a:t>new</a:t>
            </a:r>
            <a:r>
              <a:rPr dirty="0" sz="1100" spc="5">
                <a:latin typeface="Lucida Sans"/>
                <a:cs typeface="Lucida Sans"/>
              </a:rPr>
              <a:t> </a:t>
            </a:r>
            <a:r>
              <a:rPr dirty="0" sz="1100" spc="25">
                <a:latin typeface="Lucida Sans"/>
                <a:cs typeface="Lucida Sans"/>
              </a:rPr>
              <a:t>key</a:t>
            </a:r>
            <a:r>
              <a:rPr dirty="0" sz="1100" spc="10">
                <a:latin typeface="Lucida Sans"/>
                <a:cs typeface="Lucida Sans"/>
              </a:rPr>
              <a:t> </a:t>
            </a:r>
            <a:r>
              <a:rPr dirty="0" sz="1100" spc="5">
                <a:latin typeface="Lucida Sans"/>
                <a:cs typeface="Lucida Sans"/>
              </a:rPr>
              <a:t>collides,</a:t>
            </a:r>
            <a:r>
              <a:rPr dirty="0" sz="1100" spc="10">
                <a:latin typeface="Lucida Sans"/>
                <a:cs typeface="Lucida Sans"/>
              </a:rPr>
              <a:t> </a:t>
            </a:r>
            <a:r>
              <a:rPr dirty="0" sz="1100" spc="5">
                <a:latin typeface="Lucida Sans"/>
                <a:cs typeface="Lucida Sans"/>
              </a:rPr>
              <a:t>find </a:t>
            </a:r>
            <a:r>
              <a:rPr dirty="0" sz="1100" spc="10">
                <a:latin typeface="Lucida Sans"/>
                <a:cs typeface="Lucida Sans"/>
              </a:rPr>
              <a:t>next </a:t>
            </a:r>
            <a:r>
              <a:rPr dirty="0" sz="1100" spc="20">
                <a:latin typeface="Lucida Sans"/>
                <a:cs typeface="Lucida Sans"/>
              </a:rPr>
              <a:t>empty</a:t>
            </a:r>
            <a:r>
              <a:rPr dirty="0" sz="1100" spc="5">
                <a:latin typeface="Lucida Sans"/>
                <a:cs typeface="Lucida Sans"/>
              </a:rPr>
              <a:t> slot,</a:t>
            </a:r>
            <a:r>
              <a:rPr dirty="0" sz="1100" spc="10">
                <a:latin typeface="Lucida Sans"/>
                <a:cs typeface="Lucida Sans"/>
              </a:rPr>
              <a:t> and put</a:t>
            </a:r>
            <a:r>
              <a:rPr dirty="0" sz="1100" spc="5">
                <a:latin typeface="Lucida Sans"/>
                <a:cs typeface="Lucida Sans"/>
              </a:rPr>
              <a:t> it</a:t>
            </a:r>
            <a:r>
              <a:rPr dirty="0" sz="1100" spc="10">
                <a:latin typeface="Lucida Sans"/>
                <a:cs typeface="Lucida Sans"/>
              </a:rPr>
              <a:t> </a:t>
            </a:r>
            <a:r>
              <a:rPr dirty="0" sz="1100">
                <a:latin typeface="Lucida Sans"/>
                <a:cs typeface="Lucida Sans"/>
              </a:rPr>
              <a:t>there.</a:t>
            </a:r>
            <a:endParaRPr sz="1100">
              <a:latin typeface="Lucida Sans"/>
              <a:cs typeface="Lucida San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246003" y="4615831"/>
            <a:ext cx="115570" cy="1111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550" spc="5">
                <a:latin typeface="Lucida Sans"/>
                <a:cs typeface="Lucida Sans"/>
              </a:rPr>
              <a:t>25</a:t>
            </a:r>
            <a:endParaRPr sz="550">
              <a:latin typeface="Lucida Sans"/>
              <a:cs typeface="Lucida San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39997" y="396219"/>
            <a:ext cx="2848610" cy="2247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00" spc="10">
                <a:latin typeface="Arial"/>
                <a:cs typeface="Arial"/>
              </a:rPr>
              <a:t>Collision</a:t>
            </a:r>
            <a:r>
              <a:rPr dirty="0" sz="1300" spc="35">
                <a:latin typeface="Arial"/>
                <a:cs typeface="Arial"/>
              </a:rPr>
              <a:t> </a:t>
            </a:r>
            <a:r>
              <a:rPr dirty="0" sz="1300" spc="10">
                <a:latin typeface="Arial"/>
                <a:cs typeface="Arial"/>
              </a:rPr>
              <a:t>resolution: </a:t>
            </a:r>
            <a:r>
              <a:rPr dirty="0" sz="1300" spc="60">
                <a:latin typeface="Arial"/>
                <a:cs typeface="Arial"/>
              </a:rPr>
              <a:t> </a:t>
            </a:r>
            <a:r>
              <a:rPr dirty="0" sz="1300" spc="25">
                <a:latin typeface="Arial"/>
                <a:cs typeface="Arial"/>
              </a:rPr>
              <a:t>open</a:t>
            </a:r>
            <a:r>
              <a:rPr dirty="0" sz="1300" spc="40">
                <a:latin typeface="Arial"/>
                <a:cs typeface="Arial"/>
              </a:rPr>
              <a:t> </a:t>
            </a:r>
            <a:r>
              <a:rPr dirty="0" sz="1300" spc="5">
                <a:latin typeface="Arial"/>
                <a:cs typeface="Arial"/>
              </a:rPr>
              <a:t>addressing</a:t>
            </a:r>
            <a:endParaRPr sz="13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305381" y="1653098"/>
            <a:ext cx="2085339" cy="2470785"/>
            <a:chOff x="2305381" y="1653098"/>
            <a:chExt cx="2085339" cy="2470785"/>
          </a:xfrm>
        </p:grpSpPr>
        <p:sp>
          <p:nvSpPr>
            <p:cNvPr id="6" name="object 6"/>
            <p:cNvSpPr/>
            <p:nvPr/>
          </p:nvSpPr>
          <p:spPr>
            <a:xfrm>
              <a:off x="2305381" y="1653098"/>
              <a:ext cx="2085339" cy="2470785"/>
            </a:xfrm>
            <a:custGeom>
              <a:avLst/>
              <a:gdLst/>
              <a:ahLst/>
              <a:cxnLst/>
              <a:rect l="l" t="t" r="r" b="b"/>
              <a:pathLst>
                <a:path w="2085339" h="2470785">
                  <a:moveTo>
                    <a:pt x="0" y="0"/>
                  </a:moveTo>
                  <a:lnTo>
                    <a:pt x="2085260" y="0"/>
                  </a:lnTo>
                  <a:lnTo>
                    <a:pt x="2085260" y="2470323"/>
                  </a:lnTo>
                  <a:lnTo>
                    <a:pt x="0" y="24703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3233547" y="1976081"/>
              <a:ext cx="883919" cy="1883410"/>
            </a:xfrm>
            <a:custGeom>
              <a:avLst/>
              <a:gdLst/>
              <a:ahLst/>
              <a:cxnLst/>
              <a:rect l="l" t="t" r="r" b="b"/>
              <a:pathLst>
                <a:path w="883920" h="1883410">
                  <a:moveTo>
                    <a:pt x="874649" y="851560"/>
                  </a:moveTo>
                  <a:lnTo>
                    <a:pt x="0" y="851560"/>
                  </a:lnTo>
                  <a:lnTo>
                    <a:pt x="0" y="1026363"/>
                  </a:lnTo>
                  <a:lnTo>
                    <a:pt x="874649" y="1026363"/>
                  </a:lnTo>
                  <a:lnTo>
                    <a:pt x="874649" y="851560"/>
                  </a:lnTo>
                  <a:close/>
                </a:path>
                <a:path w="883920" h="1883410">
                  <a:moveTo>
                    <a:pt x="874649" y="556920"/>
                  </a:moveTo>
                  <a:lnTo>
                    <a:pt x="0" y="556920"/>
                  </a:lnTo>
                  <a:lnTo>
                    <a:pt x="0" y="731723"/>
                  </a:lnTo>
                  <a:lnTo>
                    <a:pt x="874649" y="731723"/>
                  </a:lnTo>
                  <a:lnTo>
                    <a:pt x="874649" y="556920"/>
                  </a:lnTo>
                  <a:close/>
                </a:path>
                <a:path w="883920" h="1883410">
                  <a:moveTo>
                    <a:pt x="883856" y="1708150"/>
                  </a:moveTo>
                  <a:lnTo>
                    <a:pt x="9207" y="1708150"/>
                  </a:lnTo>
                  <a:lnTo>
                    <a:pt x="9207" y="1882952"/>
                  </a:lnTo>
                  <a:lnTo>
                    <a:pt x="883856" y="1882952"/>
                  </a:lnTo>
                  <a:lnTo>
                    <a:pt x="883856" y="1708150"/>
                  </a:lnTo>
                  <a:close/>
                </a:path>
                <a:path w="883920" h="1883410">
                  <a:moveTo>
                    <a:pt x="883856" y="0"/>
                  </a:moveTo>
                  <a:lnTo>
                    <a:pt x="9207" y="0"/>
                  </a:lnTo>
                  <a:lnTo>
                    <a:pt x="9207" y="174802"/>
                  </a:lnTo>
                  <a:lnTo>
                    <a:pt x="883856" y="174802"/>
                  </a:lnTo>
                  <a:lnTo>
                    <a:pt x="883856" y="0"/>
                  </a:lnTo>
                  <a:close/>
                </a:path>
              </a:pathLst>
            </a:custGeom>
            <a:solidFill>
              <a:srgbClr val="D6D6D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2345916" y="4197391"/>
            <a:ext cx="1816100" cy="1397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50" spc="-5">
                <a:solidFill>
                  <a:srgbClr val="8D3124"/>
                </a:solidFill>
                <a:latin typeface="Lucida Sans"/>
                <a:cs typeface="Lucida Sans"/>
              </a:rPr>
              <a:t>linear</a:t>
            </a:r>
            <a:r>
              <a:rPr dirty="0" sz="750" spc="-10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dirty="0" sz="750" spc="-5">
                <a:solidFill>
                  <a:srgbClr val="8D3124"/>
                </a:solidFill>
                <a:latin typeface="Lucida Sans"/>
                <a:cs typeface="Lucida Sans"/>
              </a:rPr>
              <a:t>probing</a:t>
            </a:r>
            <a:r>
              <a:rPr dirty="0" sz="750" spc="-10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dirty="0" sz="750" spc="-5">
                <a:solidFill>
                  <a:srgbClr val="8D3124"/>
                </a:solidFill>
                <a:latin typeface="Lucida Sans"/>
                <a:cs typeface="Lucida Sans"/>
              </a:rPr>
              <a:t>(M =</a:t>
            </a:r>
            <a:r>
              <a:rPr dirty="0" sz="750" spc="-10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dirty="0" sz="750" spc="-5">
                <a:solidFill>
                  <a:srgbClr val="8D3124"/>
                </a:solidFill>
                <a:latin typeface="Lucida Sans"/>
                <a:cs typeface="Lucida Sans"/>
              </a:rPr>
              <a:t>30001, N</a:t>
            </a:r>
            <a:r>
              <a:rPr dirty="0" sz="750" spc="-10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dirty="0" sz="750" spc="-5">
                <a:solidFill>
                  <a:srgbClr val="8D3124"/>
                </a:solidFill>
                <a:latin typeface="Lucida Sans"/>
                <a:cs typeface="Lucida Sans"/>
              </a:rPr>
              <a:t>= 15000)</a:t>
            </a:r>
            <a:endParaRPr sz="750">
              <a:latin typeface="Lucida Sans"/>
              <a:cs typeface="Lucida San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168672" y="1867847"/>
            <a:ext cx="1004569" cy="209804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wrap="square" lIns="0" tIns="508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40"/>
              </a:spcBef>
            </a:pPr>
            <a:endParaRPr sz="700">
              <a:latin typeface="Times New Roman"/>
              <a:cs typeface="Times New Roman"/>
            </a:endParaRPr>
          </a:p>
          <a:p>
            <a:pPr algn="ctr" marL="20320">
              <a:lnSpc>
                <a:spcPct val="100000"/>
              </a:lnSpc>
            </a:pPr>
            <a:r>
              <a:rPr dirty="0" sz="750" spc="-5">
                <a:latin typeface="Lucida Sans Typewriter"/>
                <a:cs typeface="Lucida Sans Typewriter"/>
              </a:rPr>
              <a:t>jocularly</a:t>
            </a:r>
            <a:endParaRPr sz="750">
              <a:latin typeface="Lucida Sans Typewriter"/>
              <a:cs typeface="Lucida Sans Typewriter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100">
              <a:latin typeface="Lucida Sans Typewriter"/>
              <a:cs typeface="Lucida Sans Typewriter"/>
            </a:endParaRPr>
          </a:p>
          <a:p>
            <a:pPr algn="ctr" marR="83185">
              <a:lnSpc>
                <a:spcPct val="100000"/>
              </a:lnSpc>
            </a:pPr>
            <a:r>
              <a:rPr dirty="0" sz="750" spc="-5" i="1">
                <a:solidFill>
                  <a:srgbClr val="005493"/>
                </a:solidFill>
                <a:latin typeface="Times New Roman"/>
                <a:cs typeface="Times New Roman"/>
              </a:rPr>
              <a:t>null</a:t>
            </a:r>
            <a:endParaRPr sz="750">
              <a:latin typeface="Times New Roman"/>
              <a:cs typeface="Times New Roman"/>
            </a:endParaRPr>
          </a:p>
          <a:p>
            <a:pPr algn="ctr" marL="274955" marR="264795">
              <a:lnSpc>
                <a:spcPts val="2320"/>
              </a:lnSpc>
              <a:spcBef>
                <a:spcPts val="135"/>
              </a:spcBef>
            </a:pPr>
            <a:r>
              <a:rPr dirty="0" sz="750" spc="-5">
                <a:latin typeface="Lucida Sans Typewriter"/>
                <a:cs typeface="Lucida Sans Typewriter"/>
              </a:rPr>
              <a:t>listen </a:t>
            </a:r>
            <a:r>
              <a:rPr dirty="0" sz="750">
                <a:latin typeface="Lucida Sans Typewriter"/>
                <a:cs typeface="Lucida Sans Typewriter"/>
              </a:rPr>
              <a:t> </a:t>
            </a:r>
            <a:r>
              <a:rPr dirty="0" sz="750" spc="-5">
                <a:latin typeface="Lucida Sans Typewriter"/>
                <a:cs typeface="Lucida Sans Typewriter"/>
              </a:rPr>
              <a:t>suburban</a:t>
            </a:r>
            <a:endParaRPr sz="750">
              <a:latin typeface="Lucida Sans Typewriter"/>
              <a:cs typeface="Lucida Sans Typewriter"/>
            </a:endParaRPr>
          </a:p>
          <a:p>
            <a:pPr>
              <a:lnSpc>
                <a:spcPct val="100000"/>
              </a:lnSpc>
            </a:pPr>
            <a:endParaRPr sz="900">
              <a:latin typeface="Lucida Sans Typewriter"/>
              <a:cs typeface="Lucida Sans Typewriter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300">
              <a:latin typeface="Lucida Sans Typewriter"/>
              <a:cs typeface="Lucida Sans Typewriter"/>
            </a:endParaRPr>
          </a:p>
          <a:p>
            <a:pPr algn="ctr" marR="83185">
              <a:lnSpc>
                <a:spcPct val="100000"/>
              </a:lnSpc>
              <a:spcBef>
                <a:spcPts val="5"/>
              </a:spcBef>
            </a:pPr>
            <a:r>
              <a:rPr dirty="0" sz="750" spc="-5" i="1">
                <a:solidFill>
                  <a:srgbClr val="005493"/>
                </a:solidFill>
                <a:latin typeface="Times New Roman"/>
                <a:cs typeface="Times New Roman"/>
              </a:rPr>
              <a:t>null</a:t>
            </a:r>
            <a:endParaRPr sz="7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950">
              <a:latin typeface="Times New Roman"/>
              <a:cs typeface="Times New Roman"/>
            </a:endParaRPr>
          </a:p>
          <a:p>
            <a:pPr algn="ctr" marL="20320">
              <a:lnSpc>
                <a:spcPct val="100000"/>
              </a:lnSpc>
              <a:spcBef>
                <a:spcPts val="5"/>
              </a:spcBef>
            </a:pPr>
            <a:r>
              <a:rPr dirty="0" sz="750" spc="-5">
                <a:latin typeface="Lucida Sans Typewriter"/>
                <a:cs typeface="Lucida Sans Typewriter"/>
              </a:rPr>
              <a:t>browsing</a:t>
            </a:r>
            <a:endParaRPr sz="750">
              <a:latin typeface="Lucida Sans Typewriter"/>
              <a:cs typeface="Lucida Sans Typewriter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2682472" y="3273327"/>
            <a:ext cx="26034" cy="139065"/>
            <a:chOff x="2682472" y="3273327"/>
            <a:chExt cx="26034" cy="139065"/>
          </a:xfrm>
        </p:grpSpPr>
        <p:sp>
          <p:nvSpPr>
            <p:cNvPr id="11" name="object 11"/>
            <p:cNvSpPr/>
            <p:nvPr/>
          </p:nvSpPr>
          <p:spPr>
            <a:xfrm>
              <a:off x="2685647" y="3276502"/>
              <a:ext cx="19685" cy="20320"/>
            </a:xfrm>
            <a:custGeom>
              <a:avLst/>
              <a:gdLst/>
              <a:ahLst/>
              <a:cxnLst/>
              <a:rect l="l" t="t" r="r" b="b"/>
              <a:pathLst>
                <a:path w="19685" h="20320">
                  <a:moveTo>
                    <a:pt x="12422" y="0"/>
                  </a:moveTo>
                  <a:lnTo>
                    <a:pt x="6861" y="0"/>
                  </a:lnTo>
                  <a:lnTo>
                    <a:pt x="0" y="7017"/>
                  </a:lnTo>
                  <a:lnTo>
                    <a:pt x="0" y="12705"/>
                  </a:lnTo>
                  <a:lnTo>
                    <a:pt x="6861" y="19722"/>
                  </a:lnTo>
                  <a:lnTo>
                    <a:pt x="12422" y="19722"/>
                  </a:lnTo>
                  <a:lnTo>
                    <a:pt x="19282" y="12705"/>
                  </a:lnTo>
                  <a:lnTo>
                    <a:pt x="19282" y="7017"/>
                  </a:lnTo>
                  <a:lnTo>
                    <a:pt x="15852" y="3508"/>
                  </a:lnTo>
                  <a:lnTo>
                    <a:pt x="1242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2685647" y="3276502"/>
              <a:ext cx="19685" cy="20320"/>
            </a:xfrm>
            <a:custGeom>
              <a:avLst/>
              <a:gdLst/>
              <a:ahLst/>
              <a:cxnLst/>
              <a:rect l="l" t="t" r="r" b="b"/>
              <a:pathLst>
                <a:path w="19685" h="20320">
                  <a:moveTo>
                    <a:pt x="15852" y="3508"/>
                  </a:moveTo>
                  <a:lnTo>
                    <a:pt x="19282" y="7017"/>
                  </a:lnTo>
                  <a:lnTo>
                    <a:pt x="19282" y="12705"/>
                  </a:lnTo>
                  <a:lnTo>
                    <a:pt x="15852" y="16213"/>
                  </a:lnTo>
                  <a:lnTo>
                    <a:pt x="12422" y="19722"/>
                  </a:lnTo>
                  <a:lnTo>
                    <a:pt x="6861" y="19722"/>
                  </a:lnTo>
                  <a:lnTo>
                    <a:pt x="3430" y="16213"/>
                  </a:lnTo>
                  <a:lnTo>
                    <a:pt x="0" y="12705"/>
                  </a:lnTo>
                  <a:lnTo>
                    <a:pt x="0" y="7017"/>
                  </a:lnTo>
                  <a:lnTo>
                    <a:pt x="3430" y="3508"/>
                  </a:lnTo>
                  <a:lnTo>
                    <a:pt x="6861" y="0"/>
                  </a:lnTo>
                  <a:lnTo>
                    <a:pt x="12422" y="0"/>
                  </a:lnTo>
                  <a:lnTo>
                    <a:pt x="15852" y="3508"/>
                  </a:lnTo>
                </a:path>
              </a:pathLst>
            </a:custGeom>
            <a:ln w="59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2685647" y="3333530"/>
              <a:ext cx="19685" cy="20320"/>
            </a:xfrm>
            <a:custGeom>
              <a:avLst/>
              <a:gdLst/>
              <a:ahLst/>
              <a:cxnLst/>
              <a:rect l="l" t="t" r="r" b="b"/>
              <a:pathLst>
                <a:path w="19685" h="20320">
                  <a:moveTo>
                    <a:pt x="12422" y="0"/>
                  </a:moveTo>
                  <a:lnTo>
                    <a:pt x="6861" y="0"/>
                  </a:lnTo>
                  <a:lnTo>
                    <a:pt x="0" y="7017"/>
                  </a:lnTo>
                  <a:lnTo>
                    <a:pt x="0" y="12705"/>
                  </a:lnTo>
                  <a:lnTo>
                    <a:pt x="6861" y="19722"/>
                  </a:lnTo>
                  <a:lnTo>
                    <a:pt x="12422" y="19722"/>
                  </a:lnTo>
                  <a:lnTo>
                    <a:pt x="19282" y="12705"/>
                  </a:lnTo>
                  <a:lnTo>
                    <a:pt x="19282" y="7017"/>
                  </a:lnTo>
                  <a:lnTo>
                    <a:pt x="15852" y="3508"/>
                  </a:lnTo>
                  <a:lnTo>
                    <a:pt x="1242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2685647" y="3333530"/>
              <a:ext cx="19685" cy="20320"/>
            </a:xfrm>
            <a:custGeom>
              <a:avLst/>
              <a:gdLst/>
              <a:ahLst/>
              <a:cxnLst/>
              <a:rect l="l" t="t" r="r" b="b"/>
              <a:pathLst>
                <a:path w="19685" h="20320">
                  <a:moveTo>
                    <a:pt x="15852" y="3508"/>
                  </a:moveTo>
                  <a:lnTo>
                    <a:pt x="19282" y="7017"/>
                  </a:lnTo>
                  <a:lnTo>
                    <a:pt x="19282" y="12705"/>
                  </a:lnTo>
                  <a:lnTo>
                    <a:pt x="15852" y="16214"/>
                  </a:lnTo>
                  <a:lnTo>
                    <a:pt x="12422" y="19722"/>
                  </a:lnTo>
                  <a:lnTo>
                    <a:pt x="6861" y="19722"/>
                  </a:lnTo>
                  <a:lnTo>
                    <a:pt x="3430" y="16214"/>
                  </a:lnTo>
                  <a:lnTo>
                    <a:pt x="0" y="12705"/>
                  </a:lnTo>
                  <a:lnTo>
                    <a:pt x="0" y="7017"/>
                  </a:lnTo>
                  <a:lnTo>
                    <a:pt x="3430" y="3508"/>
                  </a:lnTo>
                  <a:lnTo>
                    <a:pt x="6861" y="0"/>
                  </a:lnTo>
                  <a:lnTo>
                    <a:pt x="12422" y="0"/>
                  </a:lnTo>
                  <a:lnTo>
                    <a:pt x="15852" y="3508"/>
                  </a:lnTo>
                </a:path>
              </a:pathLst>
            </a:custGeom>
            <a:ln w="59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2685647" y="3388997"/>
              <a:ext cx="19685" cy="20320"/>
            </a:xfrm>
            <a:custGeom>
              <a:avLst/>
              <a:gdLst/>
              <a:ahLst/>
              <a:cxnLst/>
              <a:rect l="l" t="t" r="r" b="b"/>
              <a:pathLst>
                <a:path w="19685" h="20320">
                  <a:moveTo>
                    <a:pt x="12422" y="0"/>
                  </a:moveTo>
                  <a:lnTo>
                    <a:pt x="6861" y="0"/>
                  </a:lnTo>
                  <a:lnTo>
                    <a:pt x="0" y="7017"/>
                  </a:lnTo>
                  <a:lnTo>
                    <a:pt x="0" y="12705"/>
                  </a:lnTo>
                  <a:lnTo>
                    <a:pt x="6861" y="19722"/>
                  </a:lnTo>
                  <a:lnTo>
                    <a:pt x="12422" y="19722"/>
                  </a:lnTo>
                  <a:lnTo>
                    <a:pt x="19282" y="12705"/>
                  </a:lnTo>
                  <a:lnTo>
                    <a:pt x="19282" y="7017"/>
                  </a:lnTo>
                  <a:lnTo>
                    <a:pt x="15852" y="3508"/>
                  </a:lnTo>
                  <a:lnTo>
                    <a:pt x="1242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2685647" y="3388997"/>
              <a:ext cx="19685" cy="20320"/>
            </a:xfrm>
            <a:custGeom>
              <a:avLst/>
              <a:gdLst/>
              <a:ahLst/>
              <a:cxnLst/>
              <a:rect l="l" t="t" r="r" b="b"/>
              <a:pathLst>
                <a:path w="19685" h="20320">
                  <a:moveTo>
                    <a:pt x="15852" y="3508"/>
                  </a:moveTo>
                  <a:lnTo>
                    <a:pt x="19282" y="7017"/>
                  </a:lnTo>
                  <a:lnTo>
                    <a:pt x="19282" y="12705"/>
                  </a:lnTo>
                  <a:lnTo>
                    <a:pt x="15852" y="16213"/>
                  </a:lnTo>
                  <a:lnTo>
                    <a:pt x="12422" y="19722"/>
                  </a:lnTo>
                  <a:lnTo>
                    <a:pt x="6861" y="19722"/>
                  </a:lnTo>
                  <a:lnTo>
                    <a:pt x="3430" y="16213"/>
                  </a:lnTo>
                  <a:lnTo>
                    <a:pt x="0" y="12705"/>
                  </a:lnTo>
                  <a:lnTo>
                    <a:pt x="0" y="7017"/>
                  </a:lnTo>
                  <a:lnTo>
                    <a:pt x="3430" y="3508"/>
                  </a:lnTo>
                  <a:lnTo>
                    <a:pt x="6861" y="0"/>
                  </a:lnTo>
                  <a:lnTo>
                    <a:pt x="12422" y="0"/>
                  </a:lnTo>
                  <a:lnTo>
                    <a:pt x="15852" y="3508"/>
                  </a:lnTo>
                </a:path>
              </a:pathLst>
            </a:custGeom>
            <a:ln w="59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/>
          <p:cNvSpPr txBox="1"/>
          <p:nvPr/>
        </p:nvSpPr>
        <p:spPr>
          <a:xfrm>
            <a:off x="2305381" y="1653098"/>
            <a:ext cx="2085339" cy="24707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300">
              <a:latin typeface="Times New Roman"/>
              <a:cs typeface="Times New Roman"/>
            </a:endParaRPr>
          </a:p>
          <a:p>
            <a:pPr algn="ctr" marR="1294765">
              <a:lnSpc>
                <a:spcPct val="100000"/>
              </a:lnSpc>
            </a:pPr>
            <a:r>
              <a:rPr dirty="0" sz="750" spc="-5">
                <a:latin typeface="Lucida Sans Typewriter"/>
                <a:cs typeface="Lucida Sans Typewriter"/>
              </a:rPr>
              <a:t>st[0]</a:t>
            </a:r>
            <a:endParaRPr sz="750">
              <a:latin typeface="Lucida Sans Typewriter"/>
              <a:cs typeface="Lucida Sans Typewriter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150">
              <a:latin typeface="Lucida Sans Typewriter"/>
              <a:cs typeface="Lucida Sans Typewriter"/>
            </a:endParaRPr>
          </a:p>
          <a:p>
            <a:pPr algn="ctr" marR="1282700">
              <a:lnSpc>
                <a:spcPct val="100000"/>
              </a:lnSpc>
              <a:spcBef>
                <a:spcPts val="5"/>
              </a:spcBef>
            </a:pPr>
            <a:r>
              <a:rPr dirty="0" sz="750" spc="-5">
                <a:latin typeface="Lucida Sans Typewriter"/>
                <a:cs typeface="Lucida Sans Typewriter"/>
              </a:rPr>
              <a:t>st[1]</a:t>
            </a:r>
            <a:endParaRPr sz="750">
              <a:latin typeface="Lucida Sans Typewriter"/>
              <a:cs typeface="Lucida Sans Typewriter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000">
              <a:latin typeface="Lucida Sans Typewriter"/>
              <a:cs typeface="Lucida Sans Typewriter"/>
            </a:endParaRPr>
          </a:p>
          <a:p>
            <a:pPr algn="ctr" marR="1282700">
              <a:lnSpc>
                <a:spcPct val="100000"/>
              </a:lnSpc>
            </a:pPr>
            <a:r>
              <a:rPr dirty="0" sz="750" spc="-5">
                <a:latin typeface="Lucida Sans Typewriter"/>
                <a:cs typeface="Lucida Sans Typewriter"/>
              </a:rPr>
              <a:t>st[2]</a:t>
            </a:r>
            <a:endParaRPr sz="750">
              <a:latin typeface="Lucida Sans Typewriter"/>
              <a:cs typeface="Lucida Sans Typewriter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150">
              <a:latin typeface="Lucida Sans Typewriter"/>
              <a:cs typeface="Lucida Sans Typewriter"/>
            </a:endParaRPr>
          </a:p>
          <a:p>
            <a:pPr algn="ctr" marR="1286510">
              <a:lnSpc>
                <a:spcPct val="100000"/>
              </a:lnSpc>
              <a:spcBef>
                <a:spcPts val="5"/>
              </a:spcBef>
            </a:pPr>
            <a:r>
              <a:rPr dirty="0" sz="750" spc="-5">
                <a:latin typeface="Lucida Sans Typewriter"/>
                <a:cs typeface="Lucida Sans Typewriter"/>
              </a:rPr>
              <a:t>st[3]</a:t>
            </a:r>
            <a:endParaRPr sz="750">
              <a:latin typeface="Lucida Sans Typewriter"/>
              <a:cs typeface="Lucida Sans Typewriter"/>
            </a:endParaRPr>
          </a:p>
          <a:p>
            <a:pPr>
              <a:lnSpc>
                <a:spcPct val="100000"/>
              </a:lnSpc>
            </a:pPr>
            <a:endParaRPr sz="900">
              <a:latin typeface="Lucida Sans Typewriter"/>
              <a:cs typeface="Lucida Sans Typewriter"/>
            </a:endParaRPr>
          </a:p>
          <a:p>
            <a:pPr>
              <a:lnSpc>
                <a:spcPct val="100000"/>
              </a:lnSpc>
            </a:pPr>
            <a:endParaRPr sz="900">
              <a:latin typeface="Lucida Sans Typewriter"/>
              <a:cs typeface="Lucida Sans Typewriter"/>
            </a:endParaRPr>
          </a:p>
          <a:p>
            <a:pPr>
              <a:lnSpc>
                <a:spcPct val="100000"/>
              </a:lnSpc>
            </a:pPr>
            <a:endParaRPr sz="900">
              <a:latin typeface="Lucida Sans Typewriter"/>
              <a:cs typeface="Lucida Sans Typewriter"/>
            </a:endParaRPr>
          </a:p>
          <a:p>
            <a:pPr>
              <a:lnSpc>
                <a:spcPct val="100000"/>
              </a:lnSpc>
            </a:pPr>
            <a:endParaRPr sz="900">
              <a:latin typeface="Lucida Sans Typewriter"/>
              <a:cs typeface="Lucida Sans Typewriter"/>
            </a:endParaRPr>
          </a:p>
          <a:p>
            <a:pPr>
              <a:lnSpc>
                <a:spcPct val="100000"/>
              </a:lnSpc>
            </a:pPr>
            <a:endParaRPr sz="900">
              <a:latin typeface="Lucida Sans Typewriter"/>
              <a:cs typeface="Lucida Sans Typewriter"/>
            </a:endParaRPr>
          </a:p>
          <a:p>
            <a:pPr algn="ctr" marR="1289685">
              <a:lnSpc>
                <a:spcPct val="100000"/>
              </a:lnSpc>
              <a:spcBef>
                <a:spcPts val="535"/>
              </a:spcBef>
            </a:pPr>
            <a:r>
              <a:rPr dirty="0" sz="750" spc="-5">
                <a:latin typeface="Lucida Sans Typewriter"/>
                <a:cs typeface="Lucida Sans Typewriter"/>
              </a:rPr>
              <a:t>st[30000]</a:t>
            </a:r>
            <a:endParaRPr sz="750">
              <a:latin typeface="Lucida Sans Typewriter"/>
              <a:cs typeface="Lucida Sans Typewriter"/>
            </a:endParaRPr>
          </a:p>
        </p:txBody>
      </p:sp>
      <p:pic>
        <p:nvPicPr>
          <p:cNvPr id="18" name="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24549" y="1824764"/>
            <a:ext cx="1137414" cy="2227437"/>
          </a:xfrm>
          <a:prstGeom prst="rect">
            <a:avLst/>
          </a:prstGeom>
        </p:spPr>
      </p:pic>
      <p:grpSp>
        <p:nvGrpSpPr>
          <p:cNvPr id="19" name="object 19"/>
          <p:cNvGrpSpPr/>
          <p:nvPr/>
        </p:nvGrpSpPr>
        <p:grpSpPr>
          <a:xfrm>
            <a:off x="6592379" y="237122"/>
            <a:ext cx="6066790" cy="4549775"/>
            <a:chOff x="6592379" y="237122"/>
            <a:chExt cx="6066790" cy="4549775"/>
          </a:xfrm>
        </p:grpSpPr>
        <p:sp>
          <p:nvSpPr>
            <p:cNvPr id="20" name="object 20"/>
            <p:cNvSpPr/>
            <p:nvPr/>
          </p:nvSpPr>
          <p:spPr>
            <a:xfrm>
              <a:off x="6592379" y="237122"/>
              <a:ext cx="6066790" cy="4549775"/>
            </a:xfrm>
            <a:custGeom>
              <a:avLst/>
              <a:gdLst/>
              <a:ahLst/>
              <a:cxnLst/>
              <a:rect l="l" t="t" r="r" b="b"/>
              <a:pathLst>
                <a:path w="6066790" h="4549775">
                  <a:moveTo>
                    <a:pt x="0" y="0"/>
                  </a:moveTo>
                  <a:lnTo>
                    <a:pt x="6066212" y="0"/>
                  </a:lnTo>
                  <a:lnTo>
                    <a:pt x="6066212" y="4549659"/>
                  </a:lnTo>
                  <a:lnTo>
                    <a:pt x="0" y="45496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6977442" y="699147"/>
              <a:ext cx="5302250" cy="635"/>
            </a:xfrm>
            <a:custGeom>
              <a:avLst/>
              <a:gdLst/>
              <a:ahLst/>
              <a:cxnLst/>
              <a:rect l="l" t="t" r="r" b="b"/>
              <a:pathLst>
                <a:path w="5302250" h="634">
                  <a:moveTo>
                    <a:pt x="0" y="49"/>
                  </a:moveTo>
                  <a:lnTo>
                    <a:pt x="5302012" y="0"/>
                  </a:lnTo>
                </a:path>
              </a:pathLst>
            </a:custGeom>
            <a:ln w="59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/>
          <p:cNvSpPr txBox="1"/>
          <p:nvPr/>
        </p:nvSpPr>
        <p:spPr>
          <a:xfrm>
            <a:off x="6986199" y="797869"/>
            <a:ext cx="3918585" cy="487680"/>
          </a:xfrm>
          <a:prstGeom prst="rect">
            <a:avLst/>
          </a:prstGeom>
        </p:spPr>
        <p:txBody>
          <a:bodyPr wrap="square" lIns="0" tIns="755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95"/>
              </a:spcBef>
            </a:pPr>
            <a:r>
              <a:rPr dirty="0" sz="1100" spc="10">
                <a:solidFill>
                  <a:srgbClr val="005493"/>
                </a:solidFill>
                <a:latin typeface="Lucida Sans"/>
                <a:cs typeface="Lucida Sans"/>
              </a:rPr>
              <a:t>Hash.</a:t>
            </a:r>
            <a:r>
              <a:rPr dirty="0" sz="1100" spc="10">
                <a:solidFill>
                  <a:srgbClr val="005493"/>
                </a:solidFill>
                <a:latin typeface="Lucida Sans"/>
                <a:cs typeface="Lucida Sans"/>
              </a:rPr>
              <a:t> </a:t>
            </a:r>
            <a:r>
              <a:rPr dirty="0" sz="1100" spc="10">
                <a:solidFill>
                  <a:srgbClr val="005493"/>
                </a:solidFill>
                <a:latin typeface="Lucida Sans"/>
                <a:cs typeface="Lucida Sans"/>
              </a:rPr>
              <a:t> </a:t>
            </a:r>
            <a:r>
              <a:rPr dirty="0" sz="1100" spc="10">
                <a:latin typeface="Lucida Sans"/>
                <a:cs typeface="Lucida Sans"/>
              </a:rPr>
              <a:t>Map</a:t>
            </a:r>
            <a:r>
              <a:rPr dirty="0" sz="1100" spc="5">
                <a:latin typeface="Lucida Sans"/>
                <a:cs typeface="Lucida Sans"/>
              </a:rPr>
              <a:t> </a:t>
            </a:r>
            <a:r>
              <a:rPr dirty="0" sz="1100" spc="25">
                <a:latin typeface="Lucida Sans"/>
                <a:cs typeface="Lucida Sans"/>
              </a:rPr>
              <a:t>key</a:t>
            </a:r>
            <a:r>
              <a:rPr dirty="0" sz="1100" spc="5">
                <a:latin typeface="Lucida Sans"/>
                <a:cs typeface="Lucida Sans"/>
              </a:rPr>
              <a:t> </a:t>
            </a:r>
            <a:r>
              <a:rPr dirty="0" sz="1100" spc="5">
                <a:latin typeface="Lucida Sans"/>
                <a:cs typeface="Lucida Sans"/>
              </a:rPr>
              <a:t>to</a:t>
            </a:r>
            <a:r>
              <a:rPr dirty="0" sz="1100" spc="5">
                <a:latin typeface="Lucida Sans"/>
                <a:cs typeface="Lucida Sans"/>
              </a:rPr>
              <a:t> </a:t>
            </a:r>
            <a:r>
              <a:rPr dirty="0" sz="1100" spc="5">
                <a:latin typeface="Lucida Sans"/>
                <a:cs typeface="Lucida Sans"/>
              </a:rPr>
              <a:t>integer</a:t>
            </a:r>
            <a:r>
              <a:rPr dirty="0" sz="1100" spc="5">
                <a:latin typeface="Lucida Sans"/>
                <a:cs typeface="Lucida Sans"/>
              </a:rPr>
              <a:t> </a:t>
            </a:r>
            <a:r>
              <a:rPr dirty="0" sz="900" spc="15">
                <a:latin typeface="Lucida Sans Typewriter"/>
                <a:cs typeface="Lucida Sans Typewriter"/>
              </a:rPr>
              <a:t>i</a:t>
            </a:r>
            <a:r>
              <a:rPr dirty="0" sz="900" spc="-190">
                <a:latin typeface="Lucida Sans Typewriter"/>
                <a:cs typeface="Lucida Sans Typewriter"/>
              </a:rPr>
              <a:t> </a:t>
            </a:r>
            <a:r>
              <a:rPr dirty="0" sz="1100" spc="20">
                <a:latin typeface="Lucida Sans"/>
                <a:cs typeface="Lucida Sans"/>
              </a:rPr>
              <a:t>between</a:t>
            </a:r>
            <a:r>
              <a:rPr dirty="0" sz="1100" spc="5">
                <a:latin typeface="Lucida Sans"/>
                <a:cs typeface="Lucida Sans"/>
              </a:rPr>
              <a:t> </a:t>
            </a:r>
            <a:r>
              <a:rPr dirty="0" sz="900" spc="15">
                <a:latin typeface="Lucida Sans Typewriter"/>
                <a:cs typeface="Lucida Sans Typewriter"/>
              </a:rPr>
              <a:t>0</a:t>
            </a:r>
            <a:r>
              <a:rPr dirty="0" sz="900" spc="-190">
                <a:latin typeface="Lucida Sans Typewriter"/>
                <a:cs typeface="Lucida Sans Typewriter"/>
              </a:rPr>
              <a:t> </a:t>
            </a:r>
            <a:r>
              <a:rPr dirty="0" sz="1100" spc="10">
                <a:latin typeface="Lucida Sans"/>
                <a:cs typeface="Lucida Sans"/>
              </a:rPr>
              <a:t>and</a:t>
            </a:r>
            <a:r>
              <a:rPr dirty="0" sz="1100" spc="5">
                <a:latin typeface="Lucida Sans"/>
                <a:cs typeface="Lucida Sans"/>
              </a:rPr>
              <a:t> </a:t>
            </a:r>
            <a:r>
              <a:rPr dirty="0" sz="900" spc="15">
                <a:latin typeface="Lucida Sans Typewriter"/>
                <a:cs typeface="Lucida Sans Typewriter"/>
              </a:rPr>
              <a:t>M-1</a:t>
            </a:r>
            <a:r>
              <a:rPr dirty="0" sz="1100" spc="5">
                <a:latin typeface="Lucida Sans"/>
                <a:cs typeface="Lucida Sans"/>
              </a:rPr>
              <a:t>.</a:t>
            </a:r>
            <a:endParaRPr sz="1100">
              <a:latin typeface="Lucida Sans"/>
              <a:cs typeface="Lucida Sans"/>
            </a:endParaRPr>
          </a:p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dirty="0" sz="1100" spc="5">
                <a:solidFill>
                  <a:srgbClr val="005493"/>
                </a:solidFill>
                <a:latin typeface="Lucida Sans"/>
                <a:cs typeface="Lucida Sans"/>
              </a:rPr>
              <a:t>Insert.  </a:t>
            </a:r>
            <a:r>
              <a:rPr dirty="0" sz="1100" spc="5">
                <a:latin typeface="Lucida Sans"/>
                <a:cs typeface="Lucida Sans"/>
              </a:rPr>
              <a:t>Put at table </a:t>
            </a:r>
            <a:r>
              <a:rPr dirty="0" sz="1100" spc="10">
                <a:latin typeface="Lucida Sans"/>
                <a:cs typeface="Lucida Sans"/>
              </a:rPr>
              <a:t>index</a:t>
            </a:r>
            <a:r>
              <a:rPr dirty="0" sz="1100" spc="5">
                <a:latin typeface="Lucida Sans"/>
                <a:cs typeface="Lucida Sans"/>
              </a:rPr>
              <a:t> </a:t>
            </a:r>
            <a:r>
              <a:rPr dirty="0" sz="900" spc="15">
                <a:latin typeface="Lucida Sans Typewriter"/>
                <a:cs typeface="Lucida Sans Typewriter"/>
              </a:rPr>
              <a:t>i</a:t>
            </a:r>
            <a:r>
              <a:rPr dirty="0" sz="900" spc="-190">
                <a:latin typeface="Lucida Sans Typewriter"/>
                <a:cs typeface="Lucida Sans Typewriter"/>
              </a:rPr>
              <a:t> </a:t>
            </a:r>
            <a:r>
              <a:rPr dirty="0" sz="1100" spc="5">
                <a:latin typeface="Lucida Sans"/>
                <a:cs typeface="Lucida Sans"/>
              </a:rPr>
              <a:t>if </a:t>
            </a:r>
            <a:r>
              <a:rPr dirty="0" sz="1100">
                <a:latin typeface="Lucida Sans"/>
                <a:cs typeface="Lucida Sans"/>
              </a:rPr>
              <a:t>free;</a:t>
            </a:r>
            <a:r>
              <a:rPr dirty="0" sz="1100" spc="5">
                <a:latin typeface="Lucida Sans"/>
                <a:cs typeface="Lucida Sans"/>
              </a:rPr>
              <a:t> if </a:t>
            </a:r>
            <a:r>
              <a:rPr dirty="0" sz="1100" spc="10">
                <a:latin typeface="Lucida Sans"/>
                <a:cs typeface="Lucida Sans"/>
              </a:rPr>
              <a:t>not</a:t>
            </a:r>
            <a:r>
              <a:rPr dirty="0" sz="1100" spc="5">
                <a:latin typeface="Lucida Sans"/>
                <a:cs typeface="Lucida Sans"/>
              </a:rPr>
              <a:t> </a:t>
            </a:r>
            <a:r>
              <a:rPr dirty="0" sz="1100" spc="25">
                <a:latin typeface="Lucida Sans"/>
                <a:cs typeface="Lucida Sans"/>
              </a:rPr>
              <a:t>try</a:t>
            </a:r>
            <a:r>
              <a:rPr dirty="0" sz="1100" spc="5">
                <a:latin typeface="Lucida Sans"/>
                <a:cs typeface="Lucida Sans"/>
              </a:rPr>
              <a:t> </a:t>
            </a:r>
            <a:r>
              <a:rPr dirty="0" sz="900" spc="15">
                <a:latin typeface="Lucida Sans Typewriter"/>
                <a:cs typeface="Lucida Sans Typewriter"/>
              </a:rPr>
              <a:t>i+1</a:t>
            </a:r>
            <a:r>
              <a:rPr dirty="0" sz="1100" spc="15">
                <a:latin typeface="Times New Roman"/>
                <a:cs typeface="Times New Roman"/>
              </a:rPr>
              <a:t>,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900" spc="15">
                <a:latin typeface="Lucida Sans Typewriter"/>
                <a:cs typeface="Lucida Sans Typewriter"/>
              </a:rPr>
              <a:t>i+2</a:t>
            </a:r>
            <a:r>
              <a:rPr dirty="0" sz="1100" spc="15">
                <a:latin typeface="Lucida Sans"/>
                <a:cs typeface="Lucida Sans"/>
              </a:rPr>
              <a:t>,</a:t>
            </a:r>
            <a:r>
              <a:rPr dirty="0" sz="1100" spc="5">
                <a:latin typeface="Lucida Sans"/>
                <a:cs typeface="Lucida Sans"/>
              </a:rPr>
              <a:t> </a:t>
            </a:r>
            <a:r>
              <a:rPr dirty="0" sz="1100" spc="10">
                <a:latin typeface="Lucida Sans"/>
                <a:cs typeface="Lucida Sans"/>
              </a:rPr>
              <a:t>etc.</a:t>
            </a:r>
            <a:endParaRPr sz="1100">
              <a:latin typeface="Lucida Sans"/>
              <a:cs typeface="Lucida Sans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986199" y="396219"/>
            <a:ext cx="2413000" cy="2247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00" spc="10">
                <a:latin typeface="Arial"/>
                <a:cs typeface="Arial"/>
              </a:rPr>
              <a:t>Linear-probing</a:t>
            </a:r>
            <a:r>
              <a:rPr dirty="0" sz="1300" spc="20">
                <a:latin typeface="Arial"/>
                <a:cs typeface="Arial"/>
              </a:rPr>
              <a:t> </a:t>
            </a:r>
            <a:r>
              <a:rPr dirty="0" sz="1300" spc="-20">
                <a:latin typeface="Arial"/>
                <a:cs typeface="Arial"/>
              </a:rPr>
              <a:t>hash</a:t>
            </a:r>
            <a:r>
              <a:rPr dirty="0" sz="1300" spc="20">
                <a:latin typeface="Arial"/>
                <a:cs typeface="Arial"/>
              </a:rPr>
              <a:t> </a:t>
            </a:r>
            <a:r>
              <a:rPr dirty="0" sz="1300" spc="30">
                <a:latin typeface="Arial"/>
                <a:cs typeface="Arial"/>
              </a:rPr>
              <a:t>table</a:t>
            </a:r>
            <a:r>
              <a:rPr dirty="0" sz="1300" spc="20">
                <a:latin typeface="Arial"/>
                <a:cs typeface="Arial"/>
              </a:rPr>
              <a:t> </a:t>
            </a:r>
            <a:r>
              <a:rPr dirty="0" sz="1300" spc="15">
                <a:latin typeface="Arial"/>
                <a:cs typeface="Arial"/>
              </a:rPr>
              <a:t>demo</a:t>
            </a:r>
            <a:endParaRPr sz="1300">
              <a:latin typeface="Arial"/>
              <a:cs typeface="Arial"/>
            </a:endParaRPr>
          </a:p>
        </p:txBody>
      </p:sp>
      <p:graphicFrame>
        <p:nvGraphicFramePr>
          <p:cNvPr id="24" name="object 24"/>
          <p:cNvGraphicFramePr>
            <a:graphicFrameLocks noGrp="1"/>
          </p:cNvGraphicFramePr>
          <p:nvPr/>
        </p:nvGraphicFramePr>
        <p:xfrm>
          <a:off x="7477302" y="3258592"/>
          <a:ext cx="4748530" cy="2959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8450"/>
                <a:gridCol w="297815"/>
                <a:gridCol w="294640"/>
                <a:gridCol w="297815"/>
                <a:gridCol w="297815"/>
                <a:gridCol w="294639"/>
                <a:gridCol w="294639"/>
                <a:gridCol w="297814"/>
                <a:gridCol w="297814"/>
                <a:gridCol w="294639"/>
                <a:gridCol w="297814"/>
                <a:gridCol w="297814"/>
                <a:gridCol w="294639"/>
                <a:gridCol w="294639"/>
                <a:gridCol w="297814"/>
                <a:gridCol w="298450"/>
              </a:tblGrid>
              <a:tr h="2959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3175">
                      <a:solidFill>
                        <a:srgbClr val="FFFFFF"/>
                      </a:solidFill>
                      <a:prstDash val="solid"/>
                    </a:lnT>
                    <a:lnB w="3175">
                      <a:solidFill>
                        <a:srgbClr val="FFFFFF"/>
                      </a:solidFill>
                      <a:prstDash val="solid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3175">
                      <a:solidFill>
                        <a:srgbClr val="FFFFFF"/>
                      </a:solidFill>
                      <a:prstDash val="solid"/>
                    </a:lnT>
                    <a:lnB w="3175">
                      <a:solidFill>
                        <a:srgbClr val="FFFFFF"/>
                      </a:solidFill>
                      <a:prstDash val="solid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3175">
                      <a:solidFill>
                        <a:srgbClr val="FFFFFF"/>
                      </a:solidFill>
                      <a:prstDash val="solid"/>
                    </a:lnT>
                    <a:lnB w="3175">
                      <a:solidFill>
                        <a:srgbClr val="FFFFFF"/>
                      </a:solidFill>
                      <a:prstDash val="solid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3175">
                      <a:solidFill>
                        <a:srgbClr val="FFFFFF"/>
                      </a:solidFill>
                      <a:prstDash val="solid"/>
                    </a:lnT>
                    <a:lnB w="3175">
                      <a:solidFill>
                        <a:srgbClr val="FFFFFF"/>
                      </a:solidFill>
                      <a:prstDash val="solid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3175">
                      <a:solidFill>
                        <a:srgbClr val="FFFFFF"/>
                      </a:solidFill>
                      <a:prstDash val="solid"/>
                    </a:lnT>
                    <a:lnB w="3175">
                      <a:solidFill>
                        <a:srgbClr val="FFFFFF"/>
                      </a:solidFill>
                      <a:prstDash val="solid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3175">
                      <a:solidFill>
                        <a:srgbClr val="FFFFFF"/>
                      </a:solidFill>
                      <a:prstDash val="solid"/>
                    </a:lnT>
                    <a:lnB w="3175">
                      <a:solidFill>
                        <a:srgbClr val="FFFFFF"/>
                      </a:solidFill>
                      <a:prstDash val="solid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3175">
                      <a:solidFill>
                        <a:srgbClr val="FFFFFF"/>
                      </a:solidFill>
                      <a:prstDash val="solid"/>
                    </a:lnT>
                    <a:lnB w="3175">
                      <a:solidFill>
                        <a:srgbClr val="FFFFFF"/>
                      </a:solidFill>
                      <a:prstDash val="solid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FFFFFF"/>
                      </a:solidFill>
                      <a:prstDash val="solid"/>
                    </a:lnL>
                    <a:lnR w="3175">
                      <a:solidFill>
                        <a:srgbClr val="FFFFFF"/>
                      </a:solidFill>
                      <a:prstDash val="solid"/>
                    </a:lnR>
                    <a:lnT w="3175">
                      <a:solidFill>
                        <a:srgbClr val="FFFFFF"/>
                      </a:solidFill>
                      <a:prstDash val="solid"/>
                    </a:lnT>
                    <a:lnB w="3175">
                      <a:solidFill>
                        <a:srgbClr val="FFFFFF"/>
                      </a:solidFill>
                      <a:prstDash val="solid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3175">
                      <a:solidFill>
                        <a:srgbClr val="FFFFFF"/>
                      </a:solidFill>
                      <a:prstDash val="solid"/>
                    </a:lnT>
                    <a:lnB w="3175">
                      <a:solidFill>
                        <a:srgbClr val="FFFFFF"/>
                      </a:solidFill>
                      <a:prstDash val="solid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3175">
                      <a:solidFill>
                        <a:srgbClr val="FFFFFF"/>
                      </a:solidFill>
                      <a:prstDash val="solid"/>
                    </a:lnT>
                    <a:lnB w="3175">
                      <a:solidFill>
                        <a:srgbClr val="FFFFFF"/>
                      </a:solidFill>
                      <a:prstDash val="solid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3175">
                      <a:solidFill>
                        <a:srgbClr val="FFFFFF"/>
                      </a:solidFill>
                      <a:prstDash val="solid"/>
                    </a:lnT>
                    <a:lnB w="3175">
                      <a:solidFill>
                        <a:srgbClr val="FFFFFF"/>
                      </a:solidFill>
                      <a:prstDash val="solid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3175">
                      <a:solidFill>
                        <a:srgbClr val="FFFFFF"/>
                      </a:solidFill>
                      <a:prstDash val="solid"/>
                    </a:lnT>
                    <a:lnB w="3175">
                      <a:solidFill>
                        <a:srgbClr val="FFFFFF"/>
                      </a:solidFill>
                      <a:prstDash val="solid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3175">
                      <a:solidFill>
                        <a:srgbClr val="FFFFFF"/>
                      </a:solidFill>
                      <a:prstDash val="solid"/>
                    </a:lnT>
                    <a:lnB w="3175">
                      <a:solidFill>
                        <a:srgbClr val="FFFFFF"/>
                      </a:solidFill>
                      <a:prstDash val="solid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3175">
                      <a:solidFill>
                        <a:srgbClr val="FFFFFF"/>
                      </a:solidFill>
                      <a:prstDash val="solid"/>
                    </a:lnT>
                    <a:lnB w="3175">
                      <a:solidFill>
                        <a:srgbClr val="FFFFFF"/>
                      </a:solidFill>
                      <a:prstDash val="solid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3175">
                      <a:solidFill>
                        <a:srgbClr val="FFFFFF"/>
                      </a:solidFill>
                      <a:prstDash val="solid"/>
                    </a:lnT>
                    <a:lnB w="3175">
                      <a:solidFill>
                        <a:srgbClr val="FFFFFF"/>
                      </a:solidFill>
                      <a:prstDash val="solid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FFFFFF"/>
                      </a:solidFill>
                      <a:prstDash val="solid"/>
                    </a:lnL>
                    <a:lnR w="3175">
                      <a:solidFill>
                        <a:srgbClr val="FFFFFF"/>
                      </a:solidFill>
                      <a:prstDash val="solid"/>
                    </a:lnR>
                    <a:lnT w="3175">
                      <a:solidFill>
                        <a:srgbClr val="FFFFFF"/>
                      </a:solidFill>
                      <a:prstDash val="solid"/>
                    </a:lnT>
                    <a:lnB w="3175">
                      <a:solidFill>
                        <a:srgbClr val="FFFFFF"/>
                      </a:solidFill>
                      <a:prstDash val="solid"/>
                    </a:lnB>
                    <a:solidFill>
                      <a:srgbClr val="D5D5D5"/>
                    </a:solidFill>
                  </a:tcPr>
                </a:tc>
              </a:tr>
            </a:tbl>
          </a:graphicData>
        </a:graphic>
      </p:graphicFrame>
      <p:sp>
        <p:nvSpPr>
          <p:cNvPr id="25" name="object 25"/>
          <p:cNvSpPr txBox="1"/>
          <p:nvPr/>
        </p:nvSpPr>
        <p:spPr>
          <a:xfrm>
            <a:off x="7587935" y="3085732"/>
            <a:ext cx="78105" cy="1250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50">
                <a:latin typeface="Lucida Sans"/>
                <a:cs typeface="Lucida Sans"/>
              </a:rPr>
              <a:t>0</a:t>
            </a:r>
            <a:endParaRPr sz="650">
              <a:latin typeface="Lucida Sans"/>
              <a:cs typeface="Lucida Sans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888368" y="3085732"/>
            <a:ext cx="78105" cy="1250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50">
                <a:latin typeface="Lucida Sans"/>
                <a:cs typeface="Lucida Sans"/>
              </a:rPr>
              <a:t>1</a:t>
            </a:r>
            <a:endParaRPr sz="650">
              <a:latin typeface="Lucida Sans"/>
              <a:cs typeface="Lucida Sans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182877" y="3085732"/>
            <a:ext cx="78105" cy="1250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50">
                <a:latin typeface="Lucida Sans"/>
                <a:cs typeface="Lucida Sans"/>
              </a:rPr>
              <a:t>2</a:t>
            </a:r>
            <a:endParaRPr sz="650">
              <a:latin typeface="Lucida Sans"/>
              <a:cs typeface="Lucida Sans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8477387" y="3085732"/>
            <a:ext cx="78105" cy="1250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50">
                <a:latin typeface="Lucida Sans"/>
                <a:cs typeface="Lucida Sans"/>
              </a:rPr>
              <a:t>3</a:t>
            </a:r>
            <a:endParaRPr sz="650">
              <a:latin typeface="Lucida Sans"/>
              <a:cs typeface="Lucida Sans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8777820" y="3085732"/>
            <a:ext cx="78105" cy="1250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50">
                <a:latin typeface="Lucida Sans"/>
                <a:cs typeface="Lucida Sans"/>
              </a:rPr>
              <a:t>4</a:t>
            </a:r>
            <a:endParaRPr sz="650">
              <a:latin typeface="Lucida Sans"/>
              <a:cs typeface="Lucida Sans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9072329" y="3085732"/>
            <a:ext cx="78105" cy="1250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50">
                <a:latin typeface="Lucida Sans"/>
                <a:cs typeface="Lucida Sans"/>
              </a:rPr>
              <a:t>5</a:t>
            </a:r>
            <a:endParaRPr sz="650">
              <a:latin typeface="Lucida Sans"/>
              <a:cs typeface="Lucida Sans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9366839" y="3085732"/>
            <a:ext cx="78105" cy="1250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50">
                <a:latin typeface="Lucida Sans"/>
                <a:cs typeface="Lucida Sans"/>
              </a:rPr>
              <a:t>6</a:t>
            </a:r>
            <a:endParaRPr sz="650">
              <a:latin typeface="Lucida Sans"/>
              <a:cs typeface="Lucida Sans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9661347" y="3085732"/>
            <a:ext cx="78105" cy="1250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50">
                <a:latin typeface="Lucida Sans"/>
                <a:cs typeface="Lucida Sans"/>
              </a:rPr>
              <a:t>7</a:t>
            </a:r>
            <a:endParaRPr sz="650">
              <a:latin typeface="Lucida Sans"/>
              <a:cs typeface="Lucida Sans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9961781" y="3085732"/>
            <a:ext cx="78105" cy="1250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50">
                <a:latin typeface="Lucida Sans"/>
                <a:cs typeface="Lucida Sans"/>
              </a:rPr>
              <a:t>8</a:t>
            </a:r>
            <a:endParaRPr sz="650">
              <a:latin typeface="Lucida Sans"/>
              <a:cs typeface="Lucida Sans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0256290" y="3085732"/>
            <a:ext cx="78105" cy="1250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50">
                <a:latin typeface="Lucida Sans"/>
                <a:cs typeface="Lucida Sans"/>
              </a:rPr>
              <a:t>9</a:t>
            </a:r>
            <a:endParaRPr sz="650">
              <a:latin typeface="Lucida Sans"/>
              <a:cs typeface="Lucida Sans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7059105" y="3313384"/>
            <a:ext cx="282575" cy="15367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800" spc="20">
                <a:latin typeface="Lucida Sans Typewriter"/>
                <a:cs typeface="Lucida Sans Typewriter"/>
              </a:rPr>
              <a:t>st[]</a:t>
            </a:r>
            <a:endParaRPr sz="800">
              <a:latin typeface="Lucida Sans Typewriter"/>
              <a:cs typeface="Lucida Sans Typewriter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0524549" y="3085732"/>
            <a:ext cx="130810" cy="1250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50">
                <a:latin typeface="Lucida Sans"/>
                <a:cs typeface="Lucida Sans"/>
              </a:rPr>
              <a:t>10</a:t>
            </a:r>
            <a:endParaRPr sz="650">
              <a:latin typeface="Lucida Sans"/>
              <a:cs typeface="Lucida Sans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0824982" y="3085732"/>
            <a:ext cx="130810" cy="1250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50">
                <a:latin typeface="Lucida Sans"/>
                <a:cs typeface="Lucida Sans"/>
              </a:rPr>
              <a:t>11</a:t>
            </a:r>
            <a:endParaRPr sz="650">
              <a:latin typeface="Lucida Sans"/>
              <a:cs typeface="Lucida Sans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1119491" y="3085732"/>
            <a:ext cx="130810" cy="1250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50">
                <a:latin typeface="Lucida Sans"/>
                <a:cs typeface="Lucida Sans"/>
              </a:rPr>
              <a:t>12</a:t>
            </a:r>
            <a:endParaRPr sz="650">
              <a:latin typeface="Lucida Sans"/>
              <a:cs typeface="Lucida Sans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11414001" y="3085732"/>
            <a:ext cx="130810" cy="1250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50">
                <a:latin typeface="Lucida Sans"/>
                <a:cs typeface="Lucida Sans"/>
              </a:rPr>
              <a:t>13</a:t>
            </a:r>
            <a:endParaRPr sz="650">
              <a:latin typeface="Lucida Sans"/>
              <a:cs typeface="Lucida Sans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1708510" y="3085732"/>
            <a:ext cx="130810" cy="1250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50">
                <a:latin typeface="Lucida Sans"/>
                <a:cs typeface="Lucida Sans"/>
              </a:rPr>
              <a:t>14</a:t>
            </a:r>
            <a:endParaRPr sz="650">
              <a:latin typeface="Lucida Sans"/>
              <a:cs typeface="Lucida Sans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12008943" y="3085732"/>
            <a:ext cx="130810" cy="1250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50">
                <a:latin typeface="Lucida Sans"/>
                <a:cs typeface="Lucida Sans"/>
              </a:rPr>
              <a:t>15</a:t>
            </a:r>
            <a:endParaRPr sz="650">
              <a:latin typeface="Lucida Sans"/>
              <a:cs typeface="Lucida Sans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6928094" y="3636667"/>
            <a:ext cx="410845" cy="15367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800" spc="20">
                <a:latin typeface="Lucida Sans Typewriter"/>
                <a:cs typeface="Lucida Sans Typewriter"/>
              </a:rPr>
              <a:t>M</a:t>
            </a:r>
            <a:r>
              <a:rPr dirty="0" sz="800" spc="-20"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=</a:t>
            </a:r>
            <a:r>
              <a:rPr dirty="0" sz="800" spc="-20"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16</a:t>
            </a:r>
            <a:endParaRPr sz="800">
              <a:latin typeface="Lucida Sans Typewriter"/>
              <a:cs typeface="Lucida Sans Typewriter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7063212" y="2114189"/>
            <a:ext cx="1445895" cy="15367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800" spc="40" b="1">
                <a:latin typeface="Tahoma"/>
                <a:cs typeface="Tahoma"/>
              </a:rPr>
              <a:t>linear-probing</a:t>
            </a:r>
            <a:r>
              <a:rPr dirty="0" sz="800" spc="30" b="1">
                <a:latin typeface="Tahoma"/>
                <a:cs typeface="Tahoma"/>
              </a:rPr>
              <a:t> </a:t>
            </a:r>
            <a:r>
              <a:rPr dirty="0" sz="800" spc="35" b="1">
                <a:latin typeface="Tahoma"/>
                <a:cs typeface="Tahoma"/>
              </a:rPr>
              <a:t>hash </a:t>
            </a:r>
            <a:r>
              <a:rPr dirty="0" sz="800" spc="20" b="1">
                <a:latin typeface="Tahoma"/>
                <a:cs typeface="Tahoma"/>
              </a:rPr>
              <a:t>table</a:t>
            </a:r>
            <a:endParaRPr sz="800">
              <a:latin typeface="Tahoma"/>
              <a:cs typeface="Tahoma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7113695" y="4058126"/>
            <a:ext cx="408940" cy="408940"/>
            <a:chOff x="7113695" y="4058126"/>
            <a:chExt cx="408940" cy="408940"/>
          </a:xfrm>
        </p:grpSpPr>
        <p:pic>
          <p:nvPicPr>
            <p:cNvPr id="45" name="object 4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113695" y="4058126"/>
              <a:ext cx="408758" cy="408757"/>
            </a:xfrm>
            <a:prstGeom prst="rect">
              <a:avLst/>
            </a:prstGeom>
          </p:spPr>
        </p:pic>
        <p:sp>
          <p:nvSpPr>
            <p:cNvPr id="46" name="object 46"/>
            <p:cNvSpPr/>
            <p:nvPr/>
          </p:nvSpPr>
          <p:spPr>
            <a:xfrm>
              <a:off x="7144661" y="4089092"/>
              <a:ext cx="347345" cy="347345"/>
            </a:xfrm>
            <a:custGeom>
              <a:avLst/>
              <a:gdLst/>
              <a:ahLst/>
              <a:cxnLst/>
              <a:rect l="l" t="t" r="r" b="b"/>
              <a:pathLst>
                <a:path w="347345" h="347345">
                  <a:moveTo>
                    <a:pt x="173412" y="0"/>
                  </a:moveTo>
                  <a:lnTo>
                    <a:pt x="127312" y="6194"/>
                  </a:lnTo>
                  <a:lnTo>
                    <a:pt x="85887" y="23675"/>
                  </a:lnTo>
                  <a:lnTo>
                    <a:pt x="50791" y="50791"/>
                  </a:lnTo>
                  <a:lnTo>
                    <a:pt x="23675" y="85887"/>
                  </a:lnTo>
                  <a:lnTo>
                    <a:pt x="6194" y="127312"/>
                  </a:lnTo>
                  <a:lnTo>
                    <a:pt x="0" y="173412"/>
                  </a:lnTo>
                  <a:lnTo>
                    <a:pt x="6194" y="219512"/>
                  </a:lnTo>
                  <a:lnTo>
                    <a:pt x="23675" y="260936"/>
                  </a:lnTo>
                  <a:lnTo>
                    <a:pt x="50791" y="296033"/>
                  </a:lnTo>
                  <a:lnTo>
                    <a:pt x="85887" y="323149"/>
                  </a:lnTo>
                  <a:lnTo>
                    <a:pt x="127312" y="340630"/>
                  </a:lnTo>
                  <a:lnTo>
                    <a:pt x="173412" y="346825"/>
                  </a:lnTo>
                  <a:lnTo>
                    <a:pt x="219512" y="340630"/>
                  </a:lnTo>
                  <a:lnTo>
                    <a:pt x="260936" y="323149"/>
                  </a:lnTo>
                  <a:lnTo>
                    <a:pt x="296033" y="296033"/>
                  </a:lnTo>
                  <a:lnTo>
                    <a:pt x="323149" y="260936"/>
                  </a:lnTo>
                  <a:lnTo>
                    <a:pt x="340630" y="219512"/>
                  </a:lnTo>
                  <a:lnTo>
                    <a:pt x="346825" y="173412"/>
                  </a:lnTo>
                  <a:lnTo>
                    <a:pt x="340630" y="127312"/>
                  </a:lnTo>
                  <a:lnTo>
                    <a:pt x="323149" y="85887"/>
                  </a:lnTo>
                  <a:lnTo>
                    <a:pt x="296033" y="50791"/>
                  </a:lnTo>
                  <a:lnTo>
                    <a:pt x="260936" y="23675"/>
                  </a:lnTo>
                  <a:lnTo>
                    <a:pt x="219512" y="6194"/>
                  </a:lnTo>
                  <a:lnTo>
                    <a:pt x="173412" y="0"/>
                  </a:lnTo>
                  <a:close/>
                </a:path>
              </a:pathLst>
            </a:custGeom>
            <a:solidFill>
              <a:srgbClr val="03040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/>
            <p:cNvSpPr/>
            <p:nvPr/>
          </p:nvSpPr>
          <p:spPr>
            <a:xfrm>
              <a:off x="7147043" y="4091474"/>
              <a:ext cx="342265" cy="342265"/>
            </a:xfrm>
            <a:custGeom>
              <a:avLst/>
              <a:gdLst/>
              <a:ahLst/>
              <a:cxnLst/>
              <a:rect l="l" t="t" r="r" b="b"/>
              <a:pathLst>
                <a:path w="342265" h="342264">
                  <a:moveTo>
                    <a:pt x="171030" y="0"/>
                  </a:moveTo>
                  <a:lnTo>
                    <a:pt x="125563" y="6109"/>
                  </a:lnTo>
                  <a:lnTo>
                    <a:pt x="84707" y="23350"/>
                  </a:lnTo>
                  <a:lnTo>
                    <a:pt x="50093" y="50093"/>
                  </a:lnTo>
                  <a:lnTo>
                    <a:pt x="23350" y="84707"/>
                  </a:lnTo>
                  <a:lnTo>
                    <a:pt x="6109" y="125563"/>
                  </a:lnTo>
                  <a:lnTo>
                    <a:pt x="0" y="171030"/>
                  </a:lnTo>
                  <a:lnTo>
                    <a:pt x="6109" y="216497"/>
                  </a:lnTo>
                  <a:lnTo>
                    <a:pt x="23350" y="257352"/>
                  </a:lnTo>
                  <a:lnTo>
                    <a:pt x="50093" y="291967"/>
                  </a:lnTo>
                  <a:lnTo>
                    <a:pt x="84707" y="318710"/>
                  </a:lnTo>
                  <a:lnTo>
                    <a:pt x="125563" y="335951"/>
                  </a:lnTo>
                  <a:lnTo>
                    <a:pt x="171030" y="342061"/>
                  </a:lnTo>
                  <a:lnTo>
                    <a:pt x="216496" y="335951"/>
                  </a:lnTo>
                  <a:lnTo>
                    <a:pt x="257352" y="318710"/>
                  </a:lnTo>
                  <a:lnTo>
                    <a:pt x="291966" y="291967"/>
                  </a:lnTo>
                  <a:lnTo>
                    <a:pt x="318710" y="257352"/>
                  </a:lnTo>
                  <a:lnTo>
                    <a:pt x="335951" y="216497"/>
                  </a:lnTo>
                  <a:lnTo>
                    <a:pt x="342060" y="171030"/>
                  </a:lnTo>
                  <a:lnTo>
                    <a:pt x="335951" y="125563"/>
                  </a:lnTo>
                  <a:lnTo>
                    <a:pt x="318710" y="84707"/>
                  </a:lnTo>
                  <a:lnTo>
                    <a:pt x="291966" y="50093"/>
                  </a:lnTo>
                  <a:lnTo>
                    <a:pt x="257352" y="23350"/>
                  </a:lnTo>
                  <a:lnTo>
                    <a:pt x="216496" y="6109"/>
                  </a:lnTo>
                  <a:lnTo>
                    <a:pt x="171030" y="0"/>
                  </a:lnTo>
                  <a:close/>
                </a:path>
              </a:pathLst>
            </a:custGeom>
            <a:solidFill>
              <a:srgbClr val="666667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8" name="object 4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151681" y="4095136"/>
              <a:ext cx="333514" cy="333514"/>
            </a:xfrm>
            <a:prstGeom prst="rect">
              <a:avLst/>
            </a:prstGeom>
          </p:spPr>
        </p:pic>
        <p:sp>
          <p:nvSpPr>
            <p:cNvPr id="49" name="object 49"/>
            <p:cNvSpPr/>
            <p:nvPr/>
          </p:nvSpPr>
          <p:spPr>
            <a:xfrm>
              <a:off x="7162960" y="4107064"/>
              <a:ext cx="313055" cy="313055"/>
            </a:xfrm>
            <a:custGeom>
              <a:avLst/>
              <a:gdLst/>
              <a:ahLst/>
              <a:cxnLst/>
              <a:rect l="l" t="t" r="r" b="b"/>
              <a:pathLst>
                <a:path w="313054" h="313054">
                  <a:moveTo>
                    <a:pt x="312646" y="156323"/>
                  </a:moveTo>
                  <a:lnTo>
                    <a:pt x="304676" y="205734"/>
                  </a:lnTo>
                  <a:lnTo>
                    <a:pt x="282484" y="248646"/>
                  </a:lnTo>
                  <a:lnTo>
                    <a:pt x="248645" y="282486"/>
                  </a:lnTo>
                  <a:lnTo>
                    <a:pt x="205733" y="304677"/>
                  </a:lnTo>
                  <a:lnTo>
                    <a:pt x="156322" y="312647"/>
                  </a:lnTo>
                  <a:lnTo>
                    <a:pt x="106912" y="304677"/>
                  </a:lnTo>
                  <a:lnTo>
                    <a:pt x="63999" y="282486"/>
                  </a:lnTo>
                  <a:lnTo>
                    <a:pt x="30160" y="248646"/>
                  </a:lnTo>
                  <a:lnTo>
                    <a:pt x="7969" y="205734"/>
                  </a:lnTo>
                  <a:lnTo>
                    <a:pt x="0" y="156323"/>
                  </a:lnTo>
                  <a:lnTo>
                    <a:pt x="7969" y="106913"/>
                  </a:lnTo>
                  <a:lnTo>
                    <a:pt x="30160" y="64000"/>
                  </a:lnTo>
                  <a:lnTo>
                    <a:pt x="63999" y="30161"/>
                  </a:lnTo>
                  <a:lnTo>
                    <a:pt x="106912" y="7969"/>
                  </a:lnTo>
                  <a:lnTo>
                    <a:pt x="156322" y="0"/>
                  </a:lnTo>
                  <a:lnTo>
                    <a:pt x="205733" y="7969"/>
                  </a:lnTo>
                  <a:lnTo>
                    <a:pt x="248645" y="30161"/>
                  </a:lnTo>
                  <a:lnTo>
                    <a:pt x="282484" y="64000"/>
                  </a:lnTo>
                  <a:lnTo>
                    <a:pt x="304676" y="106913"/>
                  </a:lnTo>
                  <a:lnTo>
                    <a:pt x="312646" y="156323"/>
                  </a:lnTo>
                  <a:close/>
                </a:path>
              </a:pathLst>
            </a:custGeom>
            <a:ln w="10281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0" name="object 5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217365" y="4150975"/>
              <a:ext cx="243015" cy="247305"/>
            </a:xfrm>
            <a:prstGeom prst="rect">
              <a:avLst/>
            </a:prstGeom>
          </p:spPr>
        </p:pic>
        <p:sp>
          <p:nvSpPr>
            <p:cNvPr id="51" name="object 51"/>
            <p:cNvSpPr/>
            <p:nvPr/>
          </p:nvSpPr>
          <p:spPr>
            <a:xfrm>
              <a:off x="7148314" y="4092507"/>
              <a:ext cx="283210" cy="223520"/>
            </a:xfrm>
            <a:custGeom>
              <a:avLst/>
              <a:gdLst/>
              <a:ahLst/>
              <a:cxnLst/>
              <a:rect l="l" t="t" r="r" b="b"/>
              <a:pathLst>
                <a:path w="283209" h="223520">
                  <a:moveTo>
                    <a:pt x="170553" y="0"/>
                  </a:moveTo>
                  <a:lnTo>
                    <a:pt x="125213" y="6092"/>
                  </a:lnTo>
                  <a:lnTo>
                    <a:pt x="84471" y="23285"/>
                  </a:lnTo>
                  <a:lnTo>
                    <a:pt x="49954" y="49953"/>
                  </a:lnTo>
                  <a:lnTo>
                    <a:pt x="23285" y="84471"/>
                  </a:lnTo>
                  <a:lnTo>
                    <a:pt x="6092" y="125213"/>
                  </a:lnTo>
                  <a:lnTo>
                    <a:pt x="0" y="170554"/>
                  </a:lnTo>
                  <a:lnTo>
                    <a:pt x="553" y="183945"/>
                  </a:lnTo>
                  <a:lnTo>
                    <a:pt x="2173" y="196772"/>
                  </a:lnTo>
                  <a:lnTo>
                    <a:pt x="4797" y="209265"/>
                  </a:lnTo>
                  <a:lnTo>
                    <a:pt x="8363" y="221654"/>
                  </a:lnTo>
                  <a:lnTo>
                    <a:pt x="10641" y="223281"/>
                  </a:lnTo>
                  <a:lnTo>
                    <a:pt x="27999" y="197658"/>
                  </a:lnTo>
                  <a:lnTo>
                    <a:pt x="79592" y="139843"/>
                  </a:lnTo>
                  <a:lnTo>
                    <a:pt x="164700" y="78418"/>
                  </a:lnTo>
                  <a:lnTo>
                    <a:pt x="282603" y="41966"/>
                  </a:lnTo>
                  <a:lnTo>
                    <a:pt x="262444" y="24772"/>
                  </a:lnTo>
                  <a:lnTo>
                    <a:pt x="234944" y="11528"/>
                  </a:lnTo>
                  <a:lnTo>
                    <a:pt x="203260" y="3011"/>
                  </a:lnTo>
                  <a:lnTo>
                    <a:pt x="170553" y="0"/>
                  </a:lnTo>
                  <a:close/>
                </a:path>
              </a:pathLst>
            </a:custGeom>
            <a:solidFill>
              <a:srgbClr val="FFFFFF">
                <a:alpha val="29998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2" name="object 52"/>
          <p:cNvGrpSpPr/>
          <p:nvPr/>
        </p:nvGrpSpPr>
        <p:grpSpPr>
          <a:xfrm>
            <a:off x="346176" y="4966780"/>
            <a:ext cx="6066790" cy="4549775"/>
            <a:chOff x="346176" y="4966780"/>
            <a:chExt cx="6066790" cy="4549775"/>
          </a:xfrm>
        </p:grpSpPr>
        <p:sp>
          <p:nvSpPr>
            <p:cNvPr id="53" name="object 53"/>
            <p:cNvSpPr/>
            <p:nvPr/>
          </p:nvSpPr>
          <p:spPr>
            <a:xfrm>
              <a:off x="346176" y="4966780"/>
              <a:ext cx="6066790" cy="4549775"/>
            </a:xfrm>
            <a:custGeom>
              <a:avLst/>
              <a:gdLst/>
              <a:ahLst/>
              <a:cxnLst/>
              <a:rect l="l" t="t" r="r" b="b"/>
              <a:pathLst>
                <a:path w="6066790" h="4549775">
                  <a:moveTo>
                    <a:pt x="0" y="0"/>
                  </a:moveTo>
                  <a:lnTo>
                    <a:pt x="6066212" y="0"/>
                  </a:lnTo>
                  <a:lnTo>
                    <a:pt x="6066212" y="4549659"/>
                  </a:lnTo>
                  <a:lnTo>
                    <a:pt x="0" y="45496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/>
            <p:cNvSpPr/>
            <p:nvPr/>
          </p:nvSpPr>
          <p:spPr>
            <a:xfrm>
              <a:off x="731238" y="5428805"/>
              <a:ext cx="5302250" cy="635"/>
            </a:xfrm>
            <a:custGeom>
              <a:avLst/>
              <a:gdLst/>
              <a:ahLst/>
              <a:cxnLst/>
              <a:rect l="l" t="t" r="r" b="b"/>
              <a:pathLst>
                <a:path w="5302250" h="635">
                  <a:moveTo>
                    <a:pt x="0" y="49"/>
                  </a:moveTo>
                  <a:lnTo>
                    <a:pt x="5302012" y="0"/>
                  </a:lnTo>
                </a:path>
              </a:pathLst>
            </a:custGeom>
            <a:ln w="59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5" name="object 55"/>
          <p:cNvSpPr txBox="1"/>
          <p:nvPr/>
        </p:nvSpPr>
        <p:spPr>
          <a:xfrm>
            <a:off x="739997" y="5527527"/>
            <a:ext cx="4989830" cy="487680"/>
          </a:xfrm>
          <a:prstGeom prst="rect">
            <a:avLst/>
          </a:prstGeom>
        </p:spPr>
        <p:txBody>
          <a:bodyPr wrap="square" lIns="0" tIns="755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95"/>
              </a:spcBef>
            </a:pPr>
            <a:r>
              <a:rPr dirty="0" sz="1100" spc="10">
                <a:solidFill>
                  <a:srgbClr val="005493"/>
                </a:solidFill>
                <a:latin typeface="Lucida Sans"/>
                <a:cs typeface="Lucida Sans"/>
              </a:rPr>
              <a:t>Hash.</a:t>
            </a:r>
            <a:r>
              <a:rPr dirty="0" sz="1100" spc="10">
                <a:solidFill>
                  <a:srgbClr val="005493"/>
                </a:solidFill>
                <a:latin typeface="Lucida Sans"/>
                <a:cs typeface="Lucida Sans"/>
              </a:rPr>
              <a:t> </a:t>
            </a:r>
            <a:r>
              <a:rPr dirty="0" sz="1100" spc="10">
                <a:solidFill>
                  <a:srgbClr val="005493"/>
                </a:solidFill>
                <a:latin typeface="Lucida Sans"/>
                <a:cs typeface="Lucida Sans"/>
              </a:rPr>
              <a:t> </a:t>
            </a:r>
            <a:r>
              <a:rPr dirty="0" sz="1100" spc="10">
                <a:latin typeface="Lucida Sans"/>
                <a:cs typeface="Lucida Sans"/>
              </a:rPr>
              <a:t>Map</a:t>
            </a:r>
            <a:r>
              <a:rPr dirty="0" sz="1100" spc="5">
                <a:latin typeface="Lucida Sans"/>
                <a:cs typeface="Lucida Sans"/>
              </a:rPr>
              <a:t> </a:t>
            </a:r>
            <a:r>
              <a:rPr dirty="0" sz="1100" spc="25">
                <a:latin typeface="Lucida Sans"/>
                <a:cs typeface="Lucida Sans"/>
              </a:rPr>
              <a:t>key</a:t>
            </a:r>
            <a:r>
              <a:rPr dirty="0" sz="1100" spc="5">
                <a:latin typeface="Lucida Sans"/>
                <a:cs typeface="Lucida Sans"/>
              </a:rPr>
              <a:t> </a:t>
            </a:r>
            <a:r>
              <a:rPr dirty="0" sz="1100" spc="5">
                <a:latin typeface="Lucida Sans"/>
                <a:cs typeface="Lucida Sans"/>
              </a:rPr>
              <a:t>to</a:t>
            </a:r>
            <a:r>
              <a:rPr dirty="0" sz="1100" spc="5">
                <a:latin typeface="Lucida Sans"/>
                <a:cs typeface="Lucida Sans"/>
              </a:rPr>
              <a:t> </a:t>
            </a:r>
            <a:r>
              <a:rPr dirty="0" sz="1100" spc="5">
                <a:latin typeface="Lucida Sans"/>
                <a:cs typeface="Lucida Sans"/>
              </a:rPr>
              <a:t>integer</a:t>
            </a:r>
            <a:r>
              <a:rPr dirty="0" sz="1100" spc="5">
                <a:latin typeface="Lucida Sans"/>
                <a:cs typeface="Lucida Sans"/>
              </a:rPr>
              <a:t> </a:t>
            </a:r>
            <a:r>
              <a:rPr dirty="0" sz="900" spc="15">
                <a:latin typeface="Lucida Sans Typewriter"/>
                <a:cs typeface="Lucida Sans Typewriter"/>
              </a:rPr>
              <a:t>i</a:t>
            </a:r>
            <a:r>
              <a:rPr dirty="0" sz="900" spc="-190">
                <a:latin typeface="Lucida Sans Typewriter"/>
                <a:cs typeface="Lucida Sans Typewriter"/>
              </a:rPr>
              <a:t> </a:t>
            </a:r>
            <a:r>
              <a:rPr dirty="0" sz="1100" spc="20">
                <a:latin typeface="Lucida Sans"/>
                <a:cs typeface="Lucida Sans"/>
              </a:rPr>
              <a:t>between</a:t>
            </a:r>
            <a:r>
              <a:rPr dirty="0" sz="1100" spc="5">
                <a:latin typeface="Lucida Sans"/>
                <a:cs typeface="Lucida Sans"/>
              </a:rPr>
              <a:t> </a:t>
            </a:r>
            <a:r>
              <a:rPr dirty="0" sz="900" spc="15">
                <a:latin typeface="Lucida Sans Typewriter"/>
                <a:cs typeface="Lucida Sans Typewriter"/>
              </a:rPr>
              <a:t>0</a:t>
            </a:r>
            <a:r>
              <a:rPr dirty="0" sz="900" spc="-190">
                <a:latin typeface="Lucida Sans Typewriter"/>
                <a:cs typeface="Lucida Sans Typewriter"/>
              </a:rPr>
              <a:t> </a:t>
            </a:r>
            <a:r>
              <a:rPr dirty="0" sz="1100" spc="10">
                <a:latin typeface="Lucida Sans"/>
                <a:cs typeface="Lucida Sans"/>
              </a:rPr>
              <a:t>and</a:t>
            </a:r>
            <a:r>
              <a:rPr dirty="0" sz="1100" spc="5">
                <a:latin typeface="Lucida Sans"/>
                <a:cs typeface="Lucida Sans"/>
              </a:rPr>
              <a:t> </a:t>
            </a:r>
            <a:r>
              <a:rPr dirty="0" sz="900" spc="15">
                <a:latin typeface="Lucida Sans Typewriter"/>
                <a:cs typeface="Lucida Sans Typewriter"/>
              </a:rPr>
              <a:t>M-1</a:t>
            </a:r>
            <a:r>
              <a:rPr dirty="0" sz="1100" spc="5">
                <a:latin typeface="Lucida Sans"/>
                <a:cs typeface="Lucida Sans"/>
              </a:rPr>
              <a:t>.</a:t>
            </a:r>
            <a:endParaRPr sz="1100">
              <a:latin typeface="Lucida Sans"/>
              <a:cs typeface="Lucida Sans"/>
            </a:endParaRPr>
          </a:p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dirty="0" sz="1100" spc="5">
                <a:solidFill>
                  <a:srgbClr val="005493"/>
                </a:solidFill>
                <a:latin typeface="Lucida Sans"/>
                <a:cs typeface="Lucida Sans"/>
              </a:rPr>
              <a:t>Search.</a:t>
            </a:r>
            <a:r>
              <a:rPr dirty="0" sz="1100" spc="355">
                <a:solidFill>
                  <a:srgbClr val="005493"/>
                </a:solidFill>
                <a:latin typeface="Lucida Sans"/>
                <a:cs typeface="Lucida Sans"/>
              </a:rPr>
              <a:t> </a:t>
            </a:r>
            <a:r>
              <a:rPr dirty="0" sz="1100" spc="5">
                <a:latin typeface="Lucida Sans"/>
                <a:cs typeface="Lucida Sans"/>
              </a:rPr>
              <a:t>Search table </a:t>
            </a:r>
            <a:r>
              <a:rPr dirty="0" sz="1100" spc="10">
                <a:latin typeface="Lucida Sans"/>
                <a:cs typeface="Lucida Sans"/>
              </a:rPr>
              <a:t>index</a:t>
            </a:r>
            <a:r>
              <a:rPr dirty="0" sz="1100" spc="5">
                <a:latin typeface="Lucida Sans"/>
                <a:cs typeface="Lucida Sans"/>
              </a:rPr>
              <a:t> </a:t>
            </a:r>
            <a:r>
              <a:rPr dirty="0" sz="900" spc="10">
                <a:latin typeface="Lucida Sans Typewriter"/>
                <a:cs typeface="Lucida Sans Typewriter"/>
              </a:rPr>
              <a:t>i</a:t>
            </a:r>
            <a:r>
              <a:rPr dirty="0" sz="1100" spc="10">
                <a:latin typeface="Lucida Sans"/>
                <a:cs typeface="Lucida Sans"/>
              </a:rPr>
              <a:t>;</a:t>
            </a:r>
            <a:r>
              <a:rPr dirty="0" sz="1100" spc="5">
                <a:latin typeface="Lucida Sans"/>
                <a:cs typeface="Lucida Sans"/>
              </a:rPr>
              <a:t> if </a:t>
            </a:r>
            <a:r>
              <a:rPr dirty="0" sz="1100" spc="10">
                <a:latin typeface="Lucida Sans"/>
                <a:cs typeface="Lucida Sans"/>
              </a:rPr>
              <a:t>occupied</a:t>
            </a:r>
            <a:r>
              <a:rPr dirty="0" sz="1100" spc="5">
                <a:latin typeface="Lucida Sans"/>
                <a:cs typeface="Lucida Sans"/>
              </a:rPr>
              <a:t> </a:t>
            </a:r>
            <a:r>
              <a:rPr dirty="0" sz="1100" spc="10">
                <a:latin typeface="Lucida Sans"/>
                <a:cs typeface="Lucida Sans"/>
              </a:rPr>
              <a:t>but</a:t>
            </a:r>
            <a:r>
              <a:rPr dirty="0" sz="1100" spc="5">
                <a:latin typeface="Lucida Sans"/>
                <a:cs typeface="Lucida Sans"/>
              </a:rPr>
              <a:t> </a:t>
            </a:r>
            <a:r>
              <a:rPr dirty="0" sz="1100" spc="10">
                <a:latin typeface="Lucida Sans"/>
                <a:cs typeface="Lucida Sans"/>
              </a:rPr>
              <a:t>no</a:t>
            </a:r>
            <a:r>
              <a:rPr dirty="0" sz="1100" spc="5">
                <a:latin typeface="Lucida Sans"/>
                <a:cs typeface="Lucida Sans"/>
              </a:rPr>
              <a:t> </a:t>
            </a:r>
            <a:r>
              <a:rPr dirty="0" sz="1100" spc="10">
                <a:latin typeface="Lucida Sans"/>
                <a:cs typeface="Lucida Sans"/>
              </a:rPr>
              <a:t>match,</a:t>
            </a:r>
            <a:r>
              <a:rPr dirty="0" sz="1100" spc="5">
                <a:latin typeface="Lucida Sans"/>
                <a:cs typeface="Lucida Sans"/>
              </a:rPr>
              <a:t> </a:t>
            </a:r>
            <a:r>
              <a:rPr dirty="0" sz="1100" spc="25">
                <a:latin typeface="Lucida Sans"/>
                <a:cs typeface="Lucida Sans"/>
              </a:rPr>
              <a:t>try</a:t>
            </a:r>
            <a:r>
              <a:rPr dirty="0" sz="1100" spc="5">
                <a:latin typeface="Lucida Sans"/>
                <a:cs typeface="Lucida Sans"/>
              </a:rPr>
              <a:t> </a:t>
            </a:r>
            <a:r>
              <a:rPr dirty="0" sz="900" spc="15">
                <a:latin typeface="Lucida Sans Typewriter"/>
                <a:cs typeface="Lucida Sans Typewriter"/>
              </a:rPr>
              <a:t>i+1</a:t>
            </a:r>
            <a:r>
              <a:rPr dirty="0" sz="1100" spc="15">
                <a:latin typeface="Times New Roman"/>
                <a:cs typeface="Times New Roman"/>
              </a:rPr>
              <a:t>,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900" spc="15">
                <a:latin typeface="Lucida Sans Typewriter"/>
                <a:cs typeface="Lucida Sans Typewriter"/>
              </a:rPr>
              <a:t>i+2</a:t>
            </a:r>
            <a:r>
              <a:rPr dirty="0" sz="1100" spc="15">
                <a:latin typeface="Lucida Sans"/>
                <a:cs typeface="Lucida Sans"/>
              </a:rPr>
              <a:t>,</a:t>
            </a:r>
            <a:r>
              <a:rPr dirty="0" sz="1100" spc="5">
                <a:latin typeface="Lucida Sans"/>
                <a:cs typeface="Lucida Sans"/>
              </a:rPr>
              <a:t> </a:t>
            </a:r>
            <a:r>
              <a:rPr dirty="0" sz="1100" spc="10">
                <a:latin typeface="Lucida Sans"/>
                <a:cs typeface="Lucida Sans"/>
              </a:rPr>
              <a:t>etc.</a:t>
            </a:r>
            <a:endParaRPr sz="1100">
              <a:latin typeface="Lucida Sans"/>
              <a:cs typeface="Lucida Sans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739997" y="5125877"/>
            <a:ext cx="2413000" cy="2247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00" spc="10">
                <a:latin typeface="Arial"/>
                <a:cs typeface="Arial"/>
              </a:rPr>
              <a:t>Linear-probing</a:t>
            </a:r>
            <a:r>
              <a:rPr dirty="0" sz="1300" spc="20">
                <a:latin typeface="Arial"/>
                <a:cs typeface="Arial"/>
              </a:rPr>
              <a:t> </a:t>
            </a:r>
            <a:r>
              <a:rPr dirty="0" sz="1300" spc="-20">
                <a:latin typeface="Arial"/>
                <a:cs typeface="Arial"/>
              </a:rPr>
              <a:t>hash</a:t>
            </a:r>
            <a:r>
              <a:rPr dirty="0" sz="1300" spc="20">
                <a:latin typeface="Arial"/>
                <a:cs typeface="Arial"/>
              </a:rPr>
              <a:t> </a:t>
            </a:r>
            <a:r>
              <a:rPr dirty="0" sz="1300" spc="30">
                <a:latin typeface="Arial"/>
                <a:cs typeface="Arial"/>
              </a:rPr>
              <a:t>table</a:t>
            </a:r>
            <a:r>
              <a:rPr dirty="0" sz="1300" spc="20">
                <a:latin typeface="Arial"/>
                <a:cs typeface="Arial"/>
              </a:rPr>
              <a:t> </a:t>
            </a:r>
            <a:r>
              <a:rPr dirty="0" sz="1300" spc="15">
                <a:latin typeface="Arial"/>
                <a:cs typeface="Arial"/>
              </a:rPr>
              <a:t>demo</a:t>
            </a:r>
            <a:endParaRPr sz="1300">
              <a:latin typeface="Arial"/>
              <a:cs typeface="Arial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1341732" y="7815389"/>
            <a:ext cx="78105" cy="1250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50">
                <a:latin typeface="Lucida Sans"/>
                <a:cs typeface="Lucida Sans"/>
              </a:rPr>
              <a:t>0</a:t>
            </a:r>
            <a:endParaRPr sz="650">
              <a:latin typeface="Lucida Sans"/>
              <a:cs typeface="Lucida Sans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1642165" y="7815389"/>
            <a:ext cx="78105" cy="1250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50">
                <a:latin typeface="Lucida Sans"/>
                <a:cs typeface="Lucida Sans"/>
              </a:rPr>
              <a:t>1</a:t>
            </a:r>
            <a:endParaRPr sz="650">
              <a:latin typeface="Lucida Sans"/>
              <a:cs typeface="Lucida Sans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1936674" y="7815389"/>
            <a:ext cx="78105" cy="1250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50">
                <a:latin typeface="Lucida Sans"/>
                <a:cs typeface="Lucida Sans"/>
              </a:rPr>
              <a:t>2</a:t>
            </a:r>
            <a:endParaRPr sz="650">
              <a:latin typeface="Lucida Sans"/>
              <a:cs typeface="Lucida Sans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2231183" y="7815389"/>
            <a:ext cx="78105" cy="1250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50">
                <a:latin typeface="Lucida Sans"/>
                <a:cs typeface="Lucida Sans"/>
              </a:rPr>
              <a:t>3</a:t>
            </a:r>
            <a:endParaRPr sz="650">
              <a:latin typeface="Lucida Sans"/>
              <a:cs typeface="Lucida Sans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2531617" y="7815389"/>
            <a:ext cx="78105" cy="1250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50">
                <a:latin typeface="Lucida Sans"/>
                <a:cs typeface="Lucida Sans"/>
              </a:rPr>
              <a:t>4</a:t>
            </a:r>
            <a:endParaRPr sz="650">
              <a:latin typeface="Lucida Sans"/>
              <a:cs typeface="Lucida Sans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2826126" y="7815389"/>
            <a:ext cx="78105" cy="1250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50">
                <a:latin typeface="Lucida Sans"/>
                <a:cs typeface="Lucida Sans"/>
              </a:rPr>
              <a:t>5</a:t>
            </a:r>
            <a:endParaRPr sz="650">
              <a:latin typeface="Lucida Sans"/>
              <a:cs typeface="Lucida Sans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3120635" y="7815389"/>
            <a:ext cx="78105" cy="1250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50">
                <a:latin typeface="Lucida Sans"/>
                <a:cs typeface="Lucida Sans"/>
              </a:rPr>
              <a:t>6</a:t>
            </a:r>
            <a:endParaRPr sz="650">
              <a:latin typeface="Lucida Sans"/>
              <a:cs typeface="Lucida Sans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3415144" y="7815389"/>
            <a:ext cx="78105" cy="1250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50">
                <a:latin typeface="Lucida Sans"/>
                <a:cs typeface="Lucida Sans"/>
              </a:rPr>
              <a:t>7</a:t>
            </a:r>
            <a:endParaRPr sz="650">
              <a:latin typeface="Lucida Sans"/>
              <a:cs typeface="Lucida Sans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3715578" y="7815389"/>
            <a:ext cx="78105" cy="1250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50">
                <a:latin typeface="Lucida Sans"/>
                <a:cs typeface="Lucida Sans"/>
              </a:rPr>
              <a:t>8</a:t>
            </a:r>
            <a:endParaRPr sz="650">
              <a:latin typeface="Lucida Sans"/>
              <a:cs typeface="Lucida Sans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4010087" y="7815389"/>
            <a:ext cx="78105" cy="1250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50">
                <a:latin typeface="Lucida Sans"/>
                <a:cs typeface="Lucida Sans"/>
              </a:rPr>
              <a:t>9</a:t>
            </a:r>
            <a:endParaRPr sz="650">
              <a:latin typeface="Lucida Sans"/>
              <a:cs typeface="Lucida Sans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812902" y="8043042"/>
            <a:ext cx="282575" cy="15367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800" spc="20">
                <a:latin typeface="Lucida Sans Typewriter"/>
                <a:cs typeface="Lucida Sans Typewriter"/>
              </a:rPr>
              <a:t>st[]</a:t>
            </a:r>
            <a:endParaRPr sz="800">
              <a:latin typeface="Lucida Sans Typewriter"/>
              <a:cs typeface="Lucida Sans Typewriter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4278346" y="7815389"/>
            <a:ext cx="130810" cy="1250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50">
                <a:latin typeface="Lucida Sans"/>
                <a:cs typeface="Lucida Sans"/>
              </a:rPr>
              <a:t>10</a:t>
            </a:r>
            <a:endParaRPr sz="650">
              <a:latin typeface="Lucida Sans"/>
              <a:cs typeface="Lucida Sans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4578779" y="7815389"/>
            <a:ext cx="130810" cy="1250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50">
                <a:latin typeface="Lucida Sans"/>
                <a:cs typeface="Lucida Sans"/>
              </a:rPr>
              <a:t>11</a:t>
            </a:r>
            <a:endParaRPr sz="650">
              <a:latin typeface="Lucida Sans"/>
              <a:cs typeface="Lucida Sans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4873288" y="7815389"/>
            <a:ext cx="130810" cy="1250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50">
                <a:latin typeface="Lucida Sans"/>
                <a:cs typeface="Lucida Sans"/>
              </a:rPr>
              <a:t>12</a:t>
            </a:r>
            <a:endParaRPr sz="650">
              <a:latin typeface="Lucida Sans"/>
              <a:cs typeface="Lucida Sans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5167798" y="7815389"/>
            <a:ext cx="130810" cy="1250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50">
                <a:latin typeface="Lucida Sans"/>
                <a:cs typeface="Lucida Sans"/>
              </a:rPr>
              <a:t>13</a:t>
            </a:r>
            <a:endParaRPr sz="650">
              <a:latin typeface="Lucida Sans"/>
              <a:cs typeface="Lucida Sans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5462308" y="7815389"/>
            <a:ext cx="130810" cy="1250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50">
                <a:latin typeface="Lucida Sans"/>
                <a:cs typeface="Lucida Sans"/>
              </a:rPr>
              <a:t>14</a:t>
            </a:r>
            <a:endParaRPr sz="650">
              <a:latin typeface="Lucida Sans"/>
              <a:cs typeface="Lucida Sans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5762740" y="7815389"/>
            <a:ext cx="130810" cy="1250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50">
                <a:latin typeface="Lucida Sans"/>
                <a:cs typeface="Lucida Sans"/>
              </a:rPr>
              <a:t>15</a:t>
            </a:r>
            <a:endParaRPr sz="650">
              <a:latin typeface="Lucida Sans"/>
              <a:cs typeface="Lucida Sans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681891" y="8366324"/>
            <a:ext cx="410845" cy="15367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800" spc="20">
                <a:latin typeface="Lucida Sans Typewriter"/>
                <a:cs typeface="Lucida Sans Typewriter"/>
              </a:rPr>
              <a:t>M</a:t>
            </a:r>
            <a:r>
              <a:rPr dirty="0" sz="800" spc="-20"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=</a:t>
            </a:r>
            <a:r>
              <a:rPr dirty="0" sz="800" spc="-20"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16</a:t>
            </a:r>
            <a:endParaRPr sz="800">
              <a:latin typeface="Lucida Sans Typewriter"/>
              <a:cs typeface="Lucida Sans Typewriter"/>
            </a:endParaRPr>
          </a:p>
        </p:txBody>
      </p:sp>
      <p:graphicFrame>
        <p:nvGraphicFramePr>
          <p:cNvPr id="75" name="object 75"/>
          <p:cNvGraphicFramePr>
            <a:graphicFrameLocks noGrp="1"/>
          </p:cNvGraphicFramePr>
          <p:nvPr/>
        </p:nvGraphicFramePr>
        <p:xfrm>
          <a:off x="1231099" y="7988250"/>
          <a:ext cx="4748530" cy="2959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8450"/>
                <a:gridCol w="297815"/>
                <a:gridCol w="294640"/>
                <a:gridCol w="297815"/>
                <a:gridCol w="297815"/>
                <a:gridCol w="294639"/>
                <a:gridCol w="294639"/>
                <a:gridCol w="297814"/>
                <a:gridCol w="297814"/>
                <a:gridCol w="294639"/>
                <a:gridCol w="297814"/>
                <a:gridCol w="297814"/>
                <a:gridCol w="294639"/>
                <a:gridCol w="294639"/>
                <a:gridCol w="297814"/>
                <a:gridCol w="298450"/>
              </a:tblGrid>
              <a:tr h="295910"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dirty="0" sz="900">
                          <a:latin typeface="Lucida Sans"/>
                          <a:cs typeface="Lucida Sans"/>
                        </a:rPr>
                        <a:t>P</a:t>
                      </a:r>
                      <a:endParaRPr sz="900">
                        <a:latin typeface="Lucida Sans"/>
                        <a:cs typeface="Lucida Sans"/>
                      </a:endParaRPr>
                    </a:p>
                  </a:txBody>
                  <a:tcPr marL="0" marR="0" marB="0" marT="67310">
                    <a:lnL w="317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3175">
                      <a:solidFill>
                        <a:srgbClr val="FFFFFF"/>
                      </a:solidFill>
                      <a:prstDash val="solid"/>
                    </a:lnT>
                    <a:lnB w="3175">
                      <a:solidFill>
                        <a:srgbClr val="FFFFFF"/>
                      </a:solidFill>
                      <a:prstDash val="solid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dirty="0" sz="900">
                          <a:latin typeface="Lucida Sans"/>
                          <a:cs typeface="Lucida Sans"/>
                        </a:rPr>
                        <a:t>M</a:t>
                      </a:r>
                      <a:endParaRPr sz="900">
                        <a:latin typeface="Lucida Sans"/>
                        <a:cs typeface="Lucida Sans"/>
                      </a:endParaRPr>
                    </a:p>
                  </a:txBody>
                  <a:tcPr marL="0" marR="0" marB="0" marT="67310">
                    <a:lnL w="9525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3175">
                      <a:solidFill>
                        <a:srgbClr val="FFFFFF"/>
                      </a:solidFill>
                      <a:prstDash val="solid"/>
                    </a:lnT>
                    <a:lnB w="3175">
                      <a:solidFill>
                        <a:srgbClr val="FFFFFF"/>
                      </a:solidFill>
                      <a:prstDash val="solid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3175">
                      <a:solidFill>
                        <a:srgbClr val="FFFFFF"/>
                      </a:solidFill>
                      <a:prstDash val="solid"/>
                    </a:lnT>
                    <a:lnB w="3175">
                      <a:solidFill>
                        <a:srgbClr val="FFFFFF"/>
                      </a:solidFill>
                      <a:prstDash val="solid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3175">
                      <a:solidFill>
                        <a:srgbClr val="FFFFFF"/>
                      </a:solidFill>
                      <a:prstDash val="solid"/>
                    </a:lnT>
                    <a:lnB w="3175">
                      <a:solidFill>
                        <a:srgbClr val="FFFFFF"/>
                      </a:solidFill>
                      <a:prstDash val="solid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dirty="0" sz="900">
                          <a:latin typeface="Lucida Sans"/>
                          <a:cs typeface="Lucida Sans"/>
                        </a:rPr>
                        <a:t>A</a:t>
                      </a:r>
                      <a:endParaRPr sz="900">
                        <a:latin typeface="Lucida Sans"/>
                        <a:cs typeface="Lucida Sans"/>
                      </a:endParaRPr>
                    </a:p>
                  </a:txBody>
                  <a:tcPr marL="0" marR="0" marB="0" marT="67310">
                    <a:lnL w="9525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3175">
                      <a:solidFill>
                        <a:srgbClr val="FFFFFF"/>
                      </a:solidFill>
                      <a:prstDash val="solid"/>
                    </a:lnT>
                    <a:lnB w="3175">
                      <a:solidFill>
                        <a:srgbClr val="FFFFFF"/>
                      </a:solidFill>
                      <a:prstDash val="solid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dirty="0" sz="900">
                          <a:latin typeface="Lucida Sans"/>
                          <a:cs typeface="Lucida Sans"/>
                        </a:rPr>
                        <a:t>C</a:t>
                      </a:r>
                      <a:endParaRPr sz="900">
                        <a:latin typeface="Lucida Sans"/>
                        <a:cs typeface="Lucida Sans"/>
                      </a:endParaRPr>
                    </a:p>
                  </a:txBody>
                  <a:tcPr marL="0" marR="0" marB="0" marT="6731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3175">
                      <a:solidFill>
                        <a:srgbClr val="FFFFFF"/>
                      </a:solidFill>
                      <a:prstDash val="solid"/>
                    </a:lnT>
                    <a:lnB w="3175">
                      <a:solidFill>
                        <a:srgbClr val="FFFFFF"/>
                      </a:solidFill>
                      <a:prstDash val="solid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dirty="0" sz="900">
                          <a:latin typeface="Lucida Sans"/>
                          <a:cs typeface="Lucida Sans"/>
                        </a:rPr>
                        <a:t>S</a:t>
                      </a:r>
                      <a:endParaRPr sz="900">
                        <a:latin typeface="Lucida Sans"/>
                        <a:cs typeface="Lucida Sans"/>
                      </a:endParaRPr>
                    </a:p>
                  </a:txBody>
                  <a:tcPr marL="0" marR="0" marB="0" marT="6731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3175">
                      <a:solidFill>
                        <a:srgbClr val="FFFFFF"/>
                      </a:solidFill>
                      <a:prstDash val="solid"/>
                    </a:lnT>
                    <a:lnB w="3175">
                      <a:solidFill>
                        <a:srgbClr val="FFFFFF"/>
                      </a:solidFill>
                      <a:prstDash val="solid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dirty="0" sz="900">
                          <a:latin typeface="Lucida Sans"/>
                          <a:cs typeface="Lucida Sans"/>
                        </a:rPr>
                        <a:t>H</a:t>
                      </a:r>
                      <a:endParaRPr sz="900">
                        <a:latin typeface="Lucida Sans"/>
                        <a:cs typeface="Lucida Sans"/>
                      </a:endParaRPr>
                    </a:p>
                  </a:txBody>
                  <a:tcPr marL="0" marR="0" marB="0" marT="67310">
                    <a:lnL w="6350">
                      <a:solidFill>
                        <a:srgbClr val="FFFFFF"/>
                      </a:solidFill>
                      <a:prstDash val="solid"/>
                    </a:lnL>
                    <a:lnR w="3175">
                      <a:solidFill>
                        <a:srgbClr val="FFFFFF"/>
                      </a:solidFill>
                      <a:prstDash val="solid"/>
                    </a:lnR>
                    <a:lnT w="3175">
                      <a:solidFill>
                        <a:srgbClr val="FFFFFF"/>
                      </a:solidFill>
                      <a:prstDash val="solid"/>
                    </a:lnT>
                    <a:lnB w="3175">
                      <a:solidFill>
                        <a:srgbClr val="FFFFFF"/>
                      </a:solidFill>
                      <a:prstDash val="solid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dirty="0" sz="900">
                          <a:latin typeface="Lucida Sans"/>
                          <a:cs typeface="Lucida Sans"/>
                        </a:rPr>
                        <a:t>L</a:t>
                      </a:r>
                      <a:endParaRPr sz="900">
                        <a:latin typeface="Lucida Sans"/>
                        <a:cs typeface="Lucida Sans"/>
                      </a:endParaRPr>
                    </a:p>
                  </a:txBody>
                  <a:tcPr marL="0" marR="0" marB="0" marT="67310">
                    <a:lnL w="3175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3175">
                      <a:solidFill>
                        <a:srgbClr val="FFFFFF"/>
                      </a:solidFill>
                      <a:prstDash val="solid"/>
                    </a:lnT>
                    <a:lnB w="3175">
                      <a:solidFill>
                        <a:srgbClr val="FFFFFF"/>
                      </a:solidFill>
                      <a:prstDash val="solid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3175">
                      <a:solidFill>
                        <a:srgbClr val="FFFFFF"/>
                      </a:solidFill>
                      <a:prstDash val="solid"/>
                    </a:lnT>
                    <a:lnB w="3175">
                      <a:solidFill>
                        <a:srgbClr val="FFFFFF"/>
                      </a:solidFill>
                      <a:prstDash val="solid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dirty="0" sz="900">
                          <a:latin typeface="Lucida Sans"/>
                          <a:cs typeface="Lucida Sans"/>
                        </a:rPr>
                        <a:t>E</a:t>
                      </a:r>
                      <a:endParaRPr sz="900">
                        <a:latin typeface="Lucida Sans"/>
                        <a:cs typeface="Lucida Sans"/>
                      </a:endParaRPr>
                    </a:p>
                  </a:txBody>
                  <a:tcPr marL="0" marR="0" marB="0" marT="67310">
                    <a:lnL w="6350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3175">
                      <a:solidFill>
                        <a:srgbClr val="FFFFFF"/>
                      </a:solidFill>
                      <a:prstDash val="solid"/>
                    </a:lnT>
                    <a:lnB w="3175">
                      <a:solidFill>
                        <a:srgbClr val="FFFFFF"/>
                      </a:solidFill>
                      <a:prstDash val="solid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3175">
                      <a:solidFill>
                        <a:srgbClr val="FFFFFF"/>
                      </a:solidFill>
                      <a:prstDash val="solid"/>
                    </a:lnT>
                    <a:lnB w="3175">
                      <a:solidFill>
                        <a:srgbClr val="FFFFFF"/>
                      </a:solidFill>
                      <a:prstDash val="solid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3175">
                      <a:solidFill>
                        <a:srgbClr val="FFFFFF"/>
                      </a:solidFill>
                      <a:prstDash val="solid"/>
                    </a:lnT>
                    <a:lnB w="3175">
                      <a:solidFill>
                        <a:srgbClr val="FFFFFF"/>
                      </a:solidFill>
                      <a:prstDash val="solid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3175">
                      <a:solidFill>
                        <a:srgbClr val="FFFFFF"/>
                      </a:solidFill>
                      <a:prstDash val="solid"/>
                    </a:lnT>
                    <a:lnB w="3175">
                      <a:solidFill>
                        <a:srgbClr val="FFFFFF"/>
                      </a:solidFill>
                      <a:prstDash val="solid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dirty="0" sz="900">
                          <a:latin typeface="Lucida Sans"/>
                          <a:cs typeface="Lucida Sans"/>
                        </a:rPr>
                        <a:t>R</a:t>
                      </a:r>
                      <a:endParaRPr sz="900">
                        <a:latin typeface="Lucida Sans"/>
                        <a:cs typeface="Lucida Sans"/>
                      </a:endParaRPr>
                    </a:p>
                  </a:txBody>
                  <a:tcPr marL="0" marR="0" marB="0" marT="67310">
                    <a:lnL w="6350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3175">
                      <a:solidFill>
                        <a:srgbClr val="FFFFFF"/>
                      </a:solidFill>
                      <a:prstDash val="solid"/>
                    </a:lnT>
                    <a:lnB w="3175">
                      <a:solidFill>
                        <a:srgbClr val="FFFFFF"/>
                      </a:solidFill>
                      <a:prstDash val="solid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dirty="0" sz="900">
                          <a:latin typeface="Lucida Sans"/>
                          <a:cs typeface="Lucida Sans"/>
                        </a:rPr>
                        <a:t>X</a:t>
                      </a:r>
                      <a:endParaRPr sz="900">
                        <a:latin typeface="Lucida Sans"/>
                        <a:cs typeface="Lucida Sans"/>
                      </a:endParaRPr>
                    </a:p>
                  </a:txBody>
                  <a:tcPr marL="0" marR="0" marB="0" marT="67310">
                    <a:lnL w="9525">
                      <a:solidFill>
                        <a:srgbClr val="FFFFFF"/>
                      </a:solidFill>
                      <a:prstDash val="solid"/>
                    </a:lnL>
                    <a:lnR w="3175">
                      <a:solidFill>
                        <a:srgbClr val="FFFFFF"/>
                      </a:solidFill>
                      <a:prstDash val="solid"/>
                    </a:lnR>
                    <a:lnT w="3175">
                      <a:solidFill>
                        <a:srgbClr val="FFFFFF"/>
                      </a:solidFill>
                      <a:prstDash val="solid"/>
                    </a:lnT>
                    <a:lnB w="3175">
                      <a:solidFill>
                        <a:srgbClr val="FFFFFF"/>
                      </a:solidFill>
                      <a:prstDash val="solid"/>
                    </a:lnB>
                    <a:solidFill>
                      <a:srgbClr val="D5D5D5"/>
                    </a:solidFill>
                  </a:tcPr>
                </a:tc>
              </a:tr>
            </a:tbl>
          </a:graphicData>
        </a:graphic>
      </p:graphicFrame>
      <p:sp>
        <p:nvSpPr>
          <p:cNvPr id="76" name="object 76"/>
          <p:cNvSpPr txBox="1"/>
          <p:nvPr/>
        </p:nvSpPr>
        <p:spPr>
          <a:xfrm>
            <a:off x="817009" y="6796455"/>
            <a:ext cx="677545" cy="39306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33900"/>
              </a:lnSpc>
              <a:spcBef>
                <a:spcPts val="90"/>
              </a:spcBef>
            </a:pPr>
            <a:r>
              <a:rPr dirty="0" sz="900" spc="10">
                <a:solidFill>
                  <a:srgbClr val="8D3124"/>
                </a:solidFill>
                <a:latin typeface="Lucida Sans"/>
                <a:cs typeface="Lucida Sans"/>
              </a:rPr>
              <a:t>search</a:t>
            </a:r>
            <a:r>
              <a:rPr dirty="0" sz="900" spc="15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dirty="0" sz="900" spc="20">
                <a:solidFill>
                  <a:srgbClr val="8D3124"/>
                </a:solidFill>
                <a:latin typeface="Lucida Sans"/>
                <a:cs typeface="Lucida Sans"/>
              </a:rPr>
              <a:t>K </a:t>
            </a:r>
            <a:r>
              <a:rPr dirty="0" sz="900" spc="25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dirty="0" sz="900" spc="15">
                <a:solidFill>
                  <a:srgbClr val="8D3124"/>
                </a:solidFill>
                <a:latin typeface="Lucida Sans"/>
                <a:cs typeface="Lucida Sans"/>
              </a:rPr>
              <a:t>hash(K)</a:t>
            </a:r>
            <a:r>
              <a:rPr dirty="0" sz="900" spc="-35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dirty="0" sz="900" spc="20">
                <a:solidFill>
                  <a:srgbClr val="8D3124"/>
                </a:solidFill>
                <a:latin typeface="Lucida Sans"/>
                <a:cs typeface="Lucida Sans"/>
              </a:rPr>
              <a:t>=</a:t>
            </a:r>
            <a:r>
              <a:rPr dirty="0" sz="900" spc="-30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dirty="0" sz="900" spc="20">
                <a:solidFill>
                  <a:srgbClr val="8D3124"/>
                </a:solidFill>
                <a:latin typeface="Lucida Sans"/>
                <a:cs typeface="Lucida Sans"/>
              </a:rPr>
              <a:t>5</a:t>
            </a:r>
            <a:endParaRPr sz="900">
              <a:latin typeface="Lucida Sans"/>
              <a:cs typeface="Lucida Sans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3733932" y="8336705"/>
            <a:ext cx="570865" cy="49466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algn="ctr" marL="58419">
              <a:lnSpc>
                <a:spcPct val="100000"/>
              </a:lnSpc>
              <a:spcBef>
                <a:spcPts val="130"/>
              </a:spcBef>
            </a:pPr>
            <a:r>
              <a:rPr dirty="0" sz="900" spc="20">
                <a:solidFill>
                  <a:srgbClr val="8D3124"/>
                </a:solidFill>
                <a:latin typeface="Lucida Sans"/>
                <a:cs typeface="Lucida Sans"/>
              </a:rPr>
              <a:t>K</a:t>
            </a:r>
            <a:endParaRPr sz="900">
              <a:latin typeface="Lucida Sans"/>
              <a:cs typeface="Lucida Sans"/>
            </a:endParaRPr>
          </a:p>
          <a:p>
            <a:pPr algn="ctr" marL="12700" marR="5080">
              <a:lnSpc>
                <a:spcPct val="119200"/>
              </a:lnSpc>
              <a:spcBef>
                <a:spcPts val="439"/>
              </a:spcBef>
            </a:pPr>
            <a:r>
              <a:rPr dirty="0" sz="750" spc="-5">
                <a:solidFill>
                  <a:srgbClr val="8D3124"/>
                </a:solidFill>
                <a:latin typeface="Lucida Sans"/>
                <a:cs typeface="Lucida Sans"/>
              </a:rPr>
              <a:t>sea</a:t>
            </a:r>
            <a:r>
              <a:rPr dirty="0" sz="750" spc="-20">
                <a:solidFill>
                  <a:srgbClr val="8D3124"/>
                </a:solidFill>
                <a:latin typeface="Lucida Sans"/>
                <a:cs typeface="Lucida Sans"/>
              </a:rPr>
              <a:t>r</a:t>
            </a:r>
            <a:r>
              <a:rPr dirty="0" sz="750" spc="-5">
                <a:solidFill>
                  <a:srgbClr val="8D3124"/>
                </a:solidFill>
                <a:latin typeface="Lucida Sans"/>
                <a:cs typeface="Lucida Sans"/>
              </a:rPr>
              <a:t>ch</a:t>
            </a:r>
            <a:r>
              <a:rPr dirty="0" sz="750" spc="-5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dirty="0" sz="750" spc="-5">
                <a:solidFill>
                  <a:srgbClr val="8D3124"/>
                </a:solidFill>
                <a:latin typeface="Lucida Sans"/>
                <a:cs typeface="Lucida Sans"/>
              </a:rPr>
              <a:t>miss  </a:t>
            </a:r>
            <a:r>
              <a:rPr dirty="0" sz="750" spc="-5">
                <a:solidFill>
                  <a:srgbClr val="8D3124"/>
                </a:solidFill>
                <a:latin typeface="Lucida Sans"/>
                <a:cs typeface="Lucida Sans"/>
              </a:rPr>
              <a:t>(</a:t>
            </a:r>
            <a:r>
              <a:rPr dirty="0" sz="750" spc="-20">
                <a:solidFill>
                  <a:srgbClr val="8D3124"/>
                </a:solidFill>
                <a:latin typeface="Lucida Sans"/>
                <a:cs typeface="Lucida Sans"/>
              </a:rPr>
              <a:t>r</a:t>
            </a:r>
            <a:r>
              <a:rPr dirty="0" sz="750" spc="-5">
                <a:solidFill>
                  <a:srgbClr val="8D3124"/>
                </a:solidFill>
                <a:latin typeface="Lucida Sans"/>
                <a:cs typeface="Lucida Sans"/>
              </a:rPr>
              <a:t>eturn</a:t>
            </a:r>
            <a:r>
              <a:rPr dirty="0" sz="750" spc="-5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dirty="0" sz="750" spc="-5">
                <a:solidFill>
                  <a:srgbClr val="8D3124"/>
                </a:solidFill>
                <a:latin typeface="Lucida Sans"/>
                <a:cs typeface="Lucida Sans"/>
              </a:rPr>
              <a:t>null)</a:t>
            </a:r>
            <a:endParaRPr sz="750">
              <a:latin typeface="Lucida Sans"/>
              <a:cs typeface="Lucida Sans"/>
            </a:endParaRPr>
          </a:p>
        </p:txBody>
      </p:sp>
      <p:grpSp>
        <p:nvGrpSpPr>
          <p:cNvPr id="78" name="object 78"/>
          <p:cNvGrpSpPr/>
          <p:nvPr/>
        </p:nvGrpSpPr>
        <p:grpSpPr>
          <a:xfrm>
            <a:off x="6592379" y="4966780"/>
            <a:ext cx="6066790" cy="4549775"/>
            <a:chOff x="6592379" y="4966780"/>
            <a:chExt cx="6066790" cy="4549775"/>
          </a:xfrm>
        </p:grpSpPr>
        <p:sp>
          <p:nvSpPr>
            <p:cNvPr id="79" name="object 79"/>
            <p:cNvSpPr/>
            <p:nvPr/>
          </p:nvSpPr>
          <p:spPr>
            <a:xfrm>
              <a:off x="6592379" y="4966780"/>
              <a:ext cx="6066790" cy="4549775"/>
            </a:xfrm>
            <a:custGeom>
              <a:avLst/>
              <a:gdLst/>
              <a:ahLst/>
              <a:cxnLst/>
              <a:rect l="l" t="t" r="r" b="b"/>
              <a:pathLst>
                <a:path w="6066790" h="4549775">
                  <a:moveTo>
                    <a:pt x="0" y="0"/>
                  </a:moveTo>
                  <a:lnTo>
                    <a:pt x="6066212" y="0"/>
                  </a:lnTo>
                  <a:lnTo>
                    <a:pt x="6066212" y="4549659"/>
                  </a:lnTo>
                  <a:lnTo>
                    <a:pt x="0" y="45496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0" name="object 80"/>
            <p:cNvSpPr/>
            <p:nvPr/>
          </p:nvSpPr>
          <p:spPr>
            <a:xfrm>
              <a:off x="6977442" y="5428805"/>
              <a:ext cx="5302250" cy="635"/>
            </a:xfrm>
            <a:custGeom>
              <a:avLst/>
              <a:gdLst/>
              <a:ahLst/>
              <a:cxnLst/>
              <a:rect l="l" t="t" r="r" b="b"/>
              <a:pathLst>
                <a:path w="5302250" h="635">
                  <a:moveTo>
                    <a:pt x="0" y="49"/>
                  </a:moveTo>
                  <a:lnTo>
                    <a:pt x="5302012" y="0"/>
                  </a:lnTo>
                </a:path>
              </a:pathLst>
            </a:custGeom>
            <a:ln w="59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1" name="object 81"/>
          <p:cNvSpPr txBox="1"/>
          <p:nvPr/>
        </p:nvSpPr>
        <p:spPr>
          <a:xfrm>
            <a:off x="6986199" y="5527527"/>
            <a:ext cx="4989830" cy="718820"/>
          </a:xfrm>
          <a:prstGeom prst="rect">
            <a:avLst/>
          </a:prstGeom>
        </p:spPr>
        <p:txBody>
          <a:bodyPr wrap="square" lIns="0" tIns="755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95"/>
              </a:spcBef>
            </a:pPr>
            <a:r>
              <a:rPr dirty="0" sz="1100" spc="10">
                <a:solidFill>
                  <a:srgbClr val="005493"/>
                </a:solidFill>
                <a:latin typeface="Lucida Sans"/>
                <a:cs typeface="Lucida Sans"/>
              </a:rPr>
              <a:t>Hash.</a:t>
            </a:r>
            <a:r>
              <a:rPr dirty="0" sz="1100" spc="10">
                <a:solidFill>
                  <a:srgbClr val="005493"/>
                </a:solidFill>
                <a:latin typeface="Lucida Sans"/>
                <a:cs typeface="Lucida Sans"/>
              </a:rPr>
              <a:t> </a:t>
            </a:r>
            <a:r>
              <a:rPr dirty="0" sz="1100" spc="10">
                <a:solidFill>
                  <a:srgbClr val="005493"/>
                </a:solidFill>
                <a:latin typeface="Lucida Sans"/>
                <a:cs typeface="Lucida Sans"/>
              </a:rPr>
              <a:t> </a:t>
            </a:r>
            <a:r>
              <a:rPr dirty="0" sz="1100" spc="10">
                <a:latin typeface="Lucida Sans"/>
                <a:cs typeface="Lucida Sans"/>
              </a:rPr>
              <a:t>Map</a:t>
            </a:r>
            <a:r>
              <a:rPr dirty="0" sz="1100" spc="5">
                <a:latin typeface="Lucida Sans"/>
                <a:cs typeface="Lucida Sans"/>
              </a:rPr>
              <a:t> </a:t>
            </a:r>
            <a:r>
              <a:rPr dirty="0" sz="1100" spc="25">
                <a:latin typeface="Lucida Sans"/>
                <a:cs typeface="Lucida Sans"/>
              </a:rPr>
              <a:t>key</a:t>
            </a:r>
            <a:r>
              <a:rPr dirty="0" sz="1100" spc="5">
                <a:latin typeface="Lucida Sans"/>
                <a:cs typeface="Lucida Sans"/>
              </a:rPr>
              <a:t> </a:t>
            </a:r>
            <a:r>
              <a:rPr dirty="0" sz="1100" spc="5">
                <a:latin typeface="Lucida Sans"/>
                <a:cs typeface="Lucida Sans"/>
              </a:rPr>
              <a:t>to</a:t>
            </a:r>
            <a:r>
              <a:rPr dirty="0" sz="1100" spc="5">
                <a:latin typeface="Lucida Sans"/>
                <a:cs typeface="Lucida Sans"/>
              </a:rPr>
              <a:t> </a:t>
            </a:r>
            <a:r>
              <a:rPr dirty="0" sz="1100" spc="5">
                <a:latin typeface="Lucida Sans"/>
                <a:cs typeface="Lucida Sans"/>
              </a:rPr>
              <a:t>integer</a:t>
            </a:r>
            <a:r>
              <a:rPr dirty="0" sz="1100" spc="5">
                <a:latin typeface="Lucida Sans"/>
                <a:cs typeface="Lucida Sans"/>
              </a:rPr>
              <a:t> </a:t>
            </a:r>
            <a:r>
              <a:rPr dirty="0" sz="900" spc="15">
                <a:latin typeface="Lucida Sans Typewriter"/>
                <a:cs typeface="Lucida Sans Typewriter"/>
              </a:rPr>
              <a:t>i</a:t>
            </a:r>
            <a:r>
              <a:rPr dirty="0" sz="900" spc="-190">
                <a:latin typeface="Lucida Sans Typewriter"/>
                <a:cs typeface="Lucida Sans Typewriter"/>
              </a:rPr>
              <a:t> </a:t>
            </a:r>
            <a:r>
              <a:rPr dirty="0" sz="1100" spc="20">
                <a:latin typeface="Lucida Sans"/>
                <a:cs typeface="Lucida Sans"/>
              </a:rPr>
              <a:t>between</a:t>
            </a:r>
            <a:r>
              <a:rPr dirty="0" sz="1100" spc="5">
                <a:latin typeface="Lucida Sans"/>
                <a:cs typeface="Lucida Sans"/>
              </a:rPr>
              <a:t> </a:t>
            </a:r>
            <a:r>
              <a:rPr dirty="0" sz="900" spc="15">
                <a:latin typeface="Lucida Sans Typewriter"/>
                <a:cs typeface="Lucida Sans Typewriter"/>
              </a:rPr>
              <a:t>0</a:t>
            </a:r>
            <a:r>
              <a:rPr dirty="0" sz="900" spc="-190">
                <a:latin typeface="Lucida Sans Typewriter"/>
                <a:cs typeface="Lucida Sans Typewriter"/>
              </a:rPr>
              <a:t> </a:t>
            </a:r>
            <a:r>
              <a:rPr dirty="0" sz="1100" spc="10">
                <a:latin typeface="Lucida Sans"/>
                <a:cs typeface="Lucida Sans"/>
              </a:rPr>
              <a:t>and</a:t>
            </a:r>
            <a:r>
              <a:rPr dirty="0" sz="1100" spc="5">
                <a:latin typeface="Lucida Sans"/>
                <a:cs typeface="Lucida Sans"/>
              </a:rPr>
              <a:t> </a:t>
            </a:r>
            <a:r>
              <a:rPr dirty="0" sz="900" spc="15">
                <a:latin typeface="Lucida Sans Typewriter"/>
                <a:cs typeface="Lucida Sans Typewriter"/>
              </a:rPr>
              <a:t>M-1</a:t>
            </a:r>
            <a:r>
              <a:rPr dirty="0" sz="1100" spc="5">
                <a:latin typeface="Lucida Sans"/>
                <a:cs typeface="Lucida Sans"/>
              </a:rPr>
              <a:t>.</a:t>
            </a:r>
            <a:endParaRPr sz="1100">
              <a:latin typeface="Lucida Sans"/>
              <a:cs typeface="Lucida Sans"/>
            </a:endParaRPr>
          </a:p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dirty="0" sz="1100" spc="5">
                <a:solidFill>
                  <a:srgbClr val="005493"/>
                </a:solidFill>
                <a:latin typeface="Lucida Sans"/>
                <a:cs typeface="Lucida Sans"/>
              </a:rPr>
              <a:t>Insert.  </a:t>
            </a:r>
            <a:r>
              <a:rPr dirty="0" sz="1100" spc="5">
                <a:latin typeface="Lucida Sans"/>
                <a:cs typeface="Lucida Sans"/>
              </a:rPr>
              <a:t>Put at table </a:t>
            </a:r>
            <a:r>
              <a:rPr dirty="0" sz="1100" spc="10">
                <a:latin typeface="Lucida Sans"/>
                <a:cs typeface="Lucida Sans"/>
              </a:rPr>
              <a:t>index</a:t>
            </a:r>
            <a:r>
              <a:rPr dirty="0" sz="1100" spc="5">
                <a:latin typeface="Lucida Sans"/>
                <a:cs typeface="Lucida Sans"/>
              </a:rPr>
              <a:t> </a:t>
            </a:r>
            <a:r>
              <a:rPr dirty="0" sz="900" spc="15">
                <a:latin typeface="Lucida Sans Typewriter"/>
                <a:cs typeface="Lucida Sans Typewriter"/>
              </a:rPr>
              <a:t>i</a:t>
            </a:r>
            <a:r>
              <a:rPr dirty="0" sz="900" spc="-190">
                <a:latin typeface="Lucida Sans Typewriter"/>
                <a:cs typeface="Lucida Sans Typewriter"/>
              </a:rPr>
              <a:t> </a:t>
            </a:r>
            <a:r>
              <a:rPr dirty="0" sz="1100" spc="5">
                <a:latin typeface="Lucida Sans"/>
                <a:cs typeface="Lucida Sans"/>
              </a:rPr>
              <a:t>if </a:t>
            </a:r>
            <a:r>
              <a:rPr dirty="0" sz="1100">
                <a:latin typeface="Lucida Sans"/>
                <a:cs typeface="Lucida Sans"/>
              </a:rPr>
              <a:t>free;</a:t>
            </a:r>
            <a:r>
              <a:rPr dirty="0" sz="1100" spc="5">
                <a:latin typeface="Lucida Sans"/>
                <a:cs typeface="Lucida Sans"/>
              </a:rPr>
              <a:t> if </a:t>
            </a:r>
            <a:r>
              <a:rPr dirty="0" sz="1100" spc="10">
                <a:latin typeface="Lucida Sans"/>
                <a:cs typeface="Lucida Sans"/>
              </a:rPr>
              <a:t>not</a:t>
            </a:r>
            <a:r>
              <a:rPr dirty="0" sz="1100" spc="5">
                <a:latin typeface="Lucida Sans"/>
                <a:cs typeface="Lucida Sans"/>
              </a:rPr>
              <a:t> </a:t>
            </a:r>
            <a:r>
              <a:rPr dirty="0" sz="1100" spc="25">
                <a:latin typeface="Lucida Sans"/>
                <a:cs typeface="Lucida Sans"/>
              </a:rPr>
              <a:t>try</a:t>
            </a:r>
            <a:r>
              <a:rPr dirty="0" sz="1100" spc="5">
                <a:latin typeface="Lucida Sans"/>
                <a:cs typeface="Lucida Sans"/>
              </a:rPr>
              <a:t> </a:t>
            </a:r>
            <a:r>
              <a:rPr dirty="0" sz="900" spc="15">
                <a:latin typeface="Lucida Sans Typewriter"/>
                <a:cs typeface="Lucida Sans Typewriter"/>
              </a:rPr>
              <a:t>i+1</a:t>
            </a:r>
            <a:r>
              <a:rPr dirty="0" sz="1100" spc="15">
                <a:latin typeface="Times New Roman"/>
                <a:cs typeface="Times New Roman"/>
              </a:rPr>
              <a:t>,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900" spc="15">
                <a:latin typeface="Lucida Sans Typewriter"/>
                <a:cs typeface="Lucida Sans Typewriter"/>
              </a:rPr>
              <a:t>i+2</a:t>
            </a:r>
            <a:r>
              <a:rPr dirty="0" sz="1100" spc="15">
                <a:latin typeface="Lucida Sans"/>
                <a:cs typeface="Lucida Sans"/>
              </a:rPr>
              <a:t>,</a:t>
            </a:r>
            <a:r>
              <a:rPr dirty="0" sz="1100" spc="5">
                <a:latin typeface="Lucida Sans"/>
                <a:cs typeface="Lucida Sans"/>
              </a:rPr>
              <a:t> </a:t>
            </a:r>
            <a:r>
              <a:rPr dirty="0" sz="1100" spc="10">
                <a:latin typeface="Lucida Sans"/>
                <a:cs typeface="Lucida Sans"/>
              </a:rPr>
              <a:t>etc.</a:t>
            </a:r>
            <a:endParaRPr sz="1100">
              <a:latin typeface="Lucida Sans"/>
              <a:cs typeface="Lucida Sans"/>
            </a:endParaRPr>
          </a:p>
          <a:p>
            <a:pPr marL="12700">
              <a:lnSpc>
                <a:spcPct val="100000"/>
              </a:lnSpc>
              <a:spcBef>
                <a:spcPts val="495"/>
              </a:spcBef>
            </a:pPr>
            <a:r>
              <a:rPr dirty="0" sz="1100" spc="5">
                <a:solidFill>
                  <a:srgbClr val="005493"/>
                </a:solidFill>
                <a:latin typeface="Lucida Sans"/>
                <a:cs typeface="Lucida Sans"/>
              </a:rPr>
              <a:t>Search.</a:t>
            </a:r>
            <a:r>
              <a:rPr dirty="0" sz="1100" spc="355">
                <a:solidFill>
                  <a:srgbClr val="005493"/>
                </a:solidFill>
                <a:latin typeface="Lucida Sans"/>
                <a:cs typeface="Lucida Sans"/>
              </a:rPr>
              <a:t> </a:t>
            </a:r>
            <a:r>
              <a:rPr dirty="0" sz="1100" spc="5">
                <a:latin typeface="Lucida Sans"/>
                <a:cs typeface="Lucida Sans"/>
              </a:rPr>
              <a:t>Search table </a:t>
            </a:r>
            <a:r>
              <a:rPr dirty="0" sz="1100" spc="10">
                <a:latin typeface="Lucida Sans"/>
                <a:cs typeface="Lucida Sans"/>
              </a:rPr>
              <a:t>index</a:t>
            </a:r>
            <a:r>
              <a:rPr dirty="0" sz="1100" spc="5">
                <a:latin typeface="Lucida Sans"/>
                <a:cs typeface="Lucida Sans"/>
              </a:rPr>
              <a:t> </a:t>
            </a:r>
            <a:r>
              <a:rPr dirty="0" sz="900" spc="10">
                <a:latin typeface="Lucida Sans Typewriter"/>
                <a:cs typeface="Lucida Sans Typewriter"/>
              </a:rPr>
              <a:t>i</a:t>
            </a:r>
            <a:r>
              <a:rPr dirty="0" sz="1100" spc="10">
                <a:latin typeface="Lucida Sans"/>
                <a:cs typeface="Lucida Sans"/>
              </a:rPr>
              <a:t>;</a:t>
            </a:r>
            <a:r>
              <a:rPr dirty="0" sz="1100" spc="5">
                <a:latin typeface="Lucida Sans"/>
                <a:cs typeface="Lucida Sans"/>
              </a:rPr>
              <a:t> if </a:t>
            </a:r>
            <a:r>
              <a:rPr dirty="0" sz="1100" spc="10">
                <a:latin typeface="Lucida Sans"/>
                <a:cs typeface="Lucida Sans"/>
              </a:rPr>
              <a:t>occupied</a:t>
            </a:r>
            <a:r>
              <a:rPr dirty="0" sz="1100" spc="5">
                <a:latin typeface="Lucida Sans"/>
                <a:cs typeface="Lucida Sans"/>
              </a:rPr>
              <a:t> </a:t>
            </a:r>
            <a:r>
              <a:rPr dirty="0" sz="1100" spc="10">
                <a:latin typeface="Lucida Sans"/>
                <a:cs typeface="Lucida Sans"/>
              </a:rPr>
              <a:t>but</a:t>
            </a:r>
            <a:r>
              <a:rPr dirty="0" sz="1100" spc="5">
                <a:latin typeface="Lucida Sans"/>
                <a:cs typeface="Lucida Sans"/>
              </a:rPr>
              <a:t> </a:t>
            </a:r>
            <a:r>
              <a:rPr dirty="0" sz="1100" spc="10">
                <a:latin typeface="Lucida Sans"/>
                <a:cs typeface="Lucida Sans"/>
              </a:rPr>
              <a:t>no</a:t>
            </a:r>
            <a:r>
              <a:rPr dirty="0" sz="1100" spc="5">
                <a:latin typeface="Lucida Sans"/>
                <a:cs typeface="Lucida Sans"/>
              </a:rPr>
              <a:t> </a:t>
            </a:r>
            <a:r>
              <a:rPr dirty="0" sz="1100" spc="10">
                <a:latin typeface="Lucida Sans"/>
                <a:cs typeface="Lucida Sans"/>
              </a:rPr>
              <a:t>match,</a:t>
            </a:r>
            <a:r>
              <a:rPr dirty="0" sz="1100" spc="5">
                <a:latin typeface="Lucida Sans"/>
                <a:cs typeface="Lucida Sans"/>
              </a:rPr>
              <a:t> </a:t>
            </a:r>
            <a:r>
              <a:rPr dirty="0" sz="1100" spc="25">
                <a:latin typeface="Lucida Sans"/>
                <a:cs typeface="Lucida Sans"/>
              </a:rPr>
              <a:t>try</a:t>
            </a:r>
            <a:r>
              <a:rPr dirty="0" sz="1100" spc="5">
                <a:latin typeface="Lucida Sans"/>
                <a:cs typeface="Lucida Sans"/>
              </a:rPr>
              <a:t> </a:t>
            </a:r>
            <a:r>
              <a:rPr dirty="0" sz="900" spc="15">
                <a:latin typeface="Lucida Sans Typewriter"/>
                <a:cs typeface="Lucida Sans Typewriter"/>
              </a:rPr>
              <a:t>i+1</a:t>
            </a:r>
            <a:r>
              <a:rPr dirty="0" sz="1100" spc="15">
                <a:latin typeface="Times New Roman"/>
                <a:cs typeface="Times New Roman"/>
              </a:rPr>
              <a:t>,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900" spc="15">
                <a:latin typeface="Lucida Sans Typewriter"/>
                <a:cs typeface="Lucida Sans Typewriter"/>
              </a:rPr>
              <a:t>i+2</a:t>
            </a:r>
            <a:r>
              <a:rPr dirty="0" sz="1100" spc="15">
                <a:latin typeface="Lucida Sans"/>
                <a:cs typeface="Lucida Sans"/>
              </a:rPr>
              <a:t>,</a:t>
            </a:r>
            <a:r>
              <a:rPr dirty="0" sz="1100" spc="5">
                <a:latin typeface="Lucida Sans"/>
                <a:cs typeface="Lucida Sans"/>
              </a:rPr>
              <a:t> </a:t>
            </a:r>
            <a:r>
              <a:rPr dirty="0" sz="1100" spc="10">
                <a:latin typeface="Lucida Sans"/>
                <a:cs typeface="Lucida Sans"/>
              </a:rPr>
              <a:t>etc.</a:t>
            </a:r>
            <a:endParaRPr sz="1100">
              <a:latin typeface="Lucida Sans"/>
              <a:cs typeface="Lucida Sans"/>
            </a:endParaRPr>
          </a:p>
        </p:txBody>
      </p:sp>
      <p:sp>
        <p:nvSpPr>
          <p:cNvPr id="103" name="object 103"/>
          <p:cNvSpPr txBox="1"/>
          <p:nvPr/>
        </p:nvSpPr>
        <p:spPr>
          <a:xfrm>
            <a:off x="12492206" y="9350039"/>
            <a:ext cx="115570" cy="109855"/>
          </a:xfrm>
          <a:prstGeom prst="rect">
            <a:avLst/>
          </a:prstGeom>
        </p:spPr>
        <p:txBody>
          <a:bodyPr wrap="square" lIns="0" tIns="88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dirty="0" sz="550" spc="5">
                <a:latin typeface="Lucida Sans"/>
                <a:cs typeface="Lucida Sans"/>
              </a:rPr>
              <a:t>28</a:t>
            </a:r>
            <a:endParaRPr sz="550">
              <a:latin typeface="Lucida Sans"/>
              <a:cs typeface="Lucida Sans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6986199" y="6512101"/>
            <a:ext cx="4794250" cy="1962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100" spc="10">
                <a:solidFill>
                  <a:srgbClr val="005493"/>
                </a:solidFill>
                <a:latin typeface="Lucida Sans"/>
                <a:cs typeface="Lucida Sans"/>
              </a:rPr>
              <a:t>Note.</a:t>
            </a:r>
            <a:r>
              <a:rPr dirty="0" sz="1100" spc="355">
                <a:solidFill>
                  <a:srgbClr val="005493"/>
                </a:solidFill>
                <a:latin typeface="Lucida Sans"/>
                <a:cs typeface="Lucida Sans"/>
              </a:rPr>
              <a:t> </a:t>
            </a:r>
            <a:r>
              <a:rPr dirty="0" sz="1100" spc="20">
                <a:latin typeface="Lucida Sans"/>
                <a:cs typeface="Lucida Sans"/>
              </a:rPr>
              <a:t>Array</a:t>
            </a:r>
            <a:r>
              <a:rPr dirty="0" sz="1100" spc="10">
                <a:latin typeface="Lucida Sans"/>
                <a:cs typeface="Lucida Sans"/>
              </a:rPr>
              <a:t> </a:t>
            </a:r>
            <a:r>
              <a:rPr dirty="0" sz="1100" spc="5">
                <a:latin typeface="Lucida Sans"/>
                <a:cs typeface="Lucida Sans"/>
              </a:rPr>
              <a:t>size </a:t>
            </a:r>
            <a:r>
              <a:rPr dirty="0" sz="900" spc="15">
                <a:latin typeface="Lucida Sans Typewriter"/>
                <a:cs typeface="Lucida Sans Typewriter"/>
              </a:rPr>
              <a:t>M</a:t>
            </a:r>
            <a:r>
              <a:rPr dirty="0" sz="900" spc="-190">
                <a:latin typeface="Lucida Sans Typewriter"/>
                <a:cs typeface="Lucida Sans Typewriter"/>
              </a:rPr>
              <a:t> </a:t>
            </a:r>
            <a:r>
              <a:rPr dirty="0" sz="1100" spc="10">
                <a:solidFill>
                  <a:srgbClr val="8D3124"/>
                </a:solidFill>
                <a:latin typeface="Lucida Sans"/>
                <a:cs typeface="Lucida Sans"/>
              </a:rPr>
              <a:t>must</a:t>
            </a:r>
            <a:r>
              <a:rPr dirty="0" sz="1100" spc="5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dirty="0" sz="1100" spc="10">
                <a:solidFill>
                  <a:srgbClr val="8D3124"/>
                </a:solidFill>
                <a:latin typeface="Lucida Sans"/>
                <a:cs typeface="Lucida Sans"/>
              </a:rPr>
              <a:t>be</a:t>
            </a:r>
            <a:r>
              <a:rPr dirty="0" sz="1100" spc="5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dirty="0" sz="1100" spc="5">
                <a:latin typeface="Lucida Sans"/>
                <a:cs typeface="Lucida Sans"/>
              </a:rPr>
              <a:t>greater </a:t>
            </a:r>
            <a:r>
              <a:rPr dirty="0" sz="1100" spc="10">
                <a:latin typeface="Lucida Sans"/>
                <a:cs typeface="Lucida Sans"/>
              </a:rPr>
              <a:t>than</a:t>
            </a:r>
            <a:r>
              <a:rPr dirty="0" sz="1100" spc="5">
                <a:latin typeface="Lucida Sans"/>
                <a:cs typeface="Lucida Sans"/>
              </a:rPr>
              <a:t> </a:t>
            </a:r>
            <a:r>
              <a:rPr dirty="0" sz="1100" spc="10">
                <a:latin typeface="Lucida Sans"/>
                <a:cs typeface="Lucida Sans"/>
              </a:rPr>
              <a:t>number </a:t>
            </a:r>
            <a:r>
              <a:rPr dirty="0" sz="1100" spc="5">
                <a:latin typeface="Lucida Sans"/>
                <a:cs typeface="Lucida Sans"/>
              </a:rPr>
              <a:t>of </a:t>
            </a:r>
            <a:r>
              <a:rPr dirty="0" sz="1100" spc="20">
                <a:latin typeface="Lucida Sans"/>
                <a:cs typeface="Lucida Sans"/>
              </a:rPr>
              <a:t>key-value</a:t>
            </a:r>
            <a:r>
              <a:rPr dirty="0" sz="1100" spc="5">
                <a:latin typeface="Lucida Sans"/>
                <a:cs typeface="Lucida Sans"/>
              </a:rPr>
              <a:t> pairs </a:t>
            </a:r>
            <a:r>
              <a:rPr dirty="0" sz="900" spc="10">
                <a:latin typeface="Lucida Sans Typewriter"/>
                <a:cs typeface="Lucida Sans Typewriter"/>
              </a:rPr>
              <a:t>N</a:t>
            </a:r>
            <a:r>
              <a:rPr dirty="0" sz="1100" spc="10" i="1">
                <a:latin typeface="Times New Roman"/>
                <a:cs typeface="Times New Roman"/>
              </a:rPr>
              <a:t>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6986199" y="5125877"/>
            <a:ext cx="2670175" cy="2247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00" spc="10">
                <a:latin typeface="Arial"/>
                <a:cs typeface="Arial"/>
              </a:rPr>
              <a:t>Linear-probing</a:t>
            </a:r>
            <a:r>
              <a:rPr dirty="0" sz="1300" spc="25">
                <a:latin typeface="Arial"/>
                <a:cs typeface="Arial"/>
              </a:rPr>
              <a:t> </a:t>
            </a:r>
            <a:r>
              <a:rPr dirty="0" sz="1300" spc="-20">
                <a:latin typeface="Arial"/>
                <a:cs typeface="Arial"/>
              </a:rPr>
              <a:t>hash</a:t>
            </a:r>
            <a:r>
              <a:rPr dirty="0" sz="1300" spc="25">
                <a:latin typeface="Arial"/>
                <a:cs typeface="Arial"/>
              </a:rPr>
              <a:t> </a:t>
            </a:r>
            <a:r>
              <a:rPr dirty="0" sz="1300" spc="30">
                <a:latin typeface="Arial"/>
                <a:cs typeface="Arial"/>
              </a:rPr>
              <a:t>table</a:t>
            </a:r>
            <a:r>
              <a:rPr dirty="0" sz="1300" spc="25">
                <a:latin typeface="Arial"/>
                <a:cs typeface="Arial"/>
              </a:rPr>
              <a:t> </a:t>
            </a:r>
            <a:r>
              <a:rPr dirty="0" sz="1300" spc="-5">
                <a:latin typeface="Arial"/>
                <a:cs typeface="Arial"/>
              </a:rPr>
              <a:t>summary</a:t>
            </a:r>
            <a:endParaRPr sz="1300">
              <a:latin typeface="Arial"/>
              <a:cs typeface="Arial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7587935" y="7815389"/>
            <a:ext cx="78105" cy="1250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50">
                <a:latin typeface="Lucida Sans"/>
                <a:cs typeface="Lucida Sans"/>
              </a:rPr>
              <a:t>0</a:t>
            </a:r>
            <a:endParaRPr sz="650">
              <a:latin typeface="Lucida Sans"/>
              <a:cs typeface="Lucida Sans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7888368" y="7815389"/>
            <a:ext cx="78105" cy="1250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50">
                <a:latin typeface="Lucida Sans"/>
                <a:cs typeface="Lucida Sans"/>
              </a:rPr>
              <a:t>1</a:t>
            </a:r>
            <a:endParaRPr sz="650">
              <a:latin typeface="Lucida Sans"/>
              <a:cs typeface="Lucida Sans"/>
            </a:endParaRPr>
          </a:p>
        </p:txBody>
      </p:sp>
      <p:sp>
        <p:nvSpPr>
          <p:cNvPr id="86" name="object 86"/>
          <p:cNvSpPr txBox="1"/>
          <p:nvPr/>
        </p:nvSpPr>
        <p:spPr>
          <a:xfrm>
            <a:off x="8182877" y="7815389"/>
            <a:ext cx="78105" cy="1250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50">
                <a:latin typeface="Lucida Sans"/>
                <a:cs typeface="Lucida Sans"/>
              </a:rPr>
              <a:t>2</a:t>
            </a:r>
            <a:endParaRPr sz="650">
              <a:latin typeface="Lucida Sans"/>
              <a:cs typeface="Lucida Sans"/>
            </a:endParaRPr>
          </a:p>
        </p:txBody>
      </p:sp>
      <p:sp>
        <p:nvSpPr>
          <p:cNvPr id="87" name="object 87"/>
          <p:cNvSpPr txBox="1"/>
          <p:nvPr/>
        </p:nvSpPr>
        <p:spPr>
          <a:xfrm>
            <a:off x="8477387" y="7815389"/>
            <a:ext cx="78105" cy="1250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50">
                <a:latin typeface="Lucida Sans"/>
                <a:cs typeface="Lucida Sans"/>
              </a:rPr>
              <a:t>3</a:t>
            </a:r>
            <a:endParaRPr sz="650">
              <a:latin typeface="Lucida Sans"/>
              <a:cs typeface="Lucida Sans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8777820" y="7815389"/>
            <a:ext cx="78105" cy="1250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50">
                <a:latin typeface="Lucida Sans"/>
                <a:cs typeface="Lucida Sans"/>
              </a:rPr>
              <a:t>4</a:t>
            </a:r>
            <a:endParaRPr sz="650">
              <a:latin typeface="Lucida Sans"/>
              <a:cs typeface="Lucida Sans"/>
            </a:endParaRPr>
          </a:p>
        </p:txBody>
      </p:sp>
      <p:sp>
        <p:nvSpPr>
          <p:cNvPr id="89" name="object 89"/>
          <p:cNvSpPr txBox="1"/>
          <p:nvPr/>
        </p:nvSpPr>
        <p:spPr>
          <a:xfrm>
            <a:off x="9072329" y="7815389"/>
            <a:ext cx="78105" cy="1250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50">
                <a:latin typeface="Lucida Sans"/>
                <a:cs typeface="Lucida Sans"/>
              </a:rPr>
              <a:t>5</a:t>
            </a:r>
            <a:endParaRPr sz="650">
              <a:latin typeface="Lucida Sans"/>
              <a:cs typeface="Lucida Sans"/>
            </a:endParaRPr>
          </a:p>
        </p:txBody>
      </p:sp>
      <p:sp>
        <p:nvSpPr>
          <p:cNvPr id="90" name="object 90"/>
          <p:cNvSpPr txBox="1"/>
          <p:nvPr/>
        </p:nvSpPr>
        <p:spPr>
          <a:xfrm>
            <a:off x="9366839" y="7815389"/>
            <a:ext cx="78105" cy="1250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50">
                <a:latin typeface="Lucida Sans"/>
                <a:cs typeface="Lucida Sans"/>
              </a:rPr>
              <a:t>6</a:t>
            </a:r>
            <a:endParaRPr sz="650">
              <a:latin typeface="Lucida Sans"/>
              <a:cs typeface="Lucida Sans"/>
            </a:endParaRPr>
          </a:p>
        </p:txBody>
      </p:sp>
      <p:sp>
        <p:nvSpPr>
          <p:cNvPr id="91" name="object 91"/>
          <p:cNvSpPr txBox="1"/>
          <p:nvPr/>
        </p:nvSpPr>
        <p:spPr>
          <a:xfrm>
            <a:off x="9661347" y="7815389"/>
            <a:ext cx="78105" cy="1250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50">
                <a:latin typeface="Lucida Sans"/>
                <a:cs typeface="Lucida Sans"/>
              </a:rPr>
              <a:t>7</a:t>
            </a:r>
            <a:endParaRPr sz="650">
              <a:latin typeface="Lucida Sans"/>
              <a:cs typeface="Lucida Sans"/>
            </a:endParaRPr>
          </a:p>
        </p:txBody>
      </p:sp>
      <p:sp>
        <p:nvSpPr>
          <p:cNvPr id="92" name="object 92"/>
          <p:cNvSpPr txBox="1"/>
          <p:nvPr/>
        </p:nvSpPr>
        <p:spPr>
          <a:xfrm>
            <a:off x="9961781" y="7815389"/>
            <a:ext cx="78105" cy="1250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50">
                <a:latin typeface="Lucida Sans"/>
                <a:cs typeface="Lucida Sans"/>
              </a:rPr>
              <a:t>8</a:t>
            </a:r>
            <a:endParaRPr sz="650">
              <a:latin typeface="Lucida Sans"/>
              <a:cs typeface="Lucida Sans"/>
            </a:endParaRPr>
          </a:p>
        </p:txBody>
      </p:sp>
      <p:sp>
        <p:nvSpPr>
          <p:cNvPr id="93" name="object 93"/>
          <p:cNvSpPr txBox="1"/>
          <p:nvPr/>
        </p:nvSpPr>
        <p:spPr>
          <a:xfrm>
            <a:off x="10256290" y="7815389"/>
            <a:ext cx="78105" cy="1250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50">
                <a:latin typeface="Lucida Sans"/>
                <a:cs typeface="Lucida Sans"/>
              </a:rPr>
              <a:t>9</a:t>
            </a:r>
            <a:endParaRPr sz="650">
              <a:latin typeface="Lucida Sans"/>
              <a:cs typeface="Lucida Sans"/>
            </a:endParaRPr>
          </a:p>
        </p:txBody>
      </p:sp>
      <p:sp>
        <p:nvSpPr>
          <p:cNvPr id="94" name="object 94"/>
          <p:cNvSpPr txBox="1"/>
          <p:nvPr/>
        </p:nvSpPr>
        <p:spPr>
          <a:xfrm>
            <a:off x="7059105" y="8043042"/>
            <a:ext cx="282575" cy="15367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800" spc="20">
                <a:latin typeface="Lucida Sans Typewriter"/>
                <a:cs typeface="Lucida Sans Typewriter"/>
              </a:rPr>
              <a:t>st[]</a:t>
            </a:r>
            <a:endParaRPr sz="800">
              <a:latin typeface="Lucida Sans Typewriter"/>
              <a:cs typeface="Lucida Sans Typewriter"/>
            </a:endParaRPr>
          </a:p>
        </p:txBody>
      </p:sp>
      <p:sp>
        <p:nvSpPr>
          <p:cNvPr id="95" name="object 95"/>
          <p:cNvSpPr txBox="1"/>
          <p:nvPr/>
        </p:nvSpPr>
        <p:spPr>
          <a:xfrm>
            <a:off x="10524549" y="7815389"/>
            <a:ext cx="130810" cy="1250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50">
                <a:latin typeface="Lucida Sans"/>
                <a:cs typeface="Lucida Sans"/>
              </a:rPr>
              <a:t>10</a:t>
            </a:r>
            <a:endParaRPr sz="650">
              <a:latin typeface="Lucida Sans"/>
              <a:cs typeface="Lucida Sans"/>
            </a:endParaRPr>
          </a:p>
        </p:txBody>
      </p:sp>
      <p:sp>
        <p:nvSpPr>
          <p:cNvPr id="96" name="object 96"/>
          <p:cNvSpPr txBox="1"/>
          <p:nvPr/>
        </p:nvSpPr>
        <p:spPr>
          <a:xfrm>
            <a:off x="10824982" y="7815389"/>
            <a:ext cx="130810" cy="1250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50">
                <a:latin typeface="Lucida Sans"/>
                <a:cs typeface="Lucida Sans"/>
              </a:rPr>
              <a:t>11</a:t>
            </a:r>
            <a:endParaRPr sz="650">
              <a:latin typeface="Lucida Sans"/>
              <a:cs typeface="Lucida Sans"/>
            </a:endParaRPr>
          </a:p>
        </p:txBody>
      </p:sp>
      <p:sp>
        <p:nvSpPr>
          <p:cNvPr id="97" name="object 97"/>
          <p:cNvSpPr txBox="1"/>
          <p:nvPr/>
        </p:nvSpPr>
        <p:spPr>
          <a:xfrm>
            <a:off x="11119491" y="7815389"/>
            <a:ext cx="130810" cy="1250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50">
                <a:latin typeface="Lucida Sans"/>
                <a:cs typeface="Lucida Sans"/>
              </a:rPr>
              <a:t>12</a:t>
            </a:r>
            <a:endParaRPr sz="650">
              <a:latin typeface="Lucida Sans"/>
              <a:cs typeface="Lucida Sans"/>
            </a:endParaRPr>
          </a:p>
        </p:txBody>
      </p:sp>
      <p:sp>
        <p:nvSpPr>
          <p:cNvPr id="98" name="object 98"/>
          <p:cNvSpPr txBox="1"/>
          <p:nvPr/>
        </p:nvSpPr>
        <p:spPr>
          <a:xfrm>
            <a:off x="11414001" y="7815389"/>
            <a:ext cx="130810" cy="1250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50">
                <a:latin typeface="Lucida Sans"/>
                <a:cs typeface="Lucida Sans"/>
              </a:rPr>
              <a:t>13</a:t>
            </a:r>
            <a:endParaRPr sz="650">
              <a:latin typeface="Lucida Sans"/>
              <a:cs typeface="Lucida Sans"/>
            </a:endParaRPr>
          </a:p>
        </p:txBody>
      </p:sp>
      <p:sp>
        <p:nvSpPr>
          <p:cNvPr id="99" name="object 99"/>
          <p:cNvSpPr txBox="1"/>
          <p:nvPr/>
        </p:nvSpPr>
        <p:spPr>
          <a:xfrm>
            <a:off x="11708510" y="7815389"/>
            <a:ext cx="130810" cy="1250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50">
                <a:latin typeface="Lucida Sans"/>
                <a:cs typeface="Lucida Sans"/>
              </a:rPr>
              <a:t>14</a:t>
            </a:r>
            <a:endParaRPr sz="650">
              <a:latin typeface="Lucida Sans"/>
              <a:cs typeface="Lucida Sans"/>
            </a:endParaRPr>
          </a:p>
        </p:txBody>
      </p:sp>
      <p:sp>
        <p:nvSpPr>
          <p:cNvPr id="100" name="object 100"/>
          <p:cNvSpPr txBox="1"/>
          <p:nvPr/>
        </p:nvSpPr>
        <p:spPr>
          <a:xfrm>
            <a:off x="12008943" y="7815389"/>
            <a:ext cx="130810" cy="1250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50">
                <a:latin typeface="Lucida Sans"/>
                <a:cs typeface="Lucida Sans"/>
              </a:rPr>
              <a:t>15</a:t>
            </a:r>
            <a:endParaRPr sz="650">
              <a:latin typeface="Lucida Sans"/>
              <a:cs typeface="Lucida Sans"/>
            </a:endParaRPr>
          </a:p>
        </p:txBody>
      </p:sp>
      <p:sp>
        <p:nvSpPr>
          <p:cNvPr id="101" name="object 101"/>
          <p:cNvSpPr txBox="1"/>
          <p:nvPr/>
        </p:nvSpPr>
        <p:spPr>
          <a:xfrm>
            <a:off x="6928094" y="8366324"/>
            <a:ext cx="410845" cy="15367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800" spc="20">
                <a:latin typeface="Lucida Sans Typewriter"/>
                <a:cs typeface="Lucida Sans Typewriter"/>
              </a:rPr>
              <a:t>M</a:t>
            </a:r>
            <a:r>
              <a:rPr dirty="0" sz="800" spc="-20"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=</a:t>
            </a:r>
            <a:r>
              <a:rPr dirty="0" sz="800" spc="-20"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16</a:t>
            </a:r>
            <a:endParaRPr sz="800">
              <a:latin typeface="Lucida Sans Typewriter"/>
              <a:cs typeface="Lucida Sans Typewriter"/>
            </a:endParaRPr>
          </a:p>
        </p:txBody>
      </p:sp>
      <p:graphicFrame>
        <p:nvGraphicFramePr>
          <p:cNvPr id="102" name="object 102"/>
          <p:cNvGraphicFramePr>
            <a:graphicFrameLocks noGrp="1"/>
          </p:cNvGraphicFramePr>
          <p:nvPr/>
        </p:nvGraphicFramePr>
        <p:xfrm>
          <a:off x="7477302" y="7988250"/>
          <a:ext cx="4748530" cy="2959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8450"/>
                <a:gridCol w="297815"/>
                <a:gridCol w="294640"/>
                <a:gridCol w="297815"/>
                <a:gridCol w="297815"/>
                <a:gridCol w="294639"/>
                <a:gridCol w="294639"/>
                <a:gridCol w="297814"/>
                <a:gridCol w="297814"/>
                <a:gridCol w="294639"/>
                <a:gridCol w="297814"/>
                <a:gridCol w="297814"/>
                <a:gridCol w="294639"/>
                <a:gridCol w="294639"/>
                <a:gridCol w="297814"/>
                <a:gridCol w="298450"/>
              </a:tblGrid>
              <a:tr h="295910"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dirty="0" sz="900">
                          <a:latin typeface="Lucida Sans"/>
                          <a:cs typeface="Lucida Sans"/>
                        </a:rPr>
                        <a:t>P</a:t>
                      </a:r>
                      <a:endParaRPr sz="900">
                        <a:latin typeface="Lucida Sans"/>
                        <a:cs typeface="Lucida Sans"/>
                      </a:endParaRPr>
                    </a:p>
                  </a:txBody>
                  <a:tcPr marL="0" marR="0" marB="0" marT="67310">
                    <a:lnL w="317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3175">
                      <a:solidFill>
                        <a:srgbClr val="FFFFFF"/>
                      </a:solidFill>
                      <a:prstDash val="solid"/>
                    </a:lnT>
                    <a:lnB w="3175">
                      <a:solidFill>
                        <a:srgbClr val="FFFFFF"/>
                      </a:solidFill>
                      <a:prstDash val="solid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dirty="0" sz="900">
                          <a:latin typeface="Lucida Sans"/>
                          <a:cs typeface="Lucida Sans"/>
                        </a:rPr>
                        <a:t>M</a:t>
                      </a:r>
                      <a:endParaRPr sz="900">
                        <a:latin typeface="Lucida Sans"/>
                        <a:cs typeface="Lucida Sans"/>
                      </a:endParaRPr>
                    </a:p>
                  </a:txBody>
                  <a:tcPr marL="0" marR="0" marB="0" marT="67310">
                    <a:lnL w="9525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3175">
                      <a:solidFill>
                        <a:srgbClr val="FFFFFF"/>
                      </a:solidFill>
                      <a:prstDash val="solid"/>
                    </a:lnT>
                    <a:lnB w="3175">
                      <a:solidFill>
                        <a:srgbClr val="FFFFFF"/>
                      </a:solidFill>
                      <a:prstDash val="solid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3175">
                      <a:solidFill>
                        <a:srgbClr val="FFFFFF"/>
                      </a:solidFill>
                      <a:prstDash val="solid"/>
                    </a:lnT>
                    <a:lnB w="3175">
                      <a:solidFill>
                        <a:srgbClr val="FFFFFF"/>
                      </a:solidFill>
                      <a:prstDash val="solid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3175">
                      <a:solidFill>
                        <a:srgbClr val="FFFFFF"/>
                      </a:solidFill>
                      <a:prstDash val="solid"/>
                    </a:lnT>
                    <a:lnB w="3175">
                      <a:solidFill>
                        <a:srgbClr val="FFFFFF"/>
                      </a:solidFill>
                      <a:prstDash val="solid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dirty="0" sz="900">
                          <a:latin typeface="Lucida Sans"/>
                          <a:cs typeface="Lucida Sans"/>
                        </a:rPr>
                        <a:t>A</a:t>
                      </a:r>
                      <a:endParaRPr sz="900">
                        <a:latin typeface="Lucida Sans"/>
                        <a:cs typeface="Lucida Sans"/>
                      </a:endParaRPr>
                    </a:p>
                  </a:txBody>
                  <a:tcPr marL="0" marR="0" marB="0" marT="67310">
                    <a:lnL w="9525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3175">
                      <a:solidFill>
                        <a:srgbClr val="FFFFFF"/>
                      </a:solidFill>
                      <a:prstDash val="solid"/>
                    </a:lnT>
                    <a:lnB w="3175">
                      <a:solidFill>
                        <a:srgbClr val="FFFFFF"/>
                      </a:solidFill>
                      <a:prstDash val="solid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dirty="0" sz="900">
                          <a:latin typeface="Lucida Sans"/>
                          <a:cs typeface="Lucida Sans"/>
                        </a:rPr>
                        <a:t>C</a:t>
                      </a:r>
                      <a:endParaRPr sz="900">
                        <a:latin typeface="Lucida Sans"/>
                        <a:cs typeface="Lucida Sans"/>
                      </a:endParaRPr>
                    </a:p>
                  </a:txBody>
                  <a:tcPr marL="0" marR="0" marB="0" marT="6731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3175">
                      <a:solidFill>
                        <a:srgbClr val="FFFFFF"/>
                      </a:solidFill>
                      <a:prstDash val="solid"/>
                    </a:lnT>
                    <a:lnB w="3175">
                      <a:solidFill>
                        <a:srgbClr val="FFFFFF"/>
                      </a:solidFill>
                      <a:prstDash val="solid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dirty="0" sz="900">
                          <a:latin typeface="Lucida Sans"/>
                          <a:cs typeface="Lucida Sans"/>
                        </a:rPr>
                        <a:t>S</a:t>
                      </a:r>
                      <a:endParaRPr sz="900">
                        <a:latin typeface="Lucida Sans"/>
                        <a:cs typeface="Lucida Sans"/>
                      </a:endParaRPr>
                    </a:p>
                  </a:txBody>
                  <a:tcPr marL="0" marR="0" marB="0" marT="6731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3175">
                      <a:solidFill>
                        <a:srgbClr val="FFFFFF"/>
                      </a:solidFill>
                      <a:prstDash val="solid"/>
                    </a:lnT>
                    <a:lnB w="3175">
                      <a:solidFill>
                        <a:srgbClr val="FFFFFF"/>
                      </a:solidFill>
                      <a:prstDash val="solid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dirty="0" sz="900">
                          <a:latin typeface="Lucida Sans"/>
                          <a:cs typeface="Lucida Sans"/>
                        </a:rPr>
                        <a:t>H</a:t>
                      </a:r>
                      <a:endParaRPr sz="900">
                        <a:latin typeface="Lucida Sans"/>
                        <a:cs typeface="Lucida Sans"/>
                      </a:endParaRPr>
                    </a:p>
                  </a:txBody>
                  <a:tcPr marL="0" marR="0" marB="0" marT="67310">
                    <a:lnL w="6350">
                      <a:solidFill>
                        <a:srgbClr val="FFFFFF"/>
                      </a:solidFill>
                      <a:prstDash val="solid"/>
                    </a:lnL>
                    <a:lnR w="3175">
                      <a:solidFill>
                        <a:srgbClr val="FFFFFF"/>
                      </a:solidFill>
                      <a:prstDash val="solid"/>
                    </a:lnR>
                    <a:lnT w="3175">
                      <a:solidFill>
                        <a:srgbClr val="FFFFFF"/>
                      </a:solidFill>
                      <a:prstDash val="solid"/>
                    </a:lnT>
                    <a:lnB w="3175">
                      <a:solidFill>
                        <a:srgbClr val="FFFFFF"/>
                      </a:solidFill>
                      <a:prstDash val="solid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dirty="0" sz="900">
                          <a:latin typeface="Lucida Sans"/>
                          <a:cs typeface="Lucida Sans"/>
                        </a:rPr>
                        <a:t>L</a:t>
                      </a:r>
                      <a:endParaRPr sz="900">
                        <a:latin typeface="Lucida Sans"/>
                        <a:cs typeface="Lucida Sans"/>
                      </a:endParaRPr>
                    </a:p>
                  </a:txBody>
                  <a:tcPr marL="0" marR="0" marB="0" marT="67310">
                    <a:lnL w="3175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3175">
                      <a:solidFill>
                        <a:srgbClr val="FFFFFF"/>
                      </a:solidFill>
                      <a:prstDash val="solid"/>
                    </a:lnT>
                    <a:lnB w="3175">
                      <a:solidFill>
                        <a:srgbClr val="FFFFFF"/>
                      </a:solidFill>
                      <a:prstDash val="solid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3175">
                      <a:solidFill>
                        <a:srgbClr val="FFFFFF"/>
                      </a:solidFill>
                      <a:prstDash val="solid"/>
                    </a:lnT>
                    <a:lnB w="3175">
                      <a:solidFill>
                        <a:srgbClr val="FFFFFF"/>
                      </a:solidFill>
                      <a:prstDash val="solid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dirty="0" sz="900">
                          <a:latin typeface="Lucida Sans"/>
                          <a:cs typeface="Lucida Sans"/>
                        </a:rPr>
                        <a:t>E</a:t>
                      </a:r>
                      <a:endParaRPr sz="900">
                        <a:latin typeface="Lucida Sans"/>
                        <a:cs typeface="Lucida Sans"/>
                      </a:endParaRPr>
                    </a:p>
                  </a:txBody>
                  <a:tcPr marL="0" marR="0" marB="0" marT="67310">
                    <a:lnL w="6350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3175">
                      <a:solidFill>
                        <a:srgbClr val="FFFFFF"/>
                      </a:solidFill>
                      <a:prstDash val="solid"/>
                    </a:lnT>
                    <a:lnB w="3175">
                      <a:solidFill>
                        <a:srgbClr val="FFFFFF"/>
                      </a:solidFill>
                      <a:prstDash val="solid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3175">
                      <a:solidFill>
                        <a:srgbClr val="FFFFFF"/>
                      </a:solidFill>
                      <a:prstDash val="solid"/>
                    </a:lnT>
                    <a:lnB w="3175">
                      <a:solidFill>
                        <a:srgbClr val="FFFFFF"/>
                      </a:solidFill>
                      <a:prstDash val="solid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3175">
                      <a:solidFill>
                        <a:srgbClr val="FFFFFF"/>
                      </a:solidFill>
                      <a:prstDash val="solid"/>
                    </a:lnT>
                    <a:lnB w="3175">
                      <a:solidFill>
                        <a:srgbClr val="FFFFFF"/>
                      </a:solidFill>
                      <a:prstDash val="solid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3175">
                      <a:solidFill>
                        <a:srgbClr val="FFFFFF"/>
                      </a:solidFill>
                      <a:prstDash val="solid"/>
                    </a:lnT>
                    <a:lnB w="3175">
                      <a:solidFill>
                        <a:srgbClr val="FFFFFF"/>
                      </a:solidFill>
                      <a:prstDash val="solid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dirty="0" sz="900">
                          <a:latin typeface="Lucida Sans"/>
                          <a:cs typeface="Lucida Sans"/>
                        </a:rPr>
                        <a:t>R</a:t>
                      </a:r>
                      <a:endParaRPr sz="900">
                        <a:latin typeface="Lucida Sans"/>
                        <a:cs typeface="Lucida Sans"/>
                      </a:endParaRPr>
                    </a:p>
                  </a:txBody>
                  <a:tcPr marL="0" marR="0" marB="0" marT="67310">
                    <a:lnL w="6350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3175">
                      <a:solidFill>
                        <a:srgbClr val="FFFFFF"/>
                      </a:solidFill>
                      <a:prstDash val="solid"/>
                    </a:lnT>
                    <a:lnB w="3175">
                      <a:solidFill>
                        <a:srgbClr val="FFFFFF"/>
                      </a:solidFill>
                      <a:prstDash val="solid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dirty="0" sz="900">
                          <a:latin typeface="Lucida Sans"/>
                          <a:cs typeface="Lucida Sans"/>
                        </a:rPr>
                        <a:t>X</a:t>
                      </a:r>
                      <a:endParaRPr sz="900">
                        <a:latin typeface="Lucida Sans"/>
                        <a:cs typeface="Lucida Sans"/>
                      </a:endParaRPr>
                    </a:p>
                  </a:txBody>
                  <a:tcPr marL="0" marR="0" marB="0" marT="67310">
                    <a:lnL w="9525">
                      <a:solidFill>
                        <a:srgbClr val="FFFFFF"/>
                      </a:solidFill>
                      <a:prstDash val="solid"/>
                    </a:lnL>
                    <a:lnR w="3175">
                      <a:solidFill>
                        <a:srgbClr val="FFFFFF"/>
                      </a:solidFill>
                      <a:prstDash val="solid"/>
                    </a:lnR>
                    <a:lnT w="3175">
                      <a:solidFill>
                        <a:srgbClr val="FFFFFF"/>
                      </a:solidFill>
                      <a:prstDash val="solid"/>
                    </a:lnT>
                    <a:lnB w="3175">
                      <a:solidFill>
                        <a:srgbClr val="FFFFFF"/>
                      </a:solidFill>
                      <a:prstDash val="solid"/>
                    </a:lnB>
                    <a:solidFill>
                      <a:srgbClr val="D5D5D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89770" y="1096107"/>
            <a:ext cx="4360545" cy="3347085"/>
            <a:chOff x="689770" y="1096107"/>
            <a:chExt cx="4360545" cy="334708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9770" y="1096107"/>
              <a:ext cx="4360090" cy="334708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25314" y="1131652"/>
              <a:ext cx="4241800" cy="3228975"/>
            </a:xfrm>
            <a:custGeom>
              <a:avLst/>
              <a:gdLst/>
              <a:ahLst/>
              <a:cxnLst/>
              <a:rect l="l" t="t" r="r" b="b"/>
              <a:pathLst>
                <a:path w="4241800" h="3228975">
                  <a:moveTo>
                    <a:pt x="0" y="0"/>
                  </a:moveTo>
                  <a:lnTo>
                    <a:pt x="4241609" y="0"/>
                  </a:lnTo>
                  <a:lnTo>
                    <a:pt x="4241609" y="3228599"/>
                  </a:lnTo>
                  <a:lnTo>
                    <a:pt x="0" y="32285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BCBC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820099" y="1472130"/>
              <a:ext cx="4052570" cy="444500"/>
            </a:xfrm>
            <a:custGeom>
              <a:avLst/>
              <a:gdLst/>
              <a:ahLst/>
              <a:cxnLst/>
              <a:rect l="l" t="t" r="r" b="b"/>
              <a:pathLst>
                <a:path w="4052570" h="444500">
                  <a:moveTo>
                    <a:pt x="0" y="0"/>
                  </a:moveTo>
                  <a:lnTo>
                    <a:pt x="4052040" y="0"/>
                  </a:lnTo>
                  <a:lnTo>
                    <a:pt x="4052040" y="444302"/>
                  </a:lnTo>
                  <a:lnTo>
                    <a:pt x="0" y="4443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725314" y="1131652"/>
            <a:ext cx="4241800" cy="340995"/>
          </a:xfrm>
          <a:prstGeom prst="rect">
            <a:avLst/>
          </a:prstGeom>
          <a:solidFill>
            <a:srgbClr val="CBCBCB"/>
          </a:solidFill>
        </p:spPr>
        <p:txBody>
          <a:bodyPr wrap="square" lIns="0" tIns="76200" rIns="0" bIns="0" rtlCol="0" vert="horz">
            <a:spAutoFit/>
          </a:bodyPr>
          <a:lstStyle/>
          <a:p>
            <a:pPr marL="97790">
              <a:lnSpc>
                <a:spcPct val="100000"/>
              </a:lnSpc>
              <a:spcBef>
                <a:spcPts val="600"/>
              </a:spcBef>
            </a:pPr>
            <a:r>
              <a:rPr dirty="0" sz="800" spc="20">
                <a:latin typeface="Lucida Sans Typewriter"/>
                <a:cs typeface="Lucida Sans Typewriter"/>
              </a:rPr>
              <a:t>public</a:t>
            </a:r>
            <a:r>
              <a:rPr dirty="0" sz="800" spc="30"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class</a:t>
            </a:r>
            <a:r>
              <a:rPr dirty="0" sz="800" spc="30"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LinearProbingHashST&lt;Key,</a:t>
            </a:r>
            <a:r>
              <a:rPr dirty="0" sz="800" spc="30"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Value&gt;</a:t>
            </a:r>
            <a:endParaRPr sz="800">
              <a:latin typeface="Lucida Sans Typewriter"/>
              <a:cs typeface="Lucida Sans Typewriter"/>
            </a:endParaRPr>
          </a:p>
          <a:p>
            <a:pPr marL="97790">
              <a:lnSpc>
                <a:spcPct val="100000"/>
              </a:lnSpc>
              <a:spcBef>
                <a:spcPts val="155"/>
              </a:spcBef>
            </a:pPr>
            <a:r>
              <a:rPr dirty="0" sz="800" spc="20">
                <a:latin typeface="Lucida Sans Typewriter"/>
                <a:cs typeface="Lucida Sans Typewriter"/>
              </a:rPr>
              <a:t>{</a:t>
            </a:r>
            <a:endParaRPr sz="800">
              <a:latin typeface="Lucida Sans Typewriter"/>
              <a:cs typeface="Lucida Sans Typewriter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03348" y="1460176"/>
            <a:ext cx="3042920" cy="321945"/>
          </a:xfrm>
          <a:prstGeom prst="rect">
            <a:avLst/>
          </a:prstGeom>
        </p:spPr>
        <p:txBody>
          <a:bodyPr wrap="square" lIns="0" tIns="374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95"/>
              </a:spcBef>
            </a:pPr>
            <a:r>
              <a:rPr dirty="0" sz="800" spc="20">
                <a:latin typeface="Lucida Sans Typewriter"/>
                <a:cs typeface="Lucida Sans Typewriter"/>
              </a:rPr>
              <a:t>private</a:t>
            </a:r>
            <a:r>
              <a:rPr dirty="0" sz="800" spc="10"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int</a:t>
            </a:r>
            <a:r>
              <a:rPr dirty="0" sz="800" spc="10"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M</a:t>
            </a:r>
            <a:r>
              <a:rPr dirty="0" sz="800" spc="10"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=</a:t>
            </a:r>
            <a:r>
              <a:rPr dirty="0" sz="800" spc="15"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30001;</a:t>
            </a:r>
            <a:endParaRPr sz="800">
              <a:latin typeface="Lucida Sans Typewriter"/>
              <a:cs typeface="Lucida Sans Typewriter"/>
            </a:endParaRPr>
          </a:p>
          <a:p>
            <a:pPr marL="12700">
              <a:lnSpc>
                <a:spcPct val="100000"/>
              </a:lnSpc>
              <a:spcBef>
                <a:spcPts val="209"/>
              </a:spcBef>
            </a:pPr>
            <a:r>
              <a:rPr dirty="0" sz="800" spc="20">
                <a:latin typeface="Lucida Sans Typewriter"/>
                <a:cs typeface="Lucida Sans Typewriter"/>
              </a:rPr>
              <a:t>private</a:t>
            </a:r>
            <a:r>
              <a:rPr dirty="0" sz="800" spc="25"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Value[]</a:t>
            </a:r>
            <a:r>
              <a:rPr dirty="0" sz="800" spc="25"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vals</a:t>
            </a:r>
            <a:r>
              <a:rPr dirty="0" sz="800" spc="25"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=</a:t>
            </a:r>
            <a:r>
              <a:rPr dirty="0" sz="800" spc="30"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(Value[])</a:t>
            </a:r>
            <a:r>
              <a:rPr dirty="0" sz="800" spc="25"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new</a:t>
            </a:r>
            <a:r>
              <a:rPr dirty="0" sz="800" spc="25"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Object[M];</a:t>
            </a:r>
            <a:endParaRPr sz="800">
              <a:latin typeface="Lucida Sans Typewriter"/>
              <a:cs typeface="Lucida Sans Typewriter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03348" y="1776519"/>
            <a:ext cx="3813175" cy="443865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  <a:tabLst>
                <a:tab pos="1039494" algn="l"/>
                <a:tab pos="2130425" algn="l"/>
              </a:tabLst>
            </a:pPr>
            <a:r>
              <a:rPr dirty="0" sz="800" spc="20">
                <a:latin typeface="Lucida Sans Typewriter"/>
                <a:cs typeface="Lucida Sans Typewriter"/>
              </a:rPr>
              <a:t>private</a:t>
            </a:r>
            <a:r>
              <a:rPr dirty="0" sz="800" spc="40"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Key[]	keys</a:t>
            </a:r>
            <a:r>
              <a:rPr dirty="0" sz="800" spc="35"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=</a:t>
            </a:r>
            <a:r>
              <a:rPr dirty="0" sz="800" spc="30"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(Key[])	new</a:t>
            </a:r>
            <a:r>
              <a:rPr dirty="0" sz="800" spc="-15"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Object[M];</a:t>
            </a:r>
            <a:endParaRPr sz="800">
              <a:latin typeface="Lucida Sans Typewriter"/>
              <a:cs typeface="Lucida Sans Typewriter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100">
              <a:latin typeface="Lucida Sans Typewriter"/>
              <a:cs typeface="Lucida Sans Typewriter"/>
            </a:endParaRPr>
          </a:p>
          <a:p>
            <a:pPr marL="12700">
              <a:lnSpc>
                <a:spcPct val="100000"/>
              </a:lnSpc>
              <a:tabLst>
                <a:tab pos="2387600" algn="l"/>
                <a:tab pos="2580005" algn="l"/>
                <a:tab pos="3735704" algn="l"/>
              </a:tabLst>
            </a:pPr>
            <a:r>
              <a:rPr dirty="0" sz="800" spc="20">
                <a:latin typeface="Lucida Sans Typewriter"/>
                <a:cs typeface="Lucida Sans Typewriter"/>
              </a:rPr>
              <a:t>private</a:t>
            </a:r>
            <a:r>
              <a:rPr dirty="0" sz="800" spc="20"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int</a:t>
            </a:r>
            <a:r>
              <a:rPr dirty="0" sz="800" spc="20"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hash(Key</a:t>
            </a:r>
            <a:r>
              <a:rPr dirty="0" sz="800" spc="20"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key)</a:t>
            </a:r>
            <a:r>
              <a:rPr dirty="0" sz="800">
                <a:latin typeface="Lucida Sans Typewriter"/>
                <a:cs typeface="Lucida Sans Typewriter"/>
              </a:rPr>
              <a:t>	</a:t>
            </a:r>
            <a:r>
              <a:rPr dirty="0" sz="800" spc="20">
                <a:latin typeface="Lucida Sans Typewriter"/>
                <a:cs typeface="Lucida Sans Typewriter"/>
              </a:rPr>
              <a:t>{</a:t>
            </a:r>
            <a:r>
              <a:rPr dirty="0" sz="800">
                <a:latin typeface="Lucida Sans Typewriter"/>
                <a:cs typeface="Lucida Sans Typewriter"/>
              </a:rPr>
              <a:t>	</a:t>
            </a:r>
            <a:r>
              <a:rPr dirty="0" sz="800" spc="20">
                <a:solidFill>
                  <a:srgbClr val="606060"/>
                </a:solidFill>
                <a:latin typeface="Lucida Sans Typewriter"/>
                <a:cs typeface="Lucida Sans Typewriter"/>
              </a:rPr>
              <a:t>/*</a:t>
            </a:r>
            <a:r>
              <a:rPr dirty="0" sz="800" spc="20">
                <a:solidFill>
                  <a:srgbClr val="606060"/>
                </a:solidFill>
                <a:latin typeface="Lucida Sans Typewriter"/>
                <a:cs typeface="Lucida Sans Typewriter"/>
              </a:rPr>
              <a:t> </a:t>
            </a:r>
            <a:r>
              <a:rPr dirty="0" sz="800" spc="20">
                <a:solidFill>
                  <a:srgbClr val="606060"/>
                </a:solidFill>
                <a:latin typeface="Lucida Sans Typewriter"/>
                <a:cs typeface="Lucida Sans Typewriter"/>
              </a:rPr>
              <a:t>as</a:t>
            </a:r>
            <a:r>
              <a:rPr dirty="0" sz="800" spc="20">
                <a:solidFill>
                  <a:srgbClr val="606060"/>
                </a:solidFill>
                <a:latin typeface="Lucida Sans Typewriter"/>
                <a:cs typeface="Lucida Sans Typewriter"/>
              </a:rPr>
              <a:t> </a:t>
            </a:r>
            <a:r>
              <a:rPr dirty="0" sz="800" spc="20">
                <a:solidFill>
                  <a:srgbClr val="606060"/>
                </a:solidFill>
                <a:latin typeface="Lucida Sans Typewriter"/>
                <a:cs typeface="Lucida Sans Typewriter"/>
              </a:rPr>
              <a:t>before</a:t>
            </a:r>
            <a:r>
              <a:rPr dirty="0" sz="800" spc="20">
                <a:solidFill>
                  <a:srgbClr val="606060"/>
                </a:solidFill>
                <a:latin typeface="Lucida Sans Typewriter"/>
                <a:cs typeface="Lucida Sans Typewriter"/>
              </a:rPr>
              <a:t> </a:t>
            </a:r>
            <a:r>
              <a:rPr dirty="0" sz="800" spc="20">
                <a:solidFill>
                  <a:srgbClr val="606060"/>
                </a:solidFill>
                <a:latin typeface="Lucida Sans Typewriter"/>
                <a:cs typeface="Lucida Sans Typewriter"/>
              </a:rPr>
              <a:t>*/</a:t>
            </a:r>
            <a:r>
              <a:rPr dirty="0" sz="800">
                <a:solidFill>
                  <a:srgbClr val="606060"/>
                </a:solidFill>
                <a:latin typeface="Lucida Sans Typewriter"/>
                <a:cs typeface="Lucida Sans Typewriter"/>
              </a:rPr>
              <a:t>	</a:t>
            </a:r>
            <a:r>
              <a:rPr dirty="0" sz="800" spc="20">
                <a:latin typeface="Lucida Sans Typewriter"/>
                <a:cs typeface="Lucida Sans Typewriter"/>
              </a:rPr>
              <a:t>}</a:t>
            </a:r>
            <a:endParaRPr sz="800">
              <a:latin typeface="Lucida Sans Typewriter"/>
              <a:cs typeface="Lucida Sans Typewriter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03348" y="2362999"/>
            <a:ext cx="3813175" cy="15367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  <a:tabLst>
                <a:tab pos="2580005" algn="l"/>
                <a:tab pos="3735704" algn="l"/>
              </a:tabLst>
            </a:pPr>
            <a:r>
              <a:rPr dirty="0" sz="800" spc="20">
                <a:latin typeface="Lucida Sans Typewriter"/>
                <a:cs typeface="Lucida Sans Typewriter"/>
              </a:rPr>
              <a:t>private</a:t>
            </a:r>
            <a:r>
              <a:rPr dirty="0" sz="800" spc="20"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void</a:t>
            </a:r>
            <a:r>
              <a:rPr dirty="0" sz="800" spc="20"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put(Key</a:t>
            </a:r>
            <a:r>
              <a:rPr dirty="0" sz="800" spc="20"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key,</a:t>
            </a:r>
            <a:r>
              <a:rPr dirty="0" sz="800" spc="20"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Value</a:t>
            </a:r>
            <a:r>
              <a:rPr dirty="0" sz="800" spc="20"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val)</a:t>
            </a:r>
            <a:r>
              <a:rPr dirty="0" sz="800" spc="20"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{</a:t>
            </a:r>
            <a:r>
              <a:rPr dirty="0" sz="800">
                <a:latin typeface="Lucida Sans Typewriter"/>
                <a:cs typeface="Lucida Sans Typewriter"/>
              </a:rPr>
              <a:t>	</a:t>
            </a:r>
            <a:r>
              <a:rPr dirty="0" sz="800" spc="20">
                <a:solidFill>
                  <a:srgbClr val="606060"/>
                </a:solidFill>
                <a:latin typeface="Lucida Sans Typewriter"/>
                <a:cs typeface="Lucida Sans Typewriter"/>
              </a:rPr>
              <a:t>/*</a:t>
            </a:r>
            <a:r>
              <a:rPr dirty="0" sz="800" spc="20">
                <a:solidFill>
                  <a:srgbClr val="606060"/>
                </a:solidFill>
                <a:latin typeface="Lucida Sans Typewriter"/>
                <a:cs typeface="Lucida Sans Typewriter"/>
              </a:rPr>
              <a:t> </a:t>
            </a:r>
            <a:r>
              <a:rPr dirty="0" sz="800" spc="20">
                <a:solidFill>
                  <a:srgbClr val="606060"/>
                </a:solidFill>
                <a:latin typeface="Lucida Sans Typewriter"/>
                <a:cs typeface="Lucida Sans Typewriter"/>
              </a:rPr>
              <a:t>next</a:t>
            </a:r>
            <a:r>
              <a:rPr dirty="0" sz="800" spc="20">
                <a:solidFill>
                  <a:srgbClr val="606060"/>
                </a:solidFill>
                <a:latin typeface="Lucida Sans Typewriter"/>
                <a:cs typeface="Lucida Sans Typewriter"/>
              </a:rPr>
              <a:t> </a:t>
            </a:r>
            <a:r>
              <a:rPr dirty="0" sz="800" spc="20">
                <a:solidFill>
                  <a:srgbClr val="606060"/>
                </a:solidFill>
                <a:latin typeface="Lucida Sans Typewriter"/>
                <a:cs typeface="Lucida Sans Typewriter"/>
              </a:rPr>
              <a:t>slide</a:t>
            </a:r>
            <a:r>
              <a:rPr dirty="0" sz="800" spc="20">
                <a:solidFill>
                  <a:srgbClr val="606060"/>
                </a:solidFill>
                <a:latin typeface="Lucida Sans Typewriter"/>
                <a:cs typeface="Lucida Sans Typewriter"/>
              </a:rPr>
              <a:t> </a:t>
            </a:r>
            <a:r>
              <a:rPr dirty="0" sz="800" spc="20">
                <a:solidFill>
                  <a:srgbClr val="606060"/>
                </a:solidFill>
                <a:latin typeface="Lucida Sans Typewriter"/>
                <a:cs typeface="Lucida Sans Typewriter"/>
              </a:rPr>
              <a:t>*/</a:t>
            </a:r>
            <a:r>
              <a:rPr dirty="0" sz="800">
                <a:solidFill>
                  <a:srgbClr val="606060"/>
                </a:solidFill>
                <a:latin typeface="Lucida Sans Typewriter"/>
                <a:cs typeface="Lucida Sans Typewriter"/>
              </a:rPr>
              <a:t>	</a:t>
            </a:r>
            <a:r>
              <a:rPr dirty="0" sz="800" spc="20">
                <a:latin typeface="Lucida Sans Typewriter"/>
                <a:cs typeface="Lucida Sans Typewriter"/>
              </a:rPr>
              <a:t>}</a:t>
            </a:r>
            <a:endParaRPr sz="800">
              <a:latin typeface="Lucida Sans Typewriter"/>
              <a:cs typeface="Lucida Sans Typewriter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20099" y="2651013"/>
            <a:ext cx="4052570" cy="102489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26034" rIns="0" bIns="0" rtlCol="0" vert="horz">
            <a:spAutoFit/>
          </a:bodyPr>
          <a:lstStyle/>
          <a:p>
            <a:pPr marL="195580">
              <a:lnSpc>
                <a:spcPct val="100000"/>
              </a:lnSpc>
              <a:spcBef>
                <a:spcPts val="204"/>
              </a:spcBef>
            </a:pPr>
            <a:r>
              <a:rPr dirty="0" sz="800" spc="20">
                <a:latin typeface="Lucida Sans Typewriter"/>
                <a:cs typeface="Lucida Sans Typewriter"/>
              </a:rPr>
              <a:t>public</a:t>
            </a:r>
            <a:r>
              <a:rPr dirty="0" sz="800" spc="10"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Value</a:t>
            </a:r>
            <a:r>
              <a:rPr dirty="0" sz="800" spc="15"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get(Key</a:t>
            </a:r>
            <a:r>
              <a:rPr dirty="0" sz="800" spc="10"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key)</a:t>
            </a:r>
            <a:endParaRPr sz="800">
              <a:latin typeface="Lucida Sans Typewriter"/>
              <a:cs typeface="Lucida Sans Typewriter"/>
            </a:endParaRPr>
          </a:p>
          <a:p>
            <a:pPr marL="195580">
              <a:lnSpc>
                <a:spcPct val="100000"/>
              </a:lnSpc>
              <a:spcBef>
                <a:spcPts val="155"/>
              </a:spcBef>
            </a:pPr>
            <a:r>
              <a:rPr dirty="0" sz="800" spc="20">
                <a:latin typeface="Lucida Sans Typewriter"/>
                <a:cs typeface="Lucida Sans Typewriter"/>
              </a:rPr>
              <a:t>{</a:t>
            </a:r>
            <a:endParaRPr sz="800">
              <a:latin typeface="Lucida Sans Typewriter"/>
              <a:cs typeface="Lucida Sans Typewriter"/>
            </a:endParaRPr>
          </a:p>
          <a:p>
            <a:pPr marL="581025" marR="125095" indent="-193040">
              <a:lnSpc>
                <a:spcPct val="121500"/>
              </a:lnSpc>
            </a:pPr>
            <a:r>
              <a:rPr dirty="0" sz="800" spc="20">
                <a:latin typeface="Lucida Sans Typewriter"/>
                <a:cs typeface="Lucida Sans Typewriter"/>
              </a:rPr>
              <a:t>for (int</a:t>
            </a:r>
            <a:r>
              <a:rPr dirty="0" sz="800" spc="25"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i</a:t>
            </a:r>
            <a:r>
              <a:rPr dirty="0" sz="800" spc="25"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=</a:t>
            </a:r>
            <a:r>
              <a:rPr dirty="0" sz="800" spc="25"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hash(key); keys[i]</a:t>
            </a:r>
            <a:r>
              <a:rPr dirty="0" sz="800" spc="25"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!=</a:t>
            </a:r>
            <a:r>
              <a:rPr dirty="0" sz="800" spc="25"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null;</a:t>
            </a:r>
            <a:r>
              <a:rPr dirty="0" sz="800" spc="25"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i</a:t>
            </a:r>
            <a:r>
              <a:rPr dirty="0" sz="800" spc="25"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= (i+1)</a:t>
            </a:r>
            <a:r>
              <a:rPr dirty="0" sz="800" spc="25"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%</a:t>
            </a:r>
            <a:r>
              <a:rPr dirty="0" sz="800" spc="25"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M) </a:t>
            </a:r>
            <a:r>
              <a:rPr dirty="0" sz="800" spc="-470"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if</a:t>
            </a:r>
            <a:r>
              <a:rPr dirty="0" sz="800" spc="15"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(key.equals(keys[i]))</a:t>
            </a:r>
            <a:endParaRPr sz="800">
              <a:latin typeface="Lucida Sans Typewriter"/>
              <a:cs typeface="Lucida Sans Typewriter"/>
            </a:endParaRPr>
          </a:p>
          <a:p>
            <a:pPr marL="387985" marR="2243455" indent="448945">
              <a:lnSpc>
                <a:spcPct val="121500"/>
              </a:lnSpc>
            </a:pPr>
            <a:r>
              <a:rPr dirty="0" sz="800" spc="20">
                <a:latin typeface="Lucida Sans Typewriter"/>
                <a:cs typeface="Lucida Sans Typewriter"/>
              </a:rPr>
              <a:t>return</a:t>
            </a:r>
            <a:r>
              <a:rPr dirty="0" sz="800" spc="-30"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vals[i]; </a:t>
            </a:r>
            <a:r>
              <a:rPr dirty="0" sz="800" spc="-470"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return</a:t>
            </a:r>
            <a:r>
              <a:rPr dirty="0" sz="800" spc="10"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null;</a:t>
            </a:r>
            <a:endParaRPr sz="800">
              <a:latin typeface="Lucida Sans Typewriter"/>
              <a:cs typeface="Lucida Sans Typewriter"/>
            </a:endParaRPr>
          </a:p>
          <a:p>
            <a:pPr marL="195580">
              <a:lnSpc>
                <a:spcPct val="100000"/>
              </a:lnSpc>
              <a:spcBef>
                <a:spcPts val="160"/>
              </a:spcBef>
            </a:pPr>
            <a:r>
              <a:rPr dirty="0" sz="800" spc="20">
                <a:latin typeface="Lucida Sans Typewriter"/>
                <a:cs typeface="Lucida Sans Typewriter"/>
              </a:rPr>
              <a:t>}</a:t>
            </a:r>
            <a:endParaRPr sz="800">
              <a:latin typeface="Lucida Sans Typewriter"/>
              <a:cs typeface="Lucida Sans Typewriter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10769" y="4128362"/>
            <a:ext cx="90170" cy="15367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800" spc="20">
                <a:latin typeface="Lucida Sans Typewriter"/>
                <a:cs typeface="Lucida Sans Typewriter"/>
              </a:rPr>
              <a:t>}</a:t>
            </a:r>
            <a:endParaRPr sz="800">
              <a:latin typeface="Lucida Sans Typewriter"/>
              <a:cs typeface="Lucida Sans Typewriter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39997" y="396219"/>
            <a:ext cx="3818254" cy="2247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00" spc="10">
                <a:latin typeface="Arial"/>
                <a:cs typeface="Arial"/>
              </a:rPr>
              <a:t>Linear-probing</a:t>
            </a:r>
            <a:r>
              <a:rPr dirty="0" sz="1300" spc="40">
                <a:latin typeface="Arial"/>
                <a:cs typeface="Arial"/>
              </a:rPr>
              <a:t> </a:t>
            </a:r>
            <a:r>
              <a:rPr dirty="0" sz="1300" spc="5">
                <a:latin typeface="Arial"/>
                <a:cs typeface="Arial"/>
              </a:rPr>
              <a:t>symbol</a:t>
            </a:r>
            <a:r>
              <a:rPr dirty="0" sz="1300" spc="45">
                <a:latin typeface="Arial"/>
                <a:cs typeface="Arial"/>
              </a:rPr>
              <a:t> </a:t>
            </a:r>
            <a:r>
              <a:rPr dirty="0" sz="1300" spc="30">
                <a:latin typeface="Arial"/>
                <a:cs typeface="Arial"/>
              </a:rPr>
              <a:t>table: </a:t>
            </a:r>
            <a:r>
              <a:rPr dirty="0" sz="1300" spc="55">
                <a:latin typeface="Arial"/>
                <a:cs typeface="Arial"/>
              </a:rPr>
              <a:t> </a:t>
            </a:r>
            <a:r>
              <a:rPr dirty="0" sz="1300" spc="-5">
                <a:latin typeface="Arial"/>
                <a:cs typeface="Arial"/>
              </a:rPr>
              <a:t>Java</a:t>
            </a:r>
            <a:r>
              <a:rPr dirty="0" sz="1300" spc="40">
                <a:latin typeface="Arial"/>
                <a:cs typeface="Arial"/>
              </a:rPr>
              <a:t> </a:t>
            </a:r>
            <a:r>
              <a:rPr dirty="0" sz="1300" spc="10">
                <a:latin typeface="Arial"/>
                <a:cs typeface="Arial"/>
              </a:rPr>
              <a:t>implementation</a:t>
            </a:r>
            <a:endParaRPr sz="13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246003" y="4615831"/>
            <a:ext cx="115570" cy="1111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550" spc="5">
                <a:latin typeface="Lucida Sans"/>
                <a:cs typeface="Lucida Sans"/>
              </a:rPr>
              <a:t>29</a:t>
            </a:r>
            <a:endParaRPr sz="550">
              <a:latin typeface="Lucida Sans"/>
              <a:cs typeface="Lucida San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162582" y="1552591"/>
            <a:ext cx="1000760" cy="2984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49530">
              <a:lnSpc>
                <a:spcPct val="119200"/>
              </a:lnSpc>
              <a:spcBef>
                <a:spcPts val="100"/>
              </a:spcBef>
            </a:pPr>
            <a:r>
              <a:rPr dirty="0" sz="750">
                <a:solidFill>
                  <a:srgbClr val="8D3124"/>
                </a:solidFill>
                <a:latin typeface="Lucida Sans"/>
                <a:cs typeface="Lucida Sans"/>
              </a:rPr>
              <a:t>array </a:t>
            </a:r>
            <a:r>
              <a:rPr dirty="0" sz="750" spc="-5">
                <a:solidFill>
                  <a:srgbClr val="8D3124"/>
                </a:solidFill>
                <a:latin typeface="Lucida Sans"/>
                <a:cs typeface="Lucida Sans"/>
              </a:rPr>
              <a:t>doubling and </a:t>
            </a:r>
            <a:r>
              <a:rPr dirty="0" sz="750">
                <a:solidFill>
                  <a:srgbClr val="8D3124"/>
                </a:solidFill>
                <a:latin typeface="Lucida Sans"/>
                <a:cs typeface="Lucida Sans"/>
              </a:rPr>
              <a:t> halving</a:t>
            </a:r>
            <a:r>
              <a:rPr dirty="0" sz="750" spc="-25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dirty="0" sz="750" spc="-5">
                <a:solidFill>
                  <a:srgbClr val="8D3124"/>
                </a:solidFill>
                <a:latin typeface="Lucida Sans"/>
                <a:cs typeface="Lucida Sans"/>
              </a:rPr>
              <a:t>code</a:t>
            </a:r>
            <a:r>
              <a:rPr dirty="0" sz="750" spc="-20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dirty="0" sz="750" spc="-5">
                <a:solidFill>
                  <a:srgbClr val="8D3124"/>
                </a:solidFill>
                <a:latin typeface="Lucida Sans"/>
                <a:cs typeface="Lucida Sans"/>
              </a:rPr>
              <a:t>omitted</a:t>
            </a:r>
            <a:endParaRPr sz="750">
              <a:latin typeface="Lucida Sans"/>
              <a:cs typeface="Lucida Sans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4554304" y="1702603"/>
            <a:ext cx="560070" cy="57150"/>
            <a:chOff x="4554304" y="1702603"/>
            <a:chExt cx="560070" cy="57150"/>
          </a:xfrm>
        </p:grpSpPr>
        <p:sp>
          <p:nvSpPr>
            <p:cNvPr id="16" name="object 16"/>
            <p:cNvSpPr/>
            <p:nvPr/>
          </p:nvSpPr>
          <p:spPr>
            <a:xfrm>
              <a:off x="4591033" y="1731037"/>
              <a:ext cx="523240" cy="635"/>
            </a:xfrm>
            <a:custGeom>
              <a:avLst/>
              <a:gdLst/>
              <a:ahLst/>
              <a:cxnLst/>
              <a:rect l="l" t="t" r="r" b="b"/>
              <a:pathLst>
                <a:path w="523239" h="635">
                  <a:moveTo>
                    <a:pt x="0" y="0"/>
                  </a:moveTo>
                  <a:lnTo>
                    <a:pt x="5924" y="0"/>
                  </a:lnTo>
                  <a:lnTo>
                    <a:pt x="523028" y="55"/>
                  </a:lnTo>
                </a:path>
              </a:pathLst>
            </a:custGeom>
            <a:ln w="11848">
              <a:solidFill>
                <a:srgbClr val="8D312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4554304" y="1702603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>
                  <a:moveTo>
                    <a:pt x="56873" y="0"/>
                  </a:moveTo>
                  <a:lnTo>
                    <a:pt x="0" y="28429"/>
                  </a:lnTo>
                  <a:lnTo>
                    <a:pt x="56867" y="56870"/>
                  </a:lnTo>
                  <a:lnTo>
                    <a:pt x="42655" y="28429"/>
                  </a:lnTo>
                  <a:lnTo>
                    <a:pt x="56873" y="0"/>
                  </a:lnTo>
                  <a:close/>
                </a:path>
              </a:pathLst>
            </a:custGeom>
            <a:solidFill>
              <a:srgbClr val="8D3124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8" name="object 18"/>
          <p:cNvGrpSpPr/>
          <p:nvPr/>
        </p:nvGrpSpPr>
        <p:grpSpPr>
          <a:xfrm>
            <a:off x="6592379" y="237122"/>
            <a:ext cx="6066790" cy="4549775"/>
            <a:chOff x="6592379" y="237122"/>
            <a:chExt cx="6066790" cy="4549775"/>
          </a:xfrm>
        </p:grpSpPr>
        <p:sp>
          <p:nvSpPr>
            <p:cNvPr id="19" name="object 19"/>
            <p:cNvSpPr/>
            <p:nvPr/>
          </p:nvSpPr>
          <p:spPr>
            <a:xfrm>
              <a:off x="6592379" y="237122"/>
              <a:ext cx="6066790" cy="4549775"/>
            </a:xfrm>
            <a:custGeom>
              <a:avLst/>
              <a:gdLst/>
              <a:ahLst/>
              <a:cxnLst/>
              <a:rect l="l" t="t" r="r" b="b"/>
              <a:pathLst>
                <a:path w="6066790" h="4549775">
                  <a:moveTo>
                    <a:pt x="0" y="0"/>
                  </a:moveTo>
                  <a:lnTo>
                    <a:pt x="6066212" y="0"/>
                  </a:lnTo>
                  <a:lnTo>
                    <a:pt x="6066212" y="4549659"/>
                  </a:lnTo>
                  <a:lnTo>
                    <a:pt x="0" y="45496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6977442" y="699147"/>
              <a:ext cx="5302250" cy="635"/>
            </a:xfrm>
            <a:custGeom>
              <a:avLst/>
              <a:gdLst/>
              <a:ahLst/>
              <a:cxnLst/>
              <a:rect l="l" t="t" r="r" b="b"/>
              <a:pathLst>
                <a:path w="5302250" h="634">
                  <a:moveTo>
                    <a:pt x="0" y="49"/>
                  </a:moveTo>
                  <a:lnTo>
                    <a:pt x="5302012" y="0"/>
                  </a:lnTo>
                </a:path>
              </a:pathLst>
            </a:custGeom>
            <a:ln w="59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35973" y="1096108"/>
              <a:ext cx="4360090" cy="3347080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7066302" y="2651013"/>
            <a:ext cx="4052570" cy="1321435"/>
          </a:xfrm>
          <a:prstGeom prst="rect">
            <a:avLst/>
          </a:prstGeom>
          <a:solidFill>
            <a:srgbClr val="FFFFFF"/>
          </a:solidFill>
        </p:spPr>
        <p:txBody>
          <a:bodyPr wrap="square" lIns="0" tIns="26034" rIns="0" bIns="0" rtlCol="0" vert="horz">
            <a:spAutoFit/>
          </a:bodyPr>
          <a:lstStyle/>
          <a:p>
            <a:pPr marL="195580">
              <a:lnSpc>
                <a:spcPct val="100000"/>
              </a:lnSpc>
              <a:spcBef>
                <a:spcPts val="204"/>
              </a:spcBef>
            </a:pPr>
            <a:r>
              <a:rPr dirty="0" sz="800" spc="20">
                <a:latin typeface="Lucida Sans Typewriter"/>
                <a:cs typeface="Lucida Sans Typewriter"/>
              </a:rPr>
              <a:t>public void put(Key key, Value val)</a:t>
            </a:r>
            <a:endParaRPr sz="800">
              <a:latin typeface="Lucida Sans Typewriter"/>
              <a:cs typeface="Lucida Sans Typewriter"/>
            </a:endParaRPr>
          </a:p>
          <a:p>
            <a:pPr marL="195580">
              <a:lnSpc>
                <a:spcPct val="100000"/>
              </a:lnSpc>
              <a:spcBef>
                <a:spcPts val="155"/>
              </a:spcBef>
            </a:pPr>
            <a:r>
              <a:rPr dirty="0" sz="800" spc="20">
                <a:latin typeface="Lucida Sans Typewriter"/>
                <a:cs typeface="Lucida Sans Typewriter"/>
              </a:rPr>
              <a:t>{</a:t>
            </a:r>
            <a:endParaRPr sz="800">
              <a:latin typeface="Lucida Sans Typewriter"/>
              <a:cs typeface="Lucida Sans Typewriter"/>
            </a:endParaRPr>
          </a:p>
          <a:p>
            <a:pPr marL="387985">
              <a:lnSpc>
                <a:spcPct val="100000"/>
              </a:lnSpc>
              <a:spcBef>
                <a:spcPts val="209"/>
              </a:spcBef>
            </a:pPr>
            <a:r>
              <a:rPr dirty="0" sz="800" spc="20">
                <a:latin typeface="Lucida Sans Typewriter"/>
                <a:cs typeface="Lucida Sans Typewriter"/>
              </a:rPr>
              <a:t>int</a:t>
            </a:r>
            <a:r>
              <a:rPr dirty="0" sz="800" spc="-35"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i;</a:t>
            </a:r>
            <a:endParaRPr sz="800">
              <a:latin typeface="Lucida Sans Typewriter"/>
              <a:cs typeface="Lucida Sans Typewriter"/>
            </a:endParaRPr>
          </a:p>
          <a:p>
            <a:pPr marL="581025" marR="381635" indent="-193040">
              <a:lnSpc>
                <a:spcPct val="121500"/>
              </a:lnSpc>
            </a:pPr>
            <a:r>
              <a:rPr dirty="0" sz="800" spc="20">
                <a:latin typeface="Lucida Sans Typewriter"/>
                <a:cs typeface="Lucida Sans Typewriter"/>
              </a:rPr>
              <a:t>for (i</a:t>
            </a:r>
            <a:r>
              <a:rPr dirty="0" sz="800" spc="25"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= hash(key);</a:t>
            </a:r>
            <a:r>
              <a:rPr dirty="0" sz="800" spc="25"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keys[i]</a:t>
            </a:r>
            <a:r>
              <a:rPr dirty="0" sz="800" spc="25"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!= null;</a:t>
            </a:r>
            <a:r>
              <a:rPr dirty="0" sz="800" spc="25"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i</a:t>
            </a:r>
            <a:r>
              <a:rPr dirty="0" sz="800" spc="25"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= (i+1)</a:t>
            </a:r>
            <a:r>
              <a:rPr dirty="0" sz="800" spc="25"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%</a:t>
            </a:r>
            <a:r>
              <a:rPr dirty="0" sz="800" spc="25"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M) </a:t>
            </a:r>
            <a:r>
              <a:rPr dirty="0" sz="800" spc="-470"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if</a:t>
            </a:r>
            <a:r>
              <a:rPr dirty="0" sz="800" spc="15"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(keys[i].equals(key))</a:t>
            </a:r>
            <a:endParaRPr sz="800">
              <a:latin typeface="Lucida Sans Typewriter"/>
              <a:cs typeface="Lucida Sans Typewriter"/>
            </a:endParaRPr>
          </a:p>
          <a:p>
            <a:pPr marL="387985" marR="2757170" indent="448945">
              <a:lnSpc>
                <a:spcPct val="119000"/>
              </a:lnSpc>
              <a:spcBef>
                <a:spcPts val="20"/>
              </a:spcBef>
            </a:pPr>
            <a:r>
              <a:rPr dirty="0" sz="800" spc="20">
                <a:latin typeface="Lucida Sans Typewriter"/>
                <a:cs typeface="Lucida Sans Typewriter"/>
              </a:rPr>
              <a:t>break; </a:t>
            </a:r>
            <a:r>
              <a:rPr dirty="0" sz="800" spc="-470"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keys[i]</a:t>
            </a:r>
            <a:r>
              <a:rPr dirty="0" sz="800" spc="-10"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=</a:t>
            </a:r>
            <a:r>
              <a:rPr dirty="0" sz="800" spc="-10"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key; </a:t>
            </a:r>
            <a:r>
              <a:rPr dirty="0" sz="800" spc="-465"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vals[i]</a:t>
            </a:r>
            <a:r>
              <a:rPr dirty="0" sz="800" spc="-10"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=</a:t>
            </a:r>
            <a:r>
              <a:rPr dirty="0" sz="800" spc="-10"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val;</a:t>
            </a:r>
            <a:endParaRPr sz="800">
              <a:latin typeface="Lucida Sans Typewriter"/>
              <a:cs typeface="Lucida Sans Typewriter"/>
            </a:endParaRPr>
          </a:p>
          <a:p>
            <a:pPr marL="195580">
              <a:lnSpc>
                <a:spcPct val="100000"/>
              </a:lnSpc>
              <a:spcBef>
                <a:spcPts val="209"/>
              </a:spcBef>
            </a:pPr>
            <a:r>
              <a:rPr dirty="0" sz="800" spc="20">
                <a:latin typeface="Lucida Sans Typewriter"/>
                <a:cs typeface="Lucida Sans Typewriter"/>
              </a:rPr>
              <a:t>}</a:t>
            </a:r>
            <a:endParaRPr sz="800">
              <a:latin typeface="Lucida Sans Typewriter"/>
              <a:cs typeface="Lucida Sans Typewriter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971517" y="1131652"/>
            <a:ext cx="4241800" cy="3228975"/>
          </a:xfrm>
          <a:prstGeom prst="rect">
            <a:avLst/>
          </a:prstGeom>
          <a:solidFill>
            <a:srgbClr val="CBCBCB"/>
          </a:solidFill>
        </p:spPr>
        <p:txBody>
          <a:bodyPr wrap="square" lIns="0" tIns="76200" rIns="0" bIns="0" rtlCol="0" vert="horz">
            <a:spAutoFit/>
          </a:bodyPr>
          <a:lstStyle/>
          <a:p>
            <a:pPr marL="97790">
              <a:lnSpc>
                <a:spcPct val="100000"/>
              </a:lnSpc>
              <a:spcBef>
                <a:spcPts val="600"/>
              </a:spcBef>
            </a:pPr>
            <a:r>
              <a:rPr dirty="0" sz="800" spc="20">
                <a:latin typeface="Lucida Sans Typewriter"/>
                <a:cs typeface="Lucida Sans Typewriter"/>
              </a:rPr>
              <a:t>public</a:t>
            </a:r>
            <a:r>
              <a:rPr dirty="0" sz="800" spc="30"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class</a:t>
            </a:r>
            <a:r>
              <a:rPr dirty="0" sz="800" spc="30"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LinearProbingHashST&lt;Key,</a:t>
            </a:r>
            <a:r>
              <a:rPr dirty="0" sz="800" spc="30">
                <a:latin typeface="Lucida Sans Typewriter"/>
                <a:cs typeface="Lucida Sans Typewriter"/>
              </a:rPr>
              <a:t> </a:t>
            </a:r>
            <a:r>
              <a:rPr dirty="0" sz="800" spc="20">
                <a:latin typeface="Lucida Sans Typewriter"/>
                <a:cs typeface="Lucida Sans Typewriter"/>
              </a:rPr>
              <a:t>Value&gt;</a:t>
            </a:r>
            <a:endParaRPr sz="800">
              <a:latin typeface="Lucida Sans Typewriter"/>
              <a:cs typeface="Lucida Sans Typewriter"/>
            </a:endParaRPr>
          </a:p>
          <a:p>
            <a:pPr marL="97790">
              <a:lnSpc>
                <a:spcPct val="100000"/>
              </a:lnSpc>
              <a:spcBef>
                <a:spcPts val="155"/>
              </a:spcBef>
            </a:pPr>
            <a:r>
              <a:rPr dirty="0" sz="800" spc="20">
                <a:latin typeface="Lucida Sans Typewriter"/>
                <a:cs typeface="Lucida Sans Typewriter"/>
              </a:rPr>
              <a:t>{</a:t>
            </a:r>
            <a:endParaRPr sz="800">
              <a:latin typeface="Lucida Sans Typewriter"/>
              <a:cs typeface="Lucida Sans Typewriter"/>
            </a:endParaRPr>
          </a:p>
          <a:p>
            <a:pPr marL="290195">
              <a:lnSpc>
                <a:spcPct val="100000"/>
              </a:lnSpc>
              <a:spcBef>
                <a:spcPts val="210"/>
              </a:spcBef>
            </a:pPr>
            <a:r>
              <a:rPr dirty="0" sz="800" spc="20">
                <a:solidFill>
                  <a:srgbClr val="606060"/>
                </a:solidFill>
                <a:latin typeface="Lucida Sans Typewriter"/>
                <a:cs typeface="Lucida Sans Typewriter"/>
              </a:rPr>
              <a:t>private</a:t>
            </a:r>
            <a:r>
              <a:rPr dirty="0" sz="800" spc="10">
                <a:solidFill>
                  <a:srgbClr val="606060"/>
                </a:solidFill>
                <a:latin typeface="Lucida Sans Typewriter"/>
                <a:cs typeface="Lucida Sans Typewriter"/>
              </a:rPr>
              <a:t> </a:t>
            </a:r>
            <a:r>
              <a:rPr dirty="0" sz="800" spc="20">
                <a:solidFill>
                  <a:srgbClr val="606060"/>
                </a:solidFill>
                <a:latin typeface="Lucida Sans Typewriter"/>
                <a:cs typeface="Lucida Sans Typewriter"/>
              </a:rPr>
              <a:t>int</a:t>
            </a:r>
            <a:r>
              <a:rPr dirty="0" sz="800" spc="10">
                <a:solidFill>
                  <a:srgbClr val="606060"/>
                </a:solidFill>
                <a:latin typeface="Lucida Sans Typewriter"/>
                <a:cs typeface="Lucida Sans Typewriter"/>
              </a:rPr>
              <a:t> </a:t>
            </a:r>
            <a:r>
              <a:rPr dirty="0" sz="800" spc="20">
                <a:solidFill>
                  <a:srgbClr val="606060"/>
                </a:solidFill>
                <a:latin typeface="Lucida Sans Typewriter"/>
                <a:cs typeface="Lucida Sans Typewriter"/>
              </a:rPr>
              <a:t>M</a:t>
            </a:r>
            <a:r>
              <a:rPr dirty="0" sz="800" spc="10">
                <a:solidFill>
                  <a:srgbClr val="606060"/>
                </a:solidFill>
                <a:latin typeface="Lucida Sans Typewriter"/>
                <a:cs typeface="Lucida Sans Typewriter"/>
              </a:rPr>
              <a:t> </a:t>
            </a:r>
            <a:r>
              <a:rPr dirty="0" sz="800" spc="20">
                <a:solidFill>
                  <a:srgbClr val="606060"/>
                </a:solidFill>
                <a:latin typeface="Lucida Sans Typewriter"/>
                <a:cs typeface="Lucida Sans Typewriter"/>
              </a:rPr>
              <a:t>=</a:t>
            </a:r>
            <a:r>
              <a:rPr dirty="0" sz="800" spc="15">
                <a:solidFill>
                  <a:srgbClr val="606060"/>
                </a:solidFill>
                <a:latin typeface="Lucida Sans Typewriter"/>
                <a:cs typeface="Lucida Sans Typewriter"/>
              </a:rPr>
              <a:t> </a:t>
            </a:r>
            <a:r>
              <a:rPr dirty="0" sz="800" spc="20">
                <a:solidFill>
                  <a:srgbClr val="606060"/>
                </a:solidFill>
                <a:latin typeface="Lucida Sans Typewriter"/>
                <a:cs typeface="Lucida Sans Typewriter"/>
              </a:rPr>
              <a:t>30001;</a:t>
            </a:r>
            <a:endParaRPr sz="800">
              <a:latin typeface="Lucida Sans Typewriter"/>
              <a:cs typeface="Lucida Sans Typewriter"/>
            </a:endParaRPr>
          </a:p>
          <a:p>
            <a:pPr marL="290195" marR="925830">
              <a:lnSpc>
                <a:spcPct val="121500"/>
              </a:lnSpc>
              <a:tabLst>
                <a:tab pos="1317625" algn="l"/>
                <a:tab pos="2408555" algn="l"/>
              </a:tabLst>
            </a:pPr>
            <a:r>
              <a:rPr dirty="0" sz="800" spc="20">
                <a:solidFill>
                  <a:srgbClr val="606060"/>
                </a:solidFill>
                <a:latin typeface="Lucida Sans Typewriter"/>
                <a:cs typeface="Lucida Sans Typewriter"/>
              </a:rPr>
              <a:t>private</a:t>
            </a:r>
            <a:r>
              <a:rPr dirty="0" sz="800" spc="25">
                <a:solidFill>
                  <a:srgbClr val="606060"/>
                </a:solidFill>
                <a:latin typeface="Lucida Sans Typewriter"/>
                <a:cs typeface="Lucida Sans Typewriter"/>
              </a:rPr>
              <a:t> </a:t>
            </a:r>
            <a:r>
              <a:rPr dirty="0" sz="800" spc="20">
                <a:solidFill>
                  <a:srgbClr val="606060"/>
                </a:solidFill>
                <a:latin typeface="Lucida Sans Typewriter"/>
                <a:cs typeface="Lucida Sans Typewriter"/>
              </a:rPr>
              <a:t>Value[]</a:t>
            </a:r>
            <a:r>
              <a:rPr dirty="0" sz="800" spc="25">
                <a:solidFill>
                  <a:srgbClr val="606060"/>
                </a:solidFill>
                <a:latin typeface="Lucida Sans Typewriter"/>
                <a:cs typeface="Lucida Sans Typewriter"/>
              </a:rPr>
              <a:t> </a:t>
            </a:r>
            <a:r>
              <a:rPr dirty="0" sz="800" spc="20">
                <a:solidFill>
                  <a:srgbClr val="606060"/>
                </a:solidFill>
                <a:latin typeface="Lucida Sans Typewriter"/>
                <a:cs typeface="Lucida Sans Typewriter"/>
              </a:rPr>
              <a:t>vals</a:t>
            </a:r>
            <a:r>
              <a:rPr dirty="0" sz="800" spc="25">
                <a:solidFill>
                  <a:srgbClr val="606060"/>
                </a:solidFill>
                <a:latin typeface="Lucida Sans Typewriter"/>
                <a:cs typeface="Lucida Sans Typewriter"/>
              </a:rPr>
              <a:t> </a:t>
            </a:r>
            <a:r>
              <a:rPr dirty="0" sz="800" spc="20">
                <a:solidFill>
                  <a:srgbClr val="606060"/>
                </a:solidFill>
                <a:latin typeface="Lucida Sans Typewriter"/>
                <a:cs typeface="Lucida Sans Typewriter"/>
              </a:rPr>
              <a:t>=</a:t>
            </a:r>
            <a:r>
              <a:rPr dirty="0" sz="800" spc="30">
                <a:solidFill>
                  <a:srgbClr val="606060"/>
                </a:solidFill>
                <a:latin typeface="Lucida Sans Typewriter"/>
                <a:cs typeface="Lucida Sans Typewriter"/>
              </a:rPr>
              <a:t> </a:t>
            </a:r>
            <a:r>
              <a:rPr dirty="0" sz="800" spc="20">
                <a:solidFill>
                  <a:srgbClr val="606060"/>
                </a:solidFill>
                <a:latin typeface="Lucida Sans Typewriter"/>
                <a:cs typeface="Lucida Sans Typewriter"/>
              </a:rPr>
              <a:t>(Value[])</a:t>
            </a:r>
            <a:r>
              <a:rPr dirty="0" sz="800" spc="25">
                <a:solidFill>
                  <a:srgbClr val="606060"/>
                </a:solidFill>
                <a:latin typeface="Lucida Sans Typewriter"/>
                <a:cs typeface="Lucida Sans Typewriter"/>
              </a:rPr>
              <a:t> </a:t>
            </a:r>
            <a:r>
              <a:rPr dirty="0" sz="800" spc="20">
                <a:solidFill>
                  <a:srgbClr val="606060"/>
                </a:solidFill>
                <a:latin typeface="Lucida Sans Typewriter"/>
                <a:cs typeface="Lucida Sans Typewriter"/>
              </a:rPr>
              <a:t>new</a:t>
            </a:r>
            <a:r>
              <a:rPr dirty="0" sz="800" spc="25">
                <a:solidFill>
                  <a:srgbClr val="606060"/>
                </a:solidFill>
                <a:latin typeface="Lucida Sans Typewriter"/>
                <a:cs typeface="Lucida Sans Typewriter"/>
              </a:rPr>
              <a:t> </a:t>
            </a:r>
            <a:r>
              <a:rPr dirty="0" sz="800" spc="20">
                <a:solidFill>
                  <a:srgbClr val="606060"/>
                </a:solidFill>
                <a:latin typeface="Lucida Sans Typewriter"/>
                <a:cs typeface="Lucida Sans Typewriter"/>
              </a:rPr>
              <a:t>Object[M]; </a:t>
            </a:r>
            <a:r>
              <a:rPr dirty="0" sz="800" spc="-465">
                <a:solidFill>
                  <a:srgbClr val="606060"/>
                </a:solidFill>
                <a:latin typeface="Lucida Sans Typewriter"/>
                <a:cs typeface="Lucida Sans Typewriter"/>
              </a:rPr>
              <a:t> </a:t>
            </a:r>
            <a:r>
              <a:rPr dirty="0" sz="800" spc="20">
                <a:solidFill>
                  <a:srgbClr val="606060"/>
                </a:solidFill>
                <a:latin typeface="Lucida Sans Typewriter"/>
                <a:cs typeface="Lucida Sans Typewriter"/>
              </a:rPr>
              <a:t>private</a:t>
            </a:r>
            <a:r>
              <a:rPr dirty="0" sz="800" spc="40">
                <a:solidFill>
                  <a:srgbClr val="606060"/>
                </a:solidFill>
                <a:latin typeface="Lucida Sans Typewriter"/>
                <a:cs typeface="Lucida Sans Typewriter"/>
              </a:rPr>
              <a:t> </a:t>
            </a:r>
            <a:r>
              <a:rPr dirty="0" sz="800" spc="20">
                <a:solidFill>
                  <a:srgbClr val="606060"/>
                </a:solidFill>
                <a:latin typeface="Lucida Sans Typewriter"/>
                <a:cs typeface="Lucida Sans Typewriter"/>
              </a:rPr>
              <a:t>Key[]	keys</a:t>
            </a:r>
            <a:r>
              <a:rPr dirty="0" sz="800" spc="35">
                <a:solidFill>
                  <a:srgbClr val="606060"/>
                </a:solidFill>
                <a:latin typeface="Lucida Sans Typewriter"/>
                <a:cs typeface="Lucida Sans Typewriter"/>
              </a:rPr>
              <a:t> </a:t>
            </a:r>
            <a:r>
              <a:rPr dirty="0" sz="800" spc="20">
                <a:solidFill>
                  <a:srgbClr val="606060"/>
                </a:solidFill>
                <a:latin typeface="Lucida Sans Typewriter"/>
                <a:cs typeface="Lucida Sans Typewriter"/>
              </a:rPr>
              <a:t>=</a:t>
            </a:r>
            <a:r>
              <a:rPr dirty="0" sz="800" spc="30">
                <a:solidFill>
                  <a:srgbClr val="606060"/>
                </a:solidFill>
                <a:latin typeface="Lucida Sans Typewriter"/>
                <a:cs typeface="Lucida Sans Typewriter"/>
              </a:rPr>
              <a:t> </a:t>
            </a:r>
            <a:r>
              <a:rPr dirty="0" sz="800" spc="20">
                <a:solidFill>
                  <a:srgbClr val="606060"/>
                </a:solidFill>
                <a:latin typeface="Lucida Sans Typewriter"/>
                <a:cs typeface="Lucida Sans Typewriter"/>
              </a:rPr>
              <a:t>(Key[])	new</a:t>
            </a:r>
            <a:r>
              <a:rPr dirty="0" sz="800" spc="-30">
                <a:solidFill>
                  <a:srgbClr val="606060"/>
                </a:solidFill>
                <a:latin typeface="Lucida Sans Typewriter"/>
                <a:cs typeface="Lucida Sans Typewriter"/>
              </a:rPr>
              <a:t> </a:t>
            </a:r>
            <a:r>
              <a:rPr dirty="0" sz="800" spc="20">
                <a:solidFill>
                  <a:srgbClr val="606060"/>
                </a:solidFill>
                <a:latin typeface="Lucida Sans Typewriter"/>
                <a:cs typeface="Lucida Sans Typewriter"/>
              </a:rPr>
              <a:t>Object[M];</a:t>
            </a:r>
            <a:endParaRPr sz="800">
              <a:latin typeface="Lucida Sans Typewriter"/>
              <a:cs typeface="Lucida Sans Typewriter"/>
            </a:endParaRPr>
          </a:p>
          <a:p>
            <a:pPr marL="290195" marR="541020">
              <a:lnSpc>
                <a:spcPts val="2330"/>
              </a:lnSpc>
              <a:spcBef>
                <a:spcPts val="260"/>
              </a:spcBef>
              <a:tabLst>
                <a:tab pos="2087880" algn="l"/>
                <a:tab pos="3371850" algn="l"/>
                <a:tab pos="3628390" algn="l"/>
              </a:tabLst>
            </a:pPr>
            <a:r>
              <a:rPr dirty="0" sz="800" spc="20">
                <a:solidFill>
                  <a:srgbClr val="606060"/>
                </a:solidFill>
                <a:latin typeface="Lucida Sans Typewriter"/>
                <a:cs typeface="Lucida Sans Typewriter"/>
              </a:rPr>
              <a:t>private</a:t>
            </a:r>
            <a:r>
              <a:rPr dirty="0" sz="800" spc="20">
                <a:solidFill>
                  <a:srgbClr val="606060"/>
                </a:solidFill>
                <a:latin typeface="Lucida Sans Typewriter"/>
                <a:cs typeface="Lucida Sans Typewriter"/>
              </a:rPr>
              <a:t> </a:t>
            </a:r>
            <a:r>
              <a:rPr dirty="0" sz="800" spc="20">
                <a:solidFill>
                  <a:srgbClr val="606060"/>
                </a:solidFill>
                <a:latin typeface="Lucida Sans Typewriter"/>
                <a:cs typeface="Lucida Sans Typewriter"/>
              </a:rPr>
              <a:t>int</a:t>
            </a:r>
            <a:r>
              <a:rPr dirty="0" sz="800" spc="20">
                <a:solidFill>
                  <a:srgbClr val="606060"/>
                </a:solidFill>
                <a:latin typeface="Lucida Sans Typewriter"/>
                <a:cs typeface="Lucida Sans Typewriter"/>
              </a:rPr>
              <a:t> </a:t>
            </a:r>
            <a:r>
              <a:rPr dirty="0" sz="800" spc="20">
                <a:solidFill>
                  <a:srgbClr val="606060"/>
                </a:solidFill>
                <a:latin typeface="Lucida Sans Typewriter"/>
                <a:cs typeface="Lucida Sans Typewriter"/>
              </a:rPr>
              <a:t>hash(Key</a:t>
            </a:r>
            <a:r>
              <a:rPr dirty="0" sz="800" spc="20">
                <a:solidFill>
                  <a:srgbClr val="606060"/>
                </a:solidFill>
                <a:latin typeface="Lucida Sans Typewriter"/>
                <a:cs typeface="Lucida Sans Typewriter"/>
              </a:rPr>
              <a:t> </a:t>
            </a:r>
            <a:r>
              <a:rPr dirty="0" sz="800" spc="20">
                <a:solidFill>
                  <a:srgbClr val="606060"/>
                </a:solidFill>
                <a:latin typeface="Lucida Sans Typewriter"/>
                <a:cs typeface="Lucida Sans Typewriter"/>
              </a:rPr>
              <a:t>key)</a:t>
            </a:r>
            <a:r>
              <a:rPr dirty="0" sz="800">
                <a:solidFill>
                  <a:srgbClr val="606060"/>
                </a:solidFill>
                <a:latin typeface="Lucida Sans Typewriter"/>
                <a:cs typeface="Lucida Sans Typewriter"/>
              </a:rPr>
              <a:t>	</a:t>
            </a:r>
            <a:r>
              <a:rPr dirty="0" sz="800" spc="20">
                <a:solidFill>
                  <a:srgbClr val="606060"/>
                </a:solidFill>
                <a:latin typeface="Lucida Sans Typewriter"/>
                <a:cs typeface="Lucida Sans Typewriter"/>
              </a:rPr>
              <a:t>{</a:t>
            </a:r>
            <a:r>
              <a:rPr dirty="0" sz="800" spc="20">
                <a:solidFill>
                  <a:srgbClr val="606060"/>
                </a:solidFill>
                <a:latin typeface="Lucida Sans Typewriter"/>
                <a:cs typeface="Lucida Sans Typewriter"/>
              </a:rPr>
              <a:t> </a:t>
            </a:r>
            <a:r>
              <a:rPr dirty="0" sz="800" spc="20">
                <a:solidFill>
                  <a:srgbClr val="606060"/>
                </a:solidFill>
                <a:latin typeface="Lucida Sans Typewriter"/>
                <a:cs typeface="Lucida Sans Typewriter"/>
              </a:rPr>
              <a:t>/*</a:t>
            </a:r>
            <a:r>
              <a:rPr dirty="0" sz="800" spc="20">
                <a:solidFill>
                  <a:srgbClr val="606060"/>
                </a:solidFill>
                <a:latin typeface="Lucida Sans Typewriter"/>
                <a:cs typeface="Lucida Sans Typewriter"/>
              </a:rPr>
              <a:t> </a:t>
            </a:r>
            <a:r>
              <a:rPr dirty="0" sz="800" spc="20">
                <a:solidFill>
                  <a:srgbClr val="606060"/>
                </a:solidFill>
                <a:latin typeface="Lucida Sans Typewriter"/>
                <a:cs typeface="Lucida Sans Typewriter"/>
              </a:rPr>
              <a:t>as</a:t>
            </a:r>
            <a:r>
              <a:rPr dirty="0" sz="800" spc="20">
                <a:solidFill>
                  <a:srgbClr val="606060"/>
                </a:solidFill>
                <a:latin typeface="Lucida Sans Typewriter"/>
                <a:cs typeface="Lucida Sans Typewriter"/>
              </a:rPr>
              <a:t> </a:t>
            </a:r>
            <a:r>
              <a:rPr dirty="0" sz="800" spc="20">
                <a:solidFill>
                  <a:srgbClr val="606060"/>
                </a:solidFill>
                <a:latin typeface="Lucida Sans Typewriter"/>
                <a:cs typeface="Lucida Sans Typewriter"/>
              </a:rPr>
              <a:t>before</a:t>
            </a:r>
            <a:r>
              <a:rPr dirty="0" sz="800">
                <a:solidFill>
                  <a:srgbClr val="606060"/>
                </a:solidFill>
                <a:latin typeface="Lucida Sans Typewriter"/>
                <a:cs typeface="Lucida Sans Typewriter"/>
              </a:rPr>
              <a:t>	</a:t>
            </a:r>
            <a:r>
              <a:rPr dirty="0" sz="800" spc="20">
                <a:solidFill>
                  <a:srgbClr val="606060"/>
                </a:solidFill>
                <a:latin typeface="Lucida Sans Typewriter"/>
                <a:cs typeface="Lucida Sans Typewriter"/>
              </a:rPr>
              <a:t>*/</a:t>
            </a:r>
            <a:r>
              <a:rPr dirty="0" sz="800">
                <a:solidFill>
                  <a:srgbClr val="606060"/>
                </a:solidFill>
                <a:latin typeface="Lucida Sans Typewriter"/>
                <a:cs typeface="Lucida Sans Typewriter"/>
              </a:rPr>
              <a:t>	</a:t>
            </a:r>
            <a:r>
              <a:rPr dirty="0" sz="800" spc="20">
                <a:solidFill>
                  <a:srgbClr val="606060"/>
                </a:solidFill>
                <a:latin typeface="Lucida Sans Typewriter"/>
                <a:cs typeface="Lucida Sans Typewriter"/>
              </a:rPr>
              <a:t>}  private</a:t>
            </a:r>
            <a:r>
              <a:rPr dirty="0" sz="800" spc="20">
                <a:solidFill>
                  <a:srgbClr val="606060"/>
                </a:solidFill>
                <a:latin typeface="Lucida Sans Typewriter"/>
                <a:cs typeface="Lucida Sans Typewriter"/>
              </a:rPr>
              <a:t> </a:t>
            </a:r>
            <a:r>
              <a:rPr dirty="0" sz="800" spc="20">
                <a:solidFill>
                  <a:srgbClr val="606060"/>
                </a:solidFill>
                <a:latin typeface="Lucida Sans Typewriter"/>
                <a:cs typeface="Lucida Sans Typewriter"/>
              </a:rPr>
              <a:t>Value</a:t>
            </a:r>
            <a:r>
              <a:rPr dirty="0" sz="800" spc="20">
                <a:solidFill>
                  <a:srgbClr val="606060"/>
                </a:solidFill>
                <a:latin typeface="Lucida Sans Typewriter"/>
                <a:cs typeface="Lucida Sans Typewriter"/>
              </a:rPr>
              <a:t> </a:t>
            </a:r>
            <a:r>
              <a:rPr dirty="0" sz="800" spc="20">
                <a:solidFill>
                  <a:srgbClr val="606060"/>
                </a:solidFill>
                <a:latin typeface="Lucida Sans Typewriter"/>
                <a:cs typeface="Lucida Sans Typewriter"/>
              </a:rPr>
              <a:t>get(Key</a:t>
            </a:r>
            <a:r>
              <a:rPr dirty="0" sz="800" spc="20">
                <a:solidFill>
                  <a:srgbClr val="606060"/>
                </a:solidFill>
                <a:latin typeface="Lucida Sans Typewriter"/>
                <a:cs typeface="Lucida Sans Typewriter"/>
              </a:rPr>
              <a:t> </a:t>
            </a:r>
            <a:r>
              <a:rPr dirty="0" sz="800" spc="20">
                <a:solidFill>
                  <a:srgbClr val="606060"/>
                </a:solidFill>
                <a:latin typeface="Lucida Sans Typewriter"/>
                <a:cs typeface="Lucida Sans Typewriter"/>
              </a:rPr>
              <a:t>key)</a:t>
            </a:r>
            <a:r>
              <a:rPr dirty="0" sz="800">
                <a:solidFill>
                  <a:srgbClr val="606060"/>
                </a:solidFill>
                <a:latin typeface="Lucida Sans Typewriter"/>
                <a:cs typeface="Lucida Sans Typewriter"/>
              </a:rPr>
              <a:t>	</a:t>
            </a:r>
            <a:r>
              <a:rPr dirty="0" sz="800" spc="20">
                <a:solidFill>
                  <a:srgbClr val="606060"/>
                </a:solidFill>
                <a:latin typeface="Lucida Sans Typewriter"/>
                <a:cs typeface="Lucida Sans Typewriter"/>
              </a:rPr>
              <a:t>{</a:t>
            </a:r>
            <a:r>
              <a:rPr dirty="0" sz="800" spc="20">
                <a:solidFill>
                  <a:srgbClr val="606060"/>
                </a:solidFill>
                <a:latin typeface="Lucida Sans Typewriter"/>
                <a:cs typeface="Lucida Sans Typewriter"/>
              </a:rPr>
              <a:t> </a:t>
            </a:r>
            <a:r>
              <a:rPr dirty="0" sz="800" spc="20">
                <a:solidFill>
                  <a:srgbClr val="606060"/>
                </a:solidFill>
                <a:latin typeface="Lucida Sans Typewriter"/>
                <a:cs typeface="Lucida Sans Typewriter"/>
              </a:rPr>
              <a:t>/*</a:t>
            </a:r>
            <a:r>
              <a:rPr dirty="0" sz="800" spc="20">
                <a:solidFill>
                  <a:srgbClr val="606060"/>
                </a:solidFill>
                <a:latin typeface="Lucida Sans Typewriter"/>
                <a:cs typeface="Lucida Sans Typewriter"/>
              </a:rPr>
              <a:t> </a:t>
            </a:r>
            <a:r>
              <a:rPr dirty="0" sz="800" spc="20">
                <a:solidFill>
                  <a:srgbClr val="606060"/>
                </a:solidFill>
                <a:latin typeface="Lucida Sans Typewriter"/>
                <a:cs typeface="Lucida Sans Typewriter"/>
              </a:rPr>
              <a:t>previous</a:t>
            </a:r>
            <a:r>
              <a:rPr dirty="0" sz="800" spc="20">
                <a:solidFill>
                  <a:srgbClr val="606060"/>
                </a:solidFill>
                <a:latin typeface="Lucida Sans Typewriter"/>
                <a:cs typeface="Lucida Sans Typewriter"/>
              </a:rPr>
              <a:t> </a:t>
            </a:r>
            <a:r>
              <a:rPr dirty="0" sz="800" spc="20">
                <a:solidFill>
                  <a:srgbClr val="606060"/>
                </a:solidFill>
                <a:latin typeface="Lucida Sans Typewriter"/>
                <a:cs typeface="Lucida Sans Typewriter"/>
              </a:rPr>
              <a:t>slide</a:t>
            </a:r>
            <a:r>
              <a:rPr dirty="0" sz="800" spc="20">
                <a:solidFill>
                  <a:srgbClr val="606060"/>
                </a:solidFill>
                <a:latin typeface="Lucida Sans Typewriter"/>
                <a:cs typeface="Lucida Sans Typewriter"/>
              </a:rPr>
              <a:t> </a:t>
            </a:r>
            <a:r>
              <a:rPr dirty="0" sz="800" spc="20">
                <a:solidFill>
                  <a:srgbClr val="606060"/>
                </a:solidFill>
                <a:latin typeface="Lucida Sans Typewriter"/>
                <a:cs typeface="Lucida Sans Typewriter"/>
              </a:rPr>
              <a:t>*/</a:t>
            </a:r>
            <a:r>
              <a:rPr dirty="0" sz="800">
                <a:solidFill>
                  <a:srgbClr val="606060"/>
                </a:solidFill>
                <a:latin typeface="Lucida Sans Typewriter"/>
                <a:cs typeface="Lucida Sans Typewriter"/>
              </a:rPr>
              <a:t>	</a:t>
            </a:r>
            <a:r>
              <a:rPr dirty="0" sz="800" spc="20">
                <a:solidFill>
                  <a:srgbClr val="606060"/>
                </a:solidFill>
                <a:latin typeface="Lucida Sans Typewriter"/>
                <a:cs typeface="Lucida Sans Typewriter"/>
              </a:rPr>
              <a:t>}</a:t>
            </a:r>
            <a:endParaRPr sz="800">
              <a:latin typeface="Lucida Sans Typewriter"/>
              <a:cs typeface="Lucida Sans Typewriter"/>
            </a:endParaRPr>
          </a:p>
          <a:p>
            <a:pPr>
              <a:lnSpc>
                <a:spcPct val="100000"/>
              </a:lnSpc>
            </a:pPr>
            <a:endParaRPr sz="1000">
              <a:latin typeface="Lucida Sans Typewriter"/>
              <a:cs typeface="Lucida Sans Typewriter"/>
            </a:endParaRPr>
          </a:p>
          <a:p>
            <a:pPr>
              <a:lnSpc>
                <a:spcPct val="100000"/>
              </a:lnSpc>
            </a:pPr>
            <a:endParaRPr sz="1000">
              <a:latin typeface="Lucida Sans Typewriter"/>
              <a:cs typeface="Lucida Sans Typewriter"/>
            </a:endParaRPr>
          </a:p>
          <a:p>
            <a:pPr>
              <a:lnSpc>
                <a:spcPct val="100000"/>
              </a:lnSpc>
            </a:pPr>
            <a:endParaRPr sz="1000">
              <a:latin typeface="Lucida Sans Typewriter"/>
              <a:cs typeface="Lucida Sans Typewriter"/>
            </a:endParaRPr>
          </a:p>
          <a:p>
            <a:pPr>
              <a:lnSpc>
                <a:spcPct val="100000"/>
              </a:lnSpc>
            </a:pPr>
            <a:endParaRPr sz="1000">
              <a:latin typeface="Lucida Sans Typewriter"/>
              <a:cs typeface="Lucida Sans Typewriter"/>
            </a:endParaRPr>
          </a:p>
          <a:p>
            <a:pPr>
              <a:lnSpc>
                <a:spcPct val="100000"/>
              </a:lnSpc>
            </a:pPr>
            <a:endParaRPr sz="1000">
              <a:latin typeface="Lucida Sans Typewriter"/>
              <a:cs typeface="Lucida Sans Typewriter"/>
            </a:endParaRPr>
          </a:p>
          <a:p>
            <a:pPr>
              <a:lnSpc>
                <a:spcPct val="100000"/>
              </a:lnSpc>
            </a:pPr>
            <a:endParaRPr sz="1000">
              <a:latin typeface="Lucida Sans Typewriter"/>
              <a:cs typeface="Lucida Sans Typewriter"/>
            </a:endParaRPr>
          </a:p>
          <a:p>
            <a:pPr>
              <a:lnSpc>
                <a:spcPct val="100000"/>
              </a:lnSpc>
            </a:pPr>
            <a:endParaRPr sz="1000">
              <a:latin typeface="Lucida Sans Typewriter"/>
              <a:cs typeface="Lucida Sans Typewriter"/>
            </a:endParaRPr>
          </a:p>
          <a:p>
            <a:pPr>
              <a:lnSpc>
                <a:spcPct val="100000"/>
              </a:lnSpc>
            </a:pPr>
            <a:endParaRPr sz="1000">
              <a:latin typeface="Lucida Sans Typewriter"/>
              <a:cs typeface="Lucida Sans Typewriter"/>
            </a:endParaRPr>
          </a:p>
          <a:p>
            <a:pPr>
              <a:lnSpc>
                <a:spcPct val="100000"/>
              </a:lnSpc>
            </a:pPr>
            <a:endParaRPr sz="1000">
              <a:latin typeface="Lucida Sans Typewriter"/>
              <a:cs typeface="Lucida Sans Typewriter"/>
            </a:endParaRPr>
          </a:p>
          <a:p>
            <a:pPr>
              <a:lnSpc>
                <a:spcPct val="100000"/>
              </a:lnSpc>
            </a:pPr>
            <a:endParaRPr sz="1000">
              <a:latin typeface="Lucida Sans Typewriter"/>
              <a:cs typeface="Lucida Sans Typewriter"/>
            </a:endParaRPr>
          </a:p>
          <a:p>
            <a:pPr marL="97790">
              <a:lnSpc>
                <a:spcPct val="100000"/>
              </a:lnSpc>
              <a:spcBef>
                <a:spcPts val="890"/>
              </a:spcBef>
            </a:pPr>
            <a:r>
              <a:rPr dirty="0" sz="800" spc="20">
                <a:latin typeface="Lucida Sans Typewriter"/>
                <a:cs typeface="Lucida Sans Typewriter"/>
              </a:rPr>
              <a:t>}</a:t>
            </a:r>
            <a:endParaRPr sz="800">
              <a:latin typeface="Lucida Sans Typewriter"/>
              <a:cs typeface="Lucida Sans Typewriter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592379" y="237122"/>
            <a:ext cx="6066790" cy="4549775"/>
          </a:xfrm>
          <a:prstGeom prst="rect">
            <a:avLst/>
          </a:prstGeom>
        </p:spPr>
        <p:txBody>
          <a:bodyPr wrap="square" lIns="0" tIns="172085" rIns="0" bIns="0" rtlCol="0" vert="horz">
            <a:spAutoFit/>
          </a:bodyPr>
          <a:lstStyle/>
          <a:p>
            <a:pPr marL="406400">
              <a:lnSpc>
                <a:spcPct val="100000"/>
              </a:lnSpc>
              <a:spcBef>
                <a:spcPts val="1355"/>
              </a:spcBef>
            </a:pPr>
            <a:r>
              <a:rPr dirty="0" sz="1300" spc="10">
                <a:latin typeface="Arial"/>
                <a:cs typeface="Arial"/>
              </a:rPr>
              <a:t>Linear-probing</a:t>
            </a:r>
            <a:r>
              <a:rPr dirty="0" sz="1300" spc="40">
                <a:latin typeface="Arial"/>
                <a:cs typeface="Arial"/>
              </a:rPr>
              <a:t> </a:t>
            </a:r>
            <a:r>
              <a:rPr dirty="0" sz="1300" spc="5">
                <a:latin typeface="Arial"/>
                <a:cs typeface="Arial"/>
              </a:rPr>
              <a:t>symbol</a:t>
            </a:r>
            <a:r>
              <a:rPr dirty="0" sz="1300" spc="40">
                <a:latin typeface="Arial"/>
                <a:cs typeface="Arial"/>
              </a:rPr>
              <a:t> </a:t>
            </a:r>
            <a:r>
              <a:rPr dirty="0" sz="1300" spc="30">
                <a:latin typeface="Arial"/>
                <a:cs typeface="Arial"/>
              </a:rPr>
              <a:t>table: </a:t>
            </a:r>
            <a:r>
              <a:rPr dirty="0" sz="1300" spc="55">
                <a:latin typeface="Arial"/>
                <a:cs typeface="Arial"/>
              </a:rPr>
              <a:t> </a:t>
            </a:r>
            <a:r>
              <a:rPr dirty="0" sz="1300" spc="-5">
                <a:latin typeface="Arial"/>
                <a:cs typeface="Arial"/>
              </a:rPr>
              <a:t>Java</a:t>
            </a:r>
            <a:r>
              <a:rPr dirty="0" sz="1300" spc="45">
                <a:latin typeface="Arial"/>
                <a:cs typeface="Arial"/>
              </a:rPr>
              <a:t> </a:t>
            </a:r>
            <a:r>
              <a:rPr dirty="0" sz="1300" spc="10">
                <a:latin typeface="Arial"/>
                <a:cs typeface="Arial"/>
              </a:rPr>
              <a:t>implementation</a:t>
            </a:r>
            <a:endParaRPr sz="13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7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7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7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7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7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7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7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7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7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7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7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7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7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7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7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000">
              <a:latin typeface="Arial"/>
              <a:cs typeface="Arial"/>
            </a:endParaRPr>
          </a:p>
          <a:p>
            <a:pPr algn="r" marR="55880">
              <a:lnSpc>
                <a:spcPct val="100000"/>
              </a:lnSpc>
            </a:pPr>
            <a:r>
              <a:rPr dirty="0" sz="550" spc="5">
                <a:latin typeface="Lucida Sans"/>
                <a:cs typeface="Lucida Sans"/>
              </a:rPr>
              <a:t>30</a:t>
            </a:r>
            <a:endParaRPr sz="550">
              <a:latin typeface="Lucida Sans"/>
              <a:cs typeface="Lucida Sans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346176" y="4966780"/>
            <a:ext cx="6066790" cy="4549775"/>
            <a:chOff x="346176" y="4966780"/>
            <a:chExt cx="6066790" cy="4549775"/>
          </a:xfrm>
        </p:grpSpPr>
        <p:sp>
          <p:nvSpPr>
            <p:cNvPr id="26" name="object 26"/>
            <p:cNvSpPr/>
            <p:nvPr/>
          </p:nvSpPr>
          <p:spPr>
            <a:xfrm>
              <a:off x="346176" y="4966780"/>
              <a:ext cx="6066790" cy="4549775"/>
            </a:xfrm>
            <a:custGeom>
              <a:avLst/>
              <a:gdLst/>
              <a:ahLst/>
              <a:cxnLst/>
              <a:rect l="l" t="t" r="r" b="b"/>
              <a:pathLst>
                <a:path w="6066790" h="4549775">
                  <a:moveTo>
                    <a:pt x="0" y="0"/>
                  </a:moveTo>
                  <a:lnTo>
                    <a:pt x="6066212" y="0"/>
                  </a:lnTo>
                  <a:lnTo>
                    <a:pt x="6066212" y="4549659"/>
                  </a:lnTo>
                  <a:lnTo>
                    <a:pt x="0" y="45496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731238" y="5428805"/>
              <a:ext cx="5302250" cy="635"/>
            </a:xfrm>
            <a:custGeom>
              <a:avLst/>
              <a:gdLst/>
              <a:ahLst/>
              <a:cxnLst/>
              <a:rect l="l" t="t" r="r" b="b"/>
              <a:pathLst>
                <a:path w="5302250" h="635">
                  <a:moveTo>
                    <a:pt x="0" y="49"/>
                  </a:moveTo>
                  <a:lnTo>
                    <a:pt x="5302012" y="0"/>
                  </a:lnTo>
                </a:path>
              </a:pathLst>
            </a:custGeom>
            <a:ln w="59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/>
          <p:cNvSpPr txBox="1"/>
          <p:nvPr/>
        </p:nvSpPr>
        <p:spPr>
          <a:xfrm>
            <a:off x="346176" y="4966780"/>
            <a:ext cx="6066790" cy="4549775"/>
          </a:xfrm>
          <a:prstGeom prst="rect">
            <a:avLst/>
          </a:prstGeom>
        </p:spPr>
        <p:txBody>
          <a:bodyPr wrap="square" lIns="0" tIns="172085" rIns="0" bIns="0" rtlCol="0" vert="horz">
            <a:spAutoFit/>
          </a:bodyPr>
          <a:lstStyle/>
          <a:p>
            <a:pPr marL="406400">
              <a:lnSpc>
                <a:spcPct val="100000"/>
              </a:lnSpc>
              <a:spcBef>
                <a:spcPts val="1355"/>
              </a:spcBef>
            </a:pPr>
            <a:r>
              <a:rPr dirty="0" sz="1300">
                <a:latin typeface="Arial"/>
                <a:cs typeface="Arial"/>
              </a:rPr>
              <a:t>Clustering</a:t>
            </a:r>
            <a:endParaRPr sz="13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800">
              <a:latin typeface="Arial"/>
              <a:cs typeface="Arial"/>
            </a:endParaRPr>
          </a:p>
          <a:p>
            <a:pPr marL="406400">
              <a:lnSpc>
                <a:spcPct val="100000"/>
              </a:lnSpc>
            </a:pPr>
            <a:r>
              <a:rPr dirty="0" sz="1100" spc="-10">
                <a:solidFill>
                  <a:srgbClr val="005493"/>
                </a:solidFill>
                <a:latin typeface="Lucida Sans"/>
                <a:cs typeface="Lucida Sans"/>
              </a:rPr>
              <a:t>Cluster.</a:t>
            </a:r>
            <a:r>
              <a:rPr dirty="0" sz="1100" spc="345">
                <a:solidFill>
                  <a:srgbClr val="005493"/>
                </a:solidFill>
                <a:latin typeface="Lucida Sans"/>
                <a:cs typeface="Lucida Sans"/>
              </a:rPr>
              <a:t> </a:t>
            </a:r>
            <a:r>
              <a:rPr dirty="0" sz="1100" spc="10">
                <a:latin typeface="Lucida Sans"/>
                <a:cs typeface="Lucida Sans"/>
              </a:rPr>
              <a:t>A</a:t>
            </a:r>
            <a:r>
              <a:rPr dirty="0" sz="1100" spc="5">
                <a:latin typeface="Lucida Sans"/>
                <a:cs typeface="Lucida Sans"/>
              </a:rPr>
              <a:t> </a:t>
            </a:r>
            <a:r>
              <a:rPr dirty="0" sz="1100" spc="10">
                <a:latin typeface="Lucida Sans"/>
                <a:cs typeface="Lucida Sans"/>
              </a:rPr>
              <a:t>contiguous</a:t>
            </a:r>
            <a:r>
              <a:rPr dirty="0" sz="1100">
                <a:latin typeface="Lucida Sans"/>
                <a:cs typeface="Lucida Sans"/>
              </a:rPr>
              <a:t> </a:t>
            </a:r>
            <a:r>
              <a:rPr dirty="0" sz="1100" spc="10">
                <a:latin typeface="Lucida Sans"/>
                <a:cs typeface="Lucida Sans"/>
              </a:rPr>
              <a:t>block</a:t>
            </a:r>
            <a:r>
              <a:rPr dirty="0" sz="1100">
                <a:latin typeface="Lucida Sans"/>
                <a:cs typeface="Lucida Sans"/>
              </a:rPr>
              <a:t> </a:t>
            </a:r>
            <a:r>
              <a:rPr dirty="0" sz="1100" spc="5">
                <a:latin typeface="Lucida Sans"/>
                <a:cs typeface="Lucida Sans"/>
              </a:rPr>
              <a:t>of</a:t>
            </a:r>
            <a:r>
              <a:rPr dirty="0" sz="1100">
                <a:latin typeface="Lucida Sans"/>
                <a:cs typeface="Lucida Sans"/>
              </a:rPr>
              <a:t> </a:t>
            </a:r>
            <a:r>
              <a:rPr dirty="0" sz="1100" spc="5">
                <a:latin typeface="Lucida Sans"/>
                <a:cs typeface="Lucida Sans"/>
              </a:rPr>
              <a:t>items.</a:t>
            </a:r>
            <a:endParaRPr sz="1100">
              <a:latin typeface="Lucida Sans"/>
              <a:cs typeface="Lucida Sans"/>
            </a:endParaRPr>
          </a:p>
          <a:p>
            <a:pPr marL="406400">
              <a:lnSpc>
                <a:spcPct val="100000"/>
              </a:lnSpc>
              <a:spcBef>
                <a:spcPts val="500"/>
              </a:spcBef>
            </a:pPr>
            <a:r>
              <a:rPr dirty="0" sz="1100" spc="15">
                <a:solidFill>
                  <a:srgbClr val="005493"/>
                </a:solidFill>
                <a:latin typeface="Lucida Sans"/>
                <a:cs typeface="Lucida Sans"/>
              </a:rPr>
              <a:t>Observation.</a:t>
            </a:r>
            <a:r>
              <a:rPr dirty="0" sz="1100" spc="355">
                <a:solidFill>
                  <a:srgbClr val="005493"/>
                </a:solidFill>
                <a:latin typeface="Lucida Sans"/>
                <a:cs typeface="Lucida Sans"/>
              </a:rPr>
              <a:t> </a:t>
            </a:r>
            <a:r>
              <a:rPr dirty="0" sz="1100" spc="40">
                <a:latin typeface="Lucida Sans"/>
                <a:cs typeface="Lucida Sans"/>
              </a:rPr>
              <a:t>New</a:t>
            </a:r>
            <a:r>
              <a:rPr dirty="0" sz="1100" spc="10">
                <a:latin typeface="Lucida Sans"/>
                <a:cs typeface="Lucida Sans"/>
              </a:rPr>
              <a:t> </a:t>
            </a:r>
            <a:r>
              <a:rPr dirty="0" sz="1100" spc="20">
                <a:latin typeface="Lucida Sans"/>
                <a:cs typeface="Lucida Sans"/>
              </a:rPr>
              <a:t>keys</a:t>
            </a:r>
            <a:r>
              <a:rPr dirty="0" sz="1100" spc="5">
                <a:latin typeface="Lucida Sans"/>
                <a:cs typeface="Lucida Sans"/>
              </a:rPr>
              <a:t> </a:t>
            </a:r>
            <a:r>
              <a:rPr dirty="0" sz="1100" spc="15">
                <a:latin typeface="Lucida Sans"/>
                <a:cs typeface="Lucida Sans"/>
              </a:rPr>
              <a:t>likely</a:t>
            </a:r>
            <a:r>
              <a:rPr dirty="0" sz="1100" spc="5">
                <a:latin typeface="Lucida Sans"/>
                <a:cs typeface="Lucida Sans"/>
              </a:rPr>
              <a:t> to </a:t>
            </a:r>
            <a:r>
              <a:rPr dirty="0" sz="1100" spc="10">
                <a:latin typeface="Lucida Sans"/>
                <a:cs typeface="Lucida Sans"/>
              </a:rPr>
              <a:t>hash</a:t>
            </a:r>
            <a:r>
              <a:rPr dirty="0" sz="1100" spc="5">
                <a:latin typeface="Lucida Sans"/>
                <a:cs typeface="Lucida Sans"/>
              </a:rPr>
              <a:t> into </a:t>
            </a:r>
            <a:r>
              <a:rPr dirty="0" sz="1100" spc="10">
                <a:latin typeface="Lucida Sans"/>
                <a:cs typeface="Lucida Sans"/>
              </a:rPr>
              <a:t>middle</a:t>
            </a:r>
            <a:r>
              <a:rPr dirty="0" sz="1100" spc="5">
                <a:latin typeface="Lucida Sans"/>
                <a:cs typeface="Lucida Sans"/>
              </a:rPr>
              <a:t> of</a:t>
            </a:r>
            <a:r>
              <a:rPr dirty="0" sz="1100" spc="10">
                <a:latin typeface="Lucida Sans"/>
                <a:cs typeface="Lucida Sans"/>
              </a:rPr>
              <a:t> big</a:t>
            </a:r>
            <a:r>
              <a:rPr dirty="0" sz="1100" spc="5">
                <a:latin typeface="Lucida Sans"/>
                <a:cs typeface="Lucida Sans"/>
              </a:rPr>
              <a:t> clusters.</a:t>
            </a:r>
            <a:endParaRPr sz="1100">
              <a:latin typeface="Lucida Sans"/>
              <a:cs typeface="Lucida Sans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1714628" y="6234524"/>
            <a:ext cx="3128010" cy="3128010"/>
            <a:chOff x="1714628" y="6234524"/>
            <a:chExt cx="3128010" cy="3128010"/>
          </a:xfrm>
        </p:grpSpPr>
        <p:pic>
          <p:nvPicPr>
            <p:cNvPr id="30" name="object 3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14628" y="6234524"/>
              <a:ext cx="3127890" cy="3127890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50173" y="6270068"/>
              <a:ext cx="3009410" cy="3009410"/>
            </a:xfrm>
            <a:prstGeom prst="rect">
              <a:avLst/>
            </a:prstGeom>
          </p:spPr>
        </p:pic>
      </p:grpSp>
      <p:grpSp>
        <p:nvGrpSpPr>
          <p:cNvPr id="32" name="object 32"/>
          <p:cNvGrpSpPr/>
          <p:nvPr/>
        </p:nvGrpSpPr>
        <p:grpSpPr>
          <a:xfrm>
            <a:off x="6592379" y="4966780"/>
            <a:ext cx="6066790" cy="4549775"/>
            <a:chOff x="6592379" y="4966780"/>
            <a:chExt cx="6066790" cy="4549775"/>
          </a:xfrm>
        </p:grpSpPr>
        <p:sp>
          <p:nvSpPr>
            <p:cNvPr id="33" name="object 33"/>
            <p:cNvSpPr/>
            <p:nvPr/>
          </p:nvSpPr>
          <p:spPr>
            <a:xfrm>
              <a:off x="6592379" y="4966780"/>
              <a:ext cx="6066790" cy="4549775"/>
            </a:xfrm>
            <a:custGeom>
              <a:avLst/>
              <a:gdLst/>
              <a:ahLst/>
              <a:cxnLst/>
              <a:rect l="l" t="t" r="r" b="b"/>
              <a:pathLst>
                <a:path w="6066790" h="4549775">
                  <a:moveTo>
                    <a:pt x="0" y="0"/>
                  </a:moveTo>
                  <a:lnTo>
                    <a:pt x="6066212" y="0"/>
                  </a:lnTo>
                  <a:lnTo>
                    <a:pt x="6066212" y="4549659"/>
                  </a:lnTo>
                  <a:lnTo>
                    <a:pt x="0" y="45496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6977442" y="5428805"/>
              <a:ext cx="5302250" cy="635"/>
            </a:xfrm>
            <a:custGeom>
              <a:avLst/>
              <a:gdLst/>
              <a:ahLst/>
              <a:cxnLst/>
              <a:rect l="l" t="t" r="r" b="b"/>
              <a:pathLst>
                <a:path w="5302250" h="635">
                  <a:moveTo>
                    <a:pt x="0" y="49"/>
                  </a:moveTo>
                  <a:lnTo>
                    <a:pt x="5302012" y="0"/>
                  </a:lnTo>
                </a:path>
              </a:pathLst>
            </a:custGeom>
            <a:ln w="59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5" name="object 3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072226" y="6803231"/>
              <a:ext cx="5094670" cy="746428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7107770" y="6838775"/>
              <a:ext cx="4976495" cy="628015"/>
            </a:xfrm>
            <a:custGeom>
              <a:avLst/>
              <a:gdLst/>
              <a:ahLst/>
              <a:cxnLst/>
              <a:rect l="l" t="t" r="r" b="b"/>
              <a:pathLst>
                <a:path w="4976495" h="628015">
                  <a:moveTo>
                    <a:pt x="0" y="0"/>
                  </a:moveTo>
                  <a:lnTo>
                    <a:pt x="4976190" y="0"/>
                  </a:lnTo>
                  <a:lnTo>
                    <a:pt x="4976190" y="627947"/>
                  </a:lnTo>
                  <a:lnTo>
                    <a:pt x="0" y="62794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BCBC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7" name="object 37"/>
          <p:cNvSpPr txBox="1"/>
          <p:nvPr/>
        </p:nvSpPr>
        <p:spPr>
          <a:xfrm>
            <a:off x="6592379" y="4966780"/>
            <a:ext cx="6066790" cy="4549775"/>
          </a:xfrm>
          <a:prstGeom prst="rect">
            <a:avLst/>
          </a:prstGeom>
        </p:spPr>
        <p:txBody>
          <a:bodyPr wrap="square" lIns="0" tIns="172085" rIns="0" bIns="0" rtlCol="0" vert="horz">
            <a:spAutoFit/>
          </a:bodyPr>
          <a:lstStyle/>
          <a:p>
            <a:pPr marL="406400">
              <a:lnSpc>
                <a:spcPct val="100000"/>
              </a:lnSpc>
              <a:spcBef>
                <a:spcPts val="1355"/>
              </a:spcBef>
            </a:pPr>
            <a:r>
              <a:rPr dirty="0" sz="1300" spc="-15">
                <a:latin typeface="Arial"/>
                <a:cs typeface="Arial"/>
              </a:rPr>
              <a:t>Knuth's</a:t>
            </a:r>
            <a:r>
              <a:rPr dirty="0" sz="1300" spc="30">
                <a:latin typeface="Arial"/>
                <a:cs typeface="Arial"/>
              </a:rPr>
              <a:t> </a:t>
            </a:r>
            <a:r>
              <a:rPr dirty="0" sz="1300" spc="35">
                <a:latin typeface="Arial"/>
                <a:cs typeface="Arial"/>
              </a:rPr>
              <a:t>parking </a:t>
            </a:r>
            <a:r>
              <a:rPr dirty="0" sz="1300" spc="25">
                <a:latin typeface="Arial"/>
                <a:cs typeface="Arial"/>
              </a:rPr>
              <a:t>problem</a:t>
            </a:r>
            <a:endParaRPr sz="13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800">
              <a:latin typeface="Arial"/>
              <a:cs typeface="Arial"/>
            </a:endParaRPr>
          </a:p>
          <a:p>
            <a:pPr marL="406400">
              <a:lnSpc>
                <a:spcPct val="100000"/>
              </a:lnSpc>
            </a:pPr>
            <a:r>
              <a:rPr dirty="0" sz="1100" spc="10">
                <a:solidFill>
                  <a:srgbClr val="005493"/>
                </a:solidFill>
                <a:latin typeface="Lucida Sans"/>
                <a:cs typeface="Lucida Sans"/>
              </a:rPr>
              <a:t>Model.</a:t>
            </a:r>
            <a:r>
              <a:rPr dirty="0" sz="1100" spc="360">
                <a:solidFill>
                  <a:srgbClr val="005493"/>
                </a:solidFill>
                <a:latin typeface="Lucida Sans"/>
                <a:cs typeface="Lucida Sans"/>
              </a:rPr>
              <a:t> </a:t>
            </a:r>
            <a:r>
              <a:rPr dirty="0" sz="1100" spc="10">
                <a:latin typeface="Lucida Sans"/>
                <a:cs typeface="Lucida Sans"/>
              </a:rPr>
              <a:t>Cars</a:t>
            </a:r>
            <a:r>
              <a:rPr dirty="0" sz="1100" spc="5">
                <a:latin typeface="Lucida Sans"/>
                <a:cs typeface="Lucida Sans"/>
              </a:rPr>
              <a:t> </a:t>
            </a:r>
            <a:r>
              <a:rPr dirty="0" sz="1100" spc="15">
                <a:latin typeface="Lucida Sans"/>
                <a:cs typeface="Lucida Sans"/>
              </a:rPr>
              <a:t>arrive</a:t>
            </a:r>
            <a:r>
              <a:rPr dirty="0" sz="1100" spc="10">
                <a:latin typeface="Lucida Sans"/>
                <a:cs typeface="Lucida Sans"/>
              </a:rPr>
              <a:t> </a:t>
            </a:r>
            <a:r>
              <a:rPr dirty="0" sz="1100" spc="5">
                <a:latin typeface="Lucida Sans"/>
                <a:cs typeface="Lucida Sans"/>
              </a:rPr>
              <a:t>at </a:t>
            </a:r>
            <a:r>
              <a:rPr dirty="0" sz="1100" spc="25">
                <a:latin typeface="Lucida Sans"/>
                <a:cs typeface="Lucida Sans"/>
              </a:rPr>
              <a:t>one-way</a:t>
            </a:r>
            <a:r>
              <a:rPr dirty="0" sz="1100" spc="5">
                <a:latin typeface="Lucida Sans"/>
                <a:cs typeface="Lucida Sans"/>
              </a:rPr>
              <a:t> </a:t>
            </a:r>
            <a:r>
              <a:rPr dirty="0" sz="1100">
                <a:latin typeface="Lucida Sans"/>
                <a:cs typeface="Lucida Sans"/>
              </a:rPr>
              <a:t>street</a:t>
            </a:r>
            <a:r>
              <a:rPr dirty="0" sz="1100" spc="10">
                <a:latin typeface="Lucida Sans"/>
                <a:cs typeface="Lucida Sans"/>
              </a:rPr>
              <a:t> </a:t>
            </a:r>
            <a:r>
              <a:rPr dirty="0" sz="1100" spc="25">
                <a:latin typeface="Lucida Sans"/>
                <a:cs typeface="Lucida Sans"/>
              </a:rPr>
              <a:t>with</a:t>
            </a:r>
            <a:r>
              <a:rPr dirty="0" sz="1100" spc="5">
                <a:latin typeface="Lucida Sans"/>
                <a:cs typeface="Lucida Sans"/>
              </a:rPr>
              <a:t> </a:t>
            </a:r>
            <a:r>
              <a:rPr dirty="0" sz="1100" spc="15" i="1">
                <a:latin typeface="Times New Roman"/>
                <a:cs typeface="Times New Roman"/>
              </a:rPr>
              <a:t>M</a:t>
            </a:r>
            <a:r>
              <a:rPr dirty="0" sz="1100" spc="80" i="1">
                <a:latin typeface="Times New Roman"/>
                <a:cs typeface="Times New Roman"/>
              </a:rPr>
              <a:t> </a:t>
            </a:r>
            <a:r>
              <a:rPr dirty="0" sz="1100" spc="10">
                <a:latin typeface="Lucida Sans"/>
                <a:cs typeface="Lucida Sans"/>
              </a:rPr>
              <a:t>parking</a:t>
            </a:r>
            <a:r>
              <a:rPr dirty="0" sz="1100" spc="5">
                <a:latin typeface="Lucida Sans"/>
                <a:cs typeface="Lucida Sans"/>
              </a:rPr>
              <a:t> </a:t>
            </a:r>
            <a:r>
              <a:rPr dirty="0" sz="1100" spc="10">
                <a:latin typeface="Lucida Sans"/>
                <a:cs typeface="Lucida Sans"/>
              </a:rPr>
              <a:t>spaces.</a:t>
            </a:r>
            <a:endParaRPr sz="1100">
              <a:latin typeface="Lucida Sans"/>
              <a:cs typeface="Lucida Sans"/>
            </a:endParaRPr>
          </a:p>
          <a:p>
            <a:pPr marL="406400">
              <a:lnSpc>
                <a:spcPct val="100000"/>
              </a:lnSpc>
              <a:spcBef>
                <a:spcPts val="500"/>
              </a:spcBef>
            </a:pPr>
            <a:r>
              <a:rPr dirty="0" sz="1100" spc="10">
                <a:latin typeface="Lucida Sans"/>
                <a:cs typeface="Lucida Sans"/>
              </a:rPr>
              <a:t>Each</a:t>
            </a:r>
            <a:r>
              <a:rPr dirty="0" sz="1100" spc="5">
                <a:latin typeface="Lucida Sans"/>
                <a:cs typeface="Lucida Sans"/>
              </a:rPr>
              <a:t> desires </a:t>
            </a:r>
            <a:r>
              <a:rPr dirty="0" sz="1100" spc="10">
                <a:latin typeface="Lucida Sans"/>
                <a:cs typeface="Lucida Sans"/>
              </a:rPr>
              <a:t>a</a:t>
            </a:r>
            <a:r>
              <a:rPr dirty="0" sz="1100" spc="5">
                <a:latin typeface="Lucida Sans"/>
                <a:cs typeface="Lucida Sans"/>
              </a:rPr>
              <a:t> </a:t>
            </a:r>
            <a:r>
              <a:rPr dirty="0" sz="1100" spc="10">
                <a:latin typeface="Lucida Sans"/>
                <a:cs typeface="Lucida Sans"/>
              </a:rPr>
              <a:t>random</a:t>
            </a:r>
            <a:r>
              <a:rPr dirty="0" sz="1100" spc="5">
                <a:latin typeface="Lucida Sans"/>
                <a:cs typeface="Lucida Sans"/>
              </a:rPr>
              <a:t> </a:t>
            </a:r>
            <a:r>
              <a:rPr dirty="0" sz="1100" spc="10">
                <a:latin typeface="Lucida Sans"/>
                <a:cs typeface="Lucida Sans"/>
              </a:rPr>
              <a:t>space</a:t>
            </a:r>
            <a:r>
              <a:rPr dirty="0" sz="1100" spc="5">
                <a:latin typeface="Lucida Sans"/>
                <a:cs typeface="Lucida Sans"/>
              </a:rPr>
              <a:t> </a:t>
            </a:r>
            <a:r>
              <a:rPr dirty="0" sz="1100" spc="5" i="1">
                <a:latin typeface="Times New Roman"/>
                <a:cs typeface="Times New Roman"/>
              </a:rPr>
              <a:t>i</a:t>
            </a:r>
            <a:r>
              <a:rPr dirty="0" sz="1100" i="1">
                <a:latin typeface="Times New Roman"/>
                <a:cs typeface="Times New Roman"/>
              </a:rPr>
              <a:t> </a:t>
            </a:r>
            <a:r>
              <a:rPr dirty="0" sz="1100" spc="5">
                <a:latin typeface="Lucida Sans"/>
                <a:cs typeface="Lucida Sans"/>
              </a:rPr>
              <a:t>:  if </a:t>
            </a:r>
            <a:r>
              <a:rPr dirty="0" sz="1100" spc="10">
                <a:latin typeface="Lucida Sans"/>
                <a:cs typeface="Lucida Sans"/>
              </a:rPr>
              <a:t>space</a:t>
            </a:r>
            <a:r>
              <a:rPr dirty="0" sz="1100" spc="5">
                <a:latin typeface="Lucida Sans"/>
                <a:cs typeface="Lucida Sans"/>
              </a:rPr>
              <a:t> </a:t>
            </a:r>
            <a:r>
              <a:rPr dirty="0" sz="1100" spc="5" i="1">
                <a:latin typeface="Times New Roman"/>
                <a:cs typeface="Times New Roman"/>
              </a:rPr>
              <a:t>i</a:t>
            </a:r>
            <a:r>
              <a:rPr dirty="0" sz="1100" spc="75" i="1">
                <a:latin typeface="Times New Roman"/>
                <a:cs typeface="Times New Roman"/>
              </a:rPr>
              <a:t> </a:t>
            </a:r>
            <a:r>
              <a:rPr dirty="0" sz="1100" spc="5">
                <a:latin typeface="Lucida Sans"/>
                <a:cs typeface="Lucida Sans"/>
              </a:rPr>
              <a:t>is taken, </a:t>
            </a:r>
            <a:r>
              <a:rPr dirty="0" sz="1100" spc="25">
                <a:latin typeface="Lucida Sans"/>
                <a:cs typeface="Lucida Sans"/>
              </a:rPr>
              <a:t>try</a:t>
            </a:r>
            <a:r>
              <a:rPr dirty="0" sz="1100" spc="5">
                <a:latin typeface="Lucida Sans"/>
                <a:cs typeface="Lucida Sans"/>
              </a:rPr>
              <a:t> </a:t>
            </a:r>
            <a:r>
              <a:rPr dirty="0" sz="1100" spc="5" i="1">
                <a:latin typeface="Times New Roman"/>
                <a:cs typeface="Times New Roman"/>
              </a:rPr>
              <a:t>i</a:t>
            </a:r>
            <a:r>
              <a:rPr dirty="0" sz="1100" i="1">
                <a:latin typeface="Times New Roman"/>
                <a:cs typeface="Times New Roman"/>
              </a:rPr>
              <a:t> </a:t>
            </a:r>
            <a:r>
              <a:rPr dirty="0" sz="1100" spc="10">
                <a:latin typeface="Times New Roman"/>
                <a:cs typeface="Times New Roman"/>
              </a:rPr>
              <a:t>+</a:t>
            </a:r>
            <a:r>
              <a:rPr dirty="0" sz="1100" spc="5">
                <a:latin typeface="Times New Roman"/>
                <a:cs typeface="Times New Roman"/>
              </a:rPr>
              <a:t> 1,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5" i="1">
                <a:latin typeface="Times New Roman"/>
                <a:cs typeface="Times New Roman"/>
              </a:rPr>
              <a:t>i</a:t>
            </a:r>
            <a:r>
              <a:rPr dirty="0" sz="1100" i="1">
                <a:latin typeface="Times New Roman"/>
                <a:cs typeface="Times New Roman"/>
              </a:rPr>
              <a:t> </a:t>
            </a:r>
            <a:r>
              <a:rPr dirty="0" sz="1100" spc="10">
                <a:latin typeface="Times New Roman"/>
                <a:cs typeface="Times New Roman"/>
              </a:rPr>
              <a:t>+</a:t>
            </a:r>
            <a:r>
              <a:rPr dirty="0" sz="1100" spc="5">
                <a:latin typeface="Times New Roman"/>
                <a:cs typeface="Times New Roman"/>
              </a:rPr>
              <a:t> 2,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10">
                <a:latin typeface="Lucida Sans"/>
                <a:cs typeface="Lucida Sans"/>
              </a:rPr>
              <a:t>etc.</a:t>
            </a:r>
            <a:endParaRPr sz="1100">
              <a:latin typeface="Lucida Sans"/>
              <a:cs typeface="Lucida Sans"/>
            </a:endParaRPr>
          </a:p>
          <a:p>
            <a:pPr>
              <a:lnSpc>
                <a:spcPct val="100000"/>
              </a:lnSpc>
            </a:pPr>
            <a:endParaRPr sz="1300">
              <a:latin typeface="Lucida Sans"/>
              <a:cs typeface="Lucida Sans"/>
            </a:endParaRPr>
          </a:p>
          <a:p>
            <a:pPr marL="406400">
              <a:lnSpc>
                <a:spcPct val="100000"/>
              </a:lnSpc>
              <a:spcBef>
                <a:spcPts val="785"/>
              </a:spcBef>
            </a:pPr>
            <a:r>
              <a:rPr dirty="0" sz="1100" spc="10">
                <a:solidFill>
                  <a:srgbClr val="005493"/>
                </a:solidFill>
                <a:latin typeface="Lucida Sans"/>
                <a:cs typeface="Lucida Sans"/>
              </a:rPr>
              <a:t>Q.</a:t>
            </a:r>
            <a:r>
              <a:rPr dirty="0" sz="1100" spc="345">
                <a:solidFill>
                  <a:srgbClr val="005493"/>
                </a:solidFill>
                <a:latin typeface="Lucida Sans"/>
                <a:cs typeface="Lucida Sans"/>
              </a:rPr>
              <a:t> </a:t>
            </a:r>
            <a:r>
              <a:rPr dirty="0" sz="1100" spc="10">
                <a:latin typeface="Lucida Sans"/>
                <a:cs typeface="Lucida Sans"/>
              </a:rPr>
              <a:t>What</a:t>
            </a:r>
            <a:r>
              <a:rPr dirty="0" sz="1100">
                <a:latin typeface="Lucida Sans"/>
                <a:cs typeface="Lucida Sans"/>
              </a:rPr>
              <a:t> </a:t>
            </a:r>
            <a:r>
              <a:rPr dirty="0" sz="1100" spc="5">
                <a:latin typeface="Lucida Sans"/>
                <a:cs typeface="Lucida Sans"/>
              </a:rPr>
              <a:t>is</a:t>
            </a:r>
            <a:r>
              <a:rPr dirty="0" sz="1100">
                <a:latin typeface="Lucida Sans"/>
                <a:cs typeface="Lucida Sans"/>
              </a:rPr>
              <a:t> </a:t>
            </a:r>
            <a:r>
              <a:rPr dirty="0" sz="1100" spc="10">
                <a:latin typeface="Lucida Sans"/>
                <a:cs typeface="Lucida Sans"/>
              </a:rPr>
              <a:t>mean</a:t>
            </a:r>
            <a:r>
              <a:rPr dirty="0" sz="1100" spc="-5">
                <a:latin typeface="Lucida Sans"/>
                <a:cs typeface="Lucida Sans"/>
              </a:rPr>
              <a:t> </a:t>
            </a:r>
            <a:r>
              <a:rPr dirty="0" sz="1100" spc="10">
                <a:latin typeface="Lucida Sans"/>
                <a:cs typeface="Lucida Sans"/>
              </a:rPr>
              <a:t>displacement</a:t>
            </a:r>
            <a:r>
              <a:rPr dirty="0" sz="1100">
                <a:latin typeface="Lucida Sans"/>
                <a:cs typeface="Lucida Sans"/>
              </a:rPr>
              <a:t> </a:t>
            </a:r>
            <a:r>
              <a:rPr dirty="0" sz="1100" spc="5">
                <a:latin typeface="Lucida Sans"/>
                <a:cs typeface="Lucida Sans"/>
              </a:rPr>
              <a:t>of</a:t>
            </a:r>
            <a:r>
              <a:rPr dirty="0" sz="1100">
                <a:latin typeface="Lucida Sans"/>
                <a:cs typeface="Lucida Sans"/>
              </a:rPr>
              <a:t> </a:t>
            </a:r>
            <a:r>
              <a:rPr dirty="0" sz="1100" spc="10">
                <a:latin typeface="Lucida Sans"/>
                <a:cs typeface="Lucida Sans"/>
              </a:rPr>
              <a:t>a</a:t>
            </a:r>
            <a:r>
              <a:rPr dirty="0" sz="1100">
                <a:latin typeface="Lucida Sans"/>
                <a:cs typeface="Lucida Sans"/>
              </a:rPr>
              <a:t> </a:t>
            </a:r>
            <a:r>
              <a:rPr dirty="0" sz="1100" spc="10">
                <a:latin typeface="Lucida Sans"/>
                <a:cs typeface="Lucida Sans"/>
              </a:rPr>
              <a:t>car?</a:t>
            </a:r>
            <a:endParaRPr sz="1100">
              <a:latin typeface="Lucida Sans"/>
              <a:cs typeface="Lucida Sans"/>
            </a:endParaRPr>
          </a:p>
          <a:p>
            <a:pPr>
              <a:lnSpc>
                <a:spcPct val="100000"/>
              </a:lnSpc>
            </a:pPr>
            <a:endParaRPr sz="1300">
              <a:latin typeface="Lucida Sans"/>
              <a:cs typeface="Lucida Sans"/>
            </a:endParaRPr>
          </a:p>
          <a:p>
            <a:pPr>
              <a:lnSpc>
                <a:spcPct val="100000"/>
              </a:lnSpc>
            </a:pPr>
            <a:endParaRPr sz="1300">
              <a:latin typeface="Lucida Sans"/>
              <a:cs typeface="Lucida Sans"/>
            </a:endParaRPr>
          </a:p>
          <a:p>
            <a:pPr>
              <a:lnSpc>
                <a:spcPct val="100000"/>
              </a:lnSpc>
            </a:pPr>
            <a:endParaRPr sz="1300">
              <a:latin typeface="Lucida Sans"/>
              <a:cs typeface="Lucida Sans"/>
            </a:endParaRPr>
          </a:p>
          <a:p>
            <a:pPr>
              <a:lnSpc>
                <a:spcPct val="100000"/>
              </a:lnSpc>
            </a:pPr>
            <a:endParaRPr sz="1300">
              <a:latin typeface="Lucida Sans"/>
              <a:cs typeface="Lucida Sans"/>
            </a:endParaRPr>
          </a:p>
          <a:p>
            <a:pPr>
              <a:lnSpc>
                <a:spcPct val="100000"/>
              </a:lnSpc>
            </a:pPr>
            <a:endParaRPr sz="1300">
              <a:latin typeface="Lucida Sans"/>
              <a:cs typeface="Lucida Sans"/>
            </a:endParaRPr>
          </a:p>
          <a:p>
            <a:pPr>
              <a:lnSpc>
                <a:spcPct val="100000"/>
              </a:lnSpc>
            </a:pPr>
            <a:endParaRPr sz="1300">
              <a:latin typeface="Lucida Sans"/>
              <a:cs typeface="Lucida Sans"/>
            </a:endParaRPr>
          </a:p>
          <a:p>
            <a:pPr>
              <a:lnSpc>
                <a:spcPct val="100000"/>
              </a:lnSpc>
            </a:pPr>
            <a:endParaRPr sz="1300">
              <a:latin typeface="Lucida Sans"/>
              <a:cs typeface="Lucida Sans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700">
              <a:latin typeface="Lucida Sans"/>
              <a:cs typeface="Lucida Sans"/>
            </a:endParaRPr>
          </a:p>
          <a:p>
            <a:pPr marL="406400" marR="1835150">
              <a:lnSpc>
                <a:spcPct val="137800"/>
              </a:lnSpc>
              <a:tabLst>
                <a:tab pos="967105" algn="l"/>
                <a:tab pos="3719195" algn="l"/>
              </a:tabLst>
            </a:pPr>
            <a:r>
              <a:rPr dirty="0" sz="1100" spc="5">
                <a:solidFill>
                  <a:srgbClr val="005493"/>
                </a:solidFill>
                <a:latin typeface="Lucida Sans"/>
                <a:cs typeface="Lucida Sans"/>
              </a:rPr>
              <a:t>Half-full.</a:t>
            </a:r>
            <a:r>
              <a:rPr dirty="0" sz="1100" spc="10">
                <a:solidFill>
                  <a:srgbClr val="005493"/>
                </a:solidFill>
                <a:latin typeface="Lucida Sans"/>
                <a:cs typeface="Lucida Sans"/>
              </a:rPr>
              <a:t> </a:t>
            </a:r>
            <a:r>
              <a:rPr dirty="0" sz="1100" spc="10">
                <a:latin typeface="Lucida Sans"/>
                <a:cs typeface="Lucida Sans"/>
              </a:rPr>
              <a:t>With </a:t>
            </a:r>
            <a:r>
              <a:rPr dirty="0" sz="1100" spc="15" i="1">
                <a:latin typeface="Times New Roman"/>
                <a:cs typeface="Times New Roman"/>
              </a:rPr>
              <a:t>M </a:t>
            </a:r>
            <a:r>
              <a:rPr dirty="0" sz="1100" spc="5">
                <a:latin typeface="Times New Roman"/>
                <a:cs typeface="Times New Roman"/>
              </a:rPr>
              <a:t>/ 2 </a:t>
            </a:r>
            <a:r>
              <a:rPr dirty="0" sz="1100" spc="10">
                <a:latin typeface="Lucida Sans"/>
                <a:cs typeface="Lucida Sans"/>
              </a:rPr>
              <a:t>cars, mean displacement </a:t>
            </a:r>
            <a:r>
              <a:rPr dirty="0" sz="1100" spc="5">
                <a:latin typeface="Lucida Sans"/>
                <a:cs typeface="Lucida Sans"/>
              </a:rPr>
              <a:t>is </a:t>
            </a:r>
            <a:r>
              <a:rPr dirty="0" sz="1100" spc="10">
                <a:latin typeface="Lucida Sans Unicode"/>
                <a:cs typeface="Lucida Sans Unicode"/>
              </a:rPr>
              <a:t>~ </a:t>
            </a:r>
            <a:r>
              <a:rPr dirty="0" sz="1100" spc="5">
                <a:latin typeface="Times New Roman"/>
                <a:cs typeface="Times New Roman"/>
              </a:rPr>
              <a:t>3 / 2</a:t>
            </a:r>
            <a:r>
              <a:rPr dirty="0" sz="1100" spc="5">
                <a:latin typeface="Lucida Sans"/>
                <a:cs typeface="Lucida Sans"/>
              </a:rPr>
              <a:t>. </a:t>
            </a:r>
            <a:r>
              <a:rPr dirty="0" sz="1100" spc="10">
                <a:latin typeface="Lucida Sans"/>
                <a:cs typeface="Lucida Sans"/>
              </a:rPr>
              <a:t> </a:t>
            </a:r>
            <a:r>
              <a:rPr dirty="0" sz="1100" spc="5">
                <a:solidFill>
                  <a:srgbClr val="005493"/>
                </a:solidFill>
                <a:latin typeface="Lucida Sans"/>
                <a:cs typeface="Lucida Sans"/>
              </a:rPr>
              <a:t>Full.	</a:t>
            </a:r>
            <a:r>
              <a:rPr dirty="0" sz="1100" spc="10">
                <a:latin typeface="Lucida Sans"/>
                <a:cs typeface="Lucida Sans"/>
              </a:rPr>
              <a:t>With</a:t>
            </a:r>
            <a:r>
              <a:rPr dirty="0" sz="1100" spc="5">
                <a:latin typeface="Lucida Sans"/>
                <a:cs typeface="Lucida Sans"/>
              </a:rPr>
              <a:t> </a:t>
            </a:r>
            <a:r>
              <a:rPr dirty="0" sz="1100" spc="15" i="1">
                <a:latin typeface="Times New Roman"/>
                <a:cs typeface="Times New Roman"/>
              </a:rPr>
              <a:t>M</a:t>
            </a:r>
            <a:r>
              <a:rPr dirty="0" sz="1100" spc="80" i="1">
                <a:latin typeface="Times New Roman"/>
                <a:cs typeface="Times New Roman"/>
              </a:rPr>
              <a:t> </a:t>
            </a:r>
            <a:r>
              <a:rPr dirty="0" sz="1100" spc="10">
                <a:latin typeface="Lucida Sans"/>
                <a:cs typeface="Lucida Sans"/>
              </a:rPr>
              <a:t>cars, mean displacement </a:t>
            </a:r>
            <a:r>
              <a:rPr dirty="0" sz="1100" spc="5">
                <a:latin typeface="Lucida Sans"/>
                <a:cs typeface="Lucida Sans"/>
              </a:rPr>
              <a:t>is </a:t>
            </a:r>
            <a:r>
              <a:rPr dirty="0" sz="1100" spc="10">
                <a:latin typeface="Lucida Sans Unicode"/>
                <a:cs typeface="Lucida Sans Unicode"/>
              </a:rPr>
              <a:t>~	</a:t>
            </a:r>
            <a:r>
              <a:rPr dirty="0" sz="1100" spc="10">
                <a:latin typeface="Symbol"/>
                <a:cs typeface="Symbol"/>
              </a:rPr>
              <a:t>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15" i="1">
                <a:latin typeface="Times New Roman"/>
                <a:cs typeface="Times New Roman"/>
              </a:rPr>
              <a:t>M</a:t>
            </a:r>
            <a:r>
              <a:rPr dirty="0" sz="1100" spc="-20" i="1">
                <a:latin typeface="Times New Roman"/>
                <a:cs typeface="Times New Roman"/>
              </a:rPr>
              <a:t> </a:t>
            </a:r>
            <a:r>
              <a:rPr dirty="0" sz="1100" spc="5">
                <a:latin typeface="Times New Roman"/>
                <a:cs typeface="Times New Roman"/>
              </a:rPr>
              <a:t>/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5">
                <a:latin typeface="Times New Roman"/>
                <a:cs typeface="Times New Roman"/>
              </a:rPr>
              <a:t>8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5">
                <a:latin typeface="Lucida Sans"/>
                <a:cs typeface="Lucida Sans"/>
              </a:rPr>
              <a:t>.</a:t>
            </a:r>
            <a:endParaRPr sz="1100">
              <a:latin typeface="Lucida Sans"/>
              <a:cs typeface="Lucida Sans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7617237" y="6963180"/>
            <a:ext cx="4099560" cy="1614805"/>
            <a:chOff x="7617237" y="6963180"/>
            <a:chExt cx="4099560" cy="1614805"/>
          </a:xfrm>
        </p:grpSpPr>
        <p:pic>
          <p:nvPicPr>
            <p:cNvPr id="39" name="object 3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617237" y="7158673"/>
              <a:ext cx="432454" cy="278429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652781" y="7170521"/>
              <a:ext cx="319897" cy="254733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730868" y="7210252"/>
              <a:ext cx="155120" cy="127390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978603" y="7158673"/>
              <a:ext cx="438378" cy="278429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019958" y="7170521"/>
              <a:ext cx="320011" cy="254733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097518" y="7210252"/>
              <a:ext cx="155120" cy="127390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9447764" y="6963180"/>
              <a:ext cx="432454" cy="278429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9486556" y="6975028"/>
              <a:ext cx="316650" cy="248809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564117" y="7012089"/>
              <a:ext cx="155120" cy="127390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8713183" y="7158673"/>
              <a:ext cx="438378" cy="278429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8753257" y="7170521"/>
              <a:ext cx="321292" cy="254733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830818" y="7210252"/>
              <a:ext cx="155120" cy="127390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9447764" y="7158673"/>
              <a:ext cx="432454" cy="278429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9486556" y="7170521"/>
              <a:ext cx="316650" cy="254733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564117" y="7210252"/>
              <a:ext cx="155120" cy="127390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9815054" y="7158673"/>
              <a:ext cx="432454" cy="278429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9853206" y="7170521"/>
              <a:ext cx="317289" cy="254733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930767" y="7210252"/>
              <a:ext cx="155120" cy="127390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0182344" y="7158673"/>
              <a:ext cx="432454" cy="278429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0219856" y="7170521"/>
              <a:ext cx="317930" cy="254733"/>
            </a:xfrm>
            <a:prstGeom prst="rect">
              <a:avLst/>
            </a:prstGeom>
          </p:spPr>
        </p:pic>
        <p:pic>
          <p:nvPicPr>
            <p:cNvPr id="59" name="object 5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297416" y="7210252"/>
              <a:ext cx="155120" cy="127390"/>
            </a:xfrm>
            <a:prstGeom prst="rect">
              <a:avLst/>
            </a:prstGeom>
          </p:spPr>
        </p:pic>
        <p:pic>
          <p:nvPicPr>
            <p:cNvPr id="60" name="object 60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0916925" y="7158673"/>
              <a:ext cx="432454" cy="278429"/>
            </a:xfrm>
            <a:prstGeom prst="rect">
              <a:avLst/>
            </a:prstGeom>
          </p:spPr>
        </p:pic>
        <p:pic>
          <p:nvPicPr>
            <p:cNvPr id="61" name="object 61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0953156" y="7170521"/>
              <a:ext cx="319211" cy="254733"/>
            </a:xfrm>
            <a:prstGeom prst="rect">
              <a:avLst/>
            </a:prstGeom>
          </p:spPr>
        </p:pic>
        <p:pic>
          <p:nvPicPr>
            <p:cNvPr id="62" name="object 6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1030715" y="7210252"/>
              <a:ext cx="155120" cy="127390"/>
            </a:xfrm>
            <a:prstGeom prst="rect">
              <a:avLst/>
            </a:prstGeom>
          </p:spPr>
        </p:pic>
        <p:pic>
          <p:nvPicPr>
            <p:cNvPr id="63" name="object 63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1284215" y="7158673"/>
              <a:ext cx="432454" cy="278429"/>
            </a:xfrm>
            <a:prstGeom prst="rect">
              <a:avLst/>
            </a:prstGeom>
          </p:spPr>
        </p:pic>
        <p:pic>
          <p:nvPicPr>
            <p:cNvPr id="64" name="object 64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11319804" y="7170521"/>
              <a:ext cx="319852" cy="254733"/>
            </a:xfrm>
            <a:prstGeom prst="rect">
              <a:avLst/>
            </a:prstGeom>
          </p:spPr>
        </p:pic>
        <p:pic>
          <p:nvPicPr>
            <p:cNvPr id="65" name="object 6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1397366" y="7210252"/>
              <a:ext cx="155120" cy="127390"/>
            </a:xfrm>
            <a:prstGeom prst="rect">
              <a:avLst/>
            </a:prstGeom>
          </p:spPr>
        </p:pic>
        <p:sp>
          <p:nvSpPr>
            <p:cNvPr id="66" name="object 66"/>
            <p:cNvSpPr/>
            <p:nvPr/>
          </p:nvSpPr>
          <p:spPr>
            <a:xfrm>
              <a:off x="10728936" y="7078615"/>
              <a:ext cx="2540" cy="163195"/>
            </a:xfrm>
            <a:custGeom>
              <a:avLst/>
              <a:gdLst/>
              <a:ahLst/>
              <a:cxnLst/>
              <a:rect l="l" t="t" r="r" b="b"/>
              <a:pathLst>
                <a:path w="2540" h="163195">
                  <a:moveTo>
                    <a:pt x="2301" y="162853"/>
                  </a:moveTo>
                  <a:lnTo>
                    <a:pt x="2217" y="156930"/>
                  </a:lnTo>
                  <a:lnTo>
                    <a:pt x="0" y="0"/>
                  </a:lnTo>
                </a:path>
              </a:pathLst>
            </a:custGeom>
            <a:ln w="11848">
              <a:solidFill>
                <a:srgbClr val="8D312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/>
            <p:cNvSpPr/>
            <p:nvPr/>
          </p:nvSpPr>
          <p:spPr>
            <a:xfrm>
              <a:off x="10702520" y="7220926"/>
              <a:ext cx="57150" cy="57785"/>
            </a:xfrm>
            <a:custGeom>
              <a:avLst/>
              <a:gdLst/>
              <a:ahLst/>
              <a:cxnLst/>
              <a:rect l="l" t="t" r="r" b="b"/>
              <a:pathLst>
                <a:path w="57150" h="57784">
                  <a:moveTo>
                    <a:pt x="0" y="803"/>
                  </a:moveTo>
                  <a:lnTo>
                    <a:pt x="29235" y="57266"/>
                  </a:lnTo>
                  <a:lnTo>
                    <a:pt x="49812" y="14618"/>
                  </a:lnTo>
                  <a:lnTo>
                    <a:pt x="28633" y="14618"/>
                  </a:lnTo>
                  <a:lnTo>
                    <a:pt x="0" y="803"/>
                  </a:lnTo>
                  <a:close/>
                </a:path>
                <a:path w="57150" h="57784">
                  <a:moveTo>
                    <a:pt x="56864" y="0"/>
                  </a:moveTo>
                  <a:lnTo>
                    <a:pt x="28633" y="14618"/>
                  </a:lnTo>
                  <a:lnTo>
                    <a:pt x="49812" y="14618"/>
                  </a:lnTo>
                  <a:lnTo>
                    <a:pt x="56864" y="0"/>
                  </a:lnTo>
                  <a:close/>
                </a:path>
              </a:pathLst>
            </a:custGeom>
            <a:solidFill>
              <a:srgbClr val="8D31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/>
            <p:cNvSpPr/>
            <p:nvPr/>
          </p:nvSpPr>
          <p:spPr>
            <a:xfrm>
              <a:off x="9854616" y="7081648"/>
              <a:ext cx="874394" cy="635"/>
            </a:xfrm>
            <a:custGeom>
              <a:avLst/>
              <a:gdLst/>
              <a:ahLst/>
              <a:cxnLst/>
              <a:rect l="l" t="t" r="r" b="b"/>
              <a:pathLst>
                <a:path w="874395" h="634">
                  <a:moveTo>
                    <a:pt x="0" y="13"/>
                  </a:moveTo>
                  <a:lnTo>
                    <a:pt x="874318" y="0"/>
                  </a:lnTo>
                </a:path>
              </a:pathLst>
            </a:custGeom>
            <a:ln w="11848">
              <a:solidFill>
                <a:srgbClr val="8D312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/>
            <p:cNvSpPr/>
            <p:nvPr/>
          </p:nvSpPr>
          <p:spPr>
            <a:xfrm>
              <a:off x="10121419" y="8373100"/>
              <a:ext cx="633730" cy="201930"/>
            </a:xfrm>
            <a:custGeom>
              <a:avLst/>
              <a:gdLst/>
              <a:ahLst/>
              <a:cxnLst/>
              <a:rect l="l" t="t" r="r" b="b"/>
              <a:pathLst>
                <a:path w="633729" h="201929">
                  <a:moveTo>
                    <a:pt x="0" y="95433"/>
                  </a:moveTo>
                  <a:lnTo>
                    <a:pt x="39808" y="95433"/>
                  </a:lnTo>
                  <a:lnTo>
                    <a:pt x="72984" y="201417"/>
                  </a:lnTo>
                  <a:lnTo>
                    <a:pt x="145968" y="1918"/>
                  </a:lnTo>
                  <a:lnTo>
                    <a:pt x="572927" y="165"/>
                  </a:lnTo>
                  <a:lnTo>
                    <a:pt x="633582" y="0"/>
                  </a:lnTo>
                </a:path>
              </a:pathLst>
            </a:custGeom>
            <a:ln w="59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0" name="object 70"/>
          <p:cNvSpPr txBox="1"/>
          <p:nvPr/>
        </p:nvSpPr>
        <p:spPr>
          <a:xfrm>
            <a:off x="7107770" y="6838775"/>
            <a:ext cx="4976495" cy="628015"/>
          </a:xfrm>
          <a:prstGeom prst="rect">
            <a:avLst/>
          </a:prstGeom>
        </p:spPr>
        <p:txBody>
          <a:bodyPr wrap="square" lIns="0" tIns="46990" rIns="0" bIns="0" rtlCol="0" vert="horz">
            <a:spAutoFit/>
          </a:bodyPr>
          <a:lstStyle/>
          <a:p>
            <a:pPr marL="2833370">
              <a:lnSpc>
                <a:spcPct val="100000"/>
              </a:lnSpc>
              <a:spcBef>
                <a:spcPts val="370"/>
              </a:spcBef>
            </a:pPr>
            <a:r>
              <a:rPr dirty="0" sz="750" spc="-5">
                <a:solidFill>
                  <a:srgbClr val="8D3124"/>
                </a:solidFill>
                <a:latin typeface="Lucida Sans"/>
                <a:cs typeface="Lucida Sans"/>
              </a:rPr>
              <a:t>displacement</a:t>
            </a:r>
            <a:r>
              <a:rPr dirty="0" sz="750" spc="-25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dirty="0" sz="750" spc="-5">
                <a:solidFill>
                  <a:srgbClr val="8D3124"/>
                </a:solidFill>
                <a:latin typeface="Lucida Sans"/>
                <a:cs typeface="Lucida Sans"/>
              </a:rPr>
              <a:t>=</a:t>
            </a:r>
            <a:r>
              <a:rPr dirty="0" sz="750" spc="-20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dirty="0" sz="750" spc="-5">
                <a:solidFill>
                  <a:srgbClr val="8D3124"/>
                </a:solidFill>
                <a:latin typeface="Lucida Sans"/>
                <a:cs typeface="Lucida Sans"/>
              </a:rPr>
              <a:t>3</a:t>
            </a:r>
            <a:endParaRPr sz="750">
              <a:latin typeface="Lucida Sans"/>
              <a:cs typeface="Lucida Sans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6246003" y="9350039"/>
            <a:ext cx="115570" cy="109855"/>
          </a:xfrm>
          <a:prstGeom prst="rect">
            <a:avLst/>
          </a:prstGeom>
        </p:spPr>
        <p:txBody>
          <a:bodyPr wrap="square" lIns="0" tIns="88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dirty="0" sz="550" spc="5">
                <a:latin typeface="Lucida Sans"/>
                <a:cs typeface="Lucida Sans"/>
              </a:rPr>
              <a:t>31</a:t>
            </a:r>
            <a:endParaRPr sz="550">
              <a:latin typeface="Lucida Sans"/>
              <a:cs typeface="Lucida Sans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12492206" y="9350039"/>
            <a:ext cx="115570" cy="109855"/>
          </a:xfrm>
          <a:prstGeom prst="rect">
            <a:avLst/>
          </a:prstGeom>
        </p:spPr>
        <p:txBody>
          <a:bodyPr wrap="square" lIns="0" tIns="88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dirty="0" sz="550" spc="5">
                <a:latin typeface="Lucida Sans"/>
                <a:cs typeface="Lucida Sans"/>
              </a:rPr>
              <a:t>32</a:t>
            </a:r>
            <a:endParaRPr sz="550">
              <a:latin typeface="Lucida Sans"/>
              <a:cs typeface="Lucida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39997" y="797869"/>
            <a:ext cx="5123180" cy="487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37800"/>
              </a:lnSpc>
              <a:spcBef>
                <a:spcPts val="95"/>
              </a:spcBef>
            </a:pPr>
            <a:r>
              <a:rPr dirty="0" sz="1100" spc="5">
                <a:solidFill>
                  <a:srgbClr val="005493"/>
                </a:solidFill>
                <a:latin typeface="Lucida Sans"/>
                <a:cs typeface="Lucida Sans"/>
              </a:rPr>
              <a:t>Proposition.</a:t>
            </a:r>
            <a:r>
              <a:rPr dirty="0" sz="1100" spc="10">
                <a:solidFill>
                  <a:srgbClr val="005493"/>
                </a:solidFill>
                <a:latin typeface="Lucida Sans"/>
                <a:cs typeface="Lucida Sans"/>
              </a:rPr>
              <a:t> </a:t>
            </a:r>
            <a:r>
              <a:rPr dirty="0" sz="1100" spc="10">
                <a:latin typeface="Lucida Sans"/>
                <a:cs typeface="Lucida Sans"/>
              </a:rPr>
              <a:t>Under</a:t>
            </a:r>
            <a:r>
              <a:rPr dirty="0" sz="1100" spc="5">
                <a:latin typeface="Lucida Sans"/>
                <a:cs typeface="Lucida Sans"/>
              </a:rPr>
              <a:t> </a:t>
            </a:r>
            <a:r>
              <a:rPr dirty="0" sz="1100" spc="10">
                <a:latin typeface="Lucida Sans"/>
                <a:cs typeface="Lucida Sans"/>
              </a:rPr>
              <a:t>uniform</a:t>
            </a:r>
            <a:r>
              <a:rPr dirty="0" sz="1100" spc="5">
                <a:latin typeface="Lucida Sans"/>
                <a:cs typeface="Lucida Sans"/>
              </a:rPr>
              <a:t> </a:t>
            </a:r>
            <a:r>
              <a:rPr dirty="0" sz="1100" spc="10">
                <a:latin typeface="Lucida Sans"/>
                <a:cs typeface="Lucida Sans"/>
              </a:rPr>
              <a:t>hashing</a:t>
            </a:r>
            <a:r>
              <a:rPr dirty="0" sz="1100" spc="5">
                <a:latin typeface="Lucida Sans"/>
                <a:cs typeface="Lucida Sans"/>
              </a:rPr>
              <a:t> </a:t>
            </a:r>
            <a:r>
              <a:rPr dirty="0" sz="1100" spc="10">
                <a:latin typeface="Lucida Sans"/>
                <a:cs typeface="Lucida Sans"/>
              </a:rPr>
              <a:t>assumption,</a:t>
            </a:r>
            <a:r>
              <a:rPr dirty="0" sz="1100" spc="5">
                <a:latin typeface="Lucida Sans"/>
                <a:cs typeface="Lucida Sans"/>
              </a:rPr>
              <a:t> the </a:t>
            </a:r>
            <a:r>
              <a:rPr dirty="0" sz="1100" spc="15">
                <a:latin typeface="Lucida Sans"/>
                <a:cs typeface="Lucida Sans"/>
              </a:rPr>
              <a:t>average</a:t>
            </a:r>
            <a:r>
              <a:rPr dirty="0" sz="1100" spc="10">
                <a:latin typeface="Lucida Sans"/>
                <a:cs typeface="Lucida Sans"/>
              </a:rPr>
              <a:t> #</a:t>
            </a:r>
            <a:r>
              <a:rPr dirty="0" sz="1100" spc="5">
                <a:latin typeface="Lucida Sans"/>
                <a:cs typeface="Lucida Sans"/>
              </a:rPr>
              <a:t> of probes </a:t>
            </a:r>
            <a:r>
              <a:rPr dirty="0" sz="1100" spc="-335">
                <a:latin typeface="Lucida Sans"/>
                <a:cs typeface="Lucida Sans"/>
              </a:rPr>
              <a:t> </a:t>
            </a:r>
            <a:r>
              <a:rPr dirty="0" sz="1100" spc="5">
                <a:latin typeface="Lucida Sans"/>
                <a:cs typeface="Lucida Sans"/>
              </a:rPr>
              <a:t>in </a:t>
            </a:r>
            <a:r>
              <a:rPr dirty="0" sz="1100" spc="10">
                <a:latin typeface="Lucida Sans"/>
                <a:cs typeface="Lucida Sans"/>
              </a:rPr>
              <a:t>a</a:t>
            </a:r>
            <a:r>
              <a:rPr dirty="0" sz="1100" spc="5">
                <a:latin typeface="Lucida Sans"/>
                <a:cs typeface="Lucida Sans"/>
              </a:rPr>
              <a:t> linear</a:t>
            </a:r>
            <a:r>
              <a:rPr dirty="0" sz="1100" spc="10">
                <a:latin typeface="Lucida Sans"/>
                <a:cs typeface="Lucida Sans"/>
              </a:rPr>
              <a:t> </a:t>
            </a:r>
            <a:r>
              <a:rPr dirty="0" sz="1100" spc="5">
                <a:latin typeface="Lucida Sans"/>
                <a:cs typeface="Lucida Sans"/>
              </a:rPr>
              <a:t>probing </a:t>
            </a:r>
            <a:r>
              <a:rPr dirty="0" sz="1100" spc="10">
                <a:latin typeface="Lucida Sans"/>
                <a:cs typeface="Lucida Sans"/>
              </a:rPr>
              <a:t>hash</a:t>
            </a:r>
            <a:r>
              <a:rPr dirty="0" sz="1100" spc="5">
                <a:latin typeface="Lucida Sans"/>
                <a:cs typeface="Lucida Sans"/>
              </a:rPr>
              <a:t> table</a:t>
            </a:r>
            <a:r>
              <a:rPr dirty="0" sz="1100" spc="10">
                <a:latin typeface="Lucida Sans"/>
                <a:cs typeface="Lucida Sans"/>
              </a:rPr>
              <a:t> </a:t>
            </a:r>
            <a:r>
              <a:rPr dirty="0" sz="1100" spc="5">
                <a:latin typeface="Lucida Sans"/>
                <a:cs typeface="Lucida Sans"/>
              </a:rPr>
              <a:t>of size</a:t>
            </a:r>
            <a:r>
              <a:rPr dirty="0" sz="1100" spc="10">
                <a:latin typeface="Lucida Sans"/>
                <a:cs typeface="Lucida Sans"/>
              </a:rPr>
              <a:t> </a:t>
            </a:r>
            <a:r>
              <a:rPr dirty="0" sz="1100" spc="15" i="1">
                <a:latin typeface="Times New Roman"/>
                <a:cs typeface="Times New Roman"/>
              </a:rPr>
              <a:t>M</a:t>
            </a:r>
            <a:r>
              <a:rPr dirty="0" sz="1100" spc="75" i="1">
                <a:latin typeface="Times New Roman"/>
                <a:cs typeface="Times New Roman"/>
              </a:rPr>
              <a:t> </a:t>
            </a:r>
            <a:r>
              <a:rPr dirty="0" sz="1100" spc="5">
                <a:latin typeface="Lucida Sans"/>
                <a:cs typeface="Lucida Sans"/>
              </a:rPr>
              <a:t>that </a:t>
            </a:r>
            <a:r>
              <a:rPr dirty="0" sz="1100" spc="10">
                <a:latin typeface="Lucida Sans"/>
                <a:cs typeface="Lucida Sans"/>
              </a:rPr>
              <a:t>contains </a:t>
            </a:r>
            <a:r>
              <a:rPr dirty="0" sz="1100" spc="10" i="1">
                <a:latin typeface="Times New Roman"/>
                <a:cs typeface="Times New Roman"/>
              </a:rPr>
              <a:t>N</a:t>
            </a:r>
            <a:r>
              <a:rPr dirty="0" sz="1100" spc="155" i="1">
                <a:latin typeface="Times New Roman"/>
                <a:cs typeface="Times New Roman"/>
              </a:rPr>
              <a:t> </a:t>
            </a:r>
            <a:r>
              <a:rPr dirty="0" sz="1100" spc="10">
                <a:latin typeface="Times New Roman"/>
                <a:cs typeface="Times New Roman"/>
              </a:rPr>
              <a:t>=</a:t>
            </a:r>
            <a:r>
              <a:rPr dirty="0" sz="1100" spc="280">
                <a:latin typeface="Times New Roman"/>
                <a:cs typeface="Times New Roman"/>
              </a:rPr>
              <a:t> </a:t>
            </a:r>
            <a:r>
              <a:rPr dirty="0" sz="1100" spc="10">
                <a:latin typeface="Symbol"/>
                <a:cs typeface="Symbol"/>
              </a:rPr>
              <a:t>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15" i="1">
                <a:latin typeface="Times New Roman"/>
                <a:cs typeface="Times New Roman"/>
              </a:rPr>
              <a:t>M</a:t>
            </a:r>
            <a:r>
              <a:rPr dirty="0" sz="1100" spc="75" i="1">
                <a:latin typeface="Times New Roman"/>
                <a:cs typeface="Times New Roman"/>
              </a:rPr>
              <a:t> </a:t>
            </a:r>
            <a:r>
              <a:rPr dirty="0" sz="1100" spc="20">
                <a:latin typeface="Lucida Sans"/>
                <a:cs typeface="Lucida Sans"/>
              </a:rPr>
              <a:t>keys</a:t>
            </a:r>
            <a:r>
              <a:rPr dirty="0" sz="1100" spc="5">
                <a:latin typeface="Lucida Sans"/>
                <a:cs typeface="Lucida Sans"/>
              </a:rPr>
              <a:t> is:</a:t>
            </a:r>
            <a:endParaRPr sz="1100">
              <a:latin typeface="Lucida Sans"/>
              <a:cs typeface="Lucida San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39997" y="3630743"/>
            <a:ext cx="839469" cy="1962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100" spc="10">
                <a:solidFill>
                  <a:srgbClr val="005493"/>
                </a:solidFill>
                <a:latin typeface="Lucida Sans"/>
                <a:cs typeface="Lucida Sans"/>
              </a:rPr>
              <a:t>Parameters.</a:t>
            </a:r>
            <a:endParaRPr sz="1100">
              <a:latin typeface="Lucida Sans"/>
              <a:cs typeface="Lucida San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46455" y="3998033"/>
            <a:ext cx="1345565" cy="3098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dirty="0" baseline="-12012" sz="2775" spc="22">
                <a:latin typeface="Microsoft JhengHei"/>
                <a:cs typeface="Microsoft JhengHei"/>
              </a:rPr>
              <a:t>・</a:t>
            </a:r>
            <a:r>
              <a:rPr dirty="0" sz="1100" spc="15" i="1">
                <a:latin typeface="Times New Roman"/>
                <a:cs typeface="Times New Roman"/>
              </a:rPr>
              <a:t>M</a:t>
            </a:r>
            <a:r>
              <a:rPr dirty="0" sz="1100" spc="55" i="1">
                <a:latin typeface="Times New Roman"/>
                <a:cs typeface="Times New Roman"/>
              </a:rPr>
              <a:t> </a:t>
            </a:r>
            <a:r>
              <a:rPr dirty="0" sz="1100" spc="10">
                <a:latin typeface="Lucida Sans"/>
                <a:cs typeface="Lucida Sans"/>
              </a:rPr>
              <a:t>too</a:t>
            </a:r>
            <a:r>
              <a:rPr dirty="0" sz="1100" spc="-15">
                <a:latin typeface="Lucida Sans"/>
                <a:cs typeface="Lucida Sans"/>
              </a:rPr>
              <a:t> </a:t>
            </a:r>
            <a:r>
              <a:rPr dirty="0" sz="1100" spc="10">
                <a:latin typeface="Lucida Sans"/>
                <a:cs typeface="Lucida Sans"/>
              </a:rPr>
              <a:t>small</a:t>
            </a:r>
            <a:r>
              <a:rPr dirty="0" sz="1100" spc="320">
                <a:latin typeface="Lucida Sans"/>
                <a:cs typeface="Lucida Sans"/>
              </a:rPr>
              <a:t> </a:t>
            </a:r>
            <a:r>
              <a:rPr dirty="0" sz="1100" spc="15">
                <a:latin typeface="Symbol"/>
                <a:cs typeface="Symbol"/>
              </a:rPr>
              <a:t></a:t>
            </a:r>
            <a:endParaRPr sz="1100">
              <a:latin typeface="Symbol"/>
              <a:cs typeface="Symbo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33755" y="3697882"/>
            <a:ext cx="3518535" cy="591185"/>
          </a:xfrm>
          <a:prstGeom prst="rect">
            <a:avLst/>
          </a:prstGeom>
        </p:spPr>
        <p:txBody>
          <a:bodyPr wrap="square" lIns="0" tIns="83820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660"/>
              </a:spcBef>
            </a:pPr>
            <a:r>
              <a:rPr dirty="0" baseline="-12012" sz="2775" spc="22">
                <a:latin typeface="Microsoft JhengHei"/>
                <a:cs typeface="Microsoft JhengHei"/>
              </a:rPr>
              <a:t>・</a:t>
            </a:r>
            <a:r>
              <a:rPr dirty="0" sz="1100" spc="15" i="1">
                <a:latin typeface="Times New Roman"/>
                <a:cs typeface="Times New Roman"/>
              </a:rPr>
              <a:t>M</a:t>
            </a:r>
            <a:r>
              <a:rPr dirty="0" sz="1100" spc="70" i="1">
                <a:latin typeface="Times New Roman"/>
                <a:cs typeface="Times New Roman"/>
              </a:rPr>
              <a:t> </a:t>
            </a:r>
            <a:r>
              <a:rPr dirty="0" sz="1100" spc="10">
                <a:latin typeface="Lucida Sans"/>
                <a:cs typeface="Lucida Sans"/>
              </a:rPr>
              <a:t>too</a:t>
            </a:r>
            <a:r>
              <a:rPr dirty="0" sz="1100" spc="5">
                <a:latin typeface="Lucida Sans"/>
                <a:cs typeface="Lucida Sans"/>
              </a:rPr>
              <a:t> </a:t>
            </a:r>
            <a:r>
              <a:rPr dirty="0" sz="1100">
                <a:latin typeface="Lucida Sans"/>
                <a:cs typeface="Lucida Sans"/>
              </a:rPr>
              <a:t>large</a:t>
            </a:r>
            <a:r>
              <a:rPr dirty="0" sz="1100" spc="360">
                <a:latin typeface="Lucida Sans"/>
                <a:cs typeface="Lucida Sans"/>
              </a:rPr>
              <a:t> </a:t>
            </a:r>
            <a:r>
              <a:rPr dirty="0" sz="1100" spc="15">
                <a:latin typeface="Symbol"/>
                <a:cs typeface="Symbol"/>
              </a:rPr>
              <a:t>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10">
                <a:latin typeface="Lucida Sans"/>
                <a:cs typeface="Lucida Sans"/>
              </a:rPr>
              <a:t>too</a:t>
            </a:r>
            <a:r>
              <a:rPr dirty="0" sz="1100" spc="5">
                <a:latin typeface="Lucida Sans"/>
                <a:cs typeface="Lucida Sans"/>
              </a:rPr>
              <a:t> </a:t>
            </a:r>
            <a:r>
              <a:rPr dirty="0" sz="1100" spc="25">
                <a:latin typeface="Lucida Sans"/>
                <a:cs typeface="Lucida Sans"/>
              </a:rPr>
              <a:t>many</a:t>
            </a:r>
            <a:r>
              <a:rPr dirty="0" sz="1100" spc="5">
                <a:latin typeface="Lucida Sans"/>
                <a:cs typeface="Lucida Sans"/>
              </a:rPr>
              <a:t> </a:t>
            </a:r>
            <a:r>
              <a:rPr dirty="0" sz="1100" spc="20">
                <a:latin typeface="Lucida Sans"/>
                <a:cs typeface="Lucida Sans"/>
              </a:rPr>
              <a:t>empty</a:t>
            </a:r>
            <a:r>
              <a:rPr dirty="0" sz="1100" spc="5">
                <a:latin typeface="Lucida Sans"/>
                <a:cs typeface="Lucida Sans"/>
              </a:rPr>
              <a:t> </a:t>
            </a:r>
            <a:r>
              <a:rPr dirty="0" sz="1100" spc="15">
                <a:latin typeface="Lucida Sans"/>
                <a:cs typeface="Lucida Sans"/>
              </a:rPr>
              <a:t>array</a:t>
            </a:r>
            <a:r>
              <a:rPr dirty="0" sz="1100" spc="5">
                <a:latin typeface="Lucida Sans"/>
                <a:cs typeface="Lucida Sans"/>
              </a:rPr>
              <a:t> entries.</a:t>
            </a:r>
            <a:endParaRPr sz="1100">
              <a:latin typeface="Lucida Sans"/>
              <a:cs typeface="Lucida Sans"/>
            </a:endParaRPr>
          </a:p>
          <a:p>
            <a:pPr marL="1409700">
              <a:lnSpc>
                <a:spcPct val="100000"/>
              </a:lnSpc>
              <a:spcBef>
                <a:spcPts val="350"/>
              </a:spcBef>
            </a:pPr>
            <a:r>
              <a:rPr dirty="0" sz="1100" spc="5">
                <a:latin typeface="Lucida Sans"/>
                <a:cs typeface="Lucida Sans"/>
              </a:rPr>
              <a:t>search</a:t>
            </a:r>
            <a:r>
              <a:rPr dirty="0" sz="1100" spc="-15">
                <a:latin typeface="Lucida Sans"/>
                <a:cs typeface="Lucida Sans"/>
              </a:rPr>
              <a:t> </a:t>
            </a:r>
            <a:r>
              <a:rPr dirty="0" sz="1100" spc="10">
                <a:latin typeface="Lucida Sans"/>
                <a:cs typeface="Lucida Sans"/>
              </a:rPr>
              <a:t>time</a:t>
            </a:r>
            <a:r>
              <a:rPr dirty="0" sz="1100" spc="-15">
                <a:latin typeface="Lucida Sans"/>
                <a:cs typeface="Lucida Sans"/>
              </a:rPr>
              <a:t> </a:t>
            </a:r>
            <a:r>
              <a:rPr dirty="0" sz="1100" spc="25">
                <a:latin typeface="Lucida Sans"/>
                <a:cs typeface="Lucida Sans"/>
              </a:rPr>
              <a:t>blows</a:t>
            </a:r>
            <a:r>
              <a:rPr dirty="0" sz="1100" spc="-15">
                <a:latin typeface="Lucida Sans"/>
                <a:cs typeface="Lucida Sans"/>
              </a:rPr>
              <a:t> </a:t>
            </a:r>
            <a:r>
              <a:rPr dirty="0" sz="1100" spc="10">
                <a:latin typeface="Lucida Sans"/>
                <a:cs typeface="Lucida Sans"/>
              </a:rPr>
              <a:t>up.</a:t>
            </a:r>
            <a:endParaRPr sz="1100">
              <a:latin typeface="Lucida Sans"/>
              <a:cs typeface="Lucida San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33755" y="4229070"/>
            <a:ext cx="2433320" cy="3098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114"/>
              </a:spcBef>
            </a:pPr>
            <a:r>
              <a:rPr dirty="0" baseline="-9009" sz="2775" spc="22">
                <a:latin typeface="Microsoft JhengHei"/>
                <a:cs typeface="Microsoft JhengHei"/>
              </a:rPr>
              <a:t>・</a:t>
            </a:r>
            <a:r>
              <a:rPr dirty="0" sz="1100">
                <a:latin typeface="Lucida Sans"/>
                <a:cs typeface="Lucida Sans"/>
              </a:rPr>
              <a:t>Typical</a:t>
            </a:r>
            <a:r>
              <a:rPr dirty="0" sz="1100" spc="-5">
                <a:latin typeface="Lucida Sans"/>
                <a:cs typeface="Lucida Sans"/>
              </a:rPr>
              <a:t> </a:t>
            </a:r>
            <a:r>
              <a:rPr dirty="0" sz="1100" spc="10">
                <a:latin typeface="Lucida Sans"/>
                <a:cs typeface="Lucida Sans"/>
              </a:rPr>
              <a:t>choice:</a:t>
            </a:r>
            <a:r>
              <a:rPr dirty="0" sz="1100" spc="345">
                <a:latin typeface="Lucida Sans"/>
                <a:cs typeface="Lucida Sans"/>
              </a:rPr>
              <a:t> </a:t>
            </a:r>
            <a:r>
              <a:rPr dirty="0" sz="1100" spc="105">
                <a:latin typeface="Times New Roman"/>
                <a:cs typeface="Times New Roman"/>
              </a:rPr>
              <a:t>α</a:t>
            </a:r>
            <a:r>
              <a:rPr dirty="0" sz="1100" spc="275">
                <a:latin typeface="Times New Roman"/>
                <a:cs typeface="Times New Roman"/>
              </a:rPr>
              <a:t> </a:t>
            </a:r>
            <a:r>
              <a:rPr dirty="0" sz="1100" spc="10">
                <a:latin typeface="Times New Roman"/>
                <a:cs typeface="Times New Roman"/>
              </a:rPr>
              <a:t>=</a:t>
            </a:r>
            <a:r>
              <a:rPr dirty="0" sz="1100" spc="270">
                <a:latin typeface="Times New Roman"/>
                <a:cs typeface="Times New Roman"/>
              </a:rPr>
              <a:t> </a:t>
            </a:r>
            <a:r>
              <a:rPr dirty="0" sz="1100" spc="10" i="1">
                <a:latin typeface="Times New Roman"/>
                <a:cs typeface="Times New Roman"/>
              </a:rPr>
              <a:t>N</a:t>
            </a:r>
            <a:r>
              <a:rPr dirty="0" sz="1100" spc="-5" i="1">
                <a:latin typeface="Times New Roman"/>
                <a:cs typeface="Times New Roman"/>
              </a:rPr>
              <a:t> </a:t>
            </a:r>
            <a:r>
              <a:rPr dirty="0" sz="1100" spc="5">
                <a:latin typeface="Times New Roman"/>
                <a:cs typeface="Times New Roman"/>
              </a:rPr>
              <a:t>/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 spc="15" i="1">
                <a:latin typeface="Times New Roman"/>
                <a:cs typeface="Times New Roman"/>
              </a:rPr>
              <a:t>M</a:t>
            </a:r>
            <a:r>
              <a:rPr dirty="0" sz="1100" spc="270" i="1">
                <a:latin typeface="Times New Roman"/>
                <a:cs typeface="Times New Roman"/>
              </a:rPr>
              <a:t> </a:t>
            </a:r>
            <a:r>
              <a:rPr dirty="0" sz="1100" spc="10">
                <a:latin typeface="Times New Roman"/>
                <a:cs typeface="Times New Roman"/>
              </a:rPr>
              <a:t>~</a:t>
            </a:r>
            <a:r>
              <a:rPr dirty="0" sz="1100" spc="270">
                <a:latin typeface="Times New Roman"/>
                <a:cs typeface="Times New Roman"/>
              </a:rPr>
              <a:t> </a:t>
            </a:r>
            <a:r>
              <a:rPr dirty="0" sz="1100" spc="10">
                <a:latin typeface="Times New Roman"/>
                <a:cs typeface="Times New Roman"/>
              </a:rPr>
              <a:t>½</a:t>
            </a:r>
            <a:r>
              <a:rPr dirty="0" sz="1100" spc="10">
                <a:latin typeface="Lucida Sans"/>
                <a:cs typeface="Lucida Sans"/>
              </a:rPr>
              <a:t>.</a:t>
            </a:r>
            <a:endParaRPr sz="1100">
              <a:latin typeface="Lucida Sans"/>
              <a:cs typeface="Lucida San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246003" y="4615831"/>
            <a:ext cx="115570" cy="1111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550" spc="5">
                <a:latin typeface="Lucida Sans"/>
                <a:cs typeface="Lucida Sans"/>
              </a:rPr>
              <a:t>33</a:t>
            </a:r>
            <a:endParaRPr sz="550">
              <a:latin typeface="Lucida Sans"/>
              <a:cs typeface="Lucida San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39997" y="396219"/>
            <a:ext cx="1967864" cy="2247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00" spc="5">
                <a:latin typeface="Arial"/>
                <a:cs typeface="Arial"/>
              </a:rPr>
              <a:t>Analysis</a:t>
            </a:r>
            <a:r>
              <a:rPr dirty="0" sz="1300" spc="25">
                <a:latin typeface="Arial"/>
                <a:cs typeface="Arial"/>
              </a:rPr>
              <a:t> </a:t>
            </a:r>
            <a:r>
              <a:rPr dirty="0" sz="1300" spc="40">
                <a:latin typeface="Arial"/>
                <a:cs typeface="Arial"/>
              </a:rPr>
              <a:t>of</a:t>
            </a:r>
            <a:r>
              <a:rPr dirty="0" sz="1300" spc="25">
                <a:latin typeface="Arial"/>
                <a:cs typeface="Arial"/>
              </a:rPr>
              <a:t> </a:t>
            </a:r>
            <a:r>
              <a:rPr dirty="0" sz="1300" spc="30">
                <a:latin typeface="Arial"/>
                <a:cs typeface="Arial"/>
              </a:rPr>
              <a:t>linear</a:t>
            </a:r>
            <a:r>
              <a:rPr dirty="0" sz="1300" spc="25">
                <a:latin typeface="Arial"/>
                <a:cs typeface="Arial"/>
              </a:rPr>
              <a:t> </a:t>
            </a:r>
            <a:r>
              <a:rPr dirty="0" sz="1300" spc="40">
                <a:latin typeface="Arial"/>
                <a:cs typeface="Arial"/>
              </a:rPr>
              <a:t>probing</a:t>
            </a:r>
            <a:endParaRPr sz="13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195641" y="1502301"/>
            <a:ext cx="87630" cy="17335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u="sng" sz="950" spc="75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1</a:t>
            </a:r>
            <a:endParaRPr sz="950">
              <a:latin typeface="Georgia"/>
              <a:cs typeface="Georg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195641" y="1669663"/>
            <a:ext cx="87630" cy="17335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950" spc="-50">
                <a:latin typeface="Georgia"/>
                <a:cs typeface="Georgia"/>
              </a:rPr>
              <a:t>2</a:t>
            </a:r>
            <a:endParaRPr sz="950">
              <a:latin typeface="Georgia"/>
              <a:cs typeface="Georg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050740" y="1585395"/>
            <a:ext cx="611505" cy="17335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344805" algn="l"/>
              </a:tabLst>
            </a:pPr>
            <a:r>
              <a:rPr dirty="0" sz="950" spc="-140">
                <a:latin typeface="Lucida Sans Unicode"/>
                <a:cs typeface="Lucida Sans Unicode"/>
              </a:rPr>
              <a:t>⇥	</a:t>
            </a:r>
            <a:r>
              <a:rPr dirty="0" sz="950" spc="229">
                <a:latin typeface="Georgia"/>
                <a:cs typeface="Georgia"/>
              </a:rPr>
              <a:t>1</a:t>
            </a:r>
            <a:r>
              <a:rPr dirty="0" sz="950" spc="-40">
                <a:latin typeface="Georgia"/>
                <a:cs typeface="Georgia"/>
              </a:rPr>
              <a:t> </a:t>
            </a:r>
            <a:r>
              <a:rPr dirty="0" sz="950" spc="130">
                <a:latin typeface="Georgia"/>
                <a:cs typeface="Georgia"/>
              </a:rPr>
              <a:t>+ </a:t>
            </a:r>
            <a:r>
              <a:rPr dirty="0" sz="950" spc="-85">
                <a:latin typeface="Georgia"/>
                <a:cs typeface="Georgia"/>
              </a:rPr>
              <a:t> </a:t>
            </a:r>
            <a:endParaRPr sz="950">
              <a:latin typeface="Georgia"/>
              <a:cs typeface="Georg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651491" y="1482352"/>
            <a:ext cx="939800" cy="360680"/>
          </a:xfrm>
          <a:prstGeom prst="rect">
            <a:avLst/>
          </a:prstGeom>
        </p:spPr>
        <p:txBody>
          <a:bodyPr wrap="square" lIns="0" tIns="349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75"/>
              </a:spcBef>
              <a:tabLst>
                <a:tab pos="865505" algn="l"/>
              </a:tabLst>
            </a:pPr>
            <a:r>
              <a:rPr dirty="0" u="sng" sz="950" spc="9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 </a:t>
            </a:r>
            <a:r>
              <a:rPr dirty="0" u="sng" sz="950" spc="9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  </a:t>
            </a:r>
            <a:r>
              <a:rPr dirty="0" u="sng" sz="950" spc="-11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 </a:t>
            </a:r>
            <a:r>
              <a:rPr dirty="0" u="sng" sz="950" spc="75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1</a:t>
            </a:r>
            <a:r>
              <a:rPr dirty="0" u="sng" sz="95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   </a:t>
            </a:r>
            <a:r>
              <a:rPr dirty="0" u="sng" sz="950" spc="-15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 </a:t>
            </a:r>
            <a:r>
              <a:rPr dirty="0" sz="950">
                <a:latin typeface="Georgia"/>
                <a:cs typeface="Georgia"/>
              </a:rPr>
              <a:t>	</a:t>
            </a:r>
            <a:r>
              <a:rPr dirty="0" u="sng" sz="950" spc="75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1</a:t>
            </a:r>
            <a:endParaRPr sz="95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dirty="0" sz="950" spc="75">
                <a:latin typeface="Georgia"/>
                <a:cs typeface="Georgia"/>
              </a:rPr>
              <a:t>1</a:t>
            </a:r>
            <a:r>
              <a:rPr dirty="0" sz="950" spc="-15">
                <a:latin typeface="Georgia"/>
                <a:cs typeface="Georgia"/>
              </a:rPr>
              <a:t> </a:t>
            </a:r>
            <a:r>
              <a:rPr dirty="0" sz="950" spc="200">
                <a:latin typeface="Lucida Sans Unicode"/>
                <a:cs typeface="Lucida Sans Unicode"/>
              </a:rPr>
              <a:t>-</a:t>
            </a:r>
            <a:r>
              <a:rPr dirty="0" sz="950" spc="-85">
                <a:latin typeface="Lucida Sans Unicode"/>
                <a:cs typeface="Lucida Sans Unicode"/>
              </a:rPr>
              <a:t> </a:t>
            </a:r>
            <a:r>
              <a:rPr dirty="0" sz="950" spc="15" i="1">
                <a:latin typeface="Lucida Fax"/>
                <a:cs typeface="Lucida Fax"/>
              </a:rPr>
              <a:t>a</a:t>
            </a:r>
            <a:endParaRPr sz="950">
              <a:latin typeface="Lucida Fax"/>
              <a:cs typeface="Lucida Fax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504409" y="1669663"/>
            <a:ext cx="86995" cy="17335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950" spc="-50">
                <a:latin typeface="Georgia"/>
                <a:cs typeface="Georgia"/>
              </a:rPr>
              <a:t>2</a:t>
            </a:r>
            <a:endParaRPr sz="950">
              <a:latin typeface="Georgia"/>
              <a:cs typeface="Georgi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292602" y="1412190"/>
            <a:ext cx="1424940" cy="173355"/>
          </a:xfrm>
          <a:prstGeom prst="rect">
            <a:avLst/>
          </a:prstGeom>
        </p:spPr>
        <p:txBody>
          <a:bodyPr wrap="square" lIns="0" tIns="1352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65"/>
              </a:spcBef>
              <a:tabLst>
                <a:tab pos="1320800" algn="l"/>
              </a:tabLst>
            </a:pPr>
            <a:r>
              <a:rPr dirty="0" sz="950" spc="450">
                <a:latin typeface="Arial"/>
                <a:cs typeface="Arial"/>
              </a:rPr>
              <a:t> </a:t>
            </a:r>
            <a:r>
              <a:rPr dirty="0" sz="950" spc="450">
                <a:latin typeface="Arial"/>
                <a:cs typeface="Arial"/>
              </a:rPr>
              <a:t>	</a:t>
            </a:r>
            <a:r>
              <a:rPr dirty="0" sz="950" spc="445">
                <a:latin typeface="Arial"/>
                <a:cs typeface="Arial"/>
              </a:rPr>
              <a:t> </a:t>
            </a:r>
            <a:endParaRPr sz="95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359882" y="1585396"/>
            <a:ext cx="610235" cy="17335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344170" algn="l"/>
              </a:tabLst>
            </a:pPr>
            <a:r>
              <a:rPr dirty="0" sz="950" spc="-145">
                <a:latin typeface="Lucida Sans Unicode"/>
                <a:cs typeface="Lucida Sans Unicode"/>
              </a:rPr>
              <a:t>⇥	</a:t>
            </a:r>
            <a:r>
              <a:rPr dirty="0" sz="950" spc="229">
                <a:latin typeface="Georgia"/>
                <a:cs typeface="Georgia"/>
              </a:rPr>
              <a:t>1</a:t>
            </a:r>
            <a:r>
              <a:rPr dirty="0" sz="950" spc="-45">
                <a:latin typeface="Georgia"/>
                <a:cs typeface="Georgia"/>
              </a:rPr>
              <a:t> </a:t>
            </a:r>
            <a:r>
              <a:rPr dirty="0" sz="950" spc="130">
                <a:latin typeface="Georgia"/>
                <a:cs typeface="Georgia"/>
              </a:rPr>
              <a:t>+ </a:t>
            </a:r>
            <a:r>
              <a:rPr dirty="0" sz="950" spc="-85">
                <a:latin typeface="Georgia"/>
                <a:cs typeface="Georgia"/>
              </a:rPr>
              <a:t> </a:t>
            </a:r>
            <a:endParaRPr sz="950">
              <a:latin typeface="Georgia"/>
              <a:cs typeface="Georgi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933678" y="1482353"/>
            <a:ext cx="518159" cy="360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 marR="30480">
              <a:lnSpc>
                <a:spcPct val="115599"/>
              </a:lnSpc>
              <a:spcBef>
                <a:spcPts val="95"/>
              </a:spcBef>
              <a:tabLst>
                <a:tab pos="227965" algn="l"/>
                <a:tab pos="479425" algn="l"/>
              </a:tabLst>
            </a:pPr>
            <a:r>
              <a:rPr dirty="0" u="sng" sz="950" spc="9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 </a:t>
            </a:r>
            <a:r>
              <a:rPr dirty="0" u="sng" sz="950" spc="9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	</a:t>
            </a:r>
            <a:r>
              <a:rPr dirty="0" u="sng" sz="950" spc="75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1 	</a:t>
            </a:r>
            <a:r>
              <a:rPr dirty="0" sz="950" spc="45">
                <a:latin typeface="Georgia"/>
                <a:cs typeface="Georgia"/>
              </a:rPr>
              <a:t>(1</a:t>
            </a:r>
            <a:r>
              <a:rPr dirty="0" sz="950" spc="-15">
                <a:latin typeface="Georgia"/>
                <a:cs typeface="Georgia"/>
              </a:rPr>
              <a:t> </a:t>
            </a:r>
            <a:r>
              <a:rPr dirty="0" sz="950" spc="200">
                <a:latin typeface="Lucida Sans Unicode"/>
                <a:cs typeface="Lucida Sans Unicode"/>
              </a:rPr>
              <a:t>-</a:t>
            </a:r>
            <a:r>
              <a:rPr dirty="0" sz="950" spc="-85">
                <a:latin typeface="Lucida Sans Unicode"/>
                <a:cs typeface="Lucida Sans Unicode"/>
              </a:rPr>
              <a:t> </a:t>
            </a:r>
            <a:r>
              <a:rPr dirty="0" sz="950" spc="15" i="1">
                <a:latin typeface="Lucida Fax"/>
                <a:cs typeface="Lucida Fax"/>
              </a:rPr>
              <a:t>a</a:t>
            </a:r>
            <a:r>
              <a:rPr dirty="0" sz="950" spc="15">
                <a:latin typeface="Georgia"/>
                <a:cs typeface="Georgia"/>
              </a:rPr>
              <a:t>)</a:t>
            </a:r>
            <a:r>
              <a:rPr dirty="0" baseline="25641" sz="975" spc="15">
                <a:latin typeface="Eras Medium ITC"/>
                <a:cs typeface="Eras Medium ITC"/>
              </a:rPr>
              <a:t>2</a:t>
            </a:r>
            <a:endParaRPr baseline="25641" sz="975">
              <a:latin typeface="Eras Medium ITC"/>
              <a:cs typeface="Eras Medium ITC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410575" y="1912772"/>
            <a:ext cx="508634" cy="1397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50" b="1">
                <a:latin typeface="Tahoma"/>
                <a:cs typeface="Tahoma"/>
              </a:rPr>
              <a:t>search</a:t>
            </a:r>
            <a:r>
              <a:rPr dirty="0" sz="750" spc="-15" b="1">
                <a:latin typeface="Tahoma"/>
                <a:cs typeface="Tahoma"/>
              </a:rPr>
              <a:t> </a:t>
            </a:r>
            <a:r>
              <a:rPr dirty="0" sz="750" b="1">
                <a:latin typeface="Tahoma"/>
                <a:cs typeface="Tahoma"/>
              </a:rPr>
              <a:t>hit</a:t>
            </a:r>
            <a:endParaRPr sz="750">
              <a:latin typeface="Tahoma"/>
              <a:cs typeface="Tahom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488749" y="1918697"/>
            <a:ext cx="1006475" cy="1397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50" b="1">
                <a:latin typeface="Tahoma"/>
                <a:cs typeface="Tahoma"/>
              </a:rPr>
              <a:t>search</a:t>
            </a:r>
            <a:r>
              <a:rPr dirty="0" sz="750" spc="10" b="1">
                <a:latin typeface="Tahoma"/>
                <a:cs typeface="Tahoma"/>
              </a:rPr>
              <a:t> </a:t>
            </a:r>
            <a:r>
              <a:rPr dirty="0" sz="750" spc="20" b="1">
                <a:latin typeface="Tahoma"/>
                <a:cs typeface="Tahoma"/>
              </a:rPr>
              <a:t>miss</a:t>
            </a:r>
            <a:r>
              <a:rPr dirty="0" sz="750" spc="15" b="1">
                <a:latin typeface="Tahoma"/>
                <a:cs typeface="Tahoma"/>
              </a:rPr>
              <a:t> </a:t>
            </a:r>
            <a:r>
              <a:rPr dirty="0" sz="750" spc="-15" b="1">
                <a:latin typeface="Tahoma"/>
                <a:cs typeface="Tahoma"/>
              </a:rPr>
              <a:t>/</a:t>
            </a:r>
            <a:r>
              <a:rPr dirty="0" sz="750" spc="15" b="1">
                <a:latin typeface="Tahoma"/>
                <a:cs typeface="Tahoma"/>
              </a:rPr>
              <a:t> </a:t>
            </a:r>
            <a:r>
              <a:rPr dirty="0" sz="750" spc="5" b="1">
                <a:latin typeface="Tahoma"/>
                <a:cs typeface="Tahoma"/>
              </a:rPr>
              <a:t>insert</a:t>
            </a:r>
            <a:endParaRPr sz="750">
              <a:latin typeface="Tahoma"/>
              <a:cs typeface="Tahom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666470" y="4259876"/>
            <a:ext cx="1760855" cy="298450"/>
          </a:xfrm>
          <a:prstGeom prst="rect">
            <a:avLst/>
          </a:prstGeom>
        </p:spPr>
        <p:txBody>
          <a:bodyPr wrap="square" lIns="0" tIns="342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dirty="0" sz="750" spc="-5">
                <a:solidFill>
                  <a:srgbClr val="8D3124"/>
                </a:solidFill>
                <a:latin typeface="Lucida Sans"/>
                <a:cs typeface="Lucida Sans"/>
              </a:rPr>
              <a:t>#</a:t>
            </a:r>
            <a:r>
              <a:rPr dirty="0" sz="750" spc="-10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dirty="0" sz="750" spc="-5">
                <a:solidFill>
                  <a:srgbClr val="8D3124"/>
                </a:solidFill>
                <a:latin typeface="Lucida Sans"/>
                <a:cs typeface="Lucida Sans"/>
              </a:rPr>
              <a:t>probes</a:t>
            </a:r>
            <a:r>
              <a:rPr dirty="0" sz="750" spc="-10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dirty="0" sz="750" spc="-5">
                <a:solidFill>
                  <a:srgbClr val="8D3124"/>
                </a:solidFill>
                <a:latin typeface="Lucida Sans"/>
                <a:cs typeface="Lucida Sans"/>
              </a:rPr>
              <a:t>for</a:t>
            </a:r>
            <a:r>
              <a:rPr dirty="0" sz="750" spc="-10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dirty="0" sz="750" spc="-5">
                <a:solidFill>
                  <a:srgbClr val="8D3124"/>
                </a:solidFill>
                <a:latin typeface="Lucida Sans"/>
                <a:cs typeface="Lucida Sans"/>
              </a:rPr>
              <a:t>search</a:t>
            </a:r>
            <a:r>
              <a:rPr dirty="0" sz="750" spc="-10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dirty="0" sz="750" spc="-5">
                <a:solidFill>
                  <a:srgbClr val="8D3124"/>
                </a:solidFill>
                <a:latin typeface="Lucida Sans"/>
                <a:cs typeface="Lucida Sans"/>
              </a:rPr>
              <a:t>hit</a:t>
            </a:r>
            <a:r>
              <a:rPr dirty="0" sz="750" spc="-10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dirty="0" sz="750" spc="-5">
                <a:solidFill>
                  <a:srgbClr val="8D3124"/>
                </a:solidFill>
                <a:latin typeface="Lucida Sans"/>
                <a:cs typeface="Lucida Sans"/>
              </a:rPr>
              <a:t>is</a:t>
            </a:r>
            <a:r>
              <a:rPr dirty="0" sz="750" spc="-10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dirty="0" sz="750" spc="-5">
                <a:solidFill>
                  <a:srgbClr val="8D3124"/>
                </a:solidFill>
                <a:latin typeface="Lucida Sans"/>
                <a:cs typeface="Lucida Sans"/>
              </a:rPr>
              <a:t>about</a:t>
            </a:r>
            <a:r>
              <a:rPr dirty="0" sz="750" spc="-10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dirty="0" sz="750" spc="-5">
                <a:solidFill>
                  <a:srgbClr val="8D3124"/>
                </a:solidFill>
                <a:latin typeface="Lucida Sans"/>
                <a:cs typeface="Lucida Sans"/>
              </a:rPr>
              <a:t>3/2</a:t>
            </a:r>
            <a:endParaRPr sz="750">
              <a:latin typeface="Lucida Sans"/>
              <a:cs typeface="Lucida Sans"/>
            </a:endParaRPr>
          </a:p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dirty="0" sz="750" spc="-5">
                <a:solidFill>
                  <a:srgbClr val="8D3124"/>
                </a:solidFill>
                <a:latin typeface="Lucida Sans"/>
                <a:cs typeface="Lucida Sans"/>
              </a:rPr>
              <a:t>#</a:t>
            </a:r>
            <a:r>
              <a:rPr dirty="0" sz="750" spc="-10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dirty="0" sz="750" spc="-5">
                <a:solidFill>
                  <a:srgbClr val="8D3124"/>
                </a:solidFill>
                <a:latin typeface="Lucida Sans"/>
                <a:cs typeface="Lucida Sans"/>
              </a:rPr>
              <a:t>probes</a:t>
            </a:r>
            <a:r>
              <a:rPr dirty="0" sz="750" spc="-10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dirty="0" sz="750" spc="-5">
                <a:solidFill>
                  <a:srgbClr val="8D3124"/>
                </a:solidFill>
                <a:latin typeface="Lucida Sans"/>
                <a:cs typeface="Lucida Sans"/>
              </a:rPr>
              <a:t>for</a:t>
            </a:r>
            <a:r>
              <a:rPr dirty="0" sz="750" spc="-10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dirty="0" sz="750" spc="-5">
                <a:solidFill>
                  <a:srgbClr val="8D3124"/>
                </a:solidFill>
                <a:latin typeface="Lucida Sans"/>
                <a:cs typeface="Lucida Sans"/>
              </a:rPr>
              <a:t>search</a:t>
            </a:r>
            <a:r>
              <a:rPr dirty="0" sz="750" spc="-10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dirty="0" sz="750" spc="-5">
                <a:solidFill>
                  <a:srgbClr val="8D3124"/>
                </a:solidFill>
                <a:latin typeface="Lucida Sans"/>
                <a:cs typeface="Lucida Sans"/>
              </a:rPr>
              <a:t>miss</a:t>
            </a:r>
            <a:r>
              <a:rPr dirty="0" sz="750" spc="-10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dirty="0" sz="750" spc="-5">
                <a:solidFill>
                  <a:srgbClr val="8D3124"/>
                </a:solidFill>
                <a:latin typeface="Lucida Sans"/>
                <a:cs typeface="Lucida Sans"/>
              </a:rPr>
              <a:t>is</a:t>
            </a:r>
            <a:r>
              <a:rPr dirty="0" sz="750" spc="-10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dirty="0" sz="750" spc="-5">
                <a:solidFill>
                  <a:srgbClr val="8D3124"/>
                </a:solidFill>
                <a:latin typeface="Lucida Sans"/>
                <a:cs typeface="Lucida Sans"/>
              </a:rPr>
              <a:t>about</a:t>
            </a:r>
            <a:r>
              <a:rPr dirty="0" sz="750" spc="-10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dirty="0" sz="750" spc="-5">
                <a:solidFill>
                  <a:srgbClr val="8D3124"/>
                </a:solidFill>
                <a:latin typeface="Lucida Sans"/>
                <a:cs typeface="Lucida Sans"/>
              </a:rPr>
              <a:t>5/2</a:t>
            </a:r>
            <a:endParaRPr sz="750">
              <a:latin typeface="Lucida Sans"/>
              <a:cs typeface="Lucida Sans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3275152" y="4402904"/>
            <a:ext cx="324485" cy="57150"/>
            <a:chOff x="3275152" y="4402904"/>
            <a:chExt cx="324485" cy="57150"/>
          </a:xfrm>
        </p:grpSpPr>
        <p:sp>
          <p:nvSpPr>
            <p:cNvPr id="21" name="object 21"/>
            <p:cNvSpPr/>
            <p:nvPr/>
          </p:nvSpPr>
          <p:spPr>
            <a:xfrm>
              <a:off x="3311880" y="4431340"/>
              <a:ext cx="287655" cy="0"/>
            </a:xfrm>
            <a:custGeom>
              <a:avLst/>
              <a:gdLst/>
              <a:ahLst/>
              <a:cxnLst/>
              <a:rect l="l" t="t" r="r" b="b"/>
              <a:pathLst>
                <a:path w="287654" h="0">
                  <a:moveTo>
                    <a:pt x="0" y="0"/>
                  </a:moveTo>
                  <a:lnTo>
                    <a:pt x="5924" y="0"/>
                  </a:lnTo>
                  <a:lnTo>
                    <a:pt x="287191" y="0"/>
                  </a:lnTo>
                </a:path>
              </a:pathLst>
            </a:custGeom>
            <a:ln w="11848">
              <a:solidFill>
                <a:srgbClr val="8D312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3275152" y="4402904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>
                  <a:moveTo>
                    <a:pt x="56870" y="0"/>
                  </a:moveTo>
                  <a:lnTo>
                    <a:pt x="0" y="28435"/>
                  </a:lnTo>
                  <a:lnTo>
                    <a:pt x="56870" y="56870"/>
                  </a:lnTo>
                  <a:lnTo>
                    <a:pt x="42653" y="28435"/>
                  </a:lnTo>
                  <a:lnTo>
                    <a:pt x="56870" y="0"/>
                  </a:lnTo>
                  <a:close/>
                </a:path>
              </a:pathLst>
            </a:custGeom>
            <a:solidFill>
              <a:srgbClr val="8D3124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23" name="object 2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93219" y="2263143"/>
            <a:ext cx="4325349" cy="1186295"/>
          </a:xfrm>
          <a:prstGeom prst="rect">
            <a:avLst/>
          </a:prstGeom>
        </p:spPr>
      </p:pic>
      <p:grpSp>
        <p:nvGrpSpPr>
          <p:cNvPr id="24" name="object 24"/>
          <p:cNvGrpSpPr/>
          <p:nvPr/>
        </p:nvGrpSpPr>
        <p:grpSpPr>
          <a:xfrm>
            <a:off x="6592379" y="237122"/>
            <a:ext cx="6066790" cy="4549775"/>
            <a:chOff x="6592379" y="237122"/>
            <a:chExt cx="6066790" cy="4549775"/>
          </a:xfrm>
        </p:grpSpPr>
        <p:sp>
          <p:nvSpPr>
            <p:cNvPr id="25" name="object 25"/>
            <p:cNvSpPr/>
            <p:nvPr/>
          </p:nvSpPr>
          <p:spPr>
            <a:xfrm>
              <a:off x="6592379" y="237122"/>
              <a:ext cx="6066790" cy="4549775"/>
            </a:xfrm>
            <a:custGeom>
              <a:avLst/>
              <a:gdLst/>
              <a:ahLst/>
              <a:cxnLst/>
              <a:rect l="l" t="t" r="r" b="b"/>
              <a:pathLst>
                <a:path w="6066790" h="4549775">
                  <a:moveTo>
                    <a:pt x="0" y="0"/>
                  </a:moveTo>
                  <a:lnTo>
                    <a:pt x="6066212" y="0"/>
                  </a:lnTo>
                  <a:lnTo>
                    <a:pt x="6066212" y="4549659"/>
                  </a:lnTo>
                  <a:lnTo>
                    <a:pt x="0" y="45496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6977442" y="699147"/>
              <a:ext cx="5302250" cy="635"/>
            </a:xfrm>
            <a:custGeom>
              <a:avLst/>
              <a:gdLst/>
              <a:ahLst/>
              <a:cxnLst/>
              <a:rect l="l" t="t" r="r" b="b"/>
              <a:pathLst>
                <a:path w="5302250" h="634">
                  <a:moveTo>
                    <a:pt x="0" y="49"/>
                  </a:moveTo>
                  <a:lnTo>
                    <a:pt x="5302012" y="0"/>
                  </a:lnTo>
                </a:path>
              </a:pathLst>
            </a:custGeom>
            <a:ln w="59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/>
          <p:cNvSpPr txBox="1"/>
          <p:nvPr/>
        </p:nvSpPr>
        <p:spPr>
          <a:xfrm>
            <a:off x="6986199" y="858294"/>
            <a:ext cx="2691765" cy="1962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100" spc="5">
                <a:solidFill>
                  <a:srgbClr val="005493"/>
                </a:solidFill>
                <a:latin typeface="Lucida Sans"/>
                <a:cs typeface="Lucida Sans"/>
              </a:rPr>
              <a:t>Goal.</a:t>
            </a:r>
            <a:r>
              <a:rPr dirty="0" sz="1100" spc="350">
                <a:solidFill>
                  <a:srgbClr val="005493"/>
                </a:solidFill>
                <a:latin typeface="Lucida Sans"/>
                <a:cs typeface="Lucida Sans"/>
              </a:rPr>
              <a:t> </a:t>
            </a:r>
            <a:r>
              <a:rPr dirty="0" sz="1100" spc="15">
                <a:latin typeface="Lucida Sans"/>
                <a:cs typeface="Lucida Sans"/>
              </a:rPr>
              <a:t>Average</a:t>
            </a:r>
            <a:r>
              <a:rPr dirty="0" sz="1100" spc="5">
                <a:latin typeface="Lucida Sans"/>
                <a:cs typeface="Lucida Sans"/>
              </a:rPr>
              <a:t> length of</a:t>
            </a:r>
            <a:r>
              <a:rPr dirty="0" sz="1100">
                <a:latin typeface="Lucida Sans"/>
                <a:cs typeface="Lucida Sans"/>
              </a:rPr>
              <a:t> </a:t>
            </a:r>
            <a:r>
              <a:rPr dirty="0" sz="1100" spc="5">
                <a:latin typeface="Lucida Sans"/>
                <a:cs typeface="Lucida Sans"/>
              </a:rPr>
              <a:t>list </a:t>
            </a:r>
            <a:r>
              <a:rPr dirty="0" sz="1100" spc="10" i="1">
                <a:latin typeface="Times New Roman"/>
                <a:cs typeface="Times New Roman"/>
              </a:rPr>
              <a:t>N</a:t>
            </a:r>
            <a:r>
              <a:rPr dirty="0" sz="1100" i="1">
                <a:latin typeface="Times New Roman"/>
                <a:cs typeface="Times New Roman"/>
              </a:rPr>
              <a:t> </a:t>
            </a:r>
            <a:r>
              <a:rPr dirty="0" sz="1100" spc="5">
                <a:latin typeface="Times New Roman"/>
                <a:cs typeface="Times New Roman"/>
              </a:rPr>
              <a:t>/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 spc="15" i="1">
                <a:latin typeface="Times New Roman"/>
                <a:cs typeface="Times New Roman"/>
              </a:rPr>
              <a:t>M</a:t>
            </a:r>
            <a:r>
              <a:rPr dirty="0" sz="1100" spc="280" i="1">
                <a:latin typeface="Times New Roman"/>
                <a:cs typeface="Times New Roman"/>
              </a:rPr>
              <a:t> </a:t>
            </a:r>
            <a:r>
              <a:rPr dirty="0" sz="1100" spc="10">
                <a:latin typeface="Times New Roman"/>
                <a:cs typeface="Times New Roman"/>
              </a:rPr>
              <a:t>≤</a:t>
            </a:r>
            <a:r>
              <a:rPr dirty="0" sz="1100" spc="275">
                <a:latin typeface="Times New Roman"/>
                <a:cs typeface="Times New Roman"/>
              </a:rPr>
              <a:t> </a:t>
            </a:r>
            <a:r>
              <a:rPr dirty="0" sz="1100" spc="10">
                <a:latin typeface="Times New Roman"/>
                <a:cs typeface="Times New Roman"/>
              </a:rPr>
              <a:t>½</a:t>
            </a:r>
            <a:r>
              <a:rPr dirty="0" sz="1100" spc="10">
                <a:latin typeface="Lucida Sans"/>
                <a:cs typeface="Lucida Sans"/>
              </a:rPr>
              <a:t>.</a:t>
            </a:r>
            <a:endParaRPr sz="1100">
              <a:latin typeface="Lucida Sans"/>
              <a:cs typeface="Lucida Sans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992658" y="994547"/>
            <a:ext cx="3021965" cy="3098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dirty="0" baseline="-9009" sz="2775" spc="22">
                <a:latin typeface="Microsoft JhengHei"/>
                <a:cs typeface="Microsoft JhengHei"/>
              </a:rPr>
              <a:t>・</a:t>
            </a:r>
            <a:r>
              <a:rPr dirty="0" sz="1100" spc="10">
                <a:latin typeface="Lucida Sans"/>
                <a:cs typeface="Lucida Sans"/>
              </a:rPr>
              <a:t>Double</a:t>
            </a:r>
            <a:r>
              <a:rPr dirty="0" sz="1100">
                <a:latin typeface="Lucida Sans"/>
                <a:cs typeface="Lucida Sans"/>
              </a:rPr>
              <a:t> </a:t>
            </a:r>
            <a:r>
              <a:rPr dirty="0" sz="1100" spc="5">
                <a:latin typeface="Lucida Sans"/>
                <a:cs typeface="Lucida Sans"/>
              </a:rPr>
              <a:t>size</a:t>
            </a:r>
            <a:r>
              <a:rPr dirty="0" sz="1100">
                <a:latin typeface="Lucida Sans"/>
                <a:cs typeface="Lucida Sans"/>
              </a:rPr>
              <a:t> </a:t>
            </a:r>
            <a:r>
              <a:rPr dirty="0" sz="1100" spc="5">
                <a:latin typeface="Lucida Sans"/>
                <a:cs typeface="Lucida Sans"/>
              </a:rPr>
              <a:t>of </a:t>
            </a:r>
            <a:r>
              <a:rPr dirty="0" sz="1100" spc="15">
                <a:latin typeface="Lucida Sans"/>
                <a:cs typeface="Lucida Sans"/>
              </a:rPr>
              <a:t>array</a:t>
            </a:r>
            <a:r>
              <a:rPr dirty="0" sz="1100">
                <a:latin typeface="Lucida Sans"/>
                <a:cs typeface="Lucida Sans"/>
              </a:rPr>
              <a:t> </a:t>
            </a:r>
            <a:r>
              <a:rPr dirty="0" sz="1100" spc="15" i="1">
                <a:latin typeface="Times New Roman"/>
                <a:cs typeface="Times New Roman"/>
              </a:rPr>
              <a:t>M</a:t>
            </a:r>
            <a:r>
              <a:rPr dirty="0" sz="1100" i="1">
                <a:latin typeface="Times New Roman"/>
                <a:cs typeface="Times New Roman"/>
              </a:rPr>
              <a:t> </a:t>
            </a:r>
            <a:r>
              <a:rPr dirty="0" sz="1100" spc="30">
                <a:latin typeface="Lucida Sans"/>
                <a:cs typeface="Lucida Sans"/>
              </a:rPr>
              <a:t>when</a:t>
            </a:r>
            <a:r>
              <a:rPr dirty="0" sz="1100">
                <a:latin typeface="Lucida Sans"/>
                <a:cs typeface="Lucida Sans"/>
              </a:rPr>
              <a:t> </a:t>
            </a:r>
            <a:r>
              <a:rPr dirty="0" sz="1100" spc="10" i="1">
                <a:latin typeface="Times New Roman"/>
                <a:cs typeface="Times New Roman"/>
              </a:rPr>
              <a:t>N</a:t>
            </a:r>
            <a:r>
              <a:rPr dirty="0" sz="1100" i="1">
                <a:latin typeface="Times New Roman"/>
                <a:cs typeface="Times New Roman"/>
              </a:rPr>
              <a:t> </a:t>
            </a:r>
            <a:r>
              <a:rPr dirty="0" sz="1100" spc="5">
                <a:latin typeface="Times New Roman"/>
                <a:cs typeface="Times New Roman"/>
              </a:rPr>
              <a:t>/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15" i="1">
                <a:latin typeface="Times New Roman"/>
                <a:cs typeface="Times New Roman"/>
              </a:rPr>
              <a:t>M</a:t>
            </a:r>
            <a:r>
              <a:rPr dirty="0" sz="1100" spc="275" i="1">
                <a:latin typeface="Times New Roman"/>
                <a:cs typeface="Times New Roman"/>
              </a:rPr>
              <a:t> </a:t>
            </a:r>
            <a:r>
              <a:rPr dirty="0" sz="1100" spc="10">
                <a:latin typeface="Times New Roman"/>
                <a:cs typeface="Times New Roman"/>
              </a:rPr>
              <a:t>≥</a:t>
            </a:r>
            <a:r>
              <a:rPr dirty="0" sz="1100" spc="275">
                <a:latin typeface="Times New Roman"/>
                <a:cs typeface="Times New Roman"/>
              </a:rPr>
              <a:t> </a:t>
            </a:r>
            <a:r>
              <a:rPr dirty="0" sz="1100" spc="10">
                <a:latin typeface="Times New Roman"/>
                <a:cs typeface="Times New Roman"/>
              </a:rPr>
              <a:t>½</a:t>
            </a:r>
            <a:r>
              <a:rPr dirty="0" sz="1100" spc="10">
                <a:latin typeface="Lucida Sans"/>
                <a:cs typeface="Lucida Sans"/>
              </a:rPr>
              <a:t>.</a:t>
            </a:r>
            <a:endParaRPr sz="1100">
              <a:latin typeface="Lucida Sans"/>
              <a:cs typeface="Lucida Sans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992658" y="1225584"/>
            <a:ext cx="3011805" cy="3098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  <a:tabLst>
                <a:tab pos="793750" algn="l"/>
              </a:tabLst>
            </a:pPr>
            <a:r>
              <a:rPr dirty="0" baseline="-9009" sz="2775" spc="22">
                <a:latin typeface="Microsoft JhengHei"/>
                <a:cs typeface="Microsoft JhengHei"/>
              </a:rPr>
              <a:t>・</a:t>
            </a:r>
            <a:r>
              <a:rPr dirty="0" sz="1100" spc="20">
                <a:latin typeface="Lucida Sans"/>
                <a:cs typeface="Lucida Sans"/>
              </a:rPr>
              <a:t>Halve	</a:t>
            </a:r>
            <a:r>
              <a:rPr dirty="0" sz="1100" spc="5">
                <a:latin typeface="Lucida Sans"/>
                <a:cs typeface="Lucida Sans"/>
              </a:rPr>
              <a:t>size</a:t>
            </a:r>
            <a:r>
              <a:rPr dirty="0" sz="1100">
                <a:latin typeface="Lucida Sans"/>
                <a:cs typeface="Lucida Sans"/>
              </a:rPr>
              <a:t> </a:t>
            </a:r>
            <a:r>
              <a:rPr dirty="0" sz="1100" spc="5">
                <a:latin typeface="Lucida Sans"/>
                <a:cs typeface="Lucida Sans"/>
              </a:rPr>
              <a:t>of</a:t>
            </a:r>
            <a:r>
              <a:rPr dirty="0" sz="1100">
                <a:latin typeface="Lucida Sans"/>
                <a:cs typeface="Lucida Sans"/>
              </a:rPr>
              <a:t> </a:t>
            </a:r>
            <a:r>
              <a:rPr dirty="0" sz="1100" spc="15">
                <a:latin typeface="Lucida Sans"/>
                <a:cs typeface="Lucida Sans"/>
              </a:rPr>
              <a:t>array</a:t>
            </a:r>
            <a:r>
              <a:rPr dirty="0" sz="1100" spc="5">
                <a:latin typeface="Lucida Sans"/>
                <a:cs typeface="Lucida Sans"/>
              </a:rPr>
              <a:t> </a:t>
            </a:r>
            <a:r>
              <a:rPr dirty="0" sz="1100" spc="15" i="1">
                <a:latin typeface="Times New Roman"/>
                <a:cs typeface="Times New Roman"/>
              </a:rPr>
              <a:t>M</a:t>
            </a:r>
            <a:r>
              <a:rPr dirty="0" sz="1100" spc="-5" i="1">
                <a:latin typeface="Times New Roman"/>
                <a:cs typeface="Times New Roman"/>
              </a:rPr>
              <a:t> </a:t>
            </a:r>
            <a:r>
              <a:rPr dirty="0" sz="1100" spc="30">
                <a:latin typeface="Lucida Sans"/>
                <a:cs typeface="Lucida Sans"/>
              </a:rPr>
              <a:t>when</a:t>
            </a:r>
            <a:r>
              <a:rPr dirty="0" sz="1100" spc="5">
                <a:latin typeface="Lucida Sans"/>
                <a:cs typeface="Lucida Sans"/>
              </a:rPr>
              <a:t> </a:t>
            </a:r>
            <a:r>
              <a:rPr dirty="0" sz="1100" spc="10" i="1">
                <a:latin typeface="Times New Roman"/>
                <a:cs typeface="Times New Roman"/>
              </a:rPr>
              <a:t>N</a:t>
            </a:r>
            <a:r>
              <a:rPr dirty="0" sz="1100" spc="-5" i="1">
                <a:latin typeface="Times New Roman"/>
                <a:cs typeface="Times New Roman"/>
              </a:rPr>
              <a:t> </a:t>
            </a:r>
            <a:r>
              <a:rPr dirty="0" sz="1100" spc="5">
                <a:latin typeface="Times New Roman"/>
                <a:cs typeface="Times New Roman"/>
              </a:rPr>
              <a:t>/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15" i="1">
                <a:latin typeface="Times New Roman"/>
                <a:cs typeface="Times New Roman"/>
              </a:rPr>
              <a:t>M</a:t>
            </a:r>
            <a:r>
              <a:rPr dirty="0" sz="1100" spc="275" i="1">
                <a:latin typeface="Times New Roman"/>
                <a:cs typeface="Times New Roman"/>
              </a:rPr>
              <a:t> </a:t>
            </a:r>
            <a:r>
              <a:rPr dirty="0" sz="1100" spc="10">
                <a:latin typeface="Times New Roman"/>
                <a:cs typeface="Times New Roman"/>
              </a:rPr>
              <a:t>≤</a:t>
            </a:r>
            <a:r>
              <a:rPr dirty="0" sz="1100" spc="275">
                <a:latin typeface="Times New Roman"/>
                <a:cs typeface="Times New Roman"/>
              </a:rPr>
              <a:t> </a:t>
            </a:r>
            <a:r>
              <a:rPr dirty="0" sz="1100" spc="-65" b="0">
                <a:latin typeface="Bookman Old Style"/>
                <a:cs typeface="Bookman Old Style"/>
              </a:rPr>
              <a:t>⅛</a:t>
            </a:r>
            <a:r>
              <a:rPr dirty="0" sz="1100" spc="-65">
                <a:latin typeface="Lucida Sans"/>
                <a:cs typeface="Lucida Sans"/>
              </a:rPr>
              <a:t>.</a:t>
            </a:r>
            <a:endParaRPr sz="1100">
              <a:latin typeface="Lucida Sans"/>
              <a:cs typeface="Lucida Sans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992658" y="1456622"/>
            <a:ext cx="2981960" cy="3098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dirty="0" baseline="-12012" sz="2775" spc="22">
                <a:latin typeface="Microsoft JhengHei"/>
                <a:cs typeface="Microsoft JhengHei"/>
              </a:rPr>
              <a:t>・</a:t>
            </a:r>
            <a:r>
              <a:rPr dirty="0" sz="1100" spc="10">
                <a:latin typeface="Lucida Sans"/>
                <a:cs typeface="Lucida Sans"/>
              </a:rPr>
              <a:t>Need</a:t>
            </a:r>
            <a:r>
              <a:rPr dirty="0" sz="1100" spc="-5">
                <a:latin typeface="Lucida Sans"/>
                <a:cs typeface="Lucida Sans"/>
              </a:rPr>
              <a:t> </a:t>
            </a:r>
            <a:r>
              <a:rPr dirty="0" sz="1100" spc="5">
                <a:latin typeface="Lucida Sans"/>
                <a:cs typeface="Lucida Sans"/>
              </a:rPr>
              <a:t>to</a:t>
            </a:r>
            <a:r>
              <a:rPr dirty="0" sz="1100">
                <a:latin typeface="Lucida Sans"/>
                <a:cs typeface="Lucida Sans"/>
              </a:rPr>
              <a:t> </a:t>
            </a:r>
            <a:r>
              <a:rPr dirty="0" sz="1100" spc="5">
                <a:latin typeface="Lucida Sans"/>
                <a:cs typeface="Lucida Sans"/>
              </a:rPr>
              <a:t>rehash</a:t>
            </a:r>
            <a:r>
              <a:rPr dirty="0" sz="1100">
                <a:latin typeface="Lucida Sans"/>
                <a:cs typeface="Lucida Sans"/>
              </a:rPr>
              <a:t> </a:t>
            </a:r>
            <a:r>
              <a:rPr dirty="0" sz="1100" spc="5">
                <a:latin typeface="Lucida Sans"/>
                <a:cs typeface="Lucida Sans"/>
              </a:rPr>
              <a:t>all</a:t>
            </a:r>
            <a:r>
              <a:rPr dirty="0" sz="1100">
                <a:latin typeface="Lucida Sans"/>
                <a:cs typeface="Lucida Sans"/>
              </a:rPr>
              <a:t> </a:t>
            </a:r>
            <a:r>
              <a:rPr dirty="0" sz="1100" spc="20">
                <a:latin typeface="Lucida Sans"/>
                <a:cs typeface="Lucida Sans"/>
              </a:rPr>
              <a:t>keys</a:t>
            </a:r>
            <a:r>
              <a:rPr dirty="0" sz="1100">
                <a:latin typeface="Lucida Sans"/>
                <a:cs typeface="Lucida Sans"/>
              </a:rPr>
              <a:t> </a:t>
            </a:r>
            <a:r>
              <a:rPr dirty="0" sz="1100" spc="30">
                <a:latin typeface="Lucida Sans"/>
                <a:cs typeface="Lucida Sans"/>
              </a:rPr>
              <a:t>when</a:t>
            </a:r>
            <a:r>
              <a:rPr dirty="0" sz="1100">
                <a:latin typeface="Lucida Sans"/>
                <a:cs typeface="Lucida Sans"/>
              </a:rPr>
              <a:t> </a:t>
            </a:r>
            <a:r>
              <a:rPr dirty="0" sz="1100" spc="5">
                <a:latin typeface="Lucida Sans"/>
                <a:cs typeface="Lucida Sans"/>
              </a:rPr>
              <a:t>resizing.</a:t>
            </a:r>
            <a:endParaRPr sz="1100">
              <a:latin typeface="Lucida Sans"/>
              <a:cs typeface="Lucida Sans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2492206" y="4615831"/>
            <a:ext cx="115570" cy="1111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550" spc="5">
                <a:latin typeface="Lucida Sans"/>
                <a:cs typeface="Lucida Sans"/>
              </a:rPr>
              <a:t>34</a:t>
            </a:r>
            <a:endParaRPr sz="550">
              <a:latin typeface="Lucida Sans"/>
              <a:cs typeface="Lucida Sans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6986199" y="396219"/>
            <a:ext cx="2912110" cy="2247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00" spc="-15">
                <a:latin typeface="Arial"/>
                <a:cs typeface="Arial"/>
              </a:rPr>
              <a:t>Resizing</a:t>
            </a:r>
            <a:r>
              <a:rPr dirty="0" sz="1300" spc="35">
                <a:latin typeface="Arial"/>
                <a:cs typeface="Arial"/>
              </a:rPr>
              <a:t> </a:t>
            </a:r>
            <a:r>
              <a:rPr dirty="0" sz="1300" spc="10">
                <a:latin typeface="Arial"/>
                <a:cs typeface="Arial"/>
              </a:rPr>
              <a:t>in</a:t>
            </a:r>
            <a:r>
              <a:rPr dirty="0" sz="1300" spc="35">
                <a:latin typeface="Arial"/>
                <a:cs typeface="Arial"/>
              </a:rPr>
              <a:t> </a:t>
            </a:r>
            <a:r>
              <a:rPr dirty="0" sz="1300" spc="60">
                <a:latin typeface="Arial"/>
                <a:cs typeface="Arial"/>
              </a:rPr>
              <a:t>a</a:t>
            </a:r>
            <a:r>
              <a:rPr dirty="0" sz="1300" spc="35">
                <a:latin typeface="Arial"/>
                <a:cs typeface="Arial"/>
              </a:rPr>
              <a:t> </a:t>
            </a:r>
            <a:r>
              <a:rPr dirty="0" sz="1300" spc="20">
                <a:latin typeface="Arial"/>
                <a:cs typeface="Arial"/>
              </a:rPr>
              <a:t>linear-probing</a:t>
            </a:r>
            <a:r>
              <a:rPr dirty="0" sz="1300" spc="35">
                <a:latin typeface="Arial"/>
                <a:cs typeface="Arial"/>
              </a:rPr>
              <a:t> </a:t>
            </a:r>
            <a:r>
              <a:rPr dirty="0" sz="1300" spc="-20">
                <a:latin typeface="Arial"/>
                <a:cs typeface="Arial"/>
              </a:rPr>
              <a:t>hash</a:t>
            </a:r>
            <a:r>
              <a:rPr dirty="0" sz="1300" spc="40">
                <a:latin typeface="Arial"/>
                <a:cs typeface="Arial"/>
              </a:rPr>
              <a:t> </a:t>
            </a:r>
            <a:r>
              <a:rPr dirty="0" sz="1300" spc="30">
                <a:latin typeface="Arial"/>
                <a:cs typeface="Arial"/>
              </a:rPr>
              <a:t>table</a:t>
            </a:r>
            <a:endParaRPr sz="1300">
              <a:latin typeface="Arial"/>
              <a:cs typeface="Arial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7651965" y="2608806"/>
            <a:ext cx="2105025" cy="525780"/>
          </a:xfrm>
          <a:custGeom>
            <a:avLst/>
            <a:gdLst/>
            <a:ahLst/>
            <a:cxnLst/>
            <a:rect l="l" t="t" r="r" b="b"/>
            <a:pathLst>
              <a:path w="2105025" h="525780">
                <a:moveTo>
                  <a:pt x="2104014" y="0"/>
                </a:moveTo>
                <a:lnTo>
                  <a:pt x="2104014" y="525454"/>
                </a:lnTo>
              </a:path>
              <a:path w="2105025" h="525780">
                <a:moveTo>
                  <a:pt x="1841105" y="0"/>
                </a:moveTo>
                <a:lnTo>
                  <a:pt x="1841105" y="525454"/>
                </a:lnTo>
              </a:path>
              <a:path w="2105025" h="525780">
                <a:moveTo>
                  <a:pt x="1578196" y="0"/>
                </a:moveTo>
                <a:lnTo>
                  <a:pt x="1578196" y="525454"/>
                </a:lnTo>
              </a:path>
              <a:path w="2105025" h="525780">
                <a:moveTo>
                  <a:pt x="1315287" y="0"/>
                </a:moveTo>
                <a:lnTo>
                  <a:pt x="1315287" y="525454"/>
                </a:lnTo>
              </a:path>
              <a:path w="2105025" h="525780">
                <a:moveTo>
                  <a:pt x="1052377" y="0"/>
                </a:moveTo>
                <a:lnTo>
                  <a:pt x="1052377" y="525454"/>
                </a:lnTo>
              </a:path>
              <a:path w="2105025" h="525780">
                <a:moveTo>
                  <a:pt x="789468" y="0"/>
                </a:moveTo>
                <a:lnTo>
                  <a:pt x="789468" y="525454"/>
                </a:lnTo>
              </a:path>
              <a:path w="2105025" h="525780">
                <a:moveTo>
                  <a:pt x="526559" y="0"/>
                </a:moveTo>
                <a:lnTo>
                  <a:pt x="526559" y="525454"/>
                </a:lnTo>
              </a:path>
              <a:path w="2105025" h="525780">
                <a:moveTo>
                  <a:pt x="263649" y="0"/>
                </a:moveTo>
                <a:lnTo>
                  <a:pt x="263649" y="525454"/>
                </a:lnTo>
              </a:path>
              <a:path w="2105025" h="525780">
                <a:moveTo>
                  <a:pt x="0" y="262727"/>
                </a:moveTo>
                <a:lnTo>
                  <a:pt x="2104755" y="262727"/>
                </a:lnTo>
              </a:path>
            </a:pathLst>
          </a:custGeom>
          <a:ln w="3175">
            <a:solidFill>
              <a:srgbClr val="F2F2F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7651965" y="2608806"/>
            <a:ext cx="2105025" cy="525780"/>
          </a:xfrm>
          <a:custGeom>
            <a:avLst/>
            <a:gdLst/>
            <a:ahLst/>
            <a:cxnLst/>
            <a:rect l="l" t="t" r="r" b="b"/>
            <a:pathLst>
              <a:path w="2105025" h="525780">
                <a:moveTo>
                  <a:pt x="740" y="0"/>
                </a:moveTo>
                <a:lnTo>
                  <a:pt x="740" y="525454"/>
                </a:lnTo>
              </a:path>
              <a:path w="2105025" h="525780">
                <a:moveTo>
                  <a:pt x="0" y="525454"/>
                </a:moveTo>
                <a:lnTo>
                  <a:pt x="2104755" y="525454"/>
                </a:lnTo>
              </a:path>
              <a:path w="2105025" h="525780">
                <a:moveTo>
                  <a:pt x="0" y="0"/>
                </a:moveTo>
                <a:lnTo>
                  <a:pt x="2104755" y="0"/>
                </a:lnTo>
              </a:path>
            </a:pathLst>
          </a:custGeom>
          <a:ln w="3175">
            <a:solidFill>
              <a:srgbClr val="F2F2F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 txBox="1"/>
          <p:nvPr/>
        </p:nvSpPr>
        <p:spPr>
          <a:xfrm>
            <a:off x="7212420" y="3964218"/>
            <a:ext cx="368300" cy="1397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50" spc="-5">
                <a:solidFill>
                  <a:srgbClr val="8D3124"/>
                </a:solidFill>
                <a:latin typeface="Lucida Sans Typewriter"/>
                <a:cs typeface="Lucida Sans Typewriter"/>
              </a:rPr>
              <a:t>keys[]</a:t>
            </a:r>
            <a:endParaRPr sz="750">
              <a:latin typeface="Lucida Sans Typewriter"/>
              <a:cs typeface="Lucida Sans Typewriter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7655525" y="3923202"/>
            <a:ext cx="4208145" cy="527050"/>
            <a:chOff x="7655525" y="3923202"/>
            <a:chExt cx="4208145" cy="527050"/>
          </a:xfrm>
        </p:grpSpPr>
        <p:sp>
          <p:nvSpPr>
            <p:cNvPr id="37" name="object 37"/>
            <p:cNvSpPr/>
            <p:nvPr/>
          </p:nvSpPr>
          <p:spPr>
            <a:xfrm>
              <a:off x="7656995" y="3924693"/>
              <a:ext cx="4205605" cy="524510"/>
            </a:xfrm>
            <a:custGeom>
              <a:avLst/>
              <a:gdLst/>
              <a:ahLst/>
              <a:cxnLst/>
              <a:rect l="l" t="t" r="r" b="b"/>
              <a:pathLst>
                <a:path w="4205605" h="524510">
                  <a:moveTo>
                    <a:pt x="261429" y="262724"/>
                  </a:moveTo>
                  <a:lnTo>
                    <a:pt x="0" y="262724"/>
                  </a:lnTo>
                  <a:lnTo>
                    <a:pt x="0" y="523963"/>
                  </a:lnTo>
                  <a:lnTo>
                    <a:pt x="261429" y="523963"/>
                  </a:lnTo>
                  <a:lnTo>
                    <a:pt x="261429" y="262724"/>
                  </a:lnTo>
                  <a:close/>
                </a:path>
                <a:path w="4205605" h="524510">
                  <a:moveTo>
                    <a:pt x="261429" y="0"/>
                  </a:moveTo>
                  <a:lnTo>
                    <a:pt x="0" y="0"/>
                  </a:lnTo>
                  <a:lnTo>
                    <a:pt x="0" y="261239"/>
                  </a:lnTo>
                  <a:lnTo>
                    <a:pt x="261429" y="261239"/>
                  </a:lnTo>
                  <a:lnTo>
                    <a:pt x="261429" y="0"/>
                  </a:lnTo>
                  <a:close/>
                </a:path>
                <a:path w="4205605" h="524510">
                  <a:moveTo>
                    <a:pt x="524344" y="262724"/>
                  </a:moveTo>
                  <a:lnTo>
                    <a:pt x="262915" y="262724"/>
                  </a:lnTo>
                  <a:lnTo>
                    <a:pt x="262915" y="523963"/>
                  </a:lnTo>
                  <a:lnTo>
                    <a:pt x="524344" y="523963"/>
                  </a:lnTo>
                  <a:lnTo>
                    <a:pt x="524344" y="262724"/>
                  </a:lnTo>
                  <a:close/>
                </a:path>
                <a:path w="4205605" h="524510">
                  <a:moveTo>
                    <a:pt x="524344" y="0"/>
                  </a:moveTo>
                  <a:lnTo>
                    <a:pt x="262915" y="0"/>
                  </a:lnTo>
                  <a:lnTo>
                    <a:pt x="262915" y="261239"/>
                  </a:lnTo>
                  <a:lnTo>
                    <a:pt x="524344" y="261239"/>
                  </a:lnTo>
                  <a:lnTo>
                    <a:pt x="524344" y="0"/>
                  </a:lnTo>
                  <a:close/>
                </a:path>
                <a:path w="4205605" h="524510">
                  <a:moveTo>
                    <a:pt x="787247" y="262724"/>
                  </a:moveTo>
                  <a:lnTo>
                    <a:pt x="525818" y="262724"/>
                  </a:lnTo>
                  <a:lnTo>
                    <a:pt x="525818" y="523963"/>
                  </a:lnTo>
                  <a:lnTo>
                    <a:pt x="787247" y="523963"/>
                  </a:lnTo>
                  <a:lnTo>
                    <a:pt x="787247" y="262724"/>
                  </a:lnTo>
                  <a:close/>
                </a:path>
                <a:path w="4205605" h="524510">
                  <a:moveTo>
                    <a:pt x="787247" y="0"/>
                  </a:moveTo>
                  <a:lnTo>
                    <a:pt x="525818" y="0"/>
                  </a:lnTo>
                  <a:lnTo>
                    <a:pt x="525818" y="261239"/>
                  </a:lnTo>
                  <a:lnTo>
                    <a:pt x="787247" y="261239"/>
                  </a:lnTo>
                  <a:lnTo>
                    <a:pt x="787247" y="0"/>
                  </a:lnTo>
                  <a:close/>
                </a:path>
                <a:path w="4205605" h="524510">
                  <a:moveTo>
                    <a:pt x="1050163" y="262724"/>
                  </a:moveTo>
                  <a:lnTo>
                    <a:pt x="788733" y="262724"/>
                  </a:lnTo>
                  <a:lnTo>
                    <a:pt x="788733" y="523963"/>
                  </a:lnTo>
                  <a:lnTo>
                    <a:pt x="1050163" y="523963"/>
                  </a:lnTo>
                  <a:lnTo>
                    <a:pt x="1050163" y="262724"/>
                  </a:lnTo>
                  <a:close/>
                </a:path>
                <a:path w="4205605" h="524510">
                  <a:moveTo>
                    <a:pt x="1050163" y="0"/>
                  </a:moveTo>
                  <a:lnTo>
                    <a:pt x="788733" y="0"/>
                  </a:lnTo>
                  <a:lnTo>
                    <a:pt x="788733" y="261239"/>
                  </a:lnTo>
                  <a:lnTo>
                    <a:pt x="1050163" y="261239"/>
                  </a:lnTo>
                  <a:lnTo>
                    <a:pt x="1050163" y="0"/>
                  </a:lnTo>
                  <a:close/>
                </a:path>
                <a:path w="4205605" h="524510">
                  <a:moveTo>
                    <a:pt x="1313065" y="262724"/>
                  </a:moveTo>
                  <a:lnTo>
                    <a:pt x="1051648" y="262724"/>
                  </a:lnTo>
                  <a:lnTo>
                    <a:pt x="1051648" y="523963"/>
                  </a:lnTo>
                  <a:lnTo>
                    <a:pt x="1313065" y="523963"/>
                  </a:lnTo>
                  <a:lnTo>
                    <a:pt x="1313065" y="262724"/>
                  </a:lnTo>
                  <a:close/>
                </a:path>
                <a:path w="4205605" h="524510">
                  <a:moveTo>
                    <a:pt x="1313065" y="0"/>
                  </a:moveTo>
                  <a:lnTo>
                    <a:pt x="1051648" y="0"/>
                  </a:lnTo>
                  <a:lnTo>
                    <a:pt x="1051648" y="261239"/>
                  </a:lnTo>
                  <a:lnTo>
                    <a:pt x="1313065" y="261239"/>
                  </a:lnTo>
                  <a:lnTo>
                    <a:pt x="1313065" y="0"/>
                  </a:lnTo>
                  <a:close/>
                </a:path>
                <a:path w="4205605" h="524510">
                  <a:moveTo>
                    <a:pt x="1575981" y="262724"/>
                  </a:moveTo>
                  <a:lnTo>
                    <a:pt x="1314551" y="262724"/>
                  </a:lnTo>
                  <a:lnTo>
                    <a:pt x="1314551" y="523963"/>
                  </a:lnTo>
                  <a:lnTo>
                    <a:pt x="1575981" y="523963"/>
                  </a:lnTo>
                  <a:lnTo>
                    <a:pt x="1575981" y="262724"/>
                  </a:lnTo>
                  <a:close/>
                </a:path>
                <a:path w="4205605" h="524510">
                  <a:moveTo>
                    <a:pt x="1575981" y="0"/>
                  </a:moveTo>
                  <a:lnTo>
                    <a:pt x="1314551" y="0"/>
                  </a:lnTo>
                  <a:lnTo>
                    <a:pt x="1314551" y="261239"/>
                  </a:lnTo>
                  <a:lnTo>
                    <a:pt x="1575981" y="261239"/>
                  </a:lnTo>
                  <a:lnTo>
                    <a:pt x="1575981" y="0"/>
                  </a:lnTo>
                  <a:close/>
                </a:path>
                <a:path w="4205605" h="524510">
                  <a:moveTo>
                    <a:pt x="1838883" y="262724"/>
                  </a:moveTo>
                  <a:lnTo>
                    <a:pt x="1577467" y="262724"/>
                  </a:lnTo>
                  <a:lnTo>
                    <a:pt x="1577467" y="523963"/>
                  </a:lnTo>
                  <a:lnTo>
                    <a:pt x="1838883" y="523963"/>
                  </a:lnTo>
                  <a:lnTo>
                    <a:pt x="1838883" y="262724"/>
                  </a:lnTo>
                  <a:close/>
                </a:path>
                <a:path w="4205605" h="524510">
                  <a:moveTo>
                    <a:pt x="1838883" y="0"/>
                  </a:moveTo>
                  <a:lnTo>
                    <a:pt x="1577467" y="0"/>
                  </a:lnTo>
                  <a:lnTo>
                    <a:pt x="1577467" y="261239"/>
                  </a:lnTo>
                  <a:lnTo>
                    <a:pt x="1838883" y="261239"/>
                  </a:lnTo>
                  <a:lnTo>
                    <a:pt x="1838883" y="0"/>
                  </a:lnTo>
                  <a:close/>
                </a:path>
                <a:path w="4205605" h="524510">
                  <a:moveTo>
                    <a:pt x="2101799" y="262724"/>
                  </a:moveTo>
                  <a:lnTo>
                    <a:pt x="1840369" y="262724"/>
                  </a:lnTo>
                  <a:lnTo>
                    <a:pt x="1840369" y="523963"/>
                  </a:lnTo>
                  <a:lnTo>
                    <a:pt x="2101799" y="523963"/>
                  </a:lnTo>
                  <a:lnTo>
                    <a:pt x="2101799" y="262724"/>
                  </a:lnTo>
                  <a:close/>
                </a:path>
                <a:path w="4205605" h="524510">
                  <a:moveTo>
                    <a:pt x="2101799" y="0"/>
                  </a:moveTo>
                  <a:lnTo>
                    <a:pt x="1840369" y="0"/>
                  </a:lnTo>
                  <a:lnTo>
                    <a:pt x="1840369" y="261239"/>
                  </a:lnTo>
                  <a:lnTo>
                    <a:pt x="2101799" y="261239"/>
                  </a:lnTo>
                  <a:lnTo>
                    <a:pt x="2101799" y="0"/>
                  </a:lnTo>
                  <a:close/>
                </a:path>
                <a:path w="4205605" h="524510">
                  <a:moveTo>
                    <a:pt x="2364702" y="262724"/>
                  </a:moveTo>
                  <a:lnTo>
                    <a:pt x="2103285" y="262724"/>
                  </a:lnTo>
                  <a:lnTo>
                    <a:pt x="2103285" y="523963"/>
                  </a:lnTo>
                  <a:lnTo>
                    <a:pt x="2364702" y="523963"/>
                  </a:lnTo>
                  <a:lnTo>
                    <a:pt x="2364702" y="262724"/>
                  </a:lnTo>
                  <a:close/>
                </a:path>
                <a:path w="4205605" h="524510">
                  <a:moveTo>
                    <a:pt x="2364702" y="0"/>
                  </a:moveTo>
                  <a:lnTo>
                    <a:pt x="2103285" y="0"/>
                  </a:lnTo>
                  <a:lnTo>
                    <a:pt x="2103285" y="261239"/>
                  </a:lnTo>
                  <a:lnTo>
                    <a:pt x="2364702" y="261239"/>
                  </a:lnTo>
                  <a:lnTo>
                    <a:pt x="2364702" y="0"/>
                  </a:lnTo>
                  <a:close/>
                </a:path>
                <a:path w="4205605" h="524510">
                  <a:moveTo>
                    <a:pt x="2627617" y="262724"/>
                  </a:moveTo>
                  <a:lnTo>
                    <a:pt x="2366187" y="262724"/>
                  </a:lnTo>
                  <a:lnTo>
                    <a:pt x="2366187" y="523963"/>
                  </a:lnTo>
                  <a:lnTo>
                    <a:pt x="2627617" y="523963"/>
                  </a:lnTo>
                  <a:lnTo>
                    <a:pt x="2627617" y="262724"/>
                  </a:lnTo>
                  <a:close/>
                </a:path>
                <a:path w="4205605" h="524510">
                  <a:moveTo>
                    <a:pt x="2627617" y="0"/>
                  </a:moveTo>
                  <a:lnTo>
                    <a:pt x="2366187" y="0"/>
                  </a:lnTo>
                  <a:lnTo>
                    <a:pt x="2366187" y="261239"/>
                  </a:lnTo>
                  <a:lnTo>
                    <a:pt x="2627617" y="261239"/>
                  </a:lnTo>
                  <a:lnTo>
                    <a:pt x="2627617" y="0"/>
                  </a:lnTo>
                  <a:close/>
                </a:path>
                <a:path w="4205605" h="524510">
                  <a:moveTo>
                    <a:pt x="2890520" y="262724"/>
                  </a:moveTo>
                  <a:lnTo>
                    <a:pt x="2629103" y="262724"/>
                  </a:lnTo>
                  <a:lnTo>
                    <a:pt x="2629103" y="523963"/>
                  </a:lnTo>
                  <a:lnTo>
                    <a:pt x="2890520" y="523963"/>
                  </a:lnTo>
                  <a:lnTo>
                    <a:pt x="2890520" y="262724"/>
                  </a:lnTo>
                  <a:close/>
                </a:path>
                <a:path w="4205605" h="524510">
                  <a:moveTo>
                    <a:pt x="2890520" y="0"/>
                  </a:moveTo>
                  <a:lnTo>
                    <a:pt x="2629103" y="0"/>
                  </a:lnTo>
                  <a:lnTo>
                    <a:pt x="2629103" y="261239"/>
                  </a:lnTo>
                  <a:lnTo>
                    <a:pt x="2890520" y="261239"/>
                  </a:lnTo>
                  <a:lnTo>
                    <a:pt x="2890520" y="0"/>
                  </a:lnTo>
                  <a:close/>
                </a:path>
                <a:path w="4205605" h="524510">
                  <a:moveTo>
                    <a:pt x="3153435" y="262724"/>
                  </a:moveTo>
                  <a:lnTo>
                    <a:pt x="2892006" y="262724"/>
                  </a:lnTo>
                  <a:lnTo>
                    <a:pt x="2892006" y="523963"/>
                  </a:lnTo>
                  <a:lnTo>
                    <a:pt x="3153435" y="523963"/>
                  </a:lnTo>
                  <a:lnTo>
                    <a:pt x="3153435" y="262724"/>
                  </a:lnTo>
                  <a:close/>
                </a:path>
                <a:path w="4205605" h="524510">
                  <a:moveTo>
                    <a:pt x="3153435" y="0"/>
                  </a:moveTo>
                  <a:lnTo>
                    <a:pt x="2892006" y="0"/>
                  </a:lnTo>
                  <a:lnTo>
                    <a:pt x="2892006" y="261239"/>
                  </a:lnTo>
                  <a:lnTo>
                    <a:pt x="3153435" y="261239"/>
                  </a:lnTo>
                  <a:lnTo>
                    <a:pt x="3153435" y="0"/>
                  </a:lnTo>
                  <a:close/>
                </a:path>
                <a:path w="4205605" h="524510">
                  <a:moveTo>
                    <a:pt x="3416350" y="262724"/>
                  </a:moveTo>
                  <a:lnTo>
                    <a:pt x="3154921" y="262724"/>
                  </a:lnTo>
                  <a:lnTo>
                    <a:pt x="3154921" y="523963"/>
                  </a:lnTo>
                  <a:lnTo>
                    <a:pt x="3416350" y="523963"/>
                  </a:lnTo>
                  <a:lnTo>
                    <a:pt x="3416350" y="262724"/>
                  </a:lnTo>
                  <a:close/>
                </a:path>
                <a:path w="4205605" h="524510">
                  <a:moveTo>
                    <a:pt x="3416350" y="0"/>
                  </a:moveTo>
                  <a:lnTo>
                    <a:pt x="3154921" y="0"/>
                  </a:lnTo>
                  <a:lnTo>
                    <a:pt x="3154921" y="261239"/>
                  </a:lnTo>
                  <a:lnTo>
                    <a:pt x="3416350" y="261239"/>
                  </a:lnTo>
                  <a:lnTo>
                    <a:pt x="3416350" y="0"/>
                  </a:lnTo>
                  <a:close/>
                </a:path>
                <a:path w="4205605" h="524510">
                  <a:moveTo>
                    <a:pt x="3679253" y="262724"/>
                  </a:moveTo>
                  <a:lnTo>
                    <a:pt x="3417824" y="262724"/>
                  </a:lnTo>
                  <a:lnTo>
                    <a:pt x="3417824" y="523963"/>
                  </a:lnTo>
                  <a:lnTo>
                    <a:pt x="3679253" y="523963"/>
                  </a:lnTo>
                  <a:lnTo>
                    <a:pt x="3679253" y="262724"/>
                  </a:lnTo>
                  <a:close/>
                </a:path>
                <a:path w="4205605" h="524510">
                  <a:moveTo>
                    <a:pt x="3679253" y="0"/>
                  </a:moveTo>
                  <a:lnTo>
                    <a:pt x="3417824" y="0"/>
                  </a:lnTo>
                  <a:lnTo>
                    <a:pt x="3417824" y="261239"/>
                  </a:lnTo>
                  <a:lnTo>
                    <a:pt x="3679253" y="261239"/>
                  </a:lnTo>
                  <a:lnTo>
                    <a:pt x="3679253" y="0"/>
                  </a:lnTo>
                  <a:close/>
                </a:path>
                <a:path w="4205605" h="524510">
                  <a:moveTo>
                    <a:pt x="3942169" y="262724"/>
                  </a:moveTo>
                  <a:lnTo>
                    <a:pt x="3680739" y="262724"/>
                  </a:lnTo>
                  <a:lnTo>
                    <a:pt x="3680739" y="523963"/>
                  </a:lnTo>
                  <a:lnTo>
                    <a:pt x="3942169" y="523963"/>
                  </a:lnTo>
                  <a:lnTo>
                    <a:pt x="3942169" y="262724"/>
                  </a:lnTo>
                  <a:close/>
                </a:path>
                <a:path w="4205605" h="524510">
                  <a:moveTo>
                    <a:pt x="3942169" y="0"/>
                  </a:moveTo>
                  <a:lnTo>
                    <a:pt x="3680739" y="0"/>
                  </a:lnTo>
                  <a:lnTo>
                    <a:pt x="3680739" y="261239"/>
                  </a:lnTo>
                  <a:lnTo>
                    <a:pt x="3942169" y="261239"/>
                  </a:lnTo>
                  <a:lnTo>
                    <a:pt x="3942169" y="0"/>
                  </a:lnTo>
                  <a:close/>
                </a:path>
                <a:path w="4205605" h="524510">
                  <a:moveTo>
                    <a:pt x="4205071" y="262724"/>
                  </a:moveTo>
                  <a:lnTo>
                    <a:pt x="3943642" y="262724"/>
                  </a:lnTo>
                  <a:lnTo>
                    <a:pt x="3943642" y="523963"/>
                  </a:lnTo>
                  <a:lnTo>
                    <a:pt x="4205071" y="523963"/>
                  </a:lnTo>
                  <a:lnTo>
                    <a:pt x="4205071" y="262724"/>
                  </a:lnTo>
                  <a:close/>
                </a:path>
                <a:path w="4205605" h="524510">
                  <a:moveTo>
                    <a:pt x="4205071" y="0"/>
                  </a:moveTo>
                  <a:lnTo>
                    <a:pt x="3943642" y="0"/>
                  </a:lnTo>
                  <a:lnTo>
                    <a:pt x="3943642" y="261239"/>
                  </a:lnTo>
                  <a:lnTo>
                    <a:pt x="4205071" y="261239"/>
                  </a:lnTo>
                  <a:lnTo>
                    <a:pt x="4205071" y="0"/>
                  </a:lnTo>
                  <a:close/>
                </a:path>
              </a:pathLst>
            </a:custGeom>
            <a:solidFill>
              <a:srgbClr val="D5D5D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7655525" y="3923942"/>
              <a:ext cx="4208145" cy="525780"/>
            </a:xfrm>
            <a:custGeom>
              <a:avLst/>
              <a:gdLst/>
              <a:ahLst/>
              <a:cxnLst/>
              <a:rect l="l" t="t" r="r" b="b"/>
              <a:pathLst>
                <a:path w="4208145" h="525779">
                  <a:moveTo>
                    <a:pt x="4207289" y="0"/>
                  </a:moveTo>
                  <a:lnTo>
                    <a:pt x="4207289" y="525454"/>
                  </a:lnTo>
                </a:path>
                <a:path w="4208145" h="525779">
                  <a:moveTo>
                    <a:pt x="3944380" y="0"/>
                  </a:moveTo>
                  <a:lnTo>
                    <a:pt x="3944380" y="525454"/>
                  </a:lnTo>
                </a:path>
                <a:path w="4208145" h="525779">
                  <a:moveTo>
                    <a:pt x="3681470" y="0"/>
                  </a:moveTo>
                  <a:lnTo>
                    <a:pt x="3681470" y="525454"/>
                  </a:lnTo>
                </a:path>
                <a:path w="4208145" h="525779">
                  <a:moveTo>
                    <a:pt x="3418561" y="0"/>
                  </a:moveTo>
                  <a:lnTo>
                    <a:pt x="3418561" y="525454"/>
                  </a:lnTo>
                </a:path>
                <a:path w="4208145" h="525779">
                  <a:moveTo>
                    <a:pt x="3155652" y="0"/>
                  </a:moveTo>
                  <a:lnTo>
                    <a:pt x="3155652" y="525454"/>
                  </a:lnTo>
                </a:path>
                <a:path w="4208145" h="525779">
                  <a:moveTo>
                    <a:pt x="2892742" y="0"/>
                  </a:moveTo>
                  <a:lnTo>
                    <a:pt x="2892742" y="525454"/>
                  </a:lnTo>
                </a:path>
                <a:path w="4208145" h="525779">
                  <a:moveTo>
                    <a:pt x="2629833" y="0"/>
                  </a:moveTo>
                  <a:lnTo>
                    <a:pt x="2629833" y="525454"/>
                  </a:lnTo>
                </a:path>
                <a:path w="4208145" h="525779">
                  <a:moveTo>
                    <a:pt x="2366924" y="0"/>
                  </a:moveTo>
                  <a:lnTo>
                    <a:pt x="2366924" y="525454"/>
                  </a:lnTo>
                </a:path>
                <a:path w="4208145" h="525779">
                  <a:moveTo>
                    <a:pt x="2104014" y="0"/>
                  </a:moveTo>
                  <a:lnTo>
                    <a:pt x="2104014" y="525454"/>
                  </a:lnTo>
                </a:path>
                <a:path w="4208145" h="525779">
                  <a:moveTo>
                    <a:pt x="1841105" y="0"/>
                  </a:moveTo>
                  <a:lnTo>
                    <a:pt x="1841105" y="525454"/>
                  </a:lnTo>
                </a:path>
                <a:path w="4208145" h="525779">
                  <a:moveTo>
                    <a:pt x="1578196" y="0"/>
                  </a:moveTo>
                  <a:lnTo>
                    <a:pt x="1578196" y="525454"/>
                  </a:lnTo>
                </a:path>
                <a:path w="4208145" h="525779">
                  <a:moveTo>
                    <a:pt x="1315287" y="0"/>
                  </a:moveTo>
                  <a:lnTo>
                    <a:pt x="1315287" y="525454"/>
                  </a:lnTo>
                </a:path>
                <a:path w="4208145" h="525779">
                  <a:moveTo>
                    <a:pt x="1052377" y="0"/>
                  </a:moveTo>
                  <a:lnTo>
                    <a:pt x="1052377" y="525454"/>
                  </a:lnTo>
                </a:path>
                <a:path w="4208145" h="525779">
                  <a:moveTo>
                    <a:pt x="789468" y="0"/>
                  </a:moveTo>
                  <a:lnTo>
                    <a:pt x="789468" y="525454"/>
                  </a:lnTo>
                </a:path>
                <a:path w="4208145" h="525779">
                  <a:moveTo>
                    <a:pt x="526559" y="0"/>
                  </a:moveTo>
                  <a:lnTo>
                    <a:pt x="526559" y="525454"/>
                  </a:lnTo>
                </a:path>
                <a:path w="4208145" h="525779">
                  <a:moveTo>
                    <a:pt x="263649" y="0"/>
                  </a:moveTo>
                  <a:lnTo>
                    <a:pt x="263649" y="525454"/>
                  </a:lnTo>
                </a:path>
                <a:path w="4208145" h="525779">
                  <a:moveTo>
                    <a:pt x="740" y="0"/>
                  </a:moveTo>
                  <a:lnTo>
                    <a:pt x="740" y="525454"/>
                  </a:lnTo>
                </a:path>
                <a:path w="4208145" h="525779">
                  <a:moveTo>
                    <a:pt x="0" y="525454"/>
                  </a:moveTo>
                  <a:lnTo>
                    <a:pt x="4208030" y="525454"/>
                  </a:lnTo>
                </a:path>
                <a:path w="4208145" h="525779">
                  <a:moveTo>
                    <a:pt x="0" y="262727"/>
                  </a:moveTo>
                  <a:lnTo>
                    <a:pt x="4208030" y="262727"/>
                  </a:lnTo>
                </a:path>
                <a:path w="4208145" h="525779">
                  <a:moveTo>
                    <a:pt x="0" y="0"/>
                  </a:moveTo>
                  <a:lnTo>
                    <a:pt x="4208030" y="0"/>
                  </a:lnTo>
                </a:path>
              </a:pathLst>
            </a:custGeom>
            <a:ln w="3175">
              <a:solidFill>
                <a:srgbClr val="F2F2F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9" name="object 39"/>
          <p:cNvSpPr txBox="1"/>
          <p:nvPr/>
        </p:nvSpPr>
        <p:spPr>
          <a:xfrm>
            <a:off x="7762462" y="3719603"/>
            <a:ext cx="78105" cy="1250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50">
                <a:solidFill>
                  <a:srgbClr val="606060"/>
                </a:solidFill>
                <a:latin typeface="Lucida Sans"/>
                <a:cs typeface="Lucida Sans"/>
              </a:rPr>
              <a:t>0</a:t>
            </a:r>
            <a:endParaRPr sz="650">
              <a:latin typeface="Lucida Sans"/>
              <a:cs typeface="Lucida Sans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8025372" y="3719603"/>
            <a:ext cx="78105" cy="1250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50">
                <a:solidFill>
                  <a:srgbClr val="606060"/>
                </a:solidFill>
                <a:latin typeface="Lucida Sans"/>
                <a:cs typeface="Lucida Sans"/>
              </a:rPr>
              <a:t>1</a:t>
            </a:r>
            <a:endParaRPr sz="650">
              <a:latin typeface="Lucida Sans"/>
              <a:cs typeface="Lucida Sans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8288281" y="3719603"/>
            <a:ext cx="78105" cy="1250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50">
                <a:solidFill>
                  <a:srgbClr val="606060"/>
                </a:solidFill>
                <a:latin typeface="Lucida Sans"/>
                <a:cs typeface="Lucida Sans"/>
              </a:rPr>
              <a:t>2</a:t>
            </a:r>
            <a:endParaRPr sz="650">
              <a:latin typeface="Lucida Sans"/>
              <a:cs typeface="Lucida Sans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8551190" y="3719603"/>
            <a:ext cx="78105" cy="1250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50">
                <a:solidFill>
                  <a:srgbClr val="606060"/>
                </a:solidFill>
                <a:latin typeface="Lucida Sans"/>
                <a:cs typeface="Lucida Sans"/>
              </a:rPr>
              <a:t>3</a:t>
            </a:r>
            <a:endParaRPr sz="650">
              <a:latin typeface="Lucida Sans"/>
              <a:cs typeface="Lucida Sans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8814099" y="3719603"/>
            <a:ext cx="78105" cy="1250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50">
                <a:solidFill>
                  <a:srgbClr val="606060"/>
                </a:solidFill>
                <a:latin typeface="Lucida Sans"/>
                <a:cs typeface="Lucida Sans"/>
              </a:rPr>
              <a:t>4</a:t>
            </a:r>
            <a:endParaRPr sz="650">
              <a:latin typeface="Lucida Sans"/>
              <a:cs typeface="Lucida Sans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9077008" y="3719603"/>
            <a:ext cx="78105" cy="1250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50">
                <a:solidFill>
                  <a:srgbClr val="606060"/>
                </a:solidFill>
                <a:latin typeface="Lucida Sans"/>
                <a:cs typeface="Lucida Sans"/>
              </a:rPr>
              <a:t>5</a:t>
            </a:r>
            <a:endParaRPr sz="650">
              <a:latin typeface="Lucida Sans"/>
              <a:cs typeface="Lucida Sans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9339918" y="3719603"/>
            <a:ext cx="78105" cy="1250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50">
                <a:solidFill>
                  <a:srgbClr val="606060"/>
                </a:solidFill>
                <a:latin typeface="Lucida Sans"/>
                <a:cs typeface="Lucida Sans"/>
              </a:rPr>
              <a:t>6</a:t>
            </a:r>
            <a:endParaRPr sz="650">
              <a:latin typeface="Lucida Sans"/>
              <a:cs typeface="Lucida Sans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9602827" y="3719603"/>
            <a:ext cx="78105" cy="1250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50">
                <a:solidFill>
                  <a:srgbClr val="606060"/>
                </a:solidFill>
                <a:latin typeface="Lucida Sans"/>
                <a:cs typeface="Lucida Sans"/>
              </a:rPr>
              <a:t>7</a:t>
            </a:r>
            <a:endParaRPr sz="650">
              <a:latin typeface="Lucida Sans"/>
              <a:cs typeface="Lucida Sans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9865736" y="3719603"/>
            <a:ext cx="78105" cy="1250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50">
                <a:solidFill>
                  <a:srgbClr val="606060"/>
                </a:solidFill>
                <a:latin typeface="Lucida Sans"/>
                <a:cs typeface="Lucida Sans"/>
              </a:rPr>
              <a:t>8</a:t>
            </a:r>
            <a:endParaRPr sz="650">
              <a:latin typeface="Lucida Sans"/>
              <a:cs typeface="Lucida Sans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10128646" y="3719603"/>
            <a:ext cx="78105" cy="1250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50">
                <a:solidFill>
                  <a:srgbClr val="606060"/>
                </a:solidFill>
                <a:latin typeface="Lucida Sans"/>
                <a:cs typeface="Lucida Sans"/>
              </a:rPr>
              <a:t>9</a:t>
            </a:r>
            <a:endParaRPr sz="650">
              <a:latin typeface="Lucida Sans"/>
              <a:cs typeface="Lucida Sans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10365306" y="3719603"/>
            <a:ext cx="1445260" cy="1250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74955" algn="l"/>
                <a:tab pos="537845" algn="l"/>
                <a:tab pos="801370" algn="l"/>
                <a:tab pos="1064260" algn="l"/>
                <a:tab pos="1327150" algn="l"/>
              </a:tabLst>
            </a:pPr>
            <a:r>
              <a:rPr dirty="0" sz="650">
                <a:solidFill>
                  <a:srgbClr val="606060"/>
                </a:solidFill>
                <a:latin typeface="Lucida Sans"/>
                <a:cs typeface="Lucida Sans"/>
              </a:rPr>
              <a:t>10</a:t>
            </a:r>
            <a:r>
              <a:rPr dirty="0" sz="650">
                <a:solidFill>
                  <a:srgbClr val="606060"/>
                </a:solidFill>
                <a:latin typeface="Lucida Sans"/>
                <a:cs typeface="Lucida Sans"/>
              </a:rPr>
              <a:t>	</a:t>
            </a:r>
            <a:r>
              <a:rPr dirty="0" sz="650">
                <a:solidFill>
                  <a:srgbClr val="606060"/>
                </a:solidFill>
                <a:latin typeface="Lucida Sans"/>
                <a:cs typeface="Lucida Sans"/>
              </a:rPr>
              <a:t>11</a:t>
            </a:r>
            <a:r>
              <a:rPr dirty="0" sz="650">
                <a:solidFill>
                  <a:srgbClr val="606060"/>
                </a:solidFill>
                <a:latin typeface="Lucida Sans"/>
                <a:cs typeface="Lucida Sans"/>
              </a:rPr>
              <a:t>	</a:t>
            </a:r>
            <a:r>
              <a:rPr dirty="0" sz="650">
                <a:solidFill>
                  <a:srgbClr val="606060"/>
                </a:solidFill>
                <a:latin typeface="Lucida Sans"/>
                <a:cs typeface="Lucida Sans"/>
              </a:rPr>
              <a:t>12</a:t>
            </a:r>
            <a:r>
              <a:rPr dirty="0" sz="650">
                <a:solidFill>
                  <a:srgbClr val="606060"/>
                </a:solidFill>
                <a:latin typeface="Lucida Sans"/>
                <a:cs typeface="Lucida Sans"/>
              </a:rPr>
              <a:t>	</a:t>
            </a:r>
            <a:r>
              <a:rPr dirty="0" sz="650">
                <a:solidFill>
                  <a:srgbClr val="606060"/>
                </a:solidFill>
                <a:latin typeface="Lucida Sans"/>
                <a:cs typeface="Lucida Sans"/>
              </a:rPr>
              <a:t>13</a:t>
            </a:r>
            <a:r>
              <a:rPr dirty="0" sz="650">
                <a:solidFill>
                  <a:srgbClr val="606060"/>
                </a:solidFill>
                <a:latin typeface="Lucida Sans"/>
                <a:cs typeface="Lucida Sans"/>
              </a:rPr>
              <a:t>	</a:t>
            </a:r>
            <a:r>
              <a:rPr dirty="0" sz="650">
                <a:solidFill>
                  <a:srgbClr val="606060"/>
                </a:solidFill>
                <a:latin typeface="Lucida Sans"/>
                <a:cs typeface="Lucida Sans"/>
              </a:rPr>
              <a:t>14</a:t>
            </a:r>
            <a:r>
              <a:rPr dirty="0" sz="650">
                <a:solidFill>
                  <a:srgbClr val="606060"/>
                </a:solidFill>
                <a:latin typeface="Lucida Sans"/>
                <a:cs typeface="Lucida Sans"/>
              </a:rPr>
              <a:t>	</a:t>
            </a:r>
            <a:r>
              <a:rPr dirty="0" sz="650">
                <a:solidFill>
                  <a:srgbClr val="606060"/>
                </a:solidFill>
                <a:latin typeface="Lucida Sans"/>
                <a:cs typeface="Lucida Sans"/>
              </a:rPr>
              <a:t>15</a:t>
            </a:r>
            <a:endParaRPr sz="650">
              <a:latin typeface="Lucida Sans"/>
              <a:cs typeface="Lucida Sans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8802569" y="3965299"/>
            <a:ext cx="86360" cy="15367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40"/>
              </a:spcBef>
            </a:pPr>
            <a:r>
              <a:rPr dirty="0" sz="800" spc="25">
                <a:latin typeface="Lucida Sans"/>
                <a:cs typeface="Lucida Sans"/>
              </a:rPr>
              <a:t>A</a:t>
            </a:r>
            <a:endParaRPr sz="800">
              <a:latin typeface="Lucida Sans"/>
              <a:cs typeface="Lucida Sans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9336438" y="3965299"/>
            <a:ext cx="70485" cy="15367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40"/>
              </a:spcBef>
            </a:pPr>
            <a:r>
              <a:rPr dirty="0" sz="800" spc="20">
                <a:latin typeface="Lucida Sans"/>
                <a:cs typeface="Lucida Sans"/>
              </a:rPr>
              <a:t>S</a:t>
            </a:r>
            <a:endParaRPr sz="800">
              <a:latin typeface="Lucida Sans"/>
              <a:cs typeface="Lucida Sans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10387916" y="3965299"/>
            <a:ext cx="71120" cy="15367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40"/>
              </a:spcBef>
            </a:pPr>
            <a:r>
              <a:rPr dirty="0" sz="800" spc="20">
                <a:latin typeface="Lucida Sans"/>
                <a:cs typeface="Lucida Sans"/>
              </a:rPr>
              <a:t>E</a:t>
            </a:r>
            <a:endParaRPr sz="800">
              <a:latin typeface="Lucida Sans"/>
              <a:cs typeface="Lucida Sans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11434701" y="3965299"/>
            <a:ext cx="80645" cy="15367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40"/>
              </a:spcBef>
            </a:pPr>
            <a:r>
              <a:rPr dirty="0" sz="800" spc="25">
                <a:latin typeface="Lucida Sans"/>
                <a:cs typeface="Lucida Sans"/>
              </a:rPr>
              <a:t>R</a:t>
            </a:r>
            <a:endParaRPr sz="800">
              <a:latin typeface="Lucida Sans"/>
              <a:cs typeface="Lucida Sans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8819300" y="4228026"/>
            <a:ext cx="80645" cy="15367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40"/>
              </a:spcBef>
            </a:pPr>
            <a:r>
              <a:rPr dirty="0" sz="800" spc="25">
                <a:solidFill>
                  <a:srgbClr val="BABABA"/>
                </a:solidFill>
                <a:latin typeface="Lucida Sans"/>
                <a:cs typeface="Lucida Sans"/>
              </a:rPr>
              <a:t>2</a:t>
            </a:r>
            <a:endParaRPr sz="800">
              <a:latin typeface="Lucida Sans"/>
              <a:cs typeface="Lucida Sans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9345117" y="4228026"/>
            <a:ext cx="80645" cy="15367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40"/>
              </a:spcBef>
            </a:pPr>
            <a:r>
              <a:rPr dirty="0" sz="800" spc="25">
                <a:solidFill>
                  <a:srgbClr val="BABABA"/>
                </a:solidFill>
                <a:latin typeface="Lucida Sans"/>
                <a:cs typeface="Lucida Sans"/>
              </a:rPr>
              <a:t>0</a:t>
            </a:r>
            <a:endParaRPr sz="800">
              <a:latin typeface="Lucida Sans"/>
              <a:cs typeface="Lucida Sans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10396756" y="4228026"/>
            <a:ext cx="80645" cy="15367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40"/>
              </a:spcBef>
            </a:pPr>
            <a:r>
              <a:rPr dirty="0" sz="800" spc="25">
                <a:solidFill>
                  <a:srgbClr val="BABABA"/>
                </a:solidFill>
                <a:latin typeface="Lucida Sans"/>
                <a:cs typeface="Lucida Sans"/>
              </a:rPr>
              <a:t>1</a:t>
            </a:r>
            <a:endParaRPr sz="800">
              <a:latin typeface="Lucida Sans"/>
              <a:cs typeface="Lucida Sans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11448392" y="4228026"/>
            <a:ext cx="80645" cy="15367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40"/>
              </a:spcBef>
            </a:pPr>
            <a:r>
              <a:rPr dirty="0" sz="800" spc="25">
                <a:solidFill>
                  <a:srgbClr val="BABABA"/>
                </a:solidFill>
                <a:latin typeface="Lucida Sans"/>
                <a:cs typeface="Lucida Sans"/>
              </a:rPr>
              <a:t>3</a:t>
            </a:r>
            <a:endParaRPr sz="800">
              <a:latin typeface="Lucida Sans"/>
              <a:cs typeface="Lucida Sans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7215533" y="4227874"/>
            <a:ext cx="368300" cy="1397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50" spc="-5">
                <a:solidFill>
                  <a:srgbClr val="8D3124"/>
                </a:solidFill>
                <a:latin typeface="Lucida Sans Typewriter"/>
                <a:cs typeface="Lucida Sans Typewriter"/>
              </a:rPr>
              <a:t>vals[]</a:t>
            </a:r>
            <a:endParaRPr sz="750">
              <a:latin typeface="Lucida Sans Typewriter"/>
              <a:cs typeface="Lucida Sans Typewriter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6921035" y="3488566"/>
            <a:ext cx="683895" cy="1397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50" b="1">
                <a:latin typeface="Tahoma"/>
                <a:cs typeface="Tahoma"/>
              </a:rPr>
              <a:t>after</a:t>
            </a:r>
            <a:r>
              <a:rPr dirty="0" sz="750" spc="-30" b="1">
                <a:latin typeface="Tahoma"/>
                <a:cs typeface="Tahoma"/>
              </a:rPr>
              <a:t> </a:t>
            </a:r>
            <a:r>
              <a:rPr dirty="0" sz="750" spc="15" b="1">
                <a:latin typeface="Tahoma"/>
                <a:cs typeface="Tahoma"/>
              </a:rPr>
              <a:t>resizing</a:t>
            </a:r>
            <a:endParaRPr sz="750">
              <a:latin typeface="Tahoma"/>
              <a:cs typeface="Tahoma"/>
            </a:endParaRPr>
          </a:p>
        </p:txBody>
      </p:sp>
      <p:graphicFrame>
        <p:nvGraphicFramePr>
          <p:cNvPr id="60" name="object 60"/>
          <p:cNvGraphicFramePr>
            <a:graphicFrameLocks noGrp="1"/>
          </p:cNvGraphicFramePr>
          <p:nvPr/>
        </p:nvGraphicFramePr>
        <p:xfrm>
          <a:off x="720947" y="2266318"/>
          <a:ext cx="9027795" cy="8661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54070"/>
                <a:gridCol w="3578225"/>
                <a:gridCol w="267334"/>
                <a:gridCol w="266700"/>
                <a:gridCol w="271145"/>
                <a:gridCol w="259079"/>
                <a:gridCol w="252095"/>
                <a:gridCol w="264795"/>
                <a:gridCol w="512445"/>
              </a:tblGrid>
              <a:tr h="161925">
                <a:tc>
                  <a:txBody>
                    <a:bodyPr/>
                    <a:lstStyle/>
                    <a:p>
                      <a:pPr marL="31750">
                        <a:lnSpc>
                          <a:spcPts val="1180"/>
                        </a:lnSpc>
                      </a:pPr>
                      <a:r>
                        <a:rPr dirty="0" sz="1100" spc="5">
                          <a:solidFill>
                            <a:srgbClr val="005493"/>
                          </a:solidFill>
                          <a:latin typeface="Lucida Sans"/>
                          <a:cs typeface="Lucida Sans"/>
                        </a:rPr>
                        <a:t>Pf.</a:t>
                      </a:r>
                      <a:endParaRPr sz="1100">
                        <a:latin typeface="Lucida Sans"/>
                        <a:cs typeface="Lucida San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450"/>
                        </a:lnSpc>
                      </a:pPr>
                      <a:r>
                        <a:rPr dirty="0" sz="750" spc="5" b="1">
                          <a:latin typeface="Tahoma"/>
                          <a:cs typeface="Tahoma"/>
                        </a:rPr>
                        <a:t>before</a:t>
                      </a:r>
                      <a:r>
                        <a:rPr dirty="0" sz="750" spc="-5" b="1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750" spc="15" b="1">
                          <a:latin typeface="Tahoma"/>
                          <a:cs typeface="Tahoma"/>
                        </a:rPr>
                        <a:t>resizing</a:t>
                      </a:r>
                      <a:endParaRPr sz="750">
                        <a:latin typeface="Tahoma"/>
                        <a:cs typeface="Tahoma"/>
                      </a:endParaRPr>
                    </a:p>
                  </a:txBody>
                  <a:tcPr marL="0" marR="0" marB="0" marT="0"/>
                </a:tc>
                <a:tc gridSpan="7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803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20955">
                        <a:lnSpc>
                          <a:spcPts val="690"/>
                        </a:lnSpc>
                      </a:pPr>
                      <a:r>
                        <a:rPr dirty="0" sz="650">
                          <a:solidFill>
                            <a:srgbClr val="606060"/>
                          </a:solidFill>
                          <a:latin typeface="Lucida Sans"/>
                          <a:cs typeface="Lucida Sans"/>
                        </a:rPr>
                        <a:t>0</a:t>
                      </a:r>
                      <a:endParaRPr sz="650">
                        <a:latin typeface="Lucida Sans"/>
                        <a:cs typeface="Lucida Sans"/>
                      </a:endParaRPr>
                    </a:p>
                  </a:txBody>
                  <a:tcPr marL="0" marR="0" marB="0" marT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065">
                        <a:lnSpc>
                          <a:spcPts val="690"/>
                        </a:lnSpc>
                      </a:pPr>
                      <a:r>
                        <a:rPr dirty="0" sz="650">
                          <a:solidFill>
                            <a:srgbClr val="606060"/>
                          </a:solidFill>
                          <a:latin typeface="Lucida Sans"/>
                          <a:cs typeface="Lucida Sans"/>
                        </a:rPr>
                        <a:t>1</a:t>
                      </a:r>
                      <a:endParaRPr sz="650">
                        <a:latin typeface="Lucida Sans"/>
                        <a:cs typeface="Lucida Sans"/>
                      </a:endParaRPr>
                    </a:p>
                  </a:txBody>
                  <a:tcPr marL="0" marR="0" marB="0" marT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90"/>
                        </a:lnSpc>
                      </a:pPr>
                      <a:r>
                        <a:rPr dirty="0" sz="650">
                          <a:solidFill>
                            <a:srgbClr val="606060"/>
                          </a:solidFill>
                          <a:latin typeface="Lucida Sans"/>
                          <a:cs typeface="Lucida Sans"/>
                        </a:rPr>
                        <a:t>2</a:t>
                      </a:r>
                      <a:endParaRPr sz="650">
                        <a:latin typeface="Lucida Sans"/>
                        <a:cs typeface="Lucida Sans"/>
                      </a:endParaRPr>
                    </a:p>
                  </a:txBody>
                  <a:tcPr marL="0" marR="0" marB="0" marT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90"/>
                        </a:lnSpc>
                      </a:pPr>
                      <a:r>
                        <a:rPr dirty="0" sz="650">
                          <a:solidFill>
                            <a:srgbClr val="606060"/>
                          </a:solidFill>
                          <a:latin typeface="Lucida Sans"/>
                          <a:cs typeface="Lucida Sans"/>
                        </a:rPr>
                        <a:t>3</a:t>
                      </a:r>
                      <a:endParaRPr sz="650">
                        <a:latin typeface="Lucida Sans"/>
                        <a:cs typeface="Lucida Sans"/>
                      </a:endParaRPr>
                    </a:p>
                  </a:txBody>
                  <a:tcPr marL="0" marR="0" marB="0" marT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0160">
                        <a:lnSpc>
                          <a:spcPts val="690"/>
                        </a:lnSpc>
                      </a:pPr>
                      <a:r>
                        <a:rPr dirty="0" sz="650">
                          <a:solidFill>
                            <a:srgbClr val="606060"/>
                          </a:solidFill>
                          <a:latin typeface="Lucida Sans"/>
                          <a:cs typeface="Lucida Sans"/>
                        </a:rPr>
                        <a:t>4</a:t>
                      </a:r>
                      <a:endParaRPr sz="650">
                        <a:latin typeface="Lucida Sans"/>
                        <a:cs typeface="Lucida Sans"/>
                      </a:endParaRPr>
                    </a:p>
                  </a:txBody>
                  <a:tcPr marL="0" marR="0" marB="0" marT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8415">
                        <a:lnSpc>
                          <a:spcPts val="690"/>
                        </a:lnSpc>
                      </a:pPr>
                      <a:r>
                        <a:rPr dirty="0" sz="650">
                          <a:solidFill>
                            <a:srgbClr val="606060"/>
                          </a:solidFill>
                          <a:latin typeface="Lucida Sans"/>
                          <a:cs typeface="Lucida Sans"/>
                        </a:rPr>
                        <a:t>5</a:t>
                      </a:r>
                      <a:endParaRPr sz="650">
                        <a:latin typeface="Lucida Sans"/>
                        <a:cs typeface="Lucida Sans"/>
                      </a:endParaRPr>
                    </a:p>
                  </a:txBody>
                  <a:tcPr marL="0" marR="0" marB="0" marT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13030">
                        <a:lnSpc>
                          <a:spcPts val="690"/>
                        </a:lnSpc>
                        <a:tabLst>
                          <a:tab pos="375920" algn="l"/>
                        </a:tabLst>
                      </a:pPr>
                      <a:r>
                        <a:rPr dirty="0" sz="650">
                          <a:solidFill>
                            <a:srgbClr val="606060"/>
                          </a:solidFill>
                          <a:latin typeface="Lucida Sans"/>
                          <a:cs typeface="Lucida Sans"/>
                        </a:rPr>
                        <a:t>6	7</a:t>
                      </a:r>
                      <a:endParaRPr sz="650">
                        <a:latin typeface="Lucida Sans"/>
                        <a:cs typeface="Lucida Sans"/>
                      </a:endParaRPr>
                    </a:p>
                  </a:txBody>
                  <a:tcPr marL="0" marR="0" marB="0" marT="0">
                    <a:solidFill>
                      <a:srgbClr val="F2F2F2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81280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dirty="0" sz="750" spc="-5">
                          <a:solidFill>
                            <a:srgbClr val="8D3124"/>
                          </a:solidFill>
                          <a:latin typeface="Lucida Sans Typewriter"/>
                          <a:cs typeface="Lucida Sans Typewriter"/>
                        </a:rPr>
                        <a:t>keys[]</a:t>
                      </a:r>
                      <a:endParaRPr sz="750">
                        <a:latin typeface="Lucida Sans Typewriter"/>
                        <a:cs typeface="Lucida Sans Typewriter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r" marR="78740">
                        <a:lnSpc>
                          <a:spcPct val="100000"/>
                        </a:lnSpc>
                      </a:pPr>
                      <a:r>
                        <a:rPr dirty="0" sz="750" spc="-5">
                          <a:solidFill>
                            <a:srgbClr val="8D3124"/>
                          </a:solidFill>
                          <a:latin typeface="Lucida Sans Typewriter"/>
                          <a:cs typeface="Lucida Sans Typewriter"/>
                        </a:rPr>
                        <a:t>vals[]</a:t>
                      </a:r>
                      <a:endParaRPr sz="750">
                        <a:latin typeface="Lucida Sans Typewriter"/>
                        <a:cs typeface="Lucida Sans Typewriter"/>
                      </a:endParaRPr>
                    </a:p>
                  </a:txBody>
                  <a:tcPr marL="0" marR="0" marB="0" marT="5778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698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800">
                          <a:latin typeface="Lucida Sans"/>
                          <a:cs typeface="Lucida Sans"/>
                        </a:rPr>
                        <a:t>E</a:t>
                      </a:r>
                      <a:endParaRPr sz="800">
                        <a:latin typeface="Lucida Sans"/>
                        <a:cs typeface="Lucida Sans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 algn="ctr" marL="12065">
                        <a:lnSpc>
                          <a:spcPct val="100000"/>
                        </a:lnSpc>
                      </a:pPr>
                      <a:r>
                        <a:rPr dirty="0" sz="800">
                          <a:solidFill>
                            <a:srgbClr val="BABABA"/>
                          </a:solidFill>
                          <a:latin typeface="Lucida Sans"/>
                          <a:cs typeface="Lucida Sans"/>
                        </a:rPr>
                        <a:t>1</a:t>
                      </a:r>
                      <a:endParaRPr sz="800">
                        <a:latin typeface="Lucida Sans"/>
                        <a:cs typeface="Lucida Sans"/>
                      </a:endParaRPr>
                    </a:p>
                  </a:txBody>
                  <a:tcPr marL="0" marR="0" marB="0" marT="58419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1905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800">
                          <a:latin typeface="Lucida Sans"/>
                          <a:cs typeface="Lucida Sans"/>
                        </a:rPr>
                        <a:t>S</a:t>
                      </a:r>
                      <a:endParaRPr sz="800">
                        <a:latin typeface="Lucida Sans"/>
                        <a:cs typeface="Lucida Sans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800">
                          <a:solidFill>
                            <a:srgbClr val="BABABA"/>
                          </a:solidFill>
                          <a:latin typeface="Lucida Sans"/>
                          <a:cs typeface="Lucida Sans"/>
                        </a:rPr>
                        <a:t>0</a:t>
                      </a:r>
                      <a:endParaRPr sz="800">
                        <a:latin typeface="Lucida Sans"/>
                        <a:cs typeface="Lucida Sans"/>
                      </a:endParaRPr>
                    </a:p>
                  </a:txBody>
                  <a:tcPr marL="0" marR="0" marB="0" marT="58419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63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800">
                          <a:latin typeface="Lucida Sans"/>
                          <a:cs typeface="Lucida Sans"/>
                        </a:rPr>
                        <a:t>R</a:t>
                      </a:r>
                      <a:endParaRPr sz="800">
                        <a:latin typeface="Lucida Sans"/>
                        <a:cs typeface="Lucida Sans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 algn="ctr" marL="18415">
                        <a:lnSpc>
                          <a:spcPct val="100000"/>
                        </a:lnSpc>
                      </a:pPr>
                      <a:r>
                        <a:rPr dirty="0" sz="800">
                          <a:solidFill>
                            <a:srgbClr val="BABABA"/>
                          </a:solidFill>
                          <a:latin typeface="Lucida Sans"/>
                          <a:cs typeface="Lucida Sans"/>
                        </a:rPr>
                        <a:t>3</a:t>
                      </a:r>
                      <a:endParaRPr sz="800">
                        <a:latin typeface="Lucida Sans"/>
                        <a:cs typeface="Lucida Sans"/>
                      </a:endParaRPr>
                    </a:p>
                  </a:txBody>
                  <a:tcPr marL="0" marR="0" marB="0" marT="58419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800">
                          <a:latin typeface="Lucida Sans"/>
                          <a:cs typeface="Lucida Sans"/>
                        </a:rPr>
                        <a:t>A</a:t>
                      </a:r>
                      <a:endParaRPr sz="800">
                        <a:latin typeface="Lucida Sans"/>
                        <a:cs typeface="Lucida Sans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 marL="106045">
                        <a:lnSpc>
                          <a:spcPct val="100000"/>
                        </a:lnSpc>
                      </a:pPr>
                      <a:r>
                        <a:rPr dirty="0" sz="800">
                          <a:solidFill>
                            <a:srgbClr val="BABABA"/>
                          </a:solidFill>
                          <a:latin typeface="Lucida Sans"/>
                          <a:cs typeface="Lucida Sans"/>
                        </a:rPr>
                        <a:t>2</a:t>
                      </a:r>
                      <a:endParaRPr sz="800">
                        <a:latin typeface="Lucida Sans"/>
                        <a:cs typeface="Lucida Sans"/>
                      </a:endParaRPr>
                    </a:p>
                  </a:txBody>
                  <a:tcPr marL="0" marR="0" marB="0" marT="58419">
                    <a:solidFill>
                      <a:srgbClr val="D5D5D5"/>
                    </a:solidFill>
                  </a:tcPr>
                </a:tc>
              </a:tr>
            </a:tbl>
          </a:graphicData>
        </a:graphic>
      </p:graphicFrame>
      <p:grpSp>
        <p:nvGrpSpPr>
          <p:cNvPr id="61" name="object 61"/>
          <p:cNvGrpSpPr/>
          <p:nvPr/>
        </p:nvGrpSpPr>
        <p:grpSpPr>
          <a:xfrm>
            <a:off x="346176" y="4966780"/>
            <a:ext cx="6066790" cy="4549775"/>
            <a:chOff x="346176" y="4966780"/>
            <a:chExt cx="6066790" cy="4549775"/>
          </a:xfrm>
        </p:grpSpPr>
        <p:sp>
          <p:nvSpPr>
            <p:cNvPr id="62" name="object 62"/>
            <p:cNvSpPr/>
            <p:nvPr/>
          </p:nvSpPr>
          <p:spPr>
            <a:xfrm>
              <a:off x="346176" y="4966780"/>
              <a:ext cx="6066790" cy="4549775"/>
            </a:xfrm>
            <a:custGeom>
              <a:avLst/>
              <a:gdLst/>
              <a:ahLst/>
              <a:cxnLst/>
              <a:rect l="l" t="t" r="r" b="b"/>
              <a:pathLst>
                <a:path w="6066790" h="4549775">
                  <a:moveTo>
                    <a:pt x="0" y="0"/>
                  </a:moveTo>
                  <a:lnTo>
                    <a:pt x="6066212" y="0"/>
                  </a:lnTo>
                  <a:lnTo>
                    <a:pt x="6066212" y="4549659"/>
                  </a:lnTo>
                  <a:lnTo>
                    <a:pt x="0" y="45496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/>
            <p:cNvSpPr/>
            <p:nvPr/>
          </p:nvSpPr>
          <p:spPr>
            <a:xfrm>
              <a:off x="731238" y="5428805"/>
              <a:ext cx="5302250" cy="635"/>
            </a:xfrm>
            <a:custGeom>
              <a:avLst/>
              <a:gdLst/>
              <a:ahLst/>
              <a:cxnLst/>
              <a:rect l="l" t="t" r="r" b="b"/>
              <a:pathLst>
                <a:path w="5302250" h="635">
                  <a:moveTo>
                    <a:pt x="0" y="49"/>
                  </a:moveTo>
                  <a:lnTo>
                    <a:pt x="5302012" y="0"/>
                  </a:lnTo>
                </a:path>
              </a:pathLst>
            </a:custGeom>
            <a:ln w="59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4" name="object 64"/>
          <p:cNvSpPr txBox="1"/>
          <p:nvPr/>
        </p:nvSpPr>
        <p:spPr>
          <a:xfrm>
            <a:off x="739997" y="5527527"/>
            <a:ext cx="3790950" cy="487680"/>
          </a:xfrm>
          <a:prstGeom prst="rect">
            <a:avLst/>
          </a:prstGeom>
        </p:spPr>
        <p:txBody>
          <a:bodyPr wrap="square" lIns="0" tIns="755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95"/>
              </a:spcBef>
            </a:pPr>
            <a:r>
              <a:rPr dirty="0" sz="1100" spc="10">
                <a:solidFill>
                  <a:srgbClr val="005493"/>
                </a:solidFill>
                <a:latin typeface="Lucida Sans"/>
                <a:cs typeface="Lucida Sans"/>
              </a:rPr>
              <a:t>Q.</a:t>
            </a:r>
            <a:r>
              <a:rPr dirty="0" sz="1100" spc="355">
                <a:solidFill>
                  <a:srgbClr val="005493"/>
                </a:solidFill>
                <a:latin typeface="Lucida Sans"/>
                <a:cs typeface="Lucida Sans"/>
              </a:rPr>
              <a:t> </a:t>
            </a:r>
            <a:r>
              <a:rPr dirty="0" sz="1100" spc="35">
                <a:latin typeface="Lucida Sans"/>
                <a:cs typeface="Lucida Sans"/>
              </a:rPr>
              <a:t>How</a:t>
            </a:r>
            <a:r>
              <a:rPr dirty="0" sz="1100" spc="5">
                <a:latin typeface="Lucida Sans"/>
                <a:cs typeface="Lucida Sans"/>
              </a:rPr>
              <a:t> to delete </a:t>
            </a:r>
            <a:r>
              <a:rPr dirty="0" sz="1100" spc="10">
                <a:latin typeface="Lucida Sans"/>
                <a:cs typeface="Lucida Sans"/>
              </a:rPr>
              <a:t>a</a:t>
            </a:r>
            <a:r>
              <a:rPr dirty="0" sz="1100" spc="5">
                <a:latin typeface="Lucida Sans"/>
                <a:cs typeface="Lucida Sans"/>
              </a:rPr>
              <a:t> </a:t>
            </a:r>
            <a:r>
              <a:rPr dirty="0" sz="1100" spc="25">
                <a:latin typeface="Lucida Sans"/>
                <a:cs typeface="Lucida Sans"/>
              </a:rPr>
              <a:t>key</a:t>
            </a:r>
            <a:r>
              <a:rPr dirty="0" sz="1100" spc="5">
                <a:latin typeface="Lucida Sans"/>
                <a:cs typeface="Lucida Sans"/>
              </a:rPr>
              <a:t> </a:t>
            </a:r>
            <a:r>
              <a:rPr dirty="0" sz="1100" spc="10">
                <a:latin typeface="Lucida Sans"/>
                <a:cs typeface="Lucida Sans"/>
              </a:rPr>
              <a:t>(and</a:t>
            </a:r>
            <a:r>
              <a:rPr dirty="0" sz="1100">
                <a:latin typeface="Lucida Sans"/>
                <a:cs typeface="Lucida Sans"/>
              </a:rPr>
              <a:t> </a:t>
            </a:r>
            <a:r>
              <a:rPr dirty="0" sz="1100" spc="5">
                <a:latin typeface="Lucida Sans"/>
                <a:cs typeface="Lucida Sans"/>
              </a:rPr>
              <a:t>its </a:t>
            </a:r>
            <a:r>
              <a:rPr dirty="0" sz="1100" spc="10">
                <a:latin typeface="Lucida Sans"/>
                <a:cs typeface="Lucida Sans"/>
              </a:rPr>
              <a:t>associated</a:t>
            </a:r>
            <a:r>
              <a:rPr dirty="0" sz="1100" spc="5">
                <a:latin typeface="Lucida Sans"/>
                <a:cs typeface="Lucida Sans"/>
              </a:rPr>
              <a:t> </a:t>
            </a:r>
            <a:r>
              <a:rPr dirty="0" sz="1100" spc="15">
                <a:latin typeface="Lucida Sans"/>
                <a:cs typeface="Lucida Sans"/>
              </a:rPr>
              <a:t>value)?</a:t>
            </a:r>
            <a:endParaRPr sz="1100">
              <a:latin typeface="Lucida Sans"/>
              <a:cs typeface="Lucida Sans"/>
            </a:endParaRPr>
          </a:p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dirty="0" sz="1100" spc="5">
                <a:solidFill>
                  <a:srgbClr val="005493"/>
                </a:solidFill>
                <a:latin typeface="Lucida Sans"/>
                <a:cs typeface="Lucida Sans"/>
              </a:rPr>
              <a:t>A. </a:t>
            </a:r>
            <a:r>
              <a:rPr dirty="0" sz="1100" spc="10">
                <a:solidFill>
                  <a:srgbClr val="005493"/>
                </a:solidFill>
                <a:latin typeface="Lucida Sans"/>
                <a:cs typeface="Lucida Sans"/>
              </a:rPr>
              <a:t> </a:t>
            </a:r>
            <a:r>
              <a:rPr dirty="0" sz="1100" spc="5">
                <a:latin typeface="Lucida Sans"/>
                <a:cs typeface="Lucida Sans"/>
              </a:rPr>
              <a:t>Requires </a:t>
            </a:r>
            <a:r>
              <a:rPr dirty="0" sz="1100" spc="10">
                <a:latin typeface="Lucida Sans"/>
                <a:cs typeface="Lucida Sans"/>
              </a:rPr>
              <a:t>some </a:t>
            </a:r>
            <a:r>
              <a:rPr dirty="0" sz="1100" spc="5">
                <a:latin typeface="Lucida Sans"/>
                <a:cs typeface="Lucida Sans"/>
              </a:rPr>
              <a:t>care: </a:t>
            </a:r>
            <a:r>
              <a:rPr dirty="0" sz="1100" spc="10">
                <a:latin typeface="Lucida Sans"/>
                <a:cs typeface="Lucida Sans"/>
              </a:rPr>
              <a:t> can't </a:t>
            </a:r>
            <a:r>
              <a:rPr dirty="0" sz="1100" spc="5">
                <a:latin typeface="Lucida Sans"/>
                <a:cs typeface="Lucida Sans"/>
              </a:rPr>
              <a:t>just</a:t>
            </a:r>
            <a:r>
              <a:rPr dirty="0" sz="1100" spc="10">
                <a:latin typeface="Lucida Sans"/>
                <a:cs typeface="Lucida Sans"/>
              </a:rPr>
              <a:t> </a:t>
            </a:r>
            <a:r>
              <a:rPr dirty="0" sz="1100" spc="5">
                <a:latin typeface="Lucida Sans"/>
                <a:cs typeface="Lucida Sans"/>
              </a:rPr>
              <a:t>delete </a:t>
            </a:r>
            <a:r>
              <a:rPr dirty="0" sz="1100" spc="15">
                <a:latin typeface="Lucida Sans"/>
                <a:cs typeface="Lucida Sans"/>
              </a:rPr>
              <a:t>array</a:t>
            </a:r>
            <a:r>
              <a:rPr dirty="0" sz="1100" spc="10">
                <a:latin typeface="Lucida Sans"/>
                <a:cs typeface="Lucida Sans"/>
              </a:rPr>
              <a:t> </a:t>
            </a:r>
            <a:r>
              <a:rPr dirty="0" sz="1100" spc="5">
                <a:latin typeface="Lucida Sans"/>
                <a:cs typeface="Lucida Sans"/>
              </a:rPr>
              <a:t>entries.</a:t>
            </a:r>
            <a:endParaRPr sz="1100">
              <a:latin typeface="Lucida Sans"/>
              <a:cs typeface="Lucida Sans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739997" y="5125877"/>
            <a:ext cx="2916555" cy="2247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00" spc="15">
                <a:latin typeface="Arial"/>
                <a:cs typeface="Arial"/>
              </a:rPr>
              <a:t>Deletion</a:t>
            </a:r>
            <a:r>
              <a:rPr dirty="0" sz="1300" spc="35">
                <a:latin typeface="Arial"/>
                <a:cs typeface="Arial"/>
              </a:rPr>
              <a:t> </a:t>
            </a:r>
            <a:r>
              <a:rPr dirty="0" sz="1300" spc="10">
                <a:latin typeface="Arial"/>
                <a:cs typeface="Arial"/>
              </a:rPr>
              <a:t>in</a:t>
            </a:r>
            <a:r>
              <a:rPr dirty="0" sz="1300" spc="40">
                <a:latin typeface="Arial"/>
                <a:cs typeface="Arial"/>
              </a:rPr>
              <a:t> </a:t>
            </a:r>
            <a:r>
              <a:rPr dirty="0" sz="1300" spc="60">
                <a:latin typeface="Arial"/>
                <a:cs typeface="Arial"/>
              </a:rPr>
              <a:t>a</a:t>
            </a:r>
            <a:r>
              <a:rPr dirty="0" sz="1300" spc="40">
                <a:latin typeface="Arial"/>
                <a:cs typeface="Arial"/>
              </a:rPr>
              <a:t> </a:t>
            </a:r>
            <a:r>
              <a:rPr dirty="0" sz="1300" spc="20">
                <a:latin typeface="Arial"/>
                <a:cs typeface="Arial"/>
              </a:rPr>
              <a:t>linear-probing</a:t>
            </a:r>
            <a:r>
              <a:rPr dirty="0" sz="1300" spc="40">
                <a:latin typeface="Arial"/>
                <a:cs typeface="Arial"/>
              </a:rPr>
              <a:t> </a:t>
            </a:r>
            <a:r>
              <a:rPr dirty="0" sz="1300" spc="-20">
                <a:latin typeface="Arial"/>
                <a:cs typeface="Arial"/>
              </a:rPr>
              <a:t>hash</a:t>
            </a:r>
            <a:r>
              <a:rPr dirty="0" sz="1300" spc="40">
                <a:latin typeface="Arial"/>
                <a:cs typeface="Arial"/>
              </a:rPr>
              <a:t> </a:t>
            </a:r>
            <a:r>
              <a:rPr dirty="0" sz="1300" spc="30">
                <a:latin typeface="Arial"/>
                <a:cs typeface="Arial"/>
              </a:rPr>
              <a:t>table</a:t>
            </a:r>
            <a:endParaRPr sz="1300">
              <a:latin typeface="Arial"/>
              <a:cs typeface="Arial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960293" y="7141778"/>
            <a:ext cx="368300" cy="1397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50" spc="-5">
                <a:solidFill>
                  <a:srgbClr val="8D3124"/>
                </a:solidFill>
                <a:latin typeface="Lucida Sans Typewriter"/>
                <a:cs typeface="Lucida Sans Typewriter"/>
              </a:rPr>
              <a:t>keys[]</a:t>
            </a:r>
            <a:endParaRPr sz="750">
              <a:latin typeface="Lucida Sans Typewriter"/>
              <a:cs typeface="Lucida Sans Typewriter"/>
            </a:endParaRPr>
          </a:p>
        </p:txBody>
      </p:sp>
      <p:grpSp>
        <p:nvGrpSpPr>
          <p:cNvPr id="67" name="object 67"/>
          <p:cNvGrpSpPr/>
          <p:nvPr/>
        </p:nvGrpSpPr>
        <p:grpSpPr>
          <a:xfrm>
            <a:off x="1403398" y="7077070"/>
            <a:ext cx="4208145" cy="527050"/>
            <a:chOff x="1403398" y="7077070"/>
            <a:chExt cx="4208145" cy="527050"/>
          </a:xfrm>
        </p:grpSpPr>
        <p:sp>
          <p:nvSpPr>
            <p:cNvPr id="68" name="object 68"/>
            <p:cNvSpPr/>
            <p:nvPr/>
          </p:nvSpPr>
          <p:spPr>
            <a:xfrm>
              <a:off x="1404874" y="7078560"/>
              <a:ext cx="4205605" cy="524510"/>
            </a:xfrm>
            <a:custGeom>
              <a:avLst/>
              <a:gdLst/>
              <a:ahLst/>
              <a:cxnLst/>
              <a:rect l="l" t="t" r="r" b="b"/>
              <a:pathLst>
                <a:path w="4205605" h="524509">
                  <a:moveTo>
                    <a:pt x="261429" y="262724"/>
                  </a:moveTo>
                  <a:lnTo>
                    <a:pt x="0" y="262724"/>
                  </a:lnTo>
                  <a:lnTo>
                    <a:pt x="0" y="523963"/>
                  </a:lnTo>
                  <a:lnTo>
                    <a:pt x="261429" y="523963"/>
                  </a:lnTo>
                  <a:lnTo>
                    <a:pt x="261429" y="262724"/>
                  </a:lnTo>
                  <a:close/>
                </a:path>
                <a:path w="4205605" h="524509">
                  <a:moveTo>
                    <a:pt x="261429" y="0"/>
                  </a:moveTo>
                  <a:lnTo>
                    <a:pt x="0" y="0"/>
                  </a:lnTo>
                  <a:lnTo>
                    <a:pt x="0" y="261239"/>
                  </a:lnTo>
                  <a:lnTo>
                    <a:pt x="261429" y="261239"/>
                  </a:lnTo>
                  <a:lnTo>
                    <a:pt x="261429" y="0"/>
                  </a:lnTo>
                  <a:close/>
                </a:path>
                <a:path w="4205605" h="524509">
                  <a:moveTo>
                    <a:pt x="524332" y="262724"/>
                  </a:moveTo>
                  <a:lnTo>
                    <a:pt x="262902" y="262724"/>
                  </a:lnTo>
                  <a:lnTo>
                    <a:pt x="262902" y="523963"/>
                  </a:lnTo>
                  <a:lnTo>
                    <a:pt x="524332" y="523963"/>
                  </a:lnTo>
                  <a:lnTo>
                    <a:pt x="524332" y="262724"/>
                  </a:lnTo>
                  <a:close/>
                </a:path>
                <a:path w="4205605" h="524509">
                  <a:moveTo>
                    <a:pt x="524332" y="0"/>
                  </a:moveTo>
                  <a:lnTo>
                    <a:pt x="262902" y="0"/>
                  </a:lnTo>
                  <a:lnTo>
                    <a:pt x="262902" y="261239"/>
                  </a:lnTo>
                  <a:lnTo>
                    <a:pt x="524332" y="261239"/>
                  </a:lnTo>
                  <a:lnTo>
                    <a:pt x="524332" y="0"/>
                  </a:lnTo>
                  <a:close/>
                </a:path>
                <a:path w="4205605" h="524509">
                  <a:moveTo>
                    <a:pt x="787247" y="262724"/>
                  </a:moveTo>
                  <a:lnTo>
                    <a:pt x="525818" y="262724"/>
                  </a:lnTo>
                  <a:lnTo>
                    <a:pt x="525818" y="523963"/>
                  </a:lnTo>
                  <a:lnTo>
                    <a:pt x="787247" y="523963"/>
                  </a:lnTo>
                  <a:lnTo>
                    <a:pt x="787247" y="262724"/>
                  </a:lnTo>
                  <a:close/>
                </a:path>
                <a:path w="4205605" h="524509">
                  <a:moveTo>
                    <a:pt x="787247" y="0"/>
                  </a:moveTo>
                  <a:lnTo>
                    <a:pt x="525818" y="0"/>
                  </a:lnTo>
                  <a:lnTo>
                    <a:pt x="525818" y="261239"/>
                  </a:lnTo>
                  <a:lnTo>
                    <a:pt x="787247" y="261239"/>
                  </a:lnTo>
                  <a:lnTo>
                    <a:pt x="787247" y="0"/>
                  </a:lnTo>
                  <a:close/>
                </a:path>
                <a:path w="4205605" h="524509">
                  <a:moveTo>
                    <a:pt x="1050150" y="262724"/>
                  </a:moveTo>
                  <a:lnTo>
                    <a:pt x="788733" y="262724"/>
                  </a:lnTo>
                  <a:lnTo>
                    <a:pt x="788733" y="523963"/>
                  </a:lnTo>
                  <a:lnTo>
                    <a:pt x="1050150" y="523963"/>
                  </a:lnTo>
                  <a:lnTo>
                    <a:pt x="1050150" y="262724"/>
                  </a:lnTo>
                  <a:close/>
                </a:path>
                <a:path w="4205605" h="524509">
                  <a:moveTo>
                    <a:pt x="1050150" y="0"/>
                  </a:moveTo>
                  <a:lnTo>
                    <a:pt x="788733" y="0"/>
                  </a:lnTo>
                  <a:lnTo>
                    <a:pt x="788733" y="261239"/>
                  </a:lnTo>
                  <a:lnTo>
                    <a:pt x="1050150" y="261239"/>
                  </a:lnTo>
                  <a:lnTo>
                    <a:pt x="1050150" y="0"/>
                  </a:lnTo>
                  <a:close/>
                </a:path>
                <a:path w="4205605" h="524509">
                  <a:moveTo>
                    <a:pt x="1313065" y="262724"/>
                  </a:moveTo>
                  <a:lnTo>
                    <a:pt x="1051636" y="262724"/>
                  </a:lnTo>
                  <a:lnTo>
                    <a:pt x="1051636" y="523963"/>
                  </a:lnTo>
                  <a:lnTo>
                    <a:pt x="1313065" y="523963"/>
                  </a:lnTo>
                  <a:lnTo>
                    <a:pt x="1313065" y="262724"/>
                  </a:lnTo>
                  <a:close/>
                </a:path>
                <a:path w="4205605" h="524509">
                  <a:moveTo>
                    <a:pt x="1313065" y="0"/>
                  </a:moveTo>
                  <a:lnTo>
                    <a:pt x="1051636" y="0"/>
                  </a:lnTo>
                  <a:lnTo>
                    <a:pt x="1051636" y="261239"/>
                  </a:lnTo>
                  <a:lnTo>
                    <a:pt x="1313065" y="261239"/>
                  </a:lnTo>
                  <a:lnTo>
                    <a:pt x="1313065" y="0"/>
                  </a:lnTo>
                  <a:close/>
                </a:path>
                <a:path w="4205605" h="524509">
                  <a:moveTo>
                    <a:pt x="1575968" y="262724"/>
                  </a:moveTo>
                  <a:lnTo>
                    <a:pt x="1314551" y="262724"/>
                  </a:lnTo>
                  <a:lnTo>
                    <a:pt x="1314551" y="523963"/>
                  </a:lnTo>
                  <a:lnTo>
                    <a:pt x="1575968" y="523963"/>
                  </a:lnTo>
                  <a:lnTo>
                    <a:pt x="1575968" y="262724"/>
                  </a:lnTo>
                  <a:close/>
                </a:path>
                <a:path w="4205605" h="524509">
                  <a:moveTo>
                    <a:pt x="1575968" y="0"/>
                  </a:moveTo>
                  <a:lnTo>
                    <a:pt x="1314551" y="0"/>
                  </a:lnTo>
                  <a:lnTo>
                    <a:pt x="1314551" y="261239"/>
                  </a:lnTo>
                  <a:lnTo>
                    <a:pt x="1575968" y="261239"/>
                  </a:lnTo>
                  <a:lnTo>
                    <a:pt x="1575968" y="0"/>
                  </a:lnTo>
                  <a:close/>
                </a:path>
                <a:path w="4205605" h="524509">
                  <a:moveTo>
                    <a:pt x="1838883" y="262724"/>
                  </a:moveTo>
                  <a:lnTo>
                    <a:pt x="1577454" y="262724"/>
                  </a:lnTo>
                  <a:lnTo>
                    <a:pt x="1577454" y="523963"/>
                  </a:lnTo>
                  <a:lnTo>
                    <a:pt x="1838883" y="523963"/>
                  </a:lnTo>
                  <a:lnTo>
                    <a:pt x="1838883" y="262724"/>
                  </a:lnTo>
                  <a:close/>
                </a:path>
                <a:path w="4205605" h="524509">
                  <a:moveTo>
                    <a:pt x="1838883" y="0"/>
                  </a:moveTo>
                  <a:lnTo>
                    <a:pt x="1577454" y="0"/>
                  </a:lnTo>
                  <a:lnTo>
                    <a:pt x="1577454" y="261239"/>
                  </a:lnTo>
                  <a:lnTo>
                    <a:pt x="1838883" y="261239"/>
                  </a:lnTo>
                  <a:lnTo>
                    <a:pt x="1838883" y="0"/>
                  </a:lnTo>
                  <a:close/>
                </a:path>
                <a:path w="4205605" h="524509">
                  <a:moveTo>
                    <a:pt x="2101786" y="262724"/>
                  </a:moveTo>
                  <a:lnTo>
                    <a:pt x="1840369" y="262724"/>
                  </a:lnTo>
                  <a:lnTo>
                    <a:pt x="1840369" y="523963"/>
                  </a:lnTo>
                  <a:lnTo>
                    <a:pt x="2101786" y="523963"/>
                  </a:lnTo>
                  <a:lnTo>
                    <a:pt x="2101786" y="262724"/>
                  </a:lnTo>
                  <a:close/>
                </a:path>
                <a:path w="4205605" h="524509">
                  <a:moveTo>
                    <a:pt x="2101786" y="0"/>
                  </a:moveTo>
                  <a:lnTo>
                    <a:pt x="1840369" y="0"/>
                  </a:lnTo>
                  <a:lnTo>
                    <a:pt x="1840369" y="261239"/>
                  </a:lnTo>
                  <a:lnTo>
                    <a:pt x="2101786" y="261239"/>
                  </a:lnTo>
                  <a:lnTo>
                    <a:pt x="2101786" y="0"/>
                  </a:lnTo>
                  <a:close/>
                </a:path>
                <a:path w="4205605" h="524509">
                  <a:moveTo>
                    <a:pt x="2364702" y="262724"/>
                  </a:moveTo>
                  <a:lnTo>
                    <a:pt x="2103272" y="262724"/>
                  </a:lnTo>
                  <a:lnTo>
                    <a:pt x="2103272" y="523963"/>
                  </a:lnTo>
                  <a:lnTo>
                    <a:pt x="2364702" y="523963"/>
                  </a:lnTo>
                  <a:lnTo>
                    <a:pt x="2364702" y="262724"/>
                  </a:lnTo>
                  <a:close/>
                </a:path>
                <a:path w="4205605" h="524509">
                  <a:moveTo>
                    <a:pt x="2364702" y="0"/>
                  </a:moveTo>
                  <a:lnTo>
                    <a:pt x="2103272" y="0"/>
                  </a:lnTo>
                  <a:lnTo>
                    <a:pt x="2103272" y="261239"/>
                  </a:lnTo>
                  <a:lnTo>
                    <a:pt x="2364702" y="261239"/>
                  </a:lnTo>
                  <a:lnTo>
                    <a:pt x="2364702" y="0"/>
                  </a:lnTo>
                  <a:close/>
                </a:path>
                <a:path w="4205605" h="524509">
                  <a:moveTo>
                    <a:pt x="2627617" y="262724"/>
                  </a:moveTo>
                  <a:lnTo>
                    <a:pt x="2366187" y="262724"/>
                  </a:lnTo>
                  <a:lnTo>
                    <a:pt x="2366187" y="523963"/>
                  </a:lnTo>
                  <a:lnTo>
                    <a:pt x="2627617" y="523963"/>
                  </a:lnTo>
                  <a:lnTo>
                    <a:pt x="2627617" y="262724"/>
                  </a:lnTo>
                  <a:close/>
                </a:path>
                <a:path w="4205605" h="524509">
                  <a:moveTo>
                    <a:pt x="2627617" y="0"/>
                  </a:moveTo>
                  <a:lnTo>
                    <a:pt x="2366187" y="0"/>
                  </a:lnTo>
                  <a:lnTo>
                    <a:pt x="2366187" y="261239"/>
                  </a:lnTo>
                  <a:lnTo>
                    <a:pt x="2627617" y="261239"/>
                  </a:lnTo>
                  <a:lnTo>
                    <a:pt x="2627617" y="0"/>
                  </a:lnTo>
                  <a:close/>
                </a:path>
                <a:path w="4205605" h="524509">
                  <a:moveTo>
                    <a:pt x="2890520" y="262724"/>
                  </a:moveTo>
                  <a:lnTo>
                    <a:pt x="2629090" y="262724"/>
                  </a:lnTo>
                  <a:lnTo>
                    <a:pt x="2629090" y="523963"/>
                  </a:lnTo>
                  <a:lnTo>
                    <a:pt x="2890520" y="523963"/>
                  </a:lnTo>
                  <a:lnTo>
                    <a:pt x="2890520" y="262724"/>
                  </a:lnTo>
                  <a:close/>
                </a:path>
                <a:path w="4205605" h="524509">
                  <a:moveTo>
                    <a:pt x="2890520" y="0"/>
                  </a:moveTo>
                  <a:lnTo>
                    <a:pt x="2629090" y="0"/>
                  </a:lnTo>
                  <a:lnTo>
                    <a:pt x="2629090" y="261239"/>
                  </a:lnTo>
                  <a:lnTo>
                    <a:pt x="2890520" y="261239"/>
                  </a:lnTo>
                  <a:lnTo>
                    <a:pt x="2890520" y="0"/>
                  </a:lnTo>
                  <a:close/>
                </a:path>
                <a:path w="4205605" h="524509">
                  <a:moveTo>
                    <a:pt x="3153435" y="262724"/>
                  </a:moveTo>
                  <a:lnTo>
                    <a:pt x="2892006" y="262724"/>
                  </a:lnTo>
                  <a:lnTo>
                    <a:pt x="2892006" y="523963"/>
                  </a:lnTo>
                  <a:lnTo>
                    <a:pt x="3153435" y="523963"/>
                  </a:lnTo>
                  <a:lnTo>
                    <a:pt x="3153435" y="262724"/>
                  </a:lnTo>
                  <a:close/>
                </a:path>
                <a:path w="4205605" h="524509">
                  <a:moveTo>
                    <a:pt x="3153435" y="0"/>
                  </a:moveTo>
                  <a:lnTo>
                    <a:pt x="2892006" y="0"/>
                  </a:lnTo>
                  <a:lnTo>
                    <a:pt x="2892006" y="261239"/>
                  </a:lnTo>
                  <a:lnTo>
                    <a:pt x="3153435" y="261239"/>
                  </a:lnTo>
                  <a:lnTo>
                    <a:pt x="3153435" y="0"/>
                  </a:lnTo>
                  <a:close/>
                </a:path>
                <a:path w="4205605" h="524509">
                  <a:moveTo>
                    <a:pt x="3416338" y="262724"/>
                  </a:moveTo>
                  <a:lnTo>
                    <a:pt x="3154908" y="262724"/>
                  </a:lnTo>
                  <a:lnTo>
                    <a:pt x="3154908" y="523963"/>
                  </a:lnTo>
                  <a:lnTo>
                    <a:pt x="3416338" y="523963"/>
                  </a:lnTo>
                  <a:lnTo>
                    <a:pt x="3416338" y="262724"/>
                  </a:lnTo>
                  <a:close/>
                </a:path>
                <a:path w="4205605" h="524509">
                  <a:moveTo>
                    <a:pt x="3416338" y="0"/>
                  </a:moveTo>
                  <a:lnTo>
                    <a:pt x="3154908" y="0"/>
                  </a:lnTo>
                  <a:lnTo>
                    <a:pt x="3154908" y="261239"/>
                  </a:lnTo>
                  <a:lnTo>
                    <a:pt x="3416338" y="261239"/>
                  </a:lnTo>
                  <a:lnTo>
                    <a:pt x="3416338" y="0"/>
                  </a:lnTo>
                  <a:close/>
                </a:path>
                <a:path w="4205605" h="524509">
                  <a:moveTo>
                    <a:pt x="3679253" y="262724"/>
                  </a:moveTo>
                  <a:lnTo>
                    <a:pt x="3417824" y="262724"/>
                  </a:lnTo>
                  <a:lnTo>
                    <a:pt x="3417824" y="523963"/>
                  </a:lnTo>
                  <a:lnTo>
                    <a:pt x="3679253" y="523963"/>
                  </a:lnTo>
                  <a:lnTo>
                    <a:pt x="3679253" y="262724"/>
                  </a:lnTo>
                  <a:close/>
                </a:path>
                <a:path w="4205605" h="524509">
                  <a:moveTo>
                    <a:pt x="3679253" y="0"/>
                  </a:moveTo>
                  <a:lnTo>
                    <a:pt x="3417824" y="0"/>
                  </a:lnTo>
                  <a:lnTo>
                    <a:pt x="3417824" y="261239"/>
                  </a:lnTo>
                  <a:lnTo>
                    <a:pt x="3679253" y="261239"/>
                  </a:lnTo>
                  <a:lnTo>
                    <a:pt x="3679253" y="0"/>
                  </a:lnTo>
                  <a:close/>
                </a:path>
                <a:path w="4205605" h="524509">
                  <a:moveTo>
                    <a:pt x="3942156" y="262724"/>
                  </a:moveTo>
                  <a:lnTo>
                    <a:pt x="3680726" y="262724"/>
                  </a:lnTo>
                  <a:lnTo>
                    <a:pt x="3680726" y="523963"/>
                  </a:lnTo>
                  <a:lnTo>
                    <a:pt x="3942156" y="523963"/>
                  </a:lnTo>
                  <a:lnTo>
                    <a:pt x="3942156" y="262724"/>
                  </a:lnTo>
                  <a:close/>
                </a:path>
                <a:path w="4205605" h="524509">
                  <a:moveTo>
                    <a:pt x="3942156" y="0"/>
                  </a:moveTo>
                  <a:lnTo>
                    <a:pt x="3680726" y="0"/>
                  </a:lnTo>
                  <a:lnTo>
                    <a:pt x="3680726" y="261239"/>
                  </a:lnTo>
                  <a:lnTo>
                    <a:pt x="3942156" y="261239"/>
                  </a:lnTo>
                  <a:lnTo>
                    <a:pt x="3942156" y="0"/>
                  </a:lnTo>
                  <a:close/>
                </a:path>
                <a:path w="4205605" h="524509">
                  <a:moveTo>
                    <a:pt x="4205071" y="262724"/>
                  </a:moveTo>
                  <a:lnTo>
                    <a:pt x="3943642" y="262724"/>
                  </a:lnTo>
                  <a:lnTo>
                    <a:pt x="3943642" y="523963"/>
                  </a:lnTo>
                  <a:lnTo>
                    <a:pt x="4205071" y="523963"/>
                  </a:lnTo>
                  <a:lnTo>
                    <a:pt x="4205071" y="262724"/>
                  </a:lnTo>
                  <a:close/>
                </a:path>
                <a:path w="4205605" h="524509">
                  <a:moveTo>
                    <a:pt x="4205071" y="0"/>
                  </a:moveTo>
                  <a:lnTo>
                    <a:pt x="3943642" y="0"/>
                  </a:lnTo>
                  <a:lnTo>
                    <a:pt x="3943642" y="261239"/>
                  </a:lnTo>
                  <a:lnTo>
                    <a:pt x="4205071" y="261239"/>
                  </a:lnTo>
                  <a:lnTo>
                    <a:pt x="4205071" y="0"/>
                  </a:lnTo>
                  <a:close/>
                </a:path>
              </a:pathLst>
            </a:custGeom>
            <a:solidFill>
              <a:srgbClr val="D5D5D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/>
            <p:cNvSpPr/>
            <p:nvPr/>
          </p:nvSpPr>
          <p:spPr>
            <a:xfrm>
              <a:off x="1403398" y="7077810"/>
              <a:ext cx="4208145" cy="525780"/>
            </a:xfrm>
            <a:custGeom>
              <a:avLst/>
              <a:gdLst/>
              <a:ahLst/>
              <a:cxnLst/>
              <a:rect l="l" t="t" r="r" b="b"/>
              <a:pathLst>
                <a:path w="4208145" h="525779">
                  <a:moveTo>
                    <a:pt x="4207289" y="0"/>
                  </a:moveTo>
                  <a:lnTo>
                    <a:pt x="4207289" y="525454"/>
                  </a:lnTo>
                </a:path>
                <a:path w="4208145" h="525779">
                  <a:moveTo>
                    <a:pt x="3944380" y="0"/>
                  </a:moveTo>
                  <a:lnTo>
                    <a:pt x="3944380" y="525454"/>
                  </a:lnTo>
                </a:path>
                <a:path w="4208145" h="525779">
                  <a:moveTo>
                    <a:pt x="3681470" y="0"/>
                  </a:moveTo>
                  <a:lnTo>
                    <a:pt x="3681470" y="525454"/>
                  </a:lnTo>
                </a:path>
                <a:path w="4208145" h="525779">
                  <a:moveTo>
                    <a:pt x="3418561" y="0"/>
                  </a:moveTo>
                  <a:lnTo>
                    <a:pt x="3418561" y="525454"/>
                  </a:lnTo>
                </a:path>
                <a:path w="4208145" h="525779">
                  <a:moveTo>
                    <a:pt x="3155652" y="0"/>
                  </a:moveTo>
                  <a:lnTo>
                    <a:pt x="3155652" y="525454"/>
                  </a:lnTo>
                </a:path>
                <a:path w="4208145" h="525779">
                  <a:moveTo>
                    <a:pt x="2892742" y="0"/>
                  </a:moveTo>
                  <a:lnTo>
                    <a:pt x="2892742" y="525454"/>
                  </a:lnTo>
                </a:path>
                <a:path w="4208145" h="525779">
                  <a:moveTo>
                    <a:pt x="2629833" y="0"/>
                  </a:moveTo>
                  <a:lnTo>
                    <a:pt x="2629833" y="525454"/>
                  </a:lnTo>
                </a:path>
                <a:path w="4208145" h="525779">
                  <a:moveTo>
                    <a:pt x="2366924" y="0"/>
                  </a:moveTo>
                  <a:lnTo>
                    <a:pt x="2366924" y="525454"/>
                  </a:lnTo>
                </a:path>
                <a:path w="4208145" h="525779">
                  <a:moveTo>
                    <a:pt x="2104014" y="0"/>
                  </a:moveTo>
                  <a:lnTo>
                    <a:pt x="2104014" y="525454"/>
                  </a:lnTo>
                </a:path>
                <a:path w="4208145" h="525779">
                  <a:moveTo>
                    <a:pt x="1841105" y="0"/>
                  </a:moveTo>
                  <a:lnTo>
                    <a:pt x="1841105" y="525454"/>
                  </a:lnTo>
                </a:path>
                <a:path w="4208145" h="525779">
                  <a:moveTo>
                    <a:pt x="1578196" y="0"/>
                  </a:moveTo>
                  <a:lnTo>
                    <a:pt x="1578196" y="525454"/>
                  </a:lnTo>
                </a:path>
                <a:path w="4208145" h="525779">
                  <a:moveTo>
                    <a:pt x="1315287" y="0"/>
                  </a:moveTo>
                  <a:lnTo>
                    <a:pt x="1315287" y="525454"/>
                  </a:lnTo>
                </a:path>
                <a:path w="4208145" h="525779">
                  <a:moveTo>
                    <a:pt x="1052377" y="0"/>
                  </a:moveTo>
                  <a:lnTo>
                    <a:pt x="1052377" y="525454"/>
                  </a:lnTo>
                </a:path>
                <a:path w="4208145" h="525779">
                  <a:moveTo>
                    <a:pt x="789468" y="0"/>
                  </a:moveTo>
                  <a:lnTo>
                    <a:pt x="789468" y="525454"/>
                  </a:lnTo>
                </a:path>
                <a:path w="4208145" h="525779">
                  <a:moveTo>
                    <a:pt x="526559" y="0"/>
                  </a:moveTo>
                  <a:lnTo>
                    <a:pt x="526559" y="525454"/>
                  </a:lnTo>
                </a:path>
                <a:path w="4208145" h="525779">
                  <a:moveTo>
                    <a:pt x="263649" y="0"/>
                  </a:moveTo>
                  <a:lnTo>
                    <a:pt x="263649" y="525454"/>
                  </a:lnTo>
                </a:path>
                <a:path w="4208145" h="525779">
                  <a:moveTo>
                    <a:pt x="740" y="0"/>
                  </a:moveTo>
                  <a:lnTo>
                    <a:pt x="740" y="525454"/>
                  </a:lnTo>
                </a:path>
                <a:path w="4208145" h="525779">
                  <a:moveTo>
                    <a:pt x="0" y="525454"/>
                  </a:moveTo>
                  <a:lnTo>
                    <a:pt x="4208030" y="525454"/>
                  </a:lnTo>
                </a:path>
                <a:path w="4208145" h="525779">
                  <a:moveTo>
                    <a:pt x="0" y="262727"/>
                  </a:moveTo>
                  <a:lnTo>
                    <a:pt x="4208030" y="262727"/>
                  </a:lnTo>
                </a:path>
                <a:path w="4208145" h="525779">
                  <a:moveTo>
                    <a:pt x="0" y="0"/>
                  </a:moveTo>
                  <a:lnTo>
                    <a:pt x="4208030" y="0"/>
                  </a:lnTo>
                </a:path>
              </a:pathLst>
            </a:custGeom>
            <a:ln w="3175">
              <a:solidFill>
                <a:srgbClr val="F2F2F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0" name="object 70"/>
          <p:cNvSpPr txBox="1"/>
          <p:nvPr/>
        </p:nvSpPr>
        <p:spPr>
          <a:xfrm>
            <a:off x="1510335" y="6897164"/>
            <a:ext cx="78105" cy="1250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50">
                <a:solidFill>
                  <a:srgbClr val="606060"/>
                </a:solidFill>
                <a:latin typeface="Lucida Sans"/>
                <a:cs typeface="Lucida Sans"/>
              </a:rPr>
              <a:t>0</a:t>
            </a:r>
            <a:endParaRPr sz="650">
              <a:latin typeface="Lucida Sans"/>
              <a:cs typeface="Lucida Sans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1773245" y="6897164"/>
            <a:ext cx="78105" cy="1250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50">
                <a:solidFill>
                  <a:srgbClr val="606060"/>
                </a:solidFill>
                <a:latin typeface="Lucida Sans"/>
                <a:cs typeface="Lucida Sans"/>
              </a:rPr>
              <a:t>1</a:t>
            </a:r>
            <a:endParaRPr sz="650">
              <a:latin typeface="Lucida Sans"/>
              <a:cs typeface="Lucida Sans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2036154" y="6897164"/>
            <a:ext cx="78105" cy="1250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50">
                <a:solidFill>
                  <a:srgbClr val="606060"/>
                </a:solidFill>
                <a:latin typeface="Lucida Sans"/>
                <a:cs typeface="Lucida Sans"/>
              </a:rPr>
              <a:t>2</a:t>
            </a:r>
            <a:endParaRPr sz="650">
              <a:latin typeface="Lucida Sans"/>
              <a:cs typeface="Lucida Sans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2299063" y="6897164"/>
            <a:ext cx="78105" cy="1250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50">
                <a:solidFill>
                  <a:srgbClr val="606060"/>
                </a:solidFill>
                <a:latin typeface="Lucida Sans"/>
                <a:cs typeface="Lucida Sans"/>
              </a:rPr>
              <a:t>3</a:t>
            </a:r>
            <a:endParaRPr sz="650">
              <a:latin typeface="Lucida Sans"/>
              <a:cs typeface="Lucida Sans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2561973" y="6897164"/>
            <a:ext cx="78105" cy="1250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50">
                <a:solidFill>
                  <a:srgbClr val="606060"/>
                </a:solidFill>
                <a:latin typeface="Lucida Sans"/>
                <a:cs typeface="Lucida Sans"/>
              </a:rPr>
              <a:t>4</a:t>
            </a:r>
            <a:endParaRPr sz="650">
              <a:latin typeface="Lucida Sans"/>
              <a:cs typeface="Lucida Sans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2824881" y="6897164"/>
            <a:ext cx="78105" cy="1250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50">
                <a:solidFill>
                  <a:srgbClr val="606060"/>
                </a:solidFill>
                <a:latin typeface="Lucida Sans"/>
                <a:cs typeface="Lucida Sans"/>
              </a:rPr>
              <a:t>5</a:t>
            </a:r>
            <a:endParaRPr sz="650">
              <a:latin typeface="Lucida Sans"/>
              <a:cs typeface="Lucida Sans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3087790" y="6897164"/>
            <a:ext cx="78105" cy="1250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50">
                <a:solidFill>
                  <a:srgbClr val="606060"/>
                </a:solidFill>
                <a:latin typeface="Lucida Sans"/>
                <a:cs typeface="Lucida Sans"/>
              </a:rPr>
              <a:t>6</a:t>
            </a:r>
            <a:endParaRPr sz="650">
              <a:latin typeface="Lucida Sans"/>
              <a:cs typeface="Lucida Sans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3350700" y="6897164"/>
            <a:ext cx="78105" cy="1250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50">
                <a:solidFill>
                  <a:srgbClr val="606060"/>
                </a:solidFill>
                <a:latin typeface="Lucida Sans"/>
                <a:cs typeface="Lucida Sans"/>
              </a:rPr>
              <a:t>7</a:t>
            </a:r>
            <a:endParaRPr sz="650">
              <a:latin typeface="Lucida Sans"/>
              <a:cs typeface="Lucida Sans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3613609" y="6897164"/>
            <a:ext cx="78105" cy="1250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50">
                <a:solidFill>
                  <a:srgbClr val="606060"/>
                </a:solidFill>
                <a:latin typeface="Lucida Sans"/>
                <a:cs typeface="Lucida Sans"/>
              </a:rPr>
              <a:t>8</a:t>
            </a:r>
            <a:endParaRPr sz="650">
              <a:latin typeface="Lucida Sans"/>
              <a:cs typeface="Lucida Sans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3876518" y="6897164"/>
            <a:ext cx="78105" cy="1250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50">
                <a:solidFill>
                  <a:srgbClr val="606060"/>
                </a:solidFill>
                <a:latin typeface="Lucida Sans"/>
                <a:cs typeface="Lucida Sans"/>
              </a:rPr>
              <a:t>9</a:t>
            </a:r>
            <a:endParaRPr sz="650">
              <a:latin typeface="Lucida Sans"/>
              <a:cs typeface="Lucida Sans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4113179" y="6897164"/>
            <a:ext cx="1445260" cy="1250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74955" algn="l"/>
                <a:tab pos="537845" algn="l"/>
                <a:tab pos="801370" algn="l"/>
                <a:tab pos="1064260" algn="l"/>
                <a:tab pos="1327150" algn="l"/>
              </a:tabLst>
            </a:pPr>
            <a:r>
              <a:rPr dirty="0" sz="650">
                <a:solidFill>
                  <a:srgbClr val="606060"/>
                </a:solidFill>
                <a:latin typeface="Lucida Sans"/>
                <a:cs typeface="Lucida Sans"/>
              </a:rPr>
              <a:t>10</a:t>
            </a:r>
            <a:r>
              <a:rPr dirty="0" sz="650">
                <a:solidFill>
                  <a:srgbClr val="606060"/>
                </a:solidFill>
                <a:latin typeface="Lucida Sans"/>
                <a:cs typeface="Lucida Sans"/>
              </a:rPr>
              <a:t>	</a:t>
            </a:r>
            <a:r>
              <a:rPr dirty="0" sz="650">
                <a:solidFill>
                  <a:srgbClr val="606060"/>
                </a:solidFill>
                <a:latin typeface="Lucida Sans"/>
                <a:cs typeface="Lucida Sans"/>
              </a:rPr>
              <a:t>11</a:t>
            </a:r>
            <a:r>
              <a:rPr dirty="0" sz="650">
                <a:solidFill>
                  <a:srgbClr val="606060"/>
                </a:solidFill>
                <a:latin typeface="Lucida Sans"/>
                <a:cs typeface="Lucida Sans"/>
              </a:rPr>
              <a:t>	</a:t>
            </a:r>
            <a:r>
              <a:rPr dirty="0" sz="650">
                <a:solidFill>
                  <a:srgbClr val="606060"/>
                </a:solidFill>
                <a:latin typeface="Lucida Sans"/>
                <a:cs typeface="Lucida Sans"/>
              </a:rPr>
              <a:t>12</a:t>
            </a:r>
            <a:r>
              <a:rPr dirty="0" sz="650">
                <a:solidFill>
                  <a:srgbClr val="606060"/>
                </a:solidFill>
                <a:latin typeface="Lucida Sans"/>
                <a:cs typeface="Lucida Sans"/>
              </a:rPr>
              <a:t>	</a:t>
            </a:r>
            <a:r>
              <a:rPr dirty="0" sz="650">
                <a:solidFill>
                  <a:srgbClr val="606060"/>
                </a:solidFill>
                <a:latin typeface="Lucida Sans"/>
                <a:cs typeface="Lucida Sans"/>
              </a:rPr>
              <a:t>13</a:t>
            </a:r>
            <a:r>
              <a:rPr dirty="0" sz="650">
                <a:solidFill>
                  <a:srgbClr val="606060"/>
                </a:solidFill>
                <a:latin typeface="Lucida Sans"/>
                <a:cs typeface="Lucida Sans"/>
              </a:rPr>
              <a:t>	</a:t>
            </a:r>
            <a:r>
              <a:rPr dirty="0" sz="650">
                <a:solidFill>
                  <a:srgbClr val="606060"/>
                </a:solidFill>
                <a:latin typeface="Lucida Sans"/>
                <a:cs typeface="Lucida Sans"/>
              </a:rPr>
              <a:t>14</a:t>
            </a:r>
            <a:r>
              <a:rPr dirty="0" sz="650">
                <a:solidFill>
                  <a:srgbClr val="606060"/>
                </a:solidFill>
                <a:latin typeface="Lucida Sans"/>
                <a:cs typeface="Lucida Sans"/>
              </a:rPr>
              <a:t>	</a:t>
            </a:r>
            <a:r>
              <a:rPr dirty="0" sz="650">
                <a:solidFill>
                  <a:srgbClr val="606060"/>
                </a:solidFill>
                <a:latin typeface="Lucida Sans"/>
                <a:cs typeface="Lucida Sans"/>
              </a:rPr>
              <a:t>15</a:t>
            </a:r>
            <a:endParaRPr sz="650">
              <a:latin typeface="Lucida Sans"/>
              <a:cs typeface="Lucida Sans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1493410" y="7119167"/>
            <a:ext cx="363855" cy="15367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  <a:tabLst>
                <a:tab pos="259079" algn="l"/>
              </a:tabLst>
            </a:pPr>
            <a:r>
              <a:rPr dirty="0" sz="800" spc="20">
                <a:latin typeface="Lucida Sans"/>
                <a:cs typeface="Lucida Sans"/>
              </a:rPr>
              <a:t>P</a:t>
            </a:r>
            <a:r>
              <a:rPr dirty="0" sz="800" spc="20">
                <a:latin typeface="Lucida Sans"/>
                <a:cs typeface="Lucida Sans"/>
              </a:rPr>
              <a:t>	</a:t>
            </a:r>
            <a:r>
              <a:rPr dirty="0" sz="800" spc="30">
                <a:latin typeface="Lucida Sans"/>
                <a:cs typeface="Lucida Sans"/>
              </a:rPr>
              <a:t>M</a:t>
            </a:r>
            <a:endParaRPr sz="800">
              <a:latin typeface="Lucida Sans"/>
              <a:cs typeface="Lucida Sans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2537742" y="7119167"/>
            <a:ext cx="1142365" cy="15367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  <a:tabLst>
                <a:tab pos="274955" algn="l"/>
                <a:tab pos="546100" algn="l"/>
                <a:tab pos="798830" algn="l"/>
                <a:tab pos="1072515" algn="l"/>
              </a:tabLst>
            </a:pPr>
            <a:r>
              <a:rPr dirty="0" sz="800" spc="25">
                <a:latin typeface="Lucida Sans"/>
                <a:cs typeface="Lucida Sans"/>
              </a:rPr>
              <a:t>A</a:t>
            </a:r>
            <a:r>
              <a:rPr dirty="0" sz="800" spc="25">
                <a:latin typeface="Lucida Sans"/>
                <a:cs typeface="Lucida Sans"/>
              </a:rPr>
              <a:t>	</a:t>
            </a:r>
            <a:r>
              <a:rPr dirty="0" sz="800" spc="25">
                <a:latin typeface="Lucida Sans"/>
                <a:cs typeface="Lucida Sans"/>
              </a:rPr>
              <a:t>C</a:t>
            </a:r>
            <a:r>
              <a:rPr dirty="0" sz="800" spc="25">
                <a:latin typeface="Lucida Sans"/>
                <a:cs typeface="Lucida Sans"/>
              </a:rPr>
              <a:t>	</a:t>
            </a:r>
            <a:r>
              <a:rPr dirty="0" sz="800" spc="20">
                <a:latin typeface="Lucida Sans"/>
                <a:cs typeface="Lucida Sans"/>
              </a:rPr>
              <a:t>S</a:t>
            </a:r>
            <a:r>
              <a:rPr dirty="0" sz="800" spc="20">
                <a:latin typeface="Lucida Sans"/>
                <a:cs typeface="Lucida Sans"/>
              </a:rPr>
              <a:t>	</a:t>
            </a:r>
            <a:r>
              <a:rPr dirty="0" sz="800" spc="25">
                <a:latin typeface="Lucida Sans"/>
                <a:cs typeface="Lucida Sans"/>
              </a:rPr>
              <a:t>H</a:t>
            </a:r>
            <a:r>
              <a:rPr dirty="0" sz="800" spc="25">
                <a:latin typeface="Lucida Sans"/>
                <a:cs typeface="Lucida Sans"/>
              </a:rPr>
              <a:t>	</a:t>
            </a:r>
            <a:r>
              <a:rPr dirty="0" sz="800" spc="20">
                <a:latin typeface="Lucida Sans"/>
                <a:cs typeface="Lucida Sans"/>
              </a:rPr>
              <a:t>L</a:t>
            </a:r>
            <a:endParaRPr sz="800">
              <a:latin typeface="Lucida Sans"/>
              <a:cs typeface="Lucida Sans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4123089" y="7119167"/>
            <a:ext cx="83820" cy="15367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800" spc="20">
                <a:latin typeface="Lucida Sans"/>
                <a:cs typeface="Lucida Sans"/>
              </a:rPr>
              <a:t>E</a:t>
            </a:r>
            <a:endParaRPr sz="800">
              <a:latin typeface="Lucida Sans"/>
              <a:cs typeface="Lucida Sans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5169874" y="7119167"/>
            <a:ext cx="355600" cy="15367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  <a:tabLst>
                <a:tab pos="275590" algn="l"/>
              </a:tabLst>
            </a:pPr>
            <a:r>
              <a:rPr dirty="0" sz="800" spc="25">
                <a:latin typeface="Lucida Sans"/>
                <a:cs typeface="Lucida Sans"/>
              </a:rPr>
              <a:t>R</a:t>
            </a:r>
            <a:r>
              <a:rPr dirty="0" sz="800" spc="25">
                <a:latin typeface="Lucida Sans"/>
                <a:cs typeface="Lucida Sans"/>
              </a:rPr>
              <a:t>	</a:t>
            </a:r>
            <a:r>
              <a:rPr dirty="0" sz="800" spc="20">
                <a:latin typeface="Lucida Sans"/>
                <a:cs typeface="Lucida Sans"/>
              </a:rPr>
              <a:t>X</a:t>
            </a:r>
            <a:endParaRPr sz="800">
              <a:latin typeface="Lucida Sans"/>
              <a:cs typeface="Lucida Sans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1469086" y="7381894"/>
            <a:ext cx="389890" cy="15367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  <a:tabLst>
                <a:tab pos="309245" algn="l"/>
              </a:tabLst>
            </a:pPr>
            <a:r>
              <a:rPr dirty="0" sz="800" spc="25">
                <a:solidFill>
                  <a:srgbClr val="BABABA"/>
                </a:solidFill>
                <a:latin typeface="Lucida Sans"/>
                <a:cs typeface="Lucida Sans"/>
              </a:rPr>
              <a:t>10</a:t>
            </a:r>
            <a:r>
              <a:rPr dirty="0" sz="800" spc="25">
                <a:solidFill>
                  <a:srgbClr val="BABABA"/>
                </a:solidFill>
                <a:latin typeface="Lucida Sans"/>
                <a:cs typeface="Lucida Sans"/>
              </a:rPr>
              <a:t>	</a:t>
            </a:r>
            <a:r>
              <a:rPr dirty="0" sz="800" spc="25">
                <a:solidFill>
                  <a:srgbClr val="BABABA"/>
                </a:solidFill>
                <a:latin typeface="Lucida Sans"/>
                <a:cs typeface="Lucida Sans"/>
              </a:rPr>
              <a:t>9</a:t>
            </a:r>
            <a:endParaRPr sz="800">
              <a:latin typeface="Lucida Sans"/>
              <a:cs typeface="Lucida Sans"/>
            </a:endParaRPr>
          </a:p>
        </p:txBody>
      </p:sp>
      <p:sp>
        <p:nvSpPr>
          <p:cNvPr id="86" name="object 86"/>
          <p:cNvSpPr txBox="1"/>
          <p:nvPr/>
        </p:nvSpPr>
        <p:spPr>
          <a:xfrm>
            <a:off x="2554473" y="7381894"/>
            <a:ext cx="1178560" cy="15367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  <a:tabLst>
                <a:tab pos="274955" algn="l"/>
                <a:tab pos="537845" algn="l"/>
                <a:tab pos="801370" algn="l"/>
                <a:tab pos="1029969" algn="l"/>
              </a:tabLst>
            </a:pPr>
            <a:r>
              <a:rPr dirty="0" sz="800" spc="25">
                <a:solidFill>
                  <a:srgbClr val="BABABA"/>
                </a:solidFill>
                <a:latin typeface="Lucida Sans"/>
                <a:cs typeface="Lucida Sans"/>
              </a:rPr>
              <a:t>8</a:t>
            </a:r>
            <a:r>
              <a:rPr dirty="0" sz="800" spc="25">
                <a:solidFill>
                  <a:srgbClr val="BABABA"/>
                </a:solidFill>
                <a:latin typeface="Lucida Sans"/>
                <a:cs typeface="Lucida Sans"/>
              </a:rPr>
              <a:t>	</a:t>
            </a:r>
            <a:r>
              <a:rPr dirty="0" sz="800" spc="25">
                <a:solidFill>
                  <a:srgbClr val="BABABA"/>
                </a:solidFill>
                <a:latin typeface="Lucida Sans"/>
                <a:cs typeface="Lucida Sans"/>
              </a:rPr>
              <a:t>4</a:t>
            </a:r>
            <a:r>
              <a:rPr dirty="0" sz="800" spc="25">
                <a:solidFill>
                  <a:srgbClr val="BABABA"/>
                </a:solidFill>
                <a:latin typeface="Lucida Sans"/>
                <a:cs typeface="Lucida Sans"/>
              </a:rPr>
              <a:t>	</a:t>
            </a:r>
            <a:r>
              <a:rPr dirty="0" sz="800" spc="25">
                <a:solidFill>
                  <a:srgbClr val="BABABA"/>
                </a:solidFill>
                <a:latin typeface="Lucida Sans"/>
                <a:cs typeface="Lucida Sans"/>
              </a:rPr>
              <a:t>0</a:t>
            </a:r>
            <a:r>
              <a:rPr dirty="0" sz="800" spc="25">
                <a:solidFill>
                  <a:srgbClr val="BABABA"/>
                </a:solidFill>
                <a:latin typeface="Lucida Sans"/>
                <a:cs typeface="Lucida Sans"/>
              </a:rPr>
              <a:t>	</a:t>
            </a:r>
            <a:r>
              <a:rPr dirty="0" sz="800" spc="25">
                <a:solidFill>
                  <a:srgbClr val="BABABA"/>
                </a:solidFill>
                <a:latin typeface="Lucida Sans"/>
                <a:cs typeface="Lucida Sans"/>
              </a:rPr>
              <a:t>5</a:t>
            </a:r>
            <a:r>
              <a:rPr dirty="0" sz="800" spc="25">
                <a:solidFill>
                  <a:srgbClr val="BABABA"/>
                </a:solidFill>
                <a:latin typeface="Lucida Sans"/>
                <a:cs typeface="Lucida Sans"/>
              </a:rPr>
              <a:t>	</a:t>
            </a:r>
            <a:r>
              <a:rPr dirty="0" sz="800" spc="25">
                <a:solidFill>
                  <a:srgbClr val="BABABA"/>
                </a:solidFill>
                <a:latin typeface="Lucida Sans"/>
                <a:cs typeface="Lucida Sans"/>
              </a:rPr>
              <a:t>11</a:t>
            </a:r>
            <a:endParaRPr sz="800">
              <a:latin typeface="Lucida Sans"/>
              <a:cs typeface="Lucida Sans"/>
            </a:endParaRPr>
          </a:p>
        </p:txBody>
      </p:sp>
      <p:sp>
        <p:nvSpPr>
          <p:cNvPr id="87" name="object 87"/>
          <p:cNvSpPr txBox="1"/>
          <p:nvPr/>
        </p:nvSpPr>
        <p:spPr>
          <a:xfrm>
            <a:off x="4098179" y="7381894"/>
            <a:ext cx="160655" cy="15367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800" spc="25">
                <a:solidFill>
                  <a:srgbClr val="BABABA"/>
                </a:solidFill>
                <a:latin typeface="Lucida Sans"/>
                <a:cs typeface="Lucida Sans"/>
              </a:rPr>
              <a:t>12</a:t>
            </a:r>
            <a:endParaRPr sz="800">
              <a:latin typeface="Lucida Sans"/>
              <a:cs typeface="Lucida Sans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5183565" y="7381894"/>
            <a:ext cx="356235" cy="15367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  <a:tabLst>
                <a:tab pos="274955" algn="l"/>
              </a:tabLst>
            </a:pPr>
            <a:r>
              <a:rPr dirty="0" sz="800" spc="25">
                <a:solidFill>
                  <a:srgbClr val="BABABA"/>
                </a:solidFill>
                <a:latin typeface="Lucida Sans"/>
                <a:cs typeface="Lucida Sans"/>
              </a:rPr>
              <a:t>3</a:t>
            </a:r>
            <a:r>
              <a:rPr dirty="0" sz="800" spc="25">
                <a:solidFill>
                  <a:srgbClr val="BABABA"/>
                </a:solidFill>
                <a:latin typeface="Lucida Sans"/>
                <a:cs typeface="Lucida Sans"/>
              </a:rPr>
              <a:t>	</a:t>
            </a:r>
            <a:r>
              <a:rPr dirty="0" sz="800" spc="25">
                <a:solidFill>
                  <a:srgbClr val="BABABA"/>
                </a:solidFill>
                <a:latin typeface="Lucida Sans"/>
                <a:cs typeface="Lucida Sans"/>
              </a:rPr>
              <a:t>7</a:t>
            </a:r>
            <a:endParaRPr sz="800">
              <a:latin typeface="Lucida Sans"/>
              <a:cs typeface="Lucida Sans"/>
            </a:endParaRPr>
          </a:p>
        </p:txBody>
      </p:sp>
      <p:sp>
        <p:nvSpPr>
          <p:cNvPr id="89" name="object 89"/>
          <p:cNvSpPr txBox="1"/>
          <p:nvPr/>
        </p:nvSpPr>
        <p:spPr>
          <a:xfrm>
            <a:off x="963406" y="7405434"/>
            <a:ext cx="368300" cy="1397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50" spc="-5">
                <a:solidFill>
                  <a:srgbClr val="8D3124"/>
                </a:solidFill>
                <a:latin typeface="Lucida Sans Typewriter"/>
                <a:cs typeface="Lucida Sans Typewriter"/>
              </a:rPr>
              <a:t>vals[]</a:t>
            </a:r>
            <a:endParaRPr sz="750">
              <a:latin typeface="Lucida Sans Typewriter"/>
              <a:cs typeface="Lucida Sans Typewriter"/>
            </a:endParaRPr>
          </a:p>
        </p:txBody>
      </p:sp>
      <p:sp>
        <p:nvSpPr>
          <p:cNvPr id="90" name="object 90"/>
          <p:cNvSpPr txBox="1"/>
          <p:nvPr/>
        </p:nvSpPr>
        <p:spPr>
          <a:xfrm>
            <a:off x="645212" y="6707595"/>
            <a:ext cx="858519" cy="1397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50" spc="5" b="1">
                <a:latin typeface="Tahoma"/>
                <a:cs typeface="Tahoma"/>
              </a:rPr>
              <a:t>before</a:t>
            </a:r>
            <a:r>
              <a:rPr dirty="0" sz="750" b="1">
                <a:latin typeface="Tahoma"/>
                <a:cs typeface="Tahoma"/>
              </a:rPr>
              <a:t> </a:t>
            </a:r>
            <a:r>
              <a:rPr dirty="0" sz="750" spc="5" b="1">
                <a:latin typeface="Tahoma"/>
                <a:cs typeface="Tahoma"/>
              </a:rPr>
              <a:t>deleting</a:t>
            </a:r>
            <a:r>
              <a:rPr dirty="0" sz="750" b="1">
                <a:latin typeface="Tahoma"/>
                <a:cs typeface="Tahoma"/>
              </a:rPr>
              <a:t> </a:t>
            </a:r>
            <a:r>
              <a:rPr dirty="0" sz="750" spc="-50" b="1">
                <a:latin typeface="Tahoma"/>
                <a:cs typeface="Tahoma"/>
              </a:rPr>
              <a:t>S</a:t>
            </a:r>
            <a:endParaRPr sz="750">
              <a:latin typeface="Tahoma"/>
              <a:cs typeface="Tahoma"/>
            </a:endParaRPr>
          </a:p>
        </p:txBody>
      </p:sp>
      <p:graphicFrame>
        <p:nvGraphicFramePr>
          <p:cNvPr id="91" name="object 91"/>
          <p:cNvGraphicFramePr>
            <a:graphicFrameLocks noGrp="1"/>
          </p:cNvGraphicFramePr>
          <p:nvPr/>
        </p:nvGraphicFramePr>
        <p:xfrm>
          <a:off x="943607" y="8437649"/>
          <a:ext cx="4669155" cy="6864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3550"/>
                <a:gridCol w="280034"/>
                <a:gridCol w="262890"/>
                <a:gridCol w="259080"/>
                <a:gridCol w="250825"/>
                <a:gridCol w="266700"/>
                <a:gridCol w="274955"/>
                <a:gridCol w="245744"/>
                <a:gridCol w="259080"/>
                <a:gridCol w="300355"/>
                <a:gridCol w="221614"/>
                <a:gridCol w="290830"/>
                <a:gridCol w="255270"/>
                <a:gridCol w="262889"/>
                <a:gridCol w="262889"/>
                <a:gridCol w="262889"/>
                <a:gridCol w="248285"/>
              </a:tblGrid>
              <a:tr h="1631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marR="100965">
                        <a:lnSpc>
                          <a:spcPts val="740"/>
                        </a:lnSpc>
                      </a:pPr>
                      <a:r>
                        <a:rPr dirty="0" sz="650">
                          <a:solidFill>
                            <a:srgbClr val="606060"/>
                          </a:solidFill>
                          <a:latin typeface="Lucida Sans"/>
                          <a:cs typeface="Lucida Sans"/>
                        </a:rPr>
                        <a:t>0</a:t>
                      </a:r>
                      <a:endParaRPr sz="650">
                        <a:latin typeface="Lucida Sans"/>
                        <a:cs typeface="Lucida Sans"/>
                      </a:endParaRPr>
                    </a:p>
                  </a:txBody>
                  <a:tcPr marL="0" marR="0" marB="0" marT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740"/>
                        </a:lnSpc>
                      </a:pPr>
                      <a:r>
                        <a:rPr dirty="0" sz="650">
                          <a:solidFill>
                            <a:srgbClr val="606060"/>
                          </a:solidFill>
                          <a:latin typeface="Lucida Sans"/>
                          <a:cs typeface="Lucida Sans"/>
                        </a:rPr>
                        <a:t>1</a:t>
                      </a:r>
                      <a:endParaRPr sz="650">
                        <a:latin typeface="Lucida Sans"/>
                        <a:cs typeface="Lucida Sans"/>
                      </a:endParaRPr>
                    </a:p>
                  </a:txBody>
                  <a:tcPr marL="0" marR="0" marB="0" marT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740"/>
                        </a:lnSpc>
                      </a:pPr>
                      <a:r>
                        <a:rPr dirty="0" sz="650">
                          <a:solidFill>
                            <a:srgbClr val="606060"/>
                          </a:solidFill>
                          <a:latin typeface="Lucida Sans"/>
                          <a:cs typeface="Lucida Sans"/>
                        </a:rPr>
                        <a:t>2</a:t>
                      </a:r>
                      <a:endParaRPr sz="650">
                        <a:latin typeface="Lucida Sans"/>
                        <a:cs typeface="Lucida Sans"/>
                      </a:endParaRPr>
                    </a:p>
                  </a:txBody>
                  <a:tcPr marL="0" marR="0" marB="0" marT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065">
                        <a:lnSpc>
                          <a:spcPts val="740"/>
                        </a:lnSpc>
                      </a:pPr>
                      <a:r>
                        <a:rPr dirty="0" sz="650">
                          <a:solidFill>
                            <a:srgbClr val="606060"/>
                          </a:solidFill>
                          <a:latin typeface="Lucida Sans"/>
                          <a:cs typeface="Lucida Sans"/>
                        </a:rPr>
                        <a:t>3</a:t>
                      </a:r>
                      <a:endParaRPr sz="650">
                        <a:latin typeface="Lucida Sans"/>
                        <a:cs typeface="Lucida Sans"/>
                      </a:endParaRPr>
                    </a:p>
                  </a:txBody>
                  <a:tcPr marL="0" marR="0" marB="0" marT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0320">
                        <a:lnSpc>
                          <a:spcPts val="740"/>
                        </a:lnSpc>
                      </a:pPr>
                      <a:r>
                        <a:rPr dirty="0" sz="650">
                          <a:solidFill>
                            <a:srgbClr val="606060"/>
                          </a:solidFill>
                          <a:latin typeface="Lucida Sans"/>
                          <a:cs typeface="Lucida Sans"/>
                        </a:rPr>
                        <a:t>4</a:t>
                      </a:r>
                      <a:endParaRPr sz="650">
                        <a:latin typeface="Lucida Sans"/>
                        <a:cs typeface="Lucida Sans"/>
                      </a:endParaRPr>
                    </a:p>
                  </a:txBody>
                  <a:tcPr marL="0" marR="0" marB="0" marT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13030">
                        <a:lnSpc>
                          <a:spcPts val="740"/>
                        </a:lnSpc>
                      </a:pPr>
                      <a:r>
                        <a:rPr dirty="0" sz="650">
                          <a:solidFill>
                            <a:srgbClr val="606060"/>
                          </a:solidFill>
                          <a:latin typeface="Lucida Sans"/>
                          <a:cs typeface="Lucida Sans"/>
                        </a:rPr>
                        <a:t>5</a:t>
                      </a:r>
                      <a:endParaRPr sz="650">
                        <a:latin typeface="Lucida Sans"/>
                        <a:cs typeface="Lucida Sans"/>
                      </a:endParaRPr>
                    </a:p>
                  </a:txBody>
                  <a:tcPr marL="0" marR="0" marB="0" marT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9525">
                        <a:lnSpc>
                          <a:spcPts val="740"/>
                        </a:lnSpc>
                      </a:pPr>
                      <a:r>
                        <a:rPr dirty="0" sz="650">
                          <a:solidFill>
                            <a:srgbClr val="606060"/>
                          </a:solidFill>
                          <a:latin typeface="Lucida Sans"/>
                          <a:cs typeface="Lucida Sans"/>
                        </a:rPr>
                        <a:t>6</a:t>
                      </a:r>
                      <a:endParaRPr sz="650">
                        <a:latin typeface="Lucida Sans"/>
                        <a:cs typeface="Lucida Sans"/>
                      </a:endParaRPr>
                    </a:p>
                  </a:txBody>
                  <a:tcPr marL="0" marR="0" marB="0" marT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9845">
                        <a:lnSpc>
                          <a:spcPts val="740"/>
                        </a:lnSpc>
                      </a:pPr>
                      <a:r>
                        <a:rPr dirty="0" sz="650">
                          <a:solidFill>
                            <a:srgbClr val="606060"/>
                          </a:solidFill>
                          <a:latin typeface="Lucida Sans"/>
                          <a:cs typeface="Lucida Sans"/>
                        </a:rPr>
                        <a:t>7</a:t>
                      </a:r>
                      <a:endParaRPr sz="650">
                        <a:latin typeface="Lucida Sans"/>
                        <a:cs typeface="Lucida Sans"/>
                      </a:endParaRPr>
                    </a:p>
                  </a:txBody>
                  <a:tcPr marL="0" marR="0" marB="0" marT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740"/>
                        </a:lnSpc>
                      </a:pPr>
                      <a:r>
                        <a:rPr dirty="0" sz="650">
                          <a:solidFill>
                            <a:srgbClr val="606060"/>
                          </a:solidFill>
                          <a:latin typeface="Lucida Sans"/>
                          <a:cs typeface="Lucida Sans"/>
                        </a:rPr>
                        <a:t>8</a:t>
                      </a:r>
                      <a:endParaRPr sz="650">
                        <a:latin typeface="Lucida Sans"/>
                        <a:cs typeface="Lucida Sans"/>
                      </a:endParaRPr>
                    </a:p>
                  </a:txBody>
                  <a:tcPr marL="0" marR="0" marB="0" marT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740"/>
                        </a:lnSpc>
                      </a:pPr>
                      <a:r>
                        <a:rPr dirty="0" sz="650">
                          <a:solidFill>
                            <a:srgbClr val="606060"/>
                          </a:solidFill>
                          <a:latin typeface="Lucida Sans"/>
                          <a:cs typeface="Lucida Sans"/>
                        </a:rPr>
                        <a:t>9</a:t>
                      </a:r>
                      <a:endParaRPr sz="650">
                        <a:latin typeface="Lucida Sans"/>
                        <a:cs typeface="Lucida Sans"/>
                      </a:endParaRPr>
                    </a:p>
                  </a:txBody>
                  <a:tcPr marL="0" marR="0" marB="0" marT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0">
                        <a:lnSpc>
                          <a:spcPts val="740"/>
                        </a:lnSpc>
                      </a:pPr>
                      <a:r>
                        <a:rPr dirty="0" sz="650">
                          <a:solidFill>
                            <a:srgbClr val="606060"/>
                          </a:solidFill>
                          <a:latin typeface="Lucida Sans"/>
                          <a:cs typeface="Lucida Sans"/>
                        </a:rPr>
                        <a:t>10</a:t>
                      </a:r>
                      <a:endParaRPr sz="650">
                        <a:latin typeface="Lucida Sans"/>
                        <a:cs typeface="Lucida Sans"/>
                      </a:endParaRPr>
                    </a:p>
                  </a:txBody>
                  <a:tcPr marL="0" marR="0" marB="0" marT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ts val="740"/>
                        </a:lnSpc>
                      </a:pPr>
                      <a:r>
                        <a:rPr dirty="0" sz="650">
                          <a:solidFill>
                            <a:srgbClr val="606060"/>
                          </a:solidFill>
                          <a:latin typeface="Lucida Sans"/>
                          <a:cs typeface="Lucida Sans"/>
                        </a:rPr>
                        <a:t>11</a:t>
                      </a:r>
                      <a:endParaRPr sz="650">
                        <a:latin typeface="Lucida Sans"/>
                        <a:cs typeface="Lucida Sans"/>
                      </a:endParaRPr>
                    </a:p>
                  </a:txBody>
                  <a:tcPr marL="0" marR="0" marB="0" marT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ts val="740"/>
                        </a:lnSpc>
                      </a:pPr>
                      <a:r>
                        <a:rPr dirty="0" sz="650">
                          <a:solidFill>
                            <a:srgbClr val="606060"/>
                          </a:solidFill>
                          <a:latin typeface="Lucida Sans"/>
                          <a:cs typeface="Lucida Sans"/>
                        </a:rPr>
                        <a:t>12</a:t>
                      </a:r>
                      <a:endParaRPr sz="650">
                        <a:latin typeface="Lucida Sans"/>
                        <a:cs typeface="Lucida Sans"/>
                      </a:endParaRPr>
                    </a:p>
                  </a:txBody>
                  <a:tcPr marL="0" marR="0" marB="0" marT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ts val="740"/>
                        </a:lnSpc>
                      </a:pPr>
                      <a:r>
                        <a:rPr dirty="0" sz="650">
                          <a:solidFill>
                            <a:srgbClr val="606060"/>
                          </a:solidFill>
                          <a:latin typeface="Lucida Sans"/>
                          <a:cs typeface="Lucida Sans"/>
                        </a:rPr>
                        <a:t>13</a:t>
                      </a:r>
                      <a:endParaRPr sz="650">
                        <a:latin typeface="Lucida Sans"/>
                        <a:cs typeface="Lucida Sans"/>
                      </a:endParaRPr>
                    </a:p>
                  </a:txBody>
                  <a:tcPr marL="0" marR="0" marB="0" marT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740"/>
                        </a:lnSpc>
                      </a:pPr>
                      <a:r>
                        <a:rPr dirty="0" sz="650">
                          <a:solidFill>
                            <a:srgbClr val="606060"/>
                          </a:solidFill>
                          <a:latin typeface="Lucida Sans"/>
                          <a:cs typeface="Lucida Sans"/>
                        </a:rPr>
                        <a:t>14</a:t>
                      </a:r>
                      <a:endParaRPr sz="650">
                        <a:latin typeface="Lucida Sans"/>
                        <a:cs typeface="Lucida Sans"/>
                      </a:endParaRPr>
                    </a:p>
                  </a:txBody>
                  <a:tcPr marL="0" marR="0" marB="0" marT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3970">
                        <a:lnSpc>
                          <a:spcPts val="740"/>
                        </a:lnSpc>
                      </a:pPr>
                      <a:r>
                        <a:rPr dirty="0" sz="650">
                          <a:solidFill>
                            <a:srgbClr val="606060"/>
                          </a:solidFill>
                          <a:latin typeface="Lucida Sans"/>
                          <a:cs typeface="Lucida Sans"/>
                        </a:rPr>
                        <a:t>15</a:t>
                      </a:r>
                      <a:endParaRPr sz="650">
                        <a:latin typeface="Lucida Sans"/>
                        <a:cs typeface="Lucida Sans"/>
                      </a:endParaRPr>
                    </a:p>
                  </a:txBody>
                  <a:tcPr marL="0" marR="0" marB="0" marT="0">
                    <a:solidFill>
                      <a:srgbClr val="F2F2F2"/>
                    </a:solidFill>
                  </a:tcPr>
                </a:tc>
              </a:tr>
              <a:tr h="25527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dirty="0" sz="750" spc="-5">
                          <a:solidFill>
                            <a:srgbClr val="8D3124"/>
                          </a:solidFill>
                          <a:latin typeface="Lucida Sans Typewriter"/>
                          <a:cs typeface="Lucida Sans Typewriter"/>
                        </a:rPr>
                        <a:t>keys[]</a:t>
                      </a:r>
                      <a:endParaRPr sz="750">
                        <a:latin typeface="Lucida Sans Typewriter"/>
                        <a:cs typeface="Lucida Sans Typewriter"/>
                      </a:endParaRPr>
                    </a:p>
                  </a:txBody>
                  <a:tcPr marL="0" marR="0" marB="0" marT="69215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marR="11176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800">
                          <a:latin typeface="Lucida Sans"/>
                          <a:cs typeface="Lucida Sans"/>
                        </a:rPr>
                        <a:t>P</a:t>
                      </a:r>
                      <a:endParaRPr sz="800">
                        <a:latin typeface="Lucida Sans"/>
                        <a:cs typeface="Lucida Sans"/>
                      </a:endParaRPr>
                    </a:p>
                  </a:txBody>
                  <a:tcPr marL="0" marR="0" marB="0" marT="58419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2730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800">
                          <a:latin typeface="Lucida Sans"/>
                          <a:cs typeface="Lucida Sans"/>
                        </a:rPr>
                        <a:t>M</a:t>
                      </a:r>
                      <a:endParaRPr sz="800">
                        <a:latin typeface="Lucida Sans"/>
                        <a:cs typeface="Lucida Sans"/>
                      </a:endParaRPr>
                    </a:p>
                  </a:txBody>
                  <a:tcPr marL="0" marR="0" marB="0" marT="58419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800">
                          <a:latin typeface="Lucida Sans"/>
                          <a:cs typeface="Lucida Sans"/>
                        </a:rPr>
                        <a:t>A</a:t>
                      </a:r>
                      <a:endParaRPr sz="800">
                        <a:latin typeface="Lucida Sans"/>
                        <a:cs typeface="Lucida Sans"/>
                      </a:endParaRPr>
                    </a:p>
                  </a:txBody>
                  <a:tcPr marL="0" marR="0" marB="0" marT="58419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800">
                          <a:latin typeface="Lucida Sans"/>
                          <a:cs typeface="Lucida Sans"/>
                        </a:rPr>
                        <a:t>C</a:t>
                      </a:r>
                      <a:endParaRPr sz="800">
                        <a:latin typeface="Lucida Sans"/>
                        <a:cs typeface="Lucida Sans"/>
                      </a:endParaRPr>
                    </a:p>
                  </a:txBody>
                  <a:tcPr marL="0" marR="0" marB="0" marT="58419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800">
                          <a:latin typeface="Lucida Sans"/>
                          <a:cs typeface="Lucida Sans"/>
                        </a:rPr>
                        <a:t>H</a:t>
                      </a:r>
                      <a:endParaRPr sz="800">
                        <a:latin typeface="Lucida Sans"/>
                        <a:cs typeface="Lucida Sans"/>
                      </a:endParaRPr>
                    </a:p>
                  </a:txBody>
                  <a:tcPr marL="0" marR="0" marB="0" marT="58419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2349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800">
                          <a:latin typeface="Lucida Sans"/>
                          <a:cs typeface="Lucida Sans"/>
                        </a:rPr>
                        <a:t>L</a:t>
                      </a:r>
                      <a:endParaRPr sz="800">
                        <a:latin typeface="Lucida Sans"/>
                        <a:cs typeface="Lucida Sans"/>
                      </a:endParaRPr>
                    </a:p>
                  </a:txBody>
                  <a:tcPr marL="0" marR="0" marB="0" marT="58419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635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800">
                          <a:latin typeface="Lucida Sans"/>
                          <a:cs typeface="Lucida Sans"/>
                        </a:rPr>
                        <a:t>E</a:t>
                      </a:r>
                      <a:endParaRPr sz="800">
                        <a:latin typeface="Lucida Sans"/>
                        <a:cs typeface="Lucida Sans"/>
                      </a:endParaRPr>
                    </a:p>
                  </a:txBody>
                  <a:tcPr marL="0" marR="0" marB="0" marT="58419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1968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800">
                          <a:latin typeface="Lucida Sans"/>
                          <a:cs typeface="Lucida Sans"/>
                        </a:rPr>
                        <a:t>R</a:t>
                      </a:r>
                      <a:endParaRPr sz="800">
                        <a:latin typeface="Lucida Sans"/>
                        <a:cs typeface="Lucida Sans"/>
                      </a:endParaRPr>
                    </a:p>
                  </a:txBody>
                  <a:tcPr marL="0" marR="0" marB="0" marT="58419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508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800">
                          <a:latin typeface="Lucida Sans"/>
                          <a:cs typeface="Lucida Sans"/>
                        </a:rPr>
                        <a:t>X</a:t>
                      </a:r>
                      <a:endParaRPr sz="800">
                        <a:latin typeface="Lucida Sans"/>
                        <a:cs typeface="Lucida Sans"/>
                      </a:endParaRPr>
                    </a:p>
                  </a:txBody>
                  <a:tcPr marL="0" marR="0" marB="0" marT="58419">
                    <a:solidFill>
                      <a:srgbClr val="D5D5D5"/>
                    </a:solidFill>
                  </a:tcPr>
                </a:tc>
              </a:tr>
              <a:tr h="267970">
                <a:tc>
                  <a:txBody>
                    <a:bodyPr/>
                    <a:lstStyle/>
                    <a:p>
                      <a:pPr marL="34290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dirty="0" sz="750" spc="-5">
                          <a:solidFill>
                            <a:srgbClr val="8D3124"/>
                          </a:solidFill>
                          <a:latin typeface="Lucida Sans Typewriter"/>
                          <a:cs typeface="Lucida Sans Typewriter"/>
                        </a:rPr>
                        <a:t>vals[]</a:t>
                      </a:r>
                      <a:endParaRPr sz="750">
                        <a:latin typeface="Lucida Sans Typewriter"/>
                        <a:cs typeface="Lucida Sans Typewriter"/>
                      </a:endParaRPr>
                    </a:p>
                  </a:txBody>
                  <a:tcPr marL="0" marR="0" marB="0" marT="7747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marR="59690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dirty="0" sz="800" spc="25">
                          <a:solidFill>
                            <a:srgbClr val="BABABA"/>
                          </a:solidFill>
                          <a:latin typeface="Lucida Sans"/>
                          <a:cs typeface="Lucida Sans"/>
                        </a:rPr>
                        <a:t>10</a:t>
                      </a:r>
                      <a:endParaRPr sz="800">
                        <a:latin typeface="Lucida Sans"/>
                        <a:cs typeface="Lucida Sans"/>
                      </a:endParaRPr>
                    </a:p>
                  </a:txBody>
                  <a:tcPr marL="0" marR="0" marB="0" marT="65404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dirty="0" sz="800">
                          <a:solidFill>
                            <a:srgbClr val="BABABA"/>
                          </a:solidFill>
                          <a:latin typeface="Lucida Sans"/>
                          <a:cs typeface="Lucida Sans"/>
                        </a:rPr>
                        <a:t>9</a:t>
                      </a:r>
                      <a:endParaRPr sz="800">
                        <a:latin typeface="Lucida Sans"/>
                        <a:cs typeface="Lucida Sans"/>
                      </a:endParaRPr>
                    </a:p>
                  </a:txBody>
                  <a:tcPr marL="0" marR="0" marB="0" marT="65404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0320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dirty="0" sz="800">
                          <a:solidFill>
                            <a:srgbClr val="BABABA"/>
                          </a:solidFill>
                          <a:latin typeface="Lucida Sans"/>
                          <a:cs typeface="Lucida Sans"/>
                        </a:rPr>
                        <a:t>8</a:t>
                      </a:r>
                      <a:endParaRPr sz="800">
                        <a:latin typeface="Lucida Sans"/>
                        <a:cs typeface="Lucida Sans"/>
                      </a:endParaRPr>
                    </a:p>
                  </a:txBody>
                  <a:tcPr marL="0" marR="0" marB="0" marT="65404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dirty="0" sz="800">
                          <a:solidFill>
                            <a:srgbClr val="BABABA"/>
                          </a:solidFill>
                          <a:latin typeface="Lucida Sans"/>
                          <a:cs typeface="Lucida Sans"/>
                        </a:rPr>
                        <a:t>4</a:t>
                      </a:r>
                      <a:endParaRPr sz="800">
                        <a:latin typeface="Lucida Sans"/>
                        <a:cs typeface="Lucida Sans"/>
                      </a:endParaRPr>
                    </a:p>
                  </a:txBody>
                  <a:tcPr marL="0" marR="0" marB="0" marT="65404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9845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dirty="0" sz="800">
                          <a:solidFill>
                            <a:srgbClr val="BABABA"/>
                          </a:solidFill>
                          <a:latin typeface="Lucida Sans"/>
                          <a:cs typeface="Lucida Sans"/>
                        </a:rPr>
                        <a:t>5</a:t>
                      </a:r>
                      <a:endParaRPr sz="800">
                        <a:latin typeface="Lucida Sans"/>
                        <a:cs typeface="Lucida Sans"/>
                      </a:endParaRPr>
                    </a:p>
                  </a:txBody>
                  <a:tcPr marL="0" marR="0" marB="0" marT="65404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dirty="0" sz="800" spc="25">
                          <a:solidFill>
                            <a:srgbClr val="BABABA"/>
                          </a:solidFill>
                          <a:latin typeface="Lucida Sans"/>
                          <a:cs typeface="Lucida Sans"/>
                        </a:rPr>
                        <a:t>11</a:t>
                      </a:r>
                      <a:endParaRPr sz="800">
                        <a:latin typeface="Lucida Sans"/>
                        <a:cs typeface="Lucida Sans"/>
                      </a:endParaRPr>
                    </a:p>
                  </a:txBody>
                  <a:tcPr marL="0" marR="0" marB="0" marT="65404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0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dirty="0" sz="800" spc="25">
                          <a:solidFill>
                            <a:srgbClr val="BABABA"/>
                          </a:solidFill>
                          <a:latin typeface="Lucida Sans"/>
                          <a:cs typeface="Lucida Sans"/>
                        </a:rPr>
                        <a:t>12</a:t>
                      </a:r>
                      <a:endParaRPr sz="800">
                        <a:latin typeface="Lucida Sans"/>
                        <a:cs typeface="Lucida Sans"/>
                      </a:endParaRPr>
                    </a:p>
                  </a:txBody>
                  <a:tcPr marL="0" marR="0" marB="0" marT="65404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dirty="0" sz="800">
                          <a:solidFill>
                            <a:srgbClr val="BABABA"/>
                          </a:solidFill>
                          <a:latin typeface="Lucida Sans"/>
                          <a:cs typeface="Lucida Sans"/>
                        </a:rPr>
                        <a:t>3</a:t>
                      </a:r>
                      <a:endParaRPr sz="800">
                        <a:latin typeface="Lucida Sans"/>
                        <a:cs typeface="Lucida Sans"/>
                      </a:endParaRPr>
                    </a:p>
                  </a:txBody>
                  <a:tcPr marL="0" marR="0" marB="0" marT="65404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3970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dirty="0" sz="800">
                          <a:solidFill>
                            <a:srgbClr val="BABABA"/>
                          </a:solidFill>
                          <a:latin typeface="Lucida Sans"/>
                          <a:cs typeface="Lucida Sans"/>
                        </a:rPr>
                        <a:t>7</a:t>
                      </a:r>
                      <a:endParaRPr sz="800">
                        <a:latin typeface="Lucida Sans"/>
                        <a:cs typeface="Lucida Sans"/>
                      </a:endParaRPr>
                    </a:p>
                  </a:txBody>
                  <a:tcPr marL="0" marR="0" marB="0" marT="65404">
                    <a:solidFill>
                      <a:srgbClr val="D5D5D5"/>
                    </a:solidFill>
                  </a:tcPr>
                </a:tc>
              </a:tr>
            </a:tbl>
          </a:graphicData>
        </a:graphic>
      </p:graphicFrame>
      <p:sp>
        <p:nvSpPr>
          <p:cNvPr id="92" name="object 92"/>
          <p:cNvSpPr/>
          <p:nvPr/>
        </p:nvSpPr>
        <p:spPr>
          <a:xfrm>
            <a:off x="1405762" y="8600288"/>
            <a:ext cx="4208145" cy="525780"/>
          </a:xfrm>
          <a:custGeom>
            <a:avLst/>
            <a:gdLst/>
            <a:ahLst/>
            <a:cxnLst/>
            <a:rect l="l" t="t" r="r" b="b"/>
            <a:pathLst>
              <a:path w="4208145" h="525779">
                <a:moveTo>
                  <a:pt x="4207289" y="0"/>
                </a:moveTo>
                <a:lnTo>
                  <a:pt x="4207289" y="525454"/>
                </a:lnTo>
              </a:path>
              <a:path w="4208145" h="525779">
                <a:moveTo>
                  <a:pt x="3944380" y="0"/>
                </a:moveTo>
                <a:lnTo>
                  <a:pt x="3944380" y="525454"/>
                </a:lnTo>
              </a:path>
              <a:path w="4208145" h="525779">
                <a:moveTo>
                  <a:pt x="3681470" y="0"/>
                </a:moveTo>
                <a:lnTo>
                  <a:pt x="3681470" y="525454"/>
                </a:lnTo>
              </a:path>
              <a:path w="4208145" h="525779">
                <a:moveTo>
                  <a:pt x="3418561" y="0"/>
                </a:moveTo>
                <a:lnTo>
                  <a:pt x="3418561" y="525454"/>
                </a:lnTo>
              </a:path>
              <a:path w="4208145" h="525779">
                <a:moveTo>
                  <a:pt x="3155652" y="0"/>
                </a:moveTo>
                <a:lnTo>
                  <a:pt x="3155652" y="525454"/>
                </a:lnTo>
              </a:path>
              <a:path w="4208145" h="525779">
                <a:moveTo>
                  <a:pt x="2892742" y="0"/>
                </a:moveTo>
                <a:lnTo>
                  <a:pt x="2892742" y="525454"/>
                </a:lnTo>
              </a:path>
              <a:path w="4208145" h="525779">
                <a:moveTo>
                  <a:pt x="2629832" y="0"/>
                </a:moveTo>
                <a:lnTo>
                  <a:pt x="2629832" y="525454"/>
                </a:lnTo>
              </a:path>
              <a:path w="4208145" h="525779">
                <a:moveTo>
                  <a:pt x="2366924" y="0"/>
                </a:moveTo>
                <a:lnTo>
                  <a:pt x="2366924" y="525454"/>
                </a:lnTo>
              </a:path>
              <a:path w="4208145" h="525779">
                <a:moveTo>
                  <a:pt x="2104014" y="0"/>
                </a:moveTo>
                <a:lnTo>
                  <a:pt x="2104014" y="525454"/>
                </a:lnTo>
              </a:path>
              <a:path w="4208145" h="525779">
                <a:moveTo>
                  <a:pt x="1841105" y="0"/>
                </a:moveTo>
                <a:lnTo>
                  <a:pt x="1841105" y="525454"/>
                </a:lnTo>
              </a:path>
              <a:path w="4208145" h="525779">
                <a:moveTo>
                  <a:pt x="1578196" y="0"/>
                </a:moveTo>
                <a:lnTo>
                  <a:pt x="1578196" y="525454"/>
                </a:lnTo>
              </a:path>
              <a:path w="4208145" h="525779">
                <a:moveTo>
                  <a:pt x="1315287" y="0"/>
                </a:moveTo>
                <a:lnTo>
                  <a:pt x="1315287" y="525454"/>
                </a:lnTo>
              </a:path>
              <a:path w="4208145" h="525779">
                <a:moveTo>
                  <a:pt x="1052377" y="0"/>
                </a:moveTo>
                <a:lnTo>
                  <a:pt x="1052377" y="525454"/>
                </a:lnTo>
              </a:path>
              <a:path w="4208145" h="525779">
                <a:moveTo>
                  <a:pt x="789468" y="0"/>
                </a:moveTo>
                <a:lnTo>
                  <a:pt x="789468" y="525454"/>
                </a:lnTo>
              </a:path>
              <a:path w="4208145" h="525779">
                <a:moveTo>
                  <a:pt x="526559" y="0"/>
                </a:moveTo>
                <a:lnTo>
                  <a:pt x="526559" y="525454"/>
                </a:lnTo>
              </a:path>
              <a:path w="4208145" h="525779">
                <a:moveTo>
                  <a:pt x="263649" y="0"/>
                </a:moveTo>
                <a:lnTo>
                  <a:pt x="263649" y="525454"/>
                </a:lnTo>
              </a:path>
              <a:path w="4208145" h="525779">
                <a:moveTo>
                  <a:pt x="740" y="0"/>
                </a:moveTo>
                <a:lnTo>
                  <a:pt x="740" y="525454"/>
                </a:lnTo>
              </a:path>
              <a:path w="4208145" h="525779">
                <a:moveTo>
                  <a:pt x="0" y="525454"/>
                </a:moveTo>
                <a:lnTo>
                  <a:pt x="4208030" y="525454"/>
                </a:lnTo>
              </a:path>
              <a:path w="4208145" h="525779">
                <a:moveTo>
                  <a:pt x="0" y="262727"/>
                </a:moveTo>
                <a:lnTo>
                  <a:pt x="4208030" y="262727"/>
                </a:lnTo>
              </a:path>
              <a:path w="4208145" h="525779">
                <a:moveTo>
                  <a:pt x="0" y="0"/>
                </a:moveTo>
                <a:lnTo>
                  <a:pt x="4208030" y="0"/>
                </a:lnTo>
              </a:path>
            </a:pathLst>
          </a:custGeom>
          <a:ln w="3175">
            <a:solidFill>
              <a:srgbClr val="F2F2F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3" name="object 93"/>
          <p:cNvSpPr txBox="1"/>
          <p:nvPr/>
        </p:nvSpPr>
        <p:spPr>
          <a:xfrm>
            <a:off x="645212" y="8194528"/>
            <a:ext cx="852169" cy="1397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50" b="1">
                <a:latin typeface="Tahoma"/>
                <a:cs typeface="Tahoma"/>
              </a:rPr>
              <a:t>after</a:t>
            </a:r>
            <a:r>
              <a:rPr dirty="0" sz="750" spc="5" b="1">
                <a:latin typeface="Tahoma"/>
                <a:cs typeface="Tahoma"/>
              </a:rPr>
              <a:t> deleting </a:t>
            </a:r>
            <a:r>
              <a:rPr dirty="0" sz="750" spc="-50" b="1">
                <a:latin typeface="Tahoma"/>
                <a:cs typeface="Tahoma"/>
              </a:rPr>
              <a:t>S</a:t>
            </a:r>
            <a:r>
              <a:rPr dirty="0" sz="750" spc="5" b="1">
                <a:latin typeface="Tahoma"/>
                <a:cs typeface="Tahoma"/>
              </a:rPr>
              <a:t> </a:t>
            </a:r>
            <a:r>
              <a:rPr dirty="0" sz="750" spc="-55" b="1">
                <a:latin typeface="Tahoma"/>
                <a:cs typeface="Tahoma"/>
              </a:rPr>
              <a:t>?</a:t>
            </a:r>
            <a:endParaRPr sz="750">
              <a:latin typeface="Tahoma"/>
              <a:cs typeface="Tahoma"/>
            </a:endParaRPr>
          </a:p>
        </p:txBody>
      </p:sp>
      <p:sp>
        <p:nvSpPr>
          <p:cNvPr id="94" name="object 94"/>
          <p:cNvSpPr txBox="1"/>
          <p:nvPr/>
        </p:nvSpPr>
        <p:spPr>
          <a:xfrm>
            <a:off x="3198471" y="8022731"/>
            <a:ext cx="1535430" cy="1397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50" spc="-5">
                <a:solidFill>
                  <a:srgbClr val="8D3124"/>
                </a:solidFill>
                <a:latin typeface="Lucida Sans"/>
                <a:cs typeface="Lucida Sans"/>
              </a:rPr>
              <a:t>doesn't</a:t>
            </a:r>
            <a:r>
              <a:rPr dirty="0" sz="750" spc="-10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dirty="0" sz="750" spc="5">
                <a:solidFill>
                  <a:srgbClr val="8D3124"/>
                </a:solidFill>
                <a:latin typeface="Lucida Sans"/>
                <a:cs typeface="Lucida Sans"/>
              </a:rPr>
              <a:t>work,</a:t>
            </a:r>
            <a:r>
              <a:rPr dirty="0" sz="750" spc="-5">
                <a:solidFill>
                  <a:srgbClr val="8D3124"/>
                </a:solidFill>
                <a:latin typeface="Lucida Sans"/>
                <a:cs typeface="Lucida Sans"/>
              </a:rPr>
              <a:t> e.g.,</a:t>
            </a:r>
            <a:r>
              <a:rPr dirty="0" sz="750" spc="-10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dirty="0" sz="750" spc="-5">
                <a:solidFill>
                  <a:srgbClr val="8D3124"/>
                </a:solidFill>
                <a:latin typeface="Lucida Sans"/>
                <a:cs typeface="Lucida Sans"/>
              </a:rPr>
              <a:t>if hash(H) =</a:t>
            </a:r>
            <a:r>
              <a:rPr dirty="0" sz="750" spc="-10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dirty="0" sz="750" spc="-5">
                <a:solidFill>
                  <a:srgbClr val="8D3124"/>
                </a:solidFill>
                <a:latin typeface="Lucida Sans"/>
                <a:cs typeface="Lucida Sans"/>
              </a:rPr>
              <a:t>4</a:t>
            </a:r>
            <a:endParaRPr sz="750">
              <a:latin typeface="Lucida Sans"/>
              <a:cs typeface="Lucida Sans"/>
            </a:endParaRPr>
          </a:p>
        </p:txBody>
      </p:sp>
      <p:sp>
        <p:nvSpPr>
          <p:cNvPr id="95" name="object 95"/>
          <p:cNvSpPr/>
          <p:nvPr/>
        </p:nvSpPr>
        <p:spPr>
          <a:xfrm>
            <a:off x="3130080" y="8191920"/>
            <a:ext cx="243840" cy="533400"/>
          </a:xfrm>
          <a:custGeom>
            <a:avLst/>
            <a:gdLst/>
            <a:ahLst/>
            <a:cxnLst/>
            <a:rect l="l" t="t" r="r" b="b"/>
            <a:pathLst>
              <a:path w="243839" h="533400">
                <a:moveTo>
                  <a:pt x="0" y="532843"/>
                </a:moveTo>
                <a:lnTo>
                  <a:pt x="2464" y="527456"/>
                </a:lnTo>
                <a:lnTo>
                  <a:pt x="243816" y="0"/>
                </a:lnTo>
              </a:path>
            </a:pathLst>
          </a:custGeom>
          <a:ln w="11848">
            <a:solidFill>
              <a:srgbClr val="8D312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6" name="object 96"/>
          <p:cNvSpPr/>
          <p:nvPr/>
        </p:nvSpPr>
        <p:spPr>
          <a:xfrm>
            <a:off x="3112603" y="8694618"/>
            <a:ext cx="52069" cy="64135"/>
          </a:xfrm>
          <a:custGeom>
            <a:avLst/>
            <a:gdLst/>
            <a:ahLst/>
            <a:cxnLst/>
            <a:rect l="l" t="t" r="r" b="b"/>
            <a:pathLst>
              <a:path w="52069" h="64134">
                <a:moveTo>
                  <a:pt x="0" y="0"/>
                </a:moveTo>
                <a:lnTo>
                  <a:pt x="2195" y="63545"/>
                </a:lnTo>
                <a:lnTo>
                  <a:pt x="50351" y="24759"/>
                </a:lnTo>
                <a:lnTo>
                  <a:pt x="19942" y="24759"/>
                </a:lnTo>
                <a:lnTo>
                  <a:pt x="0" y="0"/>
                </a:lnTo>
                <a:close/>
              </a:path>
              <a:path w="52069" h="64134">
                <a:moveTo>
                  <a:pt x="51714" y="23661"/>
                </a:moveTo>
                <a:lnTo>
                  <a:pt x="19942" y="24759"/>
                </a:lnTo>
                <a:lnTo>
                  <a:pt x="50351" y="24759"/>
                </a:lnTo>
                <a:lnTo>
                  <a:pt x="51714" y="23661"/>
                </a:lnTo>
                <a:close/>
              </a:path>
            </a:pathLst>
          </a:custGeom>
          <a:solidFill>
            <a:srgbClr val="8D3124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97" name="object 97"/>
          <p:cNvGrpSpPr/>
          <p:nvPr/>
        </p:nvGrpSpPr>
        <p:grpSpPr>
          <a:xfrm>
            <a:off x="6592379" y="4966780"/>
            <a:ext cx="6066790" cy="4549775"/>
            <a:chOff x="6592379" y="4966780"/>
            <a:chExt cx="6066790" cy="4549775"/>
          </a:xfrm>
        </p:grpSpPr>
        <p:sp>
          <p:nvSpPr>
            <p:cNvPr id="98" name="object 98"/>
            <p:cNvSpPr/>
            <p:nvPr/>
          </p:nvSpPr>
          <p:spPr>
            <a:xfrm>
              <a:off x="6592379" y="4966780"/>
              <a:ext cx="6066790" cy="4549775"/>
            </a:xfrm>
            <a:custGeom>
              <a:avLst/>
              <a:gdLst/>
              <a:ahLst/>
              <a:cxnLst/>
              <a:rect l="l" t="t" r="r" b="b"/>
              <a:pathLst>
                <a:path w="6066790" h="4549775">
                  <a:moveTo>
                    <a:pt x="0" y="0"/>
                  </a:moveTo>
                  <a:lnTo>
                    <a:pt x="6066212" y="0"/>
                  </a:lnTo>
                  <a:lnTo>
                    <a:pt x="6066212" y="4549659"/>
                  </a:lnTo>
                  <a:lnTo>
                    <a:pt x="0" y="45496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9" name="object 99"/>
            <p:cNvSpPr/>
            <p:nvPr/>
          </p:nvSpPr>
          <p:spPr>
            <a:xfrm>
              <a:off x="6977442" y="5428805"/>
              <a:ext cx="5302250" cy="635"/>
            </a:xfrm>
            <a:custGeom>
              <a:avLst/>
              <a:gdLst/>
              <a:ahLst/>
              <a:cxnLst/>
              <a:rect l="l" t="t" r="r" b="b"/>
              <a:pathLst>
                <a:path w="5302250" h="635">
                  <a:moveTo>
                    <a:pt x="0" y="49"/>
                  </a:moveTo>
                  <a:lnTo>
                    <a:pt x="5302012" y="0"/>
                  </a:lnTo>
                </a:path>
              </a:pathLst>
            </a:custGeom>
            <a:ln w="59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0" name="object 100"/>
          <p:cNvSpPr txBox="1"/>
          <p:nvPr/>
        </p:nvSpPr>
        <p:spPr>
          <a:xfrm>
            <a:off x="6986199" y="5125877"/>
            <a:ext cx="2300605" cy="2247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00" spc="-95">
                <a:latin typeface="Arial"/>
                <a:cs typeface="Arial"/>
              </a:rPr>
              <a:t>S</a:t>
            </a:r>
            <a:r>
              <a:rPr dirty="0" sz="1300" spc="-165">
                <a:latin typeface="Arial"/>
                <a:cs typeface="Arial"/>
              </a:rPr>
              <a:t>T</a:t>
            </a:r>
            <a:r>
              <a:rPr dirty="0" sz="1300" spc="40">
                <a:latin typeface="Arial"/>
                <a:cs typeface="Arial"/>
              </a:rPr>
              <a:t> </a:t>
            </a:r>
            <a:r>
              <a:rPr dirty="0" sz="1300" spc="-5">
                <a:latin typeface="Arial"/>
                <a:cs typeface="Arial"/>
              </a:rPr>
              <a:t>i</a:t>
            </a:r>
            <a:r>
              <a:rPr dirty="0" sz="1300">
                <a:latin typeface="Arial"/>
                <a:cs typeface="Arial"/>
              </a:rPr>
              <a:t>m</a:t>
            </a:r>
            <a:r>
              <a:rPr dirty="0" sz="1300" spc="60">
                <a:latin typeface="Arial"/>
                <a:cs typeface="Arial"/>
              </a:rPr>
              <a:t>p</a:t>
            </a:r>
            <a:r>
              <a:rPr dirty="0" sz="1300" spc="15">
                <a:latin typeface="Arial"/>
                <a:cs typeface="Arial"/>
              </a:rPr>
              <a:t>le</a:t>
            </a:r>
            <a:r>
              <a:rPr dirty="0" sz="1300" spc="-30">
                <a:latin typeface="Arial"/>
                <a:cs typeface="Arial"/>
              </a:rPr>
              <a:t>me</a:t>
            </a:r>
            <a:r>
              <a:rPr dirty="0" sz="1300" spc="-15">
                <a:latin typeface="Arial"/>
                <a:cs typeface="Arial"/>
              </a:rPr>
              <a:t>n</a:t>
            </a:r>
            <a:r>
              <a:rPr dirty="0" sz="1300" spc="5">
                <a:latin typeface="Arial"/>
                <a:cs typeface="Arial"/>
              </a:rPr>
              <a:t>t</a:t>
            </a:r>
            <a:r>
              <a:rPr dirty="0" sz="1300" spc="60">
                <a:latin typeface="Arial"/>
                <a:cs typeface="Arial"/>
              </a:rPr>
              <a:t>a</a:t>
            </a:r>
            <a:r>
              <a:rPr dirty="0" sz="1300" spc="-5">
                <a:latin typeface="Arial"/>
                <a:cs typeface="Arial"/>
              </a:rPr>
              <a:t>t</a:t>
            </a:r>
            <a:r>
              <a:rPr dirty="0" sz="1300" spc="45">
                <a:latin typeface="Arial"/>
                <a:cs typeface="Arial"/>
              </a:rPr>
              <a:t>io</a:t>
            </a:r>
            <a:r>
              <a:rPr dirty="0" sz="1300" spc="-15">
                <a:latin typeface="Arial"/>
                <a:cs typeface="Arial"/>
              </a:rPr>
              <a:t>n</a:t>
            </a:r>
            <a:r>
              <a:rPr dirty="0" sz="1300" spc="-120">
                <a:latin typeface="Arial"/>
                <a:cs typeface="Arial"/>
              </a:rPr>
              <a:t>s</a:t>
            </a:r>
            <a:r>
              <a:rPr dirty="0" sz="1300" spc="40">
                <a:latin typeface="Arial"/>
                <a:cs typeface="Arial"/>
              </a:rPr>
              <a:t>:</a:t>
            </a:r>
            <a:r>
              <a:rPr dirty="0" sz="1300">
                <a:latin typeface="Arial"/>
                <a:cs typeface="Arial"/>
              </a:rPr>
              <a:t> </a:t>
            </a:r>
            <a:r>
              <a:rPr dirty="0" sz="1300" spc="80">
                <a:latin typeface="Arial"/>
                <a:cs typeface="Arial"/>
              </a:rPr>
              <a:t> </a:t>
            </a:r>
            <a:r>
              <a:rPr dirty="0" sz="1300" spc="-120">
                <a:latin typeface="Arial"/>
                <a:cs typeface="Arial"/>
              </a:rPr>
              <a:t>s</a:t>
            </a:r>
            <a:r>
              <a:rPr dirty="0" sz="1300" spc="-15">
                <a:latin typeface="Arial"/>
                <a:cs typeface="Arial"/>
              </a:rPr>
              <a:t>u</a:t>
            </a:r>
            <a:r>
              <a:rPr dirty="0" sz="1300" spc="-15">
                <a:latin typeface="Arial"/>
                <a:cs typeface="Arial"/>
              </a:rPr>
              <a:t>mm</a:t>
            </a:r>
            <a:r>
              <a:rPr dirty="0" sz="1300" spc="-15">
                <a:latin typeface="Arial"/>
                <a:cs typeface="Arial"/>
              </a:rPr>
              <a:t>a</a:t>
            </a:r>
            <a:r>
              <a:rPr dirty="0" sz="1300" spc="110">
                <a:latin typeface="Arial"/>
                <a:cs typeface="Arial"/>
              </a:rPr>
              <a:t>r</a:t>
            </a:r>
            <a:r>
              <a:rPr dirty="0" sz="1300" spc="55">
                <a:latin typeface="Arial"/>
                <a:cs typeface="Arial"/>
              </a:rPr>
              <a:t>y</a:t>
            </a:r>
            <a:endParaRPr sz="1300">
              <a:latin typeface="Arial"/>
              <a:cs typeface="Arial"/>
            </a:endParaRPr>
          </a:p>
        </p:txBody>
      </p:sp>
      <p:sp>
        <p:nvSpPr>
          <p:cNvPr id="103" name="object 103"/>
          <p:cNvSpPr txBox="1"/>
          <p:nvPr/>
        </p:nvSpPr>
        <p:spPr>
          <a:xfrm>
            <a:off x="6246003" y="9350039"/>
            <a:ext cx="115570" cy="109855"/>
          </a:xfrm>
          <a:prstGeom prst="rect">
            <a:avLst/>
          </a:prstGeom>
        </p:spPr>
        <p:txBody>
          <a:bodyPr wrap="square" lIns="0" tIns="88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dirty="0" sz="550" spc="5">
                <a:latin typeface="Lucida Sans"/>
                <a:cs typeface="Lucida Sans"/>
              </a:rPr>
              <a:t>35</a:t>
            </a:r>
            <a:endParaRPr sz="550">
              <a:latin typeface="Lucida Sans"/>
              <a:cs typeface="Lucida Sans"/>
            </a:endParaRPr>
          </a:p>
        </p:txBody>
      </p:sp>
      <p:sp>
        <p:nvSpPr>
          <p:cNvPr id="104" name="object 104"/>
          <p:cNvSpPr txBox="1"/>
          <p:nvPr/>
        </p:nvSpPr>
        <p:spPr>
          <a:xfrm>
            <a:off x="12492206" y="9350039"/>
            <a:ext cx="115570" cy="109855"/>
          </a:xfrm>
          <a:prstGeom prst="rect">
            <a:avLst/>
          </a:prstGeom>
        </p:spPr>
        <p:txBody>
          <a:bodyPr wrap="square" lIns="0" tIns="88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dirty="0" sz="550" spc="5">
                <a:latin typeface="Lucida Sans"/>
                <a:cs typeface="Lucida Sans"/>
              </a:rPr>
              <a:t>36</a:t>
            </a:r>
            <a:endParaRPr sz="550">
              <a:latin typeface="Lucida Sans"/>
              <a:cs typeface="Lucida Sans"/>
            </a:endParaRPr>
          </a:p>
        </p:txBody>
      </p:sp>
      <p:sp>
        <p:nvSpPr>
          <p:cNvPr id="101" name="object 101"/>
          <p:cNvSpPr txBox="1"/>
          <p:nvPr/>
        </p:nvSpPr>
        <p:spPr>
          <a:xfrm>
            <a:off x="10706494" y="9201614"/>
            <a:ext cx="1754505" cy="1397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50" spc="-5">
                <a:solidFill>
                  <a:srgbClr val="8D3124"/>
                </a:solidFill>
                <a:latin typeface="Lucida Sans"/>
                <a:cs typeface="Lucida Sans"/>
              </a:rPr>
              <a:t>*</a:t>
            </a:r>
            <a:r>
              <a:rPr dirty="0" sz="750" spc="225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dirty="0" sz="750" spc="-5">
                <a:solidFill>
                  <a:srgbClr val="8D3124"/>
                </a:solidFill>
                <a:latin typeface="Lucida Sans"/>
                <a:cs typeface="Lucida Sans"/>
              </a:rPr>
              <a:t>under</a:t>
            </a:r>
            <a:r>
              <a:rPr dirty="0" sz="750" spc="-10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dirty="0" sz="750" spc="-5">
                <a:solidFill>
                  <a:srgbClr val="8D3124"/>
                </a:solidFill>
                <a:latin typeface="Lucida Sans"/>
                <a:cs typeface="Lucida Sans"/>
              </a:rPr>
              <a:t>uniform hashing</a:t>
            </a:r>
            <a:r>
              <a:rPr dirty="0" sz="750" spc="-10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dirty="0" sz="750" spc="-5">
                <a:solidFill>
                  <a:srgbClr val="8D3124"/>
                </a:solidFill>
                <a:latin typeface="Lucida Sans"/>
                <a:cs typeface="Lucida Sans"/>
              </a:rPr>
              <a:t>assumption</a:t>
            </a:r>
            <a:endParaRPr sz="750">
              <a:latin typeface="Lucida Sans"/>
              <a:cs typeface="Lucida Sans"/>
            </a:endParaRPr>
          </a:p>
        </p:txBody>
      </p:sp>
      <p:graphicFrame>
        <p:nvGraphicFramePr>
          <p:cNvPr id="102" name="object 102"/>
          <p:cNvGraphicFramePr>
            <a:graphicFrameLocks noGrp="1"/>
          </p:cNvGraphicFramePr>
          <p:nvPr/>
        </p:nvGraphicFramePr>
        <p:xfrm>
          <a:off x="6732473" y="5725057"/>
          <a:ext cx="5744210" cy="341121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05205"/>
                <a:gridCol w="467994"/>
                <a:gridCol w="467994"/>
                <a:gridCol w="467994"/>
                <a:gridCol w="628014"/>
                <a:gridCol w="628014"/>
                <a:gridCol w="628014"/>
                <a:gridCol w="605154"/>
                <a:gridCol w="846454"/>
              </a:tblGrid>
              <a:tr h="354965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140335">
                        <a:lnSpc>
                          <a:spcPct val="100000"/>
                        </a:lnSpc>
                      </a:pPr>
                      <a:r>
                        <a:rPr dirty="0" sz="750" spc="-5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implementation</a:t>
                      </a:r>
                      <a:endParaRPr sz="750">
                        <a:latin typeface="Lucida Sans"/>
                        <a:cs typeface="Lucida Sans"/>
                      </a:endParaRPr>
                    </a:p>
                  </a:txBody>
                  <a:tcPr marL="0" marR="0" marB="0" marT="0">
                    <a:lnR w="3175">
                      <a:solidFill>
                        <a:srgbClr val="E7EAEB"/>
                      </a:solidFill>
                      <a:prstDash val="solid"/>
                    </a:lnR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606060"/>
                    </a:solidFill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750" spc="-5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guarantee</a:t>
                      </a:r>
                      <a:endParaRPr sz="750">
                        <a:latin typeface="Lucida Sans"/>
                        <a:cs typeface="Lucida Sans"/>
                      </a:endParaRPr>
                    </a:p>
                  </a:txBody>
                  <a:tcPr marL="0" marR="0" marB="0" marT="381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606060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75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average</a:t>
                      </a:r>
                      <a:r>
                        <a:rPr dirty="0" sz="750" spc="-35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 </a:t>
                      </a:r>
                      <a:r>
                        <a:rPr dirty="0" sz="750" spc="-5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case</a:t>
                      </a:r>
                      <a:endParaRPr sz="750">
                        <a:latin typeface="Lucida Sans"/>
                        <a:cs typeface="Lucida Sans"/>
                      </a:endParaRPr>
                    </a:p>
                  </a:txBody>
                  <a:tcPr marL="0" marR="0" marB="0" marT="381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606060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198755" marR="116205" indent="-75565">
                        <a:lnSpc>
                          <a:spcPct val="108800"/>
                        </a:lnSpc>
                        <a:spcBef>
                          <a:spcPts val="655"/>
                        </a:spcBef>
                      </a:pPr>
                      <a:r>
                        <a:rPr dirty="0" sz="75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o</a:t>
                      </a:r>
                      <a:r>
                        <a:rPr dirty="0" sz="750" spc="-15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r</a:t>
                      </a:r>
                      <a:r>
                        <a:rPr dirty="0" sz="75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de</a:t>
                      </a:r>
                      <a:r>
                        <a:rPr dirty="0" sz="750" spc="-15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r</a:t>
                      </a:r>
                      <a:r>
                        <a:rPr dirty="0" sz="75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ed  </a:t>
                      </a:r>
                      <a:r>
                        <a:rPr dirty="0" sz="750" spc="-5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ops?</a:t>
                      </a:r>
                      <a:endParaRPr sz="750">
                        <a:latin typeface="Lucida Sans"/>
                        <a:cs typeface="Lucida Sans"/>
                      </a:endParaRPr>
                    </a:p>
                  </a:txBody>
                  <a:tcPr marL="0" marR="0" marB="0" marT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606060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222250" marR="213360" indent="120014">
                        <a:lnSpc>
                          <a:spcPct val="108800"/>
                        </a:lnSpc>
                        <a:spcBef>
                          <a:spcPts val="655"/>
                        </a:spcBef>
                      </a:pPr>
                      <a:r>
                        <a:rPr dirty="0" sz="750" spc="5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key </a:t>
                      </a:r>
                      <a:r>
                        <a:rPr dirty="0" sz="750" spc="1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 </a:t>
                      </a:r>
                      <a:r>
                        <a:rPr dirty="0" sz="75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interface</a:t>
                      </a:r>
                      <a:endParaRPr sz="750">
                        <a:latin typeface="Lucida Sans"/>
                        <a:cs typeface="Lucida Sans"/>
                      </a:endParaRPr>
                    </a:p>
                  </a:txBody>
                  <a:tcPr marL="0" marR="0" marB="0" marT="0">
                    <a:lnL w="3175">
                      <a:solidFill>
                        <a:srgbClr val="E7EAEB"/>
                      </a:solidFill>
                      <a:prstDash val="solid"/>
                    </a:lnL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606060"/>
                    </a:solidFill>
                  </a:tcPr>
                </a:tc>
              </a:tr>
              <a:tr h="35496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R w="3175">
                      <a:solidFill>
                        <a:srgbClr val="E7EAEB"/>
                      </a:solidFill>
                      <a:prstDash val="solid"/>
                    </a:lnR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6060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750" spc="-5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search</a:t>
                      </a:r>
                      <a:endParaRPr sz="750">
                        <a:latin typeface="Lucida Sans"/>
                        <a:cs typeface="Lucida Sans"/>
                      </a:endParaRPr>
                    </a:p>
                  </a:txBody>
                  <a:tcPr marL="0" marR="0" marB="0" marT="4445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6060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750" spc="-5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insert</a:t>
                      </a:r>
                      <a:endParaRPr sz="750">
                        <a:latin typeface="Lucida Sans"/>
                        <a:cs typeface="Lucida Sans"/>
                      </a:endParaRPr>
                    </a:p>
                  </a:txBody>
                  <a:tcPr marL="0" marR="0" marB="0" marT="4445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6060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750" spc="-5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delete</a:t>
                      </a:r>
                      <a:endParaRPr sz="750">
                        <a:latin typeface="Lucida Sans"/>
                        <a:cs typeface="Lucida Sans"/>
                      </a:endParaRPr>
                    </a:p>
                  </a:txBody>
                  <a:tcPr marL="0" marR="0" marB="0" marT="4445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6060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750" spc="-5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search</a:t>
                      </a:r>
                      <a:r>
                        <a:rPr dirty="0" sz="750" spc="-5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 </a:t>
                      </a:r>
                      <a:r>
                        <a:rPr dirty="0" sz="750" spc="-5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hit</a:t>
                      </a:r>
                      <a:endParaRPr sz="750">
                        <a:latin typeface="Lucida Sans"/>
                        <a:cs typeface="Lucida Sans"/>
                      </a:endParaRPr>
                    </a:p>
                  </a:txBody>
                  <a:tcPr marL="0" marR="0" marB="0" marT="4445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6060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750" spc="-5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insert</a:t>
                      </a:r>
                      <a:endParaRPr sz="750">
                        <a:latin typeface="Lucida Sans"/>
                        <a:cs typeface="Lucida Sans"/>
                      </a:endParaRPr>
                    </a:p>
                  </a:txBody>
                  <a:tcPr marL="0" marR="0" marB="0" marT="4445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6060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750" spc="-5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delete</a:t>
                      </a:r>
                      <a:endParaRPr sz="750">
                        <a:latin typeface="Lucida Sans"/>
                        <a:cs typeface="Lucida Sans"/>
                      </a:endParaRPr>
                    </a:p>
                  </a:txBody>
                  <a:tcPr marL="0" marR="0" marB="0" marT="4445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606060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606060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3175">
                      <a:solidFill>
                        <a:srgbClr val="E7EAEB"/>
                      </a:solidFill>
                      <a:prstDash val="solid"/>
                    </a:lnL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606060"/>
                    </a:solidFill>
                  </a:tcPr>
                </a:tc>
              </a:tr>
              <a:tr h="450215">
                <a:tc>
                  <a:txBody>
                    <a:bodyPr/>
                    <a:lstStyle/>
                    <a:p>
                      <a:pPr marL="120014" marR="67945" indent="-51435">
                        <a:lnSpc>
                          <a:spcPct val="119200"/>
                        </a:lnSpc>
                        <a:spcBef>
                          <a:spcPts val="575"/>
                        </a:spcBef>
                      </a:pPr>
                      <a:r>
                        <a:rPr dirty="0" sz="750" b="1">
                          <a:latin typeface="Tahoma"/>
                          <a:cs typeface="Tahoma"/>
                        </a:rPr>
                        <a:t>sequential</a:t>
                      </a:r>
                      <a:r>
                        <a:rPr dirty="0" sz="750" spc="5" b="1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750" b="1">
                          <a:latin typeface="Tahoma"/>
                          <a:cs typeface="Tahoma"/>
                        </a:rPr>
                        <a:t>search </a:t>
                      </a:r>
                      <a:r>
                        <a:rPr dirty="0" sz="750" spc="-204" b="1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750" b="1">
                          <a:latin typeface="Tahoma"/>
                          <a:cs typeface="Tahoma"/>
                        </a:rPr>
                        <a:t>(unordered </a:t>
                      </a:r>
                      <a:r>
                        <a:rPr dirty="0" sz="750" spc="-5" b="1">
                          <a:latin typeface="Tahoma"/>
                          <a:cs typeface="Tahoma"/>
                        </a:rPr>
                        <a:t>list)</a:t>
                      </a:r>
                      <a:endParaRPr sz="750">
                        <a:latin typeface="Tahoma"/>
                        <a:cs typeface="Tahoma"/>
                      </a:endParaRPr>
                    </a:p>
                  </a:txBody>
                  <a:tcPr marL="0" marR="0" marB="0" marT="73025"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900" i="1">
                          <a:latin typeface="Times New Roman"/>
                          <a:cs typeface="Times New Roman"/>
                        </a:rPr>
                        <a:t>N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900" i="1">
                          <a:latin typeface="Times New Roman"/>
                          <a:cs typeface="Times New Roman"/>
                        </a:rPr>
                        <a:t>N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900" i="1">
                          <a:latin typeface="Times New Roman"/>
                          <a:cs typeface="Times New Roman"/>
                        </a:rPr>
                        <a:t>N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900" spc="20">
                          <a:latin typeface="Times New Roman"/>
                          <a:cs typeface="Times New Roman"/>
                        </a:rPr>
                        <a:t>½</a:t>
                      </a:r>
                      <a:r>
                        <a:rPr dirty="0" sz="9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00" spc="20" i="1">
                          <a:latin typeface="Times New Roman"/>
                          <a:cs typeface="Times New Roman"/>
                        </a:rPr>
                        <a:t>N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900" i="1">
                          <a:latin typeface="Times New Roman"/>
                          <a:cs typeface="Times New Roman"/>
                        </a:rPr>
                        <a:t>N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900" spc="20">
                          <a:latin typeface="Times New Roman"/>
                          <a:cs typeface="Times New Roman"/>
                        </a:rPr>
                        <a:t>½</a:t>
                      </a:r>
                      <a:r>
                        <a:rPr dirty="0" sz="9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00" spc="20" i="1">
                          <a:latin typeface="Times New Roman"/>
                          <a:cs typeface="Times New Roman"/>
                        </a:rPr>
                        <a:t>N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algn="ctr" marL="635">
                        <a:lnSpc>
                          <a:spcPct val="100000"/>
                        </a:lnSpc>
                      </a:pPr>
                      <a:r>
                        <a:rPr dirty="0" sz="750" spc="-5">
                          <a:latin typeface="Lucida Sans Typewriter"/>
                          <a:cs typeface="Lucida Sans Typewriter"/>
                        </a:rPr>
                        <a:t>equals()</a:t>
                      </a:r>
                      <a:endParaRPr sz="750">
                        <a:latin typeface="Lucida Sans Typewriter"/>
                        <a:cs typeface="Lucida Sans Typewriter"/>
                      </a:endParaRPr>
                    </a:p>
                  </a:txBody>
                  <a:tcPr marL="0" marR="0" marB="0" marT="635">
                    <a:lnL w="3175">
                      <a:solidFill>
                        <a:srgbClr val="E7EAEB"/>
                      </a:solidFill>
                      <a:prstDash val="solid"/>
                    </a:lnL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D5D5D5"/>
                    </a:solidFill>
                  </a:tcPr>
                </a:tc>
              </a:tr>
              <a:tr h="450215">
                <a:tc>
                  <a:txBody>
                    <a:bodyPr/>
                    <a:lstStyle/>
                    <a:p>
                      <a:pPr marL="132715" marR="126364" indent="36830">
                        <a:lnSpc>
                          <a:spcPct val="119200"/>
                        </a:lnSpc>
                        <a:spcBef>
                          <a:spcPts val="575"/>
                        </a:spcBef>
                      </a:pPr>
                      <a:r>
                        <a:rPr dirty="0" sz="750" spc="5" b="1">
                          <a:latin typeface="Tahoma"/>
                          <a:cs typeface="Tahoma"/>
                        </a:rPr>
                        <a:t>binary search </a:t>
                      </a:r>
                      <a:r>
                        <a:rPr dirty="0" sz="750" spc="10" b="1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750" b="1">
                          <a:latin typeface="Tahoma"/>
                          <a:cs typeface="Tahoma"/>
                        </a:rPr>
                        <a:t>(</a:t>
                      </a:r>
                      <a:r>
                        <a:rPr dirty="0" sz="750" b="1">
                          <a:latin typeface="Tahoma"/>
                          <a:cs typeface="Tahoma"/>
                        </a:rPr>
                        <a:t>o</a:t>
                      </a:r>
                      <a:r>
                        <a:rPr dirty="0" sz="750" b="1">
                          <a:latin typeface="Tahoma"/>
                          <a:cs typeface="Tahoma"/>
                        </a:rPr>
                        <a:t>r</a:t>
                      </a:r>
                      <a:r>
                        <a:rPr dirty="0" sz="750" b="1">
                          <a:latin typeface="Tahoma"/>
                          <a:cs typeface="Tahoma"/>
                        </a:rPr>
                        <a:t>d</a:t>
                      </a:r>
                      <a:r>
                        <a:rPr dirty="0" sz="750" b="1">
                          <a:latin typeface="Tahoma"/>
                          <a:cs typeface="Tahoma"/>
                        </a:rPr>
                        <a:t>e</a:t>
                      </a:r>
                      <a:r>
                        <a:rPr dirty="0" sz="750" b="1">
                          <a:latin typeface="Tahoma"/>
                          <a:cs typeface="Tahoma"/>
                        </a:rPr>
                        <a:t>r</a:t>
                      </a:r>
                      <a:r>
                        <a:rPr dirty="0" sz="750" b="1">
                          <a:latin typeface="Tahoma"/>
                          <a:cs typeface="Tahoma"/>
                        </a:rPr>
                        <a:t>e</a:t>
                      </a:r>
                      <a:r>
                        <a:rPr dirty="0" sz="750" b="1">
                          <a:latin typeface="Tahoma"/>
                          <a:cs typeface="Tahoma"/>
                        </a:rPr>
                        <a:t>d</a:t>
                      </a:r>
                      <a:r>
                        <a:rPr dirty="0" sz="750" spc="25" b="1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750" b="1">
                          <a:latin typeface="Tahoma"/>
                          <a:cs typeface="Tahoma"/>
                        </a:rPr>
                        <a:t>a</a:t>
                      </a:r>
                      <a:r>
                        <a:rPr dirty="0" sz="750" b="1">
                          <a:latin typeface="Tahoma"/>
                          <a:cs typeface="Tahoma"/>
                        </a:rPr>
                        <a:t>rr</a:t>
                      </a:r>
                      <a:r>
                        <a:rPr dirty="0" sz="750" b="1">
                          <a:latin typeface="Tahoma"/>
                          <a:cs typeface="Tahoma"/>
                        </a:rPr>
                        <a:t>a</a:t>
                      </a:r>
                      <a:r>
                        <a:rPr dirty="0" sz="750" b="1">
                          <a:latin typeface="Tahoma"/>
                          <a:cs typeface="Tahoma"/>
                        </a:rPr>
                        <a:t>y)</a:t>
                      </a:r>
                      <a:endParaRPr sz="750">
                        <a:latin typeface="Tahoma"/>
                        <a:cs typeface="Tahoma"/>
                      </a:endParaRPr>
                    </a:p>
                  </a:txBody>
                  <a:tcPr marL="0" marR="0" marB="0" marT="73025"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900" spc="10">
                          <a:latin typeface="Times New Roman"/>
                          <a:cs typeface="Times New Roman"/>
                        </a:rPr>
                        <a:t>lg</a:t>
                      </a:r>
                      <a:r>
                        <a:rPr dirty="0" sz="9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00" spc="20" i="1">
                          <a:latin typeface="Times New Roman"/>
                          <a:cs typeface="Times New Roman"/>
                        </a:rPr>
                        <a:t>N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900" i="1">
                          <a:latin typeface="Times New Roman"/>
                          <a:cs typeface="Times New Roman"/>
                        </a:rPr>
                        <a:t>N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900" i="1">
                          <a:latin typeface="Times New Roman"/>
                          <a:cs typeface="Times New Roman"/>
                        </a:rPr>
                        <a:t>N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900" spc="10">
                          <a:latin typeface="Times New Roman"/>
                          <a:cs typeface="Times New Roman"/>
                        </a:rPr>
                        <a:t>lg</a:t>
                      </a:r>
                      <a:r>
                        <a:rPr dirty="0" sz="9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00" spc="20" i="1">
                          <a:latin typeface="Times New Roman"/>
                          <a:cs typeface="Times New Roman"/>
                        </a:rPr>
                        <a:t>N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900" spc="20">
                          <a:latin typeface="Times New Roman"/>
                          <a:cs typeface="Times New Roman"/>
                        </a:rPr>
                        <a:t>½</a:t>
                      </a:r>
                      <a:r>
                        <a:rPr dirty="0" sz="9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00" spc="20" i="1">
                          <a:latin typeface="Times New Roman"/>
                          <a:cs typeface="Times New Roman"/>
                        </a:rPr>
                        <a:t>N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900" spc="20">
                          <a:latin typeface="Times New Roman"/>
                          <a:cs typeface="Times New Roman"/>
                        </a:rPr>
                        <a:t>½</a:t>
                      </a:r>
                      <a:r>
                        <a:rPr dirty="0" sz="9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00" spc="20" i="1">
                          <a:latin typeface="Times New Roman"/>
                          <a:cs typeface="Times New Roman"/>
                        </a:rPr>
                        <a:t>N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800">
                          <a:latin typeface="MS UI Gothic"/>
                          <a:cs typeface="MS UI Gothic"/>
                        </a:rPr>
                        <a:t>✔</a:t>
                      </a:r>
                      <a:endParaRPr sz="800">
                        <a:latin typeface="MS UI Gothic"/>
                        <a:cs typeface="MS UI Gothic"/>
                      </a:endParaRPr>
                    </a:p>
                  </a:txBody>
                  <a:tcPr marL="0" marR="0" marB="0" marT="635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algn="ctr" marL="635">
                        <a:lnSpc>
                          <a:spcPct val="100000"/>
                        </a:lnSpc>
                      </a:pPr>
                      <a:r>
                        <a:rPr dirty="0" sz="750" spc="-5">
                          <a:latin typeface="Lucida Sans Typewriter"/>
                          <a:cs typeface="Lucida Sans Typewriter"/>
                        </a:rPr>
                        <a:t>compareTo()</a:t>
                      </a:r>
                      <a:endParaRPr sz="750">
                        <a:latin typeface="Lucida Sans Typewriter"/>
                        <a:cs typeface="Lucida Sans Typewriter"/>
                      </a:endParaRPr>
                    </a:p>
                  </a:txBody>
                  <a:tcPr marL="0" marR="0" marB="0" marT="635">
                    <a:lnL w="3175">
                      <a:solidFill>
                        <a:srgbClr val="E7EAEB"/>
                      </a:solidFill>
                      <a:prstDash val="solid"/>
                    </a:lnL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D5D5D5"/>
                    </a:solidFill>
                  </a:tcPr>
                </a:tc>
              </a:tr>
              <a:tr h="4502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750" spc="-15" b="1">
                          <a:latin typeface="Tahoma"/>
                          <a:cs typeface="Tahoma"/>
                        </a:rPr>
                        <a:t>BST</a:t>
                      </a:r>
                      <a:endParaRPr sz="750">
                        <a:latin typeface="Tahoma"/>
                        <a:cs typeface="Tahoma"/>
                      </a:endParaRPr>
                    </a:p>
                  </a:txBody>
                  <a:tcPr marL="0" marR="0" marB="0" marT="5080"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900" i="1">
                          <a:latin typeface="Times New Roman"/>
                          <a:cs typeface="Times New Roman"/>
                        </a:rPr>
                        <a:t>N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900" i="1">
                          <a:latin typeface="Times New Roman"/>
                          <a:cs typeface="Times New Roman"/>
                        </a:rPr>
                        <a:t>N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900" i="1">
                          <a:latin typeface="Times New Roman"/>
                          <a:cs typeface="Times New Roman"/>
                        </a:rPr>
                        <a:t>N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94615">
                        <a:lnSpc>
                          <a:spcPct val="100000"/>
                        </a:lnSpc>
                      </a:pPr>
                      <a:r>
                        <a:rPr dirty="0" sz="900" spc="10">
                          <a:latin typeface="Times New Roman"/>
                          <a:cs typeface="Times New Roman"/>
                        </a:rPr>
                        <a:t>1.39</a:t>
                      </a:r>
                      <a:r>
                        <a:rPr dirty="0" sz="9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00" spc="10">
                          <a:latin typeface="Times New Roman"/>
                          <a:cs typeface="Times New Roman"/>
                        </a:rPr>
                        <a:t>lg</a:t>
                      </a:r>
                      <a:r>
                        <a:rPr dirty="0" sz="9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00" spc="20" i="1">
                          <a:latin typeface="Times New Roman"/>
                          <a:cs typeface="Times New Roman"/>
                        </a:rPr>
                        <a:t>N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94615">
                        <a:lnSpc>
                          <a:spcPct val="100000"/>
                        </a:lnSpc>
                      </a:pPr>
                      <a:r>
                        <a:rPr dirty="0" sz="900" spc="10">
                          <a:latin typeface="Times New Roman"/>
                          <a:cs typeface="Times New Roman"/>
                        </a:rPr>
                        <a:t>1.39</a:t>
                      </a:r>
                      <a:r>
                        <a:rPr dirty="0" sz="9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00" spc="10">
                          <a:latin typeface="Times New Roman"/>
                          <a:cs typeface="Times New Roman"/>
                        </a:rPr>
                        <a:t>lg</a:t>
                      </a:r>
                      <a:r>
                        <a:rPr dirty="0" sz="9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00" spc="20" i="1">
                          <a:latin typeface="Times New Roman"/>
                          <a:cs typeface="Times New Roman"/>
                        </a:rPr>
                        <a:t>N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900">
                          <a:latin typeface="Times New Roman"/>
                          <a:cs typeface="Times New Roman"/>
                        </a:rPr>
                        <a:t>√</a:t>
                      </a:r>
                      <a:r>
                        <a:rPr dirty="0" sz="900" spc="-7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00" i="1">
                          <a:latin typeface="Times New Roman"/>
                          <a:cs typeface="Times New Roman"/>
                        </a:rPr>
                        <a:t>N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800">
                          <a:latin typeface="MS UI Gothic"/>
                          <a:cs typeface="MS UI Gothic"/>
                        </a:rPr>
                        <a:t>✔</a:t>
                      </a:r>
                      <a:endParaRPr sz="800">
                        <a:latin typeface="MS UI Gothic"/>
                        <a:cs typeface="MS UI Gothic"/>
                      </a:endParaRPr>
                    </a:p>
                  </a:txBody>
                  <a:tcPr marL="0" marR="0" marB="0" marT="635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algn="ctr" marL="635">
                        <a:lnSpc>
                          <a:spcPct val="100000"/>
                        </a:lnSpc>
                      </a:pPr>
                      <a:r>
                        <a:rPr dirty="0" sz="750" spc="-5">
                          <a:latin typeface="Lucida Sans Typewriter"/>
                          <a:cs typeface="Lucida Sans Typewriter"/>
                        </a:rPr>
                        <a:t>compareTo()</a:t>
                      </a:r>
                      <a:endParaRPr sz="750">
                        <a:latin typeface="Lucida Sans Typewriter"/>
                        <a:cs typeface="Lucida Sans Typewriter"/>
                      </a:endParaRPr>
                    </a:p>
                  </a:txBody>
                  <a:tcPr marL="0" marR="0" marB="0" marT="635">
                    <a:lnL w="3175">
                      <a:solidFill>
                        <a:srgbClr val="E7EAEB"/>
                      </a:solidFill>
                      <a:prstDash val="solid"/>
                    </a:lnL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D5D5D5"/>
                    </a:solidFill>
                  </a:tcPr>
                </a:tc>
              </a:tr>
              <a:tr h="4502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750" spc="25" b="1">
                          <a:latin typeface="Tahoma"/>
                          <a:cs typeface="Tahoma"/>
                        </a:rPr>
                        <a:t>red-black</a:t>
                      </a:r>
                      <a:r>
                        <a:rPr dirty="0" sz="750" spc="-25" b="1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750" spc="-15" b="1">
                          <a:latin typeface="Tahoma"/>
                          <a:cs typeface="Tahoma"/>
                        </a:rPr>
                        <a:t>BST</a:t>
                      </a:r>
                      <a:endParaRPr sz="750">
                        <a:latin typeface="Tahoma"/>
                        <a:cs typeface="Tahoma"/>
                      </a:endParaRPr>
                    </a:p>
                  </a:txBody>
                  <a:tcPr marL="0" marR="0" marB="0" marT="5080"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900" spc="15">
                          <a:latin typeface="Times New Roman"/>
                          <a:cs typeface="Times New Roman"/>
                        </a:rPr>
                        <a:t>2</a:t>
                      </a:r>
                      <a:r>
                        <a:rPr dirty="0" sz="9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00" spc="10">
                          <a:latin typeface="Times New Roman"/>
                          <a:cs typeface="Times New Roman"/>
                        </a:rPr>
                        <a:t>lg</a:t>
                      </a:r>
                      <a:r>
                        <a:rPr dirty="0" sz="9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00" spc="20" i="1">
                          <a:latin typeface="Times New Roman"/>
                          <a:cs typeface="Times New Roman"/>
                        </a:rPr>
                        <a:t>N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900" spc="15">
                          <a:latin typeface="Times New Roman"/>
                          <a:cs typeface="Times New Roman"/>
                        </a:rPr>
                        <a:t>2</a:t>
                      </a:r>
                      <a:r>
                        <a:rPr dirty="0" sz="9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00" spc="10">
                          <a:latin typeface="Times New Roman"/>
                          <a:cs typeface="Times New Roman"/>
                        </a:rPr>
                        <a:t>lg</a:t>
                      </a:r>
                      <a:r>
                        <a:rPr dirty="0" sz="9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00" spc="20" i="1">
                          <a:latin typeface="Times New Roman"/>
                          <a:cs typeface="Times New Roman"/>
                        </a:rPr>
                        <a:t>N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900" spc="15">
                          <a:latin typeface="Times New Roman"/>
                          <a:cs typeface="Times New Roman"/>
                        </a:rPr>
                        <a:t>2</a:t>
                      </a:r>
                      <a:r>
                        <a:rPr dirty="0" sz="9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00" spc="10">
                          <a:latin typeface="Times New Roman"/>
                          <a:cs typeface="Times New Roman"/>
                        </a:rPr>
                        <a:t>lg</a:t>
                      </a:r>
                      <a:r>
                        <a:rPr dirty="0" sz="9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00" spc="20" i="1">
                          <a:latin typeface="Times New Roman"/>
                          <a:cs typeface="Times New Roman"/>
                        </a:rPr>
                        <a:t>N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124460">
                        <a:lnSpc>
                          <a:spcPct val="100000"/>
                        </a:lnSpc>
                      </a:pPr>
                      <a:r>
                        <a:rPr dirty="0" sz="900" spc="10">
                          <a:latin typeface="Times New Roman"/>
                          <a:cs typeface="Times New Roman"/>
                        </a:rPr>
                        <a:t>1.0</a:t>
                      </a:r>
                      <a:r>
                        <a:rPr dirty="0" sz="9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00" spc="10">
                          <a:latin typeface="Times New Roman"/>
                          <a:cs typeface="Times New Roman"/>
                        </a:rPr>
                        <a:t>lg</a:t>
                      </a:r>
                      <a:r>
                        <a:rPr dirty="0" sz="9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00" spc="20" i="1">
                          <a:latin typeface="Times New Roman"/>
                          <a:cs typeface="Times New Roman"/>
                        </a:rPr>
                        <a:t>N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124460">
                        <a:lnSpc>
                          <a:spcPct val="100000"/>
                        </a:lnSpc>
                      </a:pPr>
                      <a:r>
                        <a:rPr dirty="0" sz="900" spc="10">
                          <a:latin typeface="Times New Roman"/>
                          <a:cs typeface="Times New Roman"/>
                        </a:rPr>
                        <a:t>1.0</a:t>
                      </a:r>
                      <a:r>
                        <a:rPr dirty="0" sz="9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00" spc="10">
                          <a:latin typeface="Times New Roman"/>
                          <a:cs typeface="Times New Roman"/>
                        </a:rPr>
                        <a:t>lg</a:t>
                      </a:r>
                      <a:r>
                        <a:rPr dirty="0" sz="9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00" spc="20" i="1">
                          <a:latin typeface="Times New Roman"/>
                          <a:cs typeface="Times New Roman"/>
                        </a:rPr>
                        <a:t>N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124460">
                        <a:lnSpc>
                          <a:spcPct val="100000"/>
                        </a:lnSpc>
                      </a:pPr>
                      <a:r>
                        <a:rPr dirty="0" sz="900" spc="10">
                          <a:latin typeface="Times New Roman"/>
                          <a:cs typeface="Times New Roman"/>
                        </a:rPr>
                        <a:t>1.0</a:t>
                      </a:r>
                      <a:r>
                        <a:rPr dirty="0" sz="9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00" spc="10">
                          <a:latin typeface="Times New Roman"/>
                          <a:cs typeface="Times New Roman"/>
                        </a:rPr>
                        <a:t>lg</a:t>
                      </a:r>
                      <a:r>
                        <a:rPr dirty="0" sz="9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00" spc="20" i="1">
                          <a:latin typeface="Times New Roman"/>
                          <a:cs typeface="Times New Roman"/>
                        </a:rPr>
                        <a:t>N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800">
                          <a:latin typeface="MS UI Gothic"/>
                          <a:cs typeface="MS UI Gothic"/>
                        </a:rPr>
                        <a:t>✔</a:t>
                      </a:r>
                      <a:endParaRPr sz="800">
                        <a:latin typeface="MS UI Gothic"/>
                        <a:cs typeface="MS UI Gothic"/>
                      </a:endParaRPr>
                    </a:p>
                  </a:txBody>
                  <a:tcPr marL="0" marR="0" marB="0" marT="635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algn="ctr" marL="635">
                        <a:lnSpc>
                          <a:spcPct val="100000"/>
                        </a:lnSpc>
                      </a:pPr>
                      <a:r>
                        <a:rPr dirty="0" sz="750" spc="-5">
                          <a:latin typeface="Lucida Sans Typewriter"/>
                          <a:cs typeface="Lucida Sans Typewriter"/>
                        </a:rPr>
                        <a:t>compareTo()</a:t>
                      </a:r>
                      <a:endParaRPr sz="750">
                        <a:latin typeface="Lucida Sans Typewriter"/>
                        <a:cs typeface="Lucida Sans Typewriter"/>
                      </a:endParaRPr>
                    </a:p>
                  </a:txBody>
                  <a:tcPr marL="0" marR="0" marB="0" marT="635">
                    <a:lnL w="3175">
                      <a:solidFill>
                        <a:srgbClr val="E7EAEB"/>
                      </a:solidFill>
                      <a:prstDash val="solid"/>
                    </a:lnL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D5D5D5"/>
                    </a:solidFill>
                  </a:tcPr>
                </a:tc>
              </a:tr>
              <a:tr h="4502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750" b="1">
                          <a:latin typeface="Tahoma"/>
                          <a:cs typeface="Tahoma"/>
                        </a:rPr>
                        <a:t>separate</a:t>
                      </a:r>
                      <a:r>
                        <a:rPr dirty="0" sz="750" spc="-20" b="1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750" spc="5" b="1">
                          <a:latin typeface="Tahoma"/>
                          <a:cs typeface="Tahoma"/>
                        </a:rPr>
                        <a:t>chaining</a:t>
                      </a:r>
                      <a:endParaRPr sz="750">
                        <a:latin typeface="Tahoma"/>
                        <a:cs typeface="Tahoma"/>
                      </a:endParaRPr>
                    </a:p>
                  </a:txBody>
                  <a:tcPr marL="0" marR="0" marB="0" marT="5080"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900" i="1">
                          <a:latin typeface="Times New Roman"/>
                          <a:cs typeface="Times New Roman"/>
                        </a:rPr>
                        <a:t>N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900" i="1">
                          <a:latin typeface="Times New Roman"/>
                          <a:cs typeface="Times New Roman"/>
                        </a:rPr>
                        <a:t>N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900" i="1">
                          <a:latin typeface="Times New Roman"/>
                          <a:cs typeface="Times New Roman"/>
                        </a:rPr>
                        <a:t>N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900" spc="10">
                          <a:latin typeface="Times New Roman"/>
                          <a:cs typeface="Times New Roman"/>
                        </a:rPr>
                        <a:t>3-5</a:t>
                      </a:r>
                      <a:r>
                        <a:rPr dirty="0" sz="9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00" spc="15">
                          <a:solidFill>
                            <a:srgbClr val="AB3326"/>
                          </a:solidFill>
                          <a:latin typeface="Times New Roman"/>
                          <a:cs typeface="Times New Roman"/>
                        </a:rPr>
                        <a:t>*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900" spc="10">
                          <a:latin typeface="Times New Roman"/>
                          <a:cs typeface="Times New Roman"/>
                        </a:rPr>
                        <a:t>3-5</a:t>
                      </a:r>
                      <a:r>
                        <a:rPr dirty="0" sz="9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00" spc="15">
                          <a:solidFill>
                            <a:srgbClr val="AB3326"/>
                          </a:solidFill>
                          <a:latin typeface="Times New Roman"/>
                          <a:cs typeface="Times New Roman"/>
                        </a:rPr>
                        <a:t>*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900" spc="10">
                          <a:latin typeface="Times New Roman"/>
                          <a:cs typeface="Times New Roman"/>
                        </a:rPr>
                        <a:t>3-5</a:t>
                      </a:r>
                      <a:r>
                        <a:rPr dirty="0" sz="9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00" spc="15">
                          <a:solidFill>
                            <a:srgbClr val="AB3326"/>
                          </a:solidFill>
                          <a:latin typeface="Times New Roman"/>
                          <a:cs typeface="Times New Roman"/>
                        </a:rPr>
                        <a:t>*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37795" marR="129539" indent="56515">
                        <a:lnSpc>
                          <a:spcPct val="113999"/>
                        </a:lnSpc>
                        <a:spcBef>
                          <a:spcPts val="575"/>
                        </a:spcBef>
                      </a:pPr>
                      <a:r>
                        <a:rPr dirty="0" sz="750" spc="-5">
                          <a:latin typeface="Lucida Sans Typewriter"/>
                          <a:cs typeface="Lucida Sans Typewriter"/>
                        </a:rPr>
                        <a:t>equals() </a:t>
                      </a:r>
                      <a:r>
                        <a:rPr dirty="0" sz="750" spc="-440">
                          <a:latin typeface="Lucida Sans Typewriter"/>
                          <a:cs typeface="Lucida Sans Typewriter"/>
                        </a:rPr>
                        <a:t> </a:t>
                      </a:r>
                      <a:r>
                        <a:rPr dirty="0" sz="750">
                          <a:latin typeface="Lucida Sans Typewriter"/>
                          <a:cs typeface="Lucida Sans Typewriter"/>
                        </a:rPr>
                        <a:t>hashCode()</a:t>
                      </a:r>
                      <a:endParaRPr sz="750">
                        <a:latin typeface="Lucida Sans Typewriter"/>
                        <a:cs typeface="Lucida Sans Typewriter"/>
                      </a:endParaRPr>
                    </a:p>
                  </a:txBody>
                  <a:tcPr marL="0" marR="0" marB="0" marT="73025">
                    <a:lnL w="3175">
                      <a:solidFill>
                        <a:srgbClr val="E7EAEB"/>
                      </a:solidFill>
                      <a:prstDash val="solid"/>
                    </a:lnL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02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750" spc="5" b="1">
                          <a:latin typeface="Tahoma"/>
                          <a:cs typeface="Tahoma"/>
                        </a:rPr>
                        <a:t>linear</a:t>
                      </a:r>
                      <a:r>
                        <a:rPr dirty="0" sz="750" spc="-15" b="1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750" spc="10" b="1">
                          <a:latin typeface="Tahoma"/>
                          <a:cs typeface="Tahoma"/>
                        </a:rPr>
                        <a:t>probing</a:t>
                      </a:r>
                      <a:endParaRPr sz="750">
                        <a:latin typeface="Tahoma"/>
                        <a:cs typeface="Tahoma"/>
                      </a:endParaRPr>
                    </a:p>
                  </a:txBody>
                  <a:tcPr marL="0" marR="0" marB="0" marT="5080"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900" i="1">
                          <a:latin typeface="Times New Roman"/>
                          <a:cs typeface="Times New Roman"/>
                        </a:rPr>
                        <a:t>N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900" i="1">
                          <a:latin typeface="Times New Roman"/>
                          <a:cs typeface="Times New Roman"/>
                        </a:rPr>
                        <a:t>N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900" i="1">
                          <a:latin typeface="Times New Roman"/>
                          <a:cs typeface="Times New Roman"/>
                        </a:rPr>
                        <a:t>N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900" spc="10">
                          <a:latin typeface="Times New Roman"/>
                          <a:cs typeface="Times New Roman"/>
                        </a:rPr>
                        <a:t>3-5</a:t>
                      </a:r>
                      <a:r>
                        <a:rPr dirty="0" sz="9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00" spc="15">
                          <a:solidFill>
                            <a:srgbClr val="AB3326"/>
                          </a:solidFill>
                          <a:latin typeface="Times New Roman"/>
                          <a:cs typeface="Times New Roman"/>
                        </a:rPr>
                        <a:t>*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900" spc="10">
                          <a:latin typeface="Times New Roman"/>
                          <a:cs typeface="Times New Roman"/>
                        </a:rPr>
                        <a:t>3-5</a:t>
                      </a:r>
                      <a:r>
                        <a:rPr dirty="0" sz="9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00" spc="15">
                          <a:solidFill>
                            <a:srgbClr val="AB3326"/>
                          </a:solidFill>
                          <a:latin typeface="Times New Roman"/>
                          <a:cs typeface="Times New Roman"/>
                        </a:rPr>
                        <a:t>*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900" spc="10">
                          <a:latin typeface="Times New Roman"/>
                          <a:cs typeface="Times New Roman"/>
                        </a:rPr>
                        <a:t>3-5</a:t>
                      </a:r>
                      <a:r>
                        <a:rPr dirty="0" sz="9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00" spc="15">
                          <a:solidFill>
                            <a:srgbClr val="AB3326"/>
                          </a:solidFill>
                          <a:latin typeface="Times New Roman"/>
                          <a:cs typeface="Times New Roman"/>
                        </a:rPr>
                        <a:t>*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37795" marR="129539" indent="56515">
                        <a:lnSpc>
                          <a:spcPct val="113999"/>
                        </a:lnSpc>
                        <a:spcBef>
                          <a:spcPts val="575"/>
                        </a:spcBef>
                      </a:pPr>
                      <a:r>
                        <a:rPr dirty="0" sz="750" spc="-5">
                          <a:latin typeface="Lucida Sans Typewriter"/>
                          <a:cs typeface="Lucida Sans Typewriter"/>
                        </a:rPr>
                        <a:t>equals() </a:t>
                      </a:r>
                      <a:r>
                        <a:rPr dirty="0" sz="750" spc="-440">
                          <a:latin typeface="Lucida Sans Typewriter"/>
                          <a:cs typeface="Lucida Sans Typewriter"/>
                        </a:rPr>
                        <a:t> </a:t>
                      </a:r>
                      <a:r>
                        <a:rPr dirty="0" sz="750">
                          <a:latin typeface="Lucida Sans Typewriter"/>
                          <a:cs typeface="Lucida Sans Typewriter"/>
                        </a:rPr>
                        <a:t>hashCode()</a:t>
                      </a:r>
                      <a:endParaRPr sz="750">
                        <a:latin typeface="Lucida Sans Typewriter"/>
                        <a:cs typeface="Lucida Sans Typewriter"/>
                      </a:endParaRPr>
                    </a:p>
                  </a:txBody>
                  <a:tcPr marL="0" marR="0" marB="0" marT="73025">
                    <a:lnL w="3175">
                      <a:solidFill>
                        <a:srgbClr val="E7EAEB"/>
                      </a:solidFill>
                      <a:prstDash val="solid"/>
                    </a:lnL>
                    <a:lnT w="3175">
                      <a:solidFill>
                        <a:srgbClr val="E7EAEB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46176" y="237122"/>
            <a:ext cx="6066790" cy="4549775"/>
          </a:xfrm>
          <a:custGeom>
            <a:avLst/>
            <a:gdLst/>
            <a:ahLst/>
            <a:cxnLst/>
            <a:rect l="l" t="t" r="r" b="b"/>
            <a:pathLst>
              <a:path w="6066790" h="4549775">
                <a:moveTo>
                  <a:pt x="0" y="0"/>
                </a:moveTo>
                <a:lnTo>
                  <a:pt x="6066212" y="0"/>
                </a:lnTo>
                <a:lnTo>
                  <a:pt x="6066212" y="4549659"/>
                </a:lnTo>
                <a:lnTo>
                  <a:pt x="0" y="4549659"/>
                </a:lnTo>
                <a:lnTo>
                  <a:pt x="0" y="0"/>
                </a:lnTo>
                <a:close/>
              </a:path>
            </a:pathLst>
          </a:custGeom>
          <a:solidFill>
            <a:srgbClr val="F5F5F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4746440" y="269554"/>
            <a:ext cx="58419" cy="21590"/>
          </a:xfrm>
          <a:custGeom>
            <a:avLst/>
            <a:gdLst/>
            <a:ahLst/>
            <a:cxnLst/>
            <a:rect l="l" t="t" r="r" b="b"/>
            <a:pathLst>
              <a:path w="58420" h="21589">
                <a:moveTo>
                  <a:pt x="0" y="21109"/>
                </a:moveTo>
                <a:lnTo>
                  <a:pt x="58072" y="0"/>
                </a:lnTo>
              </a:path>
            </a:pathLst>
          </a:custGeom>
          <a:ln w="7332">
            <a:solidFill>
              <a:srgbClr val="6D6E7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4606538" y="237123"/>
            <a:ext cx="53340" cy="132715"/>
          </a:xfrm>
          <a:custGeom>
            <a:avLst/>
            <a:gdLst/>
            <a:ahLst/>
            <a:cxnLst/>
            <a:rect l="l" t="t" r="r" b="b"/>
            <a:pathLst>
              <a:path w="53339" h="132715">
                <a:moveTo>
                  <a:pt x="0" y="132702"/>
                </a:moveTo>
                <a:lnTo>
                  <a:pt x="7918" y="108968"/>
                </a:lnTo>
                <a:lnTo>
                  <a:pt x="5279" y="93121"/>
                </a:lnTo>
                <a:lnTo>
                  <a:pt x="52793" y="72012"/>
                </a:lnTo>
                <a:lnTo>
                  <a:pt x="52792" y="3391"/>
                </a:lnTo>
                <a:lnTo>
                  <a:pt x="45997" y="0"/>
                </a:lnTo>
              </a:path>
            </a:pathLst>
          </a:custGeom>
          <a:ln w="7330">
            <a:solidFill>
              <a:srgbClr val="6D6E7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185045" y="237123"/>
            <a:ext cx="19685" cy="17145"/>
          </a:xfrm>
          <a:custGeom>
            <a:avLst/>
            <a:gdLst/>
            <a:ahLst/>
            <a:cxnLst/>
            <a:rect l="l" t="t" r="r" b="b"/>
            <a:pathLst>
              <a:path w="19685" h="17145">
                <a:moveTo>
                  <a:pt x="19383" y="16614"/>
                </a:moveTo>
                <a:lnTo>
                  <a:pt x="0" y="0"/>
                </a:lnTo>
              </a:path>
            </a:pathLst>
          </a:custGeom>
          <a:ln w="7331">
            <a:solidFill>
              <a:srgbClr val="6D6E7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323638" y="237123"/>
            <a:ext cx="8255" cy="19685"/>
          </a:xfrm>
          <a:custGeom>
            <a:avLst/>
            <a:gdLst/>
            <a:ahLst/>
            <a:cxnLst/>
            <a:rect l="l" t="t" r="r" b="b"/>
            <a:pathLst>
              <a:path w="8254" h="19685">
                <a:moveTo>
                  <a:pt x="0" y="19238"/>
                </a:moveTo>
                <a:lnTo>
                  <a:pt x="8018" y="0"/>
                </a:lnTo>
              </a:path>
            </a:pathLst>
          </a:custGeom>
          <a:ln w="7330">
            <a:solidFill>
              <a:srgbClr val="6D6E7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501373" y="237123"/>
            <a:ext cx="42545" cy="29845"/>
          </a:xfrm>
          <a:custGeom>
            <a:avLst/>
            <a:gdLst/>
            <a:ahLst/>
            <a:cxnLst/>
            <a:rect l="l" t="t" r="r" b="b"/>
            <a:pathLst>
              <a:path w="42545" h="29845">
                <a:moveTo>
                  <a:pt x="0" y="21876"/>
                </a:moveTo>
                <a:lnTo>
                  <a:pt x="42249" y="29778"/>
                </a:lnTo>
                <a:lnTo>
                  <a:pt x="38111" y="0"/>
                </a:lnTo>
              </a:path>
            </a:pathLst>
          </a:custGeom>
          <a:ln w="7331">
            <a:solidFill>
              <a:srgbClr val="6D6E7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46176" y="340785"/>
            <a:ext cx="21590" cy="6350"/>
          </a:xfrm>
          <a:custGeom>
            <a:avLst/>
            <a:gdLst/>
            <a:ahLst/>
            <a:cxnLst/>
            <a:rect l="l" t="t" r="r" b="b"/>
            <a:pathLst>
              <a:path w="21589" h="6350">
                <a:moveTo>
                  <a:pt x="0" y="5781"/>
                </a:moveTo>
                <a:lnTo>
                  <a:pt x="21022" y="0"/>
                </a:lnTo>
              </a:path>
            </a:pathLst>
          </a:custGeom>
          <a:ln w="7332">
            <a:solidFill>
              <a:srgbClr val="6D6E7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709471" y="237123"/>
            <a:ext cx="43815" cy="114300"/>
          </a:xfrm>
          <a:custGeom>
            <a:avLst/>
            <a:gdLst/>
            <a:ahLst/>
            <a:cxnLst/>
            <a:rect l="l" t="t" r="r" b="b"/>
            <a:pathLst>
              <a:path w="43814" h="114300">
                <a:moveTo>
                  <a:pt x="0" y="114216"/>
                </a:moveTo>
                <a:lnTo>
                  <a:pt x="36969" y="53541"/>
                </a:lnTo>
                <a:lnTo>
                  <a:pt x="43190" y="0"/>
                </a:lnTo>
              </a:path>
            </a:pathLst>
          </a:custGeom>
          <a:ln w="7330">
            <a:solidFill>
              <a:srgbClr val="6D6E7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379954" y="237123"/>
            <a:ext cx="1905" cy="67310"/>
          </a:xfrm>
          <a:custGeom>
            <a:avLst/>
            <a:gdLst/>
            <a:ahLst/>
            <a:cxnLst/>
            <a:rect l="l" t="t" r="r" b="b"/>
            <a:pathLst>
              <a:path w="1904" h="67310">
                <a:moveTo>
                  <a:pt x="1757" y="66734"/>
                </a:moveTo>
                <a:lnTo>
                  <a:pt x="0" y="0"/>
                </a:lnTo>
              </a:path>
            </a:pathLst>
          </a:custGeom>
          <a:ln w="7329">
            <a:solidFill>
              <a:srgbClr val="6D6E7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440278" y="237123"/>
            <a:ext cx="20955" cy="11430"/>
          </a:xfrm>
          <a:custGeom>
            <a:avLst/>
            <a:gdLst/>
            <a:ahLst/>
            <a:cxnLst/>
            <a:rect l="l" t="t" r="r" b="b"/>
            <a:pathLst>
              <a:path w="20954" h="11429">
                <a:moveTo>
                  <a:pt x="0" y="0"/>
                </a:moveTo>
                <a:lnTo>
                  <a:pt x="20637" y="11307"/>
                </a:lnTo>
              </a:path>
            </a:pathLst>
          </a:custGeom>
          <a:ln w="7331">
            <a:solidFill>
              <a:srgbClr val="6D6E71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2" name="object 12"/>
          <p:cNvGrpSpPr/>
          <p:nvPr/>
        </p:nvGrpSpPr>
        <p:grpSpPr>
          <a:xfrm>
            <a:off x="342510" y="233456"/>
            <a:ext cx="6073775" cy="4557395"/>
            <a:chOff x="342510" y="233456"/>
            <a:chExt cx="6073775" cy="4557395"/>
          </a:xfrm>
        </p:grpSpPr>
        <p:sp>
          <p:nvSpPr>
            <p:cNvPr id="13" name="object 13"/>
            <p:cNvSpPr/>
            <p:nvPr/>
          </p:nvSpPr>
          <p:spPr>
            <a:xfrm>
              <a:off x="4659331" y="309135"/>
              <a:ext cx="119380" cy="84455"/>
            </a:xfrm>
            <a:custGeom>
              <a:avLst/>
              <a:gdLst/>
              <a:ahLst/>
              <a:cxnLst/>
              <a:rect l="l" t="t" r="r" b="b"/>
              <a:pathLst>
                <a:path w="119379" h="84454">
                  <a:moveTo>
                    <a:pt x="0" y="0"/>
                  </a:moveTo>
                  <a:lnTo>
                    <a:pt x="50139" y="42204"/>
                  </a:lnTo>
                  <a:lnTo>
                    <a:pt x="118786" y="84409"/>
                  </a:lnTo>
                </a:path>
              </a:pathLst>
            </a:custGeom>
            <a:ln w="7331">
              <a:solidFill>
                <a:srgbClr val="6D6E7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42510" y="233456"/>
              <a:ext cx="6073544" cy="4556992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746021" y="3731452"/>
            <a:ext cx="1532255" cy="1250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50" spc="65" b="1">
                <a:latin typeface="Tahoma"/>
                <a:cs typeface="Tahoma"/>
                <a:hlinkClick r:id="rId3"/>
              </a:rPr>
              <a:t>http://algs4.cs.princeton.edu</a:t>
            </a:r>
            <a:r>
              <a:rPr dirty="0" sz="650" spc="-120" b="1">
                <a:latin typeface="Tahoma"/>
                <a:cs typeface="Tahoma"/>
                <a:hlinkClick r:id="rId3"/>
              </a:rPr>
              <a:t> </a:t>
            </a:r>
            <a:endParaRPr sz="650">
              <a:latin typeface="Tahoma"/>
              <a:cs typeface="Tahoma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749011" y="1806992"/>
            <a:ext cx="5271770" cy="1907539"/>
            <a:chOff x="749011" y="1806992"/>
            <a:chExt cx="5271770" cy="1907539"/>
          </a:xfrm>
        </p:grpSpPr>
        <p:sp>
          <p:nvSpPr>
            <p:cNvPr id="17" name="object 17"/>
            <p:cNvSpPr/>
            <p:nvPr/>
          </p:nvSpPr>
          <p:spPr>
            <a:xfrm>
              <a:off x="2976428" y="2103194"/>
              <a:ext cx="3039745" cy="0"/>
            </a:xfrm>
            <a:custGeom>
              <a:avLst/>
              <a:gdLst/>
              <a:ahLst/>
              <a:cxnLst/>
              <a:rect l="l" t="t" r="r" b="b"/>
              <a:pathLst>
                <a:path w="3039745" h="0">
                  <a:moveTo>
                    <a:pt x="0" y="0"/>
                  </a:moveTo>
                  <a:lnTo>
                    <a:pt x="3039461" y="0"/>
                  </a:lnTo>
                </a:path>
              </a:pathLst>
            </a:custGeom>
            <a:ln w="88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749011" y="1806992"/>
              <a:ext cx="1522730" cy="1907539"/>
            </a:xfrm>
            <a:custGeom>
              <a:avLst/>
              <a:gdLst/>
              <a:ahLst/>
              <a:cxnLst/>
              <a:rect l="l" t="t" r="r" b="b"/>
              <a:pathLst>
                <a:path w="1522730" h="1907539">
                  <a:moveTo>
                    <a:pt x="1522477" y="0"/>
                  </a:moveTo>
                  <a:lnTo>
                    <a:pt x="0" y="0"/>
                  </a:lnTo>
                  <a:lnTo>
                    <a:pt x="0" y="1907539"/>
                  </a:lnTo>
                  <a:lnTo>
                    <a:pt x="1522477" y="1907539"/>
                  </a:lnTo>
                  <a:lnTo>
                    <a:pt x="1522477" y="0"/>
                  </a:lnTo>
                  <a:close/>
                </a:path>
              </a:pathLst>
            </a:custGeom>
            <a:solidFill>
              <a:srgbClr val="E6E7E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826894" y="3535891"/>
            <a:ext cx="1367155" cy="1314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700" spc="35">
                <a:solidFill>
                  <a:srgbClr val="231F20"/>
                </a:solidFill>
                <a:latin typeface="Garamond"/>
                <a:cs typeface="Garamond"/>
              </a:rPr>
              <a:t>R</a:t>
            </a:r>
            <a:r>
              <a:rPr dirty="0" sz="450" spc="35">
                <a:solidFill>
                  <a:srgbClr val="231F20"/>
                </a:solidFill>
                <a:latin typeface="Garamond"/>
                <a:cs typeface="Garamond"/>
              </a:rPr>
              <a:t>OBERT</a:t>
            </a:r>
            <a:r>
              <a:rPr dirty="0" sz="450" spc="80">
                <a:solidFill>
                  <a:srgbClr val="231F20"/>
                </a:solidFill>
                <a:latin typeface="Garamond"/>
                <a:cs typeface="Garamond"/>
              </a:rPr>
              <a:t> </a:t>
            </a:r>
            <a:r>
              <a:rPr dirty="0" sz="700" spc="35">
                <a:solidFill>
                  <a:srgbClr val="231F20"/>
                </a:solidFill>
                <a:latin typeface="Garamond"/>
                <a:cs typeface="Garamond"/>
              </a:rPr>
              <a:t>S</a:t>
            </a:r>
            <a:r>
              <a:rPr dirty="0" sz="450" spc="35">
                <a:solidFill>
                  <a:srgbClr val="231F20"/>
                </a:solidFill>
                <a:latin typeface="Garamond"/>
                <a:cs typeface="Garamond"/>
              </a:rPr>
              <a:t>EDGEWICK </a:t>
            </a:r>
            <a:r>
              <a:rPr dirty="0" sz="450" spc="114">
                <a:solidFill>
                  <a:srgbClr val="231F20"/>
                </a:solidFill>
                <a:latin typeface="Garamond"/>
                <a:cs typeface="Garamond"/>
              </a:rPr>
              <a:t> </a:t>
            </a:r>
            <a:r>
              <a:rPr dirty="0" sz="700" spc="-200">
                <a:solidFill>
                  <a:srgbClr val="231F20"/>
                </a:solidFill>
                <a:latin typeface="Garamond"/>
                <a:cs typeface="Garamond"/>
              </a:rPr>
              <a:t>|</a:t>
            </a:r>
            <a:r>
              <a:rPr dirty="0" sz="700" spc="210">
                <a:solidFill>
                  <a:srgbClr val="231F20"/>
                </a:solidFill>
                <a:latin typeface="Garamond"/>
                <a:cs typeface="Garamond"/>
              </a:rPr>
              <a:t> </a:t>
            </a:r>
            <a:r>
              <a:rPr dirty="0" sz="700" spc="30">
                <a:solidFill>
                  <a:srgbClr val="231F20"/>
                </a:solidFill>
                <a:latin typeface="Garamond"/>
                <a:cs typeface="Garamond"/>
              </a:rPr>
              <a:t>K</a:t>
            </a:r>
            <a:r>
              <a:rPr dirty="0" sz="450" spc="30">
                <a:solidFill>
                  <a:srgbClr val="231F20"/>
                </a:solidFill>
                <a:latin typeface="Garamond"/>
                <a:cs typeface="Garamond"/>
              </a:rPr>
              <a:t>EVIN</a:t>
            </a:r>
            <a:r>
              <a:rPr dirty="0" sz="450" spc="80">
                <a:solidFill>
                  <a:srgbClr val="231F20"/>
                </a:solidFill>
                <a:latin typeface="Garamond"/>
                <a:cs typeface="Garamond"/>
              </a:rPr>
              <a:t> </a:t>
            </a:r>
            <a:r>
              <a:rPr dirty="0" sz="700" spc="40">
                <a:solidFill>
                  <a:srgbClr val="231F20"/>
                </a:solidFill>
                <a:latin typeface="Garamond"/>
                <a:cs typeface="Garamond"/>
              </a:rPr>
              <a:t>W</a:t>
            </a:r>
            <a:r>
              <a:rPr dirty="0" sz="450" spc="40">
                <a:solidFill>
                  <a:srgbClr val="231F20"/>
                </a:solidFill>
                <a:latin typeface="Garamond"/>
                <a:cs typeface="Garamond"/>
              </a:rPr>
              <a:t>AYNE</a:t>
            </a:r>
            <a:endParaRPr sz="450">
              <a:latin typeface="Garamond"/>
              <a:cs typeface="Garamond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749007" y="1806993"/>
            <a:ext cx="1499870" cy="1086485"/>
          </a:xfrm>
          <a:custGeom>
            <a:avLst/>
            <a:gdLst/>
            <a:ahLst/>
            <a:cxnLst/>
            <a:rect l="l" t="t" r="r" b="b"/>
            <a:pathLst>
              <a:path w="1499870" h="1086485">
                <a:moveTo>
                  <a:pt x="1320" y="726338"/>
                </a:moveTo>
                <a:lnTo>
                  <a:pt x="0" y="726338"/>
                </a:lnTo>
                <a:lnTo>
                  <a:pt x="0" y="1051356"/>
                </a:lnTo>
                <a:lnTo>
                  <a:pt x="1320" y="1051356"/>
                </a:lnTo>
                <a:lnTo>
                  <a:pt x="1320" y="726338"/>
                </a:lnTo>
                <a:close/>
              </a:path>
              <a:path w="1499870" h="1086485">
                <a:moveTo>
                  <a:pt x="62471" y="912685"/>
                </a:moveTo>
                <a:lnTo>
                  <a:pt x="24079" y="912685"/>
                </a:lnTo>
                <a:lnTo>
                  <a:pt x="24079" y="1086027"/>
                </a:lnTo>
                <a:lnTo>
                  <a:pt x="62471" y="1086027"/>
                </a:lnTo>
                <a:lnTo>
                  <a:pt x="62471" y="912685"/>
                </a:lnTo>
                <a:close/>
              </a:path>
              <a:path w="1499870" h="1086485">
                <a:moveTo>
                  <a:pt x="134277" y="856348"/>
                </a:moveTo>
                <a:lnTo>
                  <a:pt x="95885" y="856348"/>
                </a:lnTo>
                <a:lnTo>
                  <a:pt x="95885" y="1029690"/>
                </a:lnTo>
                <a:lnTo>
                  <a:pt x="134277" y="1029690"/>
                </a:lnTo>
                <a:lnTo>
                  <a:pt x="134277" y="856348"/>
                </a:lnTo>
                <a:close/>
              </a:path>
              <a:path w="1499870" h="1086485">
                <a:moveTo>
                  <a:pt x="206095" y="827328"/>
                </a:moveTo>
                <a:lnTo>
                  <a:pt x="167703" y="827328"/>
                </a:lnTo>
                <a:lnTo>
                  <a:pt x="167703" y="1074343"/>
                </a:lnTo>
                <a:lnTo>
                  <a:pt x="206095" y="1074343"/>
                </a:lnTo>
                <a:lnTo>
                  <a:pt x="206095" y="827328"/>
                </a:lnTo>
                <a:close/>
              </a:path>
              <a:path w="1499870" h="1086485">
                <a:moveTo>
                  <a:pt x="277914" y="656996"/>
                </a:moveTo>
                <a:lnTo>
                  <a:pt x="239522" y="656996"/>
                </a:lnTo>
                <a:lnTo>
                  <a:pt x="239522" y="982014"/>
                </a:lnTo>
                <a:lnTo>
                  <a:pt x="277914" y="982014"/>
                </a:lnTo>
                <a:lnTo>
                  <a:pt x="277914" y="656996"/>
                </a:lnTo>
                <a:close/>
              </a:path>
              <a:path w="1499870" h="1086485">
                <a:moveTo>
                  <a:pt x="349732" y="778319"/>
                </a:moveTo>
                <a:lnTo>
                  <a:pt x="311327" y="778319"/>
                </a:lnTo>
                <a:lnTo>
                  <a:pt x="311327" y="951661"/>
                </a:lnTo>
                <a:lnTo>
                  <a:pt x="349732" y="951661"/>
                </a:lnTo>
                <a:lnTo>
                  <a:pt x="349732" y="778319"/>
                </a:lnTo>
                <a:close/>
              </a:path>
              <a:path w="1499870" h="1086485">
                <a:moveTo>
                  <a:pt x="421538" y="808659"/>
                </a:moveTo>
                <a:lnTo>
                  <a:pt x="383146" y="808659"/>
                </a:lnTo>
                <a:lnTo>
                  <a:pt x="383146" y="982002"/>
                </a:lnTo>
                <a:lnTo>
                  <a:pt x="421538" y="982002"/>
                </a:lnTo>
                <a:lnTo>
                  <a:pt x="421538" y="808659"/>
                </a:lnTo>
                <a:close/>
              </a:path>
              <a:path w="1499870" h="1086485">
                <a:moveTo>
                  <a:pt x="493356" y="726338"/>
                </a:moveTo>
                <a:lnTo>
                  <a:pt x="454964" y="726338"/>
                </a:lnTo>
                <a:lnTo>
                  <a:pt x="454964" y="1029690"/>
                </a:lnTo>
                <a:lnTo>
                  <a:pt x="493356" y="1029690"/>
                </a:lnTo>
                <a:lnTo>
                  <a:pt x="493356" y="726338"/>
                </a:lnTo>
                <a:close/>
              </a:path>
              <a:path w="1499870" h="1086485">
                <a:moveTo>
                  <a:pt x="565175" y="735012"/>
                </a:moveTo>
                <a:lnTo>
                  <a:pt x="526770" y="735012"/>
                </a:lnTo>
                <a:lnTo>
                  <a:pt x="526770" y="908354"/>
                </a:lnTo>
                <a:lnTo>
                  <a:pt x="565175" y="908354"/>
                </a:lnTo>
                <a:lnTo>
                  <a:pt x="565175" y="735012"/>
                </a:lnTo>
                <a:close/>
              </a:path>
              <a:path w="1499870" h="1086485">
                <a:moveTo>
                  <a:pt x="636981" y="826008"/>
                </a:moveTo>
                <a:lnTo>
                  <a:pt x="598589" y="826008"/>
                </a:lnTo>
                <a:lnTo>
                  <a:pt x="598589" y="999350"/>
                </a:lnTo>
                <a:lnTo>
                  <a:pt x="636981" y="999350"/>
                </a:lnTo>
                <a:lnTo>
                  <a:pt x="636981" y="826008"/>
                </a:lnTo>
                <a:close/>
              </a:path>
              <a:path w="1499870" h="1086485">
                <a:moveTo>
                  <a:pt x="708799" y="851992"/>
                </a:moveTo>
                <a:lnTo>
                  <a:pt x="670407" y="851992"/>
                </a:lnTo>
                <a:lnTo>
                  <a:pt x="670407" y="1025334"/>
                </a:lnTo>
                <a:lnTo>
                  <a:pt x="708799" y="1025334"/>
                </a:lnTo>
                <a:lnTo>
                  <a:pt x="708799" y="851992"/>
                </a:lnTo>
                <a:close/>
              </a:path>
              <a:path w="1499870" h="1086485">
                <a:moveTo>
                  <a:pt x="780618" y="734974"/>
                </a:moveTo>
                <a:lnTo>
                  <a:pt x="742213" y="734974"/>
                </a:lnTo>
                <a:lnTo>
                  <a:pt x="742213" y="908316"/>
                </a:lnTo>
                <a:lnTo>
                  <a:pt x="780618" y="908316"/>
                </a:lnTo>
                <a:lnTo>
                  <a:pt x="780618" y="734974"/>
                </a:lnTo>
                <a:close/>
              </a:path>
              <a:path w="1499870" h="1086485">
                <a:moveTo>
                  <a:pt x="852436" y="843318"/>
                </a:moveTo>
                <a:lnTo>
                  <a:pt x="814031" y="843318"/>
                </a:lnTo>
                <a:lnTo>
                  <a:pt x="814031" y="1016660"/>
                </a:lnTo>
                <a:lnTo>
                  <a:pt x="852436" y="1016660"/>
                </a:lnTo>
                <a:lnTo>
                  <a:pt x="852436" y="843318"/>
                </a:lnTo>
                <a:close/>
              </a:path>
              <a:path w="1499870" h="1086485">
                <a:moveTo>
                  <a:pt x="924242" y="912647"/>
                </a:moveTo>
                <a:lnTo>
                  <a:pt x="885837" y="912647"/>
                </a:lnTo>
                <a:lnTo>
                  <a:pt x="885837" y="1085989"/>
                </a:lnTo>
                <a:lnTo>
                  <a:pt x="924242" y="1085989"/>
                </a:lnTo>
                <a:lnTo>
                  <a:pt x="924242" y="912647"/>
                </a:lnTo>
                <a:close/>
              </a:path>
              <a:path w="1499870" h="1086485">
                <a:moveTo>
                  <a:pt x="996061" y="0"/>
                </a:moveTo>
                <a:lnTo>
                  <a:pt x="957656" y="0"/>
                </a:lnTo>
                <a:lnTo>
                  <a:pt x="957656" y="1085989"/>
                </a:lnTo>
                <a:lnTo>
                  <a:pt x="996061" y="1085989"/>
                </a:lnTo>
                <a:lnTo>
                  <a:pt x="996061" y="0"/>
                </a:lnTo>
                <a:close/>
              </a:path>
              <a:path w="1499870" h="1086485">
                <a:moveTo>
                  <a:pt x="1067866" y="912647"/>
                </a:moveTo>
                <a:lnTo>
                  <a:pt x="1029474" y="912647"/>
                </a:lnTo>
                <a:lnTo>
                  <a:pt x="1029474" y="1085989"/>
                </a:lnTo>
                <a:lnTo>
                  <a:pt x="1067866" y="1085989"/>
                </a:lnTo>
                <a:lnTo>
                  <a:pt x="1067866" y="912647"/>
                </a:lnTo>
                <a:close/>
              </a:path>
              <a:path w="1499870" h="1086485">
                <a:moveTo>
                  <a:pt x="1139685" y="912647"/>
                </a:moveTo>
                <a:lnTo>
                  <a:pt x="1101280" y="912647"/>
                </a:lnTo>
                <a:lnTo>
                  <a:pt x="1101280" y="1085989"/>
                </a:lnTo>
                <a:lnTo>
                  <a:pt x="1139685" y="1085989"/>
                </a:lnTo>
                <a:lnTo>
                  <a:pt x="1139685" y="912647"/>
                </a:lnTo>
                <a:close/>
              </a:path>
              <a:path w="1499870" h="1086485">
                <a:moveTo>
                  <a:pt x="1211491" y="912634"/>
                </a:moveTo>
                <a:lnTo>
                  <a:pt x="1173099" y="912634"/>
                </a:lnTo>
                <a:lnTo>
                  <a:pt x="1173099" y="1085977"/>
                </a:lnTo>
                <a:lnTo>
                  <a:pt x="1211491" y="1085977"/>
                </a:lnTo>
                <a:lnTo>
                  <a:pt x="1211491" y="912634"/>
                </a:lnTo>
                <a:close/>
              </a:path>
              <a:path w="1499870" h="1086485">
                <a:moveTo>
                  <a:pt x="1283309" y="912634"/>
                </a:moveTo>
                <a:lnTo>
                  <a:pt x="1244904" y="912634"/>
                </a:lnTo>
                <a:lnTo>
                  <a:pt x="1244904" y="1085977"/>
                </a:lnTo>
                <a:lnTo>
                  <a:pt x="1283309" y="1085977"/>
                </a:lnTo>
                <a:lnTo>
                  <a:pt x="1283309" y="912634"/>
                </a:lnTo>
                <a:close/>
              </a:path>
              <a:path w="1499870" h="1086485">
                <a:moveTo>
                  <a:pt x="1355115" y="912634"/>
                </a:moveTo>
                <a:lnTo>
                  <a:pt x="1316723" y="912634"/>
                </a:lnTo>
                <a:lnTo>
                  <a:pt x="1316723" y="1085977"/>
                </a:lnTo>
                <a:lnTo>
                  <a:pt x="1355115" y="1085977"/>
                </a:lnTo>
                <a:lnTo>
                  <a:pt x="1355115" y="912634"/>
                </a:lnTo>
                <a:close/>
              </a:path>
              <a:path w="1499870" h="1086485">
                <a:moveTo>
                  <a:pt x="1426933" y="912634"/>
                </a:moveTo>
                <a:lnTo>
                  <a:pt x="1388541" y="912634"/>
                </a:lnTo>
                <a:lnTo>
                  <a:pt x="1388541" y="1085977"/>
                </a:lnTo>
                <a:lnTo>
                  <a:pt x="1426933" y="1085977"/>
                </a:lnTo>
                <a:lnTo>
                  <a:pt x="1426933" y="912634"/>
                </a:lnTo>
                <a:close/>
              </a:path>
              <a:path w="1499870" h="1086485">
                <a:moveTo>
                  <a:pt x="1499438" y="912634"/>
                </a:moveTo>
                <a:lnTo>
                  <a:pt x="1461046" y="912634"/>
                </a:lnTo>
                <a:lnTo>
                  <a:pt x="1461046" y="1085977"/>
                </a:lnTo>
                <a:lnTo>
                  <a:pt x="1499438" y="1085977"/>
                </a:lnTo>
                <a:lnTo>
                  <a:pt x="1499438" y="912634"/>
                </a:lnTo>
                <a:close/>
              </a:path>
            </a:pathLst>
          </a:custGeom>
          <a:solidFill>
            <a:srgbClr val="808285">
              <a:alpha val="29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811310" y="2803343"/>
            <a:ext cx="1395095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 spc="114">
                <a:solidFill>
                  <a:srgbClr val="231F20"/>
                </a:solidFill>
                <a:latin typeface="Garamond"/>
                <a:cs typeface="Garamond"/>
              </a:rPr>
              <a:t>Algorithms</a:t>
            </a:r>
            <a:endParaRPr sz="2200">
              <a:latin typeface="Garamond"/>
              <a:cs typeface="Garamond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949596" y="2143810"/>
            <a:ext cx="1513205" cy="1163320"/>
          </a:xfrm>
          <a:prstGeom prst="rect">
            <a:avLst/>
          </a:prstGeom>
        </p:spPr>
        <p:txBody>
          <a:bodyPr wrap="square" lIns="0" tIns="83820" rIns="0" bIns="0" rtlCol="0" vert="horz">
            <a:spAutoFit/>
          </a:bodyPr>
          <a:lstStyle/>
          <a:p>
            <a:pPr marL="160655" indent="-148590">
              <a:lnSpc>
                <a:spcPct val="100000"/>
              </a:lnSpc>
              <a:spcBef>
                <a:spcPts val="660"/>
              </a:spcBef>
              <a:buFont typeface="Tahoma"/>
              <a:buChar char="‣"/>
              <a:tabLst>
                <a:tab pos="161290" algn="l"/>
              </a:tabLst>
            </a:pPr>
            <a:r>
              <a:rPr dirty="0" sz="1400" spc="15" i="1">
                <a:solidFill>
                  <a:srgbClr val="BABABA"/>
                </a:solidFill>
                <a:latin typeface="Calibri"/>
                <a:cs typeface="Calibri"/>
              </a:rPr>
              <a:t>hash</a:t>
            </a:r>
            <a:r>
              <a:rPr dirty="0" sz="1400" spc="60" i="1">
                <a:solidFill>
                  <a:srgbClr val="BABABA"/>
                </a:solidFill>
                <a:latin typeface="Calibri"/>
                <a:cs typeface="Calibri"/>
              </a:rPr>
              <a:t> </a:t>
            </a:r>
            <a:r>
              <a:rPr dirty="0" sz="1400" spc="-10" i="1">
                <a:solidFill>
                  <a:srgbClr val="BABABA"/>
                </a:solidFill>
                <a:latin typeface="Calibri"/>
                <a:cs typeface="Calibri"/>
              </a:rPr>
              <a:t>functions</a:t>
            </a:r>
            <a:endParaRPr sz="1400">
              <a:latin typeface="Calibri"/>
              <a:cs typeface="Calibri"/>
            </a:endParaRPr>
          </a:p>
          <a:p>
            <a:pPr marL="160655" indent="-148590">
              <a:lnSpc>
                <a:spcPct val="100000"/>
              </a:lnSpc>
              <a:spcBef>
                <a:spcPts val="555"/>
              </a:spcBef>
              <a:buFont typeface="Tahoma"/>
              <a:buChar char="‣"/>
              <a:tabLst>
                <a:tab pos="161290" algn="l"/>
              </a:tabLst>
            </a:pPr>
            <a:r>
              <a:rPr dirty="0" sz="1400" spc="5" i="1">
                <a:solidFill>
                  <a:srgbClr val="BABABA"/>
                </a:solidFill>
                <a:latin typeface="Calibri"/>
                <a:cs typeface="Calibri"/>
              </a:rPr>
              <a:t>separate</a:t>
            </a:r>
            <a:r>
              <a:rPr dirty="0" sz="1400" spc="45" i="1">
                <a:solidFill>
                  <a:srgbClr val="BABABA"/>
                </a:solidFill>
                <a:latin typeface="Calibri"/>
                <a:cs typeface="Calibri"/>
              </a:rPr>
              <a:t> </a:t>
            </a:r>
            <a:r>
              <a:rPr dirty="0" sz="1400" spc="30" i="1">
                <a:solidFill>
                  <a:srgbClr val="BABABA"/>
                </a:solidFill>
                <a:latin typeface="Calibri"/>
                <a:cs typeface="Calibri"/>
              </a:rPr>
              <a:t>chaining</a:t>
            </a:r>
            <a:endParaRPr sz="1400">
              <a:latin typeface="Calibri"/>
              <a:cs typeface="Calibri"/>
            </a:endParaRPr>
          </a:p>
          <a:p>
            <a:pPr marL="160655" indent="-148590">
              <a:lnSpc>
                <a:spcPct val="100000"/>
              </a:lnSpc>
              <a:spcBef>
                <a:spcPts val="560"/>
              </a:spcBef>
              <a:buFont typeface="Tahoma"/>
              <a:buChar char="‣"/>
              <a:tabLst>
                <a:tab pos="161290" algn="l"/>
              </a:tabLst>
            </a:pPr>
            <a:r>
              <a:rPr dirty="0" sz="1400" spc="20" i="1">
                <a:solidFill>
                  <a:srgbClr val="BABABA"/>
                </a:solidFill>
                <a:latin typeface="Calibri"/>
                <a:cs typeface="Calibri"/>
              </a:rPr>
              <a:t>linear</a:t>
            </a:r>
            <a:r>
              <a:rPr dirty="0" sz="1400" spc="50" i="1">
                <a:solidFill>
                  <a:srgbClr val="BABABA"/>
                </a:solidFill>
                <a:latin typeface="Calibri"/>
                <a:cs typeface="Calibri"/>
              </a:rPr>
              <a:t> </a:t>
            </a:r>
            <a:r>
              <a:rPr dirty="0" sz="1400" spc="35" i="1">
                <a:solidFill>
                  <a:srgbClr val="BABABA"/>
                </a:solidFill>
                <a:latin typeface="Calibri"/>
                <a:cs typeface="Calibri"/>
              </a:rPr>
              <a:t>probing</a:t>
            </a:r>
            <a:endParaRPr sz="1400">
              <a:latin typeface="Calibri"/>
              <a:cs typeface="Calibri"/>
            </a:endParaRPr>
          </a:p>
          <a:p>
            <a:pPr marL="160655" indent="-148590">
              <a:lnSpc>
                <a:spcPct val="100000"/>
              </a:lnSpc>
              <a:spcBef>
                <a:spcPts val="560"/>
              </a:spcBef>
              <a:buFont typeface="Tahoma"/>
              <a:buChar char="‣"/>
              <a:tabLst>
                <a:tab pos="161290" algn="l"/>
              </a:tabLst>
            </a:pPr>
            <a:r>
              <a:rPr dirty="0" sz="1400" spc="-15" i="1">
                <a:latin typeface="Calibri"/>
                <a:cs typeface="Calibri"/>
              </a:rPr>
              <a:t>context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967434" y="1755786"/>
            <a:ext cx="1696085" cy="2921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80695" algn="l"/>
              </a:tabLst>
            </a:pPr>
            <a:r>
              <a:rPr dirty="0" sz="1750" spc="70" b="1">
                <a:latin typeface="Century Gothic"/>
                <a:cs typeface="Century Gothic"/>
              </a:rPr>
              <a:t>3.4	</a:t>
            </a:r>
            <a:r>
              <a:rPr dirty="0" sz="1750" spc="25" b="1">
                <a:latin typeface="Century Gothic"/>
                <a:cs typeface="Century Gothic"/>
              </a:rPr>
              <a:t>H</a:t>
            </a:r>
            <a:r>
              <a:rPr dirty="0" sz="1400" spc="25" b="1">
                <a:latin typeface="Century Gothic"/>
                <a:cs typeface="Century Gothic"/>
              </a:rPr>
              <a:t>ASH</a:t>
            </a:r>
            <a:r>
              <a:rPr dirty="0" sz="1400" spc="85" b="1">
                <a:latin typeface="Century Gothic"/>
                <a:cs typeface="Century Gothic"/>
              </a:rPr>
              <a:t> </a:t>
            </a:r>
            <a:r>
              <a:rPr dirty="0" sz="1750" spc="40" b="1">
                <a:latin typeface="Century Gothic"/>
                <a:cs typeface="Century Gothic"/>
              </a:rPr>
              <a:t>T</a:t>
            </a:r>
            <a:r>
              <a:rPr dirty="0" sz="1400" spc="40" b="1">
                <a:latin typeface="Century Gothic"/>
                <a:cs typeface="Century Gothic"/>
              </a:rPr>
              <a:t>ABLES</a:t>
            </a:r>
            <a:endParaRPr sz="1400">
              <a:latin typeface="Century Gothic"/>
              <a:cs typeface="Century Gothic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6592379" y="237122"/>
            <a:ext cx="6066790" cy="4549775"/>
            <a:chOff x="6592379" y="237122"/>
            <a:chExt cx="6066790" cy="4549775"/>
          </a:xfrm>
        </p:grpSpPr>
        <p:sp>
          <p:nvSpPr>
            <p:cNvPr id="25" name="object 25"/>
            <p:cNvSpPr/>
            <p:nvPr/>
          </p:nvSpPr>
          <p:spPr>
            <a:xfrm>
              <a:off x="6592379" y="237122"/>
              <a:ext cx="6066790" cy="4549775"/>
            </a:xfrm>
            <a:custGeom>
              <a:avLst/>
              <a:gdLst/>
              <a:ahLst/>
              <a:cxnLst/>
              <a:rect l="l" t="t" r="r" b="b"/>
              <a:pathLst>
                <a:path w="6066790" h="4549775">
                  <a:moveTo>
                    <a:pt x="0" y="0"/>
                  </a:moveTo>
                  <a:lnTo>
                    <a:pt x="6066212" y="0"/>
                  </a:lnTo>
                  <a:lnTo>
                    <a:pt x="6066212" y="4549659"/>
                  </a:lnTo>
                  <a:lnTo>
                    <a:pt x="0" y="45496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6977442" y="699147"/>
              <a:ext cx="5302250" cy="635"/>
            </a:xfrm>
            <a:custGeom>
              <a:avLst/>
              <a:gdLst/>
              <a:ahLst/>
              <a:cxnLst/>
              <a:rect l="l" t="t" r="r" b="b"/>
              <a:pathLst>
                <a:path w="5302250" h="634">
                  <a:moveTo>
                    <a:pt x="0" y="49"/>
                  </a:moveTo>
                  <a:lnTo>
                    <a:pt x="5302012" y="0"/>
                  </a:lnTo>
                </a:path>
              </a:pathLst>
            </a:custGeom>
            <a:ln w="59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/>
          <p:cNvSpPr txBox="1"/>
          <p:nvPr/>
        </p:nvSpPr>
        <p:spPr>
          <a:xfrm>
            <a:off x="12492206" y="4615831"/>
            <a:ext cx="115570" cy="1111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550" spc="5">
                <a:latin typeface="Lucida Sans"/>
                <a:cs typeface="Lucida Sans"/>
              </a:rPr>
              <a:t>38</a:t>
            </a:r>
            <a:endParaRPr sz="550">
              <a:latin typeface="Lucida Sans"/>
              <a:cs typeface="Lucida Sans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986199" y="396219"/>
            <a:ext cx="4639945" cy="11207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00" spc="60">
                <a:latin typeface="Arial"/>
                <a:cs typeface="Arial"/>
              </a:rPr>
              <a:t>War</a:t>
            </a:r>
            <a:r>
              <a:rPr dirty="0" sz="1300" spc="40">
                <a:latin typeface="Arial"/>
                <a:cs typeface="Arial"/>
              </a:rPr>
              <a:t> </a:t>
            </a:r>
            <a:r>
              <a:rPr dirty="0" sz="1300" spc="25">
                <a:latin typeface="Arial"/>
                <a:cs typeface="Arial"/>
              </a:rPr>
              <a:t>story: </a:t>
            </a:r>
            <a:r>
              <a:rPr dirty="0" sz="1300" spc="55">
                <a:latin typeface="Arial"/>
                <a:cs typeface="Arial"/>
              </a:rPr>
              <a:t> </a:t>
            </a:r>
            <a:r>
              <a:rPr dirty="0" sz="1300" spc="25">
                <a:latin typeface="Arial"/>
                <a:cs typeface="Arial"/>
              </a:rPr>
              <a:t>algorithmic</a:t>
            </a:r>
            <a:r>
              <a:rPr dirty="0" sz="1300" spc="45">
                <a:latin typeface="Arial"/>
                <a:cs typeface="Arial"/>
              </a:rPr>
              <a:t> </a:t>
            </a:r>
            <a:r>
              <a:rPr dirty="0" sz="1300" spc="20">
                <a:latin typeface="Arial"/>
                <a:cs typeface="Arial"/>
              </a:rPr>
              <a:t>complexity</a:t>
            </a:r>
            <a:r>
              <a:rPr dirty="0" sz="1300" spc="40">
                <a:latin typeface="Arial"/>
                <a:cs typeface="Arial"/>
              </a:rPr>
              <a:t> </a:t>
            </a:r>
            <a:r>
              <a:rPr dirty="0" sz="1300" spc="-5">
                <a:latin typeface="Arial"/>
                <a:cs typeface="Arial"/>
              </a:rPr>
              <a:t>attacks</a:t>
            </a:r>
            <a:endParaRPr sz="13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100" spc="10">
                <a:solidFill>
                  <a:srgbClr val="005493"/>
                </a:solidFill>
                <a:latin typeface="Lucida Sans"/>
                <a:cs typeface="Lucida Sans"/>
              </a:rPr>
              <a:t>Q.</a:t>
            </a:r>
            <a:r>
              <a:rPr dirty="0" sz="1100" spc="345">
                <a:solidFill>
                  <a:srgbClr val="005493"/>
                </a:solidFill>
                <a:latin typeface="Lucida Sans"/>
                <a:cs typeface="Lucida Sans"/>
              </a:rPr>
              <a:t> </a:t>
            </a:r>
            <a:r>
              <a:rPr dirty="0" sz="1100" spc="5">
                <a:latin typeface="Lucida Sans"/>
                <a:cs typeface="Lucida Sans"/>
              </a:rPr>
              <a:t>Is</a:t>
            </a:r>
            <a:r>
              <a:rPr dirty="0" sz="1100">
                <a:latin typeface="Lucida Sans"/>
                <a:cs typeface="Lucida Sans"/>
              </a:rPr>
              <a:t> </a:t>
            </a:r>
            <a:r>
              <a:rPr dirty="0" sz="1100" spc="5">
                <a:latin typeface="Lucida Sans"/>
                <a:cs typeface="Lucida Sans"/>
              </a:rPr>
              <a:t>the</a:t>
            </a:r>
            <a:r>
              <a:rPr dirty="0" sz="1100">
                <a:latin typeface="Lucida Sans"/>
                <a:cs typeface="Lucida Sans"/>
              </a:rPr>
              <a:t> </a:t>
            </a:r>
            <a:r>
              <a:rPr dirty="0" sz="1100" spc="10">
                <a:latin typeface="Lucida Sans"/>
                <a:cs typeface="Lucida Sans"/>
              </a:rPr>
              <a:t>uniform</a:t>
            </a:r>
            <a:r>
              <a:rPr dirty="0" sz="1100">
                <a:latin typeface="Lucida Sans"/>
                <a:cs typeface="Lucida Sans"/>
              </a:rPr>
              <a:t> </a:t>
            </a:r>
            <a:r>
              <a:rPr dirty="0" sz="1100" spc="10">
                <a:latin typeface="Lucida Sans"/>
                <a:cs typeface="Lucida Sans"/>
              </a:rPr>
              <a:t>hashing</a:t>
            </a:r>
            <a:r>
              <a:rPr dirty="0" sz="1100">
                <a:latin typeface="Lucida Sans"/>
                <a:cs typeface="Lucida Sans"/>
              </a:rPr>
              <a:t> </a:t>
            </a:r>
            <a:r>
              <a:rPr dirty="0" sz="1100" spc="10">
                <a:latin typeface="Lucida Sans"/>
                <a:cs typeface="Lucida Sans"/>
              </a:rPr>
              <a:t>assumption</a:t>
            </a:r>
            <a:r>
              <a:rPr dirty="0" sz="1100">
                <a:latin typeface="Lucida Sans"/>
                <a:cs typeface="Lucida Sans"/>
              </a:rPr>
              <a:t> </a:t>
            </a:r>
            <a:r>
              <a:rPr dirty="0" sz="1100" spc="10">
                <a:latin typeface="Lucida Sans"/>
                <a:cs typeface="Lucida Sans"/>
              </a:rPr>
              <a:t>important</a:t>
            </a:r>
            <a:r>
              <a:rPr dirty="0" sz="1100" spc="5">
                <a:latin typeface="Lucida Sans"/>
                <a:cs typeface="Lucida Sans"/>
              </a:rPr>
              <a:t> in</a:t>
            </a:r>
            <a:r>
              <a:rPr dirty="0" sz="1100">
                <a:latin typeface="Lucida Sans"/>
                <a:cs typeface="Lucida Sans"/>
              </a:rPr>
              <a:t> </a:t>
            </a:r>
            <a:r>
              <a:rPr dirty="0" sz="1100" spc="10">
                <a:latin typeface="Lucida Sans"/>
                <a:cs typeface="Lucida Sans"/>
              </a:rPr>
              <a:t>practice?</a:t>
            </a:r>
            <a:endParaRPr sz="1100">
              <a:latin typeface="Lucida Sans"/>
              <a:cs typeface="Lucida Sans"/>
            </a:endParaRPr>
          </a:p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dirty="0" sz="1100" spc="5">
                <a:solidFill>
                  <a:srgbClr val="005493"/>
                </a:solidFill>
                <a:latin typeface="Lucida Sans"/>
                <a:cs typeface="Lucida Sans"/>
              </a:rPr>
              <a:t>A.</a:t>
            </a:r>
            <a:r>
              <a:rPr dirty="0" sz="1100" spc="10">
                <a:solidFill>
                  <a:srgbClr val="005493"/>
                </a:solidFill>
                <a:latin typeface="Lucida Sans"/>
                <a:cs typeface="Lucida Sans"/>
              </a:rPr>
              <a:t> </a:t>
            </a:r>
            <a:r>
              <a:rPr dirty="0" sz="1100" spc="15">
                <a:latin typeface="Lucida Sans"/>
                <a:cs typeface="Lucida Sans"/>
              </a:rPr>
              <a:t>Obvious </a:t>
            </a:r>
            <a:r>
              <a:rPr dirty="0" sz="1100" spc="5">
                <a:latin typeface="Lucida Sans"/>
                <a:cs typeface="Lucida Sans"/>
              </a:rPr>
              <a:t>situations: </a:t>
            </a:r>
            <a:r>
              <a:rPr dirty="0" sz="1100" spc="20">
                <a:latin typeface="Lucida Sans"/>
                <a:cs typeface="Lucida Sans"/>
              </a:rPr>
              <a:t> </a:t>
            </a:r>
            <a:r>
              <a:rPr dirty="0" sz="1100" spc="5">
                <a:latin typeface="Lucida Sans"/>
                <a:cs typeface="Lucida Sans"/>
              </a:rPr>
              <a:t>aircraft</a:t>
            </a:r>
            <a:r>
              <a:rPr dirty="0" sz="1100" spc="15">
                <a:latin typeface="Lucida Sans"/>
                <a:cs typeface="Lucida Sans"/>
              </a:rPr>
              <a:t> </a:t>
            </a:r>
            <a:r>
              <a:rPr dirty="0" sz="1100" spc="5">
                <a:latin typeface="Lucida Sans"/>
                <a:cs typeface="Lucida Sans"/>
              </a:rPr>
              <a:t>control,</a:t>
            </a:r>
            <a:r>
              <a:rPr dirty="0" sz="1100" spc="10">
                <a:latin typeface="Lucida Sans"/>
                <a:cs typeface="Lucida Sans"/>
              </a:rPr>
              <a:t> nuclear</a:t>
            </a:r>
            <a:r>
              <a:rPr dirty="0" sz="1100" spc="15">
                <a:latin typeface="Lucida Sans"/>
                <a:cs typeface="Lucida Sans"/>
              </a:rPr>
              <a:t> </a:t>
            </a:r>
            <a:r>
              <a:rPr dirty="0" sz="1100" spc="-15">
                <a:latin typeface="Lucida Sans"/>
                <a:cs typeface="Lucida Sans"/>
              </a:rPr>
              <a:t>reactor,</a:t>
            </a:r>
            <a:r>
              <a:rPr dirty="0" sz="1100" spc="10">
                <a:latin typeface="Lucida Sans"/>
                <a:cs typeface="Lucida Sans"/>
              </a:rPr>
              <a:t> </a:t>
            </a:r>
            <a:r>
              <a:rPr dirty="0" sz="1100" spc="-5">
                <a:latin typeface="Lucida Sans"/>
                <a:cs typeface="Lucida Sans"/>
              </a:rPr>
              <a:t>pacemaker.</a:t>
            </a:r>
            <a:endParaRPr sz="1100">
              <a:latin typeface="Lucida Sans"/>
              <a:cs typeface="Lucida Sans"/>
            </a:endParaRPr>
          </a:p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dirty="0" sz="1100" spc="5">
                <a:solidFill>
                  <a:srgbClr val="005493"/>
                </a:solidFill>
                <a:latin typeface="Lucida Sans"/>
                <a:cs typeface="Lucida Sans"/>
              </a:rPr>
              <a:t>A.</a:t>
            </a:r>
            <a:r>
              <a:rPr dirty="0" sz="1100" spc="10">
                <a:solidFill>
                  <a:srgbClr val="005493"/>
                </a:solidFill>
                <a:latin typeface="Lucida Sans"/>
                <a:cs typeface="Lucida Sans"/>
              </a:rPr>
              <a:t> </a:t>
            </a:r>
            <a:r>
              <a:rPr dirty="0" sz="1100" spc="5">
                <a:latin typeface="Lucida Sans"/>
                <a:cs typeface="Lucida Sans"/>
              </a:rPr>
              <a:t>Surprising</a:t>
            </a:r>
            <a:r>
              <a:rPr dirty="0" sz="1100" spc="15">
                <a:latin typeface="Lucida Sans"/>
                <a:cs typeface="Lucida Sans"/>
              </a:rPr>
              <a:t> </a:t>
            </a:r>
            <a:r>
              <a:rPr dirty="0" sz="1100" spc="5">
                <a:latin typeface="Lucida Sans"/>
                <a:cs typeface="Lucida Sans"/>
              </a:rPr>
              <a:t>situations: </a:t>
            </a:r>
            <a:r>
              <a:rPr dirty="0" sz="1100" spc="20">
                <a:latin typeface="Lucida Sans"/>
                <a:cs typeface="Lucida Sans"/>
              </a:rPr>
              <a:t> </a:t>
            </a:r>
            <a:r>
              <a:rPr dirty="0" sz="1100" spc="10">
                <a:solidFill>
                  <a:srgbClr val="8D3124"/>
                </a:solidFill>
                <a:latin typeface="Lucida Sans"/>
                <a:cs typeface="Lucida Sans"/>
              </a:rPr>
              <a:t>denial-of-service </a:t>
            </a:r>
            <a:r>
              <a:rPr dirty="0" sz="1100" spc="10">
                <a:latin typeface="Lucida Sans"/>
                <a:cs typeface="Lucida Sans"/>
              </a:rPr>
              <a:t>attacks.</a:t>
            </a:r>
            <a:endParaRPr sz="1100">
              <a:latin typeface="Lucida Sans"/>
              <a:cs typeface="Lucida Sans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986199" y="3399705"/>
            <a:ext cx="3031490" cy="1962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100" spc="15">
                <a:solidFill>
                  <a:srgbClr val="005493"/>
                </a:solidFill>
                <a:latin typeface="Lucida Sans"/>
                <a:cs typeface="Lucida Sans"/>
              </a:rPr>
              <a:t>Real-world</a:t>
            </a:r>
            <a:r>
              <a:rPr dirty="0" sz="1100" spc="10">
                <a:solidFill>
                  <a:srgbClr val="005493"/>
                </a:solidFill>
                <a:latin typeface="Lucida Sans"/>
                <a:cs typeface="Lucida Sans"/>
              </a:rPr>
              <a:t> </a:t>
            </a:r>
            <a:r>
              <a:rPr dirty="0" sz="1100" spc="5">
                <a:solidFill>
                  <a:srgbClr val="005493"/>
                </a:solidFill>
                <a:latin typeface="Lucida Sans"/>
                <a:cs typeface="Lucida Sans"/>
              </a:rPr>
              <a:t>exploits. </a:t>
            </a:r>
            <a:r>
              <a:rPr dirty="0" sz="1100" spc="20">
                <a:solidFill>
                  <a:srgbClr val="005493"/>
                </a:solidFill>
                <a:latin typeface="Lucida Sans"/>
                <a:cs typeface="Lucida Sans"/>
              </a:rPr>
              <a:t> </a:t>
            </a:r>
            <a:r>
              <a:rPr dirty="0" sz="1100" spc="5">
                <a:solidFill>
                  <a:srgbClr val="606060"/>
                </a:solidFill>
                <a:latin typeface="Lucida Sans"/>
                <a:cs typeface="Lucida Sans"/>
              </a:rPr>
              <a:t>[Crosby-Wallach</a:t>
            </a:r>
            <a:r>
              <a:rPr dirty="0" sz="1100" spc="15">
                <a:solidFill>
                  <a:srgbClr val="606060"/>
                </a:solidFill>
                <a:latin typeface="Lucida Sans"/>
                <a:cs typeface="Lucida Sans"/>
              </a:rPr>
              <a:t> </a:t>
            </a:r>
            <a:r>
              <a:rPr dirty="0" sz="1100" spc="10">
                <a:solidFill>
                  <a:srgbClr val="606060"/>
                </a:solidFill>
                <a:latin typeface="Lucida Sans"/>
                <a:cs typeface="Lucida Sans"/>
              </a:rPr>
              <a:t>2003]</a:t>
            </a:r>
            <a:endParaRPr sz="1100">
              <a:latin typeface="Lucida Sans"/>
              <a:cs typeface="Lucida Sans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992658" y="3466844"/>
            <a:ext cx="4509135" cy="591185"/>
          </a:xfrm>
          <a:prstGeom prst="rect">
            <a:avLst/>
          </a:prstGeom>
        </p:spPr>
        <p:txBody>
          <a:bodyPr wrap="square" lIns="0" tIns="39370" rIns="0" bIns="0" rtlCol="0" vert="horz">
            <a:spAutoFit/>
          </a:bodyPr>
          <a:lstStyle/>
          <a:p>
            <a:pPr marL="274955" marR="30480" indent="-237490">
              <a:lnSpc>
                <a:spcPct val="115700"/>
              </a:lnSpc>
              <a:spcBef>
                <a:spcPts val="310"/>
              </a:spcBef>
            </a:pPr>
            <a:r>
              <a:rPr dirty="0" baseline="-12012" sz="2775" spc="22">
                <a:latin typeface="Microsoft JhengHei"/>
                <a:cs typeface="Microsoft JhengHei"/>
              </a:rPr>
              <a:t>・</a:t>
            </a:r>
            <a:r>
              <a:rPr dirty="0" sz="1100">
                <a:latin typeface="Lucida Sans"/>
                <a:cs typeface="Lucida Sans"/>
              </a:rPr>
              <a:t>Bro </a:t>
            </a:r>
            <a:r>
              <a:rPr dirty="0" sz="1100" spc="15">
                <a:latin typeface="Lucida Sans"/>
                <a:cs typeface="Lucida Sans"/>
              </a:rPr>
              <a:t>server:</a:t>
            </a:r>
            <a:r>
              <a:rPr dirty="0" sz="1100" spc="20">
                <a:latin typeface="Lucida Sans"/>
                <a:cs typeface="Lucida Sans"/>
              </a:rPr>
              <a:t> </a:t>
            </a:r>
            <a:r>
              <a:rPr dirty="0" sz="1100" spc="10">
                <a:latin typeface="Lucida Sans"/>
                <a:cs typeface="Lucida Sans"/>
              </a:rPr>
              <a:t>send carefully chosen packets </a:t>
            </a:r>
            <a:r>
              <a:rPr dirty="0" sz="1100" spc="5">
                <a:latin typeface="Lucida Sans"/>
                <a:cs typeface="Lucida Sans"/>
              </a:rPr>
              <a:t>to </a:t>
            </a:r>
            <a:r>
              <a:rPr dirty="0" sz="1100" spc="10">
                <a:latin typeface="Lucida Sans"/>
                <a:cs typeface="Lucida Sans"/>
              </a:rPr>
              <a:t>DOS </a:t>
            </a:r>
            <a:r>
              <a:rPr dirty="0" sz="1100" spc="5">
                <a:latin typeface="Lucida Sans"/>
                <a:cs typeface="Lucida Sans"/>
              </a:rPr>
              <a:t>the </a:t>
            </a:r>
            <a:r>
              <a:rPr dirty="0" sz="1100" spc="-5">
                <a:latin typeface="Lucida Sans"/>
                <a:cs typeface="Lucida Sans"/>
              </a:rPr>
              <a:t>server, </a:t>
            </a:r>
            <a:r>
              <a:rPr dirty="0" sz="1100" spc="-335">
                <a:latin typeface="Lucida Sans"/>
                <a:cs typeface="Lucida Sans"/>
              </a:rPr>
              <a:t> </a:t>
            </a:r>
            <a:r>
              <a:rPr dirty="0" sz="1100" spc="10">
                <a:latin typeface="Lucida Sans"/>
                <a:cs typeface="Lucida Sans"/>
              </a:rPr>
              <a:t>using</a:t>
            </a:r>
            <a:r>
              <a:rPr dirty="0" sz="1100" spc="5">
                <a:latin typeface="Lucida Sans"/>
                <a:cs typeface="Lucida Sans"/>
              </a:rPr>
              <a:t> less </a:t>
            </a:r>
            <a:r>
              <a:rPr dirty="0" sz="1100" spc="15">
                <a:latin typeface="Lucida Sans"/>
                <a:cs typeface="Lucida Sans"/>
              </a:rPr>
              <a:t>bandwidth</a:t>
            </a:r>
            <a:r>
              <a:rPr dirty="0" sz="1100" spc="5">
                <a:latin typeface="Lucida Sans"/>
                <a:cs typeface="Lucida Sans"/>
              </a:rPr>
              <a:t> </a:t>
            </a:r>
            <a:r>
              <a:rPr dirty="0" sz="1100" spc="10">
                <a:latin typeface="Lucida Sans"/>
                <a:cs typeface="Lucida Sans"/>
              </a:rPr>
              <a:t>than</a:t>
            </a:r>
            <a:r>
              <a:rPr dirty="0" sz="1100" spc="5">
                <a:latin typeface="Lucida Sans"/>
                <a:cs typeface="Lucida Sans"/>
              </a:rPr>
              <a:t> </a:t>
            </a:r>
            <a:r>
              <a:rPr dirty="0" sz="1100" spc="10">
                <a:latin typeface="Lucida Sans"/>
                <a:cs typeface="Lucida Sans"/>
              </a:rPr>
              <a:t>a</a:t>
            </a:r>
            <a:r>
              <a:rPr dirty="0" sz="1100" spc="5">
                <a:latin typeface="Lucida Sans"/>
                <a:cs typeface="Lucida Sans"/>
              </a:rPr>
              <a:t> dial-up </a:t>
            </a:r>
            <a:r>
              <a:rPr dirty="0" sz="1100" spc="10">
                <a:latin typeface="Lucida Sans"/>
                <a:cs typeface="Lucida Sans"/>
              </a:rPr>
              <a:t>modem.</a:t>
            </a:r>
            <a:endParaRPr sz="1100">
              <a:latin typeface="Lucida Sans"/>
              <a:cs typeface="Lucida Sans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6979958" y="3998033"/>
            <a:ext cx="4763770" cy="54102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50800">
              <a:lnSpc>
                <a:spcPts val="2020"/>
              </a:lnSpc>
              <a:spcBef>
                <a:spcPts val="114"/>
              </a:spcBef>
            </a:pPr>
            <a:r>
              <a:rPr dirty="0" baseline="-12012" sz="2775" spc="22">
                <a:latin typeface="Microsoft JhengHei"/>
                <a:cs typeface="Microsoft JhengHei"/>
              </a:rPr>
              <a:t>・</a:t>
            </a:r>
            <a:r>
              <a:rPr dirty="0" sz="1100" spc="5">
                <a:latin typeface="Lucida Sans"/>
                <a:cs typeface="Lucida Sans"/>
              </a:rPr>
              <a:t>Perl</a:t>
            </a:r>
            <a:r>
              <a:rPr dirty="0" sz="1100" spc="10">
                <a:latin typeface="Lucida Sans"/>
                <a:cs typeface="Lucida Sans"/>
              </a:rPr>
              <a:t> </a:t>
            </a:r>
            <a:r>
              <a:rPr dirty="0" sz="1100" spc="5">
                <a:latin typeface="Lucida Sans"/>
                <a:cs typeface="Lucida Sans"/>
              </a:rPr>
              <a:t>5.8.0: </a:t>
            </a:r>
            <a:r>
              <a:rPr dirty="0" sz="1100" spc="15">
                <a:latin typeface="Lucida Sans"/>
                <a:cs typeface="Lucida Sans"/>
              </a:rPr>
              <a:t> </a:t>
            </a:r>
            <a:r>
              <a:rPr dirty="0" sz="1100" spc="5">
                <a:latin typeface="Lucida Sans"/>
                <a:cs typeface="Lucida Sans"/>
              </a:rPr>
              <a:t>insert</a:t>
            </a:r>
            <a:r>
              <a:rPr dirty="0" sz="1100" spc="15">
                <a:latin typeface="Lucida Sans"/>
                <a:cs typeface="Lucida Sans"/>
              </a:rPr>
              <a:t> </a:t>
            </a:r>
            <a:r>
              <a:rPr dirty="0" sz="1100" spc="10">
                <a:latin typeface="Lucida Sans"/>
                <a:cs typeface="Lucida Sans"/>
              </a:rPr>
              <a:t>carefully chosen </a:t>
            </a:r>
            <a:r>
              <a:rPr dirty="0" sz="1100" spc="5">
                <a:latin typeface="Lucida Sans"/>
                <a:cs typeface="Lucida Sans"/>
              </a:rPr>
              <a:t>strings</a:t>
            </a:r>
            <a:r>
              <a:rPr dirty="0" sz="1100" spc="15">
                <a:latin typeface="Lucida Sans"/>
                <a:cs typeface="Lucida Sans"/>
              </a:rPr>
              <a:t> </a:t>
            </a:r>
            <a:r>
              <a:rPr dirty="0" sz="1100" spc="5">
                <a:latin typeface="Lucida Sans"/>
                <a:cs typeface="Lucida Sans"/>
              </a:rPr>
              <a:t>into</a:t>
            </a:r>
            <a:r>
              <a:rPr dirty="0" sz="1100" spc="10">
                <a:latin typeface="Lucida Sans"/>
                <a:cs typeface="Lucida Sans"/>
              </a:rPr>
              <a:t> </a:t>
            </a:r>
            <a:r>
              <a:rPr dirty="0" sz="1100" spc="15">
                <a:latin typeface="Lucida Sans"/>
                <a:cs typeface="Lucida Sans"/>
              </a:rPr>
              <a:t>associative</a:t>
            </a:r>
            <a:r>
              <a:rPr dirty="0" sz="1100" spc="10">
                <a:latin typeface="Lucida Sans"/>
                <a:cs typeface="Lucida Sans"/>
              </a:rPr>
              <a:t> </a:t>
            </a:r>
            <a:r>
              <a:rPr dirty="0" sz="1100" spc="-5">
                <a:latin typeface="Lucida Sans"/>
                <a:cs typeface="Lucida Sans"/>
              </a:rPr>
              <a:t>array.</a:t>
            </a:r>
            <a:endParaRPr sz="1100">
              <a:latin typeface="Lucida Sans"/>
              <a:cs typeface="Lucida Sans"/>
            </a:endParaRPr>
          </a:p>
          <a:p>
            <a:pPr marL="50800">
              <a:lnSpc>
                <a:spcPts val="2020"/>
              </a:lnSpc>
            </a:pPr>
            <a:r>
              <a:rPr dirty="0" baseline="-12012" sz="2775" spc="22">
                <a:latin typeface="Microsoft JhengHei"/>
                <a:cs typeface="Microsoft JhengHei"/>
              </a:rPr>
              <a:t>・</a:t>
            </a:r>
            <a:r>
              <a:rPr dirty="0" sz="1100" spc="10">
                <a:latin typeface="Lucida Sans"/>
                <a:cs typeface="Lucida Sans"/>
              </a:rPr>
              <a:t>Linux</a:t>
            </a:r>
            <a:r>
              <a:rPr dirty="0" sz="1100" spc="5">
                <a:latin typeface="Lucida Sans"/>
                <a:cs typeface="Lucida Sans"/>
              </a:rPr>
              <a:t> </a:t>
            </a:r>
            <a:r>
              <a:rPr dirty="0" sz="1100" spc="10">
                <a:latin typeface="Lucida Sans"/>
                <a:cs typeface="Lucida Sans"/>
              </a:rPr>
              <a:t>2.4.20</a:t>
            </a:r>
            <a:r>
              <a:rPr dirty="0" sz="1100" spc="5">
                <a:latin typeface="Lucida Sans"/>
                <a:cs typeface="Lucida Sans"/>
              </a:rPr>
              <a:t> kernel:</a:t>
            </a:r>
            <a:r>
              <a:rPr dirty="0" sz="1100" spc="15">
                <a:latin typeface="Lucida Sans"/>
                <a:cs typeface="Lucida Sans"/>
              </a:rPr>
              <a:t> </a:t>
            </a:r>
            <a:r>
              <a:rPr dirty="0" sz="1100" spc="25">
                <a:latin typeface="Lucida Sans"/>
                <a:cs typeface="Lucida Sans"/>
              </a:rPr>
              <a:t>save</a:t>
            </a:r>
            <a:r>
              <a:rPr dirty="0" sz="1100" spc="5">
                <a:latin typeface="Lucida Sans"/>
                <a:cs typeface="Lucida Sans"/>
              </a:rPr>
              <a:t> files </a:t>
            </a:r>
            <a:r>
              <a:rPr dirty="0" sz="1100" spc="25">
                <a:latin typeface="Lucida Sans"/>
                <a:cs typeface="Lucida Sans"/>
              </a:rPr>
              <a:t>with</a:t>
            </a:r>
            <a:r>
              <a:rPr dirty="0" sz="1100" spc="5">
                <a:latin typeface="Lucida Sans"/>
                <a:cs typeface="Lucida Sans"/>
              </a:rPr>
              <a:t> </a:t>
            </a:r>
            <a:r>
              <a:rPr dirty="0" sz="1100" spc="10">
                <a:latin typeface="Lucida Sans"/>
                <a:cs typeface="Lucida Sans"/>
              </a:rPr>
              <a:t>carefully</a:t>
            </a:r>
            <a:r>
              <a:rPr dirty="0" sz="1100" spc="5">
                <a:latin typeface="Lucida Sans"/>
                <a:cs typeface="Lucida Sans"/>
              </a:rPr>
              <a:t> </a:t>
            </a:r>
            <a:r>
              <a:rPr dirty="0" sz="1100" spc="10">
                <a:latin typeface="Lucida Sans"/>
                <a:cs typeface="Lucida Sans"/>
              </a:rPr>
              <a:t>chosen</a:t>
            </a:r>
            <a:r>
              <a:rPr dirty="0" sz="1100" spc="5">
                <a:latin typeface="Lucida Sans"/>
                <a:cs typeface="Lucida Sans"/>
              </a:rPr>
              <a:t> </a:t>
            </a:r>
            <a:r>
              <a:rPr dirty="0" sz="1100" spc="10">
                <a:latin typeface="Lucida Sans"/>
                <a:cs typeface="Lucida Sans"/>
              </a:rPr>
              <a:t>names.</a:t>
            </a:r>
            <a:endParaRPr sz="1100">
              <a:latin typeface="Lucida Sans"/>
              <a:cs typeface="Lucida Sans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8541208" y="2327192"/>
            <a:ext cx="2512060" cy="50545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065" marR="5080" indent="-1270">
              <a:lnSpc>
                <a:spcPct val="139900"/>
              </a:lnSpc>
              <a:spcBef>
                <a:spcPts val="100"/>
              </a:spcBef>
            </a:pPr>
            <a:r>
              <a:rPr dirty="0" sz="750" spc="10" b="1">
                <a:latin typeface="Tahoma"/>
                <a:cs typeface="Tahoma"/>
              </a:rPr>
              <a:t>malicious</a:t>
            </a:r>
            <a:r>
              <a:rPr dirty="0" sz="750" spc="65" b="1">
                <a:latin typeface="Tahoma"/>
                <a:cs typeface="Tahoma"/>
              </a:rPr>
              <a:t> </a:t>
            </a:r>
            <a:r>
              <a:rPr dirty="0" sz="750" spc="5" b="1">
                <a:latin typeface="Tahoma"/>
                <a:cs typeface="Tahoma"/>
              </a:rPr>
              <a:t>adversary</a:t>
            </a:r>
            <a:r>
              <a:rPr dirty="0" sz="750" spc="65" b="1">
                <a:latin typeface="Tahoma"/>
                <a:cs typeface="Tahoma"/>
              </a:rPr>
              <a:t> </a:t>
            </a:r>
            <a:r>
              <a:rPr dirty="0" sz="750" spc="5" b="1">
                <a:latin typeface="Tahoma"/>
                <a:cs typeface="Tahoma"/>
              </a:rPr>
              <a:t>learns</a:t>
            </a:r>
            <a:r>
              <a:rPr dirty="0" sz="750" spc="65" b="1">
                <a:latin typeface="Tahoma"/>
                <a:cs typeface="Tahoma"/>
              </a:rPr>
              <a:t> </a:t>
            </a:r>
            <a:r>
              <a:rPr dirty="0" sz="750" spc="5" b="1">
                <a:latin typeface="Tahoma"/>
                <a:cs typeface="Tahoma"/>
              </a:rPr>
              <a:t>your</a:t>
            </a:r>
            <a:r>
              <a:rPr dirty="0" sz="750" spc="65" b="1">
                <a:latin typeface="Tahoma"/>
                <a:cs typeface="Tahoma"/>
              </a:rPr>
              <a:t> </a:t>
            </a:r>
            <a:r>
              <a:rPr dirty="0" sz="750" spc="10" b="1">
                <a:latin typeface="Tahoma"/>
                <a:cs typeface="Tahoma"/>
              </a:rPr>
              <a:t>hash</a:t>
            </a:r>
            <a:r>
              <a:rPr dirty="0" sz="750" spc="65" b="1">
                <a:latin typeface="Tahoma"/>
                <a:cs typeface="Tahoma"/>
              </a:rPr>
              <a:t> </a:t>
            </a:r>
            <a:r>
              <a:rPr dirty="0" sz="750" spc="5" b="1">
                <a:latin typeface="Tahoma"/>
                <a:cs typeface="Tahoma"/>
              </a:rPr>
              <a:t>function </a:t>
            </a:r>
            <a:r>
              <a:rPr dirty="0" sz="750" spc="10" b="1">
                <a:latin typeface="Tahoma"/>
                <a:cs typeface="Tahoma"/>
              </a:rPr>
              <a:t> </a:t>
            </a:r>
            <a:r>
              <a:rPr dirty="0" sz="750" spc="-35" b="1">
                <a:latin typeface="Tahoma"/>
                <a:cs typeface="Tahoma"/>
              </a:rPr>
              <a:t>(e.g.,</a:t>
            </a:r>
            <a:r>
              <a:rPr dirty="0" sz="750" spc="25" b="1">
                <a:latin typeface="Tahoma"/>
                <a:cs typeface="Tahoma"/>
              </a:rPr>
              <a:t> </a:t>
            </a:r>
            <a:r>
              <a:rPr dirty="0" sz="750" spc="10" b="1">
                <a:latin typeface="Tahoma"/>
                <a:cs typeface="Tahoma"/>
              </a:rPr>
              <a:t>by</a:t>
            </a:r>
            <a:r>
              <a:rPr dirty="0" sz="750" spc="25" b="1">
                <a:latin typeface="Tahoma"/>
                <a:cs typeface="Tahoma"/>
              </a:rPr>
              <a:t> </a:t>
            </a:r>
            <a:r>
              <a:rPr dirty="0" sz="750" spc="5" b="1">
                <a:latin typeface="Tahoma"/>
                <a:cs typeface="Tahoma"/>
              </a:rPr>
              <a:t>reading</a:t>
            </a:r>
            <a:r>
              <a:rPr dirty="0" sz="750" spc="25" b="1">
                <a:latin typeface="Tahoma"/>
                <a:cs typeface="Tahoma"/>
              </a:rPr>
              <a:t> </a:t>
            </a:r>
            <a:r>
              <a:rPr dirty="0" sz="750" spc="-20" b="1">
                <a:latin typeface="Tahoma"/>
                <a:cs typeface="Tahoma"/>
              </a:rPr>
              <a:t>Java</a:t>
            </a:r>
            <a:r>
              <a:rPr dirty="0" sz="750" spc="25" b="1">
                <a:latin typeface="Tahoma"/>
                <a:cs typeface="Tahoma"/>
              </a:rPr>
              <a:t> </a:t>
            </a:r>
            <a:r>
              <a:rPr dirty="0" sz="750" spc="-45" b="1">
                <a:latin typeface="Tahoma"/>
                <a:cs typeface="Tahoma"/>
              </a:rPr>
              <a:t>API)</a:t>
            </a:r>
            <a:r>
              <a:rPr dirty="0" sz="750" spc="25" b="1">
                <a:latin typeface="Tahoma"/>
                <a:cs typeface="Tahoma"/>
              </a:rPr>
              <a:t> </a:t>
            </a:r>
            <a:r>
              <a:rPr dirty="0" sz="750" spc="5" b="1">
                <a:latin typeface="Tahoma"/>
                <a:cs typeface="Tahoma"/>
              </a:rPr>
              <a:t>and</a:t>
            </a:r>
            <a:r>
              <a:rPr dirty="0" sz="750" spc="25" b="1">
                <a:latin typeface="Tahoma"/>
                <a:cs typeface="Tahoma"/>
              </a:rPr>
              <a:t> </a:t>
            </a:r>
            <a:r>
              <a:rPr dirty="0" sz="750" spc="10" b="1">
                <a:latin typeface="Tahoma"/>
                <a:cs typeface="Tahoma"/>
              </a:rPr>
              <a:t>causes</a:t>
            </a:r>
            <a:r>
              <a:rPr dirty="0" sz="750" spc="25" b="1">
                <a:latin typeface="Tahoma"/>
                <a:cs typeface="Tahoma"/>
              </a:rPr>
              <a:t> </a:t>
            </a:r>
            <a:r>
              <a:rPr dirty="0" sz="750" spc="-15" b="1">
                <a:latin typeface="Tahoma"/>
                <a:cs typeface="Tahoma"/>
              </a:rPr>
              <a:t>a</a:t>
            </a:r>
            <a:r>
              <a:rPr dirty="0" sz="750" spc="25" b="1">
                <a:latin typeface="Tahoma"/>
                <a:cs typeface="Tahoma"/>
              </a:rPr>
              <a:t> </a:t>
            </a:r>
            <a:r>
              <a:rPr dirty="0" sz="750" spc="15" b="1">
                <a:latin typeface="Tahoma"/>
                <a:cs typeface="Tahoma"/>
              </a:rPr>
              <a:t>big</a:t>
            </a:r>
            <a:r>
              <a:rPr dirty="0" sz="750" spc="25" b="1">
                <a:latin typeface="Tahoma"/>
                <a:cs typeface="Tahoma"/>
              </a:rPr>
              <a:t> </a:t>
            </a:r>
            <a:r>
              <a:rPr dirty="0" sz="750" spc="30" b="1">
                <a:latin typeface="Tahoma"/>
                <a:cs typeface="Tahoma"/>
              </a:rPr>
              <a:t>pile-up </a:t>
            </a:r>
            <a:r>
              <a:rPr dirty="0" sz="750" spc="-204" b="1">
                <a:latin typeface="Tahoma"/>
                <a:cs typeface="Tahoma"/>
              </a:rPr>
              <a:t> </a:t>
            </a:r>
            <a:r>
              <a:rPr dirty="0" sz="750" spc="10" b="1">
                <a:latin typeface="Tahoma"/>
                <a:cs typeface="Tahoma"/>
              </a:rPr>
              <a:t>in</a:t>
            </a:r>
            <a:r>
              <a:rPr dirty="0" sz="750" spc="20" b="1">
                <a:latin typeface="Tahoma"/>
                <a:cs typeface="Tahoma"/>
              </a:rPr>
              <a:t> </a:t>
            </a:r>
            <a:r>
              <a:rPr dirty="0" sz="750" spc="10" b="1">
                <a:latin typeface="Tahoma"/>
                <a:cs typeface="Tahoma"/>
              </a:rPr>
              <a:t>single</a:t>
            </a:r>
            <a:r>
              <a:rPr dirty="0" sz="750" spc="25" b="1">
                <a:latin typeface="Tahoma"/>
                <a:cs typeface="Tahoma"/>
              </a:rPr>
              <a:t> </a:t>
            </a:r>
            <a:r>
              <a:rPr dirty="0" sz="750" spc="10" b="1">
                <a:latin typeface="Tahoma"/>
                <a:cs typeface="Tahoma"/>
              </a:rPr>
              <a:t>slot</a:t>
            </a:r>
            <a:r>
              <a:rPr dirty="0" sz="750" spc="25" b="1">
                <a:latin typeface="Tahoma"/>
                <a:cs typeface="Tahoma"/>
              </a:rPr>
              <a:t> </a:t>
            </a:r>
            <a:r>
              <a:rPr dirty="0" sz="750" spc="-10" b="1">
                <a:latin typeface="Tahoma"/>
                <a:cs typeface="Tahoma"/>
              </a:rPr>
              <a:t>that</a:t>
            </a:r>
            <a:r>
              <a:rPr dirty="0" sz="750" spc="25" b="1">
                <a:latin typeface="Tahoma"/>
                <a:cs typeface="Tahoma"/>
              </a:rPr>
              <a:t> </a:t>
            </a:r>
            <a:r>
              <a:rPr dirty="0" sz="750" spc="15" b="1">
                <a:latin typeface="Tahoma"/>
                <a:cs typeface="Tahoma"/>
              </a:rPr>
              <a:t>grinds</a:t>
            </a:r>
            <a:r>
              <a:rPr dirty="0" sz="750" spc="25" b="1">
                <a:latin typeface="Tahoma"/>
                <a:cs typeface="Tahoma"/>
              </a:rPr>
              <a:t> </a:t>
            </a:r>
            <a:r>
              <a:rPr dirty="0" sz="750" b="1">
                <a:latin typeface="Tahoma"/>
                <a:cs typeface="Tahoma"/>
              </a:rPr>
              <a:t>performance</a:t>
            </a:r>
            <a:r>
              <a:rPr dirty="0" sz="750" spc="25" b="1">
                <a:latin typeface="Tahoma"/>
                <a:cs typeface="Tahoma"/>
              </a:rPr>
              <a:t> </a:t>
            </a:r>
            <a:r>
              <a:rPr dirty="0" sz="750" spc="-5" b="1">
                <a:latin typeface="Tahoma"/>
                <a:cs typeface="Tahoma"/>
              </a:rPr>
              <a:t>to</a:t>
            </a:r>
            <a:r>
              <a:rPr dirty="0" sz="750" spc="25" b="1">
                <a:latin typeface="Tahoma"/>
                <a:cs typeface="Tahoma"/>
              </a:rPr>
              <a:t> </a:t>
            </a:r>
            <a:r>
              <a:rPr dirty="0" sz="750" spc="-15" b="1">
                <a:latin typeface="Tahoma"/>
                <a:cs typeface="Tahoma"/>
              </a:rPr>
              <a:t>a</a:t>
            </a:r>
            <a:r>
              <a:rPr dirty="0" sz="750" spc="25" b="1">
                <a:latin typeface="Tahoma"/>
                <a:cs typeface="Tahoma"/>
              </a:rPr>
              <a:t> </a:t>
            </a:r>
            <a:r>
              <a:rPr dirty="0" sz="750" b="1">
                <a:latin typeface="Tahoma"/>
                <a:cs typeface="Tahoma"/>
              </a:rPr>
              <a:t>halt</a:t>
            </a:r>
            <a:endParaRPr sz="750">
              <a:latin typeface="Tahoma"/>
              <a:cs typeface="Tahoma"/>
            </a:endParaRPr>
          </a:p>
        </p:txBody>
      </p:sp>
      <p:graphicFrame>
        <p:nvGraphicFramePr>
          <p:cNvPr id="33" name="object 33"/>
          <p:cNvGraphicFramePr>
            <a:graphicFrameLocks noGrp="1"/>
          </p:cNvGraphicFramePr>
          <p:nvPr/>
        </p:nvGraphicFramePr>
        <p:xfrm>
          <a:off x="7472098" y="1910663"/>
          <a:ext cx="157480" cy="11836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7955"/>
              </a:tblGrid>
              <a:tr h="1479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5D5D5"/>
                    </a:solidFill>
                  </a:tcPr>
                </a:tc>
              </a:tr>
              <a:tr h="1479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5D5D5"/>
                    </a:solidFill>
                  </a:tcPr>
                </a:tc>
              </a:tr>
              <a:tr h="1479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5D5D5"/>
                    </a:solidFill>
                  </a:tcPr>
                </a:tc>
              </a:tr>
              <a:tr h="1479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5D5D5"/>
                    </a:solidFill>
                  </a:tcPr>
                </a:tc>
              </a:tr>
              <a:tr h="1479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5D5D5"/>
                    </a:solidFill>
                  </a:tcPr>
                </a:tc>
              </a:tr>
              <a:tr h="1479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5D5D5"/>
                    </a:solidFill>
                  </a:tcPr>
                </a:tc>
              </a:tr>
              <a:tr h="1479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5D5D5"/>
                    </a:solidFill>
                  </a:tcPr>
                </a:tc>
              </a:tr>
              <a:tr h="1479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5D5D5"/>
                    </a:solidFill>
                  </a:tcPr>
                </a:tc>
              </a:tr>
            </a:tbl>
          </a:graphicData>
        </a:graphic>
      </p:graphicFrame>
      <p:grpSp>
        <p:nvGrpSpPr>
          <p:cNvPr id="34" name="object 34"/>
          <p:cNvGrpSpPr/>
          <p:nvPr/>
        </p:nvGrpSpPr>
        <p:grpSpPr>
          <a:xfrm>
            <a:off x="7621044" y="1981751"/>
            <a:ext cx="4187825" cy="269240"/>
            <a:chOff x="7621044" y="1981751"/>
            <a:chExt cx="4187825" cy="269240"/>
          </a:xfrm>
        </p:grpSpPr>
        <p:sp>
          <p:nvSpPr>
            <p:cNvPr id="35" name="object 35"/>
            <p:cNvSpPr/>
            <p:nvPr/>
          </p:nvSpPr>
          <p:spPr>
            <a:xfrm>
              <a:off x="8080734" y="2058763"/>
              <a:ext cx="115570" cy="0"/>
            </a:xfrm>
            <a:custGeom>
              <a:avLst/>
              <a:gdLst/>
              <a:ahLst/>
              <a:cxnLst/>
              <a:rect l="l" t="t" r="r" b="b"/>
              <a:pathLst>
                <a:path w="115570" h="0">
                  <a:moveTo>
                    <a:pt x="0" y="0"/>
                  </a:moveTo>
                  <a:lnTo>
                    <a:pt x="27695" y="0"/>
                  </a:lnTo>
                  <a:lnTo>
                    <a:pt x="55390" y="0"/>
                  </a:lnTo>
                  <a:lnTo>
                    <a:pt x="83085" y="0"/>
                  </a:lnTo>
                  <a:lnTo>
                    <a:pt x="110780" y="0"/>
                  </a:lnTo>
                  <a:lnTo>
                    <a:pt x="115223" y="0"/>
                  </a:lnTo>
                </a:path>
              </a:pathLst>
            </a:custGeom>
            <a:ln w="88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8191515" y="2035659"/>
              <a:ext cx="46355" cy="46355"/>
            </a:xfrm>
            <a:custGeom>
              <a:avLst/>
              <a:gdLst/>
              <a:ahLst/>
              <a:cxnLst/>
              <a:rect l="l" t="t" r="r" b="b"/>
              <a:pathLst>
                <a:path w="46354" h="46355">
                  <a:moveTo>
                    <a:pt x="0" y="0"/>
                  </a:moveTo>
                  <a:lnTo>
                    <a:pt x="0" y="46207"/>
                  </a:lnTo>
                  <a:lnTo>
                    <a:pt x="46207" y="23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7625487" y="2109728"/>
              <a:ext cx="276860" cy="136525"/>
            </a:xfrm>
            <a:custGeom>
              <a:avLst/>
              <a:gdLst/>
              <a:ahLst/>
              <a:cxnLst/>
              <a:rect l="l" t="t" r="r" b="b"/>
              <a:pathLst>
                <a:path w="276859" h="136525">
                  <a:moveTo>
                    <a:pt x="276503" y="0"/>
                  </a:moveTo>
                  <a:lnTo>
                    <a:pt x="272519" y="1966"/>
                  </a:lnTo>
                  <a:lnTo>
                    <a:pt x="227097" y="24382"/>
                  </a:lnTo>
                  <a:lnTo>
                    <a:pt x="181676" y="46797"/>
                  </a:lnTo>
                  <a:lnTo>
                    <a:pt x="136256" y="69212"/>
                  </a:lnTo>
                  <a:lnTo>
                    <a:pt x="90837" y="91627"/>
                  </a:lnTo>
                  <a:lnTo>
                    <a:pt x="45418" y="114041"/>
                  </a:lnTo>
                  <a:lnTo>
                    <a:pt x="0" y="136456"/>
                  </a:lnTo>
                </a:path>
              </a:pathLst>
            </a:custGeom>
            <a:ln w="88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8" name="object 3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877423" y="1981751"/>
              <a:ext cx="204850" cy="155773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8388856" y="2058763"/>
              <a:ext cx="132715" cy="0"/>
            </a:xfrm>
            <a:custGeom>
              <a:avLst/>
              <a:gdLst/>
              <a:ahLst/>
              <a:cxnLst/>
              <a:rect l="l" t="t" r="r" b="b"/>
              <a:pathLst>
                <a:path w="132715" h="0">
                  <a:moveTo>
                    <a:pt x="132549" y="0"/>
                  </a:moveTo>
                  <a:lnTo>
                    <a:pt x="128106" y="0"/>
                  </a:lnTo>
                  <a:lnTo>
                    <a:pt x="96079" y="0"/>
                  </a:lnTo>
                  <a:lnTo>
                    <a:pt x="64052" y="0"/>
                  </a:lnTo>
                  <a:lnTo>
                    <a:pt x="32026" y="0"/>
                  </a:lnTo>
                  <a:lnTo>
                    <a:pt x="0" y="0"/>
                  </a:lnTo>
                </a:path>
              </a:pathLst>
            </a:custGeom>
            <a:ln w="88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8505410" y="2035659"/>
              <a:ext cx="46355" cy="46355"/>
            </a:xfrm>
            <a:custGeom>
              <a:avLst/>
              <a:gdLst/>
              <a:ahLst/>
              <a:cxnLst/>
              <a:rect l="l" t="t" r="r" b="b"/>
              <a:pathLst>
                <a:path w="46354" h="46355">
                  <a:moveTo>
                    <a:pt x="0" y="0"/>
                  </a:moveTo>
                  <a:lnTo>
                    <a:pt x="11551" y="23103"/>
                  </a:lnTo>
                  <a:lnTo>
                    <a:pt x="0" y="46207"/>
                  </a:lnTo>
                  <a:lnTo>
                    <a:pt x="46207" y="23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8239261" y="1984713"/>
              <a:ext cx="148590" cy="148590"/>
            </a:xfrm>
            <a:custGeom>
              <a:avLst/>
              <a:gdLst/>
              <a:ahLst/>
              <a:cxnLst/>
              <a:rect l="l" t="t" r="r" b="b"/>
              <a:pathLst>
                <a:path w="148590" h="148589">
                  <a:moveTo>
                    <a:pt x="0" y="0"/>
                  </a:moveTo>
                  <a:lnTo>
                    <a:pt x="148100" y="0"/>
                  </a:lnTo>
                  <a:lnTo>
                    <a:pt x="148100" y="148100"/>
                  </a:lnTo>
                  <a:lnTo>
                    <a:pt x="0" y="14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8239261" y="1984713"/>
              <a:ext cx="148590" cy="148590"/>
            </a:xfrm>
            <a:custGeom>
              <a:avLst/>
              <a:gdLst/>
              <a:ahLst/>
              <a:cxnLst/>
              <a:rect l="l" t="t" r="r" b="b"/>
              <a:pathLst>
                <a:path w="148590" h="148589">
                  <a:moveTo>
                    <a:pt x="0" y="0"/>
                  </a:moveTo>
                  <a:lnTo>
                    <a:pt x="148100" y="0"/>
                  </a:lnTo>
                  <a:lnTo>
                    <a:pt x="148100" y="148100"/>
                  </a:lnTo>
                  <a:lnTo>
                    <a:pt x="0" y="148100"/>
                  </a:lnTo>
                  <a:lnTo>
                    <a:pt x="0" y="0"/>
                  </a:lnTo>
                  <a:close/>
                </a:path>
              </a:pathLst>
            </a:custGeom>
            <a:ln w="59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8702817" y="2058763"/>
              <a:ext cx="109855" cy="0"/>
            </a:xfrm>
            <a:custGeom>
              <a:avLst/>
              <a:gdLst/>
              <a:ahLst/>
              <a:cxnLst/>
              <a:rect l="l" t="t" r="r" b="b"/>
              <a:pathLst>
                <a:path w="109854" h="0">
                  <a:moveTo>
                    <a:pt x="0" y="0"/>
                  </a:moveTo>
                  <a:lnTo>
                    <a:pt x="26232" y="0"/>
                  </a:lnTo>
                  <a:lnTo>
                    <a:pt x="52464" y="0"/>
                  </a:lnTo>
                  <a:lnTo>
                    <a:pt x="78697" y="0"/>
                  </a:lnTo>
                  <a:lnTo>
                    <a:pt x="104929" y="0"/>
                  </a:lnTo>
                  <a:lnTo>
                    <a:pt x="109373" y="0"/>
                  </a:lnTo>
                </a:path>
              </a:pathLst>
            </a:custGeom>
            <a:ln w="88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8807746" y="2035660"/>
              <a:ext cx="46355" cy="46355"/>
            </a:xfrm>
            <a:custGeom>
              <a:avLst/>
              <a:gdLst/>
              <a:ahLst/>
              <a:cxnLst/>
              <a:rect l="l" t="t" r="r" b="b"/>
              <a:pathLst>
                <a:path w="46354" h="46355">
                  <a:moveTo>
                    <a:pt x="0" y="0"/>
                  </a:moveTo>
                  <a:lnTo>
                    <a:pt x="0" y="46207"/>
                  </a:lnTo>
                  <a:lnTo>
                    <a:pt x="46207" y="23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/>
            <p:cNvSpPr/>
            <p:nvPr/>
          </p:nvSpPr>
          <p:spPr>
            <a:xfrm>
              <a:off x="8553235" y="1984713"/>
              <a:ext cx="148590" cy="148590"/>
            </a:xfrm>
            <a:custGeom>
              <a:avLst/>
              <a:gdLst/>
              <a:ahLst/>
              <a:cxnLst/>
              <a:rect l="l" t="t" r="r" b="b"/>
              <a:pathLst>
                <a:path w="148590" h="148589">
                  <a:moveTo>
                    <a:pt x="0" y="0"/>
                  </a:moveTo>
                  <a:lnTo>
                    <a:pt x="148100" y="0"/>
                  </a:lnTo>
                  <a:lnTo>
                    <a:pt x="148100" y="148100"/>
                  </a:lnTo>
                  <a:lnTo>
                    <a:pt x="0" y="14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/>
            <p:cNvSpPr/>
            <p:nvPr/>
          </p:nvSpPr>
          <p:spPr>
            <a:xfrm>
              <a:off x="8553235" y="1984713"/>
              <a:ext cx="148590" cy="148590"/>
            </a:xfrm>
            <a:custGeom>
              <a:avLst/>
              <a:gdLst/>
              <a:ahLst/>
              <a:cxnLst/>
              <a:rect l="l" t="t" r="r" b="b"/>
              <a:pathLst>
                <a:path w="148590" h="148589">
                  <a:moveTo>
                    <a:pt x="0" y="0"/>
                  </a:moveTo>
                  <a:lnTo>
                    <a:pt x="148100" y="0"/>
                  </a:lnTo>
                  <a:lnTo>
                    <a:pt x="148100" y="148100"/>
                  </a:lnTo>
                  <a:lnTo>
                    <a:pt x="0" y="148100"/>
                  </a:lnTo>
                  <a:lnTo>
                    <a:pt x="0" y="0"/>
                  </a:lnTo>
                  <a:close/>
                </a:path>
              </a:pathLst>
            </a:custGeom>
            <a:ln w="59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/>
            <p:cNvSpPr/>
            <p:nvPr/>
          </p:nvSpPr>
          <p:spPr>
            <a:xfrm>
              <a:off x="9004883" y="2058763"/>
              <a:ext cx="115570" cy="0"/>
            </a:xfrm>
            <a:custGeom>
              <a:avLst/>
              <a:gdLst/>
              <a:ahLst/>
              <a:cxnLst/>
              <a:rect l="l" t="t" r="r" b="b"/>
              <a:pathLst>
                <a:path w="115570" h="0">
                  <a:moveTo>
                    <a:pt x="0" y="0"/>
                  </a:moveTo>
                  <a:lnTo>
                    <a:pt x="27695" y="0"/>
                  </a:lnTo>
                  <a:lnTo>
                    <a:pt x="55390" y="0"/>
                  </a:lnTo>
                  <a:lnTo>
                    <a:pt x="83085" y="0"/>
                  </a:lnTo>
                  <a:lnTo>
                    <a:pt x="110780" y="0"/>
                  </a:lnTo>
                  <a:lnTo>
                    <a:pt x="115224" y="0"/>
                  </a:lnTo>
                </a:path>
              </a:pathLst>
            </a:custGeom>
            <a:ln w="88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/>
            <p:cNvSpPr/>
            <p:nvPr/>
          </p:nvSpPr>
          <p:spPr>
            <a:xfrm>
              <a:off x="9115665" y="2035659"/>
              <a:ext cx="46355" cy="46355"/>
            </a:xfrm>
            <a:custGeom>
              <a:avLst/>
              <a:gdLst/>
              <a:ahLst/>
              <a:cxnLst/>
              <a:rect l="l" t="t" r="r" b="b"/>
              <a:pathLst>
                <a:path w="46354" h="46355">
                  <a:moveTo>
                    <a:pt x="0" y="0"/>
                  </a:moveTo>
                  <a:lnTo>
                    <a:pt x="0" y="46207"/>
                  </a:lnTo>
                  <a:lnTo>
                    <a:pt x="46207" y="23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/>
            <p:cNvSpPr/>
            <p:nvPr/>
          </p:nvSpPr>
          <p:spPr>
            <a:xfrm>
              <a:off x="8855361" y="1984713"/>
              <a:ext cx="148590" cy="148590"/>
            </a:xfrm>
            <a:custGeom>
              <a:avLst/>
              <a:gdLst/>
              <a:ahLst/>
              <a:cxnLst/>
              <a:rect l="l" t="t" r="r" b="b"/>
              <a:pathLst>
                <a:path w="148590" h="148589">
                  <a:moveTo>
                    <a:pt x="0" y="0"/>
                  </a:moveTo>
                  <a:lnTo>
                    <a:pt x="148100" y="0"/>
                  </a:lnTo>
                  <a:lnTo>
                    <a:pt x="148100" y="148100"/>
                  </a:lnTo>
                  <a:lnTo>
                    <a:pt x="0" y="14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/>
            <p:cNvSpPr/>
            <p:nvPr/>
          </p:nvSpPr>
          <p:spPr>
            <a:xfrm>
              <a:off x="8855361" y="1984713"/>
              <a:ext cx="148590" cy="148590"/>
            </a:xfrm>
            <a:custGeom>
              <a:avLst/>
              <a:gdLst/>
              <a:ahLst/>
              <a:cxnLst/>
              <a:rect l="l" t="t" r="r" b="b"/>
              <a:pathLst>
                <a:path w="148590" h="148589">
                  <a:moveTo>
                    <a:pt x="0" y="0"/>
                  </a:moveTo>
                  <a:lnTo>
                    <a:pt x="148100" y="0"/>
                  </a:lnTo>
                  <a:lnTo>
                    <a:pt x="148100" y="148100"/>
                  </a:lnTo>
                  <a:lnTo>
                    <a:pt x="0" y="148100"/>
                  </a:lnTo>
                  <a:lnTo>
                    <a:pt x="0" y="0"/>
                  </a:lnTo>
                  <a:close/>
                </a:path>
              </a:pathLst>
            </a:custGeom>
            <a:ln w="59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/>
            <p:cNvSpPr/>
            <p:nvPr/>
          </p:nvSpPr>
          <p:spPr>
            <a:xfrm>
              <a:off x="9621055" y="2058763"/>
              <a:ext cx="132715" cy="0"/>
            </a:xfrm>
            <a:custGeom>
              <a:avLst/>
              <a:gdLst/>
              <a:ahLst/>
              <a:cxnLst/>
              <a:rect l="l" t="t" r="r" b="b"/>
              <a:pathLst>
                <a:path w="132715" h="0">
                  <a:moveTo>
                    <a:pt x="132549" y="0"/>
                  </a:moveTo>
                  <a:lnTo>
                    <a:pt x="128106" y="0"/>
                  </a:lnTo>
                  <a:lnTo>
                    <a:pt x="96079" y="0"/>
                  </a:lnTo>
                  <a:lnTo>
                    <a:pt x="64052" y="0"/>
                  </a:lnTo>
                  <a:lnTo>
                    <a:pt x="32026" y="0"/>
                  </a:lnTo>
                  <a:lnTo>
                    <a:pt x="0" y="0"/>
                  </a:lnTo>
                </a:path>
              </a:pathLst>
            </a:custGeom>
            <a:ln w="88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/>
            <p:cNvSpPr/>
            <p:nvPr/>
          </p:nvSpPr>
          <p:spPr>
            <a:xfrm>
              <a:off x="9737609" y="2035659"/>
              <a:ext cx="46355" cy="46355"/>
            </a:xfrm>
            <a:custGeom>
              <a:avLst/>
              <a:gdLst/>
              <a:ahLst/>
              <a:cxnLst/>
              <a:rect l="l" t="t" r="r" b="b"/>
              <a:pathLst>
                <a:path w="46354" h="46355">
                  <a:moveTo>
                    <a:pt x="0" y="0"/>
                  </a:moveTo>
                  <a:lnTo>
                    <a:pt x="11552" y="23103"/>
                  </a:lnTo>
                  <a:lnTo>
                    <a:pt x="0" y="46207"/>
                  </a:lnTo>
                  <a:lnTo>
                    <a:pt x="46207" y="23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/>
            <p:cNvSpPr/>
            <p:nvPr/>
          </p:nvSpPr>
          <p:spPr>
            <a:xfrm>
              <a:off x="9312933" y="2058763"/>
              <a:ext cx="115570" cy="0"/>
            </a:xfrm>
            <a:custGeom>
              <a:avLst/>
              <a:gdLst/>
              <a:ahLst/>
              <a:cxnLst/>
              <a:rect l="l" t="t" r="r" b="b"/>
              <a:pathLst>
                <a:path w="115570" h="0">
                  <a:moveTo>
                    <a:pt x="0" y="0"/>
                  </a:moveTo>
                  <a:lnTo>
                    <a:pt x="27695" y="0"/>
                  </a:lnTo>
                  <a:lnTo>
                    <a:pt x="55390" y="0"/>
                  </a:lnTo>
                  <a:lnTo>
                    <a:pt x="83085" y="0"/>
                  </a:lnTo>
                  <a:lnTo>
                    <a:pt x="110780" y="0"/>
                  </a:lnTo>
                  <a:lnTo>
                    <a:pt x="115224" y="0"/>
                  </a:lnTo>
                </a:path>
              </a:pathLst>
            </a:custGeom>
            <a:ln w="88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/>
            <p:cNvSpPr/>
            <p:nvPr/>
          </p:nvSpPr>
          <p:spPr>
            <a:xfrm>
              <a:off x="9423714" y="2035659"/>
              <a:ext cx="46355" cy="46355"/>
            </a:xfrm>
            <a:custGeom>
              <a:avLst/>
              <a:gdLst/>
              <a:ahLst/>
              <a:cxnLst/>
              <a:rect l="l" t="t" r="r" b="b"/>
              <a:pathLst>
                <a:path w="46354" h="46355">
                  <a:moveTo>
                    <a:pt x="0" y="0"/>
                  </a:moveTo>
                  <a:lnTo>
                    <a:pt x="0" y="46207"/>
                  </a:lnTo>
                  <a:lnTo>
                    <a:pt x="46207" y="23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/>
            <p:cNvSpPr/>
            <p:nvPr/>
          </p:nvSpPr>
          <p:spPr>
            <a:xfrm>
              <a:off x="9471460" y="1984713"/>
              <a:ext cx="148590" cy="148590"/>
            </a:xfrm>
            <a:custGeom>
              <a:avLst/>
              <a:gdLst/>
              <a:ahLst/>
              <a:cxnLst/>
              <a:rect l="l" t="t" r="r" b="b"/>
              <a:pathLst>
                <a:path w="148590" h="148589">
                  <a:moveTo>
                    <a:pt x="0" y="0"/>
                  </a:moveTo>
                  <a:lnTo>
                    <a:pt x="148100" y="0"/>
                  </a:lnTo>
                  <a:lnTo>
                    <a:pt x="148100" y="148100"/>
                  </a:lnTo>
                  <a:lnTo>
                    <a:pt x="0" y="14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/>
            <p:cNvSpPr/>
            <p:nvPr/>
          </p:nvSpPr>
          <p:spPr>
            <a:xfrm>
              <a:off x="9471460" y="1984713"/>
              <a:ext cx="148590" cy="148590"/>
            </a:xfrm>
            <a:custGeom>
              <a:avLst/>
              <a:gdLst/>
              <a:ahLst/>
              <a:cxnLst/>
              <a:rect l="l" t="t" r="r" b="b"/>
              <a:pathLst>
                <a:path w="148590" h="148589">
                  <a:moveTo>
                    <a:pt x="0" y="0"/>
                  </a:moveTo>
                  <a:lnTo>
                    <a:pt x="148100" y="0"/>
                  </a:lnTo>
                  <a:lnTo>
                    <a:pt x="148100" y="148100"/>
                  </a:lnTo>
                  <a:lnTo>
                    <a:pt x="0" y="148100"/>
                  </a:lnTo>
                  <a:lnTo>
                    <a:pt x="0" y="0"/>
                  </a:lnTo>
                  <a:close/>
                </a:path>
              </a:pathLst>
            </a:custGeom>
            <a:ln w="59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/>
            <p:cNvSpPr/>
            <p:nvPr/>
          </p:nvSpPr>
          <p:spPr>
            <a:xfrm>
              <a:off x="9935016" y="2058763"/>
              <a:ext cx="109855" cy="0"/>
            </a:xfrm>
            <a:custGeom>
              <a:avLst/>
              <a:gdLst/>
              <a:ahLst/>
              <a:cxnLst/>
              <a:rect l="l" t="t" r="r" b="b"/>
              <a:pathLst>
                <a:path w="109854" h="0">
                  <a:moveTo>
                    <a:pt x="0" y="0"/>
                  </a:moveTo>
                  <a:lnTo>
                    <a:pt x="26232" y="0"/>
                  </a:lnTo>
                  <a:lnTo>
                    <a:pt x="52464" y="0"/>
                  </a:lnTo>
                  <a:lnTo>
                    <a:pt x="78697" y="0"/>
                  </a:lnTo>
                  <a:lnTo>
                    <a:pt x="104929" y="0"/>
                  </a:lnTo>
                  <a:lnTo>
                    <a:pt x="109372" y="0"/>
                  </a:lnTo>
                </a:path>
              </a:pathLst>
            </a:custGeom>
            <a:ln w="88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/>
            <p:cNvSpPr/>
            <p:nvPr/>
          </p:nvSpPr>
          <p:spPr>
            <a:xfrm>
              <a:off x="10039946" y="2035659"/>
              <a:ext cx="46355" cy="46355"/>
            </a:xfrm>
            <a:custGeom>
              <a:avLst/>
              <a:gdLst/>
              <a:ahLst/>
              <a:cxnLst/>
              <a:rect l="l" t="t" r="r" b="b"/>
              <a:pathLst>
                <a:path w="46354" h="46355">
                  <a:moveTo>
                    <a:pt x="0" y="0"/>
                  </a:moveTo>
                  <a:lnTo>
                    <a:pt x="0" y="46207"/>
                  </a:lnTo>
                  <a:lnTo>
                    <a:pt x="46207" y="23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/>
            <p:cNvSpPr/>
            <p:nvPr/>
          </p:nvSpPr>
          <p:spPr>
            <a:xfrm>
              <a:off x="9785434" y="1984713"/>
              <a:ext cx="148590" cy="148590"/>
            </a:xfrm>
            <a:custGeom>
              <a:avLst/>
              <a:gdLst/>
              <a:ahLst/>
              <a:cxnLst/>
              <a:rect l="l" t="t" r="r" b="b"/>
              <a:pathLst>
                <a:path w="148590" h="148589">
                  <a:moveTo>
                    <a:pt x="0" y="0"/>
                  </a:moveTo>
                  <a:lnTo>
                    <a:pt x="148100" y="0"/>
                  </a:lnTo>
                  <a:lnTo>
                    <a:pt x="148100" y="148100"/>
                  </a:lnTo>
                  <a:lnTo>
                    <a:pt x="0" y="14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/>
            <p:cNvSpPr/>
            <p:nvPr/>
          </p:nvSpPr>
          <p:spPr>
            <a:xfrm>
              <a:off x="9785434" y="1984713"/>
              <a:ext cx="148590" cy="148590"/>
            </a:xfrm>
            <a:custGeom>
              <a:avLst/>
              <a:gdLst/>
              <a:ahLst/>
              <a:cxnLst/>
              <a:rect l="l" t="t" r="r" b="b"/>
              <a:pathLst>
                <a:path w="148590" h="148589">
                  <a:moveTo>
                    <a:pt x="0" y="0"/>
                  </a:moveTo>
                  <a:lnTo>
                    <a:pt x="148100" y="0"/>
                  </a:lnTo>
                  <a:lnTo>
                    <a:pt x="148100" y="148100"/>
                  </a:lnTo>
                  <a:lnTo>
                    <a:pt x="0" y="148100"/>
                  </a:lnTo>
                  <a:lnTo>
                    <a:pt x="0" y="0"/>
                  </a:lnTo>
                  <a:close/>
                </a:path>
              </a:pathLst>
            </a:custGeom>
            <a:ln w="59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/>
            <p:cNvSpPr/>
            <p:nvPr/>
          </p:nvSpPr>
          <p:spPr>
            <a:xfrm>
              <a:off x="10237248" y="2058763"/>
              <a:ext cx="145415" cy="0"/>
            </a:xfrm>
            <a:custGeom>
              <a:avLst/>
              <a:gdLst/>
              <a:ahLst/>
              <a:cxnLst/>
              <a:rect l="l" t="t" r="r" b="b"/>
              <a:pathLst>
                <a:path w="145415" h="0">
                  <a:moveTo>
                    <a:pt x="0" y="0"/>
                  </a:moveTo>
                  <a:lnTo>
                    <a:pt x="35089" y="0"/>
                  </a:lnTo>
                  <a:lnTo>
                    <a:pt x="70179" y="0"/>
                  </a:lnTo>
                  <a:lnTo>
                    <a:pt x="105269" y="0"/>
                  </a:lnTo>
                  <a:lnTo>
                    <a:pt x="140359" y="0"/>
                  </a:lnTo>
                  <a:lnTo>
                    <a:pt x="144801" y="0"/>
                  </a:lnTo>
                </a:path>
              </a:pathLst>
            </a:custGeom>
            <a:ln w="88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/>
            <p:cNvSpPr/>
            <p:nvPr/>
          </p:nvSpPr>
          <p:spPr>
            <a:xfrm>
              <a:off x="10377607" y="2035659"/>
              <a:ext cx="46355" cy="46355"/>
            </a:xfrm>
            <a:custGeom>
              <a:avLst/>
              <a:gdLst/>
              <a:ahLst/>
              <a:cxnLst/>
              <a:rect l="l" t="t" r="r" b="b"/>
              <a:pathLst>
                <a:path w="46354" h="46355">
                  <a:moveTo>
                    <a:pt x="0" y="0"/>
                  </a:moveTo>
                  <a:lnTo>
                    <a:pt x="0" y="46207"/>
                  </a:lnTo>
                  <a:lnTo>
                    <a:pt x="46207" y="23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/>
            <p:cNvSpPr/>
            <p:nvPr/>
          </p:nvSpPr>
          <p:spPr>
            <a:xfrm>
              <a:off x="10087560" y="1984713"/>
              <a:ext cx="148590" cy="148590"/>
            </a:xfrm>
            <a:custGeom>
              <a:avLst/>
              <a:gdLst/>
              <a:ahLst/>
              <a:cxnLst/>
              <a:rect l="l" t="t" r="r" b="b"/>
              <a:pathLst>
                <a:path w="148590" h="148589">
                  <a:moveTo>
                    <a:pt x="0" y="0"/>
                  </a:moveTo>
                  <a:lnTo>
                    <a:pt x="148100" y="0"/>
                  </a:lnTo>
                  <a:lnTo>
                    <a:pt x="148100" y="148100"/>
                  </a:lnTo>
                  <a:lnTo>
                    <a:pt x="0" y="14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/>
            <p:cNvSpPr/>
            <p:nvPr/>
          </p:nvSpPr>
          <p:spPr>
            <a:xfrm>
              <a:off x="10087560" y="1984713"/>
              <a:ext cx="148590" cy="148590"/>
            </a:xfrm>
            <a:custGeom>
              <a:avLst/>
              <a:gdLst/>
              <a:ahLst/>
              <a:cxnLst/>
              <a:rect l="l" t="t" r="r" b="b"/>
              <a:pathLst>
                <a:path w="148590" h="148589">
                  <a:moveTo>
                    <a:pt x="0" y="0"/>
                  </a:moveTo>
                  <a:lnTo>
                    <a:pt x="148100" y="0"/>
                  </a:lnTo>
                  <a:lnTo>
                    <a:pt x="148100" y="148100"/>
                  </a:lnTo>
                  <a:lnTo>
                    <a:pt x="0" y="148100"/>
                  </a:lnTo>
                  <a:lnTo>
                    <a:pt x="0" y="0"/>
                  </a:lnTo>
                  <a:close/>
                </a:path>
              </a:pathLst>
            </a:custGeom>
            <a:ln w="59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/>
            <p:cNvSpPr/>
            <p:nvPr/>
          </p:nvSpPr>
          <p:spPr>
            <a:xfrm>
              <a:off x="9163410" y="1984713"/>
              <a:ext cx="148590" cy="148590"/>
            </a:xfrm>
            <a:custGeom>
              <a:avLst/>
              <a:gdLst/>
              <a:ahLst/>
              <a:cxnLst/>
              <a:rect l="l" t="t" r="r" b="b"/>
              <a:pathLst>
                <a:path w="148590" h="148589">
                  <a:moveTo>
                    <a:pt x="0" y="0"/>
                  </a:moveTo>
                  <a:lnTo>
                    <a:pt x="148100" y="0"/>
                  </a:lnTo>
                  <a:lnTo>
                    <a:pt x="148100" y="148100"/>
                  </a:lnTo>
                  <a:lnTo>
                    <a:pt x="0" y="14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/>
            <p:cNvSpPr/>
            <p:nvPr/>
          </p:nvSpPr>
          <p:spPr>
            <a:xfrm>
              <a:off x="9163410" y="1984713"/>
              <a:ext cx="148590" cy="148590"/>
            </a:xfrm>
            <a:custGeom>
              <a:avLst/>
              <a:gdLst/>
              <a:ahLst/>
              <a:cxnLst/>
              <a:rect l="l" t="t" r="r" b="b"/>
              <a:pathLst>
                <a:path w="148590" h="148589">
                  <a:moveTo>
                    <a:pt x="0" y="0"/>
                  </a:moveTo>
                  <a:lnTo>
                    <a:pt x="148100" y="0"/>
                  </a:lnTo>
                  <a:lnTo>
                    <a:pt x="148100" y="148100"/>
                  </a:lnTo>
                  <a:lnTo>
                    <a:pt x="0" y="148100"/>
                  </a:lnTo>
                  <a:lnTo>
                    <a:pt x="0" y="0"/>
                  </a:lnTo>
                  <a:close/>
                </a:path>
              </a:pathLst>
            </a:custGeom>
            <a:ln w="59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/>
            <p:cNvSpPr/>
            <p:nvPr/>
          </p:nvSpPr>
          <p:spPr>
            <a:xfrm>
              <a:off x="10574753" y="2058763"/>
              <a:ext cx="115570" cy="0"/>
            </a:xfrm>
            <a:custGeom>
              <a:avLst/>
              <a:gdLst/>
              <a:ahLst/>
              <a:cxnLst/>
              <a:rect l="l" t="t" r="r" b="b"/>
              <a:pathLst>
                <a:path w="115570" h="0">
                  <a:moveTo>
                    <a:pt x="0" y="0"/>
                  </a:moveTo>
                  <a:lnTo>
                    <a:pt x="27695" y="0"/>
                  </a:lnTo>
                  <a:lnTo>
                    <a:pt x="55390" y="0"/>
                  </a:lnTo>
                  <a:lnTo>
                    <a:pt x="83085" y="0"/>
                  </a:lnTo>
                  <a:lnTo>
                    <a:pt x="110780" y="0"/>
                  </a:lnTo>
                  <a:lnTo>
                    <a:pt x="115224" y="0"/>
                  </a:lnTo>
                </a:path>
              </a:pathLst>
            </a:custGeom>
            <a:ln w="88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/>
            <p:cNvSpPr/>
            <p:nvPr/>
          </p:nvSpPr>
          <p:spPr>
            <a:xfrm>
              <a:off x="10685535" y="2035659"/>
              <a:ext cx="46355" cy="46355"/>
            </a:xfrm>
            <a:custGeom>
              <a:avLst/>
              <a:gdLst/>
              <a:ahLst/>
              <a:cxnLst/>
              <a:rect l="l" t="t" r="r" b="b"/>
              <a:pathLst>
                <a:path w="46354" h="46355">
                  <a:moveTo>
                    <a:pt x="0" y="0"/>
                  </a:moveTo>
                  <a:lnTo>
                    <a:pt x="0" y="46207"/>
                  </a:lnTo>
                  <a:lnTo>
                    <a:pt x="46207" y="23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/>
            <p:cNvSpPr/>
            <p:nvPr/>
          </p:nvSpPr>
          <p:spPr>
            <a:xfrm>
              <a:off x="10425230" y="1984713"/>
              <a:ext cx="148590" cy="148590"/>
            </a:xfrm>
            <a:custGeom>
              <a:avLst/>
              <a:gdLst/>
              <a:ahLst/>
              <a:cxnLst/>
              <a:rect l="l" t="t" r="r" b="b"/>
              <a:pathLst>
                <a:path w="148590" h="148589">
                  <a:moveTo>
                    <a:pt x="0" y="0"/>
                  </a:moveTo>
                  <a:lnTo>
                    <a:pt x="148100" y="0"/>
                  </a:lnTo>
                  <a:lnTo>
                    <a:pt x="148100" y="148100"/>
                  </a:lnTo>
                  <a:lnTo>
                    <a:pt x="0" y="14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/>
            <p:cNvSpPr/>
            <p:nvPr/>
          </p:nvSpPr>
          <p:spPr>
            <a:xfrm>
              <a:off x="10425230" y="1984713"/>
              <a:ext cx="148590" cy="148590"/>
            </a:xfrm>
            <a:custGeom>
              <a:avLst/>
              <a:gdLst/>
              <a:ahLst/>
              <a:cxnLst/>
              <a:rect l="l" t="t" r="r" b="b"/>
              <a:pathLst>
                <a:path w="148590" h="148589">
                  <a:moveTo>
                    <a:pt x="0" y="0"/>
                  </a:moveTo>
                  <a:lnTo>
                    <a:pt x="148100" y="0"/>
                  </a:lnTo>
                  <a:lnTo>
                    <a:pt x="148100" y="148100"/>
                  </a:lnTo>
                  <a:lnTo>
                    <a:pt x="0" y="148100"/>
                  </a:lnTo>
                  <a:lnTo>
                    <a:pt x="0" y="0"/>
                  </a:lnTo>
                  <a:close/>
                </a:path>
              </a:pathLst>
            </a:custGeom>
            <a:ln w="59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/>
            <p:cNvSpPr/>
            <p:nvPr/>
          </p:nvSpPr>
          <p:spPr>
            <a:xfrm>
              <a:off x="11190924" y="2058763"/>
              <a:ext cx="132715" cy="0"/>
            </a:xfrm>
            <a:custGeom>
              <a:avLst/>
              <a:gdLst/>
              <a:ahLst/>
              <a:cxnLst/>
              <a:rect l="l" t="t" r="r" b="b"/>
              <a:pathLst>
                <a:path w="132715" h="0">
                  <a:moveTo>
                    <a:pt x="132550" y="0"/>
                  </a:moveTo>
                  <a:lnTo>
                    <a:pt x="128107" y="0"/>
                  </a:lnTo>
                  <a:lnTo>
                    <a:pt x="96079" y="0"/>
                  </a:lnTo>
                  <a:lnTo>
                    <a:pt x="64052" y="0"/>
                  </a:lnTo>
                  <a:lnTo>
                    <a:pt x="32026" y="0"/>
                  </a:lnTo>
                  <a:lnTo>
                    <a:pt x="0" y="0"/>
                  </a:lnTo>
                </a:path>
              </a:pathLst>
            </a:custGeom>
            <a:ln w="88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/>
            <p:cNvSpPr/>
            <p:nvPr/>
          </p:nvSpPr>
          <p:spPr>
            <a:xfrm>
              <a:off x="11307479" y="2035659"/>
              <a:ext cx="46355" cy="46355"/>
            </a:xfrm>
            <a:custGeom>
              <a:avLst/>
              <a:gdLst/>
              <a:ahLst/>
              <a:cxnLst/>
              <a:rect l="l" t="t" r="r" b="b"/>
              <a:pathLst>
                <a:path w="46354" h="46355">
                  <a:moveTo>
                    <a:pt x="0" y="0"/>
                  </a:moveTo>
                  <a:lnTo>
                    <a:pt x="11551" y="23103"/>
                  </a:lnTo>
                  <a:lnTo>
                    <a:pt x="0" y="46207"/>
                  </a:lnTo>
                  <a:lnTo>
                    <a:pt x="46207" y="23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/>
            <p:cNvSpPr/>
            <p:nvPr/>
          </p:nvSpPr>
          <p:spPr>
            <a:xfrm>
              <a:off x="10882803" y="2058763"/>
              <a:ext cx="115570" cy="0"/>
            </a:xfrm>
            <a:custGeom>
              <a:avLst/>
              <a:gdLst/>
              <a:ahLst/>
              <a:cxnLst/>
              <a:rect l="l" t="t" r="r" b="b"/>
              <a:pathLst>
                <a:path w="115570" h="0">
                  <a:moveTo>
                    <a:pt x="0" y="0"/>
                  </a:moveTo>
                  <a:lnTo>
                    <a:pt x="27695" y="0"/>
                  </a:lnTo>
                  <a:lnTo>
                    <a:pt x="55390" y="0"/>
                  </a:lnTo>
                  <a:lnTo>
                    <a:pt x="83084" y="0"/>
                  </a:lnTo>
                  <a:lnTo>
                    <a:pt x="110780" y="0"/>
                  </a:lnTo>
                  <a:lnTo>
                    <a:pt x="115223" y="0"/>
                  </a:lnTo>
                </a:path>
              </a:pathLst>
            </a:custGeom>
            <a:ln w="88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/>
            <p:cNvSpPr/>
            <p:nvPr/>
          </p:nvSpPr>
          <p:spPr>
            <a:xfrm>
              <a:off x="10993584" y="2035659"/>
              <a:ext cx="46355" cy="46355"/>
            </a:xfrm>
            <a:custGeom>
              <a:avLst/>
              <a:gdLst/>
              <a:ahLst/>
              <a:cxnLst/>
              <a:rect l="l" t="t" r="r" b="b"/>
              <a:pathLst>
                <a:path w="46354" h="46355">
                  <a:moveTo>
                    <a:pt x="0" y="0"/>
                  </a:moveTo>
                  <a:lnTo>
                    <a:pt x="0" y="46207"/>
                  </a:lnTo>
                  <a:lnTo>
                    <a:pt x="46207" y="23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/>
            <p:cNvSpPr/>
            <p:nvPr/>
          </p:nvSpPr>
          <p:spPr>
            <a:xfrm>
              <a:off x="11041330" y="1984713"/>
              <a:ext cx="148590" cy="148590"/>
            </a:xfrm>
            <a:custGeom>
              <a:avLst/>
              <a:gdLst/>
              <a:ahLst/>
              <a:cxnLst/>
              <a:rect l="l" t="t" r="r" b="b"/>
              <a:pathLst>
                <a:path w="148590" h="148589">
                  <a:moveTo>
                    <a:pt x="0" y="0"/>
                  </a:moveTo>
                  <a:lnTo>
                    <a:pt x="148100" y="0"/>
                  </a:lnTo>
                  <a:lnTo>
                    <a:pt x="148100" y="148100"/>
                  </a:lnTo>
                  <a:lnTo>
                    <a:pt x="0" y="14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/>
            <p:cNvSpPr/>
            <p:nvPr/>
          </p:nvSpPr>
          <p:spPr>
            <a:xfrm>
              <a:off x="11041330" y="1984713"/>
              <a:ext cx="148590" cy="148590"/>
            </a:xfrm>
            <a:custGeom>
              <a:avLst/>
              <a:gdLst/>
              <a:ahLst/>
              <a:cxnLst/>
              <a:rect l="l" t="t" r="r" b="b"/>
              <a:pathLst>
                <a:path w="148590" h="148589">
                  <a:moveTo>
                    <a:pt x="0" y="0"/>
                  </a:moveTo>
                  <a:lnTo>
                    <a:pt x="148100" y="0"/>
                  </a:lnTo>
                  <a:lnTo>
                    <a:pt x="148100" y="148100"/>
                  </a:lnTo>
                  <a:lnTo>
                    <a:pt x="0" y="148100"/>
                  </a:lnTo>
                  <a:lnTo>
                    <a:pt x="0" y="0"/>
                  </a:lnTo>
                  <a:close/>
                </a:path>
              </a:pathLst>
            </a:custGeom>
            <a:ln w="59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/>
            <p:cNvSpPr/>
            <p:nvPr/>
          </p:nvSpPr>
          <p:spPr>
            <a:xfrm>
              <a:off x="11504886" y="2058763"/>
              <a:ext cx="109855" cy="0"/>
            </a:xfrm>
            <a:custGeom>
              <a:avLst/>
              <a:gdLst/>
              <a:ahLst/>
              <a:cxnLst/>
              <a:rect l="l" t="t" r="r" b="b"/>
              <a:pathLst>
                <a:path w="109854" h="0">
                  <a:moveTo>
                    <a:pt x="0" y="0"/>
                  </a:moveTo>
                  <a:lnTo>
                    <a:pt x="26232" y="0"/>
                  </a:lnTo>
                  <a:lnTo>
                    <a:pt x="52464" y="0"/>
                  </a:lnTo>
                  <a:lnTo>
                    <a:pt x="78697" y="0"/>
                  </a:lnTo>
                  <a:lnTo>
                    <a:pt x="104929" y="0"/>
                  </a:lnTo>
                  <a:lnTo>
                    <a:pt x="109373" y="0"/>
                  </a:lnTo>
                </a:path>
              </a:pathLst>
            </a:custGeom>
            <a:ln w="88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8" name="object 78"/>
            <p:cNvSpPr/>
            <p:nvPr/>
          </p:nvSpPr>
          <p:spPr>
            <a:xfrm>
              <a:off x="11609816" y="2035659"/>
              <a:ext cx="46355" cy="46355"/>
            </a:xfrm>
            <a:custGeom>
              <a:avLst/>
              <a:gdLst/>
              <a:ahLst/>
              <a:cxnLst/>
              <a:rect l="l" t="t" r="r" b="b"/>
              <a:pathLst>
                <a:path w="46354" h="46355">
                  <a:moveTo>
                    <a:pt x="0" y="0"/>
                  </a:moveTo>
                  <a:lnTo>
                    <a:pt x="0" y="46207"/>
                  </a:lnTo>
                  <a:lnTo>
                    <a:pt x="46207" y="23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9" name="object 79"/>
            <p:cNvSpPr/>
            <p:nvPr/>
          </p:nvSpPr>
          <p:spPr>
            <a:xfrm>
              <a:off x="11355304" y="1984713"/>
              <a:ext cx="148590" cy="148590"/>
            </a:xfrm>
            <a:custGeom>
              <a:avLst/>
              <a:gdLst/>
              <a:ahLst/>
              <a:cxnLst/>
              <a:rect l="l" t="t" r="r" b="b"/>
              <a:pathLst>
                <a:path w="148590" h="148589">
                  <a:moveTo>
                    <a:pt x="0" y="0"/>
                  </a:moveTo>
                  <a:lnTo>
                    <a:pt x="148100" y="0"/>
                  </a:lnTo>
                  <a:lnTo>
                    <a:pt x="148100" y="148100"/>
                  </a:lnTo>
                  <a:lnTo>
                    <a:pt x="0" y="14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0" name="object 80"/>
            <p:cNvSpPr/>
            <p:nvPr/>
          </p:nvSpPr>
          <p:spPr>
            <a:xfrm>
              <a:off x="11355304" y="1984713"/>
              <a:ext cx="148590" cy="148590"/>
            </a:xfrm>
            <a:custGeom>
              <a:avLst/>
              <a:gdLst/>
              <a:ahLst/>
              <a:cxnLst/>
              <a:rect l="l" t="t" r="r" b="b"/>
              <a:pathLst>
                <a:path w="148590" h="148589">
                  <a:moveTo>
                    <a:pt x="0" y="0"/>
                  </a:moveTo>
                  <a:lnTo>
                    <a:pt x="148100" y="0"/>
                  </a:lnTo>
                  <a:lnTo>
                    <a:pt x="148100" y="148100"/>
                  </a:lnTo>
                  <a:lnTo>
                    <a:pt x="0" y="148100"/>
                  </a:lnTo>
                  <a:lnTo>
                    <a:pt x="0" y="0"/>
                  </a:lnTo>
                  <a:close/>
                </a:path>
              </a:pathLst>
            </a:custGeom>
            <a:ln w="59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/>
            <p:cNvSpPr/>
            <p:nvPr/>
          </p:nvSpPr>
          <p:spPr>
            <a:xfrm>
              <a:off x="11657429" y="1984713"/>
              <a:ext cx="148590" cy="148590"/>
            </a:xfrm>
            <a:custGeom>
              <a:avLst/>
              <a:gdLst/>
              <a:ahLst/>
              <a:cxnLst/>
              <a:rect l="l" t="t" r="r" b="b"/>
              <a:pathLst>
                <a:path w="148590" h="148589">
                  <a:moveTo>
                    <a:pt x="0" y="0"/>
                  </a:moveTo>
                  <a:lnTo>
                    <a:pt x="148100" y="0"/>
                  </a:lnTo>
                  <a:lnTo>
                    <a:pt x="148100" y="148100"/>
                  </a:lnTo>
                  <a:lnTo>
                    <a:pt x="0" y="14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/>
            <p:cNvSpPr/>
            <p:nvPr/>
          </p:nvSpPr>
          <p:spPr>
            <a:xfrm>
              <a:off x="11657429" y="1984713"/>
              <a:ext cx="148590" cy="148590"/>
            </a:xfrm>
            <a:custGeom>
              <a:avLst/>
              <a:gdLst/>
              <a:ahLst/>
              <a:cxnLst/>
              <a:rect l="l" t="t" r="r" b="b"/>
              <a:pathLst>
                <a:path w="148590" h="148589">
                  <a:moveTo>
                    <a:pt x="0" y="0"/>
                  </a:moveTo>
                  <a:lnTo>
                    <a:pt x="148100" y="0"/>
                  </a:lnTo>
                  <a:lnTo>
                    <a:pt x="148100" y="148100"/>
                  </a:lnTo>
                  <a:lnTo>
                    <a:pt x="0" y="148100"/>
                  </a:lnTo>
                  <a:lnTo>
                    <a:pt x="0" y="0"/>
                  </a:lnTo>
                  <a:close/>
                </a:path>
              </a:pathLst>
            </a:custGeom>
            <a:ln w="59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3" name="object 83"/>
            <p:cNvSpPr/>
            <p:nvPr/>
          </p:nvSpPr>
          <p:spPr>
            <a:xfrm>
              <a:off x="10733280" y="1984713"/>
              <a:ext cx="148590" cy="148590"/>
            </a:xfrm>
            <a:custGeom>
              <a:avLst/>
              <a:gdLst/>
              <a:ahLst/>
              <a:cxnLst/>
              <a:rect l="l" t="t" r="r" b="b"/>
              <a:pathLst>
                <a:path w="148590" h="148589">
                  <a:moveTo>
                    <a:pt x="0" y="0"/>
                  </a:moveTo>
                  <a:lnTo>
                    <a:pt x="148100" y="0"/>
                  </a:lnTo>
                  <a:lnTo>
                    <a:pt x="148100" y="148100"/>
                  </a:lnTo>
                  <a:lnTo>
                    <a:pt x="0" y="14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/>
            <p:cNvSpPr/>
            <p:nvPr/>
          </p:nvSpPr>
          <p:spPr>
            <a:xfrm>
              <a:off x="10733280" y="1984713"/>
              <a:ext cx="148590" cy="148590"/>
            </a:xfrm>
            <a:custGeom>
              <a:avLst/>
              <a:gdLst/>
              <a:ahLst/>
              <a:cxnLst/>
              <a:rect l="l" t="t" r="r" b="b"/>
              <a:pathLst>
                <a:path w="148590" h="148589">
                  <a:moveTo>
                    <a:pt x="0" y="0"/>
                  </a:moveTo>
                  <a:lnTo>
                    <a:pt x="148100" y="0"/>
                  </a:lnTo>
                  <a:lnTo>
                    <a:pt x="148100" y="148100"/>
                  </a:lnTo>
                  <a:lnTo>
                    <a:pt x="0" y="148100"/>
                  </a:lnTo>
                  <a:lnTo>
                    <a:pt x="0" y="0"/>
                  </a:lnTo>
                  <a:close/>
                </a:path>
              </a:pathLst>
            </a:custGeom>
            <a:ln w="59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5" name="object 85"/>
          <p:cNvSpPr txBox="1"/>
          <p:nvPr/>
        </p:nvSpPr>
        <p:spPr>
          <a:xfrm>
            <a:off x="7347566" y="1717280"/>
            <a:ext cx="302260" cy="320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89535">
              <a:lnSpc>
                <a:spcPct val="100000"/>
              </a:lnSpc>
              <a:spcBef>
                <a:spcPts val="100"/>
              </a:spcBef>
            </a:pPr>
            <a:r>
              <a:rPr dirty="0" sz="650">
                <a:solidFill>
                  <a:srgbClr val="8D3124"/>
                </a:solidFill>
                <a:latin typeface="Lucida Sans Typewriter"/>
                <a:cs typeface="Lucida Sans Typewriter"/>
              </a:rPr>
              <a:t>st[]</a:t>
            </a:r>
            <a:endParaRPr sz="650">
              <a:latin typeface="Lucida Sans Typewriter"/>
              <a:cs typeface="Lucida Sans Typewriter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600">
              <a:latin typeface="Lucida Sans Typewriter"/>
              <a:cs typeface="Lucida Sans Typewriter"/>
            </a:endParaRPr>
          </a:p>
          <a:p>
            <a:pPr marL="12700">
              <a:lnSpc>
                <a:spcPct val="100000"/>
              </a:lnSpc>
            </a:pPr>
            <a:r>
              <a:rPr dirty="0" sz="650">
                <a:latin typeface="Lucida Sans Typewriter"/>
                <a:cs typeface="Lucida Sans Typewriter"/>
              </a:rPr>
              <a:t>0</a:t>
            </a:r>
            <a:endParaRPr sz="650">
              <a:latin typeface="Lucida Sans Typewriter"/>
              <a:cs typeface="Lucida Sans Typewriter"/>
            </a:endParaRPr>
          </a:p>
        </p:txBody>
      </p:sp>
      <p:sp>
        <p:nvSpPr>
          <p:cNvPr id="86" name="object 86"/>
          <p:cNvSpPr txBox="1"/>
          <p:nvPr/>
        </p:nvSpPr>
        <p:spPr>
          <a:xfrm>
            <a:off x="7347566" y="2024145"/>
            <a:ext cx="75565" cy="1056640"/>
          </a:xfrm>
          <a:prstGeom prst="rect">
            <a:avLst/>
          </a:prstGeom>
        </p:spPr>
        <p:txBody>
          <a:bodyPr wrap="square" lIns="0" tIns="5524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dirty="0" sz="650">
                <a:latin typeface="Lucida Sans Typewriter"/>
                <a:cs typeface="Lucida Sans Typewriter"/>
              </a:rPr>
              <a:t>1</a:t>
            </a:r>
            <a:endParaRPr sz="650">
              <a:latin typeface="Lucida Sans Typewriter"/>
              <a:cs typeface="Lucida Sans Typewriter"/>
            </a:endParaRPr>
          </a:p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dirty="0" sz="650">
                <a:latin typeface="Lucida Sans Typewriter"/>
                <a:cs typeface="Lucida Sans Typewriter"/>
              </a:rPr>
              <a:t>2</a:t>
            </a:r>
            <a:endParaRPr sz="650">
              <a:latin typeface="Lucida Sans Typewriter"/>
              <a:cs typeface="Lucida Sans Typewriter"/>
            </a:endParaRPr>
          </a:p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dirty="0" sz="650">
                <a:latin typeface="Lucida Sans Typewriter"/>
                <a:cs typeface="Lucida Sans Typewriter"/>
              </a:rPr>
              <a:t>3</a:t>
            </a:r>
            <a:endParaRPr sz="650">
              <a:latin typeface="Lucida Sans Typewriter"/>
              <a:cs typeface="Lucida Sans Typewriter"/>
            </a:endParaRPr>
          </a:p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dirty="0" sz="650">
                <a:latin typeface="Lucida Sans Typewriter"/>
                <a:cs typeface="Lucida Sans Typewriter"/>
              </a:rPr>
              <a:t>4</a:t>
            </a:r>
            <a:endParaRPr sz="650">
              <a:latin typeface="Lucida Sans Typewriter"/>
              <a:cs typeface="Lucida Sans Typewriter"/>
            </a:endParaRPr>
          </a:p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dirty="0" sz="650">
                <a:latin typeface="Lucida Sans Typewriter"/>
                <a:cs typeface="Lucida Sans Typewriter"/>
              </a:rPr>
              <a:t>5</a:t>
            </a:r>
            <a:endParaRPr sz="650">
              <a:latin typeface="Lucida Sans Typewriter"/>
              <a:cs typeface="Lucida Sans Typewriter"/>
            </a:endParaRPr>
          </a:p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dirty="0" sz="650">
                <a:latin typeface="Lucida Sans Typewriter"/>
                <a:cs typeface="Lucida Sans Typewriter"/>
              </a:rPr>
              <a:t>6</a:t>
            </a:r>
            <a:endParaRPr sz="650">
              <a:latin typeface="Lucida Sans Typewriter"/>
              <a:cs typeface="Lucida Sans Typewriter"/>
            </a:endParaRPr>
          </a:p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dirty="0" sz="650">
                <a:latin typeface="Lucida Sans Typewriter"/>
                <a:cs typeface="Lucida Sans Typewriter"/>
              </a:rPr>
              <a:t>7</a:t>
            </a:r>
            <a:endParaRPr sz="650">
              <a:latin typeface="Lucida Sans Typewriter"/>
              <a:cs typeface="Lucida Sans Typewriter"/>
            </a:endParaRPr>
          </a:p>
        </p:txBody>
      </p:sp>
      <p:grpSp>
        <p:nvGrpSpPr>
          <p:cNvPr id="87" name="object 87"/>
          <p:cNvGrpSpPr/>
          <p:nvPr/>
        </p:nvGrpSpPr>
        <p:grpSpPr>
          <a:xfrm>
            <a:off x="346176" y="4966780"/>
            <a:ext cx="6066790" cy="4549775"/>
            <a:chOff x="346176" y="4966780"/>
            <a:chExt cx="6066790" cy="4549775"/>
          </a:xfrm>
        </p:grpSpPr>
        <p:sp>
          <p:nvSpPr>
            <p:cNvPr id="88" name="object 88"/>
            <p:cNvSpPr/>
            <p:nvPr/>
          </p:nvSpPr>
          <p:spPr>
            <a:xfrm>
              <a:off x="346176" y="4966780"/>
              <a:ext cx="6066790" cy="4549775"/>
            </a:xfrm>
            <a:custGeom>
              <a:avLst/>
              <a:gdLst/>
              <a:ahLst/>
              <a:cxnLst/>
              <a:rect l="l" t="t" r="r" b="b"/>
              <a:pathLst>
                <a:path w="6066790" h="4549775">
                  <a:moveTo>
                    <a:pt x="0" y="0"/>
                  </a:moveTo>
                  <a:lnTo>
                    <a:pt x="6066212" y="0"/>
                  </a:lnTo>
                  <a:lnTo>
                    <a:pt x="6066212" y="4549659"/>
                  </a:lnTo>
                  <a:lnTo>
                    <a:pt x="0" y="45496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9" name="object 89"/>
            <p:cNvSpPr/>
            <p:nvPr/>
          </p:nvSpPr>
          <p:spPr>
            <a:xfrm>
              <a:off x="731238" y="5428805"/>
              <a:ext cx="5302250" cy="635"/>
            </a:xfrm>
            <a:custGeom>
              <a:avLst/>
              <a:gdLst/>
              <a:ahLst/>
              <a:cxnLst/>
              <a:rect l="l" t="t" r="r" b="b"/>
              <a:pathLst>
                <a:path w="5302250" h="635">
                  <a:moveTo>
                    <a:pt x="0" y="49"/>
                  </a:moveTo>
                  <a:lnTo>
                    <a:pt x="5302012" y="0"/>
                  </a:lnTo>
                </a:path>
              </a:pathLst>
            </a:custGeom>
            <a:ln w="59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0" name="object 90"/>
          <p:cNvSpPr txBox="1"/>
          <p:nvPr/>
        </p:nvSpPr>
        <p:spPr>
          <a:xfrm>
            <a:off x="752697" y="5125877"/>
            <a:ext cx="3193415" cy="2247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dirty="0" sz="1300" spc="60">
                <a:latin typeface="Arial"/>
                <a:cs typeface="Arial"/>
              </a:rPr>
              <a:t>War</a:t>
            </a:r>
            <a:r>
              <a:rPr dirty="0" sz="1300" spc="40">
                <a:latin typeface="Arial"/>
                <a:cs typeface="Arial"/>
              </a:rPr>
              <a:t> </a:t>
            </a:r>
            <a:r>
              <a:rPr dirty="0" sz="1300" spc="25">
                <a:latin typeface="Arial"/>
                <a:cs typeface="Arial"/>
              </a:rPr>
              <a:t>story: </a:t>
            </a:r>
            <a:r>
              <a:rPr dirty="0" sz="1300" spc="60">
                <a:latin typeface="Arial"/>
                <a:cs typeface="Arial"/>
              </a:rPr>
              <a:t> </a:t>
            </a:r>
            <a:r>
              <a:rPr dirty="0" sz="1300" spc="25">
                <a:latin typeface="Arial"/>
                <a:cs typeface="Arial"/>
              </a:rPr>
              <a:t>algorithmic</a:t>
            </a:r>
            <a:r>
              <a:rPr dirty="0" sz="1300" spc="40">
                <a:latin typeface="Arial"/>
                <a:cs typeface="Arial"/>
              </a:rPr>
              <a:t> </a:t>
            </a:r>
            <a:r>
              <a:rPr dirty="0" sz="1300" spc="20">
                <a:latin typeface="Arial"/>
                <a:cs typeface="Arial"/>
              </a:rPr>
              <a:t>complexity</a:t>
            </a:r>
            <a:r>
              <a:rPr dirty="0" sz="1300" spc="40">
                <a:latin typeface="Arial"/>
                <a:cs typeface="Arial"/>
              </a:rPr>
              <a:t> </a:t>
            </a:r>
            <a:r>
              <a:rPr dirty="0" sz="1300" spc="-5">
                <a:latin typeface="Arial"/>
                <a:cs typeface="Arial"/>
              </a:rPr>
              <a:t>attacks</a:t>
            </a:r>
            <a:endParaRPr sz="1300">
              <a:latin typeface="Arial"/>
              <a:cs typeface="Arial"/>
            </a:endParaRPr>
          </a:p>
        </p:txBody>
      </p:sp>
      <p:sp>
        <p:nvSpPr>
          <p:cNvPr id="91" name="object 91"/>
          <p:cNvSpPr txBox="1"/>
          <p:nvPr/>
        </p:nvSpPr>
        <p:spPr>
          <a:xfrm>
            <a:off x="752697" y="5587952"/>
            <a:ext cx="1262380" cy="1962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dirty="0" sz="1100" spc="10">
                <a:solidFill>
                  <a:srgbClr val="005493"/>
                </a:solidFill>
                <a:latin typeface="Lucida Sans"/>
                <a:cs typeface="Lucida Sans"/>
              </a:rPr>
              <a:t>A</a:t>
            </a:r>
            <a:r>
              <a:rPr dirty="0" sz="1100" spc="-20">
                <a:solidFill>
                  <a:srgbClr val="005493"/>
                </a:solidFill>
                <a:latin typeface="Lucida Sans"/>
                <a:cs typeface="Lucida Sans"/>
              </a:rPr>
              <a:t> </a:t>
            </a:r>
            <a:r>
              <a:rPr dirty="0" sz="1100" spc="20">
                <a:solidFill>
                  <a:srgbClr val="005493"/>
                </a:solidFill>
                <a:latin typeface="Lucida Sans"/>
                <a:cs typeface="Lucida Sans"/>
              </a:rPr>
              <a:t>Java</a:t>
            </a:r>
            <a:r>
              <a:rPr dirty="0" sz="1100" spc="-15">
                <a:solidFill>
                  <a:srgbClr val="005493"/>
                </a:solidFill>
                <a:latin typeface="Lucida Sans"/>
                <a:cs typeface="Lucida Sans"/>
              </a:rPr>
              <a:t> </a:t>
            </a:r>
            <a:r>
              <a:rPr dirty="0" sz="1100" spc="10">
                <a:solidFill>
                  <a:srgbClr val="005493"/>
                </a:solidFill>
                <a:latin typeface="Lucida Sans"/>
                <a:cs typeface="Lucida Sans"/>
              </a:rPr>
              <a:t>bug</a:t>
            </a:r>
            <a:r>
              <a:rPr dirty="0" sz="1100" spc="-15">
                <a:solidFill>
                  <a:srgbClr val="005493"/>
                </a:solidFill>
                <a:latin typeface="Lucida Sans"/>
                <a:cs typeface="Lucida Sans"/>
              </a:rPr>
              <a:t> </a:t>
            </a:r>
            <a:r>
              <a:rPr dirty="0" sz="1100" spc="5">
                <a:solidFill>
                  <a:srgbClr val="005493"/>
                </a:solidFill>
                <a:latin typeface="Lucida Sans"/>
                <a:cs typeface="Lucida Sans"/>
              </a:rPr>
              <a:t>report.</a:t>
            </a:r>
            <a:endParaRPr sz="1100">
              <a:latin typeface="Lucida Sans"/>
              <a:cs typeface="Lucida Sans"/>
            </a:endParaRPr>
          </a:p>
        </p:txBody>
      </p:sp>
      <p:grpSp>
        <p:nvGrpSpPr>
          <p:cNvPr id="92" name="object 92"/>
          <p:cNvGrpSpPr/>
          <p:nvPr/>
        </p:nvGrpSpPr>
        <p:grpSpPr>
          <a:xfrm>
            <a:off x="482429" y="6275992"/>
            <a:ext cx="5788025" cy="2352675"/>
            <a:chOff x="482429" y="6275992"/>
            <a:chExt cx="5788025" cy="2352675"/>
          </a:xfrm>
        </p:grpSpPr>
        <p:sp>
          <p:nvSpPr>
            <p:cNvPr id="93" name="object 93"/>
            <p:cNvSpPr/>
            <p:nvPr/>
          </p:nvSpPr>
          <p:spPr>
            <a:xfrm>
              <a:off x="482429" y="6275992"/>
              <a:ext cx="5788025" cy="2352675"/>
            </a:xfrm>
            <a:custGeom>
              <a:avLst/>
              <a:gdLst/>
              <a:ahLst/>
              <a:cxnLst/>
              <a:rect l="l" t="t" r="r" b="b"/>
              <a:pathLst>
                <a:path w="5788025" h="2352675">
                  <a:moveTo>
                    <a:pt x="5787783" y="0"/>
                  </a:moveTo>
                  <a:lnTo>
                    <a:pt x="0" y="0"/>
                  </a:lnTo>
                  <a:lnTo>
                    <a:pt x="0" y="2352254"/>
                  </a:lnTo>
                  <a:lnTo>
                    <a:pt x="5787783" y="2352254"/>
                  </a:lnTo>
                  <a:lnTo>
                    <a:pt x="578778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4" name="object 94"/>
            <p:cNvSpPr/>
            <p:nvPr/>
          </p:nvSpPr>
          <p:spPr>
            <a:xfrm>
              <a:off x="540321" y="6355803"/>
              <a:ext cx="5671820" cy="2259965"/>
            </a:xfrm>
            <a:custGeom>
              <a:avLst/>
              <a:gdLst/>
              <a:ahLst/>
              <a:cxnLst/>
              <a:rect l="l" t="t" r="r" b="b"/>
              <a:pathLst>
                <a:path w="5671820" h="2259965">
                  <a:moveTo>
                    <a:pt x="5671794" y="0"/>
                  </a:moveTo>
                  <a:lnTo>
                    <a:pt x="5665394" y="0"/>
                  </a:lnTo>
                  <a:lnTo>
                    <a:pt x="5665394" y="6400"/>
                  </a:lnTo>
                  <a:lnTo>
                    <a:pt x="5665394" y="2253348"/>
                  </a:lnTo>
                  <a:lnTo>
                    <a:pt x="6400" y="2253348"/>
                  </a:lnTo>
                  <a:lnTo>
                    <a:pt x="6400" y="6400"/>
                  </a:lnTo>
                  <a:lnTo>
                    <a:pt x="5665394" y="6400"/>
                  </a:lnTo>
                  <a:lnTo>
                    <a:pt x="5665394" y="0"/>
                  </a:lnTo>
                  <a:lnTo>
                    <a:pt x="6400" y="0"/>
                  </a:lnTo>
                  <a:lnTo>
                    <a:pt x="0" y="0"/>
                  </a:lnTo>
                  <a:lnTo>
                    <a:pt x="0" y="6400"/>
                  </a:lnTo>
                  <a:lnTo>
                    <a:pt x="0" y="2253348"/>
                  </a:lnTo>
                  <a:lnTo>
                    <a:pt x="0" y="2259749"/>
                  </a:lnTo>
                  <a:lnTo>
                    <a:pt x="6400" y="2259749"/>
                  </a:lnTo>
                  <a:lnTo>
                    <a:pt x="5665394" y="2259749"/>
                  </a:lnTo>
                  <a:lnTo>
                    <a:pt x="5671794" y="2259749"/>
                  </a:lnTo>
                  <a:lnTo>
                    <a:pt x="5671794" y="2253348"/>
                  </a:lnTo>
                  <a:lnTo>
                    <a:pt x="5671794" y="6400"/>
                  </a:lnTo>
                  <a:lnTo>
                    <a:pt x="5671794" y="0"/>
                  </a:lnTo>
                  <a:close/>
                </a:path>
              </a:pathLst>
            </a:custGeom>
            <a:solidFill>
              <a:srgbClr val="C8C8B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5" name="object 95"/>
            <p:cNvSpPr/>
            <p:nvPr/>
          </p:nvSpPr>
          <p:spPr>
            <a:xfrm>
              <a:off x="578726" y="7776946"/>
              <a:ext cx="5594985" cy="102870"/>
            </a:xfrm>
            <a:custGeom>
              <a:avLst/>
              <a:gdLst/>
              <a:ahLst/>
              <a:cxnLst/>
              <a:rect l="l" t="t" r="r" b="b"/>
              <a:pathLst>
                <a:path w="5594985" h="102870">
                  <a:moveTo>
                    <a:pt x="349592" y="96024"/>
                  </a:moveTo>
                  <a:lnTo>
                    <a:pt x="0" y="96024"/>
                  </a:lnTo>
                  <a:lnTo>
                    <a:pt x="0" y="102425"/>
                  </a:lnTo>
                  <a:lnTo>
                    <a:pt x="349592" y="102425"/>
                  </a:lnTo>
                  <a:lnTo>
                    <a:pt x="349592" y="96024"/>
                  </a:lnTo>
                  <a:close/>
                </a:path>
                <a:path w="5594985" h="102870">
                  <a:moveTo>
                    <a:pt x="5594985" y="0"/>
                  </a:moveTo>
                  <a:lnTo>
                    <a:pt x="5593334" y="0"/>
                  </a:lnTo>
                  <a:lnTo>
                    <a:pt x="5443512" y="0"/>
                  </a:lnTo>
                  <a:lnTo>
                    <a:pt x="5443512" y="6400"/>
                  </a:lnTo>
                  <a:lnTo>
                    <a:pt x="5593334" y="6400"/>
                  </a:lnTo>
                  <a:lnTo>
                    <a:pt x="5594985" y="6400"/>
                  </a:lnTo>
                  <a:lnTo>
                    <a:pt x="5594985" y="0"/>
                  </a:lnTo>
                  <a:close/>
                </a:path>
              </a:pathLst>
            </a:custGeom>
            <a:solidFill>
              <a:srgbClr val="0066C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6" name="object 96"/>
          <p:cNvSpPr txBox="1"/>
          <p:nvPr/>
        </p:nvSpPr>
        <p:spPr>
          <a:xfrm>
            <a:off x="578736" y="6375100"/>
            <a:ext cx="5606415" cy="21291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  <a:tabLst>
                <a:tab pos="5095240" algn="l"/>
              </a:tabLst>
            </a:pPr>
            <a:r>
              <a:rPr dirty="0" sz="650" spc="-5" b="1">
                <a:latin typeface="Arial"/>
                <a:cs typeface="Arial"/>
              </a:rPr>
              <a:t>Jan</a:t>
            </a:r>
            <a:r>
              <a:rPr dirty="0" sz="650" spc="10" b="1">
                <a:latin typeface="Arial"/>
                <a:cs typeface="Arial"/>
              </a:rPr>
              <a:t> </a:t>
            </a:r>
            <a:r>
              <a:rPr dirty="0" sz="650" b="1">
                <a:latin typeface="Arial"/>
                <a:cs typeface="Arial"/>
              </a:rPr>
              <a:t>Lieskovsky   </a:t>
            </a:r>
            <a:r>
              <a:rPr dirty="0" sz="650" spc="105" b="1">
                <a:latin typeface="Arial"/>
                <a:cs typeface="Arial"/>
              </a:rPr>
              <a:t> </a:t>
            </a:r>
            <a:r>
              <a:rPr dirty="0" sz="650" b="1">
                <a:latin typeface="Arial"/>
                <a:cs typeface="Arial"/>
              </a:rPr>
              <a:t>2011-11-01</a:t>
            </a:r>
            <a:r>
              <a:rPr dirty="0" sz="650" spc="10" b="1">
                <a:latin typeface="Arial"/>
                <a:cs typeface="Arial"/>
              </a:rPr>
              <a:t> </a:t>
            </a:r>
            <a:r>
              <a:rPr dirty="0" sz="650" b="1">
                <a:latin typeface="Arial"/>
                <a:cs typeface="Arial"/>
              </a:rPr>
              <a:t>10:13:47</a:t>
            </a:r>
            <a:r>
              <a:rPr dirty="0" sz="650" spc="10" b="1">
                <a:latin typeface="Arial"/>
                <a:cs typeface="Arial"/>
              </a:rPr>
              <a:t> </a:t>
            </a:r>
            <a:r>
              <a:rPr dirty="0" sz="650" b="1">
                <a:latin typeface="Arial"/>
                <a:cs typeface="Arial"/>
              </a:rPr>
              <a:t>EDT	</a:t>
            </a:r>
            <a:r>
              <a:rPr dirty="0" sz="650" b="1">
                <a:solidFill>
                  <a:srgbClr val="0066CC"/>
                </a:solidFill>
                <a:latin typeface="Arial"/>
                <a:cs typeface="Arial"/>
              </a:rPr>
              <a:t>Description</a:t>
            </a:r>
            <a:endParaRPr sz="6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550">
              <a:latin typeface="Arial"/>
              <a:cs typeface="Arial"/>
            </a:endParaRPr>
          </a:p>
          <a:p>
            <a:pPr marR="5715">
              <a:lnSpc>
                <a:spcPts val="760"/>
              </a:lnSpc>
            </a:pPr>
            <a:r>
              <a:rPr dirty="0" sz="650" spc="-5">
                <a:latin typeface="Courier New"/>
                <a:cs typeface="Courier New"/>
              </a:rPr>
              <a:t>Julian</a:t>
            </a:r>
            <a:r>
              <a:rPr dirty="0" sz="650" spc="15">
                <a:latin typeface="Courier New"/>
                <a:cs typeface="Courier New"/>
              </a:rPr>
              <a:t> </a:t>
            </a:r>
            <a:r>
              <a:rPr dirty="0" sz="650" spc="-5">
                <a:latin typeface="Courier New"/>
                <a:cs typeface="Courier New"/>
              </a:rPr>
              <a:t>Wälde</a:t>
            </a:r>
            <a:r>
              <a:rPr dirty="0" sz="650" spc="20">
                <a:latin typeface="Courier New"/>
                <a:cs typeface="Courier New"/>
              </a:rPr>
              <a:t> </a:t>
            </a:r>
            <a:r>
              <a:rPr dirty="0" sz="650" spc="-5">
                <a:latin typeface="Courier New"/>
                <a:cs typeface="Courier New"/>
              </a:rPr>
              <a:t>and</a:t>
            </a:r>
            <a:r>
              <a:rPr dirty="0" sz="650" spc="15">
                <a:latin typeface="Courier New"/>
                <a:cs typeface="Courier New"/>
              </a:rPr>
              <a:t> </a:t>
            </a:r>
            <a:r>
              <a:rPr dirty="0" sz="650" spc="-5">
                <a:latin typeface="Courier New"/>
                <a:cs typeface="Courier New"/>
              </a:rPr>
              <a:t>Alexander</a:t>
            </a:r>
            <a:r>
              <a:rPr dirty="0" sz="650" spc="20">
                <a:latin typeface="Courier New"/>
                <a:cs typeface="Courier New"/>
              </a:rPr>
              <a:t> </a:t>
            </a:r>
            <a:r>
              <a:rPr dirty="0" sz="650" spc="-5">
                <a:latin typeface="Courier New"/>
                <a:cs typeface="Courier New"/>
              </a:rPr>
              <a:t>Klink</a:t>
            </a:r>
            <a:r>
              <a:rPr dirty="0" sz="650" spc="15">
                <a:latin typeface="Courier New"/>
                <a:cs typeface="Courier New"/>
              </a:rPr>
              <a:t> </a:t>
            </a:r>
            <a:r>
              <a:rPr dirty="0" sz="650" spc="-5">
                <a:latin typeface="Courier New"/>
                <a:cs typeface="Courier New"/>
              </a:rPr>
              <a:t>reported</a:t>
            </a:r>
            <a:r>
              <a:rPr dirty="0" sz="650" spc="20">
                <a:latin typeface="Courier New"/>
                <a:cs typeface="Courier New"/>
              </a:rPr>
              <a:t> </a:t>
            </a:r>
            <a:r>
              <a:rPr dirty="0" sz="650" spc="-5">
                <a:latin typeface="Courier New"/>
                <a:cs typeface="Courier New"/>
              </a:rPr>
              <a:t>that</a:t>
            </a:r>
            <a:r>
              <a:rPr dirty="0" sz="650" spc="20">
                <a:latin typeface="Courier New"/>
                <a:cs typeface="Courier New"/>
              </a:rPr>
              <a:t> </a:t>
            </a:r>
            <a:r>
              <a:rPr dirty="0" sz="650" spc="-5">
                <a:latin typeface="Courier New"/>
                <a:cs typeface="Courier New"/>
              </a:rPr>
              <a:t>the</a:t>
            </a:r>
            <a:r>
              <a:rPr dirty="0" sz="650" spc="15">
                <a:latin typeface="Courier New"/>
                <a:cs typeface="Courier New"/>
              </a:rPr>
              <a:t> </a:t>
            </a:r>
            <a:r>
              <a:rPr dirty="0" sz="650" spc="-5">
                <a:latin typeface="Courier New"/>
                <a:cs typeface="Courier New"/>
              </a:rPr>
              <a:t>String.hashCode()</a:t>
            </a:r>
            <a:r>
              <a:rPr dirty="0" sz="650" spc="20">
                <a:latin typeface="Courier New"/>
                <a:cs typeface="Courier New"/>
              </a:rPr>
              <a:t> </a:t>
            </a:r>
            <a:r>
              <a:rPr dirty="0" sz="650" spc="-5">
                <a:latin typeface="Courier New"/>
                <a:cs typeface="Courier New"/>
              </a:rPr>
              <a:t>hash</a:t>
            </a:r>
            <a:r>
              <a:rPr dirty="0" sz="650" spc="15">
                <a:latin typeface="Courier New"/>
                <a:cs typeface="Courier New"/>
              </a:rPr>
              <a:t> </a:t>
            </a:r>
            <a:r>
              <a:rPr dirty="0" sz="650" spc="-5">
                <a:latin typeface="Courier New"/>
                <a:cs typeface="Courier New"/>
              </a:rPr>
              <a:t>function</a:t>
            </a:r>
            <a:r>
              <a:rPr dirty="0" sz="650" spc="20">
                <a:latin typeface="Courier New"/>
                <a:cs typeface="Courier New"/>
              </a:rPr>
              <a:t> </a:t>
            </a:r>
            <a:r>
              <a:rPr dirty="0" sz="650">
                <a:latin typeface="Courier New"/>
                <a:cs typeface="Courier New"/>
              </a:rPr>
              <a:t>is</a:t>
            </a:r>
            <a:r>
              <a:rPr dirty="0" sz="650" spc="15">
                <a:latin typeface="Courier New"/>
                <a:cs typeface="Courier New"/>
              </a:rPr>
              <a:t> </a:t>
            </a:r>
            <a:r>
              <a:rPr dirty="0" sz="650" spc="-5">
                <a:latin typeface="Courier New"/>
                <a:cs typeface="Courier New"/>
              </a:rPr>
              <a:t>not</a:t>
            </a:r>
            <a:r>
              <a:rPr dirty="0" sz="650" spc="20">
                <a:latin typeface="Courier New"/>
                <a:cs typeface="Courier New"/>
              </a:rPr>
              <a:t> </a:t>
            </a:r>
            <a:r>
              <a:rPr dirty="0" sz="650" spc="-5">
                <a:latin typeface="Courier New"/>
                <a:cs typeface="Courier New"/>
              </a:rPr>
              <a:t>sufficiently</a:t>
            </a:r>
            <a:r>
              <a:rPr dirty="0" sz="650" spc="20">
                <a:latin typeface="Courier New"/>
                <a:cs typeface="Courier New"/>
              </a:rPr>
              <a:t> </a:t>
            </a:r>
            <a:r>
              <a:rPr dirty="0" sz="650">
                <a:latin typeface="Courier New"/>
                <a:cs typeface="Courier New"/>
              </a:rPr>
              <a:t>collision </a:t>
            </a:r>
            <a:r>
              <a:rPr dirty="0" sz="650" spc="5">
                <a:latin typeface="Courier New"/>
                <a:cs typeface="Courier New"/>
              </a:rPr>
              <a:t> </a:t>
            </a:r>
            <a:r>
              <a:rPr dirty="0" sz="650" spc="-5">
                <a:latin typeface="Courier New"/>
                <a:cs typeface="Courier New"/>
              </a:rPr>
              <a:t>resistant.</a:t>
            </a:r>
            <a:r>
              <a:rPr dirty="0" sz="650" spc="25">
                <a:latin typeface="Courier New"/>
                <a:cs typeface="Courier New"/>
              </a:rPr>
              <a:t> </a:t>
            </a:r>
            <a:r>
              <a:rPr dirty="0" sz="650" spc="-5">
                <a:latin typeface="Courier New"/>
                <a:cs typeface="Courier New"/>
              </a:rPr>
              <a:t>hashCode()</a:t>
            </a:r>
            <a:r>
              <a:rPr dirty="0" sz="650" spc="5">
                <a:latin typeface="Courier New"/>
                <a:cs typeface="Courier New"/>
              </a:rPr>
              <a:t> </a:t>
            </a:r>
            <a:r>
              <a:rPr dirty="0" sz="650" spc="-5">
                <a:latin typeface="Courier New"/>
                <a:cs typeface="Courier New"/>
              </a:rPr>
              <a:t>value</a:t>
            </a:r>
            <a:r>
              <a:rPr dirty="0" sz="650" spc="5">
                <a:latin typeface="Courier New"/>
                <a:cs typeface="Courier New"/>
              </a:rPr>
              <a:t> </a:t>
            </a:r>
            <a:r>
              <a:rPr dirty="0" sz="650">
                <a:latin typeface="Courier New"/>
                <a:cs typeface="Courier New"/>
              </a:rPr>
              <a:t>is</a:t>
            </a:r>
            <a:r>
              <a:rPr dirty="0" sz="650" spc="5">
                <a:latin typeface="Courier New"/>
                <a:cs typeface="Courier New"/>
              </a:rPr>
              <a:t> </a:t>
            </a:r>
            <a:r>
              <a:rPr dirty="0" sz="650" spc="-5">
                <a:latin typeface="Courier New"/>
                <a:cs typeface="Courier New"/>
              </a:rPr>
              <a:t>used</a:t>
            </a:r>
            <a:r>
              <a:rPr dirty="0" sz="650" spc="5">
                <a:latin typeface="Courier New"/>
                <a:cs typeface="Courier New"/>
              </a:rPr>
              <a:t> </a:t>
            </a:r>
            <a:r>
              <a:rPr dirty="0" sz="650">
                <a:latin typeface="Courier New"/>
                <a:cs typeface="Courier New"/>
              </a:rPr>
              <a:t>in</a:t>
            </a:r>
            <a:r>
              <a:rPr dirty="0" sz="650" spc="5">
                <a:latin typeface="Courier New"/>
                <a:cs typeface="Courier New"/>
              </a:rPr>
              <a:t> </a:t>
            </a:r>
            <a:r>
              <a:rPr dirty="0" sz="650" spc="-5">
                <a:latin typeface="Courier New"/>
                <a:cs typeface="Courier New"/>
              </a:rPr>
              <a:t>the</a:t>
            </a:r>
            <a:r>
              <a:rPr dirty="0" sz="650" spc="5">
                <a:latin typeface="Courier New"/>
                <a:cs typeface="Courier New"/>
              </a:rPr>
              <a:t> </a:t>
            </a:r>
            <a:r>
              <a:rPr dirty="0" sz="650" spc="-5">
                <a:latin typeface="Courier New"/>
                <a:cs typeface="Courier New"/>
              </a:rPr>
              <a:t>implementations</a:t>
            </a:r>
            <a:r>
              <a:rPr dirty="0" sz="650" spc="5">
                <a:latin typeface="Courier New"/>
                <a:cs typeface="Courier New"/>
              </a:rPr>
              <a:t> </a:t>
            </a:r>
            <a:r>
              <a:rPr dirty="0" sz="650">
                <a:latin typeface="Courier New"/>
                <a:cs typeface="Courier New"/>
              </a:rPr>
              <a:t>of</a:t>
            </a:r>
            <a:r>
              <a:rPr dirty="0" sz="650" spc="5">
                <a:latin typeface="Courier New"/>
                <a:cs typeface="Courier New"/>
              </a:rPr>
              <a:t> </a:t>
            </a:r>
            <a:r>
              <a:rPr dirty="0" sz="650" spc="-5">
                <a:latin typeface="Courier New"/>
                <a:cs typeface="Courier New"/>
              </a:rPr>
              <a:t>HashMap</a:t>
            </a:r>
            <a:r>
              <a:rPr dirty="0" sz="650" spc="5">
                <a:latin typeface="Courier New"/>
                <a:cs typeface="Courier New"/>
              </a:rPr>
              <a:t> </a:t>
            </a:r>
            <a:r>
              <a:rPr dirty="0" sz="650" spc="-5">
                <a:latin typeface="Courier New"/>
                <a:cs typeface="Courier New"/>
              </a:rPr>
              <a:t>and</a:t>
            </a:r>
            <a:r>
              <a:rPr dirty="0" sz="650" spc="10">
                <a:latin typeface="Courier New"/>
                <a:cs typeface="Courier New"/>
              </a:rPr>
              <a:t> </a:t>
            </a:r>
            <a:r>
              <a:rPr dirty="0" sz="650" spc="-5">
                <a:latin typeface="Courier New"/>
                <a:cs typeface="Courier New"/>
              </a:rPr>
              <a:t>Hashtable</a:t>
            </a:r>
            <a:r>
              <a:rPr dirty="0" sz="650" spc="5">
                <a:latin typeface="Courier New"/>
                <a:cs typeface="Courier New"/>
              </a:rPr>
              <a:t> </a:t>
            </a:r>
            <a:r>
              <a:rPr dirty="0" sz="650">
                <a:latin typeface="Courier New"/>
                <a:cs typeface="Courier New"/>
              </a:rPr>
              <a:t>classes:</a:t>
            </a:r>
            <a:endParaRPr sz="6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650">
              <a:latin typeface="Courier New"/>
              <a:cs typeface="Courier New"/>
            </a:endParaRPr>
          </a:p>
          <a:p>
            <a:pPr marR="2352040">
              <a:lnSpc>
                <a:spcPts val="760"/>
              </a:lnSpc>
            </a:pPr>
            <a:r>
              <a:rPr dirty="0" sz="650">
                <a:solidFill>
                  <a:srgbClr val="0066CC"/>
                </a:solidFill>
                <a:latin typeface="Courier New"/>
                <a:cs typeface="Courier New"/>
                <a:hlinkClick r:id="rId5"/>
              </a:rPr>
              <a:t>http://docs.oracle.com/javase/6/docs/api/java/util/HashMap.html </a:t>
            </a:r>
            <a:r>
              <a:rPr dirty="0" sz="650" spc="5">
                <a:solidFill>
                  <a:srgbClr val="0066CC"/>
                </a:solidFill>
                <a:latin typeface="Courier New"/>
                <a:cs typeface="Courier New"/>
              </a:rPr>
              <a:t> </a:t>
            </a:r>
            <a:r>
              <a:rPr dirty="0" sz="650">
                <a:solidFill>
                  <a:srgbClr val="0066CC"/>
                </a:solidFill>
                <a:latin typeface="Courier New"/>
                <a:cs typeface="Courier New"/>
                <a:hlinkClick r:id="rId6"/>
              </a:rPr>
              <a:t>http://docs.oracle.com/javase/6/docs/api/java/util/Hashtable.html</a:t>
            </a:r>
            <a:endParaRPr sz="6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650">
              <a:latin typeface="Courier New"/>
              <a:cs typeface="Courier New"/>
            </a:endParaRPr>
          </a:p>
          <a:p>
            <a:pPr marR="5715">
              <a:lnSpc>
                <a:spcPts val="760"/>
              </a:lnSpc>
            </a:pPr>
            <a:r>
              <a:rPr dirty="0" sz="650">
                <a:latin typeface="Courier New"/>
                <a:cs typeface="Courier New"/>
              </a:rPr>
              <a:t>A</a:t>
            </a:r>
            <a:r>
              <a:rPr dirty="0" sz="650" spc="15">
                <a:latin typeface="Courier New"/>
                <a:cs typeface="Courier New"/>
              </a:rPr>
              <a:t> </a:t>
            </a:r>
            <a:r>
              <a:rPr dirty="0" sz="650" spc="-5">
                <a:latin typeface="Courier New"/>
                <a:cs typeface="Courier New"/>
              </a:rPr>
              <a:t>specially-crafted</a:t>
            </a:r>
            <a:r>
              <a:rPr dirty="0" sz="650" spc="15">
                <a:latin typeface="Courier New"/>
                <a:cs typeface="Courier New"/>
              </a:rPr>
              <a:t> </a:t>
            </a:r>
            <a:r>
              <a:rPr dirty="0" sz="650" spc="-5">
                <a:latin typeface="Courier New"/>
                <a:cs typeface="Courier New"/>
              </a:rPr>
              <a:t>set</a:t>
            </a:r>
            <a:r>
              <a:rPr dirty="0" sz="650" spc="15">
                <a:latin typeface="Courier New"/>
                <a:cs typeface="Courier New"/>
              </a:rPr>
              <a:t> </a:t>
            </a:r>
            <a:r>
              <a:rPr dirty="0" sz="650">
                <a:latin typeface="Courier New"/>
                <a:cs typeface="Courier New"/>
              </a:rPr>
              <a:t>of</a:t>
            </a:r>
            <a:r>
              <a:rPr dirty="0" sz="650" spc="15">
                <a:latin typeface="Courier New"/>
                <a:cs typeface="Courier New"/>
              </a:rPr>
              <a:t> </a:t>
            </a:r>
            <a:r>
              <a:rPr dirty="0" sz="650" spc="-5">
                <a:latin typeface="Courier New"/>
                <a:cs typeface="Courier New"/>
              </a:rPr>
              <a:t>keys</a:t>
            </a:r>
            <a:r>
              <a:rPr dirty="0" sz="650" spc="15">
                <a:latin typeface="Courier New"/>
                <a:cs typeface="Courier New"/>
              </a:rPr>
              <a:t> </a:t>
            </a:r>
            <a:r>
              <a:rPr dirty="0" sz="650" spc="-5">
                <a:latin typeface="Courier New"/>
                <a:cs typeface="Courier New"/>
              </a:rPr>
              <a:t>could</a:t>
            </a:r>
            <a:r>
              <a:rPr dirty="0" sz="650" spc="20">
                <a:latin typeface="Courier New"/>
                <a:cs typeface="Courier New"/>
              </a:rPr>
              <a:t> </a:t>
            </a:r>
            <a:r>
              <a:rPr dirty="0" sz="650" spc="-5">
                <a:latin typeface="Courier New"/>
                <a:cs typeface="Courier New"/>
              </a:rPr>
              <a:t>trigger</a:t>
            </a:r>
            <a:r>
              <a:rPr dirty="0" sz="650" spc="15">
                <a:latin typeface="Courier New"/>
                <a:cs typeface="Courier New"/>
              </a:rPr>
              <a:t> </a:t>
            </a:r>
            <a:r>
              <a:rPr dirty="0" sz="650" spc="-5">
                <a:latin typeface="Courier New"/>
                <a:cs typeface="Courier New"/>
              </a:rPr>
              <a:t>hash</a:t>
            </a:r>
            <a:r>
              <a:rPr dirty="0" sz="650" spc="15">
                <a:latin typeface="Courier New"/>
                <a:cs typeface="Courier New"/>
              </a:rPr>
              <a:t> </a:t>
            </a:r>
            <a:r>
              <a:rPr dirty="0" sz="650" spc="-5">
                <a:latin typeface="Courier New"/>
                <a:cs typeface="Courier New"/>
              </a:rPr>
              <a:t>function</a:t>
            </a:r>
            <a:r>
              <a:rPr dirty="0" sz="650" spc="15">
                <a:latin typeface="Courier New"/>
                <a:cs typeface="Courier New"/>
              </a:rPr>
              <a:t> </a:t>
            </a:r>
            <a:r>
              <a:rPr dirty="0" sz="650" spc="-5">
                <a:latin typeface="Courier New"/>
                <a:cs typeface="Courier New"/>
              </a:rPr>
              <a:t>collisions,</a:t>
            </a:r>
            <a:r>
              <a:rPr dirty="0" sz="650" spc="15">
                <a:latin typeface="Courier New"/>
                <a:cs typeface="Courier New"/>
              </a:rPr>
              <a:t> </a:t>
            </a:r>
            <a:r>
              <a:rPr dirty="0" sz="650" spc="-5">
                <a:latin typeface="Courier New"/>
                <a:cs typeface="Courier New"/>
              </a:rPr>
              <a:t>which</a:t>
            </a:r>
            <a:r>
              <a:rPr dirty="0" sz="650" spc="20">
                <a:latin typeface="Courier New"/>
                <a:cs typeface="Courier New"/>
              </a:rPr>
              <a:t> </a:t>
            </a:r>
            <a:r>
              <a:rPr dirty="0" sz="650" spc="-5">
                <a:latin typeface="Courier New"/>
                <a:cs typeface="Courier New"/>
              </a:rPr>
              <a:t>can</a:t>
            </a:r>
            <a:r>
              <a:rPr dirty="0" sz="650" spc="15">
                <a:latin typeface="Courier New"/>
                <a:cs typeface="Courier New"/>
              </a:rPr>
              <a:t> </a:t>
            </a:r>
            <a:r>
              <a:rPr dirty="0" sz="650" spc="-5">
                <a:latin typeface="Courier New"/>
                <a:cs typeface="Courier New"/>
              </a:rPr>
              <a:t>degrade</a:t>
            </a:r>
            <a:r>
              <a:rPr dirty="0" sz="650" spc="15">
                <a:latin typeface="Courier New"/>
                <a:cs typeface="Courier New"/>
              </a:rPr>
              <a:t> </a:t>
            </a:r>
            <a:r>
              <a:rPr dirty="0" sz="650" spc="-5">
                <a:latin typeface="Courier New"/>
                <a:cs typeface="Courier New"/>
              </a:rPr>
              <a:t>performance</a:t>
            </a:r>
            <a:r>
              <a:rPr dirty="0" sz="650" spc="15">
                <a:latin typeface="Courier New"/>
                <a:cs typeface="Courier New"/>
              </a:rPr>
              <a:t> </a:t>
            </a:r>
            <a:r>
              <a:rPr dirty="0" sz="650">
                <a:latin typeface="Courier New"/>
                <a:cs typeface="Courier New"/>
              </a:rPr>
              <a:t>of</a:t>
            </a:r>
            <a:r>
              <a:rPr dirty="0" sz="650" spc="15">
                <a:latin typeface="Courier New"/>
                <a:cs typeface="Courier New"/>
              </a:rPr>
              <a:t> </a:t>
            </a:r>
            <a:r>
              <a:rPr dirty="0" sz="650">
                <a:latin typeface="Courier New"/>
                <a:cs typeface="Courier New"/>
              </a:rPr>
              <a:t>HashMap </a:t>
            </a:r>
            <a:r>
              <a:rPr dirty="0" sz="650" spc="5">
                <a:latin typeface="Courier New"/>
                <a:cs typeface="Courier New"/>
              </a:rPr>
              <a:t> </a:t>
            </a:r>
            <a:r>
              <a:rPr dirty="0" sz="650">
                <a:latin typeface="Courier New"/>
                <a:cs typeface="Courier New"/>
              </a:rPr>
              <a:t>or</a:t>
            </a:r>
            <a:r>
              <a:rPr dirty="0" sz="650" spc="10">
                <a:latin typeface="Courier New"/>
                <a:cs typeface="Courier New"/>
              </a:rPr>
              <a:t> </a:t>
            </a:r>
            <a:r>
              <a:rPr dirty="0" sz="650" spc="-5">
                <a:latin typeface="Courier New"/>
                <a:cs typeface="Courier New"/>
              </a:rPr>
              <a:t>Hashtable</a:t>
            </a:r>
            <a:r>
              <a:rPr dirty="0" sz="650" spc="15">
                <a:latin typeface="Courier New"/>
                <a:cs typeface="Courier New"/>
              </a:rPr>
              <a:t> </a:t>
            </a:r>
            <a:r>
              <a:rPr dirty="0" sz="650">
                <a:latin typeface="Courier New"/>
                <a:cs typeface="Courier New"/>
              </a:rPr>
              <a:t>by</a:t>
            </a:r>
            <a:r>
              <a:rPr dirty="0" sz="650" spc="10">
                <a:latin typeface="Courier New"/>
                <a:cs typeface="Courier New"/>
              </a:rPr>
              <a:t> </a:t>
            </a:r>
            <a:r>
              <a:rPr dirty="0" sz="650" spc="-5">
                <a:latin typeface="Courier New"/>
                <a:cs typeface="Courier New"/>
              </a:rPr>
              <a:t>changing</a:t>
            </a:r>
            <a:r>
              <a:rPr dirty="0" sz="650" spc="15">
                <a:latin typeface="Courier New"/>
                <a:cs typeface="Courier New"/>
              </a:rPr>
              <a:t> </a:t>
            </a:r>
            <a:r>
              <a:rPr dirty="0" sz="650" spc="-5">
                <a:latin typeface="Courier New"/>
                <a:cs typeface="Courier New"/>
              </a:rPr>
              <a:t>hash</a:t>
            </a:r>
            <a:r>
              <a:rPr dirty="0" sz="650" spc="15">
                <a:latin typeface="Courier New"/>
                <a:cs typeface="Courier New"/>
              </a:rPr>
              <a:t> </a:t>
            </a:r>
            <a:r>
              <a:rPr dirty="0" sz="650" spc="-5">
                <a:latin typeface="Courier New"/>
                <a:cs typeface="Courier New"/>
              </a:rPr>
              <a:t>table</a:t>
            </a:r>
            <a:r>
              <a:rPr dirty="0" sz="650" spc="10">
                <a:latin typeface="Courier New"/>
                <a:cs typeface="Courier New"/>
              </a:rPr>
              <a:t> </a:t>
            </a:r>
            <a:r>
              <a:rPr dirty="0" sz="650" spc="-5">
                <a:latin typeface="Courier New"/>
                <a:cs typeface="Courier New"/>
              </a:rPr>
              <a:t>operations</a:t>
            </a:r>
            <a:r>
              <a:rPr dirty="0" sz="650" spc="15">
                <a:latin typeface="Courier New"/>
                <a:cs typeface="Courier New"/>
              </a:rPr>
              <a:t> </a:t>
            </a:r>
            <a:r>
              <a:rPr dirty="0" sz="650" spc="-5">
                <a:latin typeface="Courier New"/>
                <a:cs typeface="Courier New"/>
              </a:rPr>
              <a:t>complexity</a:t>
            </a:r>
            <a:r>
              <a:rPr dirty="0" sz="650" spc="15">
                <a:latin typeface="Courier New"/>
                <a:cs typeface="Courier New"/>
              </a:rPr>
              <a:t> </a:t>
            </a:r>
            <a:r>
              <a:rPr dirty="0" sz="650" spc="-5">
                <a:latin typeface="Courier New"/>
                <a:cs typeface="Courier New"/>
              </a:rPr>
              <a:t>from</a:t>
            </a:r>
            <a:r>
              <a:rPr dirty="0" sz="650" spc="10">
                <a:latin typeface="Courier New"/>
                <a:cs typeface="Courier New"/>
              </a:rPr>
              <a:t> </a:t>
            </a:r>
            <a:r>
              <a:rPr dirty="0" sz="650">
                <a:latin typeface="Courier New"/>
                <a:cs typeface="Courier New"/>
              </a:rPr>
              <a:t>an</a:t>
            </a:r>
            <a:r>
              <a:rPr dirty="0" sz="650" spc="15">
                <a:latin typeface="Courier New"/>
                <a:cs typeface="Courier New"/>
              </a:rPr>
              <a:t> </a:t>
            </a:r>
            <a:r>
              <a:rPr dirty="0" sz="650" spc="-5">
                <a:latin typeface="Courier New"/>
                <a:cs typeface="Courier New"/>
              </a:rPr>
              <a:t>expected/average</a:t>
            </a:r>
            <a:r>
              <a:rPr dirty="0" sz="650" spc="15">
                <a:latin typeface="Courier New"/>
                <a:cs typeface="Courier New"/>
              </a:rPr>
              <a:t> </a:t>
            </a:r>
            <a:r>
              <a:rPr dirty="0" sz="650" spc="-5">
                <a:latin typeface="Courier New"/>
                <a:cs typeface="Courier New"/>
              </a:rPr>
              <a:t>O(1)</a:t>
            </a:r>
            <a:r>
              <a:rPr dirty="0" sz="650" spc="10">
                <a:latin typeface="Courier New"/>
                <a:cs typeface="Courier New"/>
              </a:rPr>
              <a:t> </a:t>
            </a:r>
            <a:r>
              <a:rPr dirty="0" sz="650">
                <a:latin typeface="Courier New"/>
                <a:cs typeface="Courier New"/>
              </a:rPr>
              <a:t>to</a:t>
            </a:r>
            <a:r>
              <a:rPr dirty="0" sz="650" spc="15">
                <a:latin typeface="Courier New"/>
                <a:cs typeface="Courier New"/>
              </a:rPr>
              <a:t> </a:t>
            </a:r>
            <a:r>
              <a:rPr dirty="0" sz="650" spc="-5">
                <a:latin typeface="Courier New"/>
                <a:cs typeface="Courier New"/>
              </a:rPr>
              <a:t>the</a:t>
            </a:r>
            <a:r>
              <a:rPr dirty="0" sz="650" spc="15">
                <a:latin typeface="Courier New"/>
                <a:cs typeface="Courier New"/>
              </a:rPr>
              <a:t> </a:t>
            </a:r>
            <a:r>
              <a:rPr dirty="0" sz="650" spc="-5">
                <a:latin typeface="Courier New"/>
                <a:cs typeface="Courier New"/>
              </a:rPr>
              <a:t>worst</a:t>
            </a:r>
            <a:r>
              <a:rPr dirty="0" sz="650" spc="10">
                <a:latin typeface="Courier New"/>
                <a:cs typeface="Courier New"/>
              </a:rPr>
              <a:t> </a:t>
            </a:r>
            <a:r>
              <a:rPr dirty="0" sz="650" spc="-5">
                <a:latin typeface="Courier New"/>
                <a:cs typeface="Courier New"/>
              </a:rPr>
              <a:t>case</a:t>
            </a:r>
            <a:r>
              <a:rPr dirty="0" sz="650" spc="15">
                <a:latin typeface="Courier New"/>
                <a:cs typeface="Courier New"/>
              </a:rPr>
              <a:t> </a:t>
            </a:r>
            <a:r>
              <a:rPr dirty="0" sz="650">
                <a:latin typeface="Courier New"/>
                <a:cs typeface="Courier New"/>
              </a:rPr>
              <a:t>O(n). </a:t>
            </a:r>
            <a:r>
              <a:rPr dirty="0" sz="650" spc="5">
                <a:latin typeface="Courier New"/>
                <a:cs typeface="Courier New"/>
              </a:rPr>
              <a:t> </a:t>
            </a:r>
            <a:r>
              <a:rPr dirty="0" sz="650" spc="-5">
                <a:latin typeface="Courier New"/>
                <a:cs typeface="Courier New"/>
              </a:rPr>
              <a:t>Reporters</a:t>
            </a:r>
            <a:r>
              <a:rPr dirty="0" sz="650" spc="10">
                <a:latin typeface="Courier New"/>
                <a:cs typeface="Courier New"/>
              </a:rPr>
              <a:t> </a:t>
            </a:r>
            <a:r>
              <a:rPr dirty="0" sz="650" spc="-5">
                <a:latin typeface="Courier New"/>
                <a:cs typeface="Courier New"/>
              </a:rPr>
              <a:t>were</a:t>
            </a:r>
            <a:r>
              <a:rPr dirty="0" sz="650" spc="10">
                <a:latin typeface="Courier New"/>
                <a:cs typeface="Courier New"/>
              </a:rPr>
              <a:t> </a:t>
            </a:r>
            <a:r>
              <a:rPr dirty="0" sz="650" spc="-5">
                <a:latin typeface="Courier New"/>
                <a:cs typeface="Courier New"/>
              </a:rPr>
              <a:t>able</a:t>
            </a:r>
            <a:r>
              <a:rPr dirty="0" sz="650" spc="15">
                <a:latin typeface="Courier New"/>
                <a:cs typeface="Courier New"/>
              </a:rPr>
              <a:t> </a:t>
            </a:r>
            <a:r>
              <a:rPr dirty="0" sz="650">
                <a:latin typeface="Courier New"/>
                <a:cs typeface="Courier New"/>
              </a:rPr>
              <a:t>to</a:t>
            </a:r>
            <a:r>
              <a:rPr dirty="0" sz="650" spc="10">
                <a:latin typeface="Courier New"/>
                <a:cs typeface="Courier New"/>
              </a:rPr>
              <a:t> </a:t>
            </a:r>
            <a:r>
              <a:rPr dirty="0" sz="650" spc="-5">
                <a:latin typeface="Courier New"/>
                <a:cs typeface="Courier New"/>
              </a:rPr>
              <a:t>find</a:t>
            </a:r>
            <a:r>
              <a:rPr dirty="0" sz="650" spc="15">
                <a:latin typeface="Courier New"/>
                <a:cs typeface="Courier New"/>
              </a:rPr>
              <a:t> </a:t>
            </a:r>
            <a:r>
              <a:rPr dirty="0" sz="650" spc="-5">
                <a:latin typeface="Courier New"/>
                <a:cs typeface="Courier New"/>
              </a:rPr>
              <a:t>colliding</a:t>
            </a:r>
            <a:r>
              <a:rPr dirty="0" sz="650" spc="10">
                <a:latin typeface="Courier New"/>
                <a:cs typeface="Courier New"/>
              </a:rPr>
              <a:t> </a:t>
            </a:r>
            <a:r>
              <a:rPr dirty="0" sz="650" spc="-5">
                <a:latin typeface="Courier New"/>
                <a:cs typeface="Courier New"/>
              </a:rPr>
              <a:t>strings</a:t>
            </a:r>
            <a:r>
              <a:rPr dirty="0" sz="650" spc="15">
                <a:latin typeface="Courier New"/>
                <a:cs typeface="Courier New"/>
              </a:rPr>
              <a:t> </a:t>
            </a:r>
            <a:r>
              <a:rPr dirty="0" sz="650" spc="-5">
                <a:latin typeface="Courier New"/>
                <a:cs typeface="Courier New"/>
              </a:rPr>
              <a:t>efficiently</a:t>
            </a:r>
            <a:r>
              <a:rPr dirty="0" sz="650" spc="10">
                <a:latin typeface="Courier New"/>
                <a:cs typeface="Courier New"/>
              </a:rPr>
              <a:t> </a:t>
            </a:r>
            <a:r>
              <a:rPr dirty="0" sz="650" spc="-5">
                <a:latin typeface="Courier New"/>
                <a:cs typeface="Courier New"/>
              </a:rPr>
              <a:t>using</a:t>
            </a:r>
            <a:r>
              <a:rPr dirty="0" sz="650" spc="15">
                <a:latin typeface="Courier New"/>
                <a:cs typeface="Courier New"/>
              </a:rPr>
              <a:t> </a:t>
            </a:r>
            <a:r>
              <a:rPr dirty="0" sz="650" spc="-5">
                <a:latin typeface="Courier New"/>
                <a:cs typeface="Courier New"/>
              </a:rPr>
              <a:t>equivalent</a:t>
            </a:r>
            <a:r>
              <a:rPr dirty="0" sz="650" spc="10">
                <a:latin typeface="Courier New"/>
                <a:cs typeface="Courier New"/>
              </a:rPr>
              <a:t> </a:t>
            </a:r>
            <a:r>
              <a:rPr dirty="0" sz="650" spc="-5">
                <a:latin typeface="Courier New"/>
                <a:cs typeface="Courier New"/>
              </a:rPr>
              <a:t>substrings</a:t>
            </a:r>
            <a:r>
              <a:rPr dirty="0" sz="650" spc="15">
                <a:latin typeface="Courier New"/>
                <a:cs typeface="Courier New"/>
              </a:rPr>
              <a:t> </a:t>
            </a:r>
            <a:r>
              <a:rPr dirty="0" sz="650" spc="-5">
                <a:latin typeface="Courier New"/>
                <a:cs typeface="Courier New"/>
              </a:rPr>
              <a:t>and</a:t>
            </a:r>
            <a:r>
              <a:rPr dirty="0" sz="650" spc="10">
                <a:latin typeface="Courier New"/>
                <a:cs typeface="Courier New"/>
              </a:rPr>
              <a:t> </a:t>
            </a:r>
            <a:r>
              <a:rPr dirty="0" sz="650" spc="-5">
                <a:latin typeface="Courier New"/>
                <a:cs typeface="Courier New"/>
              </a:rPr>
              <a:t>meet</a:t>
            </a:r>
            <a:r>
              <a:rPr dirty="0" sz="650" spc="15">
                <a:latin typeface="Courier New"/>
                <a:cs typeface="Courier New"/>
              </a:rPr>
              <a:t> </a:t>
            </a:r>
            <a:r>
              <a:rPr dirty="0" sz="650">
                <a:latin typeface="Courier New"/>
                <a:cs typeface="Courier New"/>
              </a:rPr>
              <a:t>in</a:t>
            </a:r>
            <a:r>
              <a:rPr dirty="0" sz="650" spc="10">
                <a:latin typeface="Courier New"/>
                <a:cs typeface="Courier New"/>
              </a:rPr>
              <a:t> </a:t>
            </a:r>
            <a:r>
              <a:rPr dirty="0" sz="650" spc="-5">
                <a:latin typeface="Courier New"/>
                <a:cs typeface="Courier New"/>
              </a:rPr>
              <a:t>the</a:t>
            </a:r>
            <a:r>
              <a:rPr dirty="0" sz="650" spc="15">
                <a:latin typeface="Courier New"/>
                <a:cs typeface="Courier New"/>
              </a:rPr>
              <a:t> </a:t>
            </a:r>
            <a:r>
              <a:rPr dirty="0" sz="650">
                <a:latin typeface="Courier New"/>
                <a:cs typeface="Courier New"/>
              </a:rPr>
              <a:t>middle </a:t>
            </a:r>
            <a:r>
              <a:rPr dirty="0" sz="650" spc="5">
                <a:latin typeface="Courier New"/>
                <a:cs typeface="Courier New"/>
              </a:rPr>
              <a:t> </a:t>
            </a:r>
            <a:r>
              <a:rPr dirty="0" sz="650">
                <a:latin typeface="Courier New"/>
                <a:cs typeface="Courier New"/>
              </a:rPr>
              <a:t>techniques.</a:t>
            </a:r>
            <a:endParaRPr sz="6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650">
              <a:latin typeface="Courier New"/>
              <a:cs typeface="Courier New"/>
            </a:endParaRPr>
          </a:p>
          <a:p>
            <a:pPr marR="5080">
              <a:lnSpc>
                <a:spcPts val="760"/>
              </a:lnSpc>
              <a:spcBef>
                <a:spcPts val="5"/>
              </a:spcBef>
            </a:pPr>
            <a:r>
              <a:rPr dirty="0" sz="650" spc="-5">
                <a:latin typeface="Courier New"/>
                <a:cs typeface="Courier New"/>
              </a:rPr>
              <a:t>This</a:t>
            </a:r>
            <a:r>
              <a:rPr dirty="0" sz="650" spc="10">
                <a:latin typeface="Courier New"/>
                <a:cs typeface="Courier New"/>
              </a:rPr>
              <a:t> </a:t>
            </a:r>
            <a:r>
              <a:rPr dirty="0" sz="650" spc="-5">
                <a:latin typeface="Courier New"/>
                <a:cs typeface="Courier New"/>
              </a:rPr>
              <a:t>problem</a:t>
            </a:r>
            <a:r>
              <a:rPr dirty="0" sz="650" spc="15">
                <a:latin typeface="Courier New"/>
                <a:cs typeface="Courier New"/>
              </a:rPr>
              <a:t> </a:t>
            </a:r>
            <a:r>
              <a:rPr dirty="0" sz="650" spc="-5">
                <a:latin typeface="Courier New"/>
                <a:cs typeface="Courier New"/>
              </a:rPr>
              <a:t>can</a:t>
            </a:r>
            <a:r>
              <a:rPr dirty="0" sz="650" spc="10">
                <a:latin typeface="Courier New"/>
                <a:cs typeface="Courier New"/>
              </a:rPr>
              <a:t> </a:t>
            </a:r>
            <a:r>
              <a:rPr dirty="0" sz="650">
                <a:latin typeface="Courier New"/>
                <a:cs typeface="Courier New"/>
              </a:rPr>
              <a:t>be</a:t>
            </a:r>
            <a:r>
              <a:rPr dirty="0" sz="650" spc="15">
                <a:latin typeface="Courier New"/>
                <a:cs typeface="Courier New"/>
              </a:rPr>
              <a:t> </a:t>
            </a:r>
            <a:r>
              <a:rPr dirty="0" sz="650" spc="-5">
                <a:latin typeface="Courier New"/>
                <a:cs typeface="Courier New"/>
              </a:rPr>
              <a:t>used</a:t>
            </a:r>
            <a:r>
              <a:rPr dirty="0" sz="650" spc="15">
                <a:latin typeface="Courier New"/>
                <a:cs typeface="Courier New"/>
              </a:rPr>
              <a:t> </a:t>
            </a:r>
            <a:r>
              <a:rPr dirty="0" sz="650">
                <a:latin typeface="Courier New"/>
                <a:cs typeface="Courier New"/>
              </a:rPr>
              <a:t>to</a:t>
            </a:r>
            <a:r>
              <a:rPr dirty="0" sz="650" spc="10">
                <a:latin typeface="Courier New"/>
                <a:cs typeface="Courier New"/>
              </a:rPr>
              <a:t> </a:t>
            </a:r>
            <a:r>
              <a:rPr dirty="0" sz="650" spc="-5">
                <a:latin typeface="Courier New"/>
                <a:cs typeface="Courier New"/>
              </a:rPr>
              <a:t>start</a:t>
            </a:r>
            <a:r>
              <a:rPr dirty="0" sz="650" spc="15">
                <a:latin typeface="Courier New"/>
                <a:cs typeface="Courier New"/>
              </a:rPr>
              <a:t> </a:t>
            </a:r>
            <a:r>
              <a:rPr dirty="0" sz="650">
                <a:latin typeface="Courier New"/>
                <a:cs typeface="Courier New"/>
              </a:rPr>
              <a:t>a</a:t>
            </a:r>
            <a:r>
              <a:rPr dirty="0" sz="650" spc="15">
                <a:latin typeface="Courier New"/>
                <a:cs typeface="Courier New"/>
              </a:rPr>
              <a:t> </a:t>
            </a:r>
            <a:r>
              <a:rPr dirty="0" sz="650" spc="-5">
                <a:latin typeface="Courier New"/>
                <a:cs typeface="Courier New"/>
              </a:rPr>
              <a:t>denial</a:t>
            </a:r>
            <a:r>
              <a:rPr dirty="0" sz="650" spc="10">
                <a:latin typeface="Courier New"/>
                <a:cs typeface="Courier New"/>
              </a:rPr>
              <a:t> </a:t>
            </a:r>
            <a:r>
              <a:rPr dirty="0" sz="650">
                <a:latin typeface="Courier New"/>
                <a:cs typeface="Courier New"/>
              </a:rPr>
              <a:t>of</a:t>
            </a:r>
            <a:r>
              <a:rPr dirty="0" sz="650" spc="15">
                <a:latin typeface="Courier New"/>
                <a:cs typeface="Courier New"/>
              </a:rPr>
              <a:t> </a:t>
            </a:r>
            <a:r>
              <a:rPr dirty="0" sz="650" spc="-5">
                <a:latin typeface="Courier New"/>
                <a:cs typeface="Courier New"/>
              </a:rPr>
              <a:t>service</a:t>
            </a:r>
            <a:r>
              <a:rPr dirty="0" sz="650" spc="15">
                <a:latin typeface="Courier New"/>
                <a:cs typeface="Courier New"/>
              </a:rPr>
              <a:t> </a:t>
            </a:r>
            <a:r>
              <a:rPr dirty="0" sz="650" spc="-5">
                <a:latin typeface="Courier New"/>
                <a:cs typeface="Courier New"/>
              </a:rPr>
              <a:t>attack</a:t>
            </a:r>
            <a:r>
              <a:rPr dirty="0" sz="650" spc="10">
                <a:latin typeface="Courier New"/>
                <a:cs typeface="Courier New"/>
              </a:rPr>
              <a:t> </a:t>
            </a:r>
            <a:r>
              <a:rPr dirty="0" sz="650" spc="-5">
                <a:latin typeface="Courier New"/>
                <a:cs typeface="Courier New"/>
              </a:rPr>
              <a:t>against</a:t>
            </a:r>
            <a:r>
              <a:rPr dirty="0" sz="650" spc="15">
                <a:latin typeface="Courier New"/>
                <a:cs typeface="Courier New"/>
              </a:rPr>
              <a:t> </a:t>
            </a:r>
            <a:r>
              <a:rPr dirty="0" sz="650" spc="-5">
                <a:latin typeface="Courier New"/>
                <a:cs typeface="Courier New"/>
              </a:rPr>
              <a:t>Java</a:t>
            </a:r>
            <a:r>
              <a:rPr dirty="0" sz="650" spc="15">
                <a:latin typeface="Courier New"/>
                <a:cs typeface="Courier New"/>
              </a:rPr>
              <a:t> </a:t>
            </a:r>
            <a:r>
              <a:rPr dirty="0" sz="650" spc="-5">
                <a:latin typeface="Courier New"/>
                <a:cs typeface="Courier New"/>
              </a:rPr>
              <a:t>applications</a:t>
            </a:r>
            <a:r>
              <a:rPr dirty="0" sz="650" spc="10">
                <a:latin typeface="Courier New"/>
                <a:cs typeface="Courier New"/>
              </a:rPr>
              <a:t> </a:t>
            </a:r>
            <a:r>
              <a:rPr dirty="0" sz="650" spc="-5">
                <a:latin typeface="Courier New"/>
                <a:cs typeface="Courier New"/>
              </a:rPr>
              <a:t>that</a:t>
            </a:r>
            <a:r>
              <a:rPr dirty="0" sz="650" spc="15">
                <a:latin typeface="Courier New"/>
                <a:cs typeface="Courier New"/>
              </a:rPr>
              <a:t> </a:t>
            </a:r>
            <a:r>
              <a:rPr dirty="0" sz="650" spc="-5">
                <a:latin typeface="Courier New"/>
                <a:cs typeface="Courier New"/>
              </a:rPr>
              <a:t>use</a:t>
            </a:r>
            <a:r>
              <a:rPr dirty="0" sz="650" spc="15">
                <a:latin typeface="Courier New"/>
                <a:cs typeface="Courier New"/>
              </a:rPr>
              <a:t> </a:t>
            </a:r>
            <a:r>
              <a:rPr dirty="0" sz="650" spc="-5">
                <a:latin typeface="Courier New"/>
                <a:cs typeface="Courier New"/>
              </a:rPr>
              <a:t>untrusted</a:t>
            </a:r>
            <a:r>
              <a:rPr dirty="0" sz="650" spc="10">
                <a:latin typeface="Courier New"/>
                <a:cs typeface="Courier New"/>
              </a:rPr>
              <a:t> </a:t>
            </a:r>
            <a:r>
              <a:rPr dirty="0" sz="650">
                <a:latin typeface="Courier New"/>
                <a:cs typeface="Courier New"/>
              </a:rPr>
              <a:t>inputs </a:t>
            </a:r>
            <a:r>
              <a:rPr dirty="0" sz="650" spc="5">
                <a:latin typeface="Courier New"/>
                <a:cs typeface="Courier New"/>
              </a:rPr>
              <a:t> </a:t>
            </a:r>
            <a:r>
              <a:rPr dirty="0" sz="650">
                <a:latin typeface="Courier New"/>
                <a:cs typeface="Courier New"/>
              </a:rPr>
              <a:t>as</a:t>
            </a:r>
            <a:r>
              <a:rPr dirty="0" sz="650" spc="10">
                <a:latin typeface="Courier New"/>
                <a:cs typeface="Courier New"/>
              </a:rPr>
              <a:t> </a:t>
            </a:r>
            <a:r>
              <a:rPr dirty="0" sz="650" spc="-5">
                <a:latin typeface="Courier New"/>
                <a:cs typeface="Courier New"/>
              </a:rPr>
              <a:t>HashMap</a:t>
            </a:r>
            <a:r>
              <a:rPr dirty="0" sz="650" spc="10">
                <a:latin typeface="Courier New"/>
                <a:cs typeface="Courier New"/>
              </a:rPr>
              <a:t> </a:t>
            </a:r>
            <a:r>
              <a:rPr dirty="0" sz="650">
                <a:latin typeface="Courier New"/>
                <a:cs typeface="Courier New"/>
              </a:rPr>
              <a:t>or</a:t>
            </a:r>
            <a:r>
              <a:rPr dirty="0" sz="650" spc="10">
                <a:latin typeface="Courier New"/>
                <a:cs typeface="Courier New"/>
              </a:rPr>
              <a:t> </a:t>
            </a:r>
            <a:r>
              <a:rPr dirty="0" sz="650" spc="-5">
                <a:latin typeface="Courier New"/>
                <a:cs typeface="Courier New"/>
              </a:rPr>
              <a:t>Hashtable</a:t>
            </a:r>
            <a:r>
              <a:rPr dirty="0" sz="650" spc="10">
                <a:latin typeface="Courier New"/>
                <a:cs typeface="Courier New"/>
              </a:rPr>
              <a:t> </a:t>
            </a:r>
            <a:r>
              <a:rPr dirty="0" sz="650" spc="-5">
                <a:latin typeface="Courier New"/>
                <a:cs typeface="Courier New"/>
              </a:rPr>
              <a:t>keys.</a:t>
            </a:r>
            <a:r>
              <a:rPr dirty="0" sz="650" spc="35">
                <a:latin typeface="Courier New"/>
                <a:cs typeface="Courier New"/>
              </a:rPr>
              <a:t> </a:t>
            </a:r>
            <a:r>
              <a:rPr dirty="0" sz="650">
                <a:latin typeface="Courier New"/>
                <a:cs typeface="Courier New"/>
              </a:rPr>
              <a:t>An</a:t>
            </a:r>
            <a:r>
              <a:rPr dirty="0" sz="650" spc="15">
                <a:latin typeface="Courier New"/>
                <a:cs typeface="Courier New"/>
              </a:rPr>
              <a:t> </a:t>
            </a:r>
            <a:r>
              <a:rPr dirty="0" sz="650" spc="-5">
                <a:latin typeface="Courier New"/>
                <a:cs typeface="Courier New"/>
              </a:rPr>
              <a:t>example</a:t>
            </a:r>
            <a:r>
              <a:rPr dirty="0" sz="650" spc="10">
                <a:latin typeface="Courier New"/>
                <a:cs typeface="Courier New"/>
              </a:rPr>
              <a:t> </a:t>
            </a:r>
            <a:r>
              <a:rPr dirty="0" sz="650">
                <a:latin typeface="Courier New"/>
                <a:cs typeface="Courier New"/>
              </a:rPr>
              <a:t>of</a:t>
            </a:r>
            <a:r>
              <a:rPr dirty="0" sz="650" spc="10">
                <a:latin typeface="Courier New"/>
                <a:cs typeface="Courier New"/>
              </a:rPr>
              <a:t> </a:t>
            </a:r>
            <a:r>
              <a:rPr dirty="0" sz="650" spc="-5">
                <a:latin typeface="Courier New"/>
                <a:cs typeface="Courier New"/>
              </a:rPr>
              <a:t>such</a:t>
            </a:r>
            <a:r>
              <a:rPr dirty="0" sz="650" spc="10">
                <a:latin typeface="Courier New"/>
                <a:cs typeface="Courier New"/>
              </a:rPr>
              <a:t> </a:t>
            </a:r>
            <a:r>
              <a:rPr dirty="0" sz="650" spc="-5">
                <a:latin typeface="Courier New"/>
                <a:cs typeface="Courier New"/>
              </a:rPr>
              <a:t>application</a:t>
            </a:r>
            <a:r>
              <a:rPr dirty="0" sz="650" spc="15">
                <a:latin typeface="Courier New"/>
                <a:cs typeface="Courier New"/>
              </a:rPr>
              <a:t> </a:t>
            </a:r>
            <a:r>
              <a:rPr dirty="0" sz="650">
                <a:latin typeface="Courier New"/>
                <a:cs typeface="Courier New"/>
              </a:rPr>
              <a:t>is</a:t>
            </a:r>
            <a:r>
              <a:rPr dirty="0" sz="650" spc="10">
                <a:latin typeface="Courier New"/>
                <a:cs typeface="Courier New"/>
              </a:rPr>
              <a:t> </a:t>
            </a:r>
            <a:r>
              <a:rPr dirty="0" sz="650" spc="-5">
                <a:latin typeface="Courier New"/>
                <a:cs typeface="Courier New"/>
              </a:rPr>
              <a:t>web</a:t>
            </a:r>
            <a:r>
              <a:rPr dirty="0" sz="650" spc="10">
                <a:latin typeface="Courier New"/>
                <a:cs typeface="Courier New"/>
              </a:rPr>
              <a:t> </a:t>
            </a:r>
            <a:r>
              <a:rPr dirty="0" sz="650" spc="-5">
                <a:latin typeface="Courier New"/>
                <a:cs typeface="Courier New"/>
              </a:rPr>
              <a:t>application</a:t>
            </a:r>
            <a:r>
              <a:rPr dirty="0" sz="650" spc="10">
                <a:latin typeface="Courier New"/>
                <a:cs typeface="Courier New"/>
              </a:rPr>
              <a:t> </a:t>
            </a:r>
            <a:r>
              <a:rPr dirty="0" sz="650" spc="-5">
                <a:latin typeface="Courier New"/>
                <a:cs typeface="Courier New"/>
              </a:rPr>
              <a:t>server</a:t>
            </a:r>
            <a:r>
              <a:rPr dirty="0" sz="650" spc="15">
                <a:latin typeface="Courier New"/>
                <a:cs typeface="Courier New"/>
              </a:rPr>
              <a:t> </a:t>
            </a:r>
            <a:r>
              <a:rPr dirty="0" sz="650" spc="-5">
                <a:latin typeface="Courier New"/>
                <a:cs typeface="Courier New"/>
              </a:rPr>
              <a:t>(such</a:t>
            </a:r>
            <a:r>
              <a:rPr dirty="0" sz="650" spc="10">
                <a:latin typeface="Courier New"/>
                <a:cs typeface="Courier New"/>
              </a:rPr>
              <a:t> </a:t>
            </a:r>
            <a:r>
              <a:rPr dirty="0" sz="650">
                <a:latin typeface="Courier New"/>
                <a:cs typeface="Courier New"/>
              </a:rPr>
              <a:t>as</a:t>
            </a:r>
            <a:r>
              <a:rPr dirty="0" sz="650" spc="10">
                <a:latin typeface="Courier New"/>
                <a:cs typeface="Courier New"/>
              </a:rPr>
              <a:t> </a:t>
            </a:r>
            <a:r>
              <a:rPr dirty="0" sz="650" spc="-5">
                <a:latin typeface="Courier New"/>
                <a:cs typeface="Courier New"/>
              </a:rPr>
              <a:t>tomcat,</a:t>
            </a:r>
            <a:r>
              <a:rPr dirty="0" sz="650" spc="10">
                <a:latin typeface="Courier New"/>
                <a:cs typeface="Courier New"/>
              </a:rPr>
              <a:t> </a:t>
            </a:r>
            <a:r>
              <a:rPr dirty="0" sz="650" spc="-5">
                <a:latin typeface="Courier New"/>
                <a:cs typeface="Courier New"/>
              </a:rPr>
              <a:t>see</a:t>
            </a:r>
            <a:r>
              <a:rPr dirty="0" sz="650" spc="20">
                <a:latin typeface="Courier New"/>
                <a:cs typeface="Courier New"/>
              </a:rPr>
              <a:t> </a:t>
            </a:r>
            <a:r>
              <a:rPr dirty="0" sz="650">
                <a:solidFill>
                  <a:srgbClr val="0066CC"/>
                </a:solidFill>
                <a:latin typeface="Courier New"/>
                <a:cs typeface="Courier New"/>
              </a:rPr>
              <a:t>bug </a:t>
            </a:r>
            <a:r>
              <a:rPr dirty="0" sz="650" spc="5">
                <a:solidFill>
                  <a:srgbClr val="0066CC"/>
                </a:solidFill>
                <a:latin typeface="Courier New"/>
                <a:cs typeface="Courier New"/>
              </a:rPr>
              <a:t> </a:t>
            </a:r>
            <a:r>
              <a:rPr dirty="0" sz="650">
                <a:solidFill>
                  <a:srgbClr val="0066CC"/>
                </a:solidFill>
                <a:latin typeface="Courier New"/>
                <a:cs typeface="Courier New"/>
              </a:rPr>
              <a:t>#750521</a:t>
            </a:r>
            <a:r>
              <a:rPr dirty="0" sz="650">
                <a:latin typeface="Courier New"/>
                <a:cs typeface="Courier New"/>
              </a:rPr>
              <a:t>)</a:t>
            </a:r>
            <a:r>
              <a:rPr dirty="0" sz="650" spc="35">
                <a:latin typeface="Courier New"/>
                <a:cs typeface="Courier New"/>
              </a:rPr>
              <a:t> </a:t>
            </a:r>
            <a:r>
              <a:rPr dirty="0" sz="650" spc="-5">
                <a:latin typeface="Courier New"/>
                <a:cs typeface="Courier New"/>
              </a:rPr>
              <a:t>that</a:t>
            </a:r>
            <a:r>
              <a:rPr dirty="0" sz="650" spc="40">
                <a:latin typeface="Courier New"/>
                <a:cs typeface="Courier New"/>
              </a:rPr>
              <a:t> </a:t>
            </a:r>
            <a:r>
              <a:rPr dirty="0" sz="650" spc="-5">
                <a:latin typeface="Courier New"/>
                <a:cs typeface="Courier New"/>
              </a:rPr>
              <a:t>may</a:t>
            </a:r>
            <a:r>
              <a:rPr dirty="0" sz="650" spc="40">
                <a:latin typeface="Courier New"/>
                <a:cs typeface="Courier New"/>
              </a:rPr>
              <a:t> </a:t>
            </a:r>
            <a:r>
              <a:rPr dirty="0" sz="650" spc="-5">
                <a:latin typeface="Courier New"/>
                <a:cs typeface="Courier New"/>
              </a:rPr>
              <a:t>fill</a:t>
            </a:r>
            <a:r>
              <a:rPr dirty="0" sz="650" spc="40">
                <a:latin typeface="Courier New"/>
                <a:cs typeface="Courier New"/>
              </a:rPr>
              <a:t> </a:t>
            </a:r>
            <a:r>
              <a:rPr dirty="0" sz="650" spc="-5">
                <a:latin typeface="Courier New"/>
                <a:cs typeface="Courier New"/>
              </a:rPr>
              <a:t>hash</a:t>
            </a:r>
            <a:r>
              <a:rPr dirty="0" sz="650" spc="40">
                <a:latin typeface="Courier New"/>
                <a:cs typeface="Courier New"/>
              </a:rPr>
              <a:t> </a:t>
            </a:r>
            <a:r>
              <a:rPr dirty="0" sz="650" spc="-5">
                <a:latin typeface="Courier New"/>
                <a:cs typeface="Courier New"/>
              </a:rPr>
              <a:t>tables</a:t>
            </a:r>
            <a:r>
              <a:rPr dirty="0" sz="650" spc="35">
                <a:latin typeface="Courier New"/>
                <a:cs typeface="Courier New"/>
              </a:rPr>
              <a:t> </a:t>
            </a:r>
            <a:r>
              <a:rPr dirty="0" sz="650" spc="-5">
                <a:latin typeface="Courier New"/>
                <a:cs typeface="Courier New"/>
              </a:rPr>
              <a:t>with</a:t>
            </a:r>
            <a:r>
              <a:rPr dirty="0" sz="650" spc="40">
                <a:latin typeface="Courier New"/>
                <a:cs typeface="Courier New"/>
              </a:rPr>
              <a:t> </a:t>
            </a:r>
            <a:r>
              <a:rPr dirty="0" sz="650" spc="-5">
                <a:latin typeface="Courier New"/>
                <a:cs typeface="Courier New"/>
              </a:rPr>
              <a:t>data</a:t>
            </a:r>
            <a:r>
              <a:rPr dirty="0" sz="650" spc="40">
                <a:latin typeface="Courier New"/>
                <a:cs typeface="Courier New"/>
              </a:rPr>
              <a:t> </a:t>
            </a:r>
            <a:r>
              <a:rPr dirty="0" sz="650" spc="-5">
                <a:latin typeface="Courier New"/>
                <a:cs typeface="Courier New"/>
              </a:rPr>
              <a:t>from</a:t>
            </a:r>
            <a:r>
              <a:rPr dirty="0" sz="650" spc="40">
                <a:latin typeface="Courier New"/>
                <a:cs typeface="Courier New"/>
              </a:rPr>
              <a:t> </a:t>
            </a:r>
            <a:r>
              <a:rPr dirty="0" sz="650" spc="-5">
                <a:latin typeface="Courier New"/>
                <a:cs typeface="Courier New"/>
              </a:rPr>
              <a:t>HTTP</a:t>
            </a:r>
            <a:r>
              <a:rPr dirty="0" sz="650" spc="40">
                <a:latin typeface="Courier New"/>
                <a:cs typeface="Courier New"/>
              </a:rPr>
              <a:t> </a:t>
            </a:r>
            <a:r>
              <a:rPr dirty="0" sz="650" spc="-5">
                <a:latin typeface="Courier New"/>
                <a:cs typeface="Courier New"/>
              </a:rPr>
              <a:t>request</a:t>
            </a:r>
            <a:r>
              <a:rPr dirty="0" sz="650" spc="40">
                <a:latin typeface="Courier New"/>
                <a:cs typeface="Courier New"/>
              </a:rPr>
              <a:t> </a:t>
            </a:r>
            <a:r>
              <a:rPr dirty="0" sz="650" spc="-5">
                <a:latin typeface="Courier New"/>
                <a:cs typeface="Courier New"/>
              </a:rPr>
              <a:t>(such</a:t>
            </a:r>
            <a:r>
              <a:rPr dirty="0" sz="650" spc="35">
                <a:latin typeface="Courier New"/>
                <a:cs typeface="Courier New"/>
              </a:rPr>
              <a:t> </a:t>
            </a:r>
            <a:r>
              <a:rPr dirty="0" sz="650">
                <a:latin typeface="Courier New"/>
                <a:cs typeface="Courier New"/>
              </a:rPr>
              <a:t>as</a:t>
            </a:r>
            <a:r>
              <a:rPr dirty="0" sz="650" spc="40">
                <a:latin typeface="Courier New"/>
                <a:cs typeface="Courier New"/>
              </a:rPr>
              <a:t> </a:t>
            </a:r>
            <a:r>
              <a:rPr dirty="0" sz="650" spc="-5">
                <a:latin typeface="Courier New"/>
                <a:cs typeface="Courier New"/>
              </a:rPr>
              <a:t>GET</a:t>
            </a:r>
            <a:r>
              <a:rPr dirty="0" sz="650" spc="40">
                <a:latin typeface="Courier New"/>
                <a:cs typeface="Courier New"/>
              </a:rPr>
              <a:t> </a:t>
            </a:r>
            <a:r>
              <a:rPr dirty="0" sz="650">
                <a:latin typeface="Courier New"/>
                <a:cs typeface="Courier New"/>
              </a:rPr>
              <a:t>or</a:t>
            </a:r>
            <a:r>
              <a:rPr dirty="0" sz="650" spc="40">
                <a:latin typeface="Courier New"/>
                <a:cs typeface="Courier New"/>
              </a:rPr>
              <a:t> </a:t>
            </a:r>
            <a:r>
              <a:rPr dirty="0" sz="650" spc="-5">
                <a:latin typeface="Courier New"/>
                <a:cs typeface="Courier New"/>
              </a:rPr>
              <a:t>POST</a:t>
            </a:r>
            <a:r>
              <a:rPr dirty="0" sz="650" spc="40">
                <a:latin typeface="Courier New"/>
                <a:cs typeface="Courier New"/>
              </a:rPr>
              <a:t> </a:t>
            </a:r>
            <a:r>
              <a:rPr dirty="0" sz="650" spc="-5">
                <a:latin typeface="Courier New"/>
                <a:cs typeface="Courier New"/>
              </a:rPr>
              <a:t>parameters).</a:t>
            </a:r>
            <a:r>
              <a:rPr dirty="0" sz="650" spc="440">
                <a:latin typeface="Courier New"/>
                <a:cs typeface="Courier New"/>
              </a:rPr>
              <a:t> </a:t>
            </a:r>
            <a:r>
              <a:rPr dirty="0" sz="650">
                <a:latin typeface="Courier New"/>
                <a:cs typeface="Courier New"/>
              </a:rPr>
              <a:t>A</a:t>
            </a:r>
            <a:r>
              <a:rPr dirty="0" sz="650" spc="40">
                <a:latin typeface="Courier New"/>
                <a:cs typeface="Courier New"/>
              </a:rPr>
              <a:t> </a:t>
            </a:r>
            <a:r>
              <a:rPr dirty="0" sz="650">
                <a:latin typeface="Courier New"/>
                <a:cs typeface="Courier New"/>
              </a:rPr>
              <a:t>remote </a:t>
            </a:r>
            <a:r>
              <a:rPr dirty="0" sz="650" spc="5">
                <a:latin typeface="Courier New"/>
                <a:cs typeface="Courier New"/>
              </a:rPr>
              <a:t> </a:t>
            </a:r>
            <a:r>
              <a:rPr dirty="0" sz="650" spc="-5">
                <a:latin typeface="Courier New"/>
                <a:cs typeface="Courier New"/>
              </a:rPr>
              <a:t>attack</a:t>
            </a:r>
            <a:r>
              <a:rPr dirty="0" sz="650" spc="35">
                <a:latin typeface="Courier New"/>
                <a:cs typeface="Courier New"/>
              </a:rPr>
              <a:t> </a:t>
            </a:r>
            <a:r>
              <a:rPr dirty="0" sz="650" spc="-5">
                <a:latin typeface="Courier New"/>
                <a:cs typeface="Courier New"/>
              </a:rPr>
              <a:t>could</a:t>
            </a:r>
            <a:r>
              <a:rPr dirty="0" sz="650" spc="40">
                <a:latin typeface="Courier New"/>
                <a:cs typeface="Courier New"/>
              </a:rPr>
              <a:t> </a:t>
            </a:r>
            <a:r>
              <a:rPr dirty="0" sz="650" spc="-5">
                <a:latin typeface="Courier New"/>
                <a:cs typeface="Courier New"/>
              </a:rPr>
              <a:t>use</a:t>
            </a:r>
            <a:r>
              <a:rPr dirty="0" sz="650" spc="35">
                <a:latin typeface="Courier New"/>
                <a:cs typeface="Courier New"/>
              </a:rPr>
              <a:t> </a:t>
            </a:r>
            <a:r>
              <a:rPr dirty="0" sz="650" spc="-5">
                <a:latin typeface="Courier New"/>
                <a:cs typeface="Courier New"/>
              </a:rPr>
              <a:t>that</a:t>
            </a:r>
            <a:r>
              <a:rPr dirty="0" sz="650" spc="40">
                <a:latin typeface="Courier New"/>
                <a:cs typeface="Courier New"/>
              </a:rPr>
              <a:t> </a:t>
            </a:r>
            <a:r>
              <a:rPr dirty="0" sz="650">
                <a:latin typeface="Courier New"/>
                <a:cs typeface="Courier New"/>
              </a:rPr>
              <a:t>to</a:t>
            </a:r>
            <a:r>
              <a:rPr dirty="0" sz="650" spc="35">
                <a:latin typeface="Courier New"/>
                <a:cs typeface="Courier New"/>
              </a:rPr>
              <a:t> </a:t>
            </a:r>
            <a:r>
              <a:rPr dirty="0" sz="650" spc="-5">
                <a:latin typeface="Courier New"/>
                <a:cs typeface="Courier New"/>
              </a:rPr>
              <a:t>make</a:t>
            </a:r>
            <a:r>
              <a:rPr dirty="0" sz="650" spc="40">
                <a:latin typeface="Courier New"/>
                <a:cs typeface="Courier New"/>
              </a:rPr>
              <a:t> </a:t>
            </a:r>
            <a:r>
              <a:rPr dirty="0" sz="650" spc="-5">
                <a:latin typeface="Courier New"/>
                <a:cs typeface="Courier New"/>
              </a:rPr>
              <a:t>JVM</a:t>
            </a:r>
            <a:r>
              <a:rPr dirty="0" sz="650" spc="35">
                <a:latin typeface="Courier New"/>
                <a:cs typeface="Courier New"/>
              </a:rPr>
              <a:t> </a:t>
            </a:r>
            <a:r>
              <a:rPr dirty="0" sz="650" spc="-5">
                <a:latin typeface="Courier New"/>
                <a:cs typeface="Courier New"/>
              </a:rPr>
              <a:t>use</a:t>
            </a:r>
            <a:r>
              <a:rPr dirty="0" sz="650" spc="40">
                <a:latin typeface="Courier New"/>
                <a:cs typeface="Courier New"/>
              </a:rPr>
              <a:t> </a:t>
            </a:r>
            <a:r>
              <a:rPr dirty="0" sz="650" spc="-5">
                <a:latin typeface="Courier New"/>
                <a:cs typeface="Courier New"/>
              </a:rPr>
              <a:t>excessive</a:t>
            </a:r>
            <a:r>
              <a:rPr dirty="0" sz="650" spc="40">
                <a:latin typeface="Courier New"/>
                <a:cs typeface="Courier New"/>
              </a:rPr>
              <a:t> </a:t>
            </a:r>
            <a:r>
              <a:rPr dirty="0" sz="650" spc="-5">
                <a:latin typeface="Courier New"/>
                <a:cs typeface="Courier New"/>
              </a:rPr>
              <a:t>amount</a:t>
            </a:r>
            <a:r>
              <a:rPr dirty="0" sz="650" spc="35">
                <a:latin typeface="Courier New"/>
                <a:cs typeface="Courier New"/>
              </a:rPr>
              <a:t> </a:t>
            </a:r>
            <a:r>
              <a:rPr dirty="0" sz="650">
                <a:latin typeface="Courier New"/>
                <a:cs typeface="Courier New"/>
              </a:rPr>
              <a:t>of</a:t>
            </a:r>
            <a:r>
              <a:rPr dirty="0" sz="650" spc="40">
                <a:latin typeface="Courier New"/>
                <a:cs typeface="Courier New"/>
              </a:rPr>
              <a:t> </a:t>
            </a:r>
            <a:r>
              <a:rPr dirty="0" sz="650" spc="-5">
                <a:latin typeface="Courier New"/>
                <a:cs typeface="Courier New"/>
              </a:rPr>
              <a:t>CPU</a:t>
            </a:r>
            <a:r>
              <a:rPr dirty="0" sz="650" spc="35">
                <a:latin typeface="Courier New"/>
                <a:cs typeface="Courier New"/>
              </a:rPr>
              <a:t> </a:t>
            </a:r>
            <a:r>
              <a:rPr dirty="0" sz="650" spc="-5">
                <a:latin typeface="Courier New"/>
                <a:cs typeface="Courier New"/>
              </a:rPr>
              <a:t>time</a:t>
            </a:r>
            <a:r>
              <a:rPr dirty="0" sz="650" spc="40">
                <a:latin typeface="Courier New"/>
                <a:cs typeface="Courier New"/>
              </a:rPr>
              <a:t> </a:t>
            </a:r>
            <a:r>
              <a:rPr dirty="0" sz="650">
                <a:latin typeface="Courier New"/>
                <a:cs typeface="Courier New"/>
              </a:rPr>
              <a:t>by</a:t>
            </a:r>
            <a:r>
              <a:rPr dirty="0" sz="650" spc="35">
                <a:latin typeface="Courier New"/>
                <a:cs typeface="Courier New"/>
              </a:rPr>
              <a:t> </a:t>
            </a:r>
            <a:r>
              <a:rPr dirty="0" sz="650" spc="-5">
                <a:latin typeface="Courier New"/>
                <a:cs typeface="Courier New"/>
              </a:rPr>
              <a:t>sending</a:t>
            </a:r>
            <a:r>
              <a:rPr dirty="0" sz="650" spc="40">
                <a:latin typeface="Courier New"/>
                <a:cs typeface="Courier New"/>
              </a:rPr>
              <a:t> </a:t>
            </a:r>
            <a:r>
              <a:rPr dirty="0" sz="650">
                <a:latin typeface="Courier New"/>
                <a:cs typeface="Courier New"/>
              </a:rPr>
              <a:t>a</a:t>
            </a:r>
            <a:r>
              <a:rPr dirty="0" sz="650" spc="40">
                <a:latin typeface="Courier New"/>
                <a:cs typeface="Courier New"/>
              </a:rPr>
              <a:t> </a:t>
            </a:r>
            <a:r>
              <a:rPr dirty="0" sz="650" spc="-5">
                <a:latin typeface="Courier New"/>
                <a:cs typeface="Courier New"/>
              </a:rPr>
              <a:t>POST</a:t>
            </a:r>
            <a:r>
              <a:rPr dirty="0" sz="650" spc="35">
                <a:latin typeface="Courier New"/>
                <a:cs typeface="Courier New"/>
              </a:rPr>
              <a:t> </a:t>
            </a:r>
            <a:r>
              <a:rPr dirty="0" sz="650" spc="-5">
                <a:latin typeface="Courier New"/>
                <a:cs typeface="Courier New"/>
              </a:rPr>
              <a:t>request</a:t>
            </a:r>
            <a:r>
              <a:rPr dirty="0" sz="650" spc="40">
                <a:latin typeface="Courier New"/>
                <a:cs typeface="Courier New"/>
              </a:rPr>
              <a:t> </a:t>
            </a:r>
            <a:r>
              <a:rPr dirty="0" sz="650" spc="-5">
                <a:latin typeface="Courier New"/>
                <a:cs typeface="Courier New"/>
              </a:rPr>
              <a:t>with</a:t>
            </a:r>
            <a:r>
              <a:rPr dirty="0" sz="650" spc="35">
                <a:latin typeface="Courier New"/>
                <a:cs typeface="Courier New"/>
              </a:rPr>
              <a:t> </a:t>
            </a:r>
            <a:r>
              <a:rPr dirty="0" sz="650" spc="-5">
                <a:latin typeface="Courier New"/>
                <a:cs typeface="Courier New"/>
              </a:rPr>
              <a:t>large</a:t>
            </a:r>
            <a:r>
              <a:rPr dirty="0" sz="650" spc="40">
                <a:latin typeface="Courier New"/>
                <a:cs typeface="Courier New"/>
              </a:rPr>
              <a:t> </a:t>
            </a:r>
            <a:r>
              <a:rPr dirty="0" sz="650">
                <a:latin typeface="Courier New"/>
                <a:cs typeface="Courier New"/>
              </a:rPr>
              <a:t>amount </a:t>
            </a:r>
            <a:r>
              <a:rPr dirty="0" sz="650" spc="5">
                <a:latin typeface="Courier New"/>
                <a:cs typeface="Courier New"/>
              </a:rPr>
              <a:t> </a:t>
            </a:r>
            <a:r>
              <a:rPr dirty="0" sz="650">
                <a:latin typeface="Courier New"/>
                <a:cs typeface="Courier New"/>
              </a:rPr>
              <a:t>of </a:t>
            </a:r>
            <a:r>
              <a:rPr dirty="0" sz="650" spc="-5">
                <a:latin typeface="Courier New"/>
                <a:cs typeface="Courier New"/>
              </a:rPr>
              <a:t>parameters</a:t>
            </a:r>
            <a:r>
              <a:rPr dirty="0" sz="650">
                <a:latin typeface="Courier New"/>
                <a:cs typeface="Courier New"/>
              </a:rPr>
              <a:t> </a:t>
            </a:r>
            <a:r>
              <a:rPr dirty="0" sz="650" spc="-5">
                <a:latin typeface="Courier New"/>
                <a:cs typeface="Courier New"/>
              </a:rPr>
              <a:t>which</a:t>
            </a:r>
            <a:r>
              <a:rPr dirty="0" sz="650">
                <a:latin typeface="Courier New"/>
                <a:cs typeface="Courier New"/>
              </a:rPr>
              <a:t> </a:t>
            </a:r>
            <a:r>
              <a:rPr dirty="0" sz="650" spc="-5">
                <a:latin typeface="Courier New"/>
                <a:cs typeface="Courier New"/>
              </a:rPr>
              <a:t>hash</a:t>
            </a:r>
            <a:r>
              <a:rPr dirty="0" sz="650">
                <a:latin typeface="Courier New"/>
                <a:cs typeface="Courier New"/>
              </a:rPr>
              <a:t> to </a:t>
            </a:r>
            <a:r>
              <a:rPr dirty="0" sz="650" spc="-5">
                <a:latin typeface="Courier New"/>
                <a:cs typeface="Courier New"/>
              </a:rPr>
              <a:t>the</a:t>
            </a:r>
            <a:r>
              <a:rPr dirty="0" sz="650">
                <a:latin typeface="Courier New"/>
                <a:cs typeface="Courier New"/>
              </a:rPr>
              <a:t> </a:t>
            </a:r>
            <a:r>
              <a:rPr dirty="0" sz="650" spc="-5">
                <a:latin typeface="Courier New"/>
                <a:cs typeface="Courier New"/>
              </a:rPr>
              <a:t>same</a:t>
            </a:r>
            <a:r>
              <a:rPr dirty="0" sz="650">
                <a:latin typeface="Courier New"/>
                <a:cs typeface="Courier New"/>
              </a:rPr>
              <a:t> value.</a:t>
            </a:r>
            <a:endParaRPr sz="6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600">
              <a:latin typeface="Courier New"/>
              <a:cs typeface="Courier New"/>
            </a:endParaRPr>
          </a:p>
          <a:p>
            <a:pPr marR="1653539">
              <a:lnSpc>
                <a:spcPts val="760"/>
              </a:lnSpc>
            </a:pPr>
            <a:r>
              <a:rPr dirty="0" sz="650" spc="-5">
                <a:latin typeface="Courier New"/>
                <a:cs typeface="Courier New"/>
              </a:rPr>
              <a:t>This</a:t>
            </a:r>
            <a:r>
              <a:rPr dirty="0" sz="650" spc="10">
                <a:latin typeface="Courier New"/>
                <a:cs typeface="Courier New"/>
              </a:rPr>
              <a:t> </a:t>
            </a:r>
            <a:r>
              <a:rPr dirty="0" sz="650" spc="-5">
                <a:latin typeface="Courier New"/>
                <a:cs typeface="Courier New"/>
              </a:rPr>
              <a:t>problem</a:t>
            </a:r>
            <a:r>
              <a:rPr dirty="0" sz="650" spc="10">
                <a:latin typeface="Courier New"/>
                <a:cs typeface="Courier New"/>
              </a:rPr>
              <a:t> </a:t>
            </a:r>
            <a:r>
              <a:rPr dirty="0" sz="650">
                <a:latin typeface="Courier New"/>
                <a:cs typeface="Courier New"/>
              </a:rPr>
              <a:t>is</a:t>
            </a:r>
            <a:r>
              <a:rPr dirty="0" sz="650" spc="10">
                <a:latin typeface="Courier New"/>
                <a:cs typeface="Courier New"/>
              </a:rPr>
              <a:t> </a:t>
            </a:r>
            <a:r>
              <a:rPr dirty="0" sz="650" spc="-5">
                <a:latin typeface="Courier New"/>
                <a:cs typeface="Courier New"/>
              </a:rPr>
              <a:t>similar</a:t>
            </a:r>
            <a:r>
              <a:rPr dirty="0" sz="650" spc="10">
                <a:latin typeface="Courier New"/>
                <a:cs typeface="Courier New"/>
              </a:rPr>
              <a:t> </a:t>
            </a:r>
            <a:r>
              <a:rPr dirty="0" sz="650">
                <a:latin typeface="Courier New"/>
                <a:cs typeface="Courier New"/>
              </a:rPr>
              <a:t>to</a:t>
            </a:r>
            <a:r>
              <a:rPr dirty="0" sz="650" spc="15">
                <a:latin typeface="Courier New"/>
                <a:cs typeface="Courier New"/>
              </a:rPr>
              <a:t> </a:t>
            </a:r>
            <a:r>
              <a:rPr dirty="0" sz="650" spc="-5">
                <a:latin typeface="Courier New"/>
                <a:cs typeface="Courier New"/>
              </a:rPr>
              <a:t>the</a:t>
            </a:r>
            <a:r>
              <a:rPr dirty="0" sz="650" spc="10">
                <a:latin typeface="Courier New"/>
                <a:cs typeface="Courier New"/>
              </a:rPr>
              <a:t> </a:t>
            </a:r>
            <a:r>
              <a:rPr dirty="0" sz="650" spc="-5">
                <a:latin typeface="Courier New"/>
                <a:cs typeface="Courier New"/>
              </a:rPr>
              <a:t>issue</a:t>
            </a:r>
            <a:r>
              <a:rPr dirty="0" sz="650" spc="10">
                <a:latin typeface="Courier New"/>
                <a:cs typeface="Courier New"/>
              </a:rPr>
              <a:t> </a:t>
            </a:r>
            <a:r>
              <a:rPr dirty="0" sz="650" spc="-5">
                <a:latin typeface="Courier New"/>
                <a:cs typeface="Courier New"/>
              </a:rPr>
              <a:t>that</a:t>
            </a:r>
            <a:r>
              <a:rPr dirty="0" sz="650" spc="10">
                <a:latin typeface="Courier New"/>
                <a:cs typeface="Courier New"/>
              </a:rPr>
              <a:t> </a:t>
            </a:r>
            <a:r>
              <a:rPr dirty="0" sz="650" spc="-5">
                <a:latin typeface="Courier New"/>
                <a:cs typeface="Courier New"/>
              </a:rPr>
              <a:t>was</a:t>
            </a:r>
            <a:r>
              <a:rPr dirty="0" sz="650" spc="15">
                <a:latin typeface="Courier New"/>
                <a:cs typeface="Courier New"/>
              </a:rPr>
              <a:t> </a:t>
            </a:r>
            <a:r>
              <a:rPr dirty="0" sz="650" spc="-5">
                <a:latin typeface="Courier New"/>
                <a:cs typeface="Courier New"/>
              </a:rPr>
              <a:t>previously</a:t>
            </a:r>
            <a:r>
              <a:rPr dirty="0" sz="650" spc="10">
                <a:latin typeface="Courier New"/>
                <a:cs typeface="Courier New"/>
              </a:rPr>
              <a:t> </a:t>
            </a:r>
            <a:r>
              <a:rPr dirty="0" sz="650" spc="-5">
                <a:latin typeface="Courier New"/>
                <a:cs typeface="Courier New"/>
              </a:rPr>
              <a:t>reported</a:t>
            </a:r>
            <a:r>
              <a:rPr dirty="0" sz="650" spc="10">
                <a:latin typeface="Courier New"/>
                <a:cs typeface="Courier New"/>
              </a:rPr>
              <a:t> </a:t>
            </a:r>
            <a:r>
              <a:rPr dirty="0" sz="650" spc="-5">
                <a:latin typeface="Courier New"/>
                <a:cs typeface="Courier New"/>
              </a:rPr>
              <a:t>for</a:t>
            </a:r>
            <a:r>
              <a:rPr dirty="0" sz="650" spc="10">
                <a:latin typeface="Courier New"/>
                <a:cs typeface="Courier New"/>
              </a:rPr>
              <a:t> </a:t>
            </a:r>
            <a:r>
              <a:rPr dirty="0" sz="650" spc="-5">
                <a:latin typeface="Courier New"/>
                <a:cs typeface="Courier New"/>
              </a:rPr>
              <a:t>and</a:t>
            </a:r>
            <a:r>
              <a:rPr dirty="0" sz="650" spc="15">
                <a:latin typeface="Courier New"/>
                <a:cs typeface="Courier New"/>
              </a:rPr>
              <a:t> </a:t>
            </a:r>
            <a:r>
              <a:rPr dirty="0" sz="650">
                <a:latin typeface="Courier New"/>
                <a:cs typeface="Courier New"/>
              </a:rPr>
              <a:t>fixed </a:t>
            </a:r>
            <a:r>
              <a:rPr dirty="0" sz="650" spc="-375">
                <a:latin typeface="Courier New"/>
                <a:cs typeface="Courier New"/>
              </a:rPr>
              <a:t> </a:t>
            </a:r>
            <a:r>
              <a:rPr dirty="0" sz="650">
                <a:latin typeface="Courier New"/>
                <a:cs typeface="Courier New"/>
              </a:rPr>
              <a:t>in</a:t>
            </a:r>
            <a:r>
              <a:rPr dirty="0" sz="650" spc="-5">
                <a:latin typeface="Courier New"/>
                <a:cs typeface="Courier New"/>
              </a:rPr>
              <a:t> e.g.</a:t>
            </a:r>
            <a:r>
              <a:rPr dirty="0" sz="650">
                <a:latin typeface="Courier New"/>
                <a:cs typeface="Courier New"/>
              </a:rPr>
              <a:t> perl:</a:t>
            </a:r>
            <a:endParaRPr sz="650">
              <a:latin typeface="Courier New"/>
              <a:cs typeface="Courier New"/>
            </a:endParaRPr>
          </a:p>
          <a:p>
            <a:pPr marL="99695">
              <a:lnSpc>
                <a:spcPts val="730"/>
              </a:lnSpc>
            </a:pPr>
            <a:r>
              <a:rPr dirty="0" sz="650">
                <a:solidFill>
                  <a:srgbClr val="0066CC"/>
                </a:solidFill>
                <a:latin typeface="Courier New"/>
                <a:cs typeface="Courier New"/>
                <a:hlinkClick r:id="rId7"/>
              </a:rPr>
              <a:t>http://www.cs.rice.edu/~scrosby/hash/CrosbyWallach_UsenixSec2003.pdf</a:t>
            </a:r>
            <a:endParaRPr sz="650">
              <a:latin typeface="Courier New"/>
              <a:cs typeface="Courier New"/>
            </a:endParaRPr>
          </a:p>
        </p:txBody>
      </p:sp>
      <p:grpSp>
        <p:nvGrpSpPr>
          <p:cNvPr id="97" name="object 97"/>
          <p:cNvGrpSpPr/>
          <p:nvPr/>
        </p:nvGrpSpPr>
        <p:grpSpPr>
          <a:xfrm>
            <a:off x="6592379" y="4966780"/>
            <a:ext cx="6066790" cy="4549775"/>
            <a:chOff x="6592379" y="4966780"/>
            <a:chExt cx="6066790" cy="4549775"/>
          </a:xfrm>
        </p:grpSpPr>
        <p:sp>
          <p:nvSpPr>
            <p:cNvPr id="98" name="object 98"/>
            <p:cNvSpPr/>
            <p:nvPr/>
          </p:nvSpPr>
          <p:spPr>
            <a:xfrm>
              <a:off x="6592379" y="4966780"/>
              <a:ext cx="6066790" cy="4549775"/>
            </a:xfrm>
            <a:custGeom>
              <a:avLst/>
              <a:gdLst/>
              <a:ahLst/>
              <a:cxnLst/>
              <a:rect l="l" t="t" r="r" b="b"/>
              <a:pathLst>
                <a:path w="6066790" h="4549775">
                  <a:moveTo>
                    <a:pt x="0" y="0"/>
                  </a:moveTo>
                  <a:lnTo>
                    <a:pt x="6066212" y="0"/>
                  </a:lnTo>
                  <a:lnTo>
                    <a:pt x="6066212" y="4549659"/>
                  </a:lnTo>
                  <a:lnTo>
                    <a:pt x="0" y="45496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9" name="object 99"/>
            <p:cNvSpPr/>
            <p:nvPr/>
          </p:nvSpPr>
          <p:spPr>
            <a:xfrm>
              <a:off x="6977442" y="5428805"/>
              <a:ext cx="5302250" cy="635"/>
            </a:xfrm>
            <a:custGeom>
              <a:avLst/>
              <a:gdLst/>
              <a:ahLst/>
              <a:cxnLst/>
              <a:rect l="l" t="t" r="r" b="b"/>
              <a:pathLst>
                <a:path w="5302250" h="635">
                  <a:moveTo>
                    <a:pt x="0" y="49"/>
                  </a:moveTo>
                  <a:lnTo>
                    <a:pt x="5302012" y="0"/>
                  </a:lnTo>
                </a:path>
              </a:pathLst>
            </a:custGeom>
            <a:ln w="59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0" name="object 100"/>
          <p:cNvSpPr txBox="1"/>
          <p:nvPr/>
        </p:nvSpPr>
        <p:spPr>
          <a:xfrm>
            <a:off x="6986199" y="5527527"/>
            <a:ext cx="4172585" cy="487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37800"/>
              </a:lnSpc>
              <a:spcBef>
                <a:spcPts val="95"/>
              </a:spcBef>
            </a:pPr>
            <a:r>
              <a:rPr dirty="0" sz="1100" spc="5">
                <a:solidFill>
                  <a:srgbClr val="005493"/>
                </a:solidFill>
                <a:latin typeface="Lucida Sans"/>
                <a:cs typeface="Lucida Sans"/>
              </a:rPr>
              <a:t>Goal.</a:t>
            </a:r>
            <a:r>
              <a:rPr dirty="0" sz="1100" spc="10">
                <a:solidFill>
                  <a:srgbClr val="005493"/>
                </a:solidFill>
                <a:latin typeface="Lucida Sans"/>
                <a:cs typeface="Lucida Sans"/>
              </a:rPr>
              <a:t> </a:t>
            </a:r>
            <a:r>
              <a:rPr dirty="0" sz="1100" spc="10">
                <a:latin typeface="Lucida Sans"/>
                <a:cs typeface="Lucida Sans"/>
              </a:rPr>
              <a:t>Find </a:t>
            </a:r>
            <a:r>
              <a:rPr dirty="0" sz="1100" spc="15">
                <a:latin typeface="Lucida Sans"/>
                <a:cs typeface="Lucida Sans"/>
              </a:rPr>
              <a:t>family </a:t>
            </a:r>
            <a:r>
              <a:rPr dirty="0" sz="1100" spc="5">
                <a:latin typeface="Lucida Sans"/>
                <a:cs typeface="Lucida Sans"/>
              </a:rPr>
              <a:t>of strings </a:t>
            </a:r>
            <a:r>
              <a:rPr dirty="0" sz="1100" spc="25">
                <a:latin typeface="Lucida Sans"/>
                <a:cs typeface="Lucida Sans"/>
              </a:rPr>
              <a:t>with </a:t>
            </a:r>
            <a:r>
              <a:rPr dirty="0" sz="1100" spc="5">
                <a:latin typeface="Lucida Sans"/>
                <a:cs typeface="Lucida Sans"/>
              </a:rPr>
              <a:t>the </a:t>
            </a:r>
            <a:r>
              <a:rPr dirty="0" sz="1100" spc="10">
                <a:latin typeface="Lucida Sans"/>
                <a:cs typeface="Lucida Sans"/>
              </a:rPr>
              <a:t>same hash code. </a:t>
            </a:r>
            <a:r>
              <a:rPr dirty="0" sz="1100" spc="15">
                <a:latin typeface="Lucida Sans"/>
                <a:cs typeface="Lucida Sans"/>
              </a:rPr>
              <a:t> </a:t>
            </a:r>
            <a:r>
              <a:rPr dirty="0" sz="1100" spc="5">
                <a:solidFill>
                  <a:srgbClr val="005493"/>
                </a:solidFill>
                <a:latin typeface="Lucida Sans"/>
                <a:cs typeface="Lucida Sans"/>
              </a:rPr>
              <a:t>Solution.</a:t>
            </a:r>
            <a:r>
              <a:rPr dirty="0" sz="1100" spc="20">
                <a:solidFill>
                  <a:srgbClr val="005493"/>
                </a:solidFill>
                <a:latin typeface="Lucida Sans"/>
                <a:cs typeface="Lucida Sans"/>
              </a:rPr>
              <a:t> </a:t>
            </a:r>
            <a:r>
              <a:rPr dirty="0" sz="1100" spc="10">
                <a:latin typeface="Lucida Sans"/>
                <a:cs typeface="Lucida Sans"/>
              </a:rPr>
              <a:t>The base-31 hash code </a:t>
            </a:r>
            <a:r>
              <a:rPr dirty="0" sz="1100" spc="5">
                <a:latin typeface="Lucida Sans"/>
                <a:cs typeface="Lucida Sans"/>
              </a:rPr>
              <a:t>is</a:t>
            </a:r>
            <a:r>
              <a:rPr dirty="0" sz="1100" spc="10">
                <a:latin typeface="Lucida Sans"/>
                <a:cs typeface="Lucida Sans"/>
              </a:rPr>
              <a:t> </a:t>
            </a:r>
            <a:r>
              <a:rPr dirty="0" sz="1100" spc="5">
                <a:latin typeface="Lucida Sans"/>
                <a:cs typeface="Lucida Sans"/>
              </a:rPr>
              <a:t>part</a:t>
            </a:r>
            <a:r>
              <a:rPr dirty="0" sz="1100" spc="10">
                <a:latin typeface="Lucida Sans"/>
                <a:cs typeface="Lucida Sans"/>
              </a:rPr>
              <a:t> </a:t>
            </a:r>
            <a:r>
              <a:rPr dirty="0" sz="1100" spc="5">
                <a:latin typeface="Lucida Sans"/>
                <a:cs typeface="Lucida Sans"/>
              </a:rPr>
              <a:t>of</a:t>
            </a:r>
            <a:r>
              <a:rPr dirty="0" sz="1100" spc="10">
                <a:latin typeface="Lucida Sans"/>
                <a:cs typeface="Lucida Sans"/>
              </a:rPr>
              <a:t> </a:t>
            </a:r>
            <a:r>
              <a:rPr dirty="0" sz="1100" spc="15">
                <a:latin typeface="Lucida Sans"/>
                <a:cs typeface="Lucida Sans"/>
              </a:rPr>
              <a:t>Java's</a:t>
            </a:r>
            <a:r>
              <a:rPr dirty="0" sz="1100" spc="10">
                <a:latin typeface="Lucida Sans"/>
                <a:cs typeface="Lucida Sans"/>
              </a:rPr>
              <a:t> </a:t>
            </a:r>
            <a:r>
              <a:rPr dirty="0" sz="1100" spc="5">
                <a:latin typeface="Lucida Sans"/>
                <a:cs typeface="Lucida Sans"/>
              </a:rPr>
              <a:t>string</a:t>
            </a:r>
            <a:r>
              <a:rPr dirty="0" sz="1100" spc="10">
                <a:latin typeface="Lucida Sans"/>
                <a:cs typeface="Lucida Sans"/>
              </a:rPr>
              <a:t> </a:t>
            </a:r>
            <a:r>
              <a:rPr dirty="0" sz="1100" spc="5">
                <a:latin typeface="Lucida Sans"/>
                <a:cs typeface="Lucida Sans"/>
              </a:rPr>
              <a:t>API.</a:t>
            </a:r>
            <a:endParaRPr sz="1100">
              <a:latin typeface="Lucida Sans"/>
              <a:cs typeface="Lucida Sans"/>
            </a:endParaRPr>
          </a:p>
        </p:txBody>
      </p:sp>
      <p:sp>
        <p:nvSpPr>
          <p:cNvPr id="106" name="object 106"/>
          <p:cNvSpPr txBox="1"/>
          <p:nvPr/>
        </p:nvSpPr>
        <p:spPr>
          <a:xfrm>
            <a:off x="6246003" y="9350039"/>
            <a:ext cx="115570" cy="109855"/>
          </a:xfrm>
          <a:prstGeom prst="rect">
            <a:avLst/>
          </a:prstGeom>
        </p:spPr>
        <p:txBody>
          <a:bodyPr wrap="square" lIns="0" tIns="88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dirty="0" sz="550" spc="5">
                <a:latin typeface="Lucida Sans"/>
                <a:cs typeface="Lucida Sans"/>
              </a:rPr>
              <a:t>39</a:t>
            </a:r>
            <a:endParaRPr sz="550">
              <a:latin typeface="Lucida Sans"/>
              <a:cs typeface="Lucida Sans"/>
            </a:endParaRPr>
          </a:p>
        </p:txBody>
      </p:sp>
      <p:sp>
        <p:nvSpPr>
          <p:cNvPr id="107" name="object 107"/>
          <p:cNvSpPr txBox="1"/>
          <p:nvPr/>
        </p:nvSpPr>
        <p:spPr>
          <a:xfrm>
            <a:off x="12492206" y="9350039"/>
            <a:ext cx="115570" cy="109855"/>
          </a:xfrm>
          <a:prstGeom prst="rect">
            <a:avLst/>
          </a:prstGeom>
        </p:spPr>
        <p:txBody>
          <a:bodyPr wrap="square" lIns="0" tIns="88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dirty="0" sz="550" spc="5">
                <a:latin typeface="Lucida Sans"/>
                <a:cs typeface="Lucida Sans"/>
              </a:rPr>
              <a:t>40</a:t>
            </a:r>
            <a:endParaRPr sz="550">
              <a:latin typeface="Lucida Sans"/>
              <a:cs typeface="Lucida Sans"/>
            </a:endParaRPr>
          </a:p>
        </p:txBody>
      </p:sp>
      <p:sp>
        <p:nvSpPr>
          <p:cNvPr id="101" name="object 101"/>
          <p:cNvSpPr txBox="1"/>
          <p:nvPr/>
        </p:nvSpPr>
        <p:spPr>
          <a:xfrm>
            <a:off x="6986199" y="5125877"/>
            <a:ext cx="2898140" cy="2247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00" spc="25">
                <a:latin typeface="Arial"/>
                <a:cs typeface="Arial"/>
              </a:rPr>
              <a:t>Algorithmic</a:t>
            </a:r>
            <a:r>
              <a:rPr dirty="0" sz="1300" spc="45">
                <a:latin typeface="Arial"/>
                <a:cs typeface="Arial"/>
              </a:rPr>
              <a:t> </a:t>
            </a:r>
            <a:r>
              <a:rPr dirty="0" sz="1300" spc="20">
                <a:latin typeface="Arial"/>
                <a:cs typeface="Arial"/>
              </a:rPr>
              <a:t>complexity</a:t>
            </a:r>
            <a:r>
              <a:rPr dirty="0" sz="1300" spc="45">
                <a:latin typeface="Arial"/>
                <a:cs typeface="Arial"/>
              </a:rPr>
              <a:t> </a:t>
            </a:r>
            <a:r>
              <a:rPr dirty="0" sz="1300" spc="20">
                <a:latin typeface="Arial"/>
                <a:cs typeface="Arial"/>
              </a:rPr>
              <a:t>attack</a:t>
            </a:r>
            <a:r>
              <a:rPr dirty="0" sz="1300" spc="45">
                <a:latin typeface="Arial"/>
                <a:cs typeface="Arial"/>
              </a:rPr>
              <a:t> </a:t>
            </a:r>
            <a:r>
              <a:rPr dirty="0" sz="1300" spc="25">
                <a:latin typeface="Arial"/>
                <a:cs typeface="Arial"/>
              </a:rPr>
              <a:t>on</a:t>
            </a:r>
            <a:r>
              <a:rPr dirty="0" sz="1300" spc="45">
                <a:latin typeface="Arial"/>
                <a:cs typeface="Arial"/>
              </a:rPr>
              <a:t> </a:t>
            </a:r>
            <a:r>
              <a:rPr dirty="0" sz="1300" spc="-5">
                <a:latin typeface="Arial"/>
                <a:cs typeface="Arial"/>
              </a:rPr>
              <a:t>Java</a:t>
            </a:r>
            <a:endParaRPr sz="1300">
              <a:latin typeface="Arial"/>
              <a:cs typeface="Arial"/>
            </a:endParaRPr>
          </a:p>
        </p:txBody>
      </p:sp>
      <p:sp>
        <p:nvSpPr>
          <p:cNvPr id="102" name="object 102"/>
          <p:cNvSpPr txBox="1"/>
          <p:nvPr/>
        </p:nvSpPr>
        <p:spPr>
          <a:xfrm>
            <a:off x="9310861" y="8853281"/>
            <a:ext cx="2435225" cy="1397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750" spc="5" b="1">
                <a:solidFill>
                  <a:srgbClr val="8D3124"/>
                </a:solidFill>
                <a:latin typeface="Tahoma"/>
                <a:cs typeface="Tahoma"/>
              </a:rPr>
              <a:t>2</a:t>
            </a:r>
            <a:r>
              <a:rPr dirty="0" baseline="27777" sz="750" spc="7" b="1">
                <a:solidFill>
                  <a:srgbClr val="8D3124"/>
                </a:solidFill>
                <a:latin typeface="Tahoma"/>
                <a:cs typeface="Tahoma"/>
              </a:rPr>
              <a:t>N</a:t>
            </a:r>
            <a:r>
              <a:rPr dirty="0" baseline="27777" sz="750" spc="142" b="1">
                <a:solidFill>
                  <a:srgbClr val="8D3124"/>
                </a:solidFill>
                <a:latin typeface="Tahoma"/>
                <a:cs typeface="Tahoma"/>
              </a:rPr>
              <a:t> </a:t>
            </a:r>
            <a:r>
              <a:rPr dirty="0" sz="750" spc="15" b="1">
                <a:solidFill>
                  <a:srgbClr val="8D3124"/>
                </a:solidFill>
                <a:latin typeface="Tahoma"/>
                <a:cs typeface="Tahoma"/>
              </a:rPr>
              <a:t>strings</a:t>
            </a:r>
            <a:r>
              <a:rPr dirty="0" sz="750" spc="25" b="1">
                <a:solidFill>
                  <a:srgbClr val="8D3124"/>
                </a:solidFill>
                <a:latin typeface="Tahoma"/>
                <a:cs typeface="Tahoma"/>
              </a:rPr>
              <a:t> </a:t>
            </a:r>
            <a:r>
              <a:rPr dirty="0" sz="750" spc="15" b="1">
                <a:solidFill>
                  <a:srgbClr val="8D3124"/>
                </a:solidFill>
                <a:latin typeface="Tahoma"/>
                <a:cs typeface="Tahoma"/>
              </a:rPr>
              <a:t>of</a:t>
            </a:r>
            <a:r>
              <a:rPr dirty="0" sz="750" spc="20" b="1">
                <a:solidFill>
                  <a:srgbClr val="8D3124"/>
                </a:solidFill>
                <a:latin typeface="Tahoma"/>
                <a:cs typeface="Tahoma"/>
              </a:rPr>
              <a:t> </a:t>
            </a:r>
            <a:r>
              <a:rPr dirty="0" sz="750" b="1">
                <a:solidFill>
                  <a:srgbClr val="8D3124"/>
                </a:solidFill>
                <a:latin typeface="Tahoma"/>
                <a:cs typeface="Tahoma"/>
              </a:rPr>
              <a:t>length</a:t>
            </a:r>
            <a:r>
              <a:rPr dirty="0" sz="750" spc="25" b="1">
                <a:solidFill>
                  <a:srgbClr val="8D3124"/>
                </a:solidFill>
                <a:latin typeface="Tahoma"/>
                <a:cs typeface="Tahoma"/>
              </a:rPr>
              <a:t> </a:t>
            </a:r>
            <a:r>
              <a:rPr dirty="0" sz="750" spc="5" b="1">
                <a:solidFill>
                  <a:srgbClr val="8D3124"/>
                </a:solidFill>
                <a:latin typeface="Tahoma"/>
                <a:cs typeface="Tahoma"/>
              </a:rPr>
              <a:t>2N</a:t>
            </a:r>
            <a:r>
              <a:rPr dirty="0" sz="750" spc="25" b="1">
                <a:solidFill>
                  <a:srgbClr val="8D3124"/>
                </a:solidFill>
                <a:latin typeface="Tahoma"/>
                <a:cs typeface="Tahoma"/>
              </a:rPr>
              <a:t> </a:t>
            </a:r>
            <a:r>
              <a:rPr dirty="0" sz="750" spc="-10" b="1">
                <a:solidFill>
                  <a:srgbClr val="8D3124"/>
                </a:solidFill>
                <a:latin typeface="Tahoma"/>
                <a:cs typeface="Tahoma"/>
              </a:rPr>
              <a:t>that</a:t>
            </a:r>
            <a:r>
              <a:rPr dirty="0" sz="750" spc="25" b="1">
                <a:solidFill>
                  <a:srgbClr val="8D3124"/>
                </a:solidFill>
                <a:latin typeface="Tahoma"/>
                <a:cs typeface="Tahoma"/>
              </a:rPr>
              <a:t> </a:t>
            </a:r>
            <a:r>
              <a:rPr dirty="0" sz="750" spc="5" b="1">
                <a:solidFill>
                  <a:srgbClr val="8D3124"/>
                </a:solidFill>
                <a:latin typeface="Tahoma"/>
                <a:cs typeface="Tahoma"/>
              </a:rPr>
              <a:t>hash</a:t>
            </a:r>
            <a:r>
              <a:rPr dirty="0" sz="750" spc="25" b="1">
                <a:solidFill>
                  <a:srgbClr val="8D3124"/>
                </a:solidFill>
                <a:latin typeface="Tahoma"/>
                <a:cs typeface="Tahoma"/>
              </a:rPr>
              <a:t> </a:t>
            </a:r>
            <a:r>
              <a:rPr dirty="0" sz="750" b="1">
                <a:solidFill>
                  <a:srgbClr val="8D3124"/>
                </a:solidFill>
                <a:latin typeface="Tahoma"/>
                <a:cs typeface="Tahoma"/>
              </a:rPr>
              <a:t>to</a:t>
            </a:r>
            <a:r>
              <a:rPr dirty="0" sz="750" spc="25" b="1">
                <a:solidFill>
                  <a:srgbClr val="8D3124"/>
                </a:solidFill>
                <a:latin typeface="Tahoma"/>
                <a:cs typeface="Tahoma"/>
              </a:rPr>
              <a:t> </a:t>
            </a:r>
            <a:r>
              <a:rPr dirty="0" sz="750" b="1">
                <a:solidFill>
                  <a:srgbClr val="8D3124"/>
                </a:solidFill>
                <a:latin typeface="Tahoma"/>
                <a:cs typeface="Tahoma"/>
              </a:rPr>
              <a:t>same</a:t>
            </a:r>
            <a:r>
              <a:rPr dirty="0" sz="750" spc="25" b="1">
                <a:solidFill>
                  <a:srgbClr val="8D3124"/>
                </a:solidFill>
                <a:latin typeface="Tahoma"/>
                <a:cs typeface="Tahoma"/>
              </a:rPr>
              <a:t> </a:t>
            </a:r>
            <a:r>
              <a:rPr dirty="0" sz="750" spc="-5" b="1">
                <a:solidFill>
                  <a:srgbClr val="8D3124"/>
                </a:solidFill>
                <a:latin typeface="Tahoma"/>
                <a:cs typeface="Tahoma"/>
              </a:rPr>
              <a:t>value!</a:t>
            </a:r>
            <a:endParaRPr sz="750">
              <a:latin typeface="Tahoma"/>
              <a:cs typeface="Tahoma"/>
            </a:endParaRPr>
          </a:p>
        </p:txBody>
      </p:sp>
      <p:graphicFrame>
        <p:nvGraphicFramePr>
          <p:cNvPr id="103" name="object 103"/>
          <p:cNvGraphicFramePr>
            <a:graphicFrameLocks noGrp="1"/>
          </p:cNvGraphicFramePr>
          <p:nvPr/>
        </p:nvGraphicFramePr>
        <p:xfrm>
          <a:off x="8855614" y="6522202"/>
          <a:ext cx="1543050" cy="22059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51205"/>
                <a:gridCol w="791209"/>
              </a:tblGrid>
              <a:tr h="24511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dirty="0" sz="650">
                          <a:solidFill>
                            <a:srgbClr val="FFFFFF"/>
                          </a:solidFill>
                          <a:latin typeface="Lucida Sans Typewriter"/>
                          <a:cs typeface="Lucida Sans Typewriter"/>
                        </a:rPr>
                        <a:t>key</a:t>
                      </a:r>
                      <a:endParaRPr sz="650">
                        <a:latin typeface="Lucida Sans Typewriter"/>
                        <a:cs typeface="Lucida Sans Typewriter"/>
                      </a:endParaRPr>
                    </a:p>
                  </a:txBody>
                  <a:tcPr marL="0" marR="0" marB="0" marT="65405">
                    <a:lnR w="3175">
                      <a:solidFill>
                        <a:srgbClr val="E7EAEB"/>
                      </a:solidFill>
                      <a:prstDash val="solid"/>
                    </a:lnR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dirty="0" sz="650">
                          <a:solidFill>
                            <a:srgbClr val="FFFFFF"/>
                          </a:solidFill>
                          <a:latin typeface="Lucida Sans Typewriter"/>
                          <a:cs typeface="Lucida Sans Typewriter"/>
                        </a:rPr>
                        <a:t>hashCode()</a:t>
                      </a:r>
                      <a:endParaRPr sz="650">
                        <a:latin typeface="Lucida Sans Typewriter"/>
                        <a:cs typeface="Lucida Sans Typewriter"/>
                      </a:endParaRPr>
                    </a:p>
                  </a:txBody>
                  <a:tcPr marL="0" marR="0" marB="0" marT="65405">
                    <a:lnL w="3175">
                      <a:solidFill>
                        <a:srgbClr val="E7EAEB"/>
                      </a:solidFill>
                      <a:prstDash val="solid"/>
                    </a:lnL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</a:tr>
              <a:tr h="24511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dirty="0" sz="650">
                          <a:latin typeface="Lucida Sans Typewriter"/>
                          <a:cs typeface="Lucida Sans Typewriter"/>
                        </a:rPr>
                        <a:t>"AaAaAaAa"</a:t>
                      </a:r>
                      <a:endParaRPr sz="650">
                        <a:latin typeface="Lucida Sans Typewriter"/>
                        <a:cs typeface="Lucida Sans Typewriter"/>
                      </a:endParaRPr>
                    </a:p>
                  </a:txBody>
                  <a:tcPr marL="0" marR="0" marB="0" marT="66040"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7940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dirty="0" sz="650">
                          <a:latin typeface="Lucida Sans Typewriter"/>
                          <a:cs typeface="Lucida Sans Typewriter"/>
                        </a:rPr>
                        <a:t>-540425984</a:t>
                      </a:r>
                      <a:endParaRPr sz="650">
                        <a:latin typeface="Lucida Sans Typewriter"/>
                        <a:cs typeface="Lucida Sans Typewriter"/>
                      </a:endParaRPr>
                    </a:p>
                  </a:txBody>
                  <a:tcPr marL="0" marR="0" marB="0" marT="66040">
                    <a:lnL w="3175">
                      <a:solidFill>
                        <a:srgbClr val="E7EAEB"/>
                      </a:solidFill>
                      <a:prstDash val="solid"/>
                    </a:lnL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</a:tr>
              <a:tr h="24511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dirty="0" sz="650">
                          <a:latin typeface="Lucida Sans Typewriter"/>
                          <a:cs typeface="Lucida Sans Typewriter"/>
                        </a:rPr>
                        <a:t>"AaAaAaBB"</a:t>
                      </a:r>
                      <a:endParaRPr sz="650">
                        <a:latin typeface="Lucida Sans Typewriter"/>
                        <a:cs typeface="Lucida Sans Typewriter"/>
                      </a:endParaRPr>
                    </a:p>
                  </a:txBody>
                  <a:tcPr marL="0" marR="0" marB="0" marT="66040"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7940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dirty="0" sz="650">
                          <a:latin typeface="Lucida Sans Typewriter"/>
                          <a:cs typeface="Lucida Sans Typewriter"/>
                        </a:rPr>
                        <a:t>-540425984</a:t>
                      </a:r>
                      <a:endParaRPr sz="650">
                        <a:latin typeface="Lucida Sans Typewriter"/>
                        <a:cs typeface="Lucida Sans Typewriter"/>
                      </a:endParaRPr>
                    </a:p>
                  </a:txBody>
                  <a:tcPr marL="0" marR="0" marB="0" marT="66040">
                    <a:lnL w="3175">
                      <a:solidFill>
                        <a:srgbClr val="E7EAEB"/>
                      </a:solidFill>
                      <a:prstDash val="solid"/>
                    </a:lnL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</a:tr>
              <a:tr h="24511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dirty="0" sz="650">
                          <a:latin typeface="Lucida Sans Typewriter"/>
                          <a:cs typeface="Lucida Sans Typewriter"/>
                        </a:rPr>
                        <a:t>"AaAaBBAa"</a:t>
                      </a:r>
                      <a:endParaRPr sz="650">
                        <a:latin typeface="Lucida Sans Typewriter"/>
                        <a:cs typeface="Lucida Sans Typewriter"/>
                      </a:endParaRPr>
                    </a:p>
                  </a:txBody>
                  <a:tcPr marL="0" marR="0" marB="0" marT="66040"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7940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dirty="0" sz="650">
                          <a:latin typeface="Lucida Sans Typewriter"/>
                          <a:cs typeface="Lucida Sans Typewriter"/>
                        </a:rPr>
                        <a:t>-540425984</a:t>
                      </a:r>
                      <a:endParaRPr sz="650">
                        <a:latin typeface="Lucida Sans Typewriter"/>
                        <a:cs typeface="Lucida Sans Typewriter"/>
                      </a:endParaRPr>
                    </a:p>
                  </a:txBody>
                  <a:tcPr marL="0" marR="0" marB="0" marT="66040">
                    <a:lnL w="3175">
                      <a:solidFill>
                        <a:srgbClr val="E7EAEB"/>
                      </a:solidFill>
                      <a:prstDash val="solid"/>
                    </a:lnL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</a:tr>
              <a:tr h="24511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dirty="0" sz="650">
                          <a:latin typeface="Lucida Sans Typewriter"/>
                          <a:cs typeface="Lucida Sans Typewriter"/>
                        </a:rPr>
                        <a:t>"AaAaBBBB"</a:t>
                      </a:r>
                      <a:endParaRPr sz="650">
                        <a:latin typeface="Lucida Sans Typewriter"/>
                        <a:cs typeface="Lucida Sans Typewriter"/>
                      </a:endParaRPr>
                    </a:p>
                  </a:txBody>
                  <a:tcPr marL="0" marR="0" marB="0" marT="66040"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7940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dirty="0" sz="650">
                          <a:latin typeface="Lucida Sans Typewriter"/>
                          <a:cs typeface="Lucida Sans Typewriter"/>
                        </a:rPr>
                        <a:t>-540425984</a:t>
                      </a:r>
                      <a:endParaRPr sz="650">
                        <a:latin typeface="Lucida Sans Typewriter"/>
                        <a:cs typeface="Lucida Sans Typewriter"/>
                      </a:endParaRPr>
                    </a:p>
                  </a:txBody>
                  <a:tcPr marL="0" marR="0" marB="0" marT="66040">
                    <a:lnL w="3175">
                      <a:solidFill>
                        <a:srgbClr val="E7EAEB"/>
                      </a:solidFill>
                      <a:prstDash val="solid"/>
                    </a:lnL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</a:tr>
              <a:tr h="24511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dirty="0" sz="650">
                          <a:latin typeface="Lucida Sans Typewriter"/>
                          <a:cs typeface="Lucida Sans Typewriter"/>
                        </a:rPr>
                        <a:t>"AaBBAaAa"</a:t>
                      </a:r>
                      <a:endParaRPr sz="650">
                        <a:latin typeface="Lucida Sans Typewriter"/>
                        <a:cs typeface="Lucida Sans Typewriter"/>
                      </a:endParaRPr>
                    </a:p>
                  </a:txBody>
                  <a:tcPr marL="0" marR="0" marB="0" marT="66040"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7940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dirty="0" sz="650">
                          <a:latin typeface="Lucida Sans Typewriter"/>
                          <a:cs typeface="Lucida Sans Typewriter"/>
                        </a:rPr>
                        <a:t>-540425984</a:t>
                      </a:r>
                      <a:endParaRPr sz="650">
                        <a:latin typeface="Lucida Sans Typewriter"/>
                        <a:cs typeface="Lucida Sans Typewriter"/>
                      </a:endParaRPr>
                    </a:p>
                  </a:txBody>
                  <a:tcPr marL="0" marR="0" marB="0" marT="66040">
                    <a:lnL w="3175">
                      <a:solidFill>
                        <a:srgbClr val="E7EAEB"/>
                      </a:solidFill>
                      <a:prstDash val="solid"/>
                    </a:lnL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</a:tr>
              <a:tr h="24511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dirty="0" sz="650">
                          <a:latin typeface="Lucida Sans Typewriter"/>
                          <a:cs typeface="Lucida Sans Typewriter"/>
                        </a:rPr>
                        <a:t>"AaBBAaBB"</a:t>
                      </a:r>
                      <a:endParaRPr sz="650">
                        <a:latin typeface="Lucida Sans Typewriter"/>
                        <a:cs typeface="Lucida Sans Typewriter"/>
                      </a:endParaRPr>
                    </a:p>
                  </a:txBody>
                  <a:tcPr marL="0" marR="0" marB="0" marT="66040"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7940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dirty="0" sz="650">
                          <a:latin typeface="Lucida Sans Typewriter"/>
                          <a:cs typeface="Lucida Sans Typewriter"/>
                        </a:rPr>
                        <a:t>-540425984</a:t>
                      </a:r>
                      <a:endParaRPr sz="650">
                        <a:latin typeface="Lucida Sans Typewriter"/>
                        <a:cs typeface="Lucida Sans Typewriter"/>
                      </a:endParaRPr>
                    </a:p>
                  </a:txBody>
                  <a:tcPr marL="0" marR="0" marB="0" marT="66040">
                    <a:lnL w="3175">
                      <a:solidFill>
                        <a:srgbClr val="E7EAEB"/>
                      </a:solidFill>
                      <a:prstDash val="solid"/>
                    </a:lnL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</a:tr>
              <a:tr h="24511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dirty="0" sz="650">
                          <a:latin typeface="Lucida Sans Typewriter"/>
                          <a:cs typeface="Lucida Sans Typewriter"/>
                        </a:rPr>
                        <a:t>"AaBBBBAa"</a:t>
                      </a:r>
                      <a:endParaRPr sz="650">
                        <a:latin typeface="Lucida Sans Typewriter"/>
                        <a:cs typeface="Lucida Sans Typewriter"/>
                      </a:endParaRPr>
                    </a:p>
                  </a:txBody>
                  <a:tcPr marL="0" marR="0" marB="0" marT="66040"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7940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dirty="0" sz="650">
                          <a:latin typeface="Lucida Sans Typewriter"/>
                          <a:cs typeface="Lucida Sans Typewriter"/>
                        </a:rPr>
                        <a:t>-540425984</a:t>
                      </a:r>
                      <a:endParaRPr sz="650">
                        <a:latin typeface="Lucida Sans Typewriter"/>
                        <a:cs typeface="Lucida Sans Typewriter"/>
                      </a:endParaRPr>
                    </a:p>
                  </a:txBody>
                  <a:tcPr marL="0" marR="0" marB="0" marT="66040">
                    <a:lnL w="3175">
                      <a:solidFill>
                        <a:srgbClr val="E7EAEB"/>
                      </a:solidFill>
                      <a:prstDash val="solid"/>
                    </a:lnL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</a:tr>
              <a:tr h="24511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dirty="0" sz="650">
                          <a:latin typeface="Lucida Sans Typewriter"/>
                          <a:cs typeface="Lucida Sans Typewriter"/>
                        </a:rPr>
                        <a:t>"AaBBBBBB"</a:t>
                      </a:r>
                      <a:endParaRPr sz="650">
                        <a:latin typeface="Lucida Sans Typewriter"/>
                        <a:cs typeface="Lucida Sans Typewriter"/>
                      </a:endParaRPr>
                    </a:p>
                  </a:txBody>
                  <a:tcPr marL="0" marR="0" marB="0" marT="66040"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7940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dirty="0" sz="650">
                          <a:latin typeface="Lucida Sans Typewriter"/>
                          <a:cs typeface="Lucida Sans Typewriter"/>
                        </a:rPr>
                        <a:t>-540425984</a:t>
                      </a:r>
                      <a:endParaRPr sz="650">
                        <a:latin typeface="Lucida Sans Typewriter"/>
                        <a:cs typeface="Lucida Sans Typewriter"/>
                      </a:endParaRPr>
                    </a:p>
                  </a:txBody>
                  <a:tcPr marL="0" marR="0" marB="0" marT="66040">
                    <a:lnL w="3175">
                      <a:solidFill>
                        <a:srgbClr val="E7EAEB"/>
                      </a:solidFill>
                      <a:prstDash val="solid"/>
                    </a:lnL>
                    <a:lnT w="3175">
                      <a:solidFill>
                        <a:srgbClr val="E7EAEB"/>
                      </a:solidFill>
                      <a:prstDash val="solid"/>
                    </a:lnT>
                    <a:solidFill>
                      <a:srgbClr val="C0C0C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4" name="object 104"/>
          <p:cNvGraphicFramePr>
            <a:graphicFrameLocks noGrp="1"/>
          </p:cNvGraphicFramePr>
          <p:nvPr/>
        </p:nvGraphicFramePr>
        <p:xfrm>
          <a:off x="10665701" y="6522202"/>
          <a:ext cx="1543050" cy="22059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51205"/>
                <a:gridCol w="791209"/>
              </a:tblGrid>
              <a:tr h="24511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dirty="0" sz="650">
                          <a:solidFill>
                            <a:srgbClr val="FFFFFF"/>
                          </a:solidFill>
                          <a:latin typeface="Lucida Sans Typewriter"/>
                          <a:cs typeface="Lucida Sans Typewriter"/>
                        </a:rPr>
                        <a:t>key</a:t>
                      </a:r>
                      <a:endParaRPr sz="650">
                        <a:latin typeface="Lucida Sans Typewriter"/>
                        <a:cs typeface="Lucida Sans Typewriter"/>
                      </a:endParaRPr>
                    </a:p>
                  </a:txBody>
                  <a:tcPr marL="0" marR="0" marB="0" marT="65405">
                    <a:lnR w="3175">
                      <a:solidFill>
                        <a:srgbClr val="E7EAEB"/>
                      </a:solidFill>
                      <a:prstDash val="solid"/>
                    </a:lnR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dirty="0" sz="650">
                          <a:solidFill>
                            <a:srgbClr val="FFFFFF"/>
                          </a:solidFill>
                          <a:latin typeface="Lucida Sans Typewriter"/>
                          <a:cs typeface="Lucida Sans Typewriter"/>
                        </a:rPr>
                        <a:t>hashCode()</a:t>
                      </a:r>
                      <a:endParaRPr sz="650">
                        <a:latin typeface="Lucida Sans Typewriter"/>
                        <a:cs typeface="Lucida Sans Typewriter"/>
                      </a:endParaRPr>
                    </a:p>
                  </a:txBody>
                  <a:tcPr marL="0" marR="0" marB="0" marT="65405">
                    <a:lnL w="3175">
                      <a:solidFill>
                        <a:srgbClr val="E7EAEB"/>
                      </a:solidFill>
                      <a:prstDash val="solid"/>
                    </a:lnL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</a:tr>
              <a:tr h="24511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dirty="0" sz="650">
                          <a:latin typeface="Lucida Sans Typewriter"/>
                          <a:cs typeface="Lucida Sans Typewriter"/>
                        </a:rPr>
                        <a:t>"BBAaAaAa"</a:t>
                      </a:r>
                      <a:endParaRPr sz="650">
                        <a:latin typeface="Lucida Sans Typewriter"/>
                        <a:cs typeface="Lucida Sans Typewriter"/>
                      </a:endParaRPr>
                    </a:p>
                  </a:txBody>
                  <a:tcPr marL="0" marR="0" marB="0" marT="66040"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7940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dirty="0" sz="650">
                          <a:latin typeface="Lucida Sans Typewriter"/>
                          <a:cs typeface="Lucida Sans Typewriter"/>
                        </a:rPr>
                        <a:t>-540425984</a:t>
                      </a:r>
                      <a:endParaRPr sz="650">
                        <a:latin typeface="Lucida Sans Typewriter"/>
                        <a:cs typeface="Lucida Sans Typewriter"/>
                      </a:endParaRPr>
                    </a:p>
                  </a:txBody>
                  <a:tcPr marL="0" marR="0" marB="0" marT="66040">
                    <a:lnL w="3175">
                      <a:solidFill>
                        <a:srgbClr val="E7EAEB"/>
                      </a:solidFill>
                      <a:prstDash val="solid"/>
                    </a:lnL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</a:tr>
              <a:tr h="24511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dirty="0" sz="650">
                          <a:latin typeface="Lucida Sans Typewriter"/>
                          <a:cs typeface="Lucida Sans Typewriter"/>
                        </a:rPr>
                        <a:t>"BBAaAaBB"</a:t>
                      </a:r>
                      <a:endParaRPr sz="650">
                        <a:latin typeface="Lucida Sans Typewriter"/>
                        <a:cs typeface="Lucida Sans Typewriter"/>
                      </a:endParaRPr>
                    </a:p>
                  </a:txBody>
                  <a:tcPr marL="0" marR="0" marB="0" marT="66040"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7940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dirty="0" sz="650">
                          <a:latin typeface="Lucida Sans Typewriter"/>
                          <a:cs typeface="Lucida Sans Typewriter"/>
                        </a:rPr>
                        <a:t>-540425984</a:t>
                      </a:r>
                      <a:endParaRPr sz="650">
                        <a:latin typeface="Lucida Sans Typewriter"/>
                        <a:cs typeface="Lucida Sans Typewriter"/>
                      </a:endParaRPr>
                    </a:p>
                  </a:txBody>
                  <a:tcPr marL="0" marR="0" marB="0" marT="66040">
                    <a:lnL w="3175">
                      <a:solidFill>
                        <a:srgbClr val="E7EAEB"/>
                      </a:solidFill>
                      <a:prstDash val="solid"/>
                    </a:lnL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</a:tr>
              <a:tr h="24511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dirty="0" sz="650">
                          <a:latin typeface="Lucida Sans Typewriter"/>
                          <a:cs typeface="Lucida Sans Typewriter"/>
                        </a:rPr>
                        <a:t>"BBAaBBAa"</a:t>
                      </a:r>
                      <a:endParaRPr sz="650">
                        <a:latin typeface="Lucida Sans Typewriter"/>
                        <a:cs typeface="Lucida Sans Typewriter"/>
                      </a:endParaRPr>
                    </a:p>
                  </a:txBody>
                  <a:tcPr marL="0" marR="0" marB="0" marT="66040"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7940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dirty="0" sz="650">
                          <a:latin typeface="Lucida Sans Typewriter"/>
                          <a:cs typeface="Lucida Sans Typewriter"/>
                        </a:rPr>
                        <a:t>-540425984</a:t>
                      </a:r>
                      <a:endParaRPr sz="650">
                        <a:latin typeface="Lucida Sans Typewriter"/>
                        <a:cs typeface="Lucida Sans Typewriter"/>
                      </a:endParaRPr>
                    </a:p>
                  </a:txBody>
                  <a:tcPr marL="0" marR="0" marB="0" marT="66040">
                    <a:lnL w="3175">
                      <a:solidFill>
                        <a:srgbClr val="E7EAEB"/>
                      </a:solidFill>
                      <a:prstDash val="solid"/>
                    </a:lnL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</a:tr>
              <a:tr h="24511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dirty="0" sz="650">
                          <a:latin typeface="Lucida Sans Typewriter"/>
                          <a:cs typeface="Lucida Sans Typewriter"/>
                        </a:rPr>
                        <a:t>"BBAaBBBB"</a:t>
                      </a:r>
                      <a:endParaRPr sz="650">
                        <a:latin typeface="Lucida Sans Typewriter"/>
                        <a:cs typeface="Lucida Sans Typewriter"/>
                      </a:endParaRPr>
                    </a:p>
                  </a:txBody>
                  <a:tcPr marL="0" marR="0" marB="0" marT="66040"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7940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dirty="0" sz="650">
                          <a:latin typeface="Lucida Sans Typewriter"/>
                          <a:cs typeface="Lucida Sans Typewriter"/>
                        </a:rPr>
                        <a:t>-540425984</a:t>
                      </a:r>
                      <a:endParaRPr sz="650">
                        <a:latin typeface="Lucida Sans Typewriter"/>
                        <a:cs typeface="Lucida Sans Typewriter"/>
                      </a:endParaRPr>
                    </a:p>
                  </a:txBody>
                  <a:tcPr marL="0" marR="0" marB="0" marT="66040">
                    <a:lnL w="3175">
                      <a:solidFill>
                        <a:srgbClr val="E7EAEB"/>
                      </a:solidFill>
                      <a:prstDash val="solid"/>
                    </a:lnL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</a:tr>
              <a:tr h="24511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dirty="0" sz="650">
                          <a:latin typeface="Lucida Sans Typewriter"/>
                          <a:cs typeface="Lucida Sans Typewriter"/>
                        </a:rPr>
                        <a:t>"BBBBAaAa"</a:t>
                      </a:r>
                      <a:endParaRPr sz="650">
                        <a:latin typeface="Lucida Sans Typewriter"/>
                        <a:cs typeface="Lucida Sans Typewriter"/>
                      </a:endParaRPr>
                    </a:p>
                  </a:txBody>
                  <a:tcPr marL="0" marR="0" marB="0" marT="66040"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7940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dirty="0" sz="650">
                          <a:latin typeface="Lucida Sans Typewriter"/>
                          <a:cs typeface="Lucida Sans Typewriter"/>
                        </a:rPr>
                        <a:t>-540425984</a:t>
                      </a:r>
                      <a:endParaRPr sz="650">
                        <a:latin typeface="Lucida Sans Typewriter"/>
                        <a:cs typeface="Lucida Sans Typewriter"/>
                      </a:endParaRPr>
                    </a:p>
                  </a:txBody>
                  <a:tcPr marL="0" marR="0" marB="0" marT="66040">
                    <a:lnL w="3175">
                      <a:solidFill>
                        <a:srgbClr val="E7EAEB"/>
                      </a:solidFill>
                      <a:prstDash val="solid"/>
                    </a:lnL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</a:tr>
              <a:tr h="24511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dirty="0" sz="650">
                          <a:latin typeface="Lucida Sans Typewriter"/>
                          <a:cs typeface="Lucida Sans Typewriter"/>
                        </a:rPr>
                        <a:t>"BBBBAaBB"</a:t>
                      </a:r>
                      <a:endParaRPr sz="650">
                        <a:latin typeface="Lucida Sans Typewriter"/>
                        <a:cs typeface="Lucida Sans Typewriter"/>
                      </a:endParaRPr>
                    </a:p>
                  </a:txBody>
                  <a:tcPr marL="0" marR="0" marB="0" marT="66040"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7940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dirty="0" sz="650">
                          <a:latin typeface="Lucida Sans Typewriter"/>
                          <a:cs typeface="Lucida Sans Typewriter"/>
                        </a:rPr>
                        <a:t>-540425984</a:t>
                      </a:r>
                      <a:endParaRPr sz="650">
                        <a:latin typeface="Lucida Sans Typewriter"/>
                        <a:cs typeface="Lucida Sans Typewriter"/>
                      </a:endParaRPr>
                    </a:p>
                  </a:txBody>
                  <a:tcPr marL="0" marR="0" marB="0" marT="66040">
                    <a:lnL w="3175">
                      <a:solidFill>
                        <a:srgbClr val="E7EAEB"/>
                      </a:solidFill>
                      <a:prstDash val="solid"/>
                    </a:lnL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</a:tr>
              <a:tr h="24511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dirty="0" sz="650">
                          <a:latin typeface="Lucida Sans Typewriter"/>
                          <a:cs typeface="Lucida Sans Typewriter"/>
                        </a:rPr>
                        <a:t>"BBBBBBAa"</a:t>
                      </a:r>
                      <a:endParaRPr sz="650">
                        <a:latin typeface="Lucida Sans Typewriter"/>
                        <a:cs typeface="Lucida Sans Typewriter"/>
                      </a:endParaRPr>
                    </a:p>
                  </a:txBody>
                  <a:tcPr marL="0" marR="0" marB="0" marT="66040"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7940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dirty="0" sz="650">
                          <a:latin typeface="Lucida Sans Typewriter"/>
                          <a:cs typeface="Lucida Sans Typewriter"/>
                        </a:rPr>
                        <a:t>-540425984</a:t>
                      </a:r>
                      <a:endParaRPr sz="650">
                        <a:latin typeface="Lucida Sans Typewriter"/>
                        <a:cs typeface="Lucida Sans Typewriter"/>
                      </a:endParaRPr>
                    </a:p>
                  </a:txBody>
                  <a:tcPr marL="0" marR="0" marB="0" marT="66040">
                    <a:lnL w="3175">
                      <a:solidFill>
                        <a:srgbClr val="E7EAEB"/>
                      </a:solidFill>
                      <a:prstDash val="solid"/>
                    </a:lnL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</a:tr>
              <a:tr h="24511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dirty="0" sz="650">
                          <a:latin typeface="Lucida Sans Typewriter"/>
                          <a:cs typeface="Lucida Sans Typewriter"/>
                        </a:rPr>
                        <a:t>"BBBBBBBB"</a:t>
                      </a:r>
                      <a:endParaRPr sz="650">
                        <a:latin typeface="Lucida Sans Typewriter"/>
                        <a:cs typeface="Lucida Sans Typewriter"/>
                      </a:endParaRPr>
                    </a:p>
                  </a:txBody>
                  <a:tcPr marL="0" marR="0" marB="0" marT="66040"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7940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dirty="0" sz="650">
                          <a:latin typeface="Lucida Sans Typewriter"/>
                          <a:cs typeface="Lucida Sans Typewriter"/>
                        </a:rPr>
                        <a:t>-540425984</a:t>
                      </a:r>
                      <a:endParaRPr sz="650">
                        <a:latin typeface="Lucida Sans Typewriter"/>
                        <a:cs typeface="Lucida Sans Typewriter"/>
                      </a:endParaRPr>
                    </a:p>
                  </a:txBody>
                  <a:tcPr marL="0" marR="0" marB="0" marT="66040">
                    <a:lnL w="3175">
                      <a:solidFill>
                        <a:srgbClr val="E7EAEB"/>
                      </a:solidFill>
                      <a:prstDash val="solid"/>
                    </a:lnL>
                    <a:lnT w="3175">
                      <a:solidFill>
                        <a:srgbClr val="E7EAEB"/>
                      </a:solidFill>
                      <a:prstDash val="solid"/>
                    </a:lnT>
                    <a:solidFill>
                      <a:srgbClr val="C0C0C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5" name="object 105"/>
          <p:cNvGraphicFramePr>
            <a:graphicFrameLocks noGrp="1"/>
          </p:cNvGraphicFramePr>
          <p:nvPr/>
        </p:nvGraphicFramePr>
        <p:xfrm>
          <a:off x="7033677" y="6523190"/>
          <a:ext cx="1338580" cy="7334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53415"/>
                <a:gridCol w="684529"/>
              </a:tblGrid>
              <a:tr h="24447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dirty="0" sz="650">
                          <a:solidFill>
                            <a:srgbClr val="FFFFFF"/>
                          </a:solidFill>
                          <a:latin typeface="Lucida Sans Typewriter"/>
                          <a:cs typeface="Lucida Sans Typewriter"/>
                        </a:rPr>
                        <a:t>key</a:t>
                      </a:r>
                      <a:endParaRPr sz="650">
                        <a:latin typeface="Lucida Sans Typewriter"/>
                        <a:cs typeface="Lucida Sans Typewriter"/>
                      </a:endParaRPr>
                    </a:p>
                  </a:txBody>
                  <a:tcPr marL="0" marR="0" marB="0" marT="65405">
                    <a:lnR w="3175">
                      <a:solidFill>
                        <a:srgbClr val="E7EAEB"/>
                      </a:solidFill>
                      <a:prstDash val="solid"/>
                    </a:lnR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dirty="0" sz="650">
                          <a:solidFill>
                            <a:srgbClr val="FFFFFF"/>
                          </a:solidFill>
                          <a:latin typeface="Lucida Sans Typewriter"/>
                          <a:cs typeface="Lucida Sans Typewriter"/>
                        </a:rPr>
                        <a:t>hashCode()</a:t>
                      </a:r>
                      <a:endParaRPr sz="650">
                        <a:latin typeface="Lucida Sans Typewriter"/>
                        <a:cs typeface="Lucida Sans Typewriter"/>
                      </a:endParaRPr>
                    </a:p>
                  </a:txBody>
                  <a:tcPr marL="0" marR="0" marB="0" marT="65405">
                    <a:lnL w="3175">
                      <a:solidFill>
                        <a:srgbClr val="E7EAEB"/>
                      </a:solidFill>
                      <a:prstDash val="solid"/>
                    </a:lnL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</a:tr>
              <a:tr h="24447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dirty="0" sz="650">
                          <a:latin typeface="Lucida Sans Typewriter"/>
                          <a:cs typeface="Lucida Sans Typewriter"/>
                        </a:rPr>
                        <a:t>"Aa"</a:t>
                      </a:r>
                      <a:endParaRPr sz="650">
                        <a:latin typeface="Lucida Sans Typewriter"/>
                        <a:cs typeface="Lucida Sans Typewriter"/>
                      </a:endParaRPr>
                    </a:p>
                  </a:txBody>
                  <a:tcPr marL="0" marR="0" marB="0" marT="66040"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7940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dirty="0" sz="650">
                          <a:latin typeface="Lucida Sans Typewriter"/>
                          <a:cs typeface="Lucida Sans Typewriter"/>
                        </a:rPr>
                        <a:t>2112</a:t>
                      </a:r>
                      <a:endParaRPr sz="650">
                        <a:latin typeface="Lucida Sans Typewriter"/>
                        <a:cs typeface="Lucida Sans Typewriter"/>
                      </a:endParaRPr>
                    </a:p>
                  </a:txBody>
                  <a:tcPr marL="0" marR="0" marB="0" marT="66040">
                    <a:lnL w="3175">
                      <a:solidFill>
                        <a:srgbClr val="E7EAEB"/>
                      </a:solidFill>
                      <a:prstDash val="solid"/>
                    </a:lnL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</a:tr>
              <a:tr h="24447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dirty="0" sz="650">
                          <a:latin typeface="Lucida Sans Typewriter"/>
                          <a:cs typeface="Lucida Sans Typewriter"/>
                        </a:rPr>
                        <a:t>"BB"</a:t>
                      </a:r>
                      <a:endParaRPr sz="650">
                        <a:latin typeface="Lucida Sans Typewriter"/>
                        <a:cs typeface="Lucida Sans Typewriter"/>
                      </a:endParaRPr>
                    </a:p>
                  </a:txBody>
                  <a:tcPr marL="0" marR="0" marB="0" marT="66040"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7940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dirty="0" sz="650">
                          <a:latin typeface="Lucida Sans Typewriter"/>
                          <a:cs typeface="Lucida Sans Typewriter"/>
                        </a:rPr>
                        <a:t>2112</a:t>
                      </a:r>
                      <a:endParaRPr sz="650">
                        <a:latin typeface="Lucida Sans Typewriter"/>
                        <a:cs typeface="Lucida Sans Typewriter"/>
                      </a:endParaRPr>
                    </a:p>
                  </a:txBody>
                  <a:tcPr marL="0" marR="0" marB="0" marT="66040">
                    <a:lnL w="3175">
                      <a:solidFill>
                        <a:srgbClr val="E7EAEB"/>
                      </a:solidFill>
                      <a:prstDash val="solid"/>
                    </a:lnL>
                    <a:lnT w="3175">
                      <a:solidFill>
                        <a:srgbClr val="E7EAEB"/>
                      </a:solidFill>
                      <a:prstDash val="solid"/>
                    </a:lnT>
                    <a:solidFill>
                      <a:srgbClr val="C0C0C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246003" y="4615831"/>
            <a:ext cx="115570" cy="1111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550" spc="5">
                <a:latin typeface="Lucida Sans"/>
                <a:cs typeface="Lucida Sans"/>
              </a:rPr>
              <a:t>41</a:t>
            </a:r>
            <a:endParaRPr sz="550">
              <a:latin typeface="Lucida Sans"/>
              <a:cs typeface="Lucida San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39997" y="396219"/>
            <a:ext cx="2614930" cy="2247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00" spc="5">
                <a:latin typeface="Arial"/>
                <a:cs typeface="Arial"/>
              </a:rPr>
              <a:t>Diversion: </a:t>
            </a:r>
            <a:r>
              <a:rPr dirty="0" sz="1300" spc="60">
                <a:latin typeface="Arial"/>
                <a:cs typeface="Arial"/>
              </a:rPr>
              <a:t> </a:t>
            </a:r>
            <a:r>
              <a:rPr dirty="0" sz="1300" spc="10">
                <a:latin typeface="Arial"/>
                <a:cs typeface="Arial"/>
              </a:rPr>
              <a:t>one-way</a:t>
            </a:r>
            <a:r>
              <a:rPr dirty="0" sz="1300" spc="35">
                <a:latin typeface="Arial"/>
                <a:cs typeface="Arial"/>
              </a:rPr>
              <a:t> </a:t>
            </a:r>
            <a:r>
              <a:rPr dirty="0" sz="1300" spc="-20">
                <a:latin typeface="Arial"/>
                <a:cs typeface="Arial"/>
              </a:rPr>
              <a:t>hash</a:t>
            </a:r>
            <a:r>
              <a:rPr dirty="0" sz="1300" spc="35">
                <a:latin typeface="Arial"/>
                <a:cs typeface="Arial"/>
              </a:rPr>
              <a:t> </a:t>
            </a:r>
            <a:r>
              <a:rPr dirty="0" sz="1300" spc="-10">
                <a:latin typeface="Arial"/>
                <a:cs typeface="Arial"/>
              </a:rPr>
              <a:t>functions</a:t>
            </a:r>
            <a:endParaRPr sz="13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39997" y="797869"/>
            <a:ext cx="4936490" cy="487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37800"/>
              </a:lnSpc>
              <a:spcBef>
                <a:spcPts val="95"/>
              </a:spcBef>
            </a:pPr>
            <a:r>
              <a:rPr dirty="0" sz="1100" spc="25">
                <a:solidFill>
                  <a:srgbClr val="005493"/>
                </a:solidFill>
                <a:latin typeface="Lucida Sans"/>
                <a:cs typeface="Lucida Sans"/>
              </a:rPr>
              <a:t>One-way </a:t>
            </a:r>
            <a:r>
              <a:rPr dirty="0" sz="1100" spc="10">
                <a:solidFill>
                  <a:srgbClr val="005493"/>
                </a:solidFill>
                <a:latin typeface="Lucida Sans"/>
                <a:cs typeface="Lucida Sans"/>
              </a:rPr>
              <a:t>hash </a:t>
            </a:r>
            <a:r>
              <a:rPr dirty="0" sz="1100" spc="5">
                <a:solidFill>
                  <a:srgbClr val="005493"/>
                </a:solidFill>
                <a:latin typeface="Lucida Sans"/>
                <a:cs typeface="Lucida Sans"/>
              </a:rPr>
              <a:t>function.</a:t>
            </a:r>
            <a:r>
              <a:rPr dirty="0" sz="1100" spc="10">
                <a:solidFill>
                  <a:srgbClr val="005493"/>
                </a:solidFill>
                <a:latin typeface="Lucida Sans"/>
                <a:cs typeface="Lucida Sans"/>
              </a:rPr>
              <a:t> </a:t>
            </a:r>
            <a:r>
              <a:rPr dirty="0" sz="1100" spc="5">
                <a:latin typeface="Lucida Sans"/>
                <a:cs typeface="Lucida Sans"/>
              </a:rPr>
              <a:t>"Hard" to find </a:t>
            </a:r>
            <a:r>
              <a:rPr dirty="0" sz="1100" spc="10">
                <a:latin typeface="Lucida Sans"/>
                <a:cs typeface="Lucida Sans"/>
              </a:rPr>
              <a:t>a </a:t>
            </a:r>
            <a:r>
              <a:rPr dirty="0" sz="1100" spc="25">
                <a:latin typeface="Lucida Sans"/>
                <a:cs typeface="Lucida Sans"/>
              </a:rPr>
              <a:t>key </a:t>
            </a:r>
            <a:r>
              <a:rPr dirty="0" sz="1100" spc="5">
                <a:latin typeface="Lucida Sans"/>
                <a:cs typeface="Lucida Sans"/>
              </a:rPr>
              <a:t>that </a:t>
            </a:r>
            <a:r>
              <a:rPr dirty="0" sz="1100" spc="25">
                <a:latin typeface="Lucida Sans"/>
                <a:cs typeface="Lucida Sans"/>
              </a:rPr>
              <a:t>will </a:t>
            </a:r>
            <a:r>
              <a:rPr dirty="0" sz="1100" spc="10">
                <a:latin typeface="Lucida Sans"/>
                <a:cs typeface="Lucida Sans"/>
              </a:rPr>
              <a:t>hash </a:t>
            </a:r>
            <a:r>
              <a:rPr dirty="0" sz="1100" spc="5">
                <a:latin typeface="Lucida Sans"/>
                <a:cs typeface="Lucida Sans"/>
              </a:rPr>
              <a:t>to </a:t>
            </a:r>
            <a:r>
              <a:rPr dirty="0" sz="1100" spc="10">
                <a:latin typeface="Lucida Sans"/>
                <a:cs typeface="Lucida Sans"/>
              </a:rPr>
              <a:t>a </a:t>
            </a:r>
            <a:r>
              <a:rPr dirty="0" sz="1100" spc="5">
                <a:latin typeface="Lucida Sans"/>
                <a:cs typeface="Lucida Sans"/>
              </a:rPr>
              <a:t>desired </a:t>
            </a:r>
            <a:r>
              <a:rPr dirty="0" sz="1100" spc="-340">
                <a:latin typeface="Lucida Sans"/>
                <a:cs typeface="Lucida Sans"/>
              </a:rPr>
              <a:t> </a:t>
            </a:r>
            <a:r>
              <a:rPr dirty="0" sz="1100" spc="20">
                <a:latin typeface="Lucida Sans"/>
                <a:cs typeface="Lucida Sans"/>
              </a:rPr>
              <a:t>value</a:t>
            </a:r>
            <a:r>
              <a:rPr dirty="0" sz="1100">
                <a:latin typeface="Lucida Sans"/>
                <a:cs typeface="Lucida Sans"/>
              </a:rPr>
              <a:t> </a:t>
            </a:r>
            <a:r>
              <a:rPr dirty="0" sz="1100" spc="5">
                <a:latin typeface="Lucida Sans"/>
                <a:cs typeface="Lucida Sans"/>
              </a:rPr>
              <a:t>(or </a:t>
            </a:r>
            <a:r>
              <a:rPr dirty="0" sz="1100" spc="35">
                <a:latin typeface="Lucida Sans"/>
                <a:cs typeface="Lucida Sans"/>
              </a:rPr>
              <a:t>two</a:t>
            </a:r>
            <a:r>
              <a:rPr dirty="0" sz="1100" spc="5">
                <a:latin typeface="Lucida Sans"/>
                <a:cs typeface="Lucida Sans"/>
              </a:rPr>
              <a:t> </a:t>
            </a:r>
            <a:r>
              <a:rPr dirty="0" sz="1100" spc="20">
                <a:latin typeface="Lucida Sans"/>
                <a:cs typeface="Lucida Sans"/>
              </a:rPr>
              <a:t>keys</a:t>
            </a:r>
            <a:r>
              <a:rPr dirty="0" sz="1100" spc="5">
                <a:latin typeface="Lucida Sans"/>
                <a:cs typeface="Lucida Sans"/>
              </a:rPr>
              <a:t> that </a:t>
            </a:r>
            <a:r>
              <a:rPr dirty="0" sz="1100" spc="10">
                <a:latin typeface="Lucida Sans"/>
                <a:cs typeface="Lucida Sans"/>
              </a:rPr>
              <a:t>hash</a:t>
            </a:r>
            <a:r>
              <a:rPr dirty="0" sz="1100" spc="5">
                <a:latin typeface="Lucida Sans"/>
                <a:cs typeface="Lucida Sans"/>
              </a:rPr>
              <a:t> to </a:t>
            </a:r>
            <a:r>
              <a:rPr dirty="0" sz="1100" spc="10">
                <a:latin typeface="Lucida Sans"/>
                <a:cs typeface="Lucida Sans"/>
              </a:rPr>
              <a:t>same</a:t>
            </a:r>
            <a:r>
              <a:rPr dirty="0" sz="1100" spc="5">
                <a:latin typeface="Lucida Sans"/>
                <a:cs typeface="Lucida Sans"/>
              </a:rPr>
              <a:t> </a:t>
            </a:r>
            <a:r>
              <a:rPr dirty="0" sz="1100" spc="15">
                <a:latin typeface="Lucida Sans"/>
                <a:cs typeface="Lucida Sans"/>
              </a:rPr>
              <a:t>value).</a:t>
            </a:r>
            <a:endParaRPr sz="1100">
              <a:latin typeface="Lucida Sans"/>
              <a:cs typeface="Lucida San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39997" y="1551406"/>
            <a:ext cx="4664710" cy="1962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100" spc="5">
                <a:solidFill>
                  <a:srgbClr val="005493"/>
                </a:solidFill>
                <a:latin typeface="Lucida Sans"/>
                <a:cs typeface="Lucida Sans"/>
              </a:rPr>
              <a:t>Ex.</a:t>
            </a:r>
            <a:r>
              <a:rPr dirty="0" sz="1100" spc="350">
                <a:solidFill>
                  <a:srgbClr val="005493"/>
                </a:solidFill>
                <a:latin typeface="Lucida Sans"/>
                <a:cs typeface="Lucida Sans"/>
              </a:rPr>
              <a:t> </a:t>
            </a:r>
            <a:r>
              <a:rPr dirty="0" sz="1100" spc="10">
                <a:latin typeface="Lucida Sans"/>
                <a:cs typeface="Lucida Sans"/>
              </a:rPr>
              <a:t>MD4,</a:t>
            </a:r>
            <a:r>
              <a:rPr dirty="0" sz="1100" spc="5">
                <a:latin typeface="Lucida Sans"/>
                <a:cs typeface="Lucida Sans"/>
              </a:rPr>
              <a:t> </a:t>
            </a:r>
            <a:r>
              <a:rPr dirty="0" sz="1100" spc="10">
                <a:latin typeface="Lucida Sans"/>
                <a:cs typeface="Lucida Sans"/>
              </a:rPr>
              <a:t>MD5,</a:t>
            </a:r>
            <a:r>
              <a:rPr dirty="0" sz="1100">
                <a:latin typeface="Lucida Sans"/>
                <a:cs typeface="Lucida Sans"/>
              </a:rPr>
              <a:t> </a:t>
            </a:r>
            <a:r>
              <a:rPr dirty="0" sz="1100" spc="10">
                <a:latin typeface="Lucida Sans"/>
                <a:cs typeface="Lucida Sans"/>
              </a:rPr>
              <a:t>SHA-0,</a:t>
            </a:r>
            <a:r>
              <a:rPr dirty="0" sz="1100" spc="5">
                <a:latin typeface="Lucida Sans"/>
                <a:cs typeface="Lucida Sans"/>
              </a:rPr>
              <a:t> </a:t>
            </a:r>
            <a:r>
              <a:rPr dirty="0" sz="1100" spc="10">
                <a:latin typeface="Lucida Sans"/>
                <a:cs typeface="Lucida Sans"/>
              </a:rPr>
              <a:t>SHA-1,</a:t>
            </a:r>
            <a:r>
              <a:rPr dirty="0" sz="1100">
                <a:latin typeface="Lucida Sans"/>
                <a:cs typeface="Lucida Sans"/>
              </a:rPr>
              <a:t> </a:t>
            </a:r>
            <a:r>
              <a:rPr dirty="0" sz="1100" spc="10">
                <a:latin typeface="Lucida Sans"/>
                <a:cs typeface="Lucida Sans"/>
              </a:rPr>
              <a:t>SHA-2,</a:t>
            </a:r>
            <a:r>
              <a:rPr dirty="0" sz="1100" spc="5">
                <a:latin typeface="Lucida Sans"/>
                <a:cs typeface="Lucida Sans"/>
              </a:rPr>
              <a:t> </a:t>
            </a:r>
            <a:r>
              <a:rPr dirty="0" sz="1100" spc="10">
                <a:latin typeface="Lucida Sans"/>
                <a:cs typeface="Lucida Sans"/>
              </a:rPr>
              <a:t>WHIRLPOOL,</a:t>
            </a:r>
            <a:r>
              <a:rPr dirty="0" sz="1100" spc="5">
                <a:latin typeface="Lucida Sans"/>
                <a:cs typeface="Lucida Sans"/>
              </a:rPr>
              <a:t> </a:t>
            </a:r>
            <a:r>
              <a:rPr dirty="0" sz="1100" spc="10">
                <a:latin typeface="Lucida Sans"/>
                <a:cs typeface="Lucida Sans"/>
              </a:rPr>
              <a:t>RIPEMD-160,</a:t>
            </a:r>
            <a:r>
              <a:rPr dirty="0" sz="1100">
                <a:latin typeface="Lucida Sans"/>
                <a:cs typeface="Lucida Sans"/>
              </a:rPr>
              <a:t> </a:t>
            </a:r>
            <a:r>
              <a:rPr dirty="0" sz="1100" spc="10">
                <a:latin typeface="Lucida Sans"/>
                <a:cs typeface="Lucida Sans"/>
              </a:rPr>
              <a:t>….</a:t>
            </a:r>
            <a:endParaRPr sz="1100">
              <a:latin typeface="Lucida Sans"/>
              <a:cs typeface="Lucida San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39997" y="4032393"/>
            <a:ext cx="4814570" cy="487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37800"/>
              </a:lnSpc>
              <a:spcBef>
                <a:spcPts val="95"/>
              </a:spcBef>
            </a:pPr>
            <a:r>
              <a:rPr dirty="0" sz="1100" spc="10">
                <a:solidFill>
                  <a:srgbClr val="005493"/>
                </a:solidFill>
                <a:latin typeface="Lucida Sans"/>
                <a:cs typeface="Lucida Sans"/>
              </a:rPr>
              <a:t>Applications.</a:t>
            </a:r>
            <a:r>
              <a:rPr dirty="0" sz="1100" spc="20">
                <a:solidFill>
                  <a:srgbClr val="005493"/>
                </a:solidFill>
                <a:latin typeface="Lucida Sans"/>
                <a:cs typeface="Lucida Sans"/>
              </a:rPr>
              <a:t> </a:t>
            </a:r>
            <a:r>
              <a:rPr dirty="0" sz="1100" spc="5">
                <a:latin typeface="Lucida Sans"/>
                <a:cs typeface="Lucida Sans"/>
              </a:rPr>
              <a:t>Digital</a:t>
            </a:r>
            <a:r>
              <a:rPr dirty="0" sz="1100" spc="10">
                <a:latin typeface="Lucida Sans"/>
                <a:cs typeface="Lucida Sans"/>
              </a:rPr>
              <a:t> </a:t>
            </a:r>
            <a:r>
              <a:rPr dirty="0" sz="1100" spc="5">
                <a:latin typeface="Lucida Sans"/>
                <a:cs typeface="Lucida Sans"/>
              </a:rPr>
              <a:t>fingerprint,</a:t>
            </a:r>
            <a:r>
              <a:rPr dirty="0" sz="1100" spc="10">
                <a:latin typeface="Lucida Sans"/>
                <a:cs typeface="Lucida Sans"/>
              </a:rPr>
              <a:t> message</a:t>
            </a:r>
            <a:r>
              <a:rPr dirty="0" sz="1100" spc="15">
                <a:latin typeface="Lucida Sans"/>
                <a:cs typeface="Lucida Sans"/>
              </a:rPr>
              <a:t> </a:t>
            </a:r>
            <a:r>
              <a:rPr dirty="0" sz="1100" spc="5">
                <a:latin typeface="Lucida Sans"/>
                <a:cs typeface="Lucida Sans"/>
              </a:rPr>
              <a:t>digest,</a:t>
            </a:r>
            <a:r>
              <a:rPr dirty="0" sz="1100" spc="10">
                <a:latin typeface="Lucida Sans"/>
                <a:cs typeface="Lucida Sans"/>
              </a:rPr>
              <a:t> </a:t>
            </a:r>
            <a:r>
              <a:rPr dirty="0" sz="1100" spc="5">
                <a:latin typeface="Lucida Sans"/>
                <a:cs typeface="Lucida Sans"/>
              </a:rPr>
              <a:t>storing</a:t>
            </a:r>
            <a:r>
              <a:rPr dirty="0" sz="1100" spc="15">
                <a:latin typeface="Lucida Sans"/>
                <a:cs typeface="Lucida Sans"/>
              </a:rPr>
              <a:t> passwords. </a:t>
            </a:r>
            <a:r>
              <a:rPr dirty="0" sz="1100" spc="-335">
                <a:latin typeface="Lucida Sans"/>
                <a:cs typeface="Lucida Sans"/>
              </a:rPr>
              <a:t> </a:t>
            </a:r>
            <a:r>
              <a:rPr dirty="0" sz="1100" spc="15">
                <a:solidFill>
                  <a:srgbClr val="005493"/>
                </a:solidFill>
                <a:latin typeface="Lucida Sans"/>
                <a:cs typeface="Lucida Sans"/>
              </a:rPr>
              <a:t>Caveat.</a:t>
            </a:r>
            <a:r>
              <a:rPr dirty="0" sz="1100" spc="355">
                <a:solidFill>
                  <a:srgbClr val="005493"/>
                </a:solidFill>
                <a:latin typeface="Lucida Sans"/>
                <a:cs typeface="Lucida Sans"/>
              </a:rPr>
              <a:t> </a:t>
            </a:r>
            <a:r>
              <a:rPr dirty="0" sz="1100" spc="-35">
                <a:latin typeface="Lucida Sans"/>
                <a:cs typeface="Lucida Sans"/>
              </a:rPr>
              <a:t>Too</a:t>
            </a:r>
            <a:r>
              <a:rPr dirty="0" sz="1100" spc="5">
                <a:latin typeface="Lucida Sans"/>
                <a:cs typeface="Lucida Sans"/>
              </a:rPr>
              <a:t> </a:t>
            </a:r>
            <a:r>
              <a:rPr dirty="0" sz="1100" spc="15">
                <a:latin typeface="Lucida Sans"/>
                <a:cs typeface="Lucida Sans"/>
              </a:rPr>
              <a:t>expensive</a:t>
            </a:r>
            <a:r>
              <a:rPr dirty="0" sz="1100">
                <a:latin typeface="Lucida Sans"/>
                <a:cs typeface="Lucida Sans"/>
              </a:rPr>
              <a:t> </a:t>
            </a:r>
            <a:r>
              <a:rPr dirty="0" sz="1100" spc="5">
                <a:latin typeface="Lucida Sans"/>
                <a:cs typeface="Lucida Sans"/>
              </a:rPr>
              <a:t>for </a:t>
            </a:r>
            <a:r>
              <a:rPr dirty="0" sz="1100" spc="10">
                <a:latin typeface="Lucida Sans"/>
                <a:cs typeface="Lucida Sans"/>
              </a:rPr>
              <a:t>use</a:t>
            </a:r>
            <a:r>
              <a:rPr dirty="0" sz="1100" spc="5">
                <a:latin typeface="Lucida Sans"/>
                <a:cs typeface="Lucida Sans"/>
              </a:rPr>
              <a:t> in </a:t>
            </a:r>
            <a:r>
              <a:rPr dirty="0" sz="1100" spc="10">
                <a:latin typeface="Lucida Sans"/>
                <a:cs typeface="Lucida Sans"/>
              </a:rPr>
              <a:t>ST</a:t>
            </a:r>
            <a:r>
              <a:rPr dirty="0" sz="1100" spc="5">
                <a:latin typeface="Lucida Sans"/>
                <a:cs typeface="Lucida Sans"/>
              </a:rPr>
              <a:t> </a:t>
            </a:r>
            <a:r>
              <a:rPr dirty="0" sz="1100" spc="10">
                <a:latin typeface="Lucida Sans"/>
                <a:cs typeface="Lucida Sans"/>
              </a:rPr>
              <a:t>implementations.</a:t>
            </a:r>
            <a:endParaRPr sz="1100">
              <a:latin typeface="Lucida Sans"/>
              <a:cs typeface="Lucida San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038893" y="1754992"/>
            <a:ext cx="1819275" cy="154305"/>
          </a:xfrm>
          <a:custGeom>
            <a:avLst/>
            <a:gdLst/>
            <a:ahLst/>
            <a:cxnLst/>
            <a:rect l="l" t="t" r="r" b="b"/>
            <a:pathLst>
              <a:path w="1819275" h="154305">
                <a:moveTo>
                  <a:pt x="1818678" y="0"/>
                </a:moveTo>
                <a:lnTo>
                  <a:pt x="1806768" y="29976"/>
                </a:lnTo>
                <a:lnTo>
                  <a:pt x="1774289" y="54456"/>
                </a:lnTo>
                <a:lnTo>
                  <a:pt x="1726115" y="70960"/>
                </a:lnTo>
                <a:lnTo>
                  <a:pt x="1667122" y="77012"/>
                </a:lnTo>
                <a:lnTo>
                  <a:pt x="1060896" y="77012"/>
                </a:lnTo>
                <a:lnTo>
                  <a:pt x="1001903" y="83064"/>
                </a:lnTo>
                <a:lnTo>
                  <a:pt x="953729" y="99568"/>
                </a:lnTo>
                <a:lnTo>
                  <a:pt x="921249" y="124048"/>
                </a:lnTo>
                <a:lnTo>
                  <a:pt x="909339" y="154024"/>
                </a:lnTo>
                <a:lnTo>
                  <a:pt x="897429" y="124048"/>
                </a:lnTo>
                <a:lnTo>
                  <a:pt x="864949" y="99568"/>
                </a:lnTo>
                <a:lnTo>
                  <a:pt x="816775" y="83064"/>
                </a:lnTo>
                <a:lnTo>
                  <a:pt x="757783" y="77012"/>
                </a:lnTo>
                <a:lnTo>
                  <a:pt x="151556" y="77012"/>
                </a:lnTo>
                <a:lnTo>
                  <a:pt x="92564" y="70960"/>
                </a:lnTo>
                <a:lnTo>
                  <a:pt x="44390" y="54456"/>
                </a:lnTo>
                <a:lnTo>
                  <a:pt x="11910" y="29976"/>
                </a:lnTo>
                <a:lnTo>
                  <a:pt x="0" y="0"/>
                </a:lnTo>
              </a:path>
            </a:pathLst>
          </a:custGeom>
          <a:ln w="5924">
            <a:solidFill>
              <a:srgbClr val="8D312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469311" y="1900135"/>
            <a:ext cx="1017269" cy="1397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50" spc="5">
                <a:solidFill>
                  <a:srgbClr val="8D3124"/>
                </a:solidFill>
                <a:latin typeface="Lucida Sans"/>
                <a:cs typeface="Lucida Sans"/>
              </a:rPr>
              <a:t>known</a:t>
            </a:r>
            <a:r>
              <a:rPr dirty="0" sz="750" spc="-25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dirty="0" sz="750" spc="-5">
                <a:solidFill>
                  <a:srgbClr val="8D3124"/>
                </a:solidFill>
                <a:latin typeface="Lucida Sans"/>
                <a:cs typeface="Lucida Sans"/>
              </a:rPr>
              <a:t>to</a:t>
            </a:r>
            <a:r>
              <a:rPr dirty="0" sz="750" spc="-20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dirty="0" sz="750" spc="-5">
                <a:solidFill>
                  <a:srgbClr val="8D3124"/>
                </a:solidFill>
                <a:latin typeface="Lucida Sans"/>
                <a:cs typeface="Lucida Sans"/>
              </a:rPr>
              <a:t>be</a:t>
            </a:r>
            <a:r>
              <a:rPr dirty="0" sz="750" spc="-25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dirty="0" sz="750" spc="-5">
                <a:solidFill>
                  <a:srgbClr val="8D3124"/>
                </a:solidFill>
                <a:latin typeface="Lucida Sans"/>
                <a:cs typeface="Lucida Sans"/>
              </a:rPr>
              <a:t>insecure</a:t>
            </a:r>
            <a:endParaRPr sz="750">
              <a:latin typeface="Lucida Sans"/>
              <a:cs typeface="Lucida San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57769" y="2458636"/>
            <a:ext cx="4177029" cy="983615"/>
          </a:xfrm>
          <a:prstGeom prst="rect">
            <a:avLst/>
          </a:prstGeom>
          <a:solidFill>
            <a:srgbClr val="CBCBCB"/>
          </a:solidFill>
        </p:spPr>
        <p:txBody>
          <a:bodyPr wrap="square" lIns="0" tIns="69215" rIns="0" bIns="0" rtlCol="0" vert="horz">
            <a:spAutoFit/>
          </a:bodyPr>
          <a:lstStyle/>
          <a:p>
            <a:pPr marL="97790">
              <a:lnSpc>
                <a:spcPct val="100000"/>
              </a:lnSpc>
              <a:spcBef>
                <a:spcPts val="545"/>
              </a:spcBef>
            </a:pPr>
            <a:r>
              <a:rPr dirty="0" sz="900" spc="15">
                <a:latin typeface="Lucida Sans Typewriter"/>
                <a:cs typeface="Lucida Sans Typewriter"/>
              </a:rPr>
              <a:t>String</a:t>
            </a:r>
            <a:r>
              <a:rPr dirty="0" sz="900" spc="10">
                <a:latin typeface="Lucida Sans Typewriter"/>
                <a:cs typeface="Lucida Sans Typewriter"/>
              </a:rPr>
              <a:t> </a:t>
            </a:r>
            <a:r>
              <a:rPr dirty="0" sz="900" spc="15">
                <a:latin typeface="Lucida Sans Typewriter"/>
                <a:cs typeface="Lucida Sans Typewriter"/>
              </a:rPr>
              <a:t>password = args[0];</a:t>
            </a:r>
            <a:endParaRPr sz="900">
              <a:latin typeface="Lucida Sans Typewriter"/>
              <a:cs typeface="Lucida Sans Typewriter"/>
            </a:endParaRPr>
          </a:p>
          <a:p>
            <a:pPr marL="97790" marR="147320">
              <a:lnSpc>
                <a:spcPct val="120900"/>
              </a:lnSpc>
              <a:spcBef>
                <a:spcPts val="45"/>
              </a:spcBef>
            </a:pPr>
            <a:r>
              <a:rPr dirty="0" sz="900" spc="15">
                <a:latin typeface="Lucida Sans Typewriter"/>
                <a:cs typeface="Lucida Sans Typewriter"/>
              </a:rPr>
              <a:t>MessageDigest</a:t>
            </a:r>
            <a:r>
              <a:rPr dirty="0" sz="900" spc="55">
                <a:latin typeface="Lucida Sans Typewriter"/>
                <a:cs typeface="Lucida Sans Typewriter"/>
              </a:rPr>
              <a:t> </a:t>
            </a:r>
            <a:r>
              <a:rPr dirty="0" sz="900" spc="15">
                <a:latin typeface="Lucida Sans Typewriter"/>
                <a:cs typeface="Lucida Sans Typewriter"/>
              </a:rPr>
              <a:t>sha1</a:t>
            </a:r>
            <a:r>
              <a:rPr dirty="0" sz="900" spc="55">
                <a:latin typeface="Lucida Sans Typewriter"/>
                <a:cs typeface="Lucida Sans Typewriter"/>
              </a:rPr>
              <a:t> </a:t>
            </a:r>
            <a:r>
              <a:rPr dirty="0" sz="900" spc="15">
                <a:latin typeface="Lucida Sans Typewriter"/>
                <a:cs typeface="Lucida Sans Typewriter"/>
              </a:rPr>
              <a:t>=</a:t>
            </a:r>
            <a:r>
              <a:rPr dirty="0" sz="900" spc="55">
                <a:latin typeface="Lucida Sans Typewriter"/>
                <a:cs typeface="Lucida Sans Typewriter"/>
              </a:rPr>
              <a:t> </a:t>
            </a:r>
            <a:r>
              <a:rPr dirty="0" sz="900" spc="15">
                <a:latin typeface="Lucida Sans Typewriter"/>
                <a:cs typeface="Lucida Sans Typewriter"/>
              </a:rPr>
              <a:t>MessageDigest.getInstance("SHA1"); </a:t>
            </a:r>
            <a:r>
              <a:rPr dirty="0" sz="900" spc="-525">
                <a:latin typeface="Lucida Sans Typewriter"/>
                <a:cs typeface="Lucida Sans Typewriter"/>
              </a:rPr>
              <a:t> </a:t>
            </a:r>
            <a:r>
              <a:rPr dirty="0" sz="900" spc="15">
                <a:latin typeface="Lucida Sans Typewriter"/>
                <a:cs typeface="Lucida Sans Typewriter"/>
              </a:rPr>
              <a:t>byte[] bytes =</a:t>
            </a:r>
            <a:r>
              <a:rPr dirty="0" sz="900" spc="20">
                <a:latin typeface="Lucida Sans Typewriter"/>
                <a:cs typeface="Lucida Sans Typewriter"/>
              </a:rPr>
              <a:t> </a:t>
            </a:r>
            <a:r>
              <a:rPr dirty="0" sz="900" spc="15">
                <a:latin typeface="Lucida Sans Typewriter"/>
                <a:cs typeface="Lucida Sans Typewriter"/>
              </a:rPr>
              <a:t>sha1.digest(password);</a:t>
            </a:r>
            <a:endParaRPr sz="900">
              <a:latin typeface="Lucida Sans Typewriter"/>
              <a:cs typeface="Lucida Sans Typewriter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350">
              <a:latin typeface="Lucida Sans Typewriter"/>
              <a:cs typeface="Lucida Sans Typewriter"/>
            </a:endParaRPr>
          </a:p>
          <a:p>
            <a:pPr marL="97790">
              <a:lnSpc>
                <a:spcPct val="100000"/>
              </a:lnSpc>
            </a:pPr>
            <a:r>
              <a:rPr dirty="0" sz="900" spc="15">
                <a:solidFill>
                  <a:srgbClr val="606060"/>
                </a:solidFill>
                <a:latin typeface="Lucida Sans Typewriter"/>
                <a:cs typeface="Lucida Sans Typewriter"/>
              </a:rPr>
              <a:t>/* prints bytes</a:t>
            </a:r>
            <a:r>
              <a:rPr dirty="0" sz="900" spc="20">
                <a:solidFill>
                  <a:srgbClr val="606060"/>
                </a:solidFill>
                <a:latin typeface="Lucida Sans Typewriter"/>
                <a:cs typeface="Lucida Sans Typewriter"/>
              </a:rPr>
              <a:t> </a:t>
            </a:r>
            <a:r>
              <a:rPr dirty="0" sz="900" spc="15">
                <a:solidFill>
                  <a:srgbClr val="606060"/>
                </a:solidFill>
                <a:latin typeface="Lucida Sans Typewriter"/>
                <a:cs typeface="Lucida Sans Typewriter"/>
              </a:rPr>
              <a:t>as hex string</a:t>
            </a:r>
            <a:r>
              <a:rPr dirty="0" sz="900" spc="20">
                <a:solidFill>
                  <a:srgbClr val="606060"/>
                </a:solidFill>
                <a:latin typeface="Lucida Sans Typewriter"/>
                <a:cs typeface="Lucida Sans Typewriter"/>
              </a:rPr>
              <a:t> </a:t>
            </a:r>
            <a:r>
              <a:rPr dirty="0" sz="900" spc="15">
                <a:solidFill>
                  <a:srgbClr val="606060"/>
                </a:solidFill>
                <a:latin typeface="Lucida Sans Typewriter"/>
                <a:cs typeface="Lucida Sans Typewriter"/>
              </a:rPr>
              <a:t>*/</a:t>
            </a:r>
            <a:endParaRPr sz="900">
              <a:latin typeface="Lucida Sans Typewriter"/>
              <a:cs typeface="Lucida Sans Typewriter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6592379" y="237122"/>
            <a:ext cx="6066790" cy="4549775"/>
            <a:chOff x="6592379" y="237122"/>
            <a:chExt cx="6066790" cy="4549775"/>
          </a:xfrm>
        </p:grpSpPr>
        <p:sp>
          <p:nvSpPr>
            <p:cNvPr id="11" name="object 11"/>
            <p:cNvSpPr/>
            <p:nvPr/>
          </p:nvSpPr>
          <p:spPr>
            <a:xfrm>
              <a:off x="6592379" y="237122"/>
              <a:ext cx="6066790" cy="4549775"/>
            </a:xfrm>
            <a:custGeom>
              <a:avLst/>
              <a:gdLst/>
              <a:ahLst/>
              <a:cxnLst/>
              <a:rect l="l" t="t" r="r" b="b"/>
              <a:pathLst>
                <a:path w="6066790" h="4549775">
                  <a:moveTo>
                    <a:pt x="0" y="0"/>
                  </a:moveTo>
                  <a:lnTo>
                    <a:pt x="6066212" y="0"/>
                  </a:lnTo>
                  <a:lnTo>
                    <a:pt x="6066212" y="4549659"/>
                  </a:lnTo>
                  <a:lnTo>
                    <a:pt x="0" y="45496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6977442" y="699147"/>
              <a:ext cx="5302250" cy="635"/>
            </a:xfrm>
            <a:custGeom>
              <a:avLst/>
              <a:gdLst/>
              <a:ahLst/>
              <a:cxnLst/>
              <a:rect l="l" t="t" r="r" b="b"/>
              <a:pathLst>
                <a:path w="5302250" h="634">
                  <a:moveTo>
                    <a:pt x="0" y="49"/>
                  </a:moveTo>
                  <a:lnTo>
                    <a:pt x="5302012" y="0"/>
                  </a:lnTo>
                </a:path>
              </a:pathLst>
            </a:custGeom>
            <a:ln w="59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6986199" y="396219"/>
            <a:ext cx="2773680" cy="2247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00" spc="15">
                <a:latin typeface="Arial"/>
                <a:cs typeface="Arial"/>
              </a:rPr>
              <a:t>Separate</a:t>
            </a:r>
            <a:r>
              <a:rPr dirty="0" sz="1300" spc="30">
                <a:latin typeface="Arial"/>
                <a:cs typeface="Arial"/>
              </a:rPr>
              <a:t> </a:t>
            </a:r>
            <a:r>
              <a:rPr dirty="0" sz="1300" spc="20">
                <a:latin typeface="Arial"/>
                <a:cs typeface="Arial"/>
              </a:rPr>
              <a:t>chaining</a:t>
            </a:r>
            <a:r>
              <a:rPr dirty="0" sz="1300" spc="30">
                <a:latin typeface="Arial"/>
                <a:cs typeface="Arial"/>
              </a:rPr>
              <a:t> </a:t>
            </a:r>
            <a:r>
              <a:rPr dirty="0" sz="1300" spc="-30">
                <a:latin typeface="Arial"/>
                <a:cs typeface="Arial"/>
              </a:rPr>
              <a:t>vs.</a:t>
            </a:r>
            <a:r>
              <a:rPr dirty="0" sz="1300" spc="30">
                <a:latin typeface="Arial"/>
                <a:cs typeface="Arial"/>
              </a:rPr>
              <a:t> linear </a:t>
            </a:r>
            <a:r>
              <a:rPr dirty="0" sz="1300" spc="40">
                <a:latin typeface="Arial"/>
                <a:cs typeface="Arial"/>
              </a:rPr>
              <a:t>probing</a:t>
            </a:r>
            <a:endParaRPr sz="13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980276" y="852370"/>
            <a:ext cx="1296035" cy="1962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100" spc="10">
                <a:solidFill>
                  <a:srgbClr val="005493"/>
                </a:solidFill>
                <a:latin typeface="Lucida Sans"/>
                <a:cs typeface="Lucida Sans"/>
              </a:rPr>
              <a:t>Separate</a:t>
            </a:r>
            <a:r>
              <a:rPr dirty="0" sz="1100" spc="-75">
                <a:solidFill>
                  <a:srgbClr val="005493"/>
                </a:solidFill>
                <a:latin typeface="Lucida Sans"/>
                <a:cs typeface="Lucida Sans"/>
              </a:rPr>
              <a:t> </a:t>
            </a:r>
            <a:r>
              <a:rPr dirty="0" sz="1100" spc="10">
                <a:solidFill>
                  <a:srgbClr val="005493"/>
                </a:solidFill>
                <a:latin typeface="Lucida Sans"/>
                <a:cs typeface="Lucida Sans"/>
              </a:rPr>
              <a:t>chaining.</a:t>
            </a:r>
            <a:endParaRPr sz="1100">
              <a:latin typeface="Lucida Sans"/>
              <a:cs typeface="Lucida San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986734" y="988623"/>
            <a:ext cx="2616200" cy="3098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dirty="0" baseline="-12012" sz="2775" spc="22">
                <a:latin typeface="Microsoft JhengHei"/>
                <a:cs typeface="Microsoft JhengHei"/>
              </a:rPr>
              <a:t>・</a:t>
            </a:r>
            <a:r>
              <a:rPr dirty="0" sz="1100" spc="10">
                <a:latin typeface="Lucida Sans"/>
                <a:cs typeface="Lucida Sans"/>
              </a:rPr>
              <a:t>Performance</a:t>
            </a:r>
            <a:r>
              <a:rPr dirty="0" sz="1100" spc="-10">
                <a:latin typeface="Lucida Sans"/>
                <a:cs typeface="Lucida Sans"/>
              </a:rPr>
              <a:t> </a:t>
            </a:r>
            <a:r>
              <a:rPr dirty="0" sz="1100" spc="10">
                <a:latin typeface="Lucida Sans"/>
                <a:cs typeface="Lucida Sans"/>
              </a:rPr>
              <a:t>degrades</a:t>
            </a:r>
            <a:r>
              <a:rPr dirty="0" sz="1100" spc="-10">
                <a:latin typeface="Lucida Sans"/>
                <a:cs typeface="Lucida Sans"/>
              </a:rPr>
              <a:t> </a:t>
            </a:r>
            <a:r>
              <a:rPr dirty="0" sz="1100">
                <a:latin typeface="Lucida Sans"/>
                <a:cs typeface="Lucida Sans"/>
              </a:rPr>
              <a:t>gracefully.</a:t>
            </a:r>
            <a:endParaRPr sz="1100">
              <a:latin typeface="Lucida Sans"/>
              <a:cs typeface="Lucida San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986734" y="1219660"/>
            <a:ext cx="4367530" cy="3098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dirty="0" baseline="-12012" sz="2775" spc="22">
                <a:latin typeface="Microsoft JhengHei"/>
                <a:cs typeface="Microsoft JhengHei"/>
              </a:rPr>
              <a:t>・</a:t>
            </a:r>
            <a:r>
              <a:rPr dirty="0" sz="1100" spc="5">
                <a:latin typeface="Lucida Sans"/>
                <a:cs typeface="Lucida Sans"/>
              </a:rPr>
              <a:t>Clustering</a:t>
            </a:r>
            <a:r>
              <a:rPr dirty="0" sz="1100" spc="15">
                <a:latin typeface="Lucida Sans"/>
                <a:cs typeface="Lucida Sans"/>
              </a:rPr>
              <a:t> </a:t>
            </a:r>
            <a:r>
              <a:rPr dirty="0" sz="1100" spc="5">
                <a:latin typeface="Lucida Sans"/>
                <a:cs typeface="Lucida Sans"/>
              </a:rPr>
              <a:t>less</a:t>
            </a:r>
            <a:r>
              <a:rPr dirty="0" sz="1100" spc="15">
                <a:latin typeface="Lucida Sans"/>
                <a:cs typeface="Lucida Sans"/>
              </a:rPr>
              <a:t> sensitive </a:t>
            </a:r>
            <a:r>
              <a:rPr dirty="0" sz="1100" spc="5">
                <a:latin typeface="Lucida Sans"/>
                <a:cs typeface="Lucida Sans"/>
              </a:rPr>
              <a:t>to</a:t>
            </a:r>
            <a:r>
              <a:rPr dirty="0" sz="1100" spc="20">
                <a:latin typeface="Lucida Sans"/>
                <a:cs typeface="Lucida Sans"/>
              </a:rPr>
              <a:t> </a:t>
            </a:r>
            <a:r>
              <a:rPr dirty="0" sz="1100" spc="10">
                <a:latin typeface="Lucida Sans"/>
                <a:cs typeface="Lucida Sans"/>
              </a:rPr>
              <a:t>poorly-designed</a:t>
            </a:r>
            <a:r>
              <a:rPr dirty="0" sz="1100" spc="15">
                <a:latin typeface="Lucida Sans"/>
                <a:cs typeface="Lucida Sans"/>
              </a:rPr>
              <a:t> </a:t>
            </a:r>
            <a:r>
              <a:rPr dirty="0" sz="1100" spc="10">
                <a:latin typeface="Lucida Sans"/>
                <a:cs typeface="Lucida Sans"/>
              </a:rPr>
              <a:t>hash</a:t>
            </a:r>
            <a:r>
              <a:rPr dirty="0" sz="1100" spc="15">
                <a:latin typeface="Lucida Sans"/>
                <a:cs typeface="Lucida Sans"/>
              </a:rPr>
              <a:t> </a:t>
            </a:r>
            <a:r>
              <a:rPr dirty="0" sz="1100" spc="5">
                <a:latin typeface="Lucida Sans"/>
                <a:cs typeface="Lucida Sans"/>
              </a:rPr>
              <a:t>function.</a:t>
            </a:r>
            <a:endParaRPr sz="1100">
              <a:latin typeface="Lucida Sans"/>
              <a:cs typeface="Lucida San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980276" y="1776520"/>
            <a:ext cx="1075690" cy="1962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100" spc="5">
                <a:solidFill>
                  <a:srgbClr val="005493"/>
                </a:solidFill>
                <a:latin typeface="Lucida Sans"/>
                <a:cs typeface="Lucida Sans"/>
              </a:rPr>
              <a:t>Linear</a:t>
            </a:r>
            <a:r>
              <a:rPr dirty="0" sz="1100" spc="-45">
                <a:solidFill>
                  <a:srgbClr val="005493"/>
                </a:solidFill>
                <a:latin typeface="Lucida Sans"/>
                <a:cs typeface="Lucida Sans"/>
              </a:rPr>
              <a:t> </a:t>
            </a:r>
            <a:r>
              <a:rPr dirty="0" sz="1100" spc="5">
                <a:solidFill>
                  <a:srgbClr val="005493"/>
                </a:solidFill>
                <a:latin typeface="Lucida Sans"/>
                <a:cs typeface="Lucida Sans"/>
              </a:rPr>
              <a:t>probing.</a:t>
            </a:r>
            <a:endParaRPr sz="1100">
              <a:latin typeface="Lucida Sans"/>
              <a:cs typeface="Lucida San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986734" y="1912773"/>
            <a:ext cx="1633855" cy="3098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dirty="0" baseline="-12012" sz="2775" spc="22">
                <a:latin typeface="Microsoft JhengHei"/>
                <a:cs typeface="Microsoft JhengHei"/>
              </a:rPr>
              <a:t>・</a:t>
            </a:r>
            <a:r>
              <a:rPr dirty="0" sz="1100" spc="10">
                <a:latin typeface="Lucida Sans"/>
                <a:cs typeface="Lucida Sans"/>
              </a:rPr>
              <a:t>Less</a:t>
            </a:r>
            <a:r>
              <a:rPr dirty="0" sz="1100" spc="-20">
                <a:latin typeface="Lucida Sans"/>
                <a:cs typeface="Lucida Sans"/>
              </a:rPr>
              <a:t> </a:t>
            </a:r>
            <a:r>
              <a:rPr dirty="0" sz="1100" spc="20">
                <a:latin typeface="Lucida Sans"/>
                <a:cs typeface="Lucida Sans"/>
              </a:rPr>
              <a:t>wasted</a:t>
            </a:r>
            <a:r>
              <a:rPr dirty="0" sz="1100" spc="-20">
                <a:latin typeface="Lucida Sans"/>
                <a:cs typeface="Lucida Sans"/>
              </a:rPr>
              <a:t> </a:t>
            </a:r>
            <a:r>
              <a:rPr dirty="0" sz="1100" spc="10">
                <a:latin typeface="Lucida Sans"/>
                <a:cs typeface="Lucida Sans"/>
              </a:rPr>
              <a:t>space.</a:t>
            </a:r>
            <a:endParaRPr sz="1100">
              <a:latin typeface="Lucida Sans"/>
              <a:cs typeface="Lucida San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986734" y="2143810"/>
            <a:ext cx="2122805" cy="3098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dirty="0" baseline="-12012" sz="2775" spc="22">
                <a:latin typeface="Microsoft JhengHei"/>
                <a:cs typeface="Microsoft JhengHei"/>
              </a:rPr>
              <a:t>・</a:t>
            </a:r>
            <a:r>
              <a:rPr dirty="0" sz="1100" spc="5">
                <a:latin typeface="Lucida Sans"/>
                <a:cs typeface="Lucida Sans"/>
              </a:rPr>
              <a:t>Better</a:t>
            </a:r>
            <a:r>
              <a:rPr dirty="0" sz="1100" spc="-15">
                <a:latin typeface="Lucida Sans"/>
                <a:cs typeface="Lucida Sans"/>
              </a:rPr>
              <a:t> </a:t>
            </a:r>
            <a:r>
              <a:rPr dirty="0" sz="1100" spc="10">
                <a:latin typeface="Lucida Sans"/>
                <a:cs typeface="Lucida Sans"/>
              </a:rPr>
              <a:t>cache</a:t>
            </a:r>
            <a:r>
              <a:rPr dirty="0" sz="1100" spc="-10">
                <a:latin typeface="Lucida Sans"/>
                <a:cs typeface="Lucida Sans"/>
              </a:rPr>
              <a:t> </a:t>
            </a:r>
            <a:r>
              <a:rPr dirty="0" sz="1100" spc="10">
                <a:latin typeface="Lucida Sans"/>
                <a:cs typeface="Lucida Sans"/>
              </a:rPr>
              <a:t>performance.</a:t>
            </a:r>
            <a:endParaRPr sz="1100">
              <a:latin typeface="Lucida Sans"/>
              <a:cs typeface="Lucida Sans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2492206" y="4615831"/>
            <a:ext cx="115570" cy="1111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550" spc="5">
                <a:latin typeface="Lucida Sans"/>
                <a:cs typeface="Lucida Sans"/>
              </a:rPr>
              <a:t>42</a:t>
            </a:r>
            <a:endParaRPr sz="550">
              <a:latin typeface="Lucida Sans"/>
              <a:cs typeface="Lucida Sans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9903904" y="2403915"/>
            <a:ext cx="227329" cy="126364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650" spc="5">
                <a:solidFill>
                  <a:srgbClr val="BF311A"/>
                </a:solidFill>
                <a:latin typeface="Lucida Sans Typewriter"/>
                <a:cs typeface="Lucida Sans Typewriter"/>
              </a:rPr>
              <a:t>st[]</a:t>
            </a:r>
            <a:endParaRPr sz="650">
              <a:latin typeface="Lucida Sans Typewriter"/>
              <a:cs typeface="Lucida Sans Typewriter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9855720" y="2490509"/>
            <a:ext cx="76200" cy="743585"/>
          </a:xfrm>
          <a:prstGeom prst="rect">
            <a:avLst/>
          </a:prstGeom>
        </p:spPr>
        <p:txBody>
          <a:bodyPr wrap="square" lIns="0" tIns="565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dirty="0" sz="650" spc="5">
                <a:solidFill>
                  <a:srgbClr val="BF311A"/>
                </a:solidFill>
                <a:latin typeface="Lucida Sans Typewriter"/>
                <a:cs typeface="Lucida Sans Typewriter"/>
              </a:rPr>
              <a:t>0</a:t>
            </a:r>
            <a:endParaRPr sz="650">
              <a:latin typeface="Lucida Sans Typewriter"/>
              <a:cs typeface="Lucida Sans Typewriter"/>
            </a:endParaRPr>
          </a:p>
          <a:p>
            <a:pPr marL="12700">
              <a:lnSpc>
                <a:spcPct val="100000"/>
              </a:lnSpc>
              <a:spcBef>
                <a:spcPts val="350"/>
              </a:spcBef>
            </a:pPr>
            <a:r>
              <a:rPr dirty="0" sz="650" spc="5">
                <a:solidFill>
                  <a:srgbClr val="BF311A"/>
                </a:solidFill>
                <a:latin typeface="Lucida Sans Typewriter"/>
                <a:cs typeface="Lucida Sans Typewriter"/>
              </a:rPr>
              <a:t>1</a:t>
            </a:r>
            <a:endParaRPr sz="650">
              <a:latin typeface="Lucida Sans Typewriter"/>
              <a:cs typeface="Lucida Sans Typewriter"/>
            </a:endParaRPr>
          </a:p>
          <a:p>
            <a:pPr marL="12700">
              <a:lnSpc>
                <a:spcPct val="100000"/>
              </a:lnSpc>
              <a:spcBef>
                <a:spcPts val="350"/>
              </a:spcBef>
            </a:pPr>
            <a:r>
              <a:rPr dirty="0" sz="650" spc="5">
                <a:solidFill>
                  <a:srgbClr val="BF311A"/>
                </a:solidFill>
                <a:latin typeface="Lucida Sans Typewriter"/>
                <a:cs typeface="Lucida Sans Typewriter"/>
              </a:rPr>
              <a:t>2</a:t>
            </a:r>
            <a:endParaRPr sz="650">
              <a:latin typeface="Lucida Sans Typewriter"/>
              <a:cs typeface="Lucida Sans Typewriter"/>
            </a:endParaRPr>
          </a:p>
          <a:p>
            <a:pPr marL="12700">
              <a:lnSpc>
                <a:spcPct val="100000"/>
              </a:lnSpc>
              <a:spcBef>
                <a:spcPts val="355"/>
              </a:spcBef>
            </a:pPr>
            <a:r>
              <a:rPr dirty="0" sz="650" spc="5">
                <a:solidFill>
                  <a:srgbClr val="BF311A"/>
                </a:solidFill>
                <a:latin typeface="Lucida Sans Typewriter"/>
                <a:cs typeface="Lucida Sans Typewriter"/>
              </a:rPr>
              <a:t>3</a:t>
            </a:r>
            <a:endParaRPr sz="650">
              <a:latin typeface="Lucida Sans Typewriter"/>
              <a:cs typeface="Lucida Sans Typewriter"/>
            </a:endParaRPr>
          </a:p>
          <a:p>
            <a:pPr marL="12700">
              <a:lnSpc>
                <a:spcPct val="100000"/>
              </a:lnSpc>
              <a:spcBef>
                <a:spcPts val="350"/>
              </a:spcBef>
            </a:pPr>
            <a:r>
              <a:rPr dirty="0" sz="650" spc="5">
                <a:solidFill>
                  <a:srgbClr val="BF311A"/>
                </a:solidFill>
                <a:latin typeface="Lucida Sans Typewriter"/>
                <a:cs typeface="Lucida Sans Typewriter"/>
              </a:rPr>
              <a:t>4</a:t>
            </a:r>
            <a:endParaRPr sz="650">
              <a:latin typeface="Lucida Sans Typewriter"/>
              <a:cs typeface="Lucida Sans Typewriter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11199304" y="2811404"/>
            <a:ext cx="285750" cy="144145"/>
          </a:xfrm>
          <a:custGeom>
            <a:avLst/>
            <a:gdLst/>
            <a:ahLst/>
            <a:cxnLst/>
            <a:rect l="l" t="t" r="r" b="b"/>
            <a:pathLst>
              <a:path w="285750" h="144144">
                <a:moveTo>
                  <a:pt x="285322" y="0"/>
                </a:moveTo>
                <a:lnTo>
                  <a:pt x="0" y="0"/>
                </a:lnTo>
                <a:lnTo>
                  <a:pt x="0" y="143564"/>
                </a:lnTo>
                <a:lnTo>
                  <a:pt x="285322" y="143564"/>
                </a:lnTo>
                <a:lnTo>
                  <a:pt x="28532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11199304" y="2811404"/>
            <a:ext cx="142240" cy="144145"/>
          </a:xfrm>
          <a:prstGeom prst="rect">
            <a:avLst/>
          </a:prstGeom>
          <a:solidFill>
            <a:srgbClr val="FFFFFF"/>
          </a:solidFill>
          <a:ln w="5985">
            <a:solidFill>
              <a:srgbClr val="231F20"/>
            </a:solidFill>
          </a:ln>
        </p:spPr>
        <p:txBody>
          <a:bodyPr wrap="square" lIns="0" tIns="12065" rIns="0" bIns="0" rtlCol="0" vert="horz">
            <a:spAutoFit/>
          </a:bodyPr>
          <a:lstStyle/>
          <a:p>
            <a:pPr marL="43815">
              <a:lnSpc>
                <a:spcPct val="100000"/>
              </a:lnSpc>
              <a:spcBef>
                <a:spcPts val="95"/>
              </a:spcBef>
            </a:pPr>
            <a:r>
              <a:rPr dirty="0" sz="750" spc="-15">
                <a:solidFill>
                  <a:srgbClr val="231F20"/>
                </a:solidFill>
                <a:latin typeface="Lucida Sans Typewriter"/>
                <a:cs typeface="Lucida Sans Typewriter"/>
              </a:rPr>
              <a:t>S</a:t>
            </a:r>
            <a:endParaRPr sz="750">
              <a:latin typeface="Lucida Sans Typewriter"/>
              <a:cs typeface="Lucida Sans Typewriter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1340971" y="2811404"/>
            <a:ext cx="144145" cy="144145"/>
          </a:xfrm>
          <a:prstGeom prst="rect">
            <a:avLst/>
          </a:prstGeom>
          <a:solidFill>
            <a:srgbClr val="FFFFFF"/>
          </a:solidFill>
          <a:ln w="5982">
            <a:solidFill>
              <a:srgbClr val="231F20"/>
            </a:solidFill>
          </a:ln>
        </p:spPr>
        <p:txBody>
          <a:bodyPr wrap="square" lIns="0" tIns="12065" rIns="0" bIns="0" rtlCol="0" vert="horz">
            <a:spAutoFit/>
          </a:bodyPr>
          <a:lstStyle/>
          <a:p>
            <a:pPr marL="45720">
              <a:lnSpc>
                <a:spcPct val="100000"/>
              </a:lnSpc>
              <a:spcBef>
                <a:spcPts val="95"/>
              </a:spcBef>
            </a:pPr>
            <a:r>
              <a:rPr dirty="0" sz="750" spc="-15">
                <a:solidFill>
                  <a:srgbClr val="BBBDC0"/>
                </a:solidFill>
                <a:latin typeface="Lucida Sans Typewriter"/>
                <a:cs typeface="Lucida Sans Typewriter"/>
              </a:rPr>
              <a:t>0</a:t>
            </a:r>
            <a:endParaRPr sz="750">
              <a:latin typeface="Lucida Sans Typewriter"/>
              <a:cs typeface="Lucida Sans Typewriter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10766352" y="2811404"/>
            <a:ext cx="428625" cy="144145"/>
            <a:chOff x="10766352" y="2811404"/>
            <a:chExt cx="428625" cy="144145"/>
          </a:xfrm>
        </p:grpSpPr>
        <p:sp>
          <p:nvSpPr>
            <p:cNvPr id="27" name="object 27"/>
            <p:cNvSpPr/>
            <p:nvPr/>
          </p:nvSpPr>
          <p:spPr>
            <a:xfrm>
              <a:off x="11051673" y="2883185"/>
              <a:ext cx="107950" cy="0"/>
            </a:xfrm>
            <a:custGeom>
              <a:avLst/>
              <a:gdLst/>
              <a:ahLst/>
              <a:cxnLst/>
              <a:rect l="l" t="t" r="r" b="b"/>
              <a:pathLst>
                <a:path w="107950" h="0">
                  <a:moveTo>
                    <a:pt x="107741" y="0"/>
                  </a:moveTo>
                  <a:lnTo>
                    <a:pt x="0" y="0"/>
                  </a:lnTo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11146727" y="2868633"/>
              <a:ext cx="48260" cy="29209"/>
            </a:xfrm>
            <a:custGeom>
              <a:avLst/>
              <a:gdLst/>
              <a:ahLst/>
              <a:cxnLst/>
              <a:rect l="l" t="t" r="r" b="b"/>
              <a:pathLst>
                <a:path w="48259" h="29210">
                  <a:moveTo>
                    <a:pt x="490" y="0"/>
                  </a:moveTo>
                  <a:lnTo>
                    <a:pt x="0" y="322"/>
                  </a:lnTo>
                  <a:lnTo>
                    <a:pt x="8655" y="14547"/>
                  </a:lnTo>
                  <a:lnTo>
                    <a:pt x="0" y="28856"/>
                  </a:lnTo>
                  <a:lnTo>
                    <a:pt x="490" y="29095"/>
                  </a:lnTo>
                  <a:lnTo>
                    <a:pt x="23703" y="19883"/>
                  </a:lnTo>
                  <a:lnTo>
                    <a:pt x="47956" y="14547"/>
                  </a:lnTo>
                  <a:lnTo>
                    <a:pt x="23703" y="9211"/>
                  </a:lnTo>
                  <a:lnTo>
                    <a:pt x="490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11051674" y="2883181"/>
              <a:ext cx="107950" cy="0"/>
            </a:xfrm>
            <a:custGeom>
              <a:avLst/>
              <a:gdLst/>
              <a:ahLst/>
              <a:cxnLst/>
              <a:rect l="l" t="t" r="r" b="b"/>
              <a:pathLst>
                <a:path w="107950" h="0">
                  <a:moveTo>
                    <a:pt x="0" y="0"/>
                  </a:moveTo>
                  <a:lnTo>
                    <a:pt x="107741" y="0"/>
                  </a:lnTo>
                </a:path>
              </a:pathLst>
            </a:custGeom>
            <a:ln w="8972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11149900" y="2872270"/>
              <a:ext cx="36195" cy="22225"/>
            </a:xfrm>
            <a:custGeom>
              <a:avLst/>
              <a:gdLst/>
              <a:ahLst/>
              <a:cxnLst/>
              <a:rect l="l" t="t" r="r" b="b"/>
              <a:pathLst>
                <a:path w="36195" h="22225">
                  <a:moveTo>
                    <a:pt x="358" y="0"/>
                  </a:moveTo>
                  <a:lnTo>
                    <a:pt x="0" y="239"/>
                  </a:lnTo>
                  <a:lnTo>
                    <a:pt x="6488" y="10910"/>
                  </a:lnTo>
                  <a:lnTo>
                    <a:pt x="0" y="21630"/>
                  </a:lnTo>
                  <a:lnTo>
                    <a:pt x="358" y="21821"/>
                  </a:lnTo>
                  <a:lnTo>
                    <a:pt x="17765" y="14906"/>
                  </a:lnTo>
                  <a:lnTo>
                    <a:pt x="35973" y="10910"/>
                  </a:lnTo>
                  <a:lnTo>
                    <a:pt x="17765" y="6915"/>
                  </a:lnTo>
                  <a:lnTo>
                    <a:pt x="358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10766352" y="2811404"/>
              <a:ext cx="285750" cy="144145"/>
            </a:xfrm>
            <a:custGeom>
              <a:avLst/>
              <a:gdLst/>
              <a:ahLst/>
              <a:cxnLst/>
              <a:rect l="l" t="t" r="r" b="b"/>
              <a:pathLst>
                <a:path w="285750" h="144144">
                  <a:moveTo>
                    <a:pt x="285322" y="0"/>
                  </a:moveTo>
                  <a:lnTo>
                    <a:pt x="0" y="0"/>
                  </a:lnTo>
                  <a:lnTo>
                    <a:pt x="0" y="143564"/>
                  </a:lnTo>
                  <a:lnTo>
                    <a:pt x="285322" y="143564"/>
                  </a:lnTo>
                  <a:lnTo>
                    <a:pt x="28532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" name="object 32"/>
          <p:cNvSpPr txBox="1"/>
          <p:nvPr/>
        </p:nvSpPr>
        <p:spPr>
          <a:xfrm>
            <a:off x="10766352" y="2811404"/>
            <a:ext cx="142240" cy="144145"/>
          </a:xfrm>
          <a:prstGeom prst="rect">
            <a:avLst/>
          </a:prstGeom>
          <a:solidFill>
            <a:srgbClr val="FFFFFF"/>
          </a:solidFill>
          <a:ln w="5985">
            <a:solidFill>
              <a:srgbClr val="231F20"/>
            </a:solidFill>
          </a:ln>
        </p:spPr>
        <p:txBody>
          <a:bodyPr wrap="square" lIns="0" tIns="12065" rIns="0" bIns="0" rtlCol="0" vert="horz">
            <a:spAutoFit/>
          </a:bodyPr>
          <a:lstStyle/>
          <a:p>
            <a:pPr marL="43815">
              <a:lnSpc>
                <a:spcPct val="100000"/>
              </a:lnSpc>
              <a:spcBef>
                <a:spcPts val="95"/>
              </a:spcBef>
            </a:pPr>
            <a:r>
              <a:rPr dirty="0" sz="750" spc="-15">
                <a:solidFill>
                  <a:srgbClr val="231F20"/>
                </a:solidFill>
                <a:latin typeface="Lucida Sans Typewriter"/>
                <a:cs typeface="Lucida Sans Typewriter"/>
              </a:rPr>
              <a:t>X</a:t>
            </a:r>
            <a:endParaRPr sz="750">
              <a:latin typeface="Lucida Sans Typewriter"/>
              <a:cs typeface="Lucida Sans Typewriter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0908019" y="2811404"/>
            <a:ext cx="144145" cy="144145"/>
          </a:xfrm>
          <a:prstGeom prst="rect">
            <a:avLst/>
          </a:prstGeom>
          <a:solidFill>
            <a:srgbClr val="FFFFFF"/>
          </a:solidFill>
          <a:ln w="5982">
            <a:solidFill>
              <a:srgbClr val="231F20"/>
            </a:solidFill>
          </a:ln>
        </p:spPr>
        <p:txBody>
          <a:bodyPr wrap="square" lIns="0" tIns="12065" rIns="0" bIns="0" rtlCol="0" vert="horz">
            <a:spAutoFit/>
          </a:bodyPr>
          <a:lstStyle/>
          <a:p>
            <a:pPr marL="45720">
              <a:lnSpc>
                <a:spcPct val="100000"/>
              </a:lnSpc>
              <a:spcBef>
                <a:spcPts val="95"/>
              </a:spcBef>
            </a:pPr>
            <a:r>
              <a:rPr dirty="0" sz="750" spc="-15">
                <a:solidFill>
                  <a:srgbClr val="BBBDC0"/>
                </a:solidFill>
                <a:latin typeface="Lucida Sans Typewriter"/>
                <a:cs typeface="Lucida Sans Typewriter"/>
              </a:rPr>
              <a:t>7</a:t>
            </a:r>
            <a:endParaRPr sz="750">
              <a:latin typeface="Lucida Sans Typewriter"/>
              <a:cs typeface="Lucida Sans Typewriter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11199304" y="2027783"/>
            <a:ext cx="285750" cy="144145"/>
          </a:xfrm>
          <a:custGeom>
            <a:avLst/>
            <a:gdLst/>
            <a:ahLst/>
            <a:cxnLst/>
            <a:rect l="l" t="t" r="r" b="b"/>
            <a:pathLst>
              <a:path w="285750" h="144144">
                <a:moveTo>
                  <a:pt x="285322" y="0"/>
                </a:moveTo>
                <a:lnTo>
                  <a:pt x="0" y="0"/>
                </a:lnTo>
                <a:lnTo>
                  <a:pt x="0" y="143564"/>
                </a:lnTo>
                <a:lnTo>
                  <a:pt x="285322" y="143564"/>
                </a:lnTo>
                <a:lnTo>
                  <a:pt x="28532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 txBox="1"/>
          <p:nvPr/>
        </p:nvSpPr>
        <p:spPr>
          <a:xfrm>
            <a:off x="11199304" y="2027783"/>
            <a:ext cx="142240" cy="144145"/>
          </a:xfrm>
          <a:prstGeom prst="rect">
            <a:avLst/>
          </a:prstGeom>
          <a:solidFill>
            <a:srgbClr val="FFFFFF"/>
          </a:solidFill>
          <a:ln w="5985">
            <a:solidFill>
              <a:srgbClr val="231F20"/>
            </a:solidFill>
          </a:ln>
        </p:spPr>
        <p:txBody>
          <a:bodyPr wrap="square" lIns="0" tIns="12065" rIns="0" bIns="0" rtlCol="0" vert="horz">
            <a:spAutoFit/>
          </a:bodyPr>
          <a:lstStyle/>
          <a:p>
            <a:pPr marL="43815">
              <a:lnSpc>
                <a:spcPct val="100000"/>
              </a:lnSpc>
              <a:spcBef>
                <a:spcPts val="95"/>
              </a:spcBef>
            </a:pPr>
            <a:r>
              <a:rPr dirty="0" sz="750" spc="-15">
                <a:solidFill>
                  <a:srgbClr val="231F20"/>
                </a:solidFill>
                <a:latin typeface="Lucida Sans Typewriter"/>
                <a:cs typeface="Lucida Sans Typewriter"/>
              </a:rPr>
              <a:t>E</a:t>
            </a:r>
            <a:endParaRPr sz="750">
              <a:latin typeface="Lucida Sans Typewriter"/>
              <a:cs typeface="Lucida Sans Typewriter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1340971" y="2027783"/>
            <a:ext cx="144145" cy="144145"/>
          </a:xfrm>
          <a:prstGeom prst="rect">
            <a:avLst/>
          </a:prstGeom>
          <a:solidFill>
            <a:srgbClr val="FFFFFF"/>
          </a:solidFill>
          <a:ln w="5982">
            <a:solidFill>
              <a:srgbClr val="231F20"/>
            </a:solidFill>
          </a:ln>
        </p:spPr>
        <p:txBody>
          <a:bodyPr wrap="square" lIns="0" tIns="12065" rIns="0" bIns="0" rtlCol="0" vert="horz">
            <a:spAutoFit/>
          </a:bodyPr>
          <a:lstStyle/>
          <a:p>
            <a:pPr marL="17780">
              <a:lnSpc>
                <a:spcPct val="100000"/>
              </a:lnSpc>
              <a:spcBef>
                <a:spcPts val="95"/>
              </a:spcBef>
            </a:pPr>
            <a:r>
              <a:rPr dirty="0" sz="750" spc="-15">
                <a:solidFill>
                  <a:srgbClr val="BBBDC0"/>
                </a:solidFill>
                <a:latin typeface="Lucida Sans Typewriter"/>
                <a:cs typeface="Lucida Sans Typewriter"/>
              </a:rPr>
              <a:t>12</a:t>
            </a:r>
            <a:endParaRPr sz="750">
              <a:latin typeface="Lucida Sans Typewriter"/>
              <a:cs typeface="Lucida Sans Typewriter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9954639" y="2027783"/>
            <a:ext cx="1240155" cy="1680845"/>
            <a:chOff x="9954639" y="2027783"/>
            <a:chExt cx="1240155" cy="1680845"/>
          </a:xfrm>
        </p:grpSpPr>
        <p:sp>
          <p:nvSpPr>
            <p:cNvPr id="38" name="object 38"/>
            <p:cNvSpPr/>
            <p:nvPr/>
          </p:nvSpPr>
          <p:spPr>
            <a:xfrm>
              <a:off x="11051673" y="2099561"/>
              <a:ext cx="107950" cy="0"/>
            </a:xfrm>
            <a:custGeom>
              <a:avLst/>
              <a:gdLst/>
              <a:ahLst/>
              <a:cxnLst/>
              <a:rect l="l" t="t" r="r" b="b"/>
              <a:pathLst>
                <a:path w="107950" h="0">
                  <a:moveTo>
                    <a:pt x="107741" y="0"/>
                  </a:moveTo>
                  <a:lnTo>
                    <a:pt x="0" y="0"/>
                  </a:lnTo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11146728" y="2085011"/>
              <a:ext cx="48260" cy="29209"/>
            </a:xfrm>
            <a:custGeom>
              <a:avLst/>
              <a:gdLst/>
              <a:ahLst/>
              <a:cxnLst/>
              <a:rect l="l" t="t" r="r" b="b"/>
              <a:pathLst>
                <a:path w="48259" h="29210">
                  <a:moveTo>
                    <a:pt x="490" y="0"/>
                  </a:moveTo>
                  <a:lnTo>
                    <a:pt x="0" y="322"/>
                  </a:lnTo>
                  <a:lnTo>
                    <a:pt x="8655" y="14547"/>
                  </a:lnTo>
                  <a:lnTo>
                    <a:pt x="0" y="28855"/>
                  </a:lnTo>
                  <a:lnTo>
                    <a:pt x="490" y="29095"/>
                  </a:lnTo>
                  <a:lnTo>
                    <a:pt x="23703" y="19883"/>
                  </a:lnTo>
                  <a:lnTo>
                    <a:pt x="47956" y="14547"/>
                  </a:lnTo>
                  <a:lnTo>
                    <a:pt x="23703" y="9211"/>
                  </a:lnTo>
                  <a:lnTo>
                    <a:pt x="490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11051674" y="2099559"/>
              <a:ext cx="107950" cy="0"/>
            </a:xfrm>
            <a:custGeom>
              <a:avLst/>
              <a:gdLst/>
              <a:ahLst/>
              <a:cxnLst/>
              <a:rect l="l" t="t" r="r" b="b"/>
              <a:pathLst>
                <a:path w="107950" h="0">
                  <a:moveTo>
                    <a:pt x="0" y="0"/>
                  </a:moveTo>
                  <a:lnTo>
                    <a:pt x="107741" y="0"/>
                  </a:lnTo>
                </a:path>
              </a:pathLst>
            </a:custGeom>
            <a:ln w="8972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10709834" y="2088654"/>
              <a:ext cx="476250" cy="42545"/>
            </a:xfrm>
            <a:custGeom>
              <a:avLst/>
              <a:gdLst/>
              <a:ahLst/>
              <a:cxnLst/>
              <a:rect l="l" t="t" r="r" b="b"/>
              <a:pathLst>
                <a:path w="476250" h="42544">
                  <a:moveTo>
                    <a:pt x="46469" y="1041"/>
                  </a:moveTo>
                  <a:lnTo>
                    <a:pt x="24104" y="11874"/>
                  </a:lnTo>
                  <a:lnTo>
                    <a:pt x="177" y="18999"/>
                  </a:lnTo>
                  <a:lnTo>
                    <a:pt x="0" y="19558"/>
                  </a:lnTo>
                  <a:lnTo>
                    <a:pt x="15608" y="25374"/>
                  </a:lnTo>
                  <a:lnTo>
                    <a:pt x="17678" y="41960"/>
                  </a:lnTo>
                  <a:lnTo>
                    <a:pt x="18211" y="41846"/>
                  </a:lnTo>
                  <a:lnTo>
                    <a:pt x="30721" y="20243"/>
                  </a:lnTo>
                  <a:lnTo>
                    <a:pt x="46469" y="1041"/>
                  </a:lnTo>
                  <a:close/>
                </a:path>
                <a:path w="476250" h="42544">
                  <a:moveTo>
                    <a:pt x="476034" y="10909"/>
                  </a:moveTo>
                  <a:lnTo>
                    <a:pt x="457822" y="6921"/>
                  </a:lnTo>
                  <a:lnTo>
                    <a:pt x="440423" y="0"/>
                  </a:lnTo>
                  <a:lnTo>
                    <a:pt x="440055" y="241"/>
                  </a:lnTo>
                  <a:lnTo>
                    <a:pt x="446544" y="10909"/>
                  </a:lnTo>
                  <a:lnTo>
                    <a:pt x="440055" y="21628"/>
                  </a:lnTo>
                  <a:lnTo>
                    <a:pt x="440423" y="21818"/>
                  </a:lnTo>
                  <a:lnTo>
                    <a:pt x="457822" y="14909"/>
                  </a:lnTo>
                  <a:lnTo>
                    <a:pt x="476034" y="10909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10076667" y="2111522"/>
              <a:ext cx="652145" cy="514350"/>
            </a:xfrm>
            <a:custGeom>
              <a:avLst/>
              <a:gdLst/>
              <a:ahLst/>
              <a:cxnLst/>
              <a:rect l="l" t="t" r="r" b="b"/>
              <a:pathLst>
                <a:path w="652145" h="514350">
                  <a:moveTo>
                    <a:pt x="0" y="513995"/>
                  </a:moveTo>
                  <a:lnTo>
                    <a:pt x="651941" y="0"/>
                  </a:lnTo>
                </a:path>
              </a:pathLst>
            </a:custGeom>
            <a:ln w="8974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10712056" y="2095156"/>
              <a:ext cx="50165" cy="440055"/>
            </a:xfrm>
            <a:custGeom>
              <a:avLst/>
              <a:gdLst/>
              <a:ahLst/>
              <a:cxnLst/>
              <a:rect l="l" t="t" r="r" b="b"/>
              <a:pathLst>
                <a:path w="50165" h="440055">
                  <a:moveTo>
                    <a:pt x="37325" y="0"/>
                  </a:moveTo>
                  <a:lnTo>
                    <a:pt x="20561" y="8128"/>
                  </a:lnTo>
                  <a:lnTo>
                    <a:pt x="2603" y="13474"/>
                  </a:lnTo>
                  <a:lnTo>
                    <a:pt x="2476" y="13893"/>
                  </a:lnTo>
                  <a:lnTo>
                    <a:pt x="14173" y="18237"/>
                  </a:lnTo>
                  <a:lnTo>
                    <a:pt x="15735" y="30683"/>
                  </a:lnTo>
                  <a:lnTo>
                    <a:pt x="16129" y="30607"/>
                  </a:lnTo>
                  <a:lnTo>
                    <a:pt x="25514" y="14401"/>
                  </a:lnTo>
                  <a:lnTo>
                    <a:pt x="37325" y="0"/>
                  </a:lnTo>
                  <a:close/>
                </a:path>
                <a:path w="50165" h="440055">
                  <a:moveTo>
                    <a:pt x="49999" y="410718"/>
                  </a:moveTo>
                  <a:lnTo>
                    <a:pt x="25298" y="413359"/>
                  </a:lnTo>
                  <a:lnTo>
                    <a:pt x="368" y="411988"/>
                  </a:lnTo>
                  <a:lnTo>
                    <a:pt x="0" y="412457"/>
                  </a:lnTo>
                  <a:lnTo>
                    <a:pt x="12725" y="423189"/>
                  </a:lnTo>
                  <a:lnTo>
                    <a:pt x="9080" y="439496"/>
                  </a:lnTo>
                  <a:lnTo>
                    <a:pt x="9613" y="439585"/>
                  </a:lnTo>
                  <a:lnTo>
                    <a:pt x="28689" y="423468"/>
                  </a:lnTo>
                  <a:lnTo>
                    <a:pt x="49999" y="410718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9972462" y="2517063"/>
              <a:ext cx="756285" cy="254000"/>
            </a:xfrm>
            <a:custGeom>
              <a:avLst/>
              <a:gdLst/>
              <a:ahLst/>
              <a:cxnLst/>
              <a:rect l="l" t="t" r="r" b="b"/>
              <a:pathLst>
                <a:path w="756284" h="254000">
                  <a:moveTo>
                    <a:pt x="0" y="253402"/>
                  </a:moveTo>
                  <a:lnTo>
                    <a:pt x="756151" y="0"/>
                  </a:lnTo>
                </a:path>
              </a:pathLst>
            </a:custGeom>
            <a:ln w="8973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/>
            <p:cNvSpPr/>
            <p:nvPr/>
          </p:nvSpPr>
          <p:spPr>
            <a:xfrm>
              <a:off x="10709720" y="2508655"/>
              <a:ext cx="46355" cy="1199515"/>
            </a:xfrm>
            <a:custGeom>
              <a:avLst/>
              <a:gdLst/>
              <a:ahLst/>
              <a:cxnLst/>
              <a:rect l="l" t="t" r="r" b="b"/>
              <a:pathLst>
                <a:path w="46354" h="1199514">
                  <a:moveTo>
                    <a:pt x="43967" y="0"/>
                  </a:moveTo>
                  <a:lnTo>
                    <a:pt x="25450" y="2006"/>
                  </a:lnTo>
                  <a:lnTo>
                    <a:pt x="6743" y="977"/>
                  </a:lnTo>
                  <a:lnTo>
                    <a:pt x="6477" y="1320"/>
                  </a:lnTo>
                  <a:lnTo>
                    <a:pt x="16027" y="9372"/>
                  </a:lnTo>
                  <a:lnTo>
                    <a:pt x="13284" y="21615"/>
                  </a:lnTo>
                  <a:lnTo>
                    <a:pt x="13690" y="21653"/>
                  </a:lnTo>
                  <a:lnTo>
                    <a:pt x="27990" y="9588"/>
                  </a:lnTo>
                  <a:lnTo>
                    <a:pt x="43967" y="0"/>
                  </a:lnTo>
                  <a:close/>
                </a:path>
                <a:path w="46354" h="1199514">
                  <a:moveTo>
                    <a:pt x="46139" y="1199464"/>
                  </a:moveTo>
                  <a:lnTo>
                    <a:pt x="30772" y="1179957"/>
                  </a:lnTo>
                  <a:lnTo>
                    <a:pt x="18681" y="1158125"/>
                  </a:lnTo>
                  <a:lnTo>
                    <a:pt x="18110" y="1158049"/>
                  </a:lnTo>
                  <a:lnTo>
                    <a:pt x="15760" y="1174534"/>
                  </a:lnTo>
                  <a:lnTo>
                    <a:pt x="0" y="1180109"/>
                  </a:lnTo>
                  <a:lnTo>
                    <a:pt x="215" y="1180604"/>
                  </a:lnTo>
                  <a:lnTo>
                    <a:pt x="24003" y="1188199"/>
                  </a:lnTo>
                  <a:lnTo>
                    <a:pt x="46139" y="1199464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/>
            <p:cNvSpPr/>
            <p:nvPr/>
          </p:nvSpPr>
          <p:spPr>
            <a:xfrm>
              <a:off x="10078480" y="3152381"/>
              <a:ext cx="650240" cy="533400"/>
            </a:xfrm>
            <a:custGeom>
              <a:avLst/>
              <a:gdLst/>
              <a:ahLst/>
              <a:cxnLst/>
              <a:rect l="l" t="t" r="r" b="b"/>
              <a:pathLst>
                <a:path w="650240" h="533400">
                  <a:moveTo>
                    <a:pt x="0" y="0"/>
                  </a:moveTo>
                  <a:lnTo>
                    <a:pt x="650122" y="533364"/>
                  </a:lnTo>
                </a:path>
              </a:pathLst>
            </a:custGeom>
            <a:ln w="8975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/>
            <p:cNvSpPr/>
            <p:nvPr/>
          </p:nvSpPr>
          <p:spPr>
            <a:xfrm>
              <a:off x="10711269" y="3284714"/>
              <a:ext cx="50165" cy="417830"/>
            </a:xfrm>
            <a:custGeom>
              <a:avLst/>
              <a:gdLst/>
              <a:ahLst/>
              <a:cxnLst/>
              <a:rect l="l" t="t" r="r" b="b"/>
              <a:pathLst>
                <a:path w="50165" h="417829">
                  <a:moveTo>
                    <a:pt x="37769" y="417817"/>
                  </a:moveTo>
                  <a:lnTo>
                    <a:pt x="26238" y="403186"/>
                  </a:lnTo>
                  <a:lnTo>
                    <a:pt x="17183" y="386816"/>
                  </a:lnTo>
                  <a:lnTo>
                    <a:pt x="16751" y="386765"/>
                  </a:lnTo>
                  <a:lnTo>
                    <a:pt x="14986" y="399122"/>
                  </a:lnTo>
                  <a:lnTo>
                    <a:pt x="3162" y="403301"/>
                  </a:lnTo>
                  <a:lnTo>
                    <a:pt x="3327" y="403669"/>
                  </a:lnTo>
                  <a:lnTo>
                    <a:pt x="21170" y="409359"/>
                  </a:lnTo>
                  <a:lnTo>
                    <a:pt x="37769" y="417817"/>
                  </a:lnTo>
                  <a:close/>
                </a:path>
                <a:path w="50165" h="417829">
                  <a:moveTo>
                    <a:pt x="49682" y="32245"/>
                  </a:moveTo>
                  <a:lnTo>
                    <a:pt x="29552" y="17691"/>
                  </a:lnTo>
                  <a:lnTo>
                    <a:pt x="11950" y="0"/>
                  </a:lnTo>
                  <a:lnTo>
                    <a:pt x="11366" y="101"/>
                  </a:lnTo>
                  <a:lnTo>
                    <a:pt x="13639" y="16598"/>
                  </a:lnTo>
                  <a:lnTo>
                    <a:pt x="0" y="26276"/>
                  </a:lnTo>
                  <a:lnTo>
                    <a:pt x="342" y="26682"/>
                  </a:lnTo>
                  <a:lnTo>
                    <a:pt x="25311" y="27470"/>
                  </a:lnTo>
                  <a:lnTo>
                    <a:pt x="49682" y="32245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/>
            <p:cNvSpPr/>
            <p:nvPr/>
          </p:nvSpPr>
          <p:spPr>
            <a:xfrm>
              <a:off x="10078467" y="3020769"/>
              <a:ext cx="650240" cy="282575"/>
            </a:xfrm>
            <a:custGeom>
              <a:avLst/>
              <a:gdLst/>
              <a:ahLst/>
              <a:cxnLst/>
              <a:rect l="l" t="t" r="r" b="b"/>
              <a:pathLst>
                <a:path w="650240" h="282575">
                  <a:moveTo>
                    <a:pt x="0" y="0"/>
                  </a:moveTo>
                  <a:lnTo>
                    <a:pt x="650145" y="282139"/>
                  </a:lnTo>
                </a:path>
              </a:pathLst>
            </a:custGeom>
            <a:ln w="8973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/>
            <p:cNvSpPr/>
            <p:nvPr/>
          </p:nvSpPr>
          <p:spPr>
            <a:xfrm>
              <a:off x="10102418" y="2874644"/>
              <a:ext cx="650875" cy="439420"/>
            </a:xfrm>
            <a:custGeom>
              <a:avLst/>
              <a:gdLst/>
              <a:ahLst/>
              <a:cxnLst/>
              <a:rect l="l" t="t" r="r" b="b"/>
              <a:pathLst>
                <a:path w="650875" h="439420">
                  <a:moveTo>
                    <a:pt x="649478" y="14541"/>
                  </a:moveTo>
                  <a:lnTo>
                    <a:pt x="625208" y="9207"/>
                  </a:lnTo>
                  <a:lnTo>
                    <a:pt x="602005" y="0"/>
                  </a:lnTo>
                  <a:lnTo>
                    <a:pt x="601522" y="317"/>
                  </a:lnTo>
                  <a:lnTo>
                    <a:pt x="610158" y="14528"/>
                  </a:lnTo>
                  <a:lnTo>
                    <a:pt x="0" y="14528"/>
                  </a:lnTo>
                  <a:lnTo>
                    <a:pt x="610171" y="14541"/>
                  </a:lnTo>
                  <a:lnTo>
                    <a:pt x="601522" y="28854"/>
                  </a:lnTo>
                  <a:lnTo>
                    <a:pt x="602005" y="29095"/>
                  </a:lnTo>
                  <a:lnTo>
                    <a:pt x="625208" y="19875"/>
                  </a:lnTo>
                  <a:lnTo>
                    <a:pt x="649478" y="14541"/>
                  </a:lnTo>
                  <a:close/>
                </a:path>
                <a:path w="650875" h="439420">
                  <a:moveTo>
                    <a:pt x="650455" y="438797"/>
                  </a:moveTo>
                  <a:lnTo>
                    <a:pt x="635355" y="427875"/>
                  </a:lnTo>
                  <a:lnTo>
                    <a:pt x="622134" y="414629"/>
                  </a:lnTo>
                  <a:lnTo>
                    <a:pt x="621703" y="414693"/>
                  </a:lnTo>
                  <a:lnTo>
                    <a:pt x="623404" y="427062"/>
                  </a:lnTo>
                  <a:lnTo>
                    <a:pt x="613181" y="434314"/>
                  </a:lnTo>
                  <a:lnTo>
                    <a:pt x="613435" y="434644"/>
                  </a:lnTo>
                  <a:lnTo>
                    <a:pt x="632155" y="435229"/>
                  </a:lnTo>
                  <a:lnTo>
                    <a:pt x="650455" y="438797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/>
            <p:cNvSpPr/>
            <p:nvPr/>
          </p:nvSpPr>
          <p:spPr>
            <a:xfrm>
              <a:off x="10102427" y="2889181"/>
              <a:ext cx="614680" cy="0"/>
            </a:xfrm>
            <a:custGeom>
              <a:avLst/>
              <a:gdLst/>
              <a:ahLst/>
              <a:cxnLst/>
              <a:rect l="l" t="t" r="r" b="b"/>
              <a:pathLst>
                <a:path w="614679" h="0">
                  <a:moveTo>
                    <a:pt x="0" y="0"/>
                  </a:moveTo>
                  <a:lnTo>
                    <a:pt x="614185" y="0"/>
                  </a:lnTo>
                </a:path>
              </a:pathLst>
            </a:custGeom>
            <a:ln w="8972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/>
            <p:cNvSpPr/>
            <p:nvPr/>
          </p:nvSpPr>
          <p:spPr>
            <a:xfrm>
              <a:off x="10707116" y="2878269"/>
              <a:ext cx="36195" cy="22225"/>
            </a:xfrm>
            <a:custGeom>
              <a:avLst/>
              <a:gdLst/>
              <a:ahLst/>
              <a:cxnLst/>
              <a:rect l="l" t="t" r="r" b="b"/>
              <a:pathLst>
                <a:path w="36195" h="22225">
                  <a:moveTo>
                    <a:pt x="358" y="0"/>
                  </a:moveTo>
                  <a:lnTo>
                    <a:pt x="0" y="239"/>
                  </a:lnTo>
                  <a:lnTo>
                    <a:pt x="6488" y="10910"/>
                  </a:lnTo>
                  <a:lnTo>
                    <a:pt x="0" y="21630"/>
                  </a:lnTo>
                  <a:lnTo>
                    <a:pt x="358" y="21821"/>
                  </a:lnTo>
                  <a:lnTo>
                    <a:pt x="17765" y="14906"/>
                  </a:lnTo>
                  <a:lnTo>
                    <a:pt x="35961" y="10910"/>
                  </a:lnTo>
                  <a:lnTo>
                    <a:pt x="17765" y="6915"/>
                  </a:lnTo>
                  <a:lnTo>
                    <a:pt x="358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/>
            <p:cNvSpPr/>
            <p:nvPr/>
          </p:nvSpPr>
          <p:spPr>
            <a:xfrm>
              <a:off x="9957803" y="2027795"/>
              <a:ext cx="1094105" cy="646430"/>
            </a:xfrm>
            <a:custGeom>
              <a:avLst/>
              <a:gdLst/>
              <a:ahLst/>
              <a:cxnLst/>
              <a:rect l="l" t="t" r="r" b="b"/>
              <a:pathLst>
                <a:path w="1094104" h="646430">
                  <a:moveTo>
                    <a:pt x="144614" y="502475"/>
                  </a:moveTo>
                  <a:lnTo>
                    <a:pt x="0" y="502475"/>
                  </a:lnTo>
                  <a:lnTo>
                    <a:pt x="0" y="646049"/>
                  </a:lnTo>
                  <a:lnTo>
                    <a:pt x="144614" y="646049"/>
                  </a:lnTo>
                  <a:lnTo>
                    <a:pt x="144614" y="502475"/>
                  </a:lnTo>
                  <a:close/>
                </a:path>
                <a:path w="1094104" h="646430">
                  <a:moveTo>
                    <a:pt x="1093863" y="0"/>
                  </a:moveTo>
                  <a:lnTo>
                    <a:pt x="808545" y="0"/>
                  </a:lnTo>
                  <a:lnTo>
                    <a:pt x="808545" y="143560"/>
                  </a:lnTo>
                  <a:lnTo>
                    <a:pt x="1093863" y="143560"/>
                  </a:lnTo>
                  <a:lnTo>
                    <a:pt x="109386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/>
            <p:cNvSpPr/>
            <p:nvPr/>
          </p:nvSpPr>
          <p:spPr>
            <a:xfrm>
              <a:off x="9957814" y="2530270"/>
              <a:ext cx="144780" cy="144145"/>
            </a:xfrm>
            <a:custGeom>
              <a:avLst/>
              <a:gdLst/>
              <a:ahLst/>
              <a:cxnLst/>
              <a:rect l="l" t="t" r="r" b="b"/>
              <a:pathLst>
                <a:path w="144779" h="144144">
                  <a:moveTo>
                    <a:pt x="144612" y="143564"/>
                  </a:moveTo>
                  <a:lnTo>
                    <a:pt x="0" y="143564"/>
                  </a:lnTo>
                  <a:lnTo>
                    <a:pt x="0" y="0"/>
                  </a:lnTo>
                  <a:lnTo>
                    <a:pt x="144612" y="0"/>
                  </a:lnTo>
                  <a:lnTo>
                    <a:pt x="144612" y="143564"/>
                  </a:lnTo>
                  <a:close/>
                </a:path>
              </a:pathLst>
            </a:custGeom>
            <a:ln w="5983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/>
            <p:cNvSpPr/>
            <p:nvPr/>
          </p:nvSpPr>
          <p:spPr>
            <a:xfrm>
              <a:off x="9957814" y="2673834"/>
              <a:ext cx="144780" cy="144145"/>
            </a:xfrm>
            <a:custGeom>
              <a:avLst/>
              <a:gdLst/>
              <a:ahLst/>
              <a:cxnLst/>
              <a:rect l="l" t="t" r="r" b="b"/>
              <a:pathLst>
                <a:path w="144779" h="144144">
                  <a:moveTo>
                    <a:pt x="144612" y="0"/>
                  </a:moveTo>
                  <a:lnTo>
                    <a:pt x="0" y="0"/>
                  </a:lnTo>
                  <a:lnTo>
                    <a:pt x="0" y="143564"/>
                  </a:lnTo>
                  <a:lnTo>
                    <a:pt x="144612" y="143564"/>
                  </a:lnTo>
                  <a:lnTo>
                    <a:pt x="14461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/>
            <p:cNvSpPr/>
            <p:nvPr/>
          </p:nvSpPr>
          <p:spPr>
            <a:xfrm>
              <a:off x="9957814" y="2673834"/>
              <a:ext cx="144780" cy="144145"/>
            </a:xfrm>
            <a:custGeom>
              <a:avLst/>
              <a:gdLst/>
              <a:ahLst/>
              <a:cxnLst/>
              <a:rect l="l" t="t" r="r" b="b"/>
              <a:pathLst>
                <a:path w="144779" h="144144">
                  <a:moveTo>
                    <a:pt x="144612" y="143564"/>
                  </a:moveTo>
                  <a:lnTo>
                    <a:pt x="0" y="143564"/>
                  </a:lnTo>
                  <a:lnTo>
                    <a:pt x="0" y="0"/>
                  </a:lnTo>
                  <a:lnTo>
                    <a:pt x="144612" y="0"/>
                  </a:lnTo>
                  <a:lnTo>
                    <a:pt x="144612" y="143564"/>
                  </a:lnTo>
                  <a:close/>
                </a:path>
              </a:pathLst>
            </a:custGeom>
            <a:ln w="5983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/>
            <p:cNvSpPr/>
            <p:nvPr/>
          </p:nvSpPr>
          <p:spPr>
            <a:xfrm>
              <a:off x="9957814" y="2817398"/>
              <a:ext cx="144780" cy="144145"/>
            </a:xfrm>
            <a:custGeom>
              <a:avLst/>
              <a:gdLst/>
              <a:ahLst/>
              <a:cxnLst/>
              <a:rect l="l" t="t" r="r" b="b"/>
              <a:pathLst>
                <a:path w="144779" h="144144">
                  <a:moveTo>
                    <a:pt x="144612" y="0"/>
                  </a:moveTo>
                  <a:lnTo>
                    <a:pt x="0" y="0"/>
                  </a:lnTo>
                  <a:lnTo>
                    <a:pt x="0" y="143564"/>
                  </a:lnTo>
                  <a:lnTo>
                    <a:pt x="144612" y="143564"/>
                  </a:lnTo>
                  <a:lnTo>
                    <a:pt x="14461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/>
            <p:cNvSpPr/>
            <p:nvPr/>
          </p:nvSpPr>
          <p:spPr>
            <a:xfrm>
              <a:off x="9957814" y="2817398"/>
              <a:ext cx="144780" cy="144145"/>
            </a:xfrm>
            <a:custGeom>
              <a:avLst/>
              <a:gdLst/>
              <a:ahLst/>
              <a:cxnLst/>
              <a:rect l="l" t="t" r="r" b="b"/>
              <a:pathLst>
                <a:path w="144779" h="144144">
                  <a:moveTo>
                    <a:pt x="144612" y="143564"/>
                  </a:moveTo>
                  <a:lnTo>
                    <a:pt x="0" y="143564"/>
                  </a:lnTo>
                  <a:lnTo>
                    <a:pt x="0" y="0"/>
                  </a:lnTo>
                  <a:lnTo>
                    <a:pt x="144612" y="0"/>
                  </a:lnTo>
                  <a:lnTo>
                    <a:pt x="144612" y="143564"/>
                  </a:lnTo>
                  <a:close/>
                </a:path>
              </a:pathLst>
            </a:custGeom>
            <a:ln w="5983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/>
            <p:cNvSpPr/>
            <p:nvPr/>
          </p:nvSpPr>
          <p:spPr>
            <a:xfrm>
              <a:off x="9957814" y="2960962"/>
              <a:ext cx="144780" cy="144145"/>
            </a:xfrm>
            <a:custGeom>
              <a:avLst/>
              <a:gdLst/>
              <a:ahLst/>
              <a:cxnLst/>
              <a:rect l="l" t="t" r="r" b="b"/>
              <a:pathLst>
                <a:path w="144779" h="144144">
                  <a:moveTo>
                    <a:pt x="144612" y="0"/>
                  </a:moveTo>
                  <a:lnTo>
                    <a:pt x="0" y="0"/>
                  </a:lnTo>
                  <a:lnTo>
                    <a:pt x="0" y="143564"/>
                  </a:lnTo>
                  <a:lnTo>
                    <a:pt x="144612" y="143564"/>
                  </a:lnTo>
                  <a:lnTo>
                    <a:pt x="14461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/>
            <p:cNvSpPr/>
            <p:nvPr/>
          </p:nvSpPr>
          <p:spPr>
            <a:xfrm>
              <a:off x="9957814" y="2960962"/>
              <a:ext cx="144780" cy="144145"/>
            </a:xfrm>
            <a:custGeom>
              <a:avLst/>
              <a:gdLst/>
              <a:ahLst/>
              <a:cxnLst/>
              <a:rect l="l" t="t" r="r" b="b"/>
              <a:pathLst>
                <a:path w="144779" h="144144">
                  <a:moveTo>
                    <a:pt x="144612" y="143564"/>
                  </a:moveTo>
                  <a:lnTo>
                    <a:pt x="0" y="143564"/>
                  </a:lnTo>
                  <a:lnTo>
                    <a:pt x="0" y="0"/>
                  </a:lnTo>
                  <a:lnTo>
                    <a:pt x="144612" y="0"/>
                  </a:lnTo>
                  <a:lnTo>
                    <a:pt x="144612" y="143564"/>
                  </a:lnTo>
                  <a:close/>
                </a:path>
              </a:pathLst>
            </a:custGeom>
            <a:ln w="5983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/>
            <p:cNvSpPr/>
            <p:nvPr/>
          </p:nvSpPr>
          <p:spPr>
            <a:xfrm>
              <a:off x="9957814" y="3104527"/>
              <a:ext cx="144780" cy="144145"/>
            </a:xfrm>
            <a:custGeom>
              <a:avLst/>
              <a:gdLst/>
              <a:ahLst/>
              <a:cxnLst/>
              <a:rect l="l" t="t" r="r" b="b"/>
              <a:pathLst>
                <a:path w="144779" h="144144">
                  <a:moveTo>
                    <a:pt x="144612" y="0"/>
                  </a:moveTo>
                  <a:lnTo>
                    <a:pt x="0" y="0"/>
                  </a:lnTo>
                  <a:lnTo>
                    <a:pt x="0" y="143564"/>
                  </a:lnTo>
                  <a:lnTo>
                    <a:pt x="144612" y="143564"/>
                  </a:lnTo>
                  <a:lnTo>
                    <a:pt x="14461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/>
            <p:cNvSpPr/>
            <p:nvPr/>
          </p:nvSpPr>
          <p:spPr>
            <a:xfrm>
              <a:off x="9957814" y="3104527"/>
              <a:ext cx="144780" cy="144145"/>
            </a:xfrm>
            <a:custGeom>
              <a:avLst/>
              <a:gdLst/>
              <a:ahLst/>
              <a:cxnLst/>
              <a:rect l="l" t="t" r="r" b="b"/>
              <a:pathLst>
                <a:path w="144779" h="144144">
                  <a:moveTo>
                    <a:pt x="144612" y="143564"/>
                  </a:moveTo>
                  <a:lnTo>
                    <a:pt x="0" y="143564"/>
                  </a:lnTo>
                  <a:lnTo>
                    <a:pt x="0" y="0"/>
                  </a:lnTo>
                  <a:lnTo>
                    <a:pt x="144612" y="0"/>
                  </a:lnTo>
                  <a:lnTo>
                    <a:pt x="144612" y="143564"/>
                  </a:lnTo>
                  <a:close/>
                </a:path>
              </a:pathLst>
            </a:custGeom>
            <a:ln w="5983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2" name="object 62"/>
          <p:cNvSpPr txBox="1"/>
          <p:nvPr/>
        </p:nvSpPr>
        <p:spPr>
          <a:xfrm>
            <a:off x="10766352" y="2027783"/>
            <a:ext cx="142240" cy="144145"/>
          </a:xfrm>
          <a:prstGeom prst="rect">
            <a:avLst/>
          </a:prstGeom>
          <a:solidFill>
            <a:srgbClr val="FFFFFF"/>
          </a:solidFill>
          <a:ln w="5985">
            <a:solidFill>
              <a:srgbClr val="231F20"/>
            </a:solidFill>
          </a:ln>
        </p:spPr>
        <p:txBody>
          <a:bodyPr wrap="square" lIns="0" tIns="12065" rIns="0" bIns="0" rtlCol="0" vert="horz">
            <a:spAutoFit/>
          </a:bodyPr>
          <a:lstStyle/>
          <a:p>
            <a:pPr marL="43815">
              <a:lnSpc>
                <a:spcPct val="100000"/>
              </a:lnSpc>
              <a:spcBef>
                <a:spcPts val="95"/>
              </a:spcBef>
            </a:pPr>
            <a:r>
              <a:rPr dirty="0" sz="750" spc="-15">
                <a:solidFill>
                  <a:srgbClr val="231F20"/>
                </a:solidFill>
                <a:latin typeface="Lucida Sans Typewriter"/>
                <a:cs typeface="Lucida Sans Typewriter"/>
              </a:rPr>
              <a:t>A</a:t>
            </a:r>
            <a:endParaRPr sz="750">
              <a:latin typeface="Lucida Sans Typewriter"/>
              <a:cs typeface="Lucida Sans Typewriter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10908019" y="2027783"/>
            <a:ext cx="144145" cy="144145"/>
          </a:xfrm>
          <a:prstGeom prst="rect">
            <a:avLst/>
          </a:prstGeom>
          <a:solidFill>
            <a:srgbClr val="FFFFFF"/>
          </a:solidFill>
          <a:ln w="5982">
            <a:solidFill>
              <a:srgbClr val="231F20"/>
            </a:solidFill>
          </a:ln>
        </p:spPr>
        <p:txBody>
          <a:bodyPr wrap="square" lIns="0" tIns="12065" rIns="0" bIns="0" rtlCol="0" vert="horz">
            <a:spAutoFit/>
          </a:bodyPr>
          <a:lstStyle/>
          <a:p>
            <a:pPr marL="45720">
              <a:lnSpc>
                <a:spcPct val="100000"/>
              </a:lnSpc>
              <a:spcBef>
                <a:spcPts val="95"/>
              </a:spcBef>
            </a:pPr>
            <a:r>
              <a:rPr dirty="0" sz="750" spc="-15">
                <a:solidFill>
                  <a:srgbClr val="BCBEC0"/>
                </a:solidFill>
                <a:latin typeface="Lucida Sans Typewriter"/>
                <a:cs typeface="Lucida Sans Typewriter"/>
              </a:rPr>
              <a:t>8</a:t>
            </a:r>
            <a:endParaRPr sz="750">
              <a:latin typeface="Lucida Sans Typewriter"/>
              <a:cs typeface="Lucida Sans Typewriter"/>
            </a:endParaRPr>
          </a:p>
        </p:txBody>
      </p:sp>
      <p:sp>
        <p:nvSpPr>
          <p:cNvPr id="64" name="object 64"/>
          <p:cNvSpPr/>
          <p:nvPr/>
        </p:nvSpPr>
        <p:spPr>
          <a:xfrm>
            <a:off x="11198310" y="3230121"/>
            <a:ext cx="285750" cy="144145"/>
          </a:xfrm>
          <a:custGeom>
            <a:avLst/>
            <a:gdLst/>
            <a:ahLst/>
            <a:cxnLst/>
            <a:rect l="l" t="t" r="r" b="b"/>
            <a:pathLst>
              <a:path w="285750" h="144145">
                <a:moveTo>
                  <a:pt x="285322" y="0"/>
                </a:moveTo>
                <a:lnTo>
                  <a:pt x="0" y="0"/>
                </a:lnTo>
                <a:lnTo>
                  <a:pt x="0" y="143564"/>
                </a:lnTo>
                <a:lnTo>
                  <a:pt x="285322" y="143564"/>
                </a:lnTo>
                <a:lnTo>
                  <a:pt x="28532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 txBox="1"/>
          <p:nvPr/>
        </p:nvSpPr>
        <p:spPr>
          <a:xfrm>
            <a:off x="11198310" y="3230121"/>
            <a:ext cx="142240" cy="144145"/>
          </a:xfrm>
          <a:prstGeom prst="rect">
            <a:avLst/>
          </a:prstGeom>
          <a:solidFill>
            <a:srgbClr val="FFFFFF"/>
          </a:solidFill>
          <a:ln w="5985">
            <a:solidFill>
              <a:srgbClr val="231F20"/>
            </a:solidFill>
          </a:ln>
        </p:spPr>
        <p:txBody>
          <a:bodyPr wrap="square" lIns="0" tIns="12065" rIns="0" bIns="0" rtlCol="0" vert="horz">
            <a:spAutoFit/>
          </a:bodyPr>
          <a:lstStyle/>
          <a:p>
            <a:pPr marL="43815">
              <a:lnSpc>
                <a:spcPct val="100000"/>
              </a:lnSpc>
              <a:spcBef>
                <a:spcPts val="95"/>
              </a:spcBef>
            </a:pPr>
            <a:r>
              <a:rPr dirty="0" sz="750" spc="-15">
                <a:solidFill>
                  <a:srgbClr val="231F20"/>
                </a:solidFill>
                <a:latin typeface="Lucida Sans Typewriter"/>
                <a:cs typeface="Lucida Sans Typewriter"/>
              </a:rPr>
              <a:t>P</a:t>
            </a:r>
            <a:endParaRPr sz="750">
              <a:latin typeface="Lucida Sans Typewriter"/>
              <a:cs typeface="Lucida Sans Typewriter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11339978" y="3230121"/>
            <a:ext cx="144145" cy="144145"/>
          </a:xfrm>
          <a:prstGeom prst="rect">
            <a:avLst/>
          </a:prstGeom>
          <a:solidFill>
            <a:srgbClr val="FFFFFF"/>
          </a:solidFill>
          <a:ln w="5982">
            <a:solidFill>
              <a:srgbClr val="231F20"/>
            </a:solidFill>
          </a:ln>
        </p:spPr>
        <p:txBody>
          <a:bodyPr wrap="square" lIns="0" tIns="12065" rIns="0" bIns="0" rtlCol="0" vert="horz">
            <a:spAutoFit/>
          </a:bodyPr>
          <a:lstStyle/>
          <a:p>
            <a:pPr marL="17780">
              <a:lnSpc>
                <a:spcPct val="100000"/>
              </a:lnSpc>
              <a:spcBef>
                <a:spcPts val="95"/>
              </a:spcBef>
            </a:pPr>
            <a:r>
              <a:rPr dirty="0" sz="750" spc="-15">
                <a:solidFill>
                  <a:srgbClr val="BBBDC0"/>
                </a:solidFill>
                <a:latin typeface="Lucida Sans Typewriter"/>
                <a:cs typeface="Lucida Sans Typewriter"/>
              </a:rPr>
              <a:t>10</a:t>
            </a:r>
            <a:endParaRPr sz="750">
              <a:latin typeface="Lucida Sans Typewriter"/>
              <a:cs typeface="Lucida Sans Typewriter"/>
            </a:endParaRPr>
          </a:p>
        </p:txBody>
      </p:sp>
      <p:grpSp>
        <p:nvGrpSpPr>
          <p:cNvPr id="67" name="object 67"/>
          <p:cNvGrpSpPr/>
          <p:nvPr/>
        </p:nvGrpSpPr>
        <p:grpSpPr>
          <a:xfrm>
            <a:off x="10767345" y="3230121"/>
            <a:ext cx="428625" cy="144145"/>
            <a:chOff x="10767345" y="3230121"/>
            <a:chExt cx="428625" cy="144145"/>
          </a:xfrm>
        </p:grpSpPr>
        <p:sp>
          <p:nvSpPr>
            <p:cNvPr id="68" name="object 68"/>
            <p:cNvSpPr/>
            <p:nvPr/>
          </p:nvSpPr>
          <p:spPr>
            <a:xfrm>
              <a:off x="11052665" y="3301905"/>
              <a:ext cx="107950" cy="0"/>
            </a:xfrm>
            <a:custGeom>
              <a:avLst/>
              <a:gdLst/>
              <a:ahLst/>
              <a:cxnLst/>
              <a:rect l="l" t="t" r="r" b="b"/>
              <a:pathLst>
                <a:path w="107950" h="0">
                  <a:moveTo>
                    <a:pt x="107741" y="0"/>
                  </a:moveTo>
                  <a:lnTo>
                    <a:pt x="0" y="0"/>
                  </a:lnTo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/>
            <p:cNvSpPr/>
            <p:nvPr/>
          </p:nvSpPr>
          <p:spPr>
            <a:xfrm>
              <a:off x="11147721" y="3287356"/>
              <a:ext cx="48260" cy="29209"/>
            </a:xfrm>
            <a:custGeom>
              <a:avLst/>
              <a:gdLst/>
              <a:ahLst/>
              <a:cxnLst/>
              <a:rect l="l" t="t" r="r" b="b"/>
              <a:pathLst>
                <a:path w="48259" h="29210">
                  <a:moveTo>
                    <a:pt x="491" y="0"/>
                  </a:moveTo>
                  <a:lnTo>
                    <a:pt x="0" y="322"/>
                  </a:lnTo>
                  <a:lnTo>
                    <a:pt x="8655" y="14547"/>
                  </a:lnTo>
                  <a:lnTo>
                    <a:pt x="0" y="28844"/>
                  </a:lnTo>
                  <a:lnTo>
                    <a:pt x="491" y="29095"/>
                  </a:lnTo>
                  <a:lnTo>
                    <a:pt x="23703" y="19883"/>
                  </a:lnTo>
                  <a:lnTo>
                    <a:pt x="47956" y="14547"/>
                  </a:lnTo>
                  <a:lnTo>
                    <a:pt x="23703" y="9212"/>
                  </a:lnTo>
                  <a:lnTo>
                    <a:pt x="491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/>
            <p:cNvSpPr/>
            <p:nvPr/>
          </p:nvSpPr>
          <p:spPr>
            <a:xfrm>
              <a:off x="11052668" y="3301903"/>
              <a:ext cx="107950" cy="0"/>
            </a:xfrm>
            <a:custGeom>
              <a:avLst/>
              <a:gdLst/>
              <a:ahLst/>
              <a:cxnLst/>
              <a:rect l="l" t="t" r="r" b="b"/>
              <a:pathLst>
                <a:path w="107950" h="0">
                  <a:moveTo>
                    <a:pt x="0" y="0"/>
                  </a:moveTo>
                  <a:lnTo>
                    <a:pt x="107741" y="0"/>
                  </a:lnTo>
                </a:path>
              </a:pathLst>
            </a:custGeom>
            <a:ln w="8972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/>
            <p:cNvSpPr/>
            <p:nvPr/>
          </p:nvSpPr>
          <p:spPr>
            <a:xfrm>
              <a:off x="11150893" y="3290992"/>
              <a:ext cx="36195" cy="22225"/>
            </a:xfrm>
            <a:custGeom>
              <a:avLst/>
              <a:gdLst/>
              <a:ahLst/>
              <a:cxnLst/>
              <a:rect l="l" t="t" r="r" b="b"/>
              <a:pathLst>
                <a:path w="36195" h="22225">
                  <a:moveTo>
                    <a:pt x="359" y="0"/>
                  </a:moveTo>
                  <a:lnTo>
                    <a:pt x="0" y="239"/>
                  </a:lnTo>
                  <a:lnTo>
                    <a:pt x="6488" y="10910"/>
                  </a:lnTo>
                  <a:lnTo>
                    <a:pt x="0" y="21630"/>
                  </a:lnTo>
                  <a:lnTo>
                    <a:pt x="359" y="21822"/>
                  </a:lnTo>
                  <a:lnTo>
                    <a:pt x="17765" y="14907"/>
                  </a:lnTo>
                  <a:lnTo>
                    <a:pt x="35973" y="10910"/>
                  </a:lnTo>
                  <a:lnTo>
                    <a:pt x="17765" y="6915"/>
                  </a:lnTo>
                  <a:lnTo>
                    <a:pt x="359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/>
            <p:cNvSpPr/>
            <p:nvPr/>
          </p:nvSpPr>
          <p:spPr>
            <a:xfrm>
              <a:off x="10767345" y="3230121"/>
              <a:ext cx="285750" cy="144145"/>
            </a:xfrm>
            <a:custGeom>
              <a:avLst/>
              <a:gdLst/>
              <a:ahLst/>
              <a:cxnLst/>
              <a:rect l="l" t="t" r="r" b="b"/>
              <a:pathLst>
                <a:path w="285750" h="144145">
                  <a:moveTo>
                    <a:pt x="285322" y="0"/>
                  </a:moveTo>
                  <a:lnTo>
                    <a:pt x="0" y="0"/>
                  </a:lnTo>
                  <a:lnTo>
                    <a:pt x="0" y="143564"/>
                  </a:lnTo>
                  <a:lnTo>
                    <a:pt x="285322" y="143564"/>
                  </a:lnTo>
                  <a:lnTo>
                    <a:pt x="28532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3" name="object 73"/>
          <p:cNvSpPr txBox="1"/>
          <p:nvPr/>
        </p:nvSpPr>
        <p:spPr>
          <a:xfrm>
            <a:off x="10767345" y="3230121"/>
            <a:ext cx="142240" cy="144145"/>
          </a:xfrm>
          <a:prstGeom prst="rect">
            <a:avLst/>
          </a:prstGeom>
          <a:solidFill>
            <a:srgbClr val="FFFFFF"/>
          </a:solidFill>
          <a:ln w="5985">
            <a:solidFill>
              <a:srgbClr val="231F20"/>
            </a:solidFill>
          </a:ln>
        </p:spPr>
        <p:txBody>
          <a:bodyPr wrap="square" lIns="0" tIns="12065" rIns="0" bIns="0" rtlCol="0" vert="horz">
            <a:spAutoFit/>
          </a:bodyPr>
          <a:lstStyle/>
          <a:p>
            <a:pPr marL="43815">
              <a:lnSpc>
                <a:spcPct val="100000"/>
              </a:lnSpc>
              <a:spcBef>
                <a:spcPts val="95"/>
              </a:spcBef>
            </a:pPr>
            <a:r>
              <a:rPr dirty="0" sz="750" spc="-15">
                <a:solidFill>
                  <a:srgbClr val="231F20"/>
                </a:solidFill>
                <a:latin typeface="Lucida Sans Typewriter"/>
                <a:cs typeface="Lucida Sans Typewriter"/>
              </a:rPr>
              <a:t>L</a:t>
            </a:r>
            <a:endParaRPr sz="750">
              <a:latin typeface="Lucida Sans Typewriter"/>
              <a:cs typeface="Lucida Sans Typewriter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10909013" y="3230121"/>
            <a:ext cx="144145" cy="144145"/>
          </a:xfrm>
          <a:prstGeom prst="rect">
            <a:avLst/>
          </a:prstGeom>
          <a:solidFill>
            <a:srgbClr val="FFFFFF"/>
          </a:solidFill>
          <a:ln w="5982">
            <a:solidFill>
              <a:srgbClr val="231F20"/>
            </a:solidFill>
          </a:ln>
        </p:spPr>
        <p:txBody>
          <a:bodyPr wrap="square" lIns="0" tIns="12065" rIns="0" bIns="0" rtlCol="0" vert="horz">
            <a:spAutoFit/>
          </a:bodyPr>
          <a:lstStyle/>
          <a:p>
            <a:pPr marL="17780">
              <a:lnSpc>
                <a:spcPct val="100000"/>
              </a:lnSpc>
              <a:spcBef>
                <a:spcPts val="95"/>
              </a:spcBef>
            </a:pPr>
            <a:r>
              <a:rPr dirty="0" sz="750" spc="-15">
                <a:solidFill>
                  <a:srgbClr val="BBBDC0"/>
                </a:solidFill>
                <a:latin typeface="Lucida Sans Typewriter"/>
                <a:cs typeface="Lucida Sans Typewriter"/>
              </a:rPr>
              <a:t>11</a:t>
            </a:r>
            <a:endParaRPr sz="750">
              <a:latin typeface="Lucida Sans Typewriter"/>
              <a:cs typeface="Lucida Sans Typewriter"/>
            </a:endParaRPr>
          </a:p>
        </p:txBody>
      </p:sp>
      <p:sp>
        <p:nvSpPr>
          <p:cNvPr id="75" name="object 75"/>
          <p:cNvSpPr/>
          <p:nvPr/>
        </p:nvSpPr>
        <p:spPr>
          <a:xfrm>
            <a:off x="12062226" y="3624923"/>
            <a:ext cx="285750" cy="144145"/>
          </a:xfrm>
          <a:custGeom>
            <a:avLst/>
            <a:gdLst/>
            <a:ahLst/>
            <a:cxnLst/>
            <a:rect l="l" t="t" r="r" b="b"/>
            <a:pathLst>
              <a:path w="285750" h="144145">
                <a:moveTo>
                  <a:pt x="285322" y="0"/>
                </a:moveTo>
                <a:lnTo>
                  <a:pt x="0" y="0"/>
                </a:lnTo>
                <a:lnTo>
                  <a:pt x="0" y="143564"/>
                </a:lnTo>
                <a:lnTo>
                  <a:pt x="285322" y="143564"/>
                </a:lnTo>
                <a:lnTo>
                  <a:pt x="28532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 txBox="1"/>
          <p:nvPr/>
        </p:nvSpPr>
        <p:spPr>
          <a:xfrm>
            <a:off x="12062226" y="3624923"/>
            <a:ext cx="142240" cy="144145"/>
          </a:xfrm>
          <a:prstGeom prst="rect">
            <a:avLst/>
          </a:prstGeom>
          <a:solidFill>
            <a:srgbClr val="FFFFFF"/>
          </a:solidFill>
          <a:ln w="5985">
            <a:solidFill>
              <a:srgbClr val="231F20"/>
            </a:solidFill>
          </a:ln>
        </p:spPr>
        <p:txBody>
          <a:bodyPr wrap="square" lIns="0" tIns="12065" rIns="0" bIns="0" rtlCol="0" vert="horz">
            <a:spAutoFit/>
          </a:bodyPr>
          <a:lstStyle/>
          <a:p>
            <a:pPr marL="43815">
              <a:lnSpc>
                <a:spcPct val="100000"/>
              </a:lnSpc>
              <a:spcBef>
                <a:spcPts val="95"/>
              </a:spcBef>
            </a:pPr>
            <a:r>
              <a:rPr dirty="0" sz="750" spc="-15">
                <a:solidFill>
                  <a:srgbClr val="231F20"/>
                </a:solidFill>
                <a:latin typeface="Lucida Sans Typewriter"/>
                <a:cs typeface="Lucida Sans Typewriter"/>
              </a:rPr>
              <a:t>R</a:t>
            </a:r>
            <a:endParaRPr sz="750">
              <a:latin typeface="Lucida Sans Typewriter"/>
              <a:cs typeface="Lucida Sans Typewriter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12203893" y="3624923"/>
            <a:ext cx="144145" cy="144145"/>
          </a:xfrm>
          <a:prstGeom prst="rect">
            <a:avLst/>
          </a:prstGeom>
          <a:solidFill>
            <a:srgbClr val="FFFFFF"/>
          </a:solidFill>
          <a:ln w="5982">
            <a:solidFill>
              <a:srgbClr val="231F20"/>
            </a:solidFill>
          </a:ln>
        </p:spPr>
        <p:txBody>
          <a:bodyPr wrap="square" lIns="0" tIns="12065" rIns="0" bIns="0" rtlCol="0" vert="horz">
            <a:spAutoFit/>
          </a:bodyPr>
          <a:lstStyle/>
          <a:p>
            <a:pPr marL="45720">
              <a:lnSpc>
                <a:spcPct val="100000"/>
              </a:lnSpc>
              <a:spcBef>
                <a:spcPts val="95"/>
              </a:spcBef>
            </a:pPr>
            <a:r>
              <a:rPr dirty="0" sz="750" spc="-15">
                <a:solidFill>
                  <a:srgbClr val="BBBDC0"/>
                </a:solidFill>
                <a:latin typeface="Lucida Sans Typewriter"/>
                <a:cs typeface="Lucida Sans Typewriter"/>
              </a:rPr>
              <a:t>3</a:t>
            </a:r>
            <a:endParaRPr sz="750">
              <a:latin typeface="Lucida Sans Typewriter"/>
              <a:cs typeface="Lucida Sans Typewriter"/>
            </a:endParaRPr>
          </a:p>
        </p:txBody>
      </p:sp>
      <p:grpSp>
        <p:nvGrpSpPr>
          <p:cNvPr id="78" name="object 78"/>
          <p:cNvGrpSpPr/>
          <p:nvPr/>
        </p:nvGrpSpPr>
        <p:grpSpPr>
          <a:xfrm>
            <a:off x="11629274" y="3624923"/>
            <a:ext cx="428625" cy="144145"/>
            <a:chOff x="11629274" y="3624923"/>
            <a:chExt cx="428625" cy="144145"/>
          </a:xfrm>
        </p:grpSpPr>
        <p:sp>
          <p:nvSpPr>
            <p:cNvPr id="79" name="object 79"/>
            <p:cNvSpPr/>
            <p:nvPr/>
          </p:nvSpPr>
          <p:spPr>
            <a:xfrm>
              <a:off x="11914594" y="3696710"/>
              <a:ext cx="107950" cy="0"/>
            </a:xfrm>
            <a:custGeom>
              <a:avLst/>
              <a:gdLst/>
              <a:ahLst/>
              <a:cxnLst/>
              <a:rect l="l" t="t" r="r" b="b"/>
              <a:pathLst>
                <a:path w="107950" h="0">
                  <a:moveTo>
                    <a:pt x="107741" y="0"/>
                  </a:moveTo>
                  <a:lnTo>
                    <a:pt x="0" y="0"/>
                  </a:lnTo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0" name="object 80"/>
            <p:cNvSpPr/>
            <p:nvPr/>
          </p:nvSpPr>
          <p:spPr>
            <a:xfrm>
              <a:off x="12009650" y="3682157"/>
              <a:ext cx="48260" cy="29209"/>
            </a:xfrm>
            <a:custGeom>
              <a:avLst/>
              <a:gdLst/>
              <a:ahLst/>
              <a:cxnLst/>
              <a:rect l="l" t="t" r="r" b="b"/>
              <a:pathLst>
                <a:path w="48259" h="29210">
                  <a:moveTo>
                    <a:pt x="490" y="0"/>
                  </a:moveTo>
                  <a:lnTo>
                    <a:pt x="0" y="322"/>
                  </a:lnTo>
                  <a:lnTo>
                    <a:pt x="8655" y="14547"/>
                  </a:lnTo>
                  <a:lnTo>
                    <a:pt x="0" y="28844"/>
                  </a:lnTo>
                  <a:lnTo>
                    <a:pt x="490" y="29095"/>
                  </a:lnTo>
                  <a:lnTo>
                    <a:pt x="23702" y="19883"/>
                  </a:lnTo>
                  <a:lnTo>
                    <a:pt x="47956" y="14547"/>
                  </a:lnTo>
                  <a:lnTo>
                    <a:pt x="23702" y="9211"/>
                  </a:lnTo>
                  <a:lnTo>
                    <a:pt x="490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/>
            <p:cNvSpPr/>
            <p:nvPr/>
          </p:nvSpPr>
          <p:spPr>
            <a:xfrm>
              <a:off x="11914597" y="3696705"/>
              <a:ext cx="107950" cy="0"/>
            </a:xfrm>
            <a:custGeom>
              <a:avLst/>
              <a:gdLst/>
              <a:ahLst/>
              <a:cxnLst/>
              <a:rect l="l" t="t" r="r" b="b"/>
              <a:pathLst>
                <a:path w="107950" h="0">
                  <a:moveTo>
                    <a:pt x="0" y="0"/>
                  </a:moveTo>
                  <a:lnTo>
                    <a:pt x="107741" y="0"/>
                  </a:lnTo>
                </a:path>
              </a:pathLst>
            </a:custGeom>
            <a:ln w="8972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/>
            <p:cNvSpPr/>
            <p:nvPr/>
          </p:nvSpPr>
          <p:spPr>
            <a:xfrm>
              <a:off x="12012822" y="3685794"/>
              <a:ext cx="36195" cy="22225"/>
            </a:xfrm>
            <a:custGeom>
              <a:avLst/>
              <a:gdLst/>
              <a:ahLst/>
              <a:cxnLst/>
              <a:rect l="l" t="t" r="r" b="b"/>
              <a:pathLst>
                <a:path w="36195" h="22225">
                  <a:moveTo>
                    <a:pt x="358" y="0"/>
                  </a:moveTo>
                  <a:lnTo>
                    <a:pt x="0" y="239"/>
                  </a:lnTo>
                  <a:lnTo>
                    <a:pt x="6488" y="10910"/>
                  </a:lnTo>
                  <a:lnTo>
                    <a:pt x="0" y="21630"/>
                  </a:lnTo>
                  <a:lnTo>
                    <a:pt x="358" y="21821"/>
                  </a:lnTo>
                  <a:lnTo>
                    <a:pt x="17764" y="14906"/>
                  </a:lnTo>
                  <a:lnTo>
                    <a:pt x="35973" y="10910"/>
                  </a:lnTo>
                  <a:lnTo>
                    <a:pt x="17764" y="6915"/>
                  </a:lnTo>
                  <a:lnTo>
                    <a:pt x="358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3" name="object 83"/>
            <p:cNvSpPr/>
            <p:nvPr/>
          </p:nvSpPr>
          <p:spPr>
            <a:xfrm>
              <a:off x="11629274" y="3624923"/>
              <a:ext cx="285750" cy="144145"/>
            </a:xfrm>
            <a:custGeom>
              <a:avLst/>
              <a:gdLst/>
              <a:ahLst/>
              <a:cxnLst/>
              <a:rect l="l" t="t" r="r" b="b"/>
              <a:pathLst>
                <a:path w="285750" h="144145">
                  <a:moveTo>
                    <a:pt x="285322" y="0"/>
                  </a:moveTo>
                  <a:lnTo>
                    <a:pt x="0" y="0"/>
                  </a:lnTo>
                  <a:lnTo>
                    <a:pt x="0" y="143564"/>
                  </a:lnTo>
                  <a:lnTo>
                    <a:pt x="285322" y="143564"/>
                  </a:lnTo>
                  <a:lnTo>
                    <a:pt x="28532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4" name="object 84"/>
          <p:cNvSpPr txBox="1"/>
          <p:nvPr/>
        </p:nvSpPr>
        <p:spPr>
          <a:xfrm>
            <a:off x="11629274" y="3624923"/>
            <a:ext cx="142240" cy="144145"/>
          </a:xfrm>
          <a:prstGeom prst="rect">
            <a:avLst/>
          </a:prstGeom>
          <a:solidFill>
            <a:srgbClr val="FFFFFF"/>
          </a:solidFill>
          <a:ln w="5985">
            <a:solidFill>
              <a:srgbClr val="231F20"/>
            </a:solidFill>
          </a:ln>
        </p:spPr>
        <p:txBody>
          <a:bodyPr wrap="square" lIns="0" tIns="12065" rIns="0" bIns="0" rtlCol="0" vert="horz">
            <a:spAutoFit/>
          </a:bodyPr>
          <a:lstStyle/>
          <a:p>
            <a:pPr marL="43815">
              <a:lnSpc>
                <a:spcPct val="100000"/>
              </a:lnSpc>
              <a:spcBef>
                <a:spcPts val="95"/>
              </a:spcBef>
            </a:pPr>
            <a:r>
              <a:rPr dirty="0" sz="750" spc="-15">
                <a:solidFill>
                  <a:srgbClr val="231F20"/>
                </a:solidFill>
                <a:latin typeface="Lucida Sans Typewriter"/>
                <a:cs typeface="Lucida Sans Typewriter"/>
              </a:rPr>
              <a:t>C</a:t>
            </a:r>
            <a:endParaRPr sz="750">
              <a:latin typeface="Lucida Sans Typewriter"/>
              <a:cs typeface="Lucida Sans Typewriter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11770942" y="3624923"/>
            <a:ext cx="144145" cy="144145"/>
          </a:xfrm>
          <a:prstGeom prst="rect">
            <a:avLst/>
          </a:prstGeom>
          <a:solidFill>
            <a:srgbClr val="FFFFFF"/>
          </a:solidFill>
          <a:ln w="5982">
            <a:solidFill>
              <a:srgbClr val="231F20"/>
            </a:solidFill>
          </a:ln>
        </p:spPr>
        <p:txBody>
          <a:bodyPr wrap="square" lIns="0" tIns="12065" rIns="0" bIns="0" rtlCol="0" vert="horz">
            <a:spAutoFit/>
          </a:bodyPr>
          <a:lstStyle/>
          <a:p>
            <a:pPr marL="45720">
              <a:lnSpc>
                <a:spcPct val="100000"/>
              </a:lnSpc>
              <a:spcBef>
                <a:spcPts val="95"/>
              </a:spcBef>
            </a:pPr>
            <a:r>
              <a:rPr dirty="0" sz="750" spc="-15">
                <a:solidFill>
                  <a:srgbClr val="BBBDC0"/>
                </a:solidFill>
                <a:latin typeface="Lucida Sans Typewriter"/>
                <a:cs typeface="Lucida Sans Typewriter"/>
              </a:rPr>
              <a:t>4</a:t>
            </a:r>
            <a:endParaRPr sz="750">
              <a:latin typeface="Lucida Sans Typewriter"/>
              <a:cs typeface="Lucida Sans Typewriter"/>
            </a:endParaRPr>
          </a:p>
        </p:txBody>
      </p:sp>
      <p:grpSp>
        <p:nvGrpSpPr>
          <p:cNvPr id="86" name="object 86"/>
          <p:cNvGrpSpPr/>
          <p:nvPr/>
        </p:nvGrpSpPr>
        <p:grpSpPr>
          <a:xfrm>
            <a:off x="11198310" y="3624923"/>
            <a:ext cx="428625" cy="144145"/>
            <a:chOff x="11198310" y="3624923"/>
            <a:chExt cx="428625" cy="144145"/>
          </a:xfrm>
        </p:grpSpPr>
        <p:sp>
          <p:nvSpPr>
            <p:cNvPr id="87" name="object 87"/>
            <p:cNvSpPr/>
            <p:nvPr/>
          </p:nvSpPr>
          <p:spPr>
            <a:xfrm>
              <a:off x="11483629" y="3696710"/>
              <a:ext cx="107950" cy="0"/>
            </a:xfrm>
            <a:custGeom>
              <a:avLst/>
              <a:gdLst/>
              <a:ahLst/>
              <a:cxnLst/>
              <a:rect l="l" t="t" r="r" b="b"/>
              <a:pathLst>
                <a:path w="107950" h="0">
                  <a:moveTo>
                    <a:pt x="107741" y="0"/>
                  </a:moveTo>
                  <a:lnTo>
                    <a:pt x="0" y="0"/>
                  </a:lnTo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8" name="object 88"/>
            <p:cNvSpPr/>
            <p:nvPr/>
          </p:nvSpPr>
          <p:spPr>
            <a:xfrm>
              <a:off x="11578686" y="3682157"/>
              <a:ext cx="48260" cy="29209"/>
            </a:xfrm>
            <a:custGeom>
              <a:avLst/>
              <a:gdLst/>
              <a:ahLst/>
              <a:cxnLst/>
              <a:rect l="l" t="t" r="r" b="b"/>
              <a:pathLst>
                <a:path w="48259" h="29210">
                  <a:moveTo>
                    <a:pt x="490" y="0"/>
                  </a:moveTo>
                  <a:lnTo>
                    <a:pt x="0" y="322"/>
                  </a:lnTo>
                  <a:lnTo>
                    <a:pt x="8655" y="14547"/>
                  </a:lnTo>
                  <a:lnTo>
                    <a:pt x="0" y="28844"/>
                  </a:lnTo>
                  <a:lnTo>
                    <a:pt x="490" y="29095"/>
                  </a:lnTo>
                  <a:lnTo>
                    <a:pt x="23703" y="19883"/>
                  </a:lnTo>
                  <a:lnTo>
                    <a:pt x="47956" y="14547"/>
                  </a:lnTo>
                  <a:lnTo>
                    <a:pt x="23703" y="9211"/>
                  </a:lnTo>
                  <a:lnTo>
                    <a:pt x="490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9" name="object 89"/>
            <p:cNvSpPr/>
            <p:nvPr/>
          </p:nvSpPr>
          <p:spPr>
            <a:xfrm>
              <a:off x="11483632" y="3696705"/>
              <a:ext cx="107950" cy="0"/>
            </a:xfrm>
            <a:custGeom>
              <a:avLst/>
              <a:gdLst/>
              <a:ahLst/>
              <a:cxnLst/>
              <a:rect l="l" t="t" r="r" b="b"/>
              <a:pathLst>
                <a:path w="107950" h="0">
                  <a:moveTo>
                    <a:pt x="0" y="0"/>
                  </a:moveTo>
                  <a:lnTo>
                    <a:pt x="107741" y="0"/>
                  </a:lnTo>
                </a:path>
              </a:pathLst>
            </a:custGeom>
            <a:ln w="8972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0" name="object 90"/>
            <p:cNvSpPr/>
            <p:nvPr/>
          </p:nvSpPr>
          <p:spPr>
            <a:xfrm>
              <a:off x="11581858" y="3685794"/>
              <a:ext cx="36195" cy="22225"/>
            </a:xfrm>
            <a:custGeom>
              <a:avLst/>
              <a:gdLst/>
              <a:ahLst/>
              <a:cxnLst/>
              <a:rect l="l" t="t" r="r" b="b"/>
              <a:pathLst>
                <a:path w="36195" h="22225">
                  <a:moveTo>
                    <a:pt x="358" y="0"/>
                  </a:moveTo>
                  <a:lnTo>
                    <a:pt x="0" y="239"/>
                  </a:lnTo>
                  <a:lnTo>
                    <a:pt x="6488" y="10910"/>
                  </a:lnTo>
                  <a:lnTo>
                    <a:pt x="0" y="21630"/>
                  </a:lnTo>
                  <a:lnTo>
                    <a:pt x="358" y="21821"/>
                  </a:lnTo>
                  <a:lnTo>
                    <a:pt x="17765" y="14906"/>
                  </a:lnTo>
                  <a:lnTo>
                    <a:pt x="35973" y="10910"/>
                  </a:lnTo>
                  <a:lnTo>
                    <a:pt x="17765" y="6915"/>
                  </a:lnTo>
                  <a:lnTo>
                    <a:pt x="358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1" name="object 91"/>
            <p:cNvSpPr/>
            <p:nvPr/>
          </p:nvSpPr>
          <p:spPr>
            <a:xfrm>
              <a:off x="11198310" y="3624923"/>
              <a:ext cx="285750" cy="144145"/>
            </a:xfrm>
            <a:custGeom>
              <a:avLst/>
              <a:gdLst/>
              <a:ahLst/>
              <a:cxnLst/>
              <a:rect l="l" t="t" r="r" b="b"/>
              <a:pathLst>
                <a:path w="285750" h="144145">
                  <a:moveTo>
                    <a:pt x="285322" y="0"/>
                  </a:moveTo>
                  <a:lnTo>
                    <a:pt x="0" y="0"/>
                  </a:lnTo>
                  <a:lnTo>
                    <a:pt x="0" y="143564"/>
                  </a:lnTo>
                  <a:lnTo>
                    <a:pt x="285322" y="143564"/>
                  </a:lnTo>
                  <a:lnTo>
                    <a:pt x="28532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2" name="object 92"/>
          <p:cNvSpPr txBox="1"/>
          <p:nvPr/>
        </p:nvSpPr>
        <p:spPr>
          <a:xfrm>
            <a:off x="11198310" y="3624923"/>
            <a:ext cx="142240" cy="144145"/>
          </a:xfrm>
          <a:prstGeom prst="rect">
            <a:avLst/>
          </a:prstGeom>
          <a:solidFill>
            <a:srgbClr val="FFFFFF"/>
          </a:solidFill>
          <a:ln w="5985">
            <a:solidFill>
              <a:srgbClr val="231F20"/>
            </a:solidFill>
          </a:ln>
        </p:spPr>
        <p:txBody>
          <a:bodyPr wrap="square" lIns="0" tIns="12065" rIns="0" bIns="0" rtlCol="0" vert="horz">
            <a:spAutoFit/>
          </a:bodyPr>
          <a:lstStyle/>
          <a:p>
            <a:pPr marL="43815">
              <a:lnSpc>
                <a:spcPct val="100000"/>
              </a:lnSpc>
              <a:spcBef>
                <a:spcPts val="95"/>
              </a:spcBef>
            </a:pPr>
            <a:r>
              <a:rPr dirty="0" sz="750" spc="-15">
                <a:solidFill>
                  <a:srgbClr val="231F20"/>
                </a:solidFill>
                <a:latin typeface="Lucida Sans Typewriter"/>
                <a:cs typeface="Lucida Sans Typewriter"/>
              </a:rPr>
              <a:t>H</a:t>
            </a:r>
            <a:endParaRPr sz="750">
              <a:latin typeface="Lucida Sans Typewriter"/>
              <a:cs typeface="Lucida Sans Typewriter"/>
            </a:endParaRPr>
          </a:p>
        </p:txBody>
      </p:sp>
      <p:sp>
        <p:nvSpPr>
          <p:cNvPr id="93" name="object 93"/>
          <p:cNvSpPr txBox="1"/>
          <p:nvPr/>
        </p:nvSpPr>
        <p:spPr>
          <a:xfrm>
            <a:off x="11339978" y="3624923"/>
            <a:ext cx="144145" cy="144145"/>
          </a:xfrm>
          <a:prstGeom prst="rect">
            <a:avLst/>
          </a:prstGeom>
          <a:solidFill>
            <a:srgbClr val="FFFFFF"/>
          </a:solidFill>
          <a:ln w="5982">
            <a:solidFill>
              <a:srgbClr val="231F20"/>
            </a:solidFill>
          </a:ln>
        </p:spPr>
        <p:txBody>
          <a:bodyPr wrap="square" lIns="0" tIns="12065" rIns="0" bIns="0" rtlCol="0" vert="horz">
            <a:spAutoFit/>
          </a:bodyPr>
          <a:lstStyle/>
          <a:p>
            <a:pPr marL="45720">
              <a:lnSpc>
                <a:spcPct val="100000"/>
              </a:lnSpc>
              <a:spcBef>
                <a:spcPts val="95"/>
              </a:spcBef>
            </a:pPr>
            <a:r>
              <a:rPr dirty="0" sz="750" spc="-15">
                <a:solidFill>
                  <a:srgbClr val="BBBDC0"/>
                </a:solidFill>
                <a:latin typeface="Lucida Sans Typewriter"/>
                <a:cs typeface="Lucida Sans Typewriter"/>
              </a:rPr>
              <a:t>5</a:t>
            </a:r>
            <a:endParaRPr sz="750">
              <a:latin typeface="Lucida Sans Typewriter"/>
              <a:cs typeface="Lucida Sans Typewriter"/>
            </a:endParaRPr>
          </a:p>
        </p:txBody>
      </p:sp>
      <p:grpSp>
        <p:nvGrpSpPr>
          <p:cNvPr id="94" name="object 94"/>
          <p:cNvGrpSpPr/>
          <p:nvPr/>
        </p:nvGrpSpPr>
        <p:grpSpPr>
          <a:xfrm>
            <a:off x="10766352" y="3624923"/>
            <a:ext cx="428625" cy="144145"/>
            <a:chOff x="10766352" y="3624923"/>
            <a:chExt cx="428625" cy="144145"/>
          </a:xfrm>
        </p:grpSpPr>
        <p:sp>
          <p:nvSpPr>
            <p:cNvPr id="95" name="object 95"/>
            <p:cNvSpPr/>
            <p:nvPr/>
          </p:nvSpPr>
          <p:spPr>
            <a:xfrm>
              <a:off x="11051673" y="3696710"/>
              <a:ext cx="107950" cy="0"/>
            </a:xfrm>
            <a:custGeom>
              <a:avLst/>
              <a:gdLst/>
              <a:ahLst/>
              <a:cxnLst/>
              <a:rect l="l" t="t" r="r" b="b"/>
              <a:pathLst>
                <a:path w="107950" h="0">
                  <a:moveTo>
                    <a:pt x="107741" y="0"/>
                  </a:moveTo>
                  <a:lnTo>
                    <a:pt x="0" y="0"/>
                  </a:lnTo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6" name="object 96"/>
            <p:cNvSpPr/>
            <p:nvPr/>
          </p:nvSpPr>
          <p:spPr>
            <a:xfrm>
              <a:off x="11146727" y="3682157"/>
              <a:ext cx="48260" cy="29209"/>
            </a:xfrm>
            <a:custGeom>
              <a:avLst/>
              <a:gdLst/>
              <a:ahLst/>
              <a:cxnLst/>
              <a:rect l="l" t="t" r="r" b="b"/>
              <a:pathLst>
                <a:path w="48259" h="29210">
                  <a:moveTo>
                    <a:pt x="490" y="0"/>
                  </a:moveTo>
                  <a:lnTo>
                    <a:pt x="0" y="322"/>
                  </a:lnTo>
                  <a:lnTo>
                    <a:pt x="8655" y="14547"/>
                  </a:lnTo>
                  <a:lnTo>
                    <a:pt x="0" y="28844"/>
                  </a:lnTo>
                  <a:lnTo>
                    <a:pt x="490" y="29095"/>
                  </a:lnTo>
                  <a:lnTo>
                    <a:pt x="23703" y="19883"/>
                  </a:lnTo>
                  <a:lnTo>
                    <a:pt x="47956" y="14547"/>
                  </a:lnTo>
                  <a:lnTo>
                    <a:pt x="23703" y="9211"/>
                  </a:lnTo>
                  <a:lnTo>
                    <a:pt x="490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7" name="object 97"/>
            <p:cNvSpPr/>
            <p:nvPr/>
          </p:nvSpPr>
          <p:spPr>
            <a:xfrm>
              <a:off x="11051674" y="3696705"/>
              <a:ext cx="107950" cy="0"/>
            </a:xfrm>
            <a:custGeom>
              <a:avLst/>
              <a:gdLst/>
              <a:ahLst/>
              <a:cxnLst/>
              <a:rect l="l" t="t" r="r" b="b"/>
              <a:pathLst>
                <a:path w="107950" h="0">
                  <a:moveTo>
                    <a:pt x="0" y="0"/>
                  </a:moveTo>
                  <a:lnTo>
                    <a:pt x="107741" y="0"/>
                  </a:lnTo>
                </a:path>
              </a:pathLst>
            </a:custGeom>
            <a:ln w="8972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8" name="object 98"/>
            <p:cNvSpPr/>
            <p:nvPr/>
          </p:nvSpPr>
          <p:spPr>
            <a:xfrm>
              <a:off x="11149900" y="3685794"/>
              <a:ext cx="36195" cy="22225"/>
            </a:xfrm>
            <a:custGeom>
              <a:avLst/>
              <a:gdLst/>
              <a:ahLst/>
              <a:cxnLst/>
              <a:rect l="l" t="t" r="r" b="b"/>
              <a:pathLst>
                <a:path w="36195" h="22225">
                  <a:moveTo>
                    <a:pt x="358" y="0"/>
                  </a:moveTo>
                  <a:lnTo>
                    <a:pt x="0" y="239"/>
                  </a:lnTo>
                  <a:lnTo>
                    <a:pt x="6488" y="10910"/>
                  </a:lnTo>
                  <a:lnTo>
                    <a:pt x="0" y="21630"/>
                  </a:lnTo>
                  <a:lnTo>
                    <a:pt x="358" y="21821"/>
                  </a:lnTo>
                  <a:lnTo>
                    <a:pt x="17765" y="14906"/>
                  </a:lnTo>
                  <a:lnTo>
                    <a:pt x="35973" y="10910"/>
                  </a:lnTo>
                  <a:lnTo>
                    <a:pt x="17765" y="6915"/>
                  </a:lnTo>
                  <a:lnTo>
                    <a:pt x="358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9" name="object 99"/>
            <p:cNvSpPr/>
            <p:nvPr/>
          </p:nvSpPr>
          <p:spPr>
            <a:xfrm>
              <a:off x="10766352" y="3624923"/>
              <a:ext cx="285750" cy="144145"/>
            </a:xfrm>
            <a:custGeom>
              <a:avLst/>
              <a:gdLst/>
              <a:ahLst/>
              <a:cxnLst/>
              <a:rect l="l" t="t" r="r" b="b"/>
              <a:pathLst>
                <a:path w="285750" h="144145">
                  <a:moveTo>
                    <a:pt x="285322" y="0"/>
                  </a:moveTo>
                  <a:lnTo>
                    <a:pt x="0" y="0"/>
                  </a:lnTo>
                  <a:lnTo>
                    <a:pt x="0" y="143564"/>
                  </a:lnTo>
                  <a:lnTo>
                    <a:pt x="285322" y="143564"/>
                  </a:lnTo>
                  <a:lnTo>
                    <a:pt x="28532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0" name="object 100"/>
          <p:cNvSpPr txBox="1"/>
          <p:nvPr/>
        </p:nvSpPr>
        <p:spPr>
          <a:xfrm>
            <a:off x="10766352" y="3624923"/>
            <a:ext cx="142240" cy="144145"/>
          </a:xfrm>
          <a:prstGeom prst="rect">
            <a:avLst/>
          </a:prstGeom>
          <a:solidFill>
            <a:srgbClr val="FFFFFF"/>
          </a:solidFill>
          <a:ln w="5985">
            <a:solidFill>
              <a:srgbClr val="231F20"/>
            </a:solidFill>
          </a:ln>
        </p:spPr>
        <p:txBody>
          <a:bodyPr wrap="square" lIns="0" tIns="12065" rIns="0" bIns="0" rtlCol="0" vert="horz">
            <a:spAutoFit/>
          </a:bodyPr>
          <a:lstStyle/>
          <a:p>
            <a:pPr marL="43815">
              <a:lnSpc>
                <a:spcPct val="100000"/>
              </a:lnSpc>
              <a:spcBef>
                <a:spcPts val="95"/>
              </a:spcBef>
            </a:pPr>
            <a:r>
              <a:rPr dirty="0" sz="750" spc="-15">
                <a:solidFill>
                  <a:srgbClr val="231F20"/>
                </a:solidFill>
                <a:latin typeface="Lucida Sans Typewriter"/>
                <a:cs typeface="Lucida Sans Typewriter"/>
              </a:rPr>
              <a:t>M</a:t>
            </a:r>
            <a:endParaRPr sz="750">
              <a:latin typeface="Lucida Sans Typewriter"/>
              <a:cs typeface="Lucida Sans Typewriter"/>
            </a:endParaRPr>
          </a:p>
        </p:txBody>
      </p:sp>
      <p:sp>
        <p:nvSpPr>
          <p:cNvPr id="101" name="object 101"/>
          <p:cNvSpPr txBox="1"/>
          <p:nvPr/>
        </p:nvSpPr>
        <p:spPr>
          <a:xfrm>
            <a:off x="10908019" y="3624923"/>
            <a:ext cx="144145" cy="144145"/>
          </a:xfrm>
          <a:prstGeom prst="rect">
            <a:avLst/>
          </a:prstGeom>
          <a:solidFill>
            <a:srgbClr val="FFFFFF"/>
          </a:solidFill>
          <a:ln w="5982">
            <a:solidFill>
              <a:srgbClr val="231F20"/>
            </a:solidFill>
          </a:ln>
        </p:spPr>
        <p:txBody>
          <a:bodyPr wrap="square" lIns="0" tIns="12065" rIns="0" bIns="0" rtlCol="0" vert="horz">
            <a:spAutoFit/>
          </a:bodyPr>
          <a:lstStyle/>
          <a:p>
            <a:pPr marL="45720">
              <a:lnSpc>
                <a:spcPct val="100000"/>
              </a:lnSpc>
              <a:spcBef>
                <a:spcPts val="95"/>
              </a:spcBef>
            </a:pPr>
            <a:r>
              <a:rPr dirty="0" sz="750" spc="-15">
                <a:solidFill>
                  <a:srgbClr val="BBBDC0"/>
                </a:solidFill>
                <a:latin typeface="Lucida Sans Typewriter"/>
                <a:cs typeface="Lucida Sans Typewriter"/>
              </a:rPr>
              <a:t>9</a:t>
            </a:r>
            <a:endParaRPr sz="750">
              <a:latin typeface="Lucida Sans Typewriter"/>
              <a:cs typeface="Lucida Sans Typewriter"/>
            </a:endParaRPr>
          </a:p>
        </p:txBody>
      </p:sp>
      <p:sp>
        <p:nvSpPr>
          <p:cNvPr id="102" name="object 102"/>
          <p:cNvSpPr txBox="1"/>
          <p:nvPr/>
        </p:nvSpPr>
        <p:spPr>
          <a:xfrm>
            <a:off x="10769258" y="2408653"/>
            <a:ext cx="172720" cy="1403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 spc="-5" i="1">
                <a:solidFill>
                  <a:srgbClr val="BF311A"/>
                </a:solidFill>
                <a:latin typeface="Candara"/>
                <a:cs typeface="Candara"/>
              </a:rPr>
              <a:t>n</a:t>
            </a:r>
            <a:r>
              <a:rPr dirty="0" sz="750" spc="5" i="1">
                <a:solidFill>
                  <a:srgbClr val="BF311A"/>
                </a:solidFill>
                <a:latin typeface="Candara"/>
                <a:cs typeface="Candara"/>
              </a:rPr>
              <a:t>ul</a:t>
            </a:r>
            <a:r>
              <a:rPr dirty="0" sz="750" spc="10" i="1">
                <a:solidFill>
                  <a:srgbClr val="BF311A"/>
                </a:solidFill>
                <a:latin typeface="Candara"/>
                <a:cs typeface="Candara"/>
              </a:rPr>
              <a:t>l</a:t>
            </a:r>
            <a:endParaRPr sz="750">
              <a:latin typeface="Candara"/>
              <a:cs typeface="Candara"/>
            </a:endParaRPr>
          </a:p>
        </p:txBody>
      </p:sp>
      <p:sp>
        <p:nvSpPr>
          <p:cNvPr id="103" name="object 103"/>
          <p:cNvSpPr txBox="1"/>
          <p:nvPr/>
        </p:nvSpPr>
        <p:spPr>
          <a:xfrm>
            <a:off x="7458557" y="3962489"/>
            <a:ext cx="70485" cy="1111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550" spc="5">
                <a:solidFill>
                  <a:srgbClr val="8D3124"/>
                </a:solidFill>
                <a:latin typeface="Lucida Sans"/>
                <a:cs typeface="Lucida Sans"/>
              </a:rPr>
              <a:t>0</a:t>
            </a:r>
            <a:endParaRPr sz="550">
              <a:latin typeface="Lucida Sans"/>
              <a:cs typeface="Lucida Sans"/>
            </a:endParaRPr>
          </a:p>
        </p:txBody>
      </p:sp>
      <p:sp>
        <p:nvSpPr>
          <p:cNvPr id="104" name="object 104"/>
          <p:cNvSpPr txBox="1"/>
          <p:nvPr/>
        </p:nvSpPr>
        <p:spPr>
          <a:xfrm>
            <a:off x="7658138" y="3962489"/>
            <a:ext cx="70485" cy="1111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550" spc="5">
                <a:solidFill>
                  <a:srgbClr val="8D3124"/>
                </a:solidFill>
                <a:latin typeface="Lucida Sans"/>
                <a:cs typeface="Lucida Sans"/>
              </a:rPr>
              <a:t>1</a:t>
            </a:r>
            <a:endParaRPr sz="550">
              <a:latin typeface="Lucida Sans"/>
              <a:cs typeface="Lucida Sans"/>
            </a:endParaRPr>
          </a:p>
        </p:txBody>
      </p:sp>
      <p:sp>
        <p:nvSpPr>
          <p:cNvPr id="105" name="object 105"/>
          <p:cNvSpPr txBox="1"/>
          <p:nvPr/>
        </p:nvSpPr>
        <p:spPr>
          <a:xfrm>
            <a:off x="7857719" y="3962489"/>
            <a:ext cx="70485" cy="1111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550" spc="5">
                <a:solidFill>
                  <a:srgbClr val="8D3124"/>
                </a:solidFill>
                <a:latin typeface="Lucida Sans"/>
                <a:cs typeface="Lucida Sans"/>
              </a:rPr>
              <a:t>2</a:t>
            </a:r>
            <a:endParaRPr sz="550">
              <a:latin typeface="Lucida Sans"/>
              <a:cs typeface="Lucida Sans"/>
            </a:endParaRPr>
          </a:p>
        </p:txBody>
      </p:sp>
      <p:sp>
        <p:nvSpPr>
          <p:cNvPr id="106" name="object 106"/>
          <p:cNvSpPr txBox="1"/>
          <p:nvPr/>
        </p:nvSpPr>
        <p:spPr>
          <a:xfrm>
            <a:off x="8057300" y="3962489"/>
            <a:ext cx="70485" cy="1111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550" spc="5">
                <a:solidFill>
                  <a:srgbClr val="8D3124"/>
                </a:solidFill>
                <a:latin typeface="Lucida Sans"/>
                <a:cs typeface="Lucida Sans"/>
              </a:rPr>
              <a:t>3</a:t>
            </a:r>
            <a:endParaRPr sz="550">
              <a:latin typeface="Lucida Sans"/>
              <a:cs typeface="Lucida Sans"/>
            </a:endParaRPr>
          </a:p>
        </p:txBody>
      </p:sp>
      <p:sp>
        <p:nvSpPr>
          <p:cNvPr id="107" name="object 107"/>
          <p:cNvSpPr txBox="1"/>
          <p:nvPr/>
        </p:nvSpPr>
        <p:spPr>
          <a:xfrm>
            <a:off x="8256881" y="3962489"/>
            <a:ext cx="70485" cy="1111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550" spc="5">
                <a:solidFill>
                  <a:srgbClr val="8D3124"/>
                </a:solidFill>
                <a:latin typeface="Lucida Sans"/>
                <a:cs typeface="Lucida Sans"/>
              </a:rPr>
              <a:t>4</a:t>
            </a:r>
            <a:endParaRPr sz="550">
              <a:latin typeface="Lucida Sans"/>
              <a:cs typeface="Lucida Sans"/>
            </a:endParaRPr>
          </a:p>
        </p:txBody>
      </p:sp>
      <p:sp>
        <p:nvSpPr>
          <p:cNvPr id="108" name="object 108"/>
          <p:cNvSpPr txBox="1"/>
          <p:nvPr/>
        </p:nvSpPr>
        <p:spPr>
          <a:xfrm>
            <a:off x="8456462" y="3962489"/>
            <a:ext cx="70485" cy="1111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550" spc="5">
                <a:solidFill>
                  <a:srgbClr val="8D3124"/>
                </a:solidFill>
                <a:latin typeface="Lucida Sans"/>
                <a:cs typeface="Lucida Sans"/>
              </a:rPr>
              <a:t>5</a:t>
            </a:r>
            <a:endParaRPr sz="550">
              <a:latin typeface="Lucida Sans"/>
              <a:cs typeface="Lucida Sans"/>
            </a:endParaRPr>
          </a:p>
        </p:txBody>
      </p:sp>
      <p:sp>
        <p:nvSpPr>
          <p:cNvPr id="109" name="object 109"/>
          <p:cNvSpPr txBox="1"/>
          <p:nvPr/>
        </p:nvSpPr>
        <p:spPr>
          <a:xfrm>
            <a:off x="8656042" y="3962489"/>
            <a:ext cx="70485" cy="1111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550" spc="5">
                <a:solidFill>
                  <a:srgbClr val="8D3124"/>
                </a:solidFill>
                <a:latin typeface="Lucida Sans"/>
                <a:cs typeface="Lucida Sans"/>
              </a:rPr>
              <a:t>6</a:t>
            </a:r>
            <a:endParaRPr sz="550">
              <a:latin typeface="Lucida Sans"/>
              <a:cs typeface="Lucida Sans"/>
            </a:endParaRPr>
          </a:p>
        </p:txBody>
      </p:sp>
      <p:sp>
        <p:nvSpPr>
          <p:cNvPr id="110" name="object 110"/>
          <p:cNvSpPr txBox="1"/>
          <p:nvPr/>
        </p:nvSpPr>
        <p:spPr>
          <a:xfrm>
            <a:off x="8855623" y="3962489"/>
            <a:ext cx="70485" cy="1111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550" spc="5">
                <a:solidFill>
                  <a:srgbClr val="8D3124"/>
                </a:solidFill>
                <a:latin typeface="Lucida Sans"/>
                <a:cs typeface="Lucida Sans"/>
              </a:rPr>
              <a:t>7</a:t>
            </a:r>
            <a:endParaRPr sz="550">
              <a:latin typeface="Lucida Sans"/>
              <a:cs typeface="Lucida Sans"/>
            </a:endParaRPr>
          </a:p>
        </p:txBody>
      </p:sp>
      <p:sp>
        <p:nvSpPr>
          <p:cNvPr id="111" name="object 111"/>
          <p:cNvSpPr txBox="1"/>
          <p:nvPr/>
        </p:nvSpPr>
        <p:spPr>
          <a:xfrm>
            <a:off x="9055204" y="3962489"/>
            <a:ext cx="70485" cy="1111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550" spc="5">
                <a:solidFill>
                  <a:srgbClr val="8D3124"/>
                </a:solidFill>
                <a:latin typeface="Lucida Sans"/>
                <a:cs typeface="Lucida Sans"/>
              </a:rPr>
              <a:t>8</a:t>
            </a:r>
            <a:endParaRPr sz="550">
              <a:latin typeface="Lucida Sans"/>
              <a:cs typeface="Lucida Sans"/>
            </a:endParaRPr>
          </a:p>
        </p:txBody>
      </p:sp>
      <p:sp>
        <p:nvSpPr>
          <p:cNvPr id="112" name="object 112"/>
          <p:cNvSpPr txBox="1"/>
          <p:nvPr/>
        </p:nvSpPr>
        <p:spPr>
          <a:xfrm>
            <a:off x="9254785" y="3962489"/>
            <a:ext cx="1290955" cy="1111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189230" algn="l"/>
              </a:tabLst>
            </a:pPr>
            <a:r>
              <a:rPr dirty="0" sz="550" spc="5">
                <a:solidFill>
                  <a:srgbClr val="8D3124"/>
                </a:solidFill>
                <a:latin typeface="Lucida Sans"/>
                <a:cs typeface="Lucida Sans"/>
              </a:rPr>
              <a:t>9</a:t>
            </a:r>
            <a:r>
              <a:rPr dirty="0" sz="550" spc="5">
                <a:solidFill>
                  <a:srgbClr val="8D3124"/>
                </a:solidFill>
                <a:latin typeface="Lucida Sans"/>
                <a:cs typeface="Lucida Sans"/>
              </a:rPr>
              <a:t>	</a:t>
            </a:r>
            <a:r>
              <a:rPr dirty="0" sz="550" spc="5">
                <a:solidFill>
                  <a:srgbClr val="8D3124"/>
                </a:solidFill>
                <a:latin typeface="Lucida Sans"/>
                <a:cs typeface="Lucida Sans"/>
              </a:rPr>
              <a:t>10</a:t>
            </a:r>
            <a:r>
              <a:rPr dirty="0" sz="550" spc="5">
                <a:solidFill>
                  <a:srgbClr val="8D3124"/>
                </a:solidFill>
                <a:latin typeface="Lucida Sans"/>
                <a:cs typeface="Lucida Sans"/>
              </a:rPr>
              <a:t>    </a:t>
            </a:r>
            <a:r>
              <a:rPr dirty="0" sz="550" spc="-10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dirty="0" sz="550" spc="5">
                <a:solidFill>
                  <a:srgbClr val="8D3124"/>
                </a:solidFill>
                <a:latin typeface="Lucida Sans"/>
                <a:cs typeface="Lucida Sans"/>
              </a:rPr>
              <a:t>11</a:t>
            </a:r>
            <a:r>
              <a:rPr dirty="0" sz="550">
                <a:solidFill>
                  <a:srgbClr val="8D3124"/>
                </a:solidFill>
                <a:latin typeface="Lucida Sans"/>
                <a:cs typeface="Lucida Sans"/>
              </a:rPr>
              <a:t>    </a:t>
            </a:r>
            <a:r>
              <a:rPr dirty="0" sz="550" spc="-10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dirty="0" sz="550" spc="5">
                <a:solidFill>
                  <a:srgbClr val="8D3124"/>
                </a:solidFill>
                <a:latin typeface="Lucida Sans"/>
                <a:cs typeface="Lucida Sans"/>
              </a:rPr>
              <a:t>12</a:t>
            </a:r>
            <a:r>
              <a:rPr dirty="0" sz="550">
                <a:solidFill>
                  <a:srgbClr val="8D3124"/>
                </a:solidFill>
                <a:latin typeface="Lucida Sans"/>
                <a:cs typeface="Lucida Sans"/>
              </a:rPr>
              <a:t>    </a:t>
            </a:r>
            <a:r>
              <a:rPr dirty="0" sz="550" spc="-10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dirty="0" sz="550" spc="5">
                <a:solidFill>
                  <a:srgbClr val="8D3124"/>
                </a:solidFill>
                <a:latin typeface="Lucida Sans"/>
                <a:cs typeface="Lucida Sans"/>
              </a:rPr>
              <a:t>13</a:t>
            </a:r>
            <a:r>
              <a:rPr dirty="0" sz="550">
                <a:solidFill>
                  <a:srgbClr val="8D3124"/>
                </a:solidFill>
                <a:latin typeface="Lucida Sans"/>
                <a:cs typeface="Lucida Sans"/>
              </a:rPr>
              <a:t>    </a:t>
            </a:r>
            <a:r>
              <a:rPr dirty="0" sz="550" spc="-10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dirty="0" sz="550" spc="5">
                <a:solidFill>
                  <a:srgbClr val="8D3124"/>
                </a:solidFill>
                <a:latin typeface="Lucida Sans"/>
                <a:cs typeface="Lucida Sans"/>
              </a:rPr>
              <a:t>14</a:t>
            </a:r>
            <a:r>
              <a:rPr dirty="0" sz="550">
                <a:solidFill>
                  <a:srgbClr val="8D3124"/>
                </a:solidFill>
                <a:latin typeface="Lucida Sans"/>
                <a:cs typeface="Lucida Sans"/>
              </a:rPr>
              <a:t>    </a:t>
            </a:r>
            <a:r>
              <a:rPr dirty="0" sz="550" spc="-10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dirty="0" sz="550" spc="5">
                <a:solidFill>
                  <a:srgbClr val="8D3124"/>
                </a:solidFill>
                <a:latin typeface="Lucida Sans"/>
                <a:cs typeface="Lucida Sans"/>
              </a:rPr>
              <a:t>15</a:t>
            </a:r>
            <a:endParaRPr sz="550">
              <a:latin typeface="Lucida Sans"/>
              <a:cs typeface="Lucida Sans"/>
            </a:endParaRPr>
          </a:p>
        </p:txBody>
      </p:sp>
      <p:graphicFrame>
        <p:nvGraphicFramePr>
          <p:cNvPr id="113" name="object 113"/>
          <p:cNvGraphicFramePr>
            <a:graphicFrameLocks noGrp="1"/>
          </p:cNvGraphicFramePr>
          <p:nvPr/>
        </p:nvGraphicFramePr>
        <p:xfrm>
          <a:off x="7379535" y="4126498"/>
          <a:ext cx="3195955" cy="3987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9390"/>
                <a:gridCol w="199390"/>
                <a:gridCol w="199389"/>
                <a:gridCol w="199390"/>
                <a:gridCol w="199390"/>
                <a:gridCol w="199390"/>
                <a:gridCol w="199390"/>
                <a:gridCol w="199390"/>
                <a:gridCol w="199390"/>
                <a:gridCol w="199389"/>
                <a:gridCol w="199389"/>
                <a:gridCol w="199389"/>
                <a:gridCol w="199389"/>
                <a:gridCol w="199389"/>
                <a:gridCol w="199389"/>
                <a:gridCol w="199389"/>
              </a:tblGrid>
              <a:tr h="199390"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dirty="0" sz="750">
                          <a:latin typeface="Lucida Sans"/>
                          <a:cs typeface="Lucida Sans"/>
                        </a:rPr>
                        <a:t>P</a:t>
                      </a:r>
                      <a:endParaRPr sz="750">
                        <a:latin typeface="Lucida Sans"/>
                        <a:cs typeface="Lucida Sans"/>
                      </a:endParaRPr>
                    </a:p>
                  </a:txBody>
                  <a:tcPr marL="0" marR="0" marB="0" marT="29845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dirty="0" sz="750">
                          <a:latin typeface="Lucida Sans"/>
                          <a:cs typeface="Lucida Sans"/>
                        </a:rPr>
                        <a:t>M</a:t>
                      </a:r>
                      <a:endParaRPr sz="750">
                        <a:latin typeface="Lucida Sans"/>
                        <a:cs typeface="Lucida Sans"/>
                      </a:endParaRPr>
                    </a:p>
                  </a:txBody>
                  <a:tcPr marL="0" marR="0" marB="0" marT="29845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dirty="0" sz="750">
                          <a:latin typeface="Lucida Sans"/>
                          <a:cs typeface="Lucida Sans"/>
                        </a:rPr>
                        <a:t>A</a:t>
                      </a:r>
                      <a:endParaRPr sz="750">
                        <a:latin typeface="Lucida Sans"/>
                        <a:cs typeface="Lucida Sans"/>
                      </a:endParaRPr>
                    </a:p>
                  </a:txBody>
                  <a:tcPr marL="0" marR="0" marB="0" marT="29845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dirty="0" sz="750">
                          <a:latin typeface="Lucida Sans"/>
                          <a:cs typeface="Lucida Sans"/>
                        </a:rPr>
                        <a:t>C</a:t>
                      </a:r>
                      <a:endParaRPr sz="750">
                        <a:latin typeface="Lucida Sans"/>
                        <a:cs typeface="Lucida Sans"/>
                      </a:endParaRPr>
                    </a:p>
                  </a:txBody>
                  <a:tcPr marL="0" marR="0" marB="0" marT="29845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7366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dirty="0" sz="750">
                          <a:latin typeface="Lucida Sans"/>
                          <a:cs typeface="Lucida Sans"/>
                        </a:rPr>
                        <a:t>S</a:t>
                      </a:r>
                      <a:endParaRPr sz="750">
                        <a:latin typeface="Lucida Sans"/>
                        <a:cs typeface="Lucida Sans"/>
                      </a:endParaRPr>
                    </a:p>
                  </a:txBody>
                  <a:tcPr marL="0" marR="0" marB="0" marT="29845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4769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dirty="0" sz="750">
                          <a:latin typeface="Lucida Sans"/>
                          <a:cs typeface="Lucida Sans"/>
                        </a:rPr>
                        <a:t>H</a:t>
                      </a:r>
                      <a:endParaRPr sz="750">
                        <a:latin typeface="Lucida Sans"/>
                        <a:cs typeface="Lucida Sans"/>
                      </a:endParaRPr>
                    </a:p>
                  </a:txBody>
                  <a:tcPr marL="0" marR="0" marB="0" marT="29845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dirty="0" sz="750">
                          <a:latin typeface="Lucida Sans"/>
                          <a:cs typeface="Lucida Sans"/>
                        </a:rPr>
                        <a:t>L</a:t>
                      </a:r>
                      <a:endParaRPr sz="750">
                        <a:latin typeface="Lucida Sans"/>
                        <a:cs typeface="Lucida Sans"/>
                      </a:endParaRPr>
                    </a:p>
                  </a:txBody>
                  <a:tcPr marL="0" marR="0" marB="0" marT="29845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dirty="0" sz="750">
                          <a:latin typeface="Lucida Sans"/>
                          <a:cs typeface="Lucida Sans"/>
                        </a:rPr>
                        <a:t>E</a:t>
                      </a:r>
                      <a:endParaRPr sz="750">
                        <a:latin typeface="Lucida Sans"/>
                        <a:cs typeface="Lucida Sans"/>
                      </a:endParaRPr>
                    </a:p>
                  </a:txBody>
                  <a:tcPr marL="0" marR="0" marB="0" marT="29845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marR="61594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dirty="0" sz="750">
                          <a:latin typeface="Lucida Sans"/>
                          <a:cs typeface="Lucida Sans"/>
                        </a:rPr>
                        <a:t>R</a:t>
                      </a:r>
                      <a:endParaRPr sz="750">
                        <a:latin typeface="Lucida Sans"/>
                        <a:cs typeface="Lucida Sans"/>
                      </a:endParaRPr>
                    </a:p>
                  </a:txBody>
                  <a:tcPr marL="0" marR="0" marB="0" marT="29845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marR="6223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dirty="0" sz="750">
                          <a:latin typeface="Lucida Sans"/>
                          <a:cs typeface="Lucida Sans"/>
                        </a:rPr>
                        <a:t>X</a:t>
                      </a:r>
                      <a:endParaRPr sz="750">
                        <a:latin typeface="Lucida Sans"/>
                        <a:cs typeface="Lucida Sans"/>
                      </a:endParaRPr>
                    </a:p>
                  </a:txBody>
                  <a:tcPr marL="0" marR="0" marB="0" marT="29845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99390">
                <a:tc>
                  <a:txBody>
                    <a:bodyPr/>
                    <a:lstStyle/>
                    <a:p>
                      <a:pPr marL="5334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dirty="0" sz="750" spc="-5">
                          <a:solidFill>
                            <a:srgbClr val="BABABA"/>
                          </a:solidFill>
                          <a:latin typeface="Lucida Sans"/>
                          <a:cs typeface="Lucida Sans"/>
                        </a:rPr>
                        <a:t>10</a:t>
                      </a:r>
                      <a:endParaRPr sz="750">
                        <a:latin typeface="Lucida Sans"/>
                        <a:cs typeface="Lucida Sans"/>
                      </a:endParaRPr>
                    </a:p>
                  </a:txBody>
                  <a:tcPr marL="0" marR="0" marB="0" marT="29845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730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dirty="0" sz="750">
                          <a:solidFill>
                            <a:srgbClr val="BABABA"/>
                          </a:solidFill>
                          <a:latin typeface="Lucida Sans"/>
                          <a:cs typeface="Lucida Sans"/>
                        </a:rPr>
                        <a:t>9</a:t>
                      </a:r>
                      <a:endParaRPr sz="750">
                        <a:latin typeface="Lucida Sans"/>
                        <a:cs typeface="Lucida Sans"/>
                      </a:endParaRPr>
                    </a:p>
                  </a:txBody>
                  <a:tcPr marL="0" marR="0" marB="0" marT="29845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730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dirty="0" sz="750">
                          <a:solidFill>
                            <a:srgbClr val="BABABA"/>
                          </a:solidFill>
                          <a:latin typeface="Lucida Sans"/>
                          <a:cs typeface="Lucida Sans"/>
                        </a:rPr>
                        <a:t>8</a:t>
                      </a:r>
                      <a:endParaRPr sz="750">
                        <a:latin typeface="Lucida Sans"/>
                        <a:cs typeface="Lucida Sans"/>
                      </a:endParaRPr>
                    </a:p>
                  </a:txBody>
                  <a:tcPr marL="0" marR="0" marB="0" marT="29845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730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dirty="0" sz="750">
                          <a:solidFill>
                            <a:srgbClr val="BABABA"/>
                          </a:solidFill>
                          <a:latin typeface="Lucida Sans"/>
                          <a:cs typeface="Lucida Sans"/>
                        </a:rPr>
                        <a:t>4</a:t>
                      </a:r>
                      <a:endParaRPr sz="750">
                        <a:latin typeface="Lucida Sans"/>
                        <a:cs typeface="Lucida Sans"/>
                      </a:endParaRPr>
                    </a:p>
                  </a:txBody>
                  <a:tcPr marL="0" marR="0" marB="0" marT="29845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318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dirty="0" sz="750">
                          <a:solidFill>
                            <a:srgbClr val="BABABA"/>
                          </a:solidFill>
                          <a:latin typeface="Lucida Sans"/>
                          <a:cs typeface="Lucida Sans"/>
                        </a:rPr>
                        <a:t>0</a:t>
                      </a:r>
                      <a:endParaRPr sz="750">
                        <a:latin typeface="Lucida Sans"/>
                        <a:cs typeface="Lucida Sans"/>
                      </a:endParaRPr>
                    </a:p>
                  </a:txBody>
                  <a:tcPr marL="0" marR="0" marB="0" marT="29845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318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dirty="0" sz="750">
                          <a:solidFill>
                            <a:srgbClr val="BABABA"/>
                          </a:solidFill>
                          <a:latin typeface="Lucida Sans"/>
                          <a:cs typeface="Lucida Sans"/>
                        </a:rPr>
                        <a:t>5</a:t>
                      </a:r>
                      <a:endParaRPr sz="750">
                        <a:latin typeface="Lucida Sans"/>
                        <a:cs typeface="Lucida Sans"/>
                      </a:endParaRPr>
                    </a:p>
                  </a:txBody>
                  <a:tcPr marL="0" marR="0" marB="0" marT="29845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730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dirty="0" sz="750" spc="-5">
                          <a:solidFill>
                            <a:srgbClr val="BABABA"/>
                          </a:solidFill>
                          <a:latin typeface="Lucida Sans"/>
                          <a:cs typeface="Lucida Sans"/>
                        </a:rPr>
                        <a:t>11</a:t>
                      </a:r>
                      <a:endParaRPr sz="750">
                        <a:latin typeface="Lucida Sans"/>
                        <a:cs typeface="Lucida Sans"/>
                      </a:endParaRPr>
                    </a:p>
                  </a:txBody>
                  <a:tcPr marL="0" marR="0" marB="0" marT="29845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730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dirty="0" sz="750" spc="-5">
                          <a:solidFill>
                            <a:srgbClr val="BABABA"/>
                          </a:solidFill>
                          <a:latin typeface="Lucida Sans"/>
                          <a:cs typeface="Lucida Sans"/>
                        </a:rPr>
                        <a:t>12</a:t>
                      </a:r>
                      <a:endParaRPr sz="750">
                        <a:latin typeface="Lucida Sans"/>
                        <a:cs typeface="Lucida Sans"/>
                      </a:endParaRPr>
                    </a:p>
                  </a:txBody>
                  <a:tcPr marL="0" marR="0" marB="0" marT="29845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marR="4826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dirty="0" sz="750">
                          <a:solidFill>
                            <a:srgbClr val="BABABA"/>
                          </a:solidFill>
                          <a:latin typeface="Lucida Sans"/>
                          <a:cs typeface="Lucida Sans"/>
                        </a:rPr>
                        <a:t>3</a:t>
                      </a:r>
                      <a:endParaRPr sz="750">
                        <a:latin typeface="Lucida Sans"/>
                        <a:cs typeface="Lucida Sans"/>
                      </a:endParaRPr>
                    </a:p>
                  </a:txBody>
                  <a:tcPr marL="0" marR="0" marB="0" marT="29845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marR="4826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dirty="0" sz="750">
                          <a:solidFill>
                            <a:srgbClr val="BABABA"/>
                          </a:solidFill>
                          <a:latin typeface="Lucida Sans"/>
                          <a:cs typeface="Lucida Sans"/>
                        </a:rPr>
                        <a:t>7</a:t>
                      </a:r>
                      <a:endParaRPr sz="750">
                        <a:latin typeface="Lucida Sans"/>
                        <a:cs typeface="Lucida Sans"/>
                      </a:endParaRPr>
                    </a:p>
                  </a:txBody>
                  <a:tcPr marL="0" marR="0" marB="0" marT="29845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4" name="object 114"/>
          <p:cNvSpPr txBox="1"/>
          <p:nvPr/>
        </p:nvSpPr>
        <p:spPr>
          <a:xfrm>
            <a:off x="6888943" y="4159251"/>
            <a:ext cx="370205" cy="3397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50" spc="-5">
                <a:solidFill>
                  <a:srgbClr val="8D3124"/>
                </a:solidFill>
                <a:latin typeface="Lucida Sans Typewriter"/>
                <a:cs typeface="Lucida Sans Typewriter"/>
              </a:rPr>
              <a:t>keys[]</a:t>
            </a:r>
            <a:endParaRPr sz="750">
              <a:latin typeface="Lucida Sans Typewriter"/>
              <a:cs typeface="Lucida Sans Typewriter"/>
            </a:endParaRPr>
          </a:p>
          <a:p>
            <a:pPr marL="14604">
              <a:lnSpc>
                <a:spcPct val="100000"/>
              </a:lnSpc>
              <a:spcBef>
                <a:spcPts val="675"/>
              </a:spcBef>
            </a:pPr>
            <a:r>
              <a:rPr dirty="0" sz="750" spc="-5">
                <a:solidFill>
                  <a:srgbClr val="8D3124"/>
                </a:solidFill>
                <a:latin typeface="Lucida Sans Typewriter"/>
                <a:cs typeface="Lucida Sans Typewriter"/>
              </a:rPr>
              <a:t>vals[]</a:t>
            </a:r>
            <a:endParaRPr sz="750">
              <a:latin typeface="Lucida Sans Typewriter"/>
              <a:cs typeface="Lucida Sans Typewriter"/>
            </a:endParaRPr>
          </a:p>
        </p:txBody>
      </p:sp>
      <p:grpSp>
        <p:nvGrpSpPr>
          <p:cNvPr id="115" name="object 115"/>
          <p:cNvGrpSpPr/>
          <p:nvPr/>
        </p:nvGrpSpPr>
        <p:grpSpPr>
          <a:xfrm>
            <a:off x="346176" y="4966780"/>
            <a:ext cx="6066790" cy="4549775"/>
            <a:chOff x="346176" y="4966780"/>
            <a:chExt cx="6066790" cy="4549775"/>
          </a:xfrm>
        </p:grpSpPr>
        <p:sp>
          <p:nvSpPr>
            <p:cNvPr id="116" name="object 116"/>
            <p:cNvSpPr/>
            <p:nvPr/>
          </p:nvSpPr>
          <p:spPr>
            <a:xfrm>
              <a:off x="346176" y="4966780"/>
              <a:ext cx="6066790" cy="4549775"/>
            </a:xfrm>
            <a:custGeom>
              <a:avLst/>
              <a:gdLst/>
              <a:ahLst/>
              <a:cxnLst/>
              <a:rect l="l" t="t" r="r" b="b"/>
              <a:pathLst>
                <a:path w="6066790" h="4549775">
                  <a:moveTo>
                    <a:pt x="0" y="0"/>
                  </a:moveTo>
                  <a:lnTo>
                    <a:pt x="6066212" y="0"/>
                  </a:lnTo>
                  <a:lnTo>
                    <a:pt x="6066212" y="4549659"/>
                  </a:lnTo>
                  <a:lnTo>
                    <a:pt x="0" y="45496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7" name="object 117"/>
            <p:cNvSpPr/>
            <p:nvPr/>
          </p:nvSpPr>
          <p:spPr>
            <a:xfrm>
              <a:off x="731238" y="5428805"/>
              <a:ext cx="5302250" cy="635"/>
            </a:xfrm>
            <a:custGeom>
              <a:avLst/>
              <a:gdLst/>
              <a:ahLst/>
              <a:cxnLst/>
              <a:rect l="l" t="t" r="r" b="b"/>
              <a:pathLst>
                <a:path w="5302250" h="635">
                  <a:moveTo>
                    <a:pt x="0" y="49"/>
                  </a:moveTo>
                  <a:lnTo>
                    <a:pt x="5302012" y="0"/>
                  </a:lnTo>
                </a:path>
              </a:pathLst>
            </a:custGeom>
            <a:ln w="59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8" name="object 118"/>
          <p:cNvSpPr txBox="1"/>
          <p:nvPr/>
        </p:nvSpPr>
        <p:spPr>
          <a:xfrm>
            <a:off x="752697" y="5125877"/>
            <a:ext cx="2486025" cy="2247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dirty="0" sz="1300" spc="5">
                <a:latin typeface="Arial"/>
                <a:cs typeface="Arial"/>
              </a:rPr>
              <a:t>Hashing:</a:t>
            </a:r>
            <a:r>
              <a:rPr dirty="0" sz="1300" spc="30">
                <a:latin typeface="Arial"/>
                <a:cs typeface="Arial"/>
              </a:rPr>
              <a:t> </a:t>
            </a:r>
            <a:r>
              <a:rPr dirty="0" sz="1300" spc="15">
                <a:latin typeface="Arial"/>
                <a:cs typeface="Arial"/>
              </a:rPr>
              <a:t>variations</a:t>
            </a:r>
            <a:r>
              <a:rPr dirty="0" sz="1300" spc="35">
                <a:latin typeface="Arial"/>
                <a:cs typeface="Arial"/>
              </a:rPr>
              <a:t> </a:t>
            </a:r>
            <a:r>
              <a:rPr dirty="0" sz="1300" spc="25">
                <a:latin typeface="Arial"/>
                <a:cs typeface="Arial"/>
              </a:rPr>
              <a:t>on</a:t>
            </a:r>
            <a:r>
              <a:rPr dirty="0" sz="1300" spc="35">
                <a:latin typeface="Arial"/>
                <a:cs typeface="Arial"/>
              </a:rPr>
              <a:t> </a:t>
            </a:r>
            <a:r>
              <a:rPr dirty="0" sz="1300">
                <a:latin typeface="Arial"/>
                <a:cs typeface="Arial"/>
              </a:rPr>
              <a:t>the</a:t>
            </a:r>
            <a:r>
              <a:rPr dirty="0" sz="1300" spc="35">
                <a:latin typeface="Arial"/>
                <a:cs typeface="Arial"/>
              </a:rPr>
              <a:t> </a:t>
            </a:r>
            <a:r>
              <a:rPr dirty="0" sz="1300" spc="-10">
                <a:latin typeface="Arial"/>
                <a:cs typeface="Arial"/>
              </a:rPr>
              <a:t>theme</a:t>
            </a:r>
            <a:endParaRPr sz="1300">
              <a:latin typeface="Arial"/>
              <a:cs typeface="Arial"/>
            </a:endParaRPr>
          </a:p>
        </p:txBody>
      </p:sp>
      <p:sp>
        <p:nvSpPr>
          <p:cNvPr id="119" name="object 119"/>
          <p:cNvSpPr txBox="1"/>
          <p:nvPr/>
        </p:nvSpPr>
        <p:spPr>
          <a:xfrm>
            <a:off x="752697" y="5587952"/>
            <a:ext cx="3065145" cy="1962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dirty="0" sz="1100" spc="20">
                <a:latin typeface="Lucida Sans"/>
                <a:cs typeface="Lucida Sans"/>
              </a:rPr>
              <a:t>Many</a:t>
            </a:r>
            <a:r>
              <a:rPr dirty="0" sz="1100">
                <a:latin typeface="Lucida Sans"/>
                <a:cs typeface="Lucida Sans"/>
              </a:rPr>
              <a:t> </a:t>
            </a:r>
            <a:r>
              <a:rPr dirty="0" sz="1100" spc="15">
                <a:latin typeface="Lucida Sans"/>
                <a:cs typeface="Lucida Sans"/>
              </a:rPr>
              <a:t>improved</a:t>
            </a:r>
            <a:r>
              <a:rPr dirty="0" sz="1100" spc="5">
                <a:latin typeface="Lucida Sans"/>
                <a:cs typeface="Lucida Sans"/>
              </a:rPr>
              <a:t> </a:t>
            </a:r>
            <a:r>
              <a:rPr dirty="0" sz="1100" spc="15">
                <a:latin typeface="Lucida Sans"/>
                <a:cs typeface="Lucida Sans"/>
              </a:rPr>
              <a:t>versions</a:t>
            </a:r>
            <a:r>
              <a:rPr dirty="0" sz="1100">
                <a:latin typeface="Lucida Sans"/>
                <a:cs typeface="Lucida Sans"/>
              </a:rPr>
              <a:t> </a:t>
            </a:r>
            <a:r>
              <a:rPr dirty="0" sz="1100" spc="25">
                <a:latin typeface="Lucida Sans"/>
                <a:cs typeface="Lucida Sans"/>
              </a:rPr>
              <a:t>have</a:t>
            </a:r>
            <a:r>
              <a:rPr dirty="0" sz="1100" spc="5">
                <a:latin typeface="Lucida Sans"/>
                <a:cs typeface="Lucida Sans"/>
              </a:rPr>
              <a:t> </a:t>
            </a:r>
            <a:r>
              <a:rPr dirty="0" sz="1100" spc="10">
                <a:latin typeface="Lucida Sans"/>
                <a:cs typeface="Lucida Sans"/>
              </a:rPr>
              <a:t>been</a:t>
            </a:r>
            <a:r>
              <a:rPr dirty="0" sz="1100" spc="5">
                <a:latin typeface="Lucida Sans"/>
                <a:cs typeface="Lucida Sans"/>
              </a:rPr>
              <a:t> studied.</a:t>
            </a:r>
            <a:endParaRPr sz="1100">
              <a:latin typeface="Lucida Sans"/>
              <a:cs typeface="Lucida Sans"/>
            </a:endParaRPr>
          </a:p>
        </p:txBody>
      </p:sp>
      <p:sp>
        <p:nvSpPr>
          <p:cNvPr id="120" name="object 120"/>
          <p:cNvSpPr txBox="1"/>
          <p:nvPr/>
        </p:nvSpPr>
        <p:spPr>
          <a:xfrm>
            <a:off x="752697" y="6050027"/>
            <a:ext cx="3392804" cy="1962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dirty="0" sz="1100">
                <a:solidFill>
                  <a:srgbClr val="005493"/>
                </a:solidFill>
                <a:latin typeface="Lucida Sans"/>
                <a:cs typeface="Lucida Sans"/>
              </a:rPr>
              <a:t>Two-probe </a:t>
            </a:r>
            <a:r>
              <a:rPr dirty="0" sz="1100" spc="5">
                <a:solidFill>
                  <a:srgbClr val="005493"/>
                </a:solidFill>
                <a:latin typeface="Lucida Sans"/>
                <a:cs typeface="Lucida Sans"/>
              </a:rPr>
              <a:t>hashing.</a:t>
            </a:r>
            <a:r>
              <a:rPr dirty="0" sz="1100" spc="350">
                <a:solidFill>
                  <a:srgbClr val="005493"/>
                </a:solidFill>
                <a:latin typeface="Lucida Sans"/>
                <a:cs typeface="Lucida Sans"/>
              </a:rPr>
              <a:t> </a:t>
            </a:r>
            <a:r>
              <a:rPr dirty="0" sz="1100" spc="5">
                <a:solidFill>
                  <a:srgbClr val="606060"/>
                </a:solidFill>
                <a:latin typeface="Lucida Sans"/>
                <a:cs typeface="Lucida Sans"/>
              </a:rPr>
              <a:t>[ </a:t>
            </a:r>
            <a:r>
              <a:rPr dirty="0" sz="1100" spc="10">
                <a:solidFill>
                  <a:srgbClr val="606060"/>
                </a:solidFill>
                <a:latin typeface="Lucida Sans"/>
                <a:cs typeface="Lucida Sans"/>
              </a:rPr>
              <a:t>separate-chaining</a:t>
            </a:r>
            <a:r>
              <a:rPr dirty="0" sz="1100">
                <a:solidFill>
                  <a:srgbClr val="606060"/>
                </a:solidFill>
                <a:latin typeface="Lucida Sans"/>
                <a:cs typeface="Lucida Sans"/>
              </a:rPr>
              <a:t> </a:t>
            </a:r>
            <a:r>
              <a:rPr dirty="0" sz="1100" spc="15">
                <a:solidFill>
                  <a:srgbClr val="606060"/>
                </a:solidFill>
                <a:latin typeface="Lucida Sans"/>
                <a:cs typeface="Lucida Sans"/>
              </a:rPr>
              <a:t>variant</a:t>
            </a:r>
            <a:r>
              <a:rPr dirty="0" sz="1100">
                <a:solidFill>
                  <a:srgbClr val="606060"/>
                </a:solidFill>
                <a:latin typeface="Lucida Sans"/>
                <a:cs typeface="Lucida Sans"/>
              </a:rPr>
              <a:t> </a:t>
            </a:r>
            <a:r>
              <a:rPr dirty="0" sz="1100" spc="5">
                <a:solidFill>
                  <a:srgbClr val="606060"/>
                </a:solidFill>
                <a:latin typeface="Lucida Sans"/>
                <a:cs typeface="Lucida Sans"/>
              </a:rPr>
              <a:t>]</a:t>
            </a:r>
            <a:endParaRPr sz="1100">
              <a:latin typeface="Lucida Sans"/>
              <a:cs typeface="Lucida Sans"/>
            </a:endParaRPr>
          </a:p>
        </p:txBody>
      </p:sp>
      <p:sp>
        <p:nvSpPr>
          <p:cNvPr id="121" name="object 121"/>
          <p:cNvSpPr txBox="1"/>
          <p:nvPr/>
        </p:nvSpPr>
        <p:spPr>
          <a:xfrm>
            <a:off x="759155" y="6186280"/>
            <a:ext cx="4584700" cy="3098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14"/>
              </a:spcBef>
            </a:pPr>
            <a:r>
              <a:rPr dirty="0" baseline="-12012" sz="2775" spc="22">
                <a:latin typeface="Microsoft JhengHei"/>
                <a:cs typeface="Microsoft JhengHei"/>
              </a:rPr>
              <a:t>・</a:t>
            </a:r>
            <a:r>
              <a:rPr dirty="0" sz="1100" spc="10">
                <a:latin typeface="Lucida Sans"/>
                <a:cs typeface="Lucida Sans"/>
              </a:rPr>
              <a:t>Hash </a:t>
            </a:r>
            <a:r>
              <a:rPr dirty="0" sz="1100" spc="5">
                <a:latin typeface="Lucida Sans"/>
                <a:cs typeface="Lucida Sans"/>
              </a:rPr>
              <a:t>to</a:t>
            </a:r>
            <a:r>
              <a:rPr dirty="0" sz="1100" spc="10">
                <a:latin typeface="Lucida Sans"/>
                <a:cs typeface="Lucida Sans"/>
              </a:rPr>
              <a:t> </a:t>
            </a:r>
            <a:r>
              <a:rPr dirty="0" sz="1100" spc="35">
                <a:latin typeface="Lucida Sans"/>
                <a:cs typeface="Lucida Sans"/>
              </a:rPr>
              <a:t>two</a:t>
            </a:r>
            <a:r>
              <a:rPr dirty="0" sz="1100" spc="10">
                <a:latin typeface="Lucida Sans"/>
                <a:cs typeface="Lucida Sans"/>
              </a:rPr>
              <a:t> </a:t>
            </a:r>
            <a:r>
              <a:rPr dirty="0" sz="1100" spc="5">
                <a:latin typeface="Lucida Sans"/>
                <a:cs typeface="Lucida Sans"/>
              </a:rPr>
              <a:t>positions,</a:t>
            </a:r>
            <a:r>
              <a:rPr dirty="0" sz="1100" spc="10">
                <a:latin typeface="Lucida Sans"/>
                <a:cs typeface="Lucida Sans"/>
              </a:rPr>
              <a:t> </a:t>
            </a:r>
            <a:r>
              <a:rPr dirty="0" sz="1100" spc="5">
                <a:latin typeface="Lucida Sans"/>
                <a:cs typeface="Lucida Sans"/>
              </a:rPr>
              <a:t>insert</a:t>
            </a:r>
            <a:r>
              <a:rPr dirty="0" sz="1100" spc="10">
                <a:latin typeface="Lucida Sans"/>
                <a:cs typeface="Lucida Sans"/>
              </a:rPr>
              <a:t> </a:t>
            </a:r>
            <a:r>
              <a:rPr dirty="0" sz="1100" spc="25">
                <a:latin typeface="Lucida Sans"/>
                <a:cs typeface="Lucida Sans"/>
              </a:rPr>
              <a:t>key</a:t>
            </a:r>
            <a:r>
              <a:rPr dirty="0" sz="1100" spc="10">
                <a:latin typeface="Lucida Sans"/>
                <a:cs typeface="Lucida Sans"/>
              </a:rPr>
              <a:t> </a:t>
            </a:r>
            <a:r>
              <a:rPr dirty="0" sz="1100" spc="5">
                <a:latin typeface="Lucida Sans"/>
                <a:cs typeface="Lucida Sans"/>
              </a:rPr>
              <a:t>in</a:t>
            </a:r>
            <a:r>
              <a:rPr dirty="0" sz="1100" spc="10">
                <a:latin typeface="Lucida Sans"/>
                <a:cs typeface="Lucida Sans"/>
              </a:rPr>
              <a:t> </a:t>
            </a:r>
            <a:r>
              <a:rPr dirty="0" sz="1100" spc="5">
                <a:latin typeface="Lucida Sans"/>
                <a:cs typeface="Lucida Sans"/>
              </a:rPr>
              <a:t>shorter</a:t>
            </a:r>
            <a:r>
              <a:rPr dirty="0" sz="1100" spc="15">
                <a:latin typeface="Lucida Sans"/>
                <a:cs typeface="Lucida Sans"/>
              </a:rPr>
              <a:t> </a:t>
            </a:r>
            <a:r>
              <a:rPr dirty="0" sz="1100" spc="5">
                <a:latin typeface="Lucida Sans"/>
                <a:cs typeface="Lucida Sans"/>
              </a:rPr>
              <a:t>of</a:t>
            </a:r>
            <a:r>
              <a:rPr dirty="0" sz="1100" spc="10">
                <a:latin typeface="Lucida Sans"/>
                <a:cs typeface="Lucida Sans"/>
              </a:rPr>
              <a:t> </a:t>
            </a:r>
            <a:r>
              <a:rPr dirty="0" sz="1100" spc="5">
                <a:latin typeface="Lucida Sans"/>
                <a:cs typeface="Lucida Sans"/>
              </a:rPr>
              <a:t>the</a:t>
            </a:r>
            <a:r>
              <a:rPr dirty="0" sz="1100" spc="10">
                <a:latin typeface="Lucida Sans"/>
                <a:cs typeface="Lucida Sans"/>
              </a:rPr>
              <a:t> </a:t>
            </a:r>
            <a:r>
              <a:rPr dirty="0" sz="1100" spc="35">
                <a:latin typeface="Lucida Sans"/>
                <a:cs typeface="Lucida Sans"/>
              </a:rPr>
              <a:t>two</a:t>
            </a:r>
            <a:r>
              <a:rPr dirty="0" sz="1100" spc="10">
                <a:latin typeface="Lucida Sans"/>
                <a:cs typeface="Lucida Sans"/>
              </a:rPr>
              <a:t> chains.</a:t>
            </a:r>
            <a:endParaRPr sz="1100">
              <a:latin typeface="Lucida Sans"/>
              <a:cs typeface="Lucida Sans"/>
            </a:endParaRPr>
          </a:p>
        </p:txBody>
      </p:sp>
      <p:sp>
        <p:nvSpPr>
          <p:cNvPr id="122" name="object 122"/>
          <p:cNvSpPr txBox="1"/>
          <p:nvPr/>
        </p:nvSpPr>
        <p:spPr>
          <a:xfrm>
            <a:off x="759155" y="6417317"/>
            <a:ext cx="4255770" cy="3098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14"/>
              </a:spcBef>
            </a:pPr>
            <a:r>
              <a:rPr dirty="0" baseline="-10510" sz="2775" spc="22">
                <a:latin typeface="Microsoft JhengHei"/>
                <a:cs typeface="Microsoft JhengHei"/>
              </a:rPr>
              <a:t>・</a:t>
            </a:r>
            <a:r>
              <a:rPr dirty="0" sz="1100" spc="10">
                <a:latin typeface="Lucida Sans"/>
                <a:cs typeface="Lucida Sans"/>
              </a:rPr>
              <a:t>Reduces expected </a:t>
            </a:r>
            <a:r>
              <a:rPr dirty="0" sz="1100" spc="5">
                <a:latin typeface="Lucida Sans"/>
                <a:cs typeface="Lucida Sans"/>
              </a:rPr>
              <a:t>length</a:t>
            </a:r>
            <a:r>
              <a:rPr dirty="0" sz="1100" spc="10">
                <a:latin typeface="Lucida Sans"/>
                <a:cs typeface="Lucida Sans"/>
              </a:rPr>
              <a:t> </a:t>
            </a:r>
            <a:r>
              <a:rPr dirty="0" sz="1100" spc="5">
                <a:latin typeface="Lucida Sans"/>
                <a:cs typeface="Lucida Sans"/>
              </a:rPr>
              <a:t>of</a:t>
            </a:r>
            <a:r>
              <a:rPr dirty="0" sz="1100" spc="10">
                <a:latin typeface="Lucida Sans"/>
                <a:cs typeface="Lucida Sans"/>
              </a:rPr>
              <a:t> </a:t>
            </a:r>
            <a:r>
              <a:rPr dirty="0" sz="1100" spc="5">
                <a:latin typeface="Lucida Sans"/>
                <a:cs typeface="Lucida Sans"/>
              </a:rPr>
              <a:t>the</a:t>
            </a:r>
            <a:r>
              <a:rPr dirty="0" sz="1100" spc="10">
                <a:latin typeface="Lucida Sans"/>
                <a:cs typeface="Lucida Sans"/>
              </a:rPr>
              <a:t> </a:t>
            </a:r>
            <a:r>
              <a:rPr dirty="0" sz="1100" spc="5">
                <a:latin typeface="Lucida Sans"/>
                <a:cs typeface="Lucida Sans"/>
              </a:rPr>
              <a:t>longest</a:t>
            </a:r>
            <a:r>
              <a:rPr dirty="0" sz="1100" spc="10">
                <a:latin typeface="Lucida Sans"/>
                <a:cs typeface="Lucida Sans"/>
              </a:rPr>
              <a:t> chain </a:t>
            </a:r>
            <a:r>
              <a:rPr dirty="0" sz="1100" spc="5">
                <a:latin typeface="Lucida Sans"/>
                <a:cs typeface="Lucida Sans"/>
              </a:rPr>
              <a:t>to</a:t>
            </a:r>
            <a:r>
              <a:rPr dirty="0" sz="1100" spc="10">
                <a:latin typeface="Lucida Sans"/>
                <a:cs typeface="Lucida Sans"/>
              </a:rPr>
              <a:t> </a:t>
            </a:r>
            <a:r>
              <a:rPr dirty="0" sz="1100" spc="5">
                <a:latin typeface="Times New Roman"/>
                <a:cs typeface="Times New Roman"/>
              </a:rPr>
              <a:t>log log </a:t>
            </a:r>
            <a:r>
              <a:rPr dirty="0" sz="1100" spc="5" i="1">
                <a:latin typeface="Times New Roman"/>
                <a:cs typeface="Times New Roman"/>
              </a:rPr>
              <a:t>N</a:t>
            </a:r>
            <a:r>
              <a:rPr dirty="0" sz="1100" spc="5">
                <a:latin typeface="Lucida Sans"/>
                <a:cs typeface="Lucida Sans"/>
              </a:rPr>
              <a:t>.</a:t>
            </a:r>
            <a:endParaRPr sz="1100">
              <a:latin typeface="Lucida Sans"/>
              <a:cs typeface="Lucida Sans"/>
            </a:endParaRPr>
          </a:p>
        </p:txBody>
      </p:sp>
      <p:sp>
        <p:nvSpPr>
          <p:cNvPr id="123" name="object 123"/>
          <p:cNvSpPr txBox="1"/>
          <p:nvPr/>
        </p:nvSpPr>
        <p:spPr>
          <a:xfrm>
            <a:off x="752697" y="6974176"/>
            <a:ext cx="2943860" cy="1962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  <a:tabLst>
                <a:tab pos="1261110" algn="l"/>
              </a:tabLst>
            </a:pPr>
            <a:r>
              <a:rPr dirty="0" sz="1100" spc="10">
                <a:solidFill>
                  <a:srgbClr val="005493"/>
                </a:solidFill>
                <a:latin typeface="Lucida Sans"/>
                <a:cs typeface="Lucida Sans"/>
              </a:rPr>
              <a:t>Double</a:t>
            </a:r>
            <a:r>
              <a:rPr dirty="0" sz="1100" spc="20">
                <a:solidFill>
                  <a:srgbClr val="005493"/>
                </a:solidFill>
                <a:latin typeface="Lucida Sans"/>
                <a:cs typeface="Lucida Sans"/>
              </a:rPr>
              <a:t> </a:t>
            </a:r>
            <a:r>
              <a:rPr dirty="0" sz="1100" spc="5">
                <a:solidFill>
                  <a:srgbClr val="005493"/>
                </a:solidFill>
                <a:latin typeface="Lucida Sans"/>
                <a:cs typeface="Lucida Sans"/>
              </a:rPr>
              <a:t>hashing.	</a:t>
            </a:r>
            <a:r>
              <a:rPr dirty="0" sz="1100" spc="5">
                <a:solidFill>
                  <a:srgbClr val="606060"/>
                </a:solidFill>
                <a:latin typeface="Lucida Sans"/>
                <a:cs typeface="Lucida Sans"/>
              </a:rPr>
              <a:t>[</a:t>
            </a:r>
            <a:r>
              <a:rPr dirty="0" sz="1100" spc="-10">
                <a:solidFill>
                  <a:srgbClr val="606060"/>
                </a:solidFill>
                <a:latin typeface="Lucida Sans"/>
                <a:cs typeface="Lucida Sans"/>
              </a:rPr>
              <a:t> </a:t>
            </a:r>
            <a:r>
              <a:rPr dirty="0" sz="1100">
                <a:solidFill>
                  <a:srgbClr val="606060"/>
                </a:solidFill>
                <a:latin typeface="Lucida Sans"/>
                <a:cs typeface="Lucida Sans"/>
              </a:rPr>
              <a:t>linear-probing</a:t>
            </a:r>
            <a:r>
              <a:rPr dirty="0" sz="1100" spc="-5">
                <a:solidFill>
                  <a:srgbClr val="606060"/>
                </a:solidFill>
                <a:latin typeface="Lucida Sans"/>
                <a:cs typeface="Lucida Sans"/>
              </a:rPr>
              <a:t> </a:t>
            </a:r>
            <a:r>
              <a:rPr dirty="0" sz="1100" spc="15">
                <a:solidFill>
                  <a:srgbClr val="606060"/>
                </a:solidFill>
                <a:latin typeface="Lucida Sans"/>
                <a:cs typeface="Lucida Sans"/>
              </a:rPr>
              <a:t>variant</a:t>
            </a:r>
            <a:r>
              <a:rPr dirty="0" sz="1100" spc="-10">
                <a:solidFill>
                  <a:srgbClr val="606060"/>
                </a:solidFill>
                <a:latin typeface="Lucida Sans"/>
                <a:cs typeface="Lucida Sans"/>
              </a:rPr>
              <a:t> </a:t>
            </a:r>
            <a:r>
              <a:rPr dirty="0" sz="1100" spc="5">
                <a:solidFill>
                  <a:srgbClr val="606060"/>
                </a:solidFill>
                <a:latin typeface="Lucida Sans"/>
                <a:cs typeface="Lucida Sans"/>
              </a:rPr>
              <a:t>]</a:t>
            </a:r>
            <a:endParaRPr sz="1100">
              <a:latin typeface="Lucida Sans"/>
              <a:cs typeface="Lucida Sans"/>
            </a:endParaRPr>
          </a:p>
        </p:txBody>
      </p:sp>
      <p:sp>
        <p:nvSpPr>
          <p:cNvPr id="124" name="object 124"/>
          <p:cNvSpPr txBox="1"/>
          <p:nvPr/>
        </p:nvSpPr>
        <p:spPr>
          <a:xfrm>
            <a:off x="759155" y="7110429"/>
            <a:ext cx="5023485" cy="3098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14"/>
              </a:spcBef>
            </a:pPr>
            <a:r>
              <a:rPr dirty="0" baseline="-12012" sz="2775" spc="22">
                <a:latin typeface="Microsoft JhengHei"/>
                <a:cs typeface="Microsoft JhengHei"/>
              </a:rPr>
              <a:t>・</a:t>
            </a:r>
            <a:r>
              <a:rPr dirty="0" sz="1100" spc="10">
                <a:latin typeface="Lucida Sans"/>
                <a:cs typeface="Lucida Sans"/>
              </a:rPr>
              <a:t>Use</a:t>
            </a:r>
            <a:r>
              <a:rPr dirty="0" sz="1100" spc="5">
                <a:latin typeface="Lucida Sans"/>
                <a:cs typeface="Lucida Sans"/>
              </a:rPr>
              <a:t> linear probing, </a:t>
            </a:r>
            <a:r>
              <a:rPr dirty="0" sz="1100" spc="10">
                <a:latin typeface="Lucida Sans"/>
                <a:cs typeface="Lucida Sans"/>
              </a:rPr>
              <a:t>but</a:t>
            </a:r>
            <a:r>
              <a:rPr dirty="0" sz="1100" spc="5">
                <a:latin typeface="Lucida Sans"/>
                <a:cs typeface="Lucida Sans"/>
              </a:rPr>
              <a:t> </a:t>
            </a:r>
            <a:r>
              <a:rPr dirty="0" sz="1100" spc="10">
                <a:latin typeface="Lucida Sans"/>
                <a:cs typeface="Lucida Sans"/>
              </a:rPr>
              <a:t>skip a</a:t>
            </a:r>
            <a:r>
              <a:rPr dirty="0" sz="1100" spc="5">
                <a:latin typeface="Lucida Sans"/>
                <a:cs typeface="Lucida Sans"/>
              </a:rPr>
              <a:t> </a:t>
            </a:r>
            <a:r>
              <a:rPr dirty="0" sz="1100" spc="15">
                <a:latin typeface="Lucida Sans"/>
                <a:cs typeface="Lucida Sans"/>
              </a:rPr>
              <a:t>variable</a:t>
            </a:r>
            <a:r>
              <a:rPr dirty="0" sz="1100" spc="5">
                <a:latin typeface="Lucida Sans"/>
                <a:cs typeface="Lucida Sans"/>
              </a:rPr>
              <a:t> </a:t>
            </a:r>
            <a:r>
              <a:rPr dirty="0" sz="1100" spc="10">
                <a:latin typeface="Lucida Sans"/>
                <a:cs typeface="Lucida Sans"/>
              </a:rPr>
              <a:t>amount,</a:t>
            </a:r>
            <a:r>
              <a:rPr dirty="0" sz="1100" spc="5">
                <a:latin typeface="Lucida Sans"/>
                <a:cs typeface="Lucida Sans"/>
              </a:rPr>
              <a:t> </a:t>
            </a:r>
            <a:r>
              <a:rPr dirty="0" sz="1100" spc="10">
                <a:latin typeface="Lucida Sans"/>
                <a:cs typeface="Lucida Sans"/>
              </a:rPr>
              <a:t>not </a:t>
            </a:r>
            <a:r>
              <a:rPr dirty="0" sz="1100" spc="5">
                <a:latin typeface="Lucida Sans"/>
                <a:cs typeface="Lucida Sans"/>
              </a:rPr>
              <a:t>just </a:t>
            </a:r>
            <a:r>
              <a:rPr dirty="0" sz="1100" spc="10">
                <a:latin typeface="Lucida Sans"/>
                <a:cs typeface="Lucida Sans"/>
              </a:rPr>
              <a:t>1</a:t>
            </a:r>
            <a:r>
              <a:rPr dirty="0" sz="1100" spc="5">
                <a:latin typeface="Lucida Sans"/>
                <a:cs typeface="Lucida Sans"/>
              </a:rPr>
              <a:t> </a:t>
            </a:r>
            <a:r>
              <a:rPr dirty="0" sz="1100" spc="10">
                <a:latin typeface="Lucida Sans"/>
                <a:cs typeface="Lucida Sans"/>
              </a:rPr>
              <a:t>each</a:t>
            </a:r>
            <a:r>
              <a:rPr dirty="0" sz="1100" spc="5">
                <a:latin typeface="Lucida Sans"/>
                <a:cs typeface="Lucida Sans"/>
              </a:rPr>
              <a:t> time.</a:t>
            </a:r>
            <a:endParaRPr sz="1100">
              <a:latin typeface="Lucida Sans"/>
              <a:cs typeface="Lucida Sans"/>
            </a:endParaRPr>
          </a:p>
        </p:txBody>
      </p:sp>
      <p:sp>
        <p:nvSpPr>
          <p:cNvPr id="125" name="object 125"/>
          <p:cNvSpPr txBox="1"/>
          <p:nvPr/>
        </p:nvSpPr>
        <p:spPr>
          <a:xfrm>
            <a:off x="759155" y="7341467"/>
            <a:ext cx="2534285" cy="3098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14"/>
              </a:spcBef>
            </a:pPr>
            <a:r>
              <a:rPr dirty="0" baseline="-12012" sz="2775" spc="22">
                <a:latin typeface="Microsoft JhengHei"/>
                <a:cs typeface="Microsoft JhengHei"/>
              </a:rPr>
              <a:t>・</a:t>
            </a:r>
            <a:r>
              <a:rPr dirty="0" sz="1100" spc="15">
                <a:latin typeface="Lucida Sans"/>
                <a:cs typeface="Lucida Sans"/>
              </a:rPr>
              <a:t>Effectively</a:t>
            </a:r>
            <a:r>
              <a:rPr dirty="0" sz="1100" spc="10">
                <a:latin typeface="Lucida Sans"/>
                <a:cs typeface="Lucida Sans"/>
              </a:rPr>
              <a:t> </a:t>
            </a:r>
            <a:r>
              <a:rPr dirty="0" sz="1100" spc="5">
                <a:latin typeface="Lucida Sans"/>
                <a:cs typeface="Lucida Sans"/>
              </a:rPr>
              <a:t>eliminates</a:t>
            </a:r>
            <a:r>
              <a:rPr dirty="0" sz="1100" spc="10">
                <a:latin typeface="Lucida Sans"/>
                <a:cs typeface="Lucida Sans"/>
              </a:rPr>
              <a:t> </a:t>
            </a:r>
            <a:r>
              <a:rPr dirty="0" sz="1100" spc="5">
                <a:latin typeface="Lucida Sans"/>
                <a:cs typeface="Lucida Sans"/>
              </a:rPr>
              <a:t>clustering.</a:t>
            </a:r>
            <a:endParaRPr sz="1100">
              <a:latin typeface="Lucida Sans"/>
              <a:cs typeface="Lucida Sans"/>
            </a:endParaRPr>
          </a:p>
        </p:txBody>
      </p:sp>
      <p:sp>
        <p:nvSpPr>
          <p:cNvPr id="126" name="object 126"/>
          <p:cNvSpPr txBox="1"/>
          <p:nvPr/>
        </p:nvSpPr>
        <p:spPr>
          <a:xfrm>
            <a:off x="759155" y="7572504"/>
            <a:ext cx="2919730" cy="3098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14"/>
              </a:spcBef>
            </a:pPr>
            <a:r>
              <a:rPr dirty="0" baseline="-12012" sz="2775" spc="22">
                <a:latin typeface="Microsoft JhengHei"/>
                <a:cs typeface="Microsoft JhengHei"/>
              </a:rPr>
              <a:t>・</a:t>
            </a:r>
            <a:r>
              <a:rPr dirty="0" sz="1100" spc="10">
                <a:latin typeface="Lucida Sans"/>
                <a:cs typeface="Lucida Sans"/>
              </a:rPr>
              <a:t>Can</a:t>
            </a:r>
            <a:r>
              <a:rPr dirty="0" sz="1100">
                <a:latin typeface="Lucida Sans"/>
                <a:cs typeface="Lucida Sans"/>
              </a:rPr>
              <a:t> </a:t>
            </a:r>
            <a:r>
              <a:rPr dirty="0" sz="1100" spc="25">
                <a:latin typeface="Lucida Sans"/>
                <a:cs typeface="Lucida Sans"/>
              </a:rPr>
              <a:t>allow</a:t>
            </a:r>
            <a:r>
              <a:rPr dirty="0" sz="1100" spc="5">
                <a:latin typeface="Lucida Sans"/>
                <a:cs typeface="Lucida Sans"/>
              </a:rPr>
              <a:t> table</a:t>
            </a:r>
            <a:r>
              <a:rPr dirty="0" sz="1100">
                <a:latin typeface="Lucida Sans"/>
                <a:cs typeface="Lucida Sans"/>
              </a:rPr>
              <a:t> </a:t>
            </a:r>
            <a:r>
              <a:rPr dirty="0" sz="1100" spc="5">
                <a:latin typeface="Lucida Sans"/>
                <a:cs typeface="Lucida Sans"/>
              </a:rPr>
              <a:t>to </a:t>
            </a:r>
            <a:r>
              <a:rPr dirty="0" sz="1100" spc="10">
                <a:latin typeface="Lucida Sans"/>
                <a:cs typeface="Lucida Sans"/>
              </a:rPr>
              <a:t>become</a:t>
            </a:r>
            <a:r>
              <a:rPr dirty="0" sz="1100" spc="5">
                <a:latin typeface="Lucida Sans"/>
                <a:cs typeface="Lucida Sans"/>
              </a:rPr>
              <a:t> </a:t>
            </a:r>
            <a:r>
              <a:rPr dirty="0" sz="1100" spc="15">
                <a:latin typeface="Lucida Sans"/>
                <a:cs typeface="Lucida Sans"/>
              </a:rPr>
              <a:t>nearly</a:t>
            </a:r>
            <a:r>
              <a:rPr dirty="0" sz="1100">
                <a:latin typeface="Lucida Sans"/>
                <a:cs typeface="Lucida Sans"/>
              </a:rPr>
              <a:t> </a:t>
            </a:r>
            <a:r>
              <a:rPr dirty="0" sz="1100" spc="5">
                <a:latin typeface="Lucida Sans"/>
                <a:cs typeface="Lucida Sans"/>
              </a:rPr>
              <a:t>full.</a:t>
            </a:r>
            <a:endParaRPr sz="1100">
              <a:latin typeface="Lucida Sans"/>
              <a:cs typeface="Lucida Sans"/>
            </a:endParaRPr>
          </a:p>
        </p:txBody>
      </p:sp>
      <p:sp>
        <p:nvSpPr>
          <p:cNvPr id="127" name="object 127"/>
          <p:cNvSpPr txBox="1"/>
          <p:nvPr/>
        </p:nvSpPr>
        <p:spPr>
          <a:xfrm>
            <a:off x="759155" y="7803541"/>
            <a:ext cx="2698115" cy="3098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14"/>
              </a:spcBef>
            </a:pPr>
            <a:r>
              <a:rPr dirty="0" baseline="-12012" sz="2775" spc="22">
                <a:latin typeface="Microsoft JhengHei"/>
                <a:cs typeface="Microsoft JhengHei"/>
              </a:rPr>
              <a:t>・</a:t>
            </a:r>
            <a:r>
              <a:rPr dirty="0" sz="1100" spc="5">
                <a:latin typeface="Lucida Sans"/>
                <a:cs typeface="Lucida Sans"/>
              </a:rPr>
              <a:t>More</a:t>
            </a:r>
            <a:r>
              <a:rPr dirty="0" sz="1100" spc="-5">
                <a:latin typeface="Lucida Sans"/>
                <a:cs typeface="Lucida Sans"/>
              </a:rPr>
              <a:t> </a:t>
            </a:r>
            <a:r>
              <a:rPr dirty="0" sz="1100" spc="5">
                <a:latin typeface="Lucida Sans"/>
                <a:cs typeface="Lucida Sans"/>
              </a:rPr>
              <a:t>difficult</a:t>
            </a:r>
            <a:r>
              <a:rPr dirty="0" sz="1100" spc="-5">
                <a:latin typeface="Lucida Sans"/>
                <a:cs typeface="Lucida Sans"/>
              </a:rPr>
              <a:t> </a:t>
            </a:r>
            <a:r>
              <a:rPr dirty="0" sz="1100" spc="5">
                <a:latin typeface="Lucida Sans"/>
                <a:cs typeface="Lucida Sans"/>
              </a:rPr>
              <a:t>to</a:t>
            </a:r>
            <a:r>
              <a:rPr dirty="0" sz="1100">
                <a:latin typeface="Lucida Sans"/>
                <a:cs typeface="Lucida Sans"/>
              </a:rPr>
              <a:t> </a:t>
            </a:r>
            <a:r>
              <a:rPr dirty="0" sz="1100" spc="10">
                <a:latin typeface="Lucida Sans"/>
                <a:cs typeface="Lucida Sans"/>
              </a:rPr>
              <a:t>implement</a:t>
            </a:r>
            <a:r>
              <a:rPr dirty="0" sz="1100" spc="-5">
                <a:latin typeface="Lucida Sans"/>
                <a:cs typeface="Lucida Sans"/>
              </a:rPr>
              <a:t> </a:t>
            </a:r>
            <a:r>
              <a:rPr dirty="0" sz="1100" spc="5">
                <a:latin typeface="Lucida Sans"/>
                <a:cs typeface="Lucida Sans"/>
              </a:rPr>
              <a:t>delete.</a:t>
            </a:r>
            <a:endParaRPr sz="1100">
              <a:latin typeface="Lucida Sans"/>
              <a:cs typeface="Lucida Sans"/>
            </a:endParaRPr>
          </a:p>
        </p:txBody>
      </p:sp>
      <p:sp>
        <p:nvSpPr>
          <p:cNvPr id="128" name="object 128"/>
          <p:cNvSpPr txBox="1"/>
          <p:nvPr/>
        </p:nvSpPr>
        <p:spPr>
          <a:xfrm>
            <a:off x="752697" y="8360401"/>
            <a:ext cx="2925445" cy="1962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dirty="0" sz="1100" spc="10">
                <a:solidFill>
                  <a:srgbClr val="005493"/>
                </a:solidFill>
                <a:latin typeface="Lucida Sans"/>
                <a:cs typeface="Lucida Sans"/>
              </a:rPr>
              <a:t>Cuckoo</a:t>
            </a:r>
            <a:r>
              <a:rPr dirty="0" sz="1100" spc="5">
                <a:solidFill>
                  <a:srgbClr val="005493"/>
                </a:solidFill>
                <a:latin typeface="Lucida Sans"/>
                <a:cs typeface="Lucida Sans"/>
              </a:rPr>
              <a:t> hashing. </a:t>
            </a:r>
            <a:r>
              <a:rPr dirty="0" sz="1100" spc="10">
                <a:solidFill>
                  <a:srgbClr val="005493"/>
                </a:solidFill>
                <a:latin typeface="Lucida Sans"/>
                <a:cs typeface="Lucida Sans"/>
              </a:rPr>
              <a:t> </a:t>
            </a:r>
            <a:r>
              <a:rPr dirty="0" sz="1100" spc="5">
                <a:solidFill>
                  <a:srgbClr val="606060"/>
                </a:solidFill>
                <a:latin typeface="Lucida Sans"/>
                <a:cs typeface="Lucida Sans"/>
              </a:rPr>
              <a:t>[ </a:t>
            </a:r>
            <a:r>
              <a:rPr dirty="0" sz="1100">
                <a:solidFill>
                  <a:srgbClr val="606060"/>
                </a:solidFill>
                <a:latin typeface="Lucida Sans"/>
                <a:cs typeface="Lucida Sans"/>
              </a:rPr>
              <a:t>linear-probing</a:t>
            </a:r>
            <a:r>
              <a:rPr dirty="0" sz="1100" spc="10">
                <a:solidFill>
                  <a:srgbClr val="606060"/>
                </a:solidFill>
                <a:latin typeface="Lucida Sans"/>
                <a:cs typeface="Lucida Sans"/>
              </a:rPr>
              <a:t> </a:t>
            </a:r>
            <a:r>
              <a:rPr dirty="0" sz="1100" spc="15">
                <a:solidFill>
                  <a:srgbClr val="606060"/>
                </a:solidFill>
                <a:latin typeface="Lucida Sans"/>
                <a:cs typeface="Lucida Sans"/>
              </a:rPr>
              <a:t>variant</a:t>
            </a:r>
            <a:r>
              <a:rPr dirty="0" sz="1100" spc="5">
                <a:solidFill>
                  <a:srgbClr val="606060"/>
                </a:solidFill>
                <a:latin typeface="Lucida Sans"/>
                <a:cs typeface="Lucida Sans"/>
              </a:rPr>
              <a:t> ]</a:t>
            </a:r>
            <a:endParaRPr sz="1100">
              <a:latin typeface="Lucida Sans"/>
              <a:cs typeface="Lucida Sans"/>
            </a:endParaRPr>
          </a:p>
        </p:txBody>
      </p:sp>
      <p:sp>
        <p:nvSpPr>
          <p:cNvPr id="129" name="object 129"/>
          <p:cNvSpPr txBox="1"/>
          <p:nvPr/>
        </p:nvSpPr>
        <p:spPr>
          <a:xfrm>
            <a:off x="759155" y="8427539"/>
            <a:ext cx="5129530" cy="591185"/>
          </a:xfrm>
          <a:prstGeom prst="rect">
            <a:avLst/>
          </a:prstGeom>
        </p:spPr>
        <p:txBody>
          <a:bodyPr wrap="square" lIns="0" tIns="39370" rIns="0" bIns="0" rtlCol="0" vert="horz">
            <a:spAutoFit/>
          </a:bodyPr>
          <a:lstStyle/>
          <a:p>
            <a:pPr marL="262255" marR="30480" indent="-237490">
              <a:lnSpc>
                <a:spcPct val="115700"/>
              </a:lnSpc>
              <a:spcBef>
                <a:spcPts val="310"/>
              </a:spcBef>
            </a:pPr>
            <a:r>
              <a:rPr dirty="0" baseline="-12012" sz="2775" spc="22">
                <a:latin typeface="Microsoft JhengHei"/>
                <a:cs typeface="Microsoft JhengHei"/>
              </a:rPr>
              <a:t>・</a:t>
            </a:r>
            <a:r>
              <a:rPr dirty="0" sz="1100" spc="10">
                <a:latin typeface="Lucida Sans"/>
                <a:cs typeface="Lucida Sans"/>
              </a:rPr>
              <a:t>Hash </a:t>
            </a:r>
            <a:r>
              <a:rPr dirty="0" sz="1100" spc="25">
                <a:latin typeface="Lucida Sans"/>
                <a:cs typeface="Lucida Sans"/>
              </a:rPr>
              <a:t>key</a:t>
            </a:r>
            <a:r>
              <a:rPr dirty="0" sz="1100" spc="15">
                <a:latin typeface="Lucida Sans"/>
                <a:cs typeface="Lucida Sans"/>
              </a:rPr>
              <a:t> </a:t>
            </a:r>
            <a:r>
              <a:rPr dirty="0" sz="1100" spc="5">
                <a:latin typeface="Lucida Sans"/>
                <a:cs typeface="Lucida Sans"/>
              </a:rPr>
              <a:t>to</a:t>
            </a:r>
            <a:r>
              <a:rPr dirty="0" sz="1100" spc="15">
                <a:latin typeface="Lucida Sans"/>
                <a:cs typeface="Lucida Sans"/>
              </a:rPr>
              <a:t> </a:t>
            </a:r>
            <a:r>
              <a:rPr dirty="0" sz="1100" spc="35">
                <a:latin typeface="Lucida Sans"/>
                <a:cs typeface="Lucida Sans"/>
              </a:rPr>
              <a:t>two</a:t>
            </a:r>
            <a:r>
              <a:rPr dirty="0" sz="1100" spc="15">
                <a:latin typeface="Lucida Sans"/>
                <a:cs typeface="Lucida Sans"/>
              </a:rPr>
              <a:t> </a:t>
            </a:r>
            <a:r>
              <a:rPr dirty="0" sz="1100" spc="5">
                <a:latin typeface="Lucida Sans"/>
                <a:cs typeface="Lucida Sans"/>
              </a:rPr>
              <a:t>positions;</a:t>
            </a:r>
            <a:r>
              <a:rPr dirty="0" sz="1100" spc="10">
                <a:latin typeface="Lucida Sans"/>
                <a:cs typeface="Lucida Sans"/>
              </a:rPr>
              <a:t> </a:t>
            </a:r>
            <a:r>
              <a:rPr dirty="0" sz="1100" spc="5">
                <a:latin typeface="Lucida Sans"/>
                <a:cs typeface="Lucida Sans"/>
              </a:rPr>
              <a:t>insert</a:t>
            </a:r>
            <a:r>
              <a:rPr dirty="0" sz="1100" spc="15">
                <a:latin typeface="Lucida Sans"/>
                <a:cs typeface="Lucida Sans"/>
              </a:rPr>
              <a:t> </a:t>
            </a:r>
            <a:r>
              <a:rPr dirty="0" sz="1100" spc="25">
                <a:latin typeface="Lucida Sans"/>
                <a:cs typeface="Lucida Sans"/>
              </a:rPr>
              <a:t>key</a:t>
            </a:r>
            <a:r>
              <a:rPr dirty="0" sz="1100" spc="15">
                <a:latin typeface="Lucida Sans"/>
                <a:cs typeface="Lucida Sans"/>
              </a:rPr>
              <a:t> </a:t>
            </a:r>
            <a:r>
              <a:rPr dirty="0" sz="1100" spc="5">
                <a:latin typeface="Lucida Sans"/>
                <a:cs typeface="Lucida Sans"/>
              </a:rPr>
              <a:t>into</a:t>
            </a:r>
            <a:r>
              <a:rPr dirty="0" sz="1100" spc="15">
                <a:latin typeface="Lucida Sans"/>
                <a:cs typeface="Lucida Sans"/>
              </a:rPr>
              <a:t> </a:t>
            </a:r>
            <a:r>
              <a:rPr dirty="0" sz="1100" spc="5">
                <a:latin typeface="Lucida Sans"/>
                <a:cs typeface="Lucida Sans"/>
              </a:rPr>
              <a:t>either</a:t>
            </a:r>
            <a:r>
              <a:rPr dirty="0" sz="1100" spc="15">
                <a:latin typeface="Lucida Sans"/>
                <a:cs typeface="Lucida Sans"/>
              </a:rPr>
              <a:t> </a:t>
            </a:r>
            <a:r>
              <a:rPr dirty="0" sz="1100" spc="5">
                <a:latin typeface="Lucida Sans"/>
                <a:cs typeface="Lucida Sans"/>
              </a:rPr>
              <a:t>position;</a:t>
            </a:r>
            <a:r>
              <a:rPr dirty="0" sz="1100" spc="10">
                <a:latin typeface="Lucida Sans"/>
                <a:cs typeface="Lucida Sans"/>
              </a:rPr>
              <a:t> </a:t>
            </a:r>
            <a:r>
              <a:rPr dirty="0" sz="1100" spc="5">
                <a:latin typeface="Lucida Sans"/>
                <a:cs typeface="Lucida Sans"/>
              </a:rPr>
              <a:t>if</a:t>
            </a:r>
            <a:r>
              <a:rPr dirty="0" sz="1100" spc="15">
                <a:latin typeface="Lucida Sans"/>
                <a:cs typeface="Lucida Sans"/>
              </a:rPr>
              <a:t> </a:t>
            </a:r>
            <a:r>
              <a:rPr dirty="0" sz="1100" spc="10">
                <a:latin typeface="Lucida Sans"/>
                <a:cs typeface="Lucida Sans"/>
              </a:rPr>
              <a:t>occupied, </a:t>
            </a:r>
            <a:r>
              <a:rPr dirty="0" sz="1100" spc="-335">
                <a:latin typeface="Lucida Sans"/>
                <a:cs typeface="Lucida Sans"/>
              </a:rPr>
              <a:t> </a:t>
            </a:r>
            <a:r>
              <a:rPr dirty="0" sz="1100" spc="5">
                <a:latin typeface="Lucida Sans"/>
                <a:cs typeface="Lucida Sans"/>
              </a:rPr>
              <a:t>reinsert </a:t>
            </a:r>
            <a:r>
              <a:rPr dirty="0" sz="1100" spc="10">
                <a:latin typeface="Lucida Sans"/>
                <a:cs typeface="Lucida Sans"/>
              </a:rPr>
              <a:t>displaced</a:t>
            </a:r>
            <a:r>
              <a:rPr dirty="0" sz="1100" spc="5">
                <a:latin typeface="Lucida Sans"/>
                <a:cs typeface="Lucida Sans"/>
              </a:rPr>
              <a:t> </a:t>
            </a:r>
            <a:r>
              <a:rPr dirty="0" sz="1100" spc="25">
                <a:latin typeface="Lucida Sans"/>
                <a:cs typeface="Lucida Sans"/>
              </a:rPr>
              <a:t>key</a:t>
            </a:r>
            <a:r>
              <a:rPr dirty="0" sz="1100" spc="10">
                <a:latin typeface="Lucida Sans"/>
                <a:cs typeface="Lucida Sans"/>
              </a:rPr>
              <a:t> </a:t>
            </a:r>
            <a:r>
              <a:rPr dirty="0" sz="1100" spc="5">
                <a:latin typeface="Lucida Sans"/>
                <a:cs typeface="Lucida Sans"/>
              </a:rPr>
              <a:t>into its </a:t>
            </a:r>
            <a:r>
              <a:rPr dirty="0" sz="1100" spc="10">
                <a:latin typeface="Lucida Sans"/>
                <a:cs typeface="Lucida Sans"/>
              </a:rPr>
              <a:t>alternative </a:t>
            </a:r>
            <a:r>
              <a:rPr dirty="0" sz="1100" spc="5">
                <a:latin typeface="Lucida Sans"/>
                <a:cs typeface="Lucida Sans"/>
              </a:rPr>
              <a:t>position </a:t>
            </a:r>
            <a:r>
              <a:rPr dirty="0" sz="1100" spc="10">
                <a:latin typeface="Lucida Sans"/>
                <a:cs typeface="Lucida Sans"/>
              </a:rPr>
              <a:t>(and </a:t>
            </a:r>
            <a:r>
              <a:rPr dirty="0" sz="1100" spc="5">
                <a:latin typeface="Lucida Sans"/>
                <a:cs typeface="Lucida Sans"/>
              </a:rPr>
              <a:t>recur).</a:t>
            </a:r>
            <a:endParaRPr sz="1100">
              <a:latin typeface="Lucida Sans"/>
              <a:cs typeface="Lucida Sans"/>
            </a:endParaRPr>
          </a:p>
        </p:txBody>
      </p:sp>
      <p:sp>
        <p:nvSpPr>
          <p:cNvPr id="130" name="object 130"/>
          <p:cNvSpPr txBox="1"/>
          <p:nvPr/>
        </p:nvSpPr>
        <p:spPr>
          <a:xfrm>
            <a:off x="759155" y="8958728"/>
            <a:ext cx="2836545" cy="3098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14"/>
              </a:spcBef>
            </a:pPr>
            <a:r>
              <a:rPr dirty="0" baseline="-12012" sz="2775" spc="22">
                <a:latin typeface="Microsoft JhengHei"/>
                <a:cs typeface="Microsoft JhengHei"/>
              </a:rPr>
              <a:t>・</a:t>
            </a:r>
            <a:r>
              <a:rPr dirty="0" sz="1100" spc="10">
                <a:latin typeface="Lucida Sans"/>
                <a:cs typeface="Lucida Sans"/>
              </a:rPr>
              <a:t>Constant</a:t>
            </a:r>
            <a:r>
              <a:rPr dirty="0" sz="1100" spc="-5">
                <a:latin typeface="Lucida Sans"/>
                <a:cs typeface="Lucida Sans"/>
              </a:rPr>
              <a:t> </a:t>
            </a:r>
            <a:r>
              <a:rPr dirty="0" sz="1100" spc="15">
                <a:latin typeface="Lucida Sans"/>
                <a:cs typeface="Lucida Sans"/>
              </a:rPr>
              <a:t>worst-case</a:t>
            </a:r>
            <a:r>
              <a:rPr dirty="0" sz="1100">
                <a:latin typeface="Lucida Sans"/>
                <a:cs typeface="Lucida Sans"/>
              </a:rPr>
              <a:t> </a:t>
            </a:r>
            <a:r>
              <a:rPr dirty="0" sz="1100" spc="10">
                <a:latin typeface="Lucida Sans"/>
                <a:cs typeface="Lucida Sans"/>
              </a:rPr>
              <a:t>time</a:t>
            </a:r>
            <a:r>
              <a:rPr dirty="0" sz="1100" spc="-5">
                <a:latin typeface="Lucida Sans"/>
                <a:cs typeface="Lucida Sans"/>
              </a:rPr>
              <a:t> </a:t>
            </a:r>
            <a:r>
              <a:rPr dirty="0" sz="1100" spc="5">
                <a:latin typeface="Lucida Sans"/>
                <a:cs typeface="Lucida Sans"/>
              </a:rPr>
              <a:t>for</a:t>
            </a:r>
            <a:r>
              <a:rPr dirty="0" sz="1100">
                <a:latin typeface="Lucida Sans"/>
                <a:cs typeface="Lucida Sans"/>
              </a:rPr>
              <a:t> </a:t>
            </a:r>
            <a:r>
              <a:rPr dirty="0" sz="1100" spc="5">
                <a:latin typeface="Lucida Sans"/>
                <a:cs typeface="Lucida Sans"/>
              </a:rPr>
              <a:t>search.</a:t>
            </a:r>
            <a:endParaRPr sz="1100">
              <a:latin typeface="Lucida Sans"/>
              <a:cs typeface="Lucida Sans"/>
            </a:endParaRPr>
          </a:p>
        </p:txBody>
      </p:sp>
      <p:pic>
        <p:nvPicPr>
          <p:cNvPr id="131" name="object 13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05303" y="8885221"/>
            <a:ext cx="426066" cy="524585"/>
          </a:xfrm>
          <a:prstGeom prst="rect">
            <a:avLst/>
          </a:prstGeom>
        </p:spPr>
      </p:pic>
      <p:grpSp>
        <p:nvGrpSpPr>
          <p:cNvPr id="132" name="object 132"/>
          <p:cNvGrpSpPr/>
          <p:nvPr/>
        </p:nvGrpSpPr>
        <p:grpSpPr>
          <a:xfrm>
            <a:off x="6592379" y="4966780"/>
            <a:ext cx="6066790" cy="4549775"/>
            <a:chOff x="6592379" y="4966780"/>
            <a:chExt cx="6066790" cy="4549775"/>
          </a:xfrm>
        </p:grpSpPr>
        <p:sp>
          <p:nvSpPr>
            <p:cNvPr id="133" name="object 133"/>
            <p:cNvSpPr/>
            <p:nvPr/>
          </p:nvSpPr>
          <p:spPr>
            <a:xfrm>
              <a:off x="6592379" y="4966780"/>
              <a:ext cx="6066790" cy="4549775"/>
            </a:xfrm>
            <a:custGeom>
              <a:avLst/>
              <a:gdLst/>
              <a:ahLst/>
              <a:cxnLst/>
              <a:rect l="l" t="t" r="r" b="b"/>
              <a:pathLst>
                <a:path w="6066790" h="4549775">
                  <a:moveTo>
                    <a:pt x="0" y="0"/>
                  </a:moveTo>
                  <a:lnTo>
                    <a:pt x="6066212" y="0"/>
                  </a:lnTo>
                  <a:lnTo>
                    <a:pt x="6066212" y="4549659"/>
                  </a:lnTo>
                  <a:lnTo>
                    <a:pt x="0" y="45496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4" name="object 134"/>
            <p:cNvSpPr/>
            <p:nvPr/>
          </p:nvSpPr>
          <p:spPr>
            <a:xfrm>
              <a:off x="6977442" y="5428805"/>
              <a:ext cx="5302250" cy="635"/>
            </a:xfrm>
            <a:custGeom>
              <a:avLst/>
              <a:gdLst/>
              <a:ahLst/>
              <a:cxnLst/>
              <a:rect l="l" t="t" r="r" b="b"/>
              <a:pathLst>
                <a:path w="5302250" h="635">
                  <a:moveTo>
                    <a:pt x="0" y="49"/>
                  </a:moveTo>
                  <a:lnTo>
                    <a:pt x="5302012" y="0"/>
                  </a:lnTo>
                </a:path>
              </a:pathLst>
            </a:custGeom>
            <a:ln w="59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5" name="object 135"/>
          <p:cNvSpPr txBox="1"/>
          <p:nvPr/>
        </p:nvSpPr>
        <p:spPr>
          <a:xfrm>
            <a:off x="6998899" y="5125877"/>
            <a:ext cx="2847340" cy="2247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dirty="0" sz="1300" spc="-15">
                <a:latin typeface="Arial"/>
                <a:cs typeface="Arial"/>
              </a:rPr>
              <a:t>Hash</a:t>
            </a:r>
            <a:r>
              <a:rPr dirty="0" sz="1300" spc="35">
                <a:latin typeface="Arial"/>
                <a:cs typeface="Arial"/>
              </a:rPr>
              <a:t> </a:t>
            </a:r>
            <a:r>
              <a:rPr dirty="0" sz="1300" spc="5">
                <a:latin typeface="Arial"/>
                <a:cs typeface="Arial"/>
              </a:rPr>
              <a:t>tables</a:t>
            </a:r>
            <a:r>
              <a:rPr dirty="0" sz="1300" spc="40">
                <a:latin typeface="Arial"/>
                <a:cs typeface="Arial"/>
              </a:rPr>
              <a:t> </a:t>
            </a:r>
            <a:r>
              <a:rPr dirty="0" sz="1300" spc="-30">
                <a:latin typeface="Arial"/>
                <a:cs typeface="Arial"/>
              </a:rPr>
              <a:t>vs.</a:t>
            </a:r>
            <a:r>
              <a:rPr dirty="0" sz="1300" spc="40">
                <a:latin typeface="Arial"/>
                <a:cs typeface="Arial"/>
              </a:rPr>
              <a:t> </a:t>
            </a:r>
            <a:r>
              <a:rPr dirty="0" sz="1300" spc="25">
                <a:latin typeface="Arial"/>
                <a:cs typeface="Arial"/>
              </a:rPr>
              <a:t>balanced</a:t>
            </a:r>
            <a:r>
              <a:rPr dirty="0" sz="1300" spc="40">
                <a:latin typeface="Arial"/>
                <a:cs typeface="Arial"/>
              </a:rPr>
              <a:t> </a:t>
            </a:r>
            <a:r>
              <a:rPr dirty="0" sz="1300" spc="-5">
                <a:latin typeface="Arial"/>
                <a:cs typeface="Arial"/>
              </a:rPr>
              <a:t>search</a:t>
            </a:r>
            <a:r>
              <a:rPr dirty="0" sz="1300" spc="40">
                <a:latin typeface="Arial"/>
                <a:cs typeface="Arial"/>
              </a:rPr>
              <a:t> </a:t>
            </a:r>
            <a:r>
              <a:rPr dirty="0" sz="1300" spc="-20">
                <a:latin typeface="Arial"/>
                <a:cs typeface="Arial"/>
              </a:rPr>
              <a:t>trees</a:t>
            </a:r>
            <a:endParaRPr sz="1300">
              <a:latin typeface="Arial"/>
              <a:cs typeface="Arial"/>
            </a:endParaRPr>
          </a:p>
        </p:txBody>
      </p:sp>
      <p:sp>
        <p:nvSpPr>
          <p:cNvPr id="147" name="object 147"/>
          <p:cNvSpPr txBox="1"/>
          <p:nvPr/>
        </p:nvSpPr>
        <p:spPr>
          <a:xfrm>
            <a:off x="6246003" y="9350039"/>
            <a:ext cx="115570" cy="109855"/>
          </a:xfrm>
          <a:prstGeom prst="rect">
            <a:avLst/>
          </a:prstGeom>
        </p:spPr>
        <p:txBody>
          <a:bodyPr wrap="square" lIns="0" tIns="88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dirty="0" sz="550" spc="5">
                <a:latin typeface="Lucida Sans"/>
                <a:cs typeface="Lucida Sans"/>
              </a:rPr>
              <a:t>43</a:t>
            </a:r>
            <a:endParaRPr sz="550">
              <a:latin typeface="Lucida Sans"/>
              <a:cs typeface="Lucida Sans"/>
            </a:endParaRPr>
          </a:p>
        </p:txBody>
      </p:sp>
      <p:sp>
        <p:nvSpPr>
          <p:cNvPr id="148" name="object 148"/>
          <p:cNvSpPr txBox="1"/>
          <p:nvPr/>
        </p:nvSpPr>
        <p:spPr>
          <a:xfrm>
            <a:off x="12492206" y="9350039"/>
            <a:ext cx="115570" cy="109855"/>
          </a:xfrm>
          <a:prstGeom prst="rect">
            <a:avLst/>
          </a:prstGeom>
        </p:spPr>
        <p:txBody>
          <a:bodyPr wrap="square" lIns="0" tIns="88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dirty="0" sz="550" spc="5">
                <a:latin typeface="Lucida Sans"/>
                <a:cs typeface="Lucida Sans"/>
              </a:rPr>
              <a:t>44</a:t>
            </a:r>
            <a:endParaRPr sz="550">
              <a:latin typeface="Lucida Sans"/>
              <a:cs typeface="Lucida Sans"/>
            </a:endParaRPr>
          </a:p>
        </p:txBody>
      </p:sp>
      <p:sp>
        <p:nvSpPr>
          <p:cNvPr id="136" name="object 136"/>
          <p:cNvSpPr txBox="1"/>
          <p:nvPr/>
        </p:nvSpPr>
        <p:spPr>
          <a:xfrm>
            <a:off x="6998899" y="5587952"/>
            <a:ext cx="860425" cy="1962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dirty="0" sz="1100" spc="10">
                <a:solidFill>
                  <a:srgbClr val="005493"/>
                </a:solidFill>
                <a:latin typeface="Lucida Sans"/>
                <a:cs typeface="Lucida Sans"/>
              </a:rPr>
              <a:t>Hash</a:t>
            </a:r>
            <a:r>
              <a:rPr dirty="0" sz="1100" spc="-50">
                <a:solidFill>
                  <a:srgbClr val="005493"/>
                </a:solidFill>
                <a:latin typeface="Lucida Sans"/>
                <a:cs typeface="Lucida Sans"/>
              </a:rPr>
              <a:t> </a:t>
            </a:r>
            <a:r>
              <a:rPr dirty="0" sz="1100" spc="5">
                <a:solidFill>
                  <a:srgbClr val="005493"/>
                </a:solidFill>
                <a:latin typeface="Lucida Sans"/>
                <a:cs typeface="Lucida Sans"/>
              </a:rPr>
              <a:t>tables.</a:t>
            </a:r>
            <a:endParaRPr sz="1100">
              <a:latin typeface="Lucida Sans"/>
              <a:cs typeface="Lucida Sans"/>
            </a:endParaRPr>
          </a:p>
        </p:txBody>
      </p:sp>
      <p:sp>
        <p:nvSpPr>
          <p:cNvPr id="137" name="object 137"/>
          <p:cNvSpPr txBox="1"/>
          <p:nvPr/>
        </p:nvSpPr>
        <p:spPr>
          <a:xfrm>
            <a:off x="7005358" y="5724205"/>
            <a:ext cx="1424305" cy="3098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14"/>
              </a:spcBef>
            </a:pPr>
            <a:r>
              <a:rPr dirty="0" baseline="-12012" sz="2775" spc="22">
                <a:latin typeface="Microsoft JhengHei"/>
                <a:cs typeface="Microsoft JhengHei"/>
              </a:rPr>
              <a:t>・</a:t>
            </a:r>
            <a:r>
              <a:rPr dirty="0" sz="1100" spc="10">
                <a:latin typeface="Lucida Sans"/>
                <a:cs typeface="Lucida Sans"/>
              </a:rPr>
              <a:t>Simpler</a:t>
            </a:r>
            <a:r>
              <a:rPr dirty="0" sz="1100" spc="-25">
                <a:latin typeface="Lucida Sans"/>
                <a:cs typeface="Lucida Sans"/>
              </a:rPr>
              <a:t> </a:t>
            </a:r>
            <a:r>
              <a:rPr dirty="0" sz="1100" spc="5">
                <a:latin typeface="Lucida Sans"/>
                <a:cs typeface="Lucida Sans"/>
              </a:rPr>
              <a:t>to</a:t>
            </a:r>
            <a:r>
              <a:rPr dirty="0" sz="1100" spc="-25">
                <a:latin typeface="Lucida Sans"/>
                <a:cs typeface="Lucida Sans"/>
              </a:rPr>
              <a:t> </a:t>
            </a:r>
            <a:r>
              <a:rPr dirty="0" sz="1100" spc="10">
                <a:latin typeface="Lucida Sans"/>
                <a:cs typeface="Lucida Sans"/>
              </a:rPr>
              <a:t>code.</a:t>
            </a:r>
            <a:endParaRPr sz="1100">
              <a:latin typeface="Lucida Sans"/>
              <a:cs typeface="Lucida Sans"/>
            </a:endParaRPr>
          </a:p>
        </p:txBody>
      </p:sp>
      <p:sp>
        <p:nvSpPr>
          <p:cNvPr id="138" name="object 138"/>
          <p:cNvSpPr txBox="1"/>
          <p:nvPr/>
        </p:nvSpPr>
        <p:spPr>
          <a:xfrm>
            <a:off x="7005358" y="5955242"/>
            <a:ext cx="3308350" cy="3098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14"/>
              </a:spcBef>
            </a:pPr>
            <a:r>
              <a:rPr dirty="0" baseline="-12012" sz="2775" spc="22">
                <a:latin typeface="Microsoft JhengHei"/>
                <a:cs typeface="Microsoft JhengHei"/>
              </a:rPr>
              <a:t>・</a:t>
            </a:r>
            <a:r>
              <a:rPr dirty="0" sz="1100" spc="10">
                <a:latin typeface="Lucida Sans"/>
                <a:cs typeface="Lucida Sans"/>
              </a:rPr>
              <a:t>No</a:t>
            </a:r>
            <a:r>
              <a:rPr dirty="0" sz="1100" spc="5">
                <a:latin typeface="Lucida Sans"/>
                <a:cs typeface="Lucida Sans"/>
              </a:rPr>
              <a:t> </a:t>
            </a:r>
            <a:r>
              <a:rPr dirty="0" sz="1100" spc="10">
                <a:latin typeface="Lucida Sans"/>
                <a:cs typeface="Lucida Sans"/>
              </a:rPr>
              <a:t>effective</a:t>
            </a:r>
            <a:r>
              <a:rPr dirty="0" sz="1100" spc="5">
                <a:latin typeface="Lucida Sans"/>
                <a:cs typeface="Lucida Sans"/>
              </a:rPr>
              <a:t> </a:t>
            </a:r>
            <a:r>
              <a:rPr dirty="0" sz="1100" spc="10">
                <a:latin typeface="Lucida Sans"/>
                <a:cs typeface="Lucida Sans"/>
              </a:rPr>
              <a:t>alternative</a:t>
            </a:r>
            <a:r>
              <a:rPr dirty="0" sz="1100" spc="5">
                <a:latin typeface="Lucida Sans"/>
                <a:cs typeface="Lucida Sans"/>
              </a:rPr>
              <a:t> for unordered </a:t>
            </a:r>
            <a:r>
              <a:rPr dirty="0" sz="1100" spc="20">
                <a:latin typeface="Lucida Sans"/>
                <a:cs typeface="Lucida Sans"/>
              </a:rPr>
              <a:t>keys.</a:t>
            </a:r>
            <a:endParaRPr sz="1100">
              <a:latin typeface="Lucida Sans"/>
              <a:cs typeface="Lucida Sans"/>
            </a:endParaRPr>
          </a:p>
        </p:txBody>
      </p:sp>
      <p:sp>
        <p:nvSpPr>
          <p:cNvPr id="139" name="object 139"/>
          <p:cNvSpPr txBox="1"/>
          <p:nvPr/>
        </p:nvSpPr>
        <p:spPr>
          <a:xfrm>
            <a:off x="7005358" y="6186280"/>
            <a:ext cx="4984750" cy="3098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14"/>
              </a:spcBef>
            </a:pPr>
            <a:r>
              <a:rPr dirty="0" baseline="-10510" sz="2775" spc="22">
                <a:latin typeface="Microsoft JhengHei"/>
                <a:cs typeface="Microsoft JhengHei"/>
              </a:rPr>
              <a:t>・</a:t>
            </a:r>
            <a:r>
              <a:rPr dirty="0" sz="1100" spc="5">
                <a:latin typeface="Lucida Sans"/>
                <a:cs typeface="Lucida Sans"/>
              </a:rPr>
              <a:t>Faster for </a:t>
            </a:r>
            <a:r>
              <a:rPr dirty="0" sz="1100" spc="10">
                <a:latin typeface="Lucida Sans"/>
                <a:cs typeface="Lucida Sans"/>
              </a:rPr>
              <a:t>simple </a:t>
            </a:r>
            <a:r>
              <a:rPr dirty="0" sz="1100" spc="20">
                <a:latin typeface="Lucida Sans"/>
                <a:cs typeface="Lucida Sans"/>
              </a:rPr>
              <a:t>keys</a:t>
            </a:r>
            <a:r>
              <a:rPr dirty="0" sz="1100" spc="5">
                <a:latin typeface="Lucida Sans"/>
                <a:cs typeface="Lucida Sans"/>
              </a:rPr>
              <a:t> (a</a:t>
            </a:r>
            <a:r>
              <a:rPr dirty="0" sz="1100" spc="10">
                <a:latin typeface="Lucida Sans"/>
                <a:cs typeface="Lucida Sans"/>
              </a:rPr>
              <a:t> </a:t>
            </a:r>
            <a:r>
              <a:rPr dirty="0" sz="1100" spc="35">
                <a:latin typeface="Lucida Sans"/>
                <a:cs typeface="Lucida Sans"/>
              </a:rPr>
              <a:t>few</a:t>
            </a:r>
            <a:r>
              <a:rPr dirty="0" sz="1100" spc="5">
                <a:latin typeface="Lucida Sans"/>
                <a:cs typeface="Lucida Sans"/>
              </a:rPr>
              <a:t> </a:t>
            </a:r>
            <a:r>
              <a:rPr dirty="0" sz="1100" spc="10">
                <a:latin typeface="Lucida Sans"/>
                <a:cs typeface="Lucida Sans"/>
              </a:rPr>
              <a:t>arithmetic</a:t>
            </a:r>
            <a:r>
              <a:rPr dirty="0" sz="1100" spc="5">
                <a:latin typeface="Lucida Sans"/>
                <a:cs typeface="Lucida Sans"/>
              </a:rPr>
              <a:t> </a:t>
            </a:r>
            <a:r>
              <a:rPr dirty="0" sz="1100" spc="10">
                <a:latin typeface="Lucida Sans"/>
                <a:cs typeface="Lucida Sans"/>
              </a:rPr>
              <a:t>ops </a:t>
            </a:r>
            <a:r>
              <a:rPr dirty="0" sz="1100" spc="20">
                <a:latin typeface="Lucida Sans"/>
                <a:cs typeface="Lucida Sans"/>
              </a:rPr>
              <a:t>versus</a:t>
            </a:r>
            <a:r>
              <a:rPr dirty="0" sz="1100" spc="5">
                <a:latin typeface="Lucida Sans"/>
                <a:cs typeface="Lucida Sans"/>
              </a:rPr>
              <a:t> </a:t>
            </a:r>
            <a:r>
              <a:rPr dirty="0" sz="1100" spc="5">
                <a:latin typeface="Times New Roman"/>
                <a:cs typeface="Times New Roman"/>
              </a:rPr>
              <a:t>log </a:t>
            </a:r>
            <a:r>
              <a:rPr dirty="0" sz="1100" spc="10" i="1">
                <a:latin typeface="Times New Roman"/>
                <a:cs typeface="Times New Roman"/>
              </a:rPr>
              <a:t>N</a:t>
            </a:r>
            <a:r>
              <a:rPr dirty="0" sz="1100" spc="75" i="1">
                <a:latin typeface="Times New Roman"/>
                <a:cs typeface="Times New Roman"/>
              </a:rPr>
              <a:t> </a:t>
            </a:r>
            <a:r>
              <a:rPr dirty="0" sz="1100" spc="5">
                <a:latin typeface="Lucida Sans"/>
                <a:cs typeface="Lucida Sans"/>
              </a:rPr>
              <a:t>compares).</a:t>
            </a:r>
            <a:endParaRPr sz="1100">
              <a:latin typeface="Lucida Sans"/>
              <a:cs typeface="Lucida Sans"/>
            </a:endParaRPr>
          </a:p>
        </p:txBody>
      </p:sp>
      <p:sp>
        <p:nvSpPr>
          <p:cNvPr id="140" name="object 140"/>
          <p:cNvSpPr txBox="1"/>
          <p:nvPr/>
        </p:nvSpPr>
        <p:spPr>
          <a:xfrm>
            <a:off x="7005358" y="6417317"/>
            <a:ext cx="4846955" cy="3098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14"/>
              </a:spcBef>
            </a:pPr>
            <a:r>
              <a:rPr dirty="0" baseline="-12012" sz="2775" spc="22">
                <a:latin typeface="Microsoft JhengHei"/>
                <a:cs typeface="Microsoft JhengHei"/>
              </a:rPr>
              <a:t>・</a:t>
            </a:r>
            <a:r>
              <a:rPr dirty="0" sz="1100" spc="5">
                <a:latin typeface="Lucida Sans"/>
                <a:cs typeface="Lucida Sans"/>
              </a:rPr>
              <a:t>Better</a:t>
            </a:r>
            <a:r>
              <a:rPr dirty="0" sz="1100" spc="10">
                <a:latin typeface="Lucida Sans"/>
                <a:cs typeface="Lucida Sans"/>
              </a:rPr>
              <a:t> </a:t>
            </a:r>
            <a:r>
              <a:rPr dirty="0" sz="1100" spc="15">
                <a:latin typeface="Lucida Sans"/>
                <a:cs typeface="Lucida Sans"/>
              </a:rPr>
              <a:t>system</a:t>
            </a:r>
            <a:r>
              <a:rPr dirty="0" sz="1100" spc="10">
                <a:latin typeface="Lucida Sans"/>
                <a:cs typeface="Lucida Sans"/>
              </a:rPr>
              <a:t> support </a:t>
            </a:r>
            <a:r>
              <a:rPr dirty="0" sz="1100" spc="5">
                <a:latin typeface="Lucida Sans"/>
                <a:cs typeface="Lucida Sans"/>
              </a:rPr>
              <a:t>in</a:t>
            </a:r>
            <a:r>
              <a:rPr dirty="0" sz="1100" spc="10">
                <a:latin typeface="Lucida Sans"/>
                <a:cs typeface="Lucida Sans"/>
              </a:rPr>
              <a:t> </a:t>
            </a:r>
            <a:r>
              <a:rPr dirty="0" sz="1100" spc="20">
                <a:latin typeface="Lucida Sans"/>
                <a:cs typeface="Lucida Sans"/>
              </a:rPr>
              <a:t>Java</a:t>
            </a:r>
            <a:r>
              <a:rPr dirty="0" sz="1100" spc="10">
                <a:latin typeface="Lucida Sans"/>
                <a:cs typeface="Lucida Sans"/>
              </a:rPr>
              <a:t> </a:t>
            </a:r>
            <a:r>
              <a:rPr dirty="0" sz="1100" spc="5">
                <a:latin typeface="Lucida Sans"/>
                <a:cs typeface="Lucida Sans"/>
              </a:rPr>
              <a:t>for</a:t>
            </a:r>
            <a:r>
              <a:rPr dirty="0" sz="1100" spc="15">
                <a:latin typeface="Lucida Sans"/>
                <a:cs typeface="Lucida Sans"/>
              </a:rPr>
              <a:t> </a:t>
            </a:r>
            <a:r>
              <a:rPr dirty="0" sz="1100" spc="5">
                <a:latin typeface="Lucida Sans"/>
                <a:cs typeface="Lucida Sans"/>
              </a:rPr>
              <a:t>strings</a:t>
            </a:r>
            <a:r>
              <a:rPr dirty="0" sz="1100" spc="10">
                <a:latin typeface="Lucida Sans"/>
                <a:cs typeface="Lucida Sans"/>
              </a:rPr>
              <a:t> </a:t>
            </a:r>
            <a:r>
              <a:rPr dirty="0" sz="1100" spc="5">
                <a:latin typeface="Lucida Sans"/>
                <a:cs typeface="Lucida Sans"/>
              </a:rPr>
              <a:t>(e.g.,</a:t>
            </a:r>
            <a:r>
              <a:rPr dirty="0" sz="1100" spc="10">
                <a:latin typeface="Lucida Sans"/>
                <a:cs typeface="Lucida Sans"/>
              </a:rPr>
              <a:t> cached hash code).</a:t>
            </a:r>
            <a:endParaRPr sz="1100">
              <a:latin typeface="Lucida Sans"/>
              <a:cs typeface="Lucida Sans"/>
            </a:endParaRPr>
          </a:p>
        </p:txBody>
      </p:sp>
      <p:sp>
        <p:nvSpPr>
          <p:cNvPr id="141" name="object 141"/>
          <p:cNvSpPr txBox="1"/>
          <p:nvPr/>
        </p:nvSpPr>
        <p:spPr>
          <a:xfrm>
            <a:off x="6998899" y="6974176"/>
            <a:ext cx="1544955" cy="1962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dirty="0" sz="1100" spc="10">
                <a:solidFill>
                  <a:srgbClr val="005493"/>
                </a:solidFill>
                <a:latin typeface="Lucida Sans"/>
                <a:cs typeface="Lucida Sans"/>
              </a:rPr>
              <a:t>Balanced</a:t>
            </a:r>
            <a:r>
              <a:rPr dirty="0" sz="1100" spc="-20">
                <a:solidFill>
                  <a:srgbClr val="005493"/>
                </a:solidFill>
                <a:latin typeface="Lucida Sans"/>
                <a:cs typeface="Lucida Sans"/>
              </a:rPr>
              <a:t> </a:t>
            </a:r>
            <a:r>
              <a:rPr dirty="0" sz="1100" spc="5">
                <a:solidFill>
                  <a:srgbClr val="005493"/>
                </a:solidFill>
                <a:latin typeface="Lucida Sans"/>
                <a:cs typeface="Lucida Sans"/>
              </a:rPr>
              <a:t>search</a:t>
            </a:r>
            <a:r>
              <a:rPr dirty="0" sz="1100" spc="-15">
                <a:solidFill>
                  <a:srgbClr val="005493"/>
                </a:solidFill>
                <a:latin typeface="Lucida Sans"/>
                <a:cs typeface="Lucida Sans"/>
              </a:rPr>
              <a:t> </a:t>
            </a:r>
            <a:r>
              <a:rPr dirty="0" sz="1100">
                <a:solidFill>
                  <a:srgbClr val="005493"/>
                </a:solidFill>
                <a:latin typeface="Lucida Sans"/>
                <a:cs typeface="Lucida Sans"/>
              </a:rPr>
              <a:t>trees.</a:t>
            </a:r>
            <a:endParaRPr sz="1100">
              <a:latin typeface="Lucida Sans"/>
              <a:cs typeface="Lucida Sans"/>
            </a:endParaRPr>
          </a:p>
        </p:txBody>
      </p:sp>
      <p:sp>
        <p:nvSpPr>
          <p:cNvPr id="142" name="object 142"/>
          <p:cNvSpPr txBox="1"/>
          <p:nvPr/>
        </p:nvSpPr>
        <p:spPr>
          <a:xfrm>
            <a:off x="7005358" y="7110429"/>
            <a:ext cx="2590165" cy="3098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14"/>
              </a:spcBef>
            </a:pPr>
            <a:r>
              <a:rPr dirty="0" baseline="-12012" sz="2775" spc="22">
                <a:latin typeface="Microsoft JhengHei"/>
                <a:cs typeface="Microsoft JhengHei"/>
              </a:rPr>
              <a:t>・</a:t>
            </a:r>
            <a:r>
              <a:rPr dirty="0" sz="1100" spc="5">
                <a:latin typeface="Lucida Sans"/>
                <a:cs typeface="Lucida Sans"/>
              </a:rPr>
              <a:t>Stronger</a:t>
            </a:r>
            <a:r>
              <a:rPr dirty="0" sz="1100" spc="-5">
                <a:latin typeface="Lucida Sans"/>
                <a:cs typeface="Lucida Sans"/>
              </a:rPr>
              <a:t> </a:t>
            </a:r>
            <a:r>
              <a:rPr dirty="0" sz="1100" spc="10">
                <a:latin typeface="Lucida Sans"/>
                <a:cs typeface="Lucida Sans"/>
              </a:rPr>
              <a:t>performance</a:t>
            </a:r>
            <a:r>
              <a:rPr dirty="0" sz="1100" spc="-5">
                <a:latin typeface="Lucida Sans"/>
                <a:cs typeface="Lucida Sans"/>
              </a:rPr>
              <a:t> </a:t>
            </a:r>
            <a:r>
              <a:rPr dirty="0" sz="1100" spc="5">
                <a:latin typeface="Lucida Sans"/>
                <a:cs typeface="Lucida Sans"/>
              </a:rPr>
              <a:t>guarantee.</a:t>
            </a:r>
            <a:endParaRPr sz="1100">
              <a:latin typeface="Lucida Sans"/>
              <a:cs typeface="Lucida Sans"/>
            </a:endParaRPr>
          </a:p>
        </p:txBody>
      </p:sp>
      <p:sp>
        <p:nvSpPr>
          <p:cNvPr id="143" name="object 143"/>
          <p:cNvSpPr txBox="1"/>
          <p:nvPr/>
        </p:nvSpPr>
        <p:spPr>
          <a:xfrm>
            <a:off x="7005358" y="7341467"/>
            <a:ext cx="2702560" cy="3098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14"/>
              </a:spcBef>
            </a:pPr>
            <a:r>
              <a:rPr dirty="0" baseline="-12012" sz="2775" spc="22">
                <a:latin typeface="Microsoft JhengHei"/>
                <a:cs typeface="Microsoft JhengHei"/>
              </a:rPr>
              <a:t>・</a:t>
            </a:r>
            <a:r>
              <a:rPr dirty="0" sz="1100" spc="10">
                <a:latin typeface="Lucida Sans"/>
                <a:cs typeface="Lucida Sans"/>
              </a:rPr>
              <a:t>Support</a:t>
            </a:r>
            <a:r>
              <a:rPr dirty="0" sz="1100">
                <a:latin typeface="Lucida Sans"/>
                <a:cs typeface="Lucida Sans"/>
              </a:rPr>
              <a:t> </a:t>
            </a:r>
            <a:r>
              <a:rPr dirty="0" sz="1100" spc="5">
                <a:latin typeface="Lucida Sans"/>
                <a:cs typeface="Lucida Sans"/>
              </a:rPr>
              <a:t>for </a:t>
            </a:r>
            <a:r>
              <a:rPr dirty="0" sz="1100">
                <a:latin typeface="Lucida Sans"/>
                <a:cs typeface="Lucida Sans"/>
              </a:rPr>
              <a:t>ordered</a:t>
            </a:r>
            <a:r>
              <a:rPr dirty="0" sz="1100" spc="5">
                <a:latin typeface="Lucida Sans"/>
                <a:cs typeface="Lucida Sans"/>
              </a:rPr>
              <a:t> </a:t>
            </a:r>
            <a:r>
              <a:rPr dirty="0" sz="1100" spc="10">
                <a:latin typeface="Lucida Sans"/>
                <a:cs typeface="Lucida Sans"/>
              </a:rPr>
              <a:t>ST</a:t>
            </a:r>
            <a:r>
              <a:rPr dirty="0" sz="1100" spc="5">
                <a:latin typeface="Lucida Sans"/>
                <a:cs typeface="Lucida Sans"/>
              </a:rPr>
              <a:t> operations.</a:t>
            </a:r>
            <a:endParaRPr sz="1100">
              <a:latin typeface="Lucida Sans"/>
              <a:cs typeface="Lucida Sans"/>
            </a:endParaRPr>
          </a:p>
        </p:txBody>
      </p:sp>
      <p:sp>
        <p:nvSpPr>
          <p:cNvPr id="144" name="object 144"/>
          <p:cNvSpPr txBox="1"/>
          <p:nvPr/>
        </p:nvSpPr>
        <p:spPr>
          <a:xfrm>
            <a:off x="6973499" y="7572504"/>
            <a:ext cx="5255895" cy="75311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57150">
              <a:lnSpc>
                <a:spcPct val="100000"/>
              </a:lnSpc>
              <a:spcBef>
                <a:spcPts val="114"/>
              </a:spcBef>
            </a:pPr>
            <a:r>
              <a:rPr dirty="0" baseline="-12012" sz="2775" spc="22">
                <a:latin typeface="Microsoft JhengHei"/>
                <a:cs typeface="Microsoft JhengHei"/>
              </a:rPr>
              <a:t>・</a:t>
            </a:r>
            <a:r>
              <a:rPr dirty="0" sz="1100" spc="5">
                <a:latin typeface="Lucida Sans"/>
                <a:cs typeface="Lucida Sans"/>
              </a:rPr>
              <a:t>Easier</a:t>
            </a:r>
            <a:r>
              <a:rPr dirty="0" sz="1100" spc="15">
                <a:latin typeface="Lucida Sans"/>
                <a:cs typeface="Lucida Sans"/>
              </a:rPr>
              <a:t> </a:t>
            </a:r>
            <a:r>
              <a:rPr dirty="0" sz="1100" spc="5">
                <a:latin typeface="Lucida Sans"/>
                <a:cs typeface="Lucida Sans"/>
              </a:rPr>
              <a:t>to</a:t>
            </a:r>
            <a:r>
              <a:rPr dirty="0" sz="1100" spc="15">
                <a:latin typeface="Lucida Sans"/>
                <a:cs typeface="Lucida Sans"/>
              </a:rPr>
              <a:t> </a:t>
            </a:r>
            <a:r>
              <a:rPr dirty="0" sz="1100" spc="10">
                <a:latin typeface="Lucida Sans"/>
                <a:cs typeface="Lucida Sans"/>
              </a:rPr>
              <a:t>implement</a:t>
            </a:r>
            <a:r>
              <a:rPr dirty="0" sz="1100" spc="15">
                <a:latin typeface="Lucida Sans"/>
                <a:cs typeface="Lucida Sans"/>
              </a:rPr>
              <a:t> </a:t>
            </a:r>
            <a:r>
              <a:rPr dirty="0" sz="900" spc="15">
                <a:latin typeface="Lucida Sans Typewriter"/>
                <a:cs typeface="Lucida Sans Typewriter"/>
              </a:rPr>
              <a:t>compareTo()</a:t>
            </a:r>
            <a:r>
              <a:rPr dirty="0" sz="900" spc="-180">
                <a:latin typeface="Lucida Sans Typewriter"/>
                <a:cs typeface="Lucida Sans Typewriter"/>
              </a:rPr>
              <a:t> </a:t>
            </a:r>
            <a:r>
              <a:rPr dirty="0" sz="1100" spc="10">
                <a:latin typeface="Lucida Sans"/>
                <a:cs typeface="Lucida Sans"/>
              </a:rPr>
              <a:t>correctly</a:t>
            </a:r>
            <a:r>
              <a:rPr dirty="0" sz="1100" spc="20">
                <a:latin typeface="Lucida Sans"/>
                <a:cs typeface="Lucida Sans"/>
              </a:rPr>
              <a:t> </a:t>
            </a:r>
            <a:r>
              <a:rPr dirty="0" sz="1100" spc="10">
                <a:latin typeface="Lucida Sans"/>
                <a:cs typeface="Lucida Sans"/>
              </a:rPr>
              <a:t>than</a:t>
            </a:r>
            <a:r>
              <a:rPr dirty="0" sz="1100" spc="15">
                <a:latin typeface="Lucida Sans"/>
                <a:cs typeface="Lucida Sans"/>
              </a:rPr>
              <a:t> </a:t>
            </a:r>
            <a:r>
              <a:rPr dirty="0" sz="900" spc="15">
                <a:latin typeface="Lucida Sans Typewriter"/>
                <a:cs typeface="Lucida Sans Typewriter"/>
              </a:rPr>
              <a:t>equals()</a:t>
            </a:r>
            <a:r>
              <a:rPr dirty="0" sz="900" spc="-180">
                <a:latin typeface="Lucida Sans Typewriter"/>
                <a:cs typeface="Lucida Sans Typewriter"/>
              </a:rPr>
              <a:t> </a:t>
            </a:r>
            <a:r>
              <a:rPr dirty="0" sz="1100" spc="10">
                <a:latin typeface="Lucida Sans"/>
                <a:cs typeface="Lucida Sans"/>
              </a:rPr>
              <a:t>and</a:t>
            </a:r>
            <a:r>
              <a:rPr dirty="0" sz="1100" spc="15">
                <a:latin typeface="Lucida Sans"/>
                <a:cs typeface="Lucida Sans"/>
              </a:rPr>
              <a:t> </a:t>
            </a:r>
            <a:r>
              <a:rPr dirty="0" sz="900" spc="15">
                <a:latin typeface="Lucida Sans Typewriter"/>
                <a:cs typeface="Lucida Sans Typewriter"/>
              </a:rPr>
              <a:t>hashCode()</a:t>
            </a:r>
            <a:r>
              <a:rPr dirty="0" sz="1100" spc="15">
                <a:latin typeface="Lucida Sans"/>
                <a:cs typeface="Lucida Sans"/>
              </a:rPr>
              <a:t>.</a:t>
            </a:r>
            <a:endParaRPr sz="1100">
              <a:latin typeface="Lucida Sans"/>
              <a:cs typeface="Lucida Sans"/>
            </a:endParaRPr>
          </a:p>
          <a:p>
            <a:pPr marL="25400">
              <a:lnSpc>
                <a:spcPct val="100000"/>
              </a:lnSpc>
              <a:spcBef>
                <a:spcPts val="2170"/>
              </a:spcBef>
            </a:pPr>
            <a:r>
              <a:rPr dirty="0" sz="1100" spc="20">
                <a:solidFill>
                  <a:srgbClr val="005493"/>
                </a:solidFill>
                <a:latin typeface="Lucida Sans"/>
                <a:cs typeface="Lucida Sans"/>
              </a:rPr>
              <a:t>Java</a:t>
            </a:r>
            <a:r>
              <a:rPr dirty="0" sz="1100" spc="-5">
                <a:solidFill>
                  <a:srgbClr val="005493"/>
                </a:solidFill>
                <a:latin typeface="Lucida Sans"/>
                <a:cs typeface="Lucida Sans"/>
              </a:rPr>
              <a:t> </a:t>
            </a:r>
            <a:r>
              <a:rPr dirty="0" sz="1100" spc="15">
                <a:solidFill>
                  <a:srgbClr val="005493"/>
                </a:solidFill>
                <a:latin typeface="Lucida Sans"/>
                <a:cs typeface="Lucida Sans"/>
              </a:rPr>
              <a:t>system</a:t>
            </a:r>
            <a:r>
              <a:rPr dirty="0" sz="1100">
                <a:solidFill>
                  <a:srgbClr val="005493"/>
                </a:solidFill>
                <a:latin typeface="Lucida Sans"/>
                <a:cs typeface="Lucida Sans"/>
              </a:rPr>
              <a:t> </a:t>
            </a:r>
            <a:r>
              <a:rPr dirty="0" sz="1100" spc="10">
                <a:solidFill>
                  <a:srgbClr val="005493"/>
                </a:solidFill>
                <a:latin typeface="Lucida Sans"/>
                <a:cs typeface="Lucida Sans"/>
              </a:rPr>
              <a:t>includes</a:t>
            </a:r>
            <a:r>
              <a:rPr dirty="0" sz="1100">
                <a:solidFill>
                  <a:srgbClr val="005493"/>
                </a:solidFill>
                <a:latin typeface="Lucida Sans"/>
                <a:cs typeface="Lucida Sans"/>
              </a:rPr>
              <a:t> </a:t>
            </a:r>
            <a:r>
              <a:rPr dirty="0" sz="1100" spc="5">
                <a:solidFill>
                  <a:srgbClr val="005493"/>
                </a:solidFill>
                <a:latin typeface="Lucida Sans"/>
                <a:cs typeface="Lucida Sans"/>
              </a:rPr>
              <a:t>both.</a:t>
            </a:r>
            <a:endParaRPr sz="1100">
              <a:latin typeface="Lucida Sans"/>
              <a:cs typeface="Lucida Sans"/>
            </a:endParaRPr>
          </a:p>
        </p:txBody>
      </p:sp>
      <p:sp>
        <p:nvSpPr>
          <p:cNvPr id="145" name="object 145"/>
          <p:cNvSpPr txBox="1"/>
          <p:nvPr/>
        </p:nvSpPr>
        <p:spPr>
          <a:xfrm>
            <a:off x="7005358" y="8265616"/>
            <a:ext cx="4016375" cy="3098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14"/>
              </a:spcBef>
            </a:pPr>
            <a:r>
              <a:rPr dirty="0" baseline="-12012" sz="2775" spc="22">
                <a:latin typeface="Microsoft JhengHei"/>
                <a:cs typeface="Microsoft JhengHei"/>
              </a:rPr>
              <a:t>・</a:t>
            </a:r>
            <a:r>
              <a:rPr dirty="0" sz="1100" spc="10">
                <a:latin typeface="Lucida Sans"/>
                <a:cs typeface="Lucida Sans"/>
              </a:rPr>
              <a:t>Red-black </a:t>
            </a:r>
            <a:r>
              <a:rPr dirty="0" sz="1100" spc="-15">
                <a:latin typeface="Lucida Sans"/>
                <a:cs typeface="Lucida Sans"/>
              </a:rPr>
              <a:t>BSTs:</a:t>
            </a:r>
            <a:r>
              <a:rPr dirty="0" sz="1100" spc="375">
                <a:latin typeface="Lucida Sans"/>
                <a:cs typeface="Lucida Sans"/>
              </a:rPr>
              <a:t> </a:t>
            </a:r>
            <a:r>
              <a:rPr dirty="0" sz="900" spc="15">
                <a:latin typeface="Lucida Sans Typewriter"/>
                <a:cs typeface="Lucida Sans Typewriter"/>
              </a:rPr>
              <a:t>java.util.TreeMap</a:t>
            </a:r>
            <a:r>
              <a:rPr dirty="0" sz="1100" spc="15">
                <a:latin typeface="Lucida Sans"/>
                <a:cs typeface="Lucida Sans"/>
              </a:rPr>
              <a:t>, </a:t>
            </a:r>
            <a:r>
              <a:rPr dirty="0" sz="900" spc="15">
                <a:latin typeface="Lucida Sans Typewriter"/>
                <a:cs typeface="Lucida Sans Typewriter"/>
              </a:rPr>
              <a:t>java.util.TreeSet</a:t>
            </a:r>
            <a:r>
              <a:rPr dirty="0" sz="1100" spc="15">
                <a:latin typeface="Lucida Sans"/>
                <a:cs typeface="Lucida Sans"/>
              </a:rPr>
              <a:t>.</a:t>
            </a:r>
            <a:endParaRPr sz="1100">
              <a:latin typeface="Lucida Sans"/>
              <a:cs typeface="Lucida Sans"/>
            </a:endParaRPr>
          </a:p>
        </p:txBody>
      </p:sp>
      <p:sp>
        <p:nvSpPr>
          <p:cNvPr id="146" name="object 146"/>
          <p:cNvSpPr txBox="1"/>
          <p:nvPr/>
        </p:nvSpPr>
        <p:spPr>
          <a:xfrm>
            <a:off x="7005358" y="8496654"/>
            <a:ext cx="4368800" cy="3098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14"/>
              </a:spcBef>
            </a:pPr>
            <a:r>
              <a:rPr dirty="0" baseline="-12012" sz="2775" spc="22">
                <a:latin typeface="Microsoft JhengHei"/>
                <a:cs typeface="Microsoft JhengHei"/>
              </a:rPr>
              <a:t>・</a:t>
            </a:r>
            <a:r>
              <a:rPr dirty="0" sz="1100" spc="10">
                <a:latin typeface="Lucida Sans"/>
                <a:cs typeface="Lucida Sans"/>
              </a:rPr>
              <a:t>Hash</a:t>
            </a:r>
            <a:r>
              <a:rPr dirty="0" sz="1100" spc="25">
                <a:latin typeface="Lucida Sans"/>
                <a:cs typeface="Lucida Sans"/>
              </a:rPr>
              <a:t> </a:t>
            </a:r>
            <a:r>
              <a:rPr dirty="0" sz="1100" spc="5">
                <a:latin typeface="Lucida Sans"/>
                <a:cs typeface="Lucida Sans"/>
              </a:rPr>
              <a:t>tables: </a:t>
            </a:r>
            <a:r>
              <a:rPr dirty="0" sz="1100" spc="45">
                <a:latin typeface="Lucida Sans"/>
                <a:cs typeface="Lucida Sans"/>
              </a:rPr>
              <a:t> </a:t>
            </a:r>
            <a:r>
              <a:rPr dirty="0" sz="900" spc="15">
                <a:latin typeface="Lucida Sans Typewriter"/>
                <a:cs typeface="Lucida Sans Typewriter"/>
              </a:rPr>
              <a:t>java.util.HashMap</a:t>
            </a:r>
            <a:r>
              <a:rPr dirty="0" sz="1100" spc="15">
                <a:latin typeface="Lucida Sans"/>
                <a:cs typeface="Lucida Sans"/>
              </a:rPr>
              <a:t>,</a:t>
            </a:r>
            <a:r>
              <a:rPr dirty="0" sz="1100" spc="25">
                <a:latin typeface="Lucida Sans"/>
                <a:cs typeface="Lucida Sans"/>
              </a:rPr>
              <a:t> </a:t>
            </a:r>
            <a:r>
              <a:rPr dirty="0" sz="900" spc="15">
                <a:latin typeface="Lucida Sans Typewriter"/>
                <a:cs typeface="Lucida Sans Typewriter"/>
              </a:rPr>
              <a:t>java.util.IdentityHashMap</a:t>
            </a:r>
            <a:r>
              <a:rPr dirty="0" sz="1100" spc="15">
                <a:latin typeface="Lucida Sans"/>
                <a:cs typeface="Lucida Sans"/>
              </a:rPr>
              <a:t>.</a:t>
            </a:r>
            <a:endParaRPr sz="1100">
              <a:latin typeface="Lucida Sans"/>
              <a:cs typeface="Lucida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2021-10-20T16:20:53Z</dcterms:created>
  <dcterms:modified xsi:type="dcterms:W3CDTF">2021-10-20T16:20:53Z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2014-03-05T00:00:00Z</vt:filetime>
  </property>
  <property fmtid="{D5CDD505-2E9C-101B-9397-08002B2CF9AE}" pid="3" name="Creator">
    <vt:lpwstr>TeX</vt:lpwstr>
  </property>
  <property fmtid="{D5CDD505-2E9C-101B-9397-08002B2CF9AE}" pid="4" name="LastSaved">
    <vt:filetime>2021-10-20T00:00:00Z</vt:filetime>
  </property>
</Properties>
</file>
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60" r:id="rId2"/>
  </p:sldMasterIdLst>
  <p:notesMasterIdLst>
    <p:notesMasterId r:id="rId26"/>
  </p:notesMasterIdLst>
  <p:handoutMasterIdLst>
    <p:handoutMasterId r:id="rId27"/>
  </p:handoutMasterIdLst>
  <p:sldIdLst>
    <p:sldId id="256" r:id="rId3"/>
    <p:sldId id="289" r:id="rId4"/>
    <p:sldId id="258" r:id="rId5"/>
    <p:sldId id="257" r:id="rId6"/>
    <p:sldId id="288" r:id="rId7"/>
    <p:sldId id="261" r:id="rId8"/>
    <p:sldId id="262" r:id="rId9"/>
    <p:sldId id="281" r:id="rId10"/>
    <p:sldId id="301" r:id="rId11"/>
    <p:sldId id="290" r:id="rId12"/>
    <p:sldId id="282" r:id="rId13"/>
    <p:sldId id="283" r:id="rId14"/>
    <p:sldId id="298" r:id="rId15"/>
    <p:sldId id="284" r:id="rId16"/>
    <p:sldId id="299" r:id="rId17"/>
    <p:sldId id="394" r:id="rId18"/>
    <p:sldId id="393" r:id="rId19"/>
    <p:sldId id="287" r:id="rId20"/>
    <p:sldId id="388" r:id="rId21"/>
    <p:sldId id="390" r:id="rId22"/>
    <p:sldId id="392" r:id="rId23"/>
    <p:sldId id="389" r:id="rId24"/>
    <p:sldId id="391" r:id="rId2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336600"/>
    <a:srgbClr val="663300"/>
    <a:srgbClr val="000066"/>
    <a:srgbClr val="0000FF"/>
    <a:srgbClr val="CDDCF7"/>
    <a:srgbClr val="CC33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84" d="100"/>
          <a:sy n="84" d="100"/>
        </p:scale>
        <p:origin x="773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C9D34AD7-7606-463D-807E-7D0CAF05FF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24AB4280-4C3E-41CB-BE1F-5B040499215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4" name="Rectangle 4">
            <a:extLst>
              <a:ext uri="{FF2B5EF4-FFF2-40B4-BE49-F238E27FC236}">
                <a16:creationId xmlns:a16="http://schemas.microsoft.com/office/drawing/2014/main" id="{917E735A-F062-4032-96B9-01569AE26C6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5" name="Rectangle 5">
            <a:extLst>
              <a:ext uri="{FF2B5EF4-FFF2-40B4-BE49-F238E27FC236}">
                <a16:creationId xmlns:a16="http://schemas.microsoft.com/office/drawing/2014/main" id="{68209737-4183-48DA-B38A-E674565ADB4B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8F5AE3AC-DACF-45EA-9FB8-2A1EFFE2532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E045552-86BB-4A00-B386-1685F3970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CF654500-0CC2-4797-A9F4-3EB2DC5D1D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D77EF35-B323-4FF2-92A7-2EFE54715A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68F91A26-CA08-43B8-92D4-203F1FC7F3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7851226-5231-4974-980C-12D4AC6A5B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28A1D01-897D-4A08-8A1E-09B90D0578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9E7658F1-2DB9-4132-98DF-0BDB474C3C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D678F95F-A9D1-47C7-BEC8-94C362EF74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EAEFF2C-A22D-4D2F-8FF7-037A95BABF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0B164D4-2AEE-4C5A-BC15-17BF68FF4E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C41E944-D47E-4707-8B04-D76D3ACC09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C049CFD-D319-4434-AFEC-51CB5D036D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4757485A-B5D2-4DDB-A132-20091662C1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6D7B77A-D149-408F-9C7A-93BD4C9B62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0BD58FB-DAF7-4A53-B83E-2E39B5E3A2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A7BE4E95-D019-4320-9F54-01543899F4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378BC17-6415-4A2E-819B-9C51295549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B63D4DE-51E6-4B2B-8DFE-9D42CC8714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B04D30A-622B-4412-9C52-EDA5C4EEA5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8D50C97-20D8-4BE3-B4FB-F71A5749B9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087E3D3-968A-4745-B5E7-0507B2CC5D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A2501D9-525B-4109-B49A-3B3F6F42C4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0A2BB48-FBBF-435A-A836-C06C490EE1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C12A02E-D2F9-43B4-824A-68341A2570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63F27C7-695E-48AC-8E18-61D635AFE2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B2852AD-217F-48A4-BDB2-5E69DFFA1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2F5E352-6480-4A04-9775-AFEE25539C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B361109-5FD4-49E9-9794-323EE4E61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2F5E352-6480-4A04-9775-AFEE25539C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B361109-5FD4-49E9-9794-323EE4E61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2189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2F5E352-6480-4A04-9775-AFEE25539C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B361109-5FD4-49E9-9794-323EE4E61B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64108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D914C02-39C0-4AFB-823A-45E5212588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132A85E-3475-4FCE-AD9C-A5999A69E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C4983CD-7146-4E7E-AAB7-FD0C2FCC84E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457ACAA-186B-4C5A-A3B5-C30C9711A04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44FEE8-AEC2-4E3C-9EEC-8FF037BCCD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B6C9BE8-DEDB-4538-919C-7B6EEA68780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070213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AF730E-1019-4ABD-82B9-8826E526F56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B1C41FF-A962-4D7A-AA8F-66EDA6CD485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EC2813-4258-4ACC-9B7B-49E74547185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B745CF3-DC51-4A99-BA2B-26FBBE713B8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64065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0BD021B-950D-4D18-9CB6-E7BE8B3368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7642570-3BCF-4843-A71F-DE001DCD4E6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C8A304-A86D-43C2-988E-9C3EF5C2277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7D4BE0A8-3AFB-4C55-8DFA-EF8E8826B17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7773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F1E1B4-145D-417F-A2C8-DB1FC29BD0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7A2C73D-5EC3-4974-8F8E-5C4BD9B259C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A44566-CD91-41A7-A5EC-C2DE09CD172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0EC84F7-4D16-4317-AEE0-8D0FC567DE1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52186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7D047C0-0A9F-4E3A-8321-0BCCB5704E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BDBA725-1828-42B5-8FF5-FA17ED2FCBD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2362E3-0E3E-4AAF-A758-F33028E1CC9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E17AEB-83E1-42D0-874D-931C634C1F0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628699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56A9402-859C-4FF7-8DBD-3F1AB8B147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4C42D41-466E-4E00-A3C4-E0647E33B25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2CDF0A-A67B-438B-BFEA-B210975BA1A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97598E10-9A31-4706-8372-B18B93F6DB0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01154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F48CCE4-3B98-486F-8346-8D944F5592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AFB8BC8-4B72-4FD4-B4B7-88CFEA70A3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10AA475-AD18-4A0E-9628-1AB2B2A6F2C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F652264-79C9-40BD-9A4A-D40191C136F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55733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07134A-30B0-44C6-8ECE-0623558589E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C241B0-7E29-4E3F-818E-DEE2EA9C6ED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826FCC-17ED-41CF-83C4-27C6CC4EE7D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6C0BFAE-1AB2-4FF9-94FD-62BB65ECC56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131898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D4742D-D683-4A56-B39C-8F0D73EB6F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35C195C-988E-4040-BD59-A87DA90ACA3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5FE8A7-7A99-4F5B-8836-CD1DC7CE3E6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FEFAA2C-18E7-4345-AB0D-F1435AE3556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032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F53458-86AE-46DD-AF68-E94DFDFA63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3099E41-A72A-4412-9437-7EF9E0C643D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077B99-69FE-4790-9D46-9AAA4258A0A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925297B-EA5A-4137-9EE7-AA850794F3A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77358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5251D0-2E3D-4CA2-AEFD-1D7676266E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E9A3021-4CB0-47A0-87A0-F6FB480BF4B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6D9724-4546-4F55-BF41-17D238F0975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02C4659-5117-44C6-AEDC-BB7E163987C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00104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B2F6EA-DC36-4831-9C8A-436FED2A5B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A2AEB46-63C2-4D1D-9CFF-29B9888DB6F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9C53A12-679B-4CD7-8880-D6F817D2A81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D078FAC-0CBA-4582-8023-BBE6882EC26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1843914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3DD801-490A-47D2-AE28-ADB5FC4CBE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E4311BA-BC61-4B8F-9787-C3C84E24251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A021435-7883-408B-98F9-738C48FF096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D6AE5C3F-49EB-4EB7-9B05-388ED412B3A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9466188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EB8B2E-FF8C-4FB0-9380-4660923655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7014015-D204-441D-AFCD-77185ABD6A3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2959AD-380F-40AB-9C57-716B52D2ED4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623BC82-BF2E-425F-B2E7-C396BFE7EA3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094737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0BB67E-7A69-4B10-A068-43E920C49E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7DEBEFF-A02C-406D-B21E-B8B12FBE7E5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CFD0F3-3526-4CEA-BBDC-13C4E88C2C1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0A65412B-0579-483F-8B59-1D4A9F8D1EF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398466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C084240-78CF-461A-B153-AFEE7C3FDB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A99A4CB-8DBB-48D4-B5B1-847A6869829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BB3502-CEF2-4F51-88A3-825ED806C0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A108DB-9669-45CC-91A8-C8382AA4BE2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083172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B5E2DBB-E65A-4105-88B1-EDB3A32C5F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6954736-42CC-4CDE-BB4E-F87EEC52A0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617947-1294-4869-BBA2-79074255CDD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4053FB64-B25C-4C35-85DF-D1DD7C3CFD8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155186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9AE2CE9-3251-44F7-8D48-97E2D25A9F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AC66B2F-93E4-45E6-A10F-EF4CBB1FA39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8F0D7DD-1D03-4392-8911-760AC4CA2B4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3C051EB7-B3AC-4508-9A80-1D50A31165CC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583234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96E0B5-00A2-40E3-9A90-17EC769E939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0DBB4D1-580C-4876-9F05-814E1ED4E8A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A5F9E8-FC44-4640-9D19-35BE494A91B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707832A-D7AA-4C85-930B-872E87E6E6B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1890816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F9A3FE-0913-415E-B4E7-DE5D7CCC6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7938E0-3340-47AD-BDB7-8E1222A1F02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A9A406-AC48-4DDC-A970-FE70B954302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F9CA307-4004-4134-950E-B95FA040742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772254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7EDD6D3-2B0A-441B-B2E0-7C92685EF5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8C4F088-105F-4AC0-B0DC-C2BF18875C7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D321026-199E-4832-8279-E7B01793221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CB01A16-DA4D-4B1B-B031-CDCBD684C29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292003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62E2D8-1705-4AE4-A24D-E1DFDED831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3BC829B-C3B0-4214-B1FE-CBB40F34D72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26FA1A-0B4F-4D5C-9CC2-7DC5BF5600D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84064AD-45A7-4936-BA4A-5F735013424B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54801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1FBDEA-FF91-4863-90AC-517A4B6E1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9BD9A8D-B6EF-4857-9181-45BB664084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919ADA2-A719-46AD-ACD7-4B27976DC1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8D3A9A8-550B-4E32-AB9C-BE961F9F5D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9C6A4C08-64B1-42C2-AB64-E9D3A1BF530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509B736-3080-4568-8AA6-88EBAD0DA95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endParaRPr lang="en-US" b="1">
              <a:latin typeface="Tahoma" pitchFamily="34" charset="0"/>
            </a:endParaRPr>
          </a:p>
          <a:p>
            <a:pPr>
              <a:defRPr/>
            </a:pPr>
            <a:r>
              <a:rPr lang="en-US" b="1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F71EFE5-B403-47BF-AA2E-60880A0F3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8B7B0AD-CC17-4119-8EE2-9C09F21770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12F3A4-6221-4ADD-A082-2A990682268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 b="0" smtClean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222C702-4F26-431A-B0CE-4E0F6C4CF70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fld id="{67C2089A-5331-49E3-BEC7-950481451D1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8BC57F20-3CDB-4288-A296-6F95A8CBFEF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1" smtClean="0">
                <a:latin typeface="Tahoma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33524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ooter Placeholder 3">
            <a:extLst>
              <a:ext uri="{FF2B5EF4-FFF2-40B4-BE49-F238E27FC236}">
                <a16:creationId xmlns:a16="http://schemas.microsoft.com/office/drawing/2014/main" id="{83E1CB20-53DC-435D-80B6-E4D10D43937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© A+ Computer Science  -  www.apluscompsci.com</a:t>
            </a:r>
          </a:p>
        </p:txBody>
      </p:sp>
      <p:sp>
        <p:nvSpPr>
          <p:cNvPr id="2051" name="Rectangle 4">
            <a:extLst>
              <a:ext uri="{FF2B5EF4-FFF2-40B4-BE49-F238E27FC236}">
                <a16:creationId xmlns:a16="http://schemas.microsoft.com/office/drawing/2014/main" id="{1EBA88FC-F893-476A-9560-37CCC5840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057400"/>
            <a:ext cx="678815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What is the Standard Base we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work with in our everyday lives</a:t>
            </a: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?</a:t>
            </a:r>
          </a:p>
        </p:txBody>
      </p:sp>
      <p:sp>
        <p:nvSpPr>
          <p:cNvPr id="2052" name="WordArt 6">
            <a:extLst>
              <a:ext uri="{FF2B5EF4-FFF2-40B4-BE49-F238E27FC236}">
                <a16:creationId xmlns:a16="http://schemas.microsoft.com/office/drawing/2014/main" id="{8F160802-2CD3-45E0-89AE-CFD5D0BD3B5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685800"/>
            <a:ext cx="7620000" cy="762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Number Systems</a:t>
            </a:r>
          </a:p>
        </p:txBody>
      </p:sp>
      <p:sp>
        <p:nvSpPr>
          <p:cNvPr id="2053" name="Rectangle 7">
            <a:extLst>
              <a:ext uri="{FF2B5EF4-FFF2-40B4-BE49-F238E27FC236}">
                <a16:creationId xmlns:a16="http://schemas.microsoft.com/office/drawing/2014/main" id="{A195EF2F-F5F7-435E-B7C1-25FCE8C31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733800"/>
            <a:ext cx="6356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A5002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Why do we work in that base?</a:t>
            </a: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rgbClr val="A5002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pic>
        <p:nvPicPr>
          <p:cNvPr id="2054" name="Picture 8" descr="j0297935[1]">
            <a:extLst>
              <a:ext uri="{FF2B5EF4-FFF2-40B4-BE49-F238E27FC236}">
                <a16:creationId xmlns:a16="http://schemas.microsoft.com/office/drawing/2014/main" id="{CE3AF3B5-175E-4619-A1BC-EC9136F4B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572000"/>
            <a:ext cx="1201738" cy="1703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9" descr="j0297935[1]">
            <a:extLst>
              <a:ext uri="{FF2B5EF4-FFF2-40B4-BE49-F238E27FC236}">
                <a16:creationId xmlns:a16="http://schemas.microsoft.com/office/drawing/2014/main" id="{E0175098-2867-4566-8FDE-294DF5973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200400" y="4572000"/>
            <a:ext cx="1182688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6" name="WordArt 12">
            <a:extLst>
              <a:ext uri="{FF2B5EF4-FFF2-40B4-BE49-F238E27FC236}">
                <a16:creationId xmlns:a16="http://schemas.microsoft.com/office/drawing/2014/main" id="{4551D990-FE34-47DB-AEF7-663064CB605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400800" y="6324600"/>
            <a:ext cx="2438400" cy="304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8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Lab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>
            <a:extLst>
              <a:ext uri="{FF2B5EF4-FFF2-40B4-BE49-F238E27FC236}">
                <a16:creationId xmlns:a16="http://schemas.microsoft.com/office/drawing/2014/main" id="{E509C777-C9C7-4A28-B177-40B28BEC014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© A+ Computer Science  -  www.apluscompsci.com</a:t>
            </a:r>
          </a:p>
        </p:txBody>
      </p:sp>
      <p:sp>
        <p:nvSpPr>
          <p:cNvPr id="3075" name="WordArt 1026">
            <a:extLst>
              <a:ext uri="{FF2B5EF4-FFF2-40B4-BE49-F238E27FC236}">
                <a16:creationId xmlns:a16="http://schemas.microsoft.com/office/drawing/2014/main" id="{1F144212-B327-44DC-A8B8-D3D0C779C7A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304800"/>
            <a:ext cx="7467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Common Bases</a:t>
            </a:r>
          </a:p>
        </p:txBody>
      </p:sp>
      <p:sp>
        <p:nvSpPr>
          <p:cNvPr id="3076" name="Text Box 1027">
            <a:extLst>
              <a:ext uri="{FF2B5EF4-FFF2-40B4-BE49-F238E27FC236}">
                <a16:creationId xmlns:a16="http://schemas.microsoft.com/office/drawing/2014/main" id="{A051854E-CD77-4B13-810D-94C896A51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371600"/>
            <a:ext cx="3290888" cy="3868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 – 1010 0100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8 -  5672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10 – 78645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3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16 – ABC983EF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077" name="WordArt 1028">
            <a:extLst>
              <a:ext uri="{FF2B5EF4-FFF2-40B4-BE49-F238E27FC236}">
                <a16:creationId xmlns:a16="http://schemas.microsoft.com/office/drawing/2014/main" id="{CB007092-3014-4238-BC84-9CA5641D85D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953000" y="3810000"/>
            <a:ext cx="3886200" cy="2590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Open 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bases.java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3">
            <a:extLst>
              <a:ext uri="{FF2B5EF4-FFF2-40B4-BE49-F238E27FC236}">
                <a16:creationId xmlns:a16="http://schemas.microsoft.com/office/drawing/2014/main" id="{EACF8833-4745-4D4F-83EB-8702A179A0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© A+ Computer Science  -  www.apluscompsci.com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F67E3E79-FEA1-46AF-AFE0-A9B0AC50A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125" y="395288"/>
            <a:ext cx="7788992" cy="5263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0099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0099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990033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What is 235 really?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0099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0099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Is it 235 or is there more to it?</a:t>
            </a: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990033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0099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00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In actuality, 235 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0099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00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 * </a:t>
            </a:r>
            <a:r>
              <a:rPr kumimoji="0" lang="en-US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10</a:t>
            </a:r>
            <a:r>
              <a:rPr kumimoji="0" lang="en-US" altLang="en-US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+   3 * 10</a:t>
            </a:r>
            <a:r>
              <a:rPr lang="en-US" altLang="en-US" sz="2800" baseline="30000" dirty="0">
                <a:solidFill>
                  <a:srgbClr val="006600"/>
                </a:solidFill>
              </a:rPr>
              <a:t>1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+ </a:t>
            </a:r>
            <a:r>
              <a:rPr lang="en-US" altLang="en-US" sz="2800" dirty="0">
                <a:solidFill>
                  <a:srgbClr val="006600"/>
                </a:solidFill>
              </a:rPr>
              <a:t> 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5 * 10</a:t>
            </a:r>
            <a:r>
              <a:rPr lang="en-US" altLang="en-US" sz="2800" baseline="30000" dirty="0">
                <a:solidFill>
                  <a:srgbClr val="006600"/>
                </a:solidFill>
              </a:rPr>
              <a:t>0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</a:t>
            </a:r>
            <a:endParaRPr lang="en-US" altLang="en-US" sz="2800" dirty="0">
              <a:solidFill>
                <a:srgbClr val="0066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2 * 100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+   3 *</a:t>
            </a:r>
            <a:r>
              <a:rPr kumimoji="0" lang="en-US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10   +   5 * 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330099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330099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If you add these up you end up with 235.</a:t>
            </a:r>
          </a:p>
        </p:txBody>
      </p:sp>
      <p:graphicFrame>
        <p:nvGraphicFramePr>
          <p:cNvPr id="4100" name="Object 3">
            <a:extLst>
              <a:ext uri="{FF2B5EF4-FFF2-40B4-BE49-F238E27FC236}">
                <a16:creationId xmlns:a16="http://schemas.microsoft.com/office/drawing/2014/main" id="{40D70FA6-8F66-4C54-8998-39E57143CE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34188" y="990600"/>
          <a:ext cx="2309812" cy="3176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2309813" imgH="3176588" progId="MS_ClipArt_Gallery.2">
                  <p:embed/>
                </p:oleObj>
              </mc:Choice>
              <mc:Fallback>
                <p:oleObj name="Clip" r:id="rId3" imgW="2309813" imgH="3176588" progId="MS_ClipArt_Gallery.2">
                  <p:embed/>
                  <p:pic>
                    <p:nvPicPr>
                      <p:cNvPr id="4100" name="Object 3">
                        <a:extLst>
                          <a:ext uri="{FF2B5EF4-FFF2-40B4-BE49-F238E27FC236}">
                            <a16:creationId xmlns:a16="http://schemas.microsoft.com/office/drawing/2014/main" id="{40D70FA6-8F66-4C54-8998-39E57143CE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4188" y="990600"/>
                        <a:ext cx="2309812" cy="3176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1" name="WordArt 4">
            <a:extLst>
              <a:ext uri="{FF2B5EF4-FFF2-40B4-BE49-F238E27FC236}">
                <a16:creationId xmlns:a16="http://schemas.microsoft.com/office/drawing/2014/main" id="{0B43BC57-71E3-47BA-AAB0-A03B5588076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base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868FA8DE-8060-4926-96BA-8979673B22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© A+ Computer Science  -  www.apluscompsci.com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3840B6E-07E6-48AD-AA64-75088FCD8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946525"/>
            <a:ext cx="7848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You can convert any base to base 10 by following the power system.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3DDDA7EA-6738-4D8B-9EA5-55C227F4C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2576513"/>
            <a:ext cx="1250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	  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2E396CF2-5508-4358-BB4F-0D0608D40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1951038"/>
            <a:ext cx="834231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1200" cap="none" spc="0" normalizeH="0" baseline="0" noProof="0">
                <a:ln>
                  <a:noFill/>
                </a:ln>
                <a:solidFill>
                  <a:srgbClr val="6600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All number systems regardless of the base work off of the same principles.</a:t>
            </a:r>
          </a:p>
        </p:txBody>
      </p:sp>
      <p:sp>
        <p:nvSpPr>
          <p:cNvPr id="5126" name="WordArt 7">
            <a:extLst>
              <a:ext uri="{FF2B5EF4-FFF2-40B4-BE49-F238E27FC236}">
                <a16:creationId xmlns:a16="http://schemas.microsoft.com/office/drawing/2014/main" id="{15C37D66-93FC-4B85-BCE2-C8E3626F751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Any base to base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8D1CAB0C-3FFD-4FA2-B1D9-E80274EF049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© A+ Computer Science  -  www.apluscompsci.com</a:t>
            </a:r>
          </a:p>
        </p:txBody>
      </p:sp>
      <p:sp>
        <p:nvSpPr>
          <p:cNvPr id="43011" name="Text Box 3">
            <a:extLst>
              <a:ext uri="{FF2B5EF4-FFF2-40B4-BE49-F238E27FC236}">
                <a16:creationId xmlns:a16="http://schemas.microsoft.com/office/drawing/2014/main" id="{B9059303-1F4E-4573-951C-DC193055E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8643713" cy="4647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Given 132 in base 4, you could convert it by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	4</a:t>
            </a:r>
            <a:r>
              <a:rPr kumimoji="0" lang="en-US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3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4</a:t>
            </a:r>
            <a:r>
              <a:rPr kumimoji="0" lang="en-US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4</a:t>
            </a:r>
            <a:r>
              <a:rPr kumimoji="0" lang="en-US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   4</a:t>
            </a:r>
            <a:r>
              <a:rPr kumimoji="0" lang="en-US" sz="2800" b="1" i="0" u="none" strike="noStrike" kern="1200" cap="none" spc="0" normalizeH="0" baseline="3000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999999"/>
                    </a:outerShdw>
                  </a:cont>
                  <a:effect ref="fillLine"/>
                </a:effectDag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	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*        *        *        *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	0  +   1  +   3    + 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0 * 64  +   1 * 16  +   3 * 4    +  2 *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006666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132 in base 4 is 30 in base 10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666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6148" name="WordArt 4">
            <a:extLst>
              <a:ext uri="{FF2B5EF4-FFF2-40B4-BE49-F238E27FC236}">
                <a16:creationId xmlns:a16="http://schemas.microsoft.com/office/drawing/2014/main" id="{74B31E1C-0FD9-4E28-BDA4-280262BDFED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Any base to base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46DE79AC-4EAD-4A09-B94D-1F3BC1C1AD6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© A+ Computer Science  -  www.apluscompsci.com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9F5DAC5-23B3-491C-B4E1-B14338892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905000"/>
            <a:ext cx="7235825" cy="2227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1st  -  Convert the number you want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          to convert to Base 10.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2nd -  Convert the Base 10 result to the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                 new base you want.</a:t>
            </a:r>
          </a:p>
        </p:txBody>
      </p:sp>
      <p:sp>
        <p:nvSpPr>
          <p:cNvPr id="8196" name="WordArt 5">
            <a:extLst>
              <a:ext uri="{FF2B5EF4-FFF2-40B4-BE49-F238E27FC236}">
                <a16:creationId xmlns:a16="http://schemas.microsoft.com/office/drawing/2014/main" id="{22BAB4BF-D028-4807-8B05-9900324B493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Any base to any 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ED61FB5D-5E8D-4FF3-B258-D3F29B70F66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© A+ Computer Science  -  www.apluscompsci.com</a:t>
            </a:r>
          </a:p>
        </p:txBody>
      </p:sp>
      <p:sp>
        <p:nvSpPr>
          <p:cNvPr id="9219" name="WordArt 5">
            <a:extLst>
              <a:ext uri="{FF2B5EF4-FFF2-40B4-BE49-F238E27FC236}">
                <a16:creationId xmlns:a16="http://schemas.microsoft.com/office/drawing/2014/main" id="{B67F249B-E909-491A-A385-E4C129F0C0A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228600"/>
            <a:ext cx="7696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0" cap="none" spc="0" normalizeH="0" baseline="0" noProof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uLnTx/>
                <a:uFillTx/>
                <a:latin typeface="Impact" panose="020B0806030902050204" pitchFamily="34" charset="0"/>
                <a:ea typeface="+mn-ea"/>
                <a:cs typeface="+mn-cs"/>
              </a:rPr>
              <a:t>binary - base 2</a:t>
            </a:r>
          </a:p>
        </p:txBody>
      </p:sp>
      <p:graphicFrame>
        <p:nvGraphicFramePr>
          <p:cNvPr id="9304" name="Group 88">
            <a:extLst>
              <a:ext uri="{FF2B5EF4-FFF2-40B4-BE49-F238E27FC236}">
                <a16:creationId xmlns:a16="http://schemas.microsoft.com/office/drawing/2014/main" id="{96FC827A-1978-4FAA-B550-D1CAC73D2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797703"/>
              </p:ext>
            </p:extLst>
          </p:nvPr>
        </p:nvGraphicFramePr>
        <p:xfrm>
          <a:off x="1905000" y="1295400"/>
          <a:ext cx="5410200" cy="5035550"/>
        </p:xfrm>
        <a:graphic>
          <a:graphicData uri="http://schemas.openxmlformats.org/drawingml/2006/table">
            <a:tbl>
              <a:tblPr/>
              <a:tblGrid>
                <a:gridCol w="163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4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663300"/>
                          </a:solidFill>
                          <a:effectLst/>
                          <a:latin typeface="Tahoma" pitchFamily="34" charset="0"/>
                        </a:rPr>
                        <a:t>Binary digits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+mn-ea"/>
                          <a:cs typeface="+mn-cs"/>
                        </a:rPr>
                        <a:t>Place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kumimoji="0" lang="en-US" sz="1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  <a:ea typeface="+mn-ea"/>
                          <a:cs typeface="+mn-cs"/>
                        </a:rPr>
                        <a:t>values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  <a:r>
                        <a:rPr kumimoji="0" lang="en-US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85458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Base 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0000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Footer Placeholder 3">
            <a:extLst>
              <a:ext uri="{FF2B5EF4-FFF2-40B4-BE49-F238E27FC236}">
                <a16:creationId xmlns:a16="http://schemas.microsoft.com/office/drawing/2014/main" id="{E094686B-416A-4D5E-8696-9F8536E2C6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077" name="Text Box 4">
            <a:extLst>
              <a:ext uri="{FF2B5EF4-FFF2-40B4-BE49-F238E27FC236}">
                <a16:creationId xmlns:a16="http://schemas.microsoft.com/office/drawing/2014/main" id="{A5C77039-8139-46AD-A961-CC3983E73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124200"/>
            <a:ext cx="48387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3600">
                <a:latin typeface="Tahoma" panose="020B0604030504040204" pitchFamily="34" charset="0"/>
              </a:rPr>
              <a:t>&amp;     |    ^   &lt;&lt;    &gt;&gt;</a:t>
            </a: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3078" name="Text Box 6">
            <a:extLst>
              <a:ext uri="{FF2B5EF4-FFF2-40B4-BE49-F238E27FC236}">
                <a16:creationId xmlns:a16="http://schemas.microsoft.com/office/drawing/2014/main" id="{73A173FA-96DE-441D-BC39-931E9ACFF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800600"/>
            <a:ext cx="70675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These operators manipulate the binary digits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latin typeface="Tahoma" panose="020B0604030504040204" pitchFamily="34" charset="0"/>
              </a:rPr>
              <a:t>of variables.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7FD68B-97FD-ABC4-DE02-E55CB8F9A71D}"/>
              </a:ext>
            </a:extLst>
          </p:cNvPr>
          <p:cNvSpPr/>
          <p:nvPr/>
        </p:nvSpPr>
        <p:spPr>
          <a:xfrm>
            <a:off x="1179272" y="609600"/>
            <a:ext cx="6747360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Bitwise and Shift</a:t>
            </a:r>
          </a:p>
          <a:p>
            <a:pPr algn="ctr"/>
            <a:r>
              <a:rPr lang="en-US" sz="60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</a:rPr>
              <a:t>Operators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A4B33FAD-A547-49A7-803F-49062D7FAF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3124200" y="6477000"/>
            <a:ext cx="2895600" cy="2286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3" name="WordArt 2">
            <a:extLst>
              <a:ext uri="{FF2B5EF4-FFF2-40B4-BE49-F238E27FC236}">
                <a16:creationId xmlns:a16="http://schemas.microsoft.com/office/drawing/2014/main" id="{F58D8E12-95DB-413D-A35C-5611EAD9D24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381000"/>
            <a:ext cx="74676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 type="none" w="sm" len="sm"/>
                  <a:tailEnd type="none" w="sm" len="sm"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  <a:latin typeface="Arial Black" panose="020B0A04020102020204" pitchFamily="34" charset="0"/>
              </a:rPr>
              <a:t>Operator Precedence</a:t>
            </a:r>
          </a:p>
        </p:txBody>
      </p:sp>
      <p:graphicFrame>
        <p:nvGraphicFramePr>
          <p:cNvPr id="90115" name="Group 3">
            <a:extLst>
              <a:ext uri="{FF2B5EF4-FFF2-40B4-BE49-F238E27FC236}">
                <a16:creationId xmlns:a16="http://schemas.microsoft.com/office/drawing/2014/main" id="{6B2A04A9-8563-4352-B630-A9CA6D89A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086449"/>
              </p:ext>
            </p:extLst>
          </p:nvPr>
        </p:nvGraphicFramePr>
        <p:xfrm>
          <a:off x="1905000" y="1447800"/>
          <a:ext cx="4876800" cy="5029545"/>
        </p:xfrm>
        <a:graphic>
          <a:graphicData uri="http://schemas.openxmlformats.org/drawingml/2006/table">
            <a:tbl>
              <a:tblPr/>
              <a:tblGrid>
                <a:gridCol w="3805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()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HIGH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~ (bitwise negation)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293118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! (Boolean negation)  ++   --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*   /   %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+   -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&lt;&lt;   &gt;&gt;  (bitwise shifts)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&lt;   &lt;=   &gt;   &gt;=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==   !=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&amp; (bitwise and 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^ (bitwise xor 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|  (bitwise or 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&amp;&amp;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||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=   +=   -=   *=   /=   %=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530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,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LOW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EC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171" name="Line 50">
            <a:extLst>
              <a:ext uri="{FF2B5EF4-FFF2-40B4-BE49-F238E27FC236}">
                <a16:creationId xmlns:a16="http://schemas.microsoft.com/office/drawing/2014/main" id="{142B7B18-BC8C-45FC-9959-52D1A716BCE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200" y="1981200"/>
            <a:ext cx="0" cy="365760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 type="none" w="sm" len="sm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C4A344E3-4A51-4338-8D04-774A6639A07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147" name="WordArt 2">
            <a:extLst>
              <a:ext uri="{FF2B5EF4-FFF2-40B4-BE49-F238E27FC236}">
                <a16:creationId xmlns:a16="http://schemas.microsoft.com/office/drawing/2014/main" id="{1F59CD18-A828-4AA8-BF1D-70642E4D818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2390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Bitwise AND &amp;</a:t>
            </a:r>
          </a:p>
        </p:txBody>
      </p:sp>
      <p:sp>
        <p:nvSpPr>
          <p:cNvPr id="6148" name="Text Box 3">
            <a:extLst>
              <a:ext uri="{FF2B5EF4-FFF2-40B4-BE49-F238E27FC236}">
                <a16:creationId xmlns:a16="http://schemas.microsoft.com/office/drawing/2014/main" id="{68ACB222-5B00-4B9C-8D7A-A1ADF1114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905000"/>
            <a:ext cx="8115300" cy="3046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int one=9;    </a:t>
            </a:r>
            <a:endParaRPr lang="en-US" altLang="en-US" sz="2000">
              <a:solidFill>
                <a:srgbClr val="6699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int two=7;  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out.println(“9 &amp; 7 == " + (one&amp;two));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6149" name="Text Box 4">
            <a:extLst>
              <a:ext uri="{FF2B5EF4-FFF2-40B4-BE49-F238E27FC236}">
                <a16:creationId xmlns:a16="http://schemas.microsoft.com/office/drawing/2014/main" id="{34C7E602-0B76-442D-A8FC-DAAA41667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724400"/>
            <a:ext cx="2514600" cy="16605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9 &amp; 7 == 1</a:t>
            </a:r>
            <a:br>
              <a:rPr lang="en-US" altLang="en-US" sz="2800">
                <a:latin typeface="Tahoma" panose="020B0604030504040204" pitchFamily="34" charset="0"/>
              </a:rPr>
            </a:br>
            <a:endParaRPr lang="en-US" altLang="en-US" sz="2800">
              <a:latin typeface="Tahoma" panose="020B0604030504040204" pitchFamily="34" charset="0"/>
            </a:endParaRPr>
          </a:p>
        </p:txBody>
      </p:sp>
      <p:graphicFrame>
        <p:nvGraphicFramePr>
          <p:cNvPr id="45228" name="Group 172">
            <a:extLst>
              <a:ext uri="{FF2B5EF4-FFF2-40B4-BE49-F238E27FC236}">
                <a16:creationId xmlns:a16="http://schemas.microsoft.com/office/drawing/2014/main" id="{B280247F-209B-41F0-A297-8FC91037A08B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1828800"/>
          <a:ext cx="2952750" cy="1828800"/>
        </p:xfrm>
        <a:graphic>
          <a:graphicData uri="http://schemas.openxmlformats.org/drawingml/2006/table">
            <a:tbl>
              <a:tblPr/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binary representation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two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3">
            <a:extLst>
              <a:ext uri="{FF2B5EF4-FFF2-40B4-BE49-F238E27FC236}">
                <a16:creationId xmlns:a16="http://schemas.microsoft.com/office/drawing/2014/main" id="{363F1245-E6A1-4FBE-B78A-BA34FDF059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195" name="Text Box 4">
            <a:extLst>
              <a:ext uri="{FF2B5EF4-FFF2-40B4-BE49-F238E27FC236}">
                <a16:creationId xmlns:a16="http://schemas.microsoft.com/office/drawing/2014/main" id="{C7846F20-A7AD-4A6B-8D5B-5412DCBF8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362200"/>
            <a:ext cx="7996238" cy="255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int one=9;     </a:t>
            </a:r>
            <a:endParaRPr lang="en-US" altLang="en-US">
              <a:solidFill>
                <a:srgbClr val="6699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int two=7;   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out.println(“9 | 7 == " + (one|two));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8196" name="Text Box 5">
            <a:extLst>
              <a:ext uri="{FF2B5EF4-FFF2-40B4-BE49-F238E27FC236}">
                <a16:creationId xmlns:a16="http://schemas.microsoft.com/office/drawing/2014/main" id="{1965F5CA-33E0-42E7-ADBC-1A51450B1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648200"/>
            <a:ext cx="2514600" cy="16605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9 | 7 == 15</a:t>
            </a:r>
            <a:br>
              <a:rPr lang="en-US" altLang="en-US" sz="2800">
                <a:latin typeface="Tahoma" panose="020B0604030504040204" pitchFamily="34" charset="0"/>
              </a:rPr>
            </a:b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8197" name="WordArt 35">
            <a:extLst>
              <a:ext uri="{FF2B5EF4-FFF2-40B4-BE49-F238E27FC236}">
                <a16:creationId xmlns:a16="http://schemas.microsoft.com/office/drawing/2014/main" id="{D2162813-85B0-46AC-ADA1-40F6C415BFC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2390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Bitwise OR |</a:t>
            </a:r>
          </a:p>
        </p:txBody>
      </p:sp>
      <p:graphicFrame>
        <p:nvGraphicFramePr>
          <p:cNvPr id="36995" name="Group 131">
            <a:extLst>
              <a:ext uri="{FF2B5EF4-FFF2-40B4-BE49-F238E27FC236}">
                <a16:creationId xmlns:a16="http://schemas.microsoft.com/office/drawing/2014/main" id="{44199438-0EE9-46BF-AD2E-56B065CFA185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1828800"/>
          <a:ext cx="2952750" cy="1828800"/>
        </p:xfrm>
        <a:graphic>
          <a:graphicData uri="http://schemas.openxmlformats.org/drawingml/2006/table">
            <a:tbl>
              <a:tblPr/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binary representation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two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045BA70F-1897-42BD-9D2F-5BE49DEDAA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3" name="Text Box 4">
            <a:extLst>
              <a:ext uri="{FF2B5EF4-FFF2-40B4-BE49-F238E27FC236}">
                <a16:creationId xmlns:a16="http://schemas.microsoft.com/office/drawing/2014/main" id="{0AFD253E-2394-4C58-89EC-A5C070E77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362200"/>
            <a:ext cx="8147050" cy="255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int one=9;     </a:t>
            </a:r>
            <a:endParaRPr lang="en-US" altLang="en-US">
              <a:solidFill>
                <a:srgbClr val="669900"/>
              </a:solidFill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int two=7;   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out.println(“9 ^ 7 == " + (one^two));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</p:txBody>
      </p:sp>
      <p:sp>
        <p:nvSpPr>
          <p:cNvPr id="10244" name="Text Box 5">
            <a:extLst>
              <a:ext uri="{FF2B5EF4-FFF2-40B4-BE49-F238E27FC236}">
                <a16:creationId xmlns:a16="http://schemas.microsoft.com/office/drawing/2014/main" id="{A811A11A-FAE9-42E7-88EA-CFED0D0F99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648200"/>
            <a:ext cx="2514600" cy="1660525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9 ^ 7 == 14</a:t>
            </a:r>
            <a:br>
              <a:rPr lang="en-US" altLang="en-US" sz="2800">
                <a:latin typeface="Tahoma" panose="020B0604030504040204" pitchFamily="34" charset="0"/>
              </a:rPr>
            </a:b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10245" name="WordArt 35">
            <a:extLst>
              <a:ext uri="{FF2B5EF4-FFF2-40B4-BE49-F238E27FC236}">
                <a16:creationId xmlns:a16="http://schemas.microsoft.com/office/drawing/2014/main" id="{4C7D465A-110E-4CAE-B5B6-0A32027CF61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2390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Bitwise XOR ^</a:t>
            </a:r>
          </a:p>
        </p:txBody>
      </p:sp>
      <p:graphicFrame>
        <p:nvGraphicFramePr>
          <p:cNvPr id="38039" name="Group 151">
            <a:extLst>
              <a:ext uri="{FF2B5EF4-FFF2-40B4-BE49-F238E27FC236}">
                <a16:creationId xmlns:a16="http://schemas.microsoft.com/office/drawing/2014/main" id="{AE431390-EDBD-4BDC-A427-2B9068FC9F31}"/>
              </a:ext>
            </a:extLst>
          </p:cNvPr>
          <p:cNvGraphicFramePr>
            <a:graphicFrameLocks noGrp="1"/>
          </p:cNvGraphicFramePr>
          <p:nvPr/>
        </p:nvGraphicFramePr>
        <p:xfrm>
          <a:off x="3886200" y="1828800"/>
          <a:ext cx="2952750" cy="1828800"/>
        </p:xfrm>
        <a:graphic>
          <a:graphicData uri="http://schemas.openxmlformats.org/drawingml/2006/table">
            <a:tbl>
              <a:tblPr/>
              <a:tblGrid>
                <a:gridCol w="96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3213">
                <a:tc gridSpan="5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binary representation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one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21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two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99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65AF5D0D-EC08-4B19-864E-D9634116C9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2291" name="WordArt 2">
            <a:extLst>
              <a:ext uri="{FF2B5EF4-FFF2-40B4-BE49-F238E27FC236}">
                <a16:creationId xmlns:a16="http://schemas.microsoft.com/office/drawing/2014/main" id="{DDA7227B-74D6-4FAD-A2D7-ED1CD326E7D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762000"/>
            <a:ext cx="7315200" cy="487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bitwiseand.java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bitwiseor.java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bitwisexor.java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3A826FBE-F492-4097-A9AF-C3B33AB8F52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4339" name="WordArt 2">
            <a:extLst>
              <a:ext uri="{FF2B5EF4-FFF2-40B4-BE49-F238E27FC236}">
                <a16:creationId xmlns:a16="http://schemas.microsoft.com/office/drawing/2014/main" id="{161D331D-5DDE-4D8E-958C-95B4603C8FA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457200"/>
            <a:ext cx="7543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Bitwise Shift Left &lt;&lt;</a:t>
            </a:r>
          </a:p>
        </p:txBody>
      </p:sp>
      <p:sp>
        <p:nvSpPr>
          <p:cNvPr id="14340" name="Text Box 3">
            <a:extLst>
              <a:ext uri="{FF2B5EF4-FFF2-40B4-BE49-F238E27FC236}">
                <a16:creationId xmlns:a16="http://schemas.microsoft.com/office/drawing/2014/main" id="{39579143-58D0-4CC5-B82A-4D5C036AE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286000"/>
            <a:ext cx="83820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int one=8;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>
                <a:latin typeface="Tahoma" panose="020B0604030504040204" pitchFamily="34" charset="0"/>
              </a:rPr>
              <a:t>out.println("8 &lt;&lt; 1 == " + (one&lt;&lt;1));</a:t>
            </a:r>
          </a:p>
        </p:txBody>
      </p:sp>
      <p:sp>
        <p:nvSpPr>
          <p:cNvPr id="14341" name="Text Box 4">
            <a:extLst>
              <a:ext uri="{FF2B5EF4-FFF2-40B4-BE49-F238E27FC236}">
                <a16:creationId xmlns:a16="http://schemas.microsoft.com/office/drawing/2014/main" id="{EC1192B6-7666-4A5A-8D4D-0483345C3D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724400"/>
            <a:ext cx="3352800" cy="12334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8 &lt;&lt; 1 == 16</a:t>
            </a:r>
          </a:p>
        </p:txBody>
      </p:sp>
      <p:sp>
        <p:nvSpPr>
          <p:cNvPr id="14342" name="Text Box 5">
            <a:extLst>
              <a:ext uri="{FF2B5EF4-FFF2-40B4-BE49-F238E27FC236}">
                <a16:creationId xmlns:a16="http://schemas.microsoft.com/office/drawing/2014/main" id="{7FD2D7D5-60F9-4D8C-BE65-9F82B46007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724400"/>
            <a:ext cx="4191000" cy="12334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006600"/>
                </a:solidFill>
                <a:latin typeface="Tahoma" panose="020B0604030504040204" pitchFamily="34" charset="0"/>
              </a:rPr>
              <a:t>SHORTCUT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&lt;&lt; 1   multiplies by 2</a:t>
            </a:r>
          </a:p>
        </p:txBody>
      </p:sp>
      <p:graphicFrame>
        <p:nvGraphicFramePr>
          <p:cNvPr id="38997" name="Group 85">
            <a:extLst>
              <a:ext uri="{FF2B5EF4-FFF2-40B4-BE49-F238E27FC236}">
                <a16:creationId xmlns:a16="http://schemas.microsoft.com/office/drawing/2014/main" id="{79121A69-CC63-422F-928F-B8D9AE3C3957}"/>
              </a:ext>
            </a:extLst>
          </p:cNvPr>
          <p:cNvGraphicFramePr>
            <a:graphicFrameLocks noGrp="1"/>
          </p:cNvGraphicFramePr>
          <p:nvPr/>
        </p:nvGraphicFramePr>
        <p:xfrm>
          <a:off x="4343400" y="2057400"/>
          <a:ext cx="2762250" cy="1097142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16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0D227C31-764F-4501-A92A-D2A876E352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6387" name="WordArt 2">
            <a:extLst>
              <a:ext uri="{FF2B5EF4-FFF2-40B4-BE49-F238E27FC236}">
                <a16:creationId xmlns:a16="http://schemas.microsoft.com/office/drawing/2014/main" id="{C249D472-A452-4DC7-8B3F-14CB123E724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457200"/>
            <a:ext cx="7543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Bitwise Shift Right &gt;&gt;</a:t>
            </a:r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680A23A3-2C79-44E2-AC22-A52F88ED3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0"/>
            <a:ext cx="86868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int one = 16;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 err="1">
                <a:latin typeface="Tahoma" panose="020B0604030504040204" pitchFamily="34" charset="0"/>
              </a:rPr>
              <a:t>out.println</a:t>
            </a:r>
            <a:r>
              <a:rPr lang="en-US" altLang="en-US" dirty="0">
                <a:latin typeface="Tahoma" panose="020B0604030504040204" pitchFamily="34" charset="0"/>
              </a:rPr>
              <a:t>("16 &gt;&gt; 1 == " + (one&gt;&gt;1));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DB24A2D6-04E1-4154-A397-5A46D0C2E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724400"/>
            <a:ext cx="3352800" cy="12334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16 &gt;&gt; 1 == 8</a:t>
            </a:r>
          </a:p>
        </p:txBody>
      </p:sp>
      <p:sp>
        <p:nvSpPr>
          <p:cNvPr id="16390" name="Text Box 5">
            <a:extLst>
              <a:ext uri="{FF2B5EF4-FFF2-40B4-BE49-F238E27FC236}">
                <a16:creationId xmlns:a16="http://schemas.microsoft.com/office/drawing/2014/main" id="{9AB6F434-6F29-4FA7-A6B9-19CE48A2E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724400"/>
            <a:ext cx="3886200" cy="12334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006600"/>
                </a:solidFill>
                <a:latin typeface="Tahoma" panose="020B0604030504040204" pitchFamily="34" charset="0"/>
              </a:rPr>
              <a:t>SHORTCUT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&gt;&gt; 1   divides by 2</a:t>
            </a:r>
          </a:p>
        </p:txBody>
      </p:sp>
      <p:graphicFrame>
        <p:nvGraphicFramePr>
          <p:cNvPr id="86078" name="Group 62">
            <a:extLst>
              <a:ext uri="{FF2B5EF4-FFF2-40B4-BE49-F238E27FC236}">
                <a16:creationId xmlns:a16="http://schemas.microsoft.com/office/drawing/2014/main" id="{2B81A620-0D83-43D9-96C3-3576357C6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947684"/>
              </p:ext>
            </p:extLst>
          </p:nvPr>
        </p:nvGraphicFramePr>
        <p:xfrm>
          <a:off x="4343400" y="2057400"/>
          <a:ext cx="2762250" cy="1097142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16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0D227C31-764F-4501-A92A-D2A876E352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6387" name="WordArt 2">
            <a:extLst>
              <a:ext uri="{FF2B5EF4-FFF2-40B4-BE49-F238E27FC236}">
                <a16:creationId xmlns:a16="http://schemas.microsoft.com/office/drawing/2014/main" id="{C249D472-A452-4DC7-8B3F-14CB123E724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457200"/>
            <a:ext cx="7543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Bitwise Shift Right &gt;&gt;</a:t>
            </a:r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680A23A3-2C79-44E2-AC22-A52F88ED3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0"/>
            <a:ext cx="86868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int one = 16;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 err="1">
                <a:latin typeface="Tahoma" panose="020B0604030504040204" pitchFamily="34" charset="0"/>
              </a:rPr>
              <a:t>out.println</a:t>
            </a:r>
            <a:r>
              <a:rPr lang="en-US" altLang="en-US" dirty="0">
                <a:latin typeface="Tahoma" panose="020B0604030504040204" pitchFamily="34" charset="0"/>
              </a:rPr>
              <a:t>(“16 &gt;&gt; 3 == " + (one&gt;&gt;3));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DB24A2D6-04E1-4154-A397-5A46D0C2E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724400"/>
            <a:ext cx="3352800" cy="12334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16 &gt;&gt; 3 == 2</a:t>
            </a:r>
          </a:p>
        </p:txBody>
      </p:sp>
      <p:sp>
        <p:nvSpPr>
          <p:cNvPr id="16390" name="Text Box 5">
            <a:extLst>
              <a:ext uri="{FF2B5EF4-FFF2-40B4-BE49-F238E27FC236}">
                <a16:creationId xmlns:a16="http://schemas.microsoft.com/office/drawing/2014/main" id="{9AB6F434-6F29-4FA7-A6B9-19CE48A2E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724400"/>
            <a:ext cx="3886200" cy="12334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006600"/>
                </a:solidFill>
                <a:latin typeface="Tahoma" panose="020B0604030504040204" pitchFamily="34" charset="0"/>
              </a:rPr>
              <a:t>SHORTCUT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&gt;&gt; 3   divides by 8</a:t>
            </a:r>
          </a:p>
        </p:txBody>
      </p:sp>
      <p:graphicFrame>
        <p:nvGraphicFramePr>
          <p:cNvPr id="86078" name="Group 62">
            <a:extLst>
              <a:ext uri="{FF2B5EF4-FFF2-40B4-BE49-F238E27FC236}">
                <a16:creationId xmlns:a16="http://schemas.microsoft.com/office/drawing/2014/main" id="{2B81A620-0D83-43D9-96C3-3576357C6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883561"/>
              </p:ext>
            </p:extLst>
          </p:nvPr>
        </p:nvGraphicFramePr>
        <p:xfrm>
          <a:off x="4343400" y="2057400"/>
          <a:ext cx="2762250" cy="1097142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16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349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3">
            <a:extLst>
              <a:ext uri="{FF2B5EF4-FFF2-40B4-BE49-F238E27FC236}">
                <a16:creationId xmlns:a16="http://schemas.microsoft.com/office/drawing/2014/main" id="{0D227C31-764F-4501-A92A-D2A876E352F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6387" name="WordArt 2">
            <a:extLst>
              <a:ext uri="{FF2B5EF4-FFF2-40B4-BE49-F238E27FC236}">
                <a16:creationId xmlns:a16="http://schemas.microsoft.com/office/drawing/2014/main" id="{C249D472-A452-4DC7-8B3F-14CB123E724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457200"/>
            <a:ext cx="7543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Bitwise Shift Right &gt;&gt;</a:t>
            </a:r>
          </a:p>
        </p:txBody>
      </p:sp>
      <p:sp>
        <p:nvSpPr>
          <p:cNvPr id="16388" name="Text Box 3">
            <a:extLst>
              <a:ext uri="{FF2B5EF4-FFF2-40B4-BE49-F238E27FC236}">
                <a16:creationId xmlns:a16="http://schemas.microsoft.com/office/drawing/2014/main" id="{680A23A3-2C79-44E2-AC22-A52F88ED3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286000"/>
            <a:ext cx="85344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latin typeface="Tahoma" panose="020B0604030504040204" pitchFamily="34" charset="0"/>
              </a:rPr>
              <a:t>int one = 5;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dirty="0" err="1">
                <a:latin typeface="Tahoma" panose="020B0604030504040204" pitchFamily="34" charset="0"/>
              </a:rPr>
              <a:t>out.println</a:t>
            </a:r>
            <a:r>
              <a:rPr lang="en-US" altLang="en-US" dirty="0">
                <a:latin typeface="Tahoma" panose="020B0604030504040204" pitchFamily="34" charset="0"/>
              </a:rPr>
              <a:t>("5 &gt;&gt; 1 == " + (one&gt;&gt;1));</a:t>
            </a:r>
          </a:p>
        </p:txBody>
      </p:sp>
      <p:sp>
        <p:nvSpPr>
          <p:cNvPr id="16389" name="Text Box 4">
            <a:extLst>
              <a:ext uri="{FF2B5EF4-FFF2-40B4-BE49-F238E27FC236}">
                <a16:creationId xmlns:a16="http://schemas.microsoft.com/office/drawing/2014/main" id="{DB24A2D6-04E1-4154-A397-5A46D0C2E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724400"/>
            <a:ext cx="3352800" cy="12334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dirty="0">
                <a:latin typeface="Tahoma" panose="020B0604030504040204" pitchFamily="34" charset="0"/>
              </a:rPr>
              <a:t>5 &gt;&gt; 1 == 2</a:t>
            </a:r>
          </a:p>
        </p:txBody>
      </p:sp>
      <p:sp>
        <p:nvSpPr>
          <p:cNvPr id="16390" name="Text Box 5">
            <a:extLst>
              <a:ext uri="{FF2B5EF4-FFF2-40B4-BE49-F238E27FC236}">
                <a16:creationId xmlns:a16="http://schemas.microsoft.com/office/drawing/2014/main" id="{9AB6F434-6F29-4FA7-A6B9-19CE48A2E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724400"/>
            <a:ext cx="3886200" cy="1233488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u="sng">
                <a:solidFill>
                  <a:srgbClr val="006600"/>
                </a:solidFill>
                <a:latin typeface="Tahoma" panose="020B0604030504040204" pitchFamily="34" charset="0"/>
              </a:rPr>
              <a:t>SHORTCUT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&gt;&gt; 1   divides by 2</a:t>
            </a:r>
          </a:p>
        </p:txBody>
      </p:sp>
      <p:graphicFrame>
        <p:nvGraphicFramePr>
          <p:cNvPr id="86078" name="Group 62">
            <a:extLst>
              <a:ext uri="{FF2B5EF4-FFF2-40B4-BE49-F238E27FC236}">
                <a16:creationId xmlns:a16="http://schemas.microsoft.com/office/drawing/2014/main" id="{2B81A620-0D83-43D9-96C3-3576357C6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6519087"/>
              </p:ext>
            </p:extLst>
          </p:nvPr>
        </p:nvGraphicFramePr>
        <p:xfrm>
          <a:off x="4343400" y="2057400"/>
          <a:ext cx="2762250" cy="1097142"/>
        </p:xfrm>
        <a:graphic>
          <a:graphicData uri="http://schemas.openxmlformats.org/drawingml/2006/table">
            <a:tbl>
              <a:tblPr/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16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4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790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3">
            <a:extLst>
              <a:ext uri="{FF2B5EF4-FFF2-40B4-BE49-F238E27FC236}">
                <a16:creationId xmlns:a16="http://schemas.microsoft.com/office/drawing/2014/main" id="{9A4D5090-5A76-4267-ABC4-5310EF9ECB6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8435" name="WordArt 2">
            <a:extLst>
              <a:ext uri="{FF2B5EF4-FFF2-40B4-BE49-F238E27FC236}">
                <a16:creationId xmlns:a16="http://schemas.microsoft.com/office/drawing/2014/main" id="{2F004E1A-013D-498F-8341-451BD597D30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371600"/>
            <a:ext cx="7315200" cy="3657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open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shiftleft.java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shiftright.java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B6B705-C4F4-4CA4-96A9-BEEB5117C70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194727E8-3AD4-4CFE-9163-6071411828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362200"/>
            <a:ext cx="31242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6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= a + 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6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 = a - 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6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= a - b;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DFE6539F-450E-4239-8D21-EE31A4C5E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57213"/>
            <a:ext cx="7696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does the following code do?</a:t>
            </a:r>
            <a:endParaRPr lang="en-US" altLang="en-US" sz="400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158FE9-0247-48B4-9E58-B368DCA51B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0A720CF0-827F-4AA9-830F-C4C13B50A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2590800"/>
            <a:ext cx="2662238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a=a+b;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b=a-b;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44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a=a-b;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5EE255-2E53-4E8D-B04C-FEC213A8430A}"/>
              </a:ext>
            </a:extLst>
          </p:cNvPr>
          <p:cNvSpPr/>
          <p:nvPr/>
        </p:nvSpPr>
        <p:spPr>
          <a:xfrm>
            <a:off x="4572000" y="1911350"/>
            <a:ext cx="4114800" cy="37846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Example: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int</a:t>
            </a: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a=5, b=7;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a=</a:t>
            </a:r>
            <a:r>
              <a:rPr lang="en-US" sz="44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a+b</a:t>
            </a: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;</a:t>
            </a:r>
            <a:r>
              <a:rPr lang="en-US" sz="4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</a:t>
            </a: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//a=12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b=a-b;   </a:t>
            </a: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//b=5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a=a-b;   </a:t>
            </a: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//a=7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9010CD29-2AAD-40E3-8A83-24417AB27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57213"/>
            <a:ext cx="7696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does the following code do?</a:t>
            </a:r>
            <a:endParaRPr lang="en-US" altLang="en-US" sz="400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4FA4CBC-1D36-4E39-AEFE-F72B85BE99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7F9967D5-2A5E-4921-83F6-517F142EA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362200"/>
            <a:ext cx="45720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6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 temp = a;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6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= 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6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 = temp;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959BD6C6-9D68-4966-A2CE-8C42BCE38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57213"/>
            <a:ext cx="7696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does the following code do?</a:t>
            </a:r>
            <a:endParaRPr lang="en-US" altLang="en-US" sz="4000"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145F909-319A-43D6-829C-A591C40E77F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124677D-1516-494A-AA07-8CEA301E2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57213"/>
            <a:ext cx="7696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does the following code do?</a:t>
            </a:r>
            <a:endParaRPr lang="en-US" altLang="en-US" sz="4000">
              <a:cs typeface="Calibri" panose="020F0502020204030204" pitchFamily="34" charset="0"/>
            </a:endParaRP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AC15F63D-40E9-490D-A6A9-A783C49CF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2362200"/>
            <a:ext cx="3124200" cy="286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6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= a ^ 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6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 = a ^ b;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6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= a ^ b;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DD42253-A405-4663-A40F-997CCBC0E8C9}"/>
              </a:ext>
            </a:extLst>
          </p:cNvPr>
          <p:cNvSpPr/>
          <p:nvPr/>
        </p:nvSpPr>
        <p:spPr>
          <a:xfrm>
            <a:off x="533400" y="252413"/>
            <a:ext cx="2209800" cy="17240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int</a:t>
            </a: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a=5;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int</a:t>
            </a: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b=7;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A94F63-782F-4D1E-8DD1-C5E1BD66A013}"/>
              </a:ext>
            </a:extLst>
          </p:cNvPr>
          <p:cNvSpPr/>
          <p:nvPr/>
        </p:nvSpPr>
        <p:spPr>
          <a:xfrm>
            <a:off x="4038600" y="2443163"/>
            <a:ext cx="4572000" cy="21240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b=</a:t>
            </a:r>
            <a:r>
              <a:rPr lang="en-US" sz="44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a^b</a:t>
            </a: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;</a:t>
            </a:r>
            <a:r>
              <a:rPr lang="en-US" sz="4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</a:t>
            </a: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// 0010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 </a:t>
            </a:r>
            <a:r>
              <a:rPr lang="en-US" sz="4400" u="sng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^0111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</a:t>
            </a:r>
            <a:r>
              <a:rPr lang="en-US" sz="20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</a:t>
            </a: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0101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317170-13BA-440C-A0CF-F61AF8A2BBE5}"/>
              </a:ext>
            </a:extLst>
          </p:cNvPr>
          <p:cNvSpPr/>
          <p:nvPr/>
        </p:nvSpPr>
        <p:spPr>
          <a:xfrm>
            <a:off x="4899025" y="4567238"/>
            <a:ext cx="4244975" cy="212248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a=</a:t>
            </a:r>
            <a:r>
              <a:rPr lang="en-US" sz="44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a^b</a:t>
            </a: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;</a:t>
            </a:r>
            <a:r>
              <a:rPr lang="en-US" sz="4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</a:t>
            </a: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// 0010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 </a:t>
            </a:r>
            <a:r>
              <a:rPr lang="en-US" sz="4400" u="sng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^0101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</a:t>
            </a:r>
            <a:r>
              <a:rPr lang="en-US" sz="20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</a:t>
            </a: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0111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D1673C-B212-4C7F-8E72-9CA0FA03411B}"/>
              </a:ext>
            </a:extLst>
          </p:cNvPr>
          <p:cNvSpPr/>
          <p:nvPr/>
        </p:nvSpPr>
        <p:spPr>
          <a:xfrm>
            <a:off x="3200400" y="252413"/>
            <a:ext cx="4114800" cy="24003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a=</a:t>
            </a:r>
            <a:r>
              <a:rPr lang="en-US" sz="4400" dirty="0" err="1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a^b</a:t>
            </a:r>
            <a:r>
              <a:rPr lang="en-US" sz="4400" dirty="0">
                <a:solidFill>
                  <a:schemeClr val="accent6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;</a:t>
            </a:r>
            <a:r>
              <a:rPr lang="en-US" sz="4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</a:t>
            </a: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// 0101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 </a:t>
            </a:r>
            <a:r>
              <a:rPr lang="en-US" sz="4400" u="sng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^0111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              </a:t>
            </a:r>
            <a:r>
              <a:rPr lang="en-US" sz="20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 </a:t>
            </a:r>
            <a:r>
              <a:rPr lang="en-US" sz="4400" dirty="0">
                <a:solidFill>
                  <a:srgbClr val="3366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 0010</a:t>
            </a: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6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umsysboo">
  <a:themeElements>
    <a:clrScheme name="numsysboo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numsysbo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numsysbo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msysbo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numsysboo">
  <a:themeElements>
    <a:clrScheme name="numsysboo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numsysbo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numsysboo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umsysboo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umsysboo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A:\numsysboo.ppt</Template>
  <TotalTime>589</TotalTime>
  <Words>1179</Words>
  <Application>Microsoft Office PowerPoint</Application>
  <PresentationFormat>On-screen Show (4:3)</PresentationFormat>
  <Paragraphs>430</Paragraphs>
  <Slides>23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 Black</vt:lpstr>
      <vt:lpstr>Calibri</vt:lpstr>
      <vt:lpstr>Impact</vt:lpstr>
      <vt:lpstr>Tahoma</vt:lpstr>
      <vt:lpstr>Times New Roman</vt:lpstr>
      <vt:lpstr>numsysboo</vt:lpstr>
      <vt:lpstr>1_numsysboo</vt:lpstr>
      <vt:lpstr>Clip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numbersystems</dc:title>
  <dc:subject>Number Systems</dc:subject>
  <dc:creator>A+ Computer Science</dc:creator>
  <cp:keywords>www.apluscompsci.com </cp:keywords>
  <dc:description>Number Systems_x000d_
©A+ Computer Science_x000d_
www.apluscompsci.com</dc:description>
  <cp:lastModifiedBy>Weldon Jasik</cp:lastModifiedBy>
  <cp:revision>174</cp:revision>
  <dcterms:created xsi:type="dcterms:W3CDTF">1995-06-17T23:31:02Z</dcterms:created>
  <dcterms:modified xsi:type="dcterms:W3CDTF">2025-10-21T12:11:33Z</dcterms:modified>
  <cp:category>www.apluscompsci.com</cp:category>
</cp:coreProperties>
</file>
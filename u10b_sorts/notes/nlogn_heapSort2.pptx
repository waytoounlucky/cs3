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  <p:sldMasterId id="2147483665" r:id="rId2"/>
    <p:sldMasterId id="2147483677" r:id="rId3"/>
  </p:sldMasterIdLst>
  <p:notesMasterIdLst>
    <p:notesMasterId r:id="rId31"/>
  </p:notesMasterIdLst>
  <p:handoutMasterIdLst>
    <p:handoutMasterId r:id="rId32"/>
  </p:handoutMasterIdLst>
  <p:sldIdLst>
    <p:sldId id="263" r:id="rId4"/>
    <p:sldId id="276" r:id="rId5"/>
    <p:sldId id="448" r:id="rId6"/>
    <p:sldId id="449" r:id="rId7"/>
    <p:sldId id="305" r:id="rId8"/>
    <p:sldId id="307" r:id="rId9"/>
    <p:sldId id="309" r:id="rId10"/>
    <p:sldId id="311" r:id="rId11"/>
    <p:sldId id="313" r:id="rId12"/>
    <p:sldId id="315" r:id="rId13"/>
    <p:sldId id="317" r:id="rId14"/>
    <p:sldId id="319" r:id="rId15"/>
    <p:sldId id="321" r:id="rId16"/>
    <p:sldId id="302" r:id="rId17"/>
    <p:sldId id="303" r:id="rId18"/>
    <p:sldId id="322" r:id="rId19"/>
    <p:sldId id="318" r:id="rId20"/>
    <p:sldId id="323" r:id="rId21"/>
    <p:sldId id="280" r:id="rId22"/>
    <p:sldId id="267" r:id="rId23"/>
    <p:sldId id="268" r:id="rId24"/>
    <p:sldId id="269" r:id="rId25"/>
    <p:sldId id="270" r:id="rId26"/>
    <p:sldId id="320" r:id="rId27"/>
    <p:sldId id="281" r:id="rId28"/>
    <p:sldId id="282" r:id="rId29"/>
    <p:sldId id="285" r:id="rId30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AF6F7"/>
    <a:srgbClr val="252496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78" autoAdjust="0"/>
    <p:restoredTop sz="78650" autoAdjust="0"/>
  </p:normalViewPr>
  <p:slideViewPr>
    <p:cSldViewPr>
      <p:cViewPr varScale="1">
        <p:scale>
          <a:sx n="62" d="100"/>
          <a:sy n="62" d="100"/>
        </p:scale>
        <p:origin x="162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Relationship Id="rId8" Type="http://schemas.openxmlformats.org/officeDocument/2006/relationships/slide" Target="slides/slide5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026">
            <a:extLst>
              <a:ext uri="{FF2B5EF4-FFF2-40B4-BE49-F238E27FC236}">
                <a16:creationId xmlns:a16="http://schemas.microsoft.com/office/drawing/2014/main" id="{5AE9E8AC-9BE3-4613-BFB1-5F531BEAEAE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1" name="Rectangle 1027">
            <a:extLst>
              <a:ext uri="{FF2B5EF4-FFF2-40B4-BE49-F238E27FC236}">
                <a16:creationId xmlns:a16="http://schemas.microsoft.com/office/drawing/2014/main" id="{AF6B43A1-AF97-4B38-B438-75A8CBFF685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1028">
            <a:extLst>
              <a:ext uri="{FF2B5EF4-FFF2-40B4-BE49-F238E27FC236}">
                <a16:creationId xmlns:a16="http://schemas.microsoft.com/office/drawing/2014/main" id="{A551EBB3-DEEC-4A9D-AD5D-1561DFDDC5B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3" name="Rectangle 1029">
            <a:extLst>
              <a:ext uri="{FF2B5EF4-FFF2-40B4-BE49-F238E27FC236}">
                <a16:creationId xmlns:a16="http://schemas.microsoft.com/office/drawing/2014/main" id="{E0BA7447-09F5-4AC3-9F80-4B92CC77008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fld id="{708A4521-998B-4060-823F-18476334F0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E9178C5-F981-4453-873B-E1CFAD68C76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7936EEBB-F891-4456-810C-BC0EBA670AA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FB8D396F-263E-77E6-C12F-CD3B9867818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F01C0A38-A3CA-4C1B-BF95-BF21F7CFF6F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698D2D80-B556-44DC-8C15-7E2EDAC5F3E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2E7584BD-3796-42F5-9171-FC8C4312A2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panose="020B0604020202020204" pitchFamily="34" charset="0"/>
              </a:defRPr>
            </a:lvl1pPr>
          </a:lstStyle>
          <a:p>
            <a:fld id="{B8BA7EA8-74C5-4DDA-B090-9C4C5639020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30D3ED43-1637-5A55-0A31-DBE3FB201C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A9A8AF0-2B9C-49E1-BDE1-133356B7E302}" type="slidenum">
              <a:rPr lang="en-US" altLang="en-US" sz="1300"/>
              <a:pPr>
                <a:spcBef>
                  <a:spcPct val="0"/>
                </a:spcBef>
              </a:pPr>
              <a:t>1</a:t>
            </a:fld>
            <a:endParaRPr lang="en-US" altLang="en-US" sz="13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DC689EA-874D-6F09-6CE9-A74D695A43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28B7FA50-3EDA-17B0-4178-67D0C5B4E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C9448E75-B7DC-840E-27B8-4D703EA516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88D235F2-49A6-DF89-B144-A9D009BD26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FD509692-B726-E448-8DA7-834807B3B8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7228982-0632-438B-9FD4-165FA1D9BE17}" type="slidenum">
              <a:rPr lang="en-US" altLang="en-US" sz="1300">
                <a:latin typeface="Arial" panose="020B0604020202020204" pitchFamily="34" charset="0"/>
              </a:rPr>
              <a:pPr/>
              <a:t>7</a:t>
            </a:fld>
            <a:endParaRPr lang="en-US" altLang="en-US" sz="13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CC358098-90F7-A42D-5782-3C0271763CF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143375" y="9123363"/>
            <a:ext cx="31718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7" tIns="48324" rIns="96647" bIns="48324" anchor="b"/>
          <a:lstStyle>
            <a:lvl1pPr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40CAE16-2F18-4719-B037-C2DEB76A3BD7}" type="slidenum">
              <a:rPr lang="en-US" altLang="en-US" sz="1300">
                <a:latin typeface="Arial Narrow" panose="020B0606020202030204" pitchFamily="34" charset="0"/>
              </a:rPr>
              <a:pPr algn="r" eaLnBrk="1" hangingPunct="1">
                <a:spcBef>
                  <a:spcPct val="0"/>
                </a:spcBef>
              </a:pPr>
              <a:t>14</a:t>
            </a:fld>
            <a:endParaRPr lang="en-US" altLang="en-US" sz="1300">
              <a:latin typeface="Arial Narrow" panose="020B060602020203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91E3A1E4-3EAD-647D-3245-841D45E892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2188" cy="3602038"/>
          </a:xfrm>
          <a:solidFill>
            <a:srgbClr val="FFFFFF"/>
          </a:solidFill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0F24ABBD-0DF8-14F6-FC5F-DB6F51F7D7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6647" tIns="48324" rIns="96647" bIns="48324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8B4BC8E2-E2E3-A244-AAC5-FB4E176CD23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143375" y="9123363"/>
            <a:ext cx="31718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7" tIns="48324" rIns="96647" bIns="48324" anchor="b"/>
          <a:lstStyle>
            <a:lvl1pPr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398ABA1-38BA-4E4F-BE74-EBB57D83D456}" type="slidenum">
              <a:rPr lang="en-US" altLang="en-US" sz="1300">
                <a:latin typeface="Arial Narrow" panose="020B0606020202030204" pitchFamily="34" charset="0"/>
              </a:rPr>
              <a:pPr algn="r" eaLnBrk="1" hangingPunct="1">
                <a:spcBef>
                  <a:spcPct val="0"/>
                </a:spcBef>
              </a:pPr>
              <a:t>15</a:t>
            </a:fld>
            <a:endParaRPr lang="en-US" altLang="en-US" sz="1300">
              <a:latin typeface="Arial Narrow" panose="020B060602020203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7567C1B4-4475-ABA8-7FA5-E28D5975F1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2188" cy="3602038"/>
          </a:xfrm>
          <a:solidFill>
            <a:srgbClr val="FFFFFF"/>
          </a:solidFill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B0415ACE-A690-401A-2BEB-5958EA9BA2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6647" tIns="48324" rIns="96647" bIns="48324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5508874E-AEDE-F33B-6975-153664B9420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143375" y="9123363"/>
            <a:ext cx="31718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7" tIns="48324" rIns="96647" bIns="48324" anchor="b"/>
          <a:lstStyle>
            <a:lvl1pPr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48912F3-B113-4620-B136-2F9B90F1B50B}" type="slidenum">
              <a:rPr lang="en-US" altLang="en-US" sz="1300">
                <a:latin typeface="Arial Narrow" panose="020B0606020202030204" pitchFamily="34" charset="0"/>
              </a:rPr>
              <a:pPr algn="r" eaLnBrk="1" hangingPunct="1">
                <a:spcBef>
                  <a:spcPct val="0"/>
                </a:spcBef>
              </a:pPr>
              <a:t>19</a:t>
            </a:fld>
            <a:endParaRPr lang="en-US" altLang="en-US" sz="1300">
              <a:latin typeface="Arial Narrow" panose="020B0606020202030204" pitchFamily="34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1B3B3621-97F3-F0DF-5187-FF2E4DDDFA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2188" cy="3602038"/>
          </a:xfrm>
          <a:solidFill>
            <a:srgbClr val="FFFFFF"/>
          </a:solidFill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800D14B0-5871-D3FE-1E7A-272F57988C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6647" tIns="48324" rIns="96647" bIns="48324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161EDDC2-8AF5-B33A-9C68-B5C055C5E4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0C6C423-6935-4D87-A265-17615EC80A8A}" type="slidenum">
              <a:rPr lang="en-US" altLang="en-US" sz="1300"/>
              <a:pPr>
                <a:spcBef>
                  <a:spcPct val="0"/>
                </a:spcBef>
              </a:pPr>
              <a:t>20</a:t>
            </a:fld>
            <a:endParaRPr lang="en-US" altLang="en-US" sz="13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18852E0-6051-6B77-3341-E4BB191BD0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D26ED239-9631-2361-1639-C05393AE13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68420CF7-EA94-258E-D0B2-8CEC62AF98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DD53112-274F-4BB3-A139-EC154256565A}" type="slidenum">
              <a:rPr lang="en-US" altLang="en-US" sz="1300"/>
              <a:pPr>
                <a:spcBef>
                  <a:spcPct val="0"/>
                </a:spcBef>
              </a:pPr>
              <a:t>21</a:t>
            </a:fld>
            <a:endParaRPr lang="en-US" altLang="en-US" sz="13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C2A1BA92-E6D5-46A0-AABD-999912812A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E1A20EBC-8806-FBD9-0D3F-B8ECBF796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950EB19-DF99-85E9-FB8D-37AADC435F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85BE623-6062-40E1-B040-7CC6196485F3}" type="slidenum">
              <a:rPr lang="en-US" altLang="en-US" sz="1300"/>
              <a:pPr>
                <a:spcBef>
                  <a:spcPct val="0"/>
                </a:spcBef>
              </a:pPr>
              <a:t>22</a:t>
            </a:fld>
            <a:endParaRPr lang="en-US" altLang="en-US" sz="13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4EFD8A3C-9485-3E3A-37EB-EFBCF422C3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1441CBEF-5E69-BAA5-1C9D-43A6791AEA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8F3C32E0-4300-8318-A3CD-DA6FF1A6DB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D5156B2-A78F-4309-A98F-B4C4B42A487B}" type="slidenum">
              <a:rPr lang="en-US" altLang="en-US" sz="1300"/>
              <a:pPr>
                <a:spcBef>
                  <a:spcPct val="0"/>
                </a:spcBef>
              </a:pPr>
              <a:t>23</a:t>
            </a:fld>
            <a:endParaRPr lang="en-US" altLang="en-US" sz="13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05D96351-3E60-D526-312A-A8A1890824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C91DD5F2-2717-493D-3145-394C04257E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B40F142-E514-1C07-3053-A5E89E451D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0BD5972-6C12-577C-3AFC-323A4BE493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57EB1A-9F74-158A-2B18-34839C63E4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D9C625-F793-4573-94DD-60E0873BD58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6097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AA9FA0E-AA02-AD83-CB3A-F31CE58EBF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559BC2-3790-46D8-CD53-7DF76AFC67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F8C086-BADD-B30E-4023-7B647760E2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861B7C-2ABB-4CA2-BFEB-E13D57FD743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9418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D19FAB-D271-1F38-C589-A0872FD1F1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79EC646-A45D-7270-F2D7-FE10B611AE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404EE1E-670B-8421-B042-F0F91F321B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42A9EF-51E1-42A6-A872-9F9814F0F18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3174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D3262B-F984-1A4D-97C9-043F079AC6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08CCB5-E931-2472-A0D0-D3D8A88768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BAB597-5514-AC0A-6509-DD3EBC75FE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973AD7-94E5-485D-B2B7-C623DF955C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0575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B97C411-C38F-EB60-CC7F-2BF365A953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31AB48C-658F-8994-3AEF-35339A6934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16A9FF6-A869-5DB4-FAB2-1B6994C5D0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63C670-81F6-425D-8EF0-5CFC46DC3C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2182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DB42C06-50AB-A797-0CCE-53406CD18B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77684DA-3C60-AEE6-BBC9-865C248A8D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1A834FA-E5B6-1BF0-1DC0-AD21D0A5DF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0219DC-15B7-4DAB-B1AF-50EB4A1732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0733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446B41F-5441-9A32-F6E0-D225B9C370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E3AF366-76A8-CEFF-1FF3-D220EC35F9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13CBF83-DF36-4EB4-FB0D-12E148BF41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650D55-5566-4DD3-A933-6598F140D2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6624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CAC2E9-472F-72CA-F800-55FE3797C5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D86EE1-AC2C-317B-A572-C91FEA1897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82B6BF-E8FA-702C-02BE-4B6057FCF3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230600-8529-470E-A7BB-47C68217A5A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2599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C4D67C-FE22-A911-68DF-0FEF85CA7F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14076E-2CF0-A514-4278-A5C5429C7B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0D66D6-2E49-8B96-24CD-EDDA83EB82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B84048-27B5-4BD7-B71C-14449221197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1612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1CFEDA0-9F68-7F9B-DEEF-E2070A94B1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AA74352-3BB3-EF63-F206-979DBF224F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D33D049-667C-5EEA-7ADE-B2B46D0427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193C6C-8C79-4F72-859F-5CCBE5F63E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9141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81000"/>
            <a:ext cx="194310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81000"/>
            <a:ext cx="56769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B7E3F5-657F-CA51-0417-E223083AE7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4EC0F2-5AF0-E8DC-EE32-1B6FD9DF0F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9B888D-6BD1-7C56-1BF5-F4DED50A23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9EDB05-1999-40F3-9136-AF60D6A312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0540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A39D0-E2E5-4B5C-BF2E-D5E4AC2B0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E95293-4409-4563-9863-E442D8FDD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2021363-4B47-2BEA-A2E1-5A1EB914F7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76EDFE7-2A6C-0BD5-4C96-E7F17FFCDA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8F6088F-CB9B-39E3-460A-D5F2A41617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18763F-17A0-485C-A3B0-24C436791B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0747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D1847-4DDF-4F2B-BC07-8775416FB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21298-CA5B-44D9-8482-956BDFEEB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5D03FE7-0FA4-CDF0-2DD6-EC4B53BAF5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EA71562-FF7F-E138-3F79-491867F35A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C5BA20C-742A-26B3-171D-79AA2CAF16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BDEA67-4585-4CDD-AAF0-43C8081C170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3775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22284-2FC9-4A29-8494-CA04B3205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272AD-46C6-4E35-81E5-AC4A892BC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2C2980-B65E-054F-C142-A6DCE7BEF0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47CF4E9-DF2E-1CF5-DB25-631FFB3EE0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A0FF58A-498B-D081-8834-CFB5CC2F7E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279464-9A72-4B64-AB90-A901323E7B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79342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33075-C2EF-4A98-8DBC-5099BF860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00406-E234-4AF5-B9AB-F8002AB98A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838200"/>
            <a:ext cx="4495800" cy="5287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EF66A-770E-44B9-A9AC-6E8E8C324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495800" cy="5287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A37BB1-B121-F3EE-2264-DDDF275EA9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593F6B-EA8D-29BF-AC86-57F2BA332A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856F8A-1548-376C-DD75-5557E8C975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54E34F-2C8A-4E50-8052-A83B12BDCF9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191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72A8-0BEA-47B2-8973-32DB7E941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E2EEE-A3B5-4582-99C9-35B9F65A4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AB7AB8-1396-4D85-A9FF-1BC081D07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6EE7EE-D2DB-4D20-A261-2C3D2DB981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9770E1-DBAA-437C-BD14-BDFD5183DF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C390E80-217D-C611-39C6-B424679863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7B78737-927D-8DE3-4E16-014A9E0283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D3A7E82-0F58-F93A-697E-39A2D69975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8B57E8-50E9-46C8-8C66-4D617683A3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79806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3167F-7977-4E29-9B85-FEC901E54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63B5BB6-CC09-7604-823F-30490E57C7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7C9D174-02AA-B7DE-90F4-414EE60420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30B6360-F6D6-C4A2-C012-9D9D316B2D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CEEF79-9271-43A4-8A2C-355C24AE4A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3068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84D9799-DDA6-715D-0D30-E9B7BAB2CC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7B6F98B-B7AE-A8DF-D368-5ABDE0D5CD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589D173-E59D-3A3A-35CC-D750BE093B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7B1E13-4DF9-4B3A-B26C-779E884303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48883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DEBEA-C613-4226-87F3-747667F7B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F1092-DA30-47CA-996D-F82C3F600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21DAA9-CFD3-4CDF-BA95-0B7EFA0EB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3273EC-B7F1-33E1-FF70-CC61C5DE0A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C875EF-7B8F-0F22-79DC-2386593753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4E51E3-0DAC-0E1B-A099-414414F4CB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A0A855-9D94-44E8-A33B-A026EFA431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88902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98E08-3511-482E-B33B-6498F5664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59FBA4-FDF2-4188-8BA5-57A8A92F6F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EC72E9-16BA-48B6-A3B8-28B64FC0E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6F4A16-4B9F-4344-CFB4-D077A0B2AC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C84660-8972-D6DE-438B-8F03A42971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77759E-C2EC-96BB-59F4-ED419EB680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314FAE-7F75-4C88-9D27-E585EF1159C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49045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FB8B5-97E1-4B1E-9BD6-0388ECE53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73D0A-610E-4F10-85A5-4ADED682A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8E2BBED-841A-A456-81CC-845C56AA37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2F310D-406A-A4CF-D716-9738F92EFD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266E11B-6489-2B8B-8CEB-069332E157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241138-71A3-4BE9-850D-0CDCF7DC551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90240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E04244-D89B-41E1-A5E7-5EAEC9BB7A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58000" y="76200"/>
            <a:ext cx="2286000" cy="6049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05EB48-3F1F-4DCF-BA3E-AD1FD4AD5D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0" y="76200"/>
            <a:ext cx="6705600" cy="60499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7927A9-4E3E-E970-1538-C95F3E9D24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802A15E-5E29-25EF-4B91-8E35F51390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DEF96A-06B6-4B34-A596-F22840868B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652AB6-0FA9-4CEC-AC44-71F10D032C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22818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>
            <a:extLst>
              <a:ext uri="{FF2B5EF4-FFF2-40B4-BE49-F238E27FC236}">
                <a16:creationId xmlns:a16="http://schemas.microsoft.com/office/drawing/2014/main" id="{851A6B4B-9284-E330-E2F7-291CD81DC5B9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  <a:solidFill>
            <a:srgbClr val="99CCFF"/>
          </a:solidFill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407555" name="Rectangle 3">
            <a:extLst>
              <a:ext uri="{FF2B5EF4-FFF2-40B4-BE49-F238E27FC236}">
                <a16:creationId xmlns:a16="http://schemas.microsoft.com/office/drawing/2014/main" id="{2A412A23-4028-890B-B90A-94A4BF852B52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407556" name="Rectangle 4">
            <a:extLst>
              <a:ext uri="{FF2B5EF4-FFF2-40B4-BE49-F238E27FC236}">
                <a16:creationId xmlns:a16="http://schemas.microsoft.com/office/drawing/2014/main" id="{37399D48-4E6D-0EA5-042A-FAFDA2CA2251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3333FF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407557" name="Rectangle 5">
            <a:extLst>
              <a:ext uri="{FF2B5EF4-FFF2-40B4-BE49-F238E27FC236}">
                <a16:creationId xmlns:a16="http://schemas.microsoft.com/office/drawing/2014/main" id="{CFB5F4A6-1B62-6CAC-BE69-F5A6BF2C11C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solidFill>
                  <a:srgbClr val="0000CC"/>
                </a:solidFill>
              </a:defRPr>
            </a:lvl1pPr>
          </a:lstStyle>
          <a:p>
            <a:r>
              <a:rPr lang="en-US" altLang="en-US"/>
              <a:t>Intro </a:t>
            </a:r>
            <a:fld id="{0004219E-1D84-45AC-977F-1DE261834033}" type="slidenum">
              <a:rPr lang="en-US" altLang="en-US"/>
              <a:pPr/>
              <a:t>‹#›</a:t>
            </a:fld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407558" name="Rectangle 6">
            <a:extLst>
              <a:ext uri="{FF2B5EF4-FFF2-40B4-BE49-F238E27FC236}">
                <a16:creationId xmlns:a16="http://schemas.microsoft.com/office/drawing/2014/main" id="{30DC7805-F2DD-6EB2-B3F3-19535A96521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solidFill>
                  <a:srgbClr val="0000CC"/>
                </a:solidFill>
              </a:defRPr>
            </a:lvl1pPr>
          </a:lstStyle>
          <a:p>
            <a:r>
              <a:rPr lang="en-US" altLang="en-US"/>
              <a:t>Comp 122, Spring 2004</a:t>
            </a:r>
          </a:p>
        </p:txBody>
      </p:sp>
    </p:spTree>
    <p:extLst>
      <p:ext uri="{BB962C8B-B14F-4D97-AF65-F5344CB8AC3E}">
        <p14:creationId xmlns:p14="http://schemas.microsoft.com/office/powerpoint/2010/main" val="7522968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05010-9164-D5B5-B218-0A71508AA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15558-5DD2-C663-4BD4-3DE6F9F3E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D6C2FF-9990-842B-769A-3800977021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 122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B21E86-C1B9-FBC4-7A9D-4798D41B68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Intro </a:t>
            </a:r>
            <a:fld id="{C075057B-D259-4E0B-BD58-BBFA407255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52040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F463F-5A1C-EFDB-748F-9D6875062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9A802-1170-9F98-0C02-854DDFEA2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B80F9C-C388-E3FD-9250-A9479CA6CB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 122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9E227E-D815-1C3D-FE15-72057FDA11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Intro </a:t>
            </a:r>
            <a:fld id="{F30DECE8-5AE3-4BFD-9A92-42DCDA1FAD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57550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CF235-E788-FB46-C6C8-A20EF1658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18228-8E67-9EAC-8C51-89190D176F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219200"/>
            <a:ext cx="41529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DD36EC-66E3-27D3-62FE-9F54DC6BA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0100" y="1219200"/>
            <a:ext cx="41529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7D662-D52D-EE59-814F-2043FCCD3F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 122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CD586-2F33-E2E0-BFD1-57A959F5C8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Intro </a:t>
            </a:r>
            <a:fld id="{261945E0-9E64-489B-B9EF-BAEC3866C0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40616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205B-9B83-5779-14A9-6352AFEEF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37451-82BF-BFDF-D3D6-7AD13229B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BC581-2BD5-B10C-D3E6-203DDEED9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06B339-E926-16D6-3135-1C08A3A792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432185-E096-4B37-5130-674EBBAD83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D35B9D-BF7E-CA33-E669-754542C448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 122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AFBB21-37C9-893B-A5C3-07DE048C5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Intro </a:t>
            </a:r>
            <a:fld id="{D10411A3-7853-4562-8628-3BDFFDA83F9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49904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6A9D2-3E6D-7B2D-D9BB-CEC79AB27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72776A-6661-8895-2FB4-532834A765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 122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0EB52-99EB-E7C8-3544-7683A7E8E8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Intro </a:t>
            </a:r>
            <a:fld id="{77D43DA6-56AB-4090-A4CF-7A42DAD5E1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278346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7010613-3189-F798-80D5-C7C29AFEED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 122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BD6843-4D83-9BD1-4C10-2CE7E03FCF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Intro </a:t>
            </a:r>
            <a:fld id="{B2A875AD-C13E-4110-9F64-75F9CFDD1D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706676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331AD-86F5-8E36-AC58-9A8A4606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48476-7D9D-72CA-734D-A0F0A9886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B2B488-2CC6-8854-D644-B506CDE2F5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BAF14-7CB8-A9D6-8F1D-6762BEF37C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 122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8B7FA-E3E3-EF49-99C0-F6072C410B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Intro </a:t>
            </a:r>
            <a:fld id="{47A5CD52-E898-4AC6-A9EF-AE50C2C392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590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31563-FDB6-71C6-3685-1741CDC4B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8FF33C-F4C3-1FBC-78A9-BB1C95A748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AE49F-B22E-E74F-B478-DE48BD378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FAC6A-E112-1FCB-DD4A-D7BDFD2230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 122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378C9-AE2A-3C8C-A0D3-D50E53EB31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Intro </a:t>
            </a:r>
            <a:fld id="{4FB11513-1FE8-4995-BB13-6009A559AD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63985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AFCD8-A353-C3C9-D90C-846C42B79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F073F-3017-9FFE-ED0E-644F8CE93B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E13062-988E-EB8C-F2FF-51A793F201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 122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78B862-5E31-362A-0F06-85B394C7DB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Intro </a:t>
            </a:r>
            <a:fld id="{59C5A9D9-018A-4BC5-AFF1-1128716A186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34045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375679-D6CE-1EE5-67D3-701A805E11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4413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14746C-89C7-271D-00E4-B2D6114ED1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E95D07-8F1A-D5B3-6105-ACCA157128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 122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ACC0CB-CB81-6E11-315D-D07F0445A1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Intro </a:t>
            </a:r>
            <a:fld id="{9525379E-7410-4B15-93D5-F2028DF90D6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1195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53130-4A94-A2E7-75D0-77B22CB11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2413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1F36C-ECAF-3BEE-3E18-AE24B7D719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219200"/>
            <a:ext cx="41529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8C4115-FBCF-92E0-2CAB-484B6E3BCEC2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10100" y="1219200"/>
            <a:ext cx="41529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7459A1-1AE1-39C5-FA51-EA9475221AE6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10100" y="3733800"/>
            <a:ext cx="41529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7970C8-0820-D599-2762-59A7134C82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657600" y="638175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Comp 122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93043-E132-C529-504A-B5706F593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001000" y="6418263"/>
            <a:ext cx="914400" cy="382587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Intro </a:t>
            </a:r>
            <a:fld id="{DC7E0185-321B-448D-BE80-BEB259A2A9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8502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E201FA4-F758-CC78-3BAA-5FAF9E462B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81000"/>
            <a:ext cx="7772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DABEE97-BEDC-5154-D74D-627A01CEFC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716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2430F8F8-8B74-466C-B13C-98A96717AAB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25F6A869-95E3-4987-A0A9-010D98CF75C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2" name="Rectangle 6">
            <a:extLst>
              <a:ext uri="{FF2B5EF4-FFF2-40B4-BE49-F238E27FC236}">
                <a16:creationId xmlns:a16="http://schemas.microsoft.com/office/drawing/2014/main" id="{209FD3C5-4CCF-4BF0-A2FA-9992619DD8B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anose="020B0604020202020204" pitchFamily="34" charset="0"/>
              </a:defRPr>
            </a:lvl1pPr>
          </a:lstStyle>
          <a:p>
            <a:fld id="{7CAC4232-0ABF-486E-AF6C-F59AA750154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73AA132-A622-3F4F-A40F-2EADC64B1B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76200"/>
            <a:ext cx="9144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5DB34C0-661E-DD48-1556-42701CC787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838200"/>
            <a:ext cx="9144000" cy="5287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271B3192-AA10-4039-89E3-0E9229D6018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F2D2474C-1834-48A8-8A2C-7F9A4747015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480D8760-00A4-4D13-91A3-80E83859A11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C4DBEE68-CE4C-4D2A-A08D-A28346A5FF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779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>
            <a:extLst>
              <a:ext uri="{FF2B5EF4-FFF2-40B4-BE49-F238E27FC236}">
                <a16:creationId xmlns:a16="http://schemas.microsoft.com/office/drawing/2014/main" id="{E810A160-4989-CC27-01E7-5AA94D534E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2413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06531" name="Rectangle 3">
            <a:extLst>
              <a:ext uri="{FF2B5EF4-FFF2-40B4-BE49-F238E27FC236}">
                <a16:creationId xmlns:a16="http://schemas.microsoft.com/office/drawing/2014/main" id="{0AE21748-68E3-0FCF-FA8B-97C9CE5089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219200"/>
            <a:ext cx="84582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06532" name="Rectangle 4">
            <a:extLst>
              <a:ext uri="{FF2B5EF4-FFF2-40B4-BE49-F238E27FC236}">
                <a16:creationId xmlns:a16="http://schemas.microsoft.com/office/drawing/2014/main" id="{396E98BD-21B1-E606-21AC-C4A4B26D813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hlink"/>
                </a:solidFill>
              </a:defRPr>
            </a:lvl1pPr>
          </a:lstStyle>
          <a:p>
            <a:r>
              <a:rPr lang="en-US" altLang="en-US"/>
              <a:t>Comp 122</a:t>
            </a:r>
          </a:p>
        </p:txBody>
      </p:sp>
      <p:sp>
        <p:nvSpPr>
          <p:cNvPr id="406533" name="Rectangle 5">
            <a:extLst>
              <a:ext uri="{FF2B5EF4-FFF2-40B4-BE49-F238E27FC236}">
                <a16:creationId xmlns:a16="http://schemas.microsoft.com/office/drawing/2014/main" id="{EBFDA320-E492-15C9-7C31-11C8D9CD7DA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6418263"/>
            <a:ext cx="914400" cy="382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hlink"/>
                </a:solidFill>
              </a:defRPr>
            </a:lvl1pPr>
          </a:lstStyle>
          <a:p>
            <a:r>
              <a:rPr lang="en-US" altLang="en-US"/>
              <a:t>Intro </a:t>
            </a:r>
            <a:fld id="{3741C448-E3F5-4F17-9BC1-198BD300D97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06534" name="Text Box 6">
            <a:extLst>
              <a:ext uri="{FF2B5EF4-FFF2-40B4-BE49-F238E27FC236}">
                <a16:creationId xmlns:a16="http://schemas.microsoft.com/office/drawing/2014/main" id="{8EEA185C-B61E-05CE-6CE8-71F1B5BD1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456363"/>
            <a:ext cx="11414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>
                <a:solidFill>
                  <a:schemeClr val="hlink"/>
                </a:solidFill>
              </a:rPr>
              <a:t>heapsort - </a:t>
            </a:r>
            <a:fld id="{D06A2674-E160-467F-8C0B-D541C63AE540}" type="slidenum">
              <a:rPr lang="en-US" altLang="en-US" sz="1400">
                <a:solidFill>
                  <a:schemeClr val="hlink"/>
                </a:solidFill>
              </a:rPr>
              <a:pPr/>
              <a:t>‹#›</a:t>
            </a:fld>
            <a:endParaRPr lang="en-US" altLang="en-US" sz="1400">
              <a:solidFill>
                <a:schemeClr val="hlink"/>
              </a:solidFill>
            </a:endParaRPr>
          </a:p>
        </p:txBody>
      </p:sp>
      <p:sp>
        <p:nvSpPr>
          <p:cNvPr id="406535" name="Text Box 7">
            <a:extLst>
              <a:ext uri="{FF2B5EF4-FFF2-40B4-BE49-F238E27FC236}">
                <a16:creationId xmlns:a16="http://schemas.microsoft.com/office/drawing/2014/main" id="{BA2E749A-90EB-DCB9-7390-C80577C3B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3825" y="6400800"/>
            <a:ext cx="914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>
                <a:solidFill>
                  <a:schemeClr val="hlink"/>
                </a:solidFill>
              </a:rPr>
              <a:t>Lin / Devi</a:t>
            </a:r>
          </a:p>
        </p:txBody>
      </p:sp>
    </p:spTree>
    <p:extLst>
      <p:ext uri="{BB962C8B-B14F-4D97-AF65-F5344CB8AC3E}">
        <p14:creationId xmlns:p14="http://schemas.microsoft.com/office/powerpoint/2010/main" val="60241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u="sng" kern="1200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w"/>
        <a:defRPr sz="3200" kern="1200">
          <a:solidFill>
            <a:srgbClr val="01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>
            <a:extLst>
              <a:ext uri="{FF2B5EF4-FFF2-40B4-BE49-F238E27FC236}">
                <a16:creationId xmlns:a16="http://schemas.microsoft.com/office/drawing/2014/main" id="{9426530F-5A60-CE92-3A30-1517994B2A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998E058-5B11-443D-8083-2DD3DB095B6B}" type="slidenum">
              <a:rPr lang="en-US" altLang="en-US" sz="140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C6A5FA49-2D67-68E9-89C2-DDAB1BB477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tx1"/>
                </a:solidFill>
              </a:rPr>
              <a:t>Sorting Definitions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2011817B-9562-4C52-D387-8B620C8A63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>
                <a:solidFill>
                  <a:schemeClr val="tx1"/>
                </a:solidFill>
              </a:rPr>
              <a:t>In-place sorting</a:t>
            </a:r>
          </a:p>
          <a:p>
            <a:pPr lvl="1" eaLnBrk="1" hangingPunct="1"/>
            <a:r>
              <a:rPr lang="en-US" altLang="en-US" sz="2800" dirty="0"/>
              <a:t>Sorting of a data structure does not require any external data structure for storing the intermediate steps</a:t>
            </a:r>
            <a:br>
              <a:rPr lang="en-US" altLang="en-US" sz="2800" dirty="0"/>
            </a:br>
            <a:endParaRPr lang="en-US" altLang="en-US" sz="2800" dirty="0"/>
          </a:p>
          <a:p>
            <a:pPr marL="0" indent="0" eaLnBrk="1" hangingPunct="1">
              <a:buNone/>
            </a:pPr>
            <a:r>
              <a:rPr lang="en-US" altLang="en-US" sz="2800" b="1" dirty="0">
                <a:solidFill>
                  <a:schemeClr val="tx1"/>
                </a:solidFill>
              </a:rPr>
              <a:t>Stable sorting</a:t>
            </a:r>
            <a:r>
              <a:rPr lang="en-US" altLang="en-US" sz="2800" dirty="0"/>
              <a:t> </a:t>
            </a:r>
          </a:p>
          <a:p>
            <a:pPr lvl="1" eaLnBrk="1" hangingPunct="1"/>
            <a:r>
              <a:rPr lang="en-US" altLang="en-US" sz="2800" dirty="0"/>
              <a:t>If the same element is present multiple times, then they retain the original relative order of positions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>
            <a:extLst>
              <a:ext uri="{FF2B5EF4-FFF2-40B4-BE49-F238E27FC236}">
                <a16:creationId xmlns:a16="http://schemas.microsoft.com/office/drawing/2014/main" id="{73CFB92B-1E65-DBDF-69AC-E2C3CE4A94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0999"/>
            <a:ext cx="9144000" cy="685800"/>
          </a:xfrm>
        </p:spPr>
        <p:txBody>
          <a:bodyPr/>
          <a:lstStyle/>
          <a:p>
            <a:pPr eaLnBrk="1" hangingPunct="1"/>
            <a:r>
              <a:rPr lang="en-US" altLang="en-US"/>
              <a:t>Heapsort</a:t>
            </a:r>
          </a:p>
        </p:txBody>
      </p:sp>
      <p:sp>
        <p:nvSpPr>
          <p:cNvPr id="3077" name="Rectangle 3">
            <a:extLst>
              <a:ext uri="{FF2B5EF4-FFF2-40B4-BE49-F238E27FC236}">
                <a16:creationId xmlns:a16="http://schemas.microsoft.com/office/drawing/2014/main" id="{57B8D258-0E12-B6E2-D5A4-0586ED1351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839200" cy="42672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b="1" dirty="0" err="1"/>
              <a:t>MergeSort</a:t>
            </a:r>
            <a:r>
              <a:rPr lang="en-US" altLang="en-US" dirty="0"/>
              <a:t> is O(n log n)</a:t>
            </a:r>
          </a:p>
          <a:p>
            <a:pPr lvl="1" eaLnBrk="1" hangingPunct="1"/>
            <a:r>
              <a:rPr lang="en-US" altLang="en-US" dirty="0"/>
              <a:t>but temporarily requires extra storage</a:t>
            </a:r>
          </a:p>
          <a:p>
            <a:pPr marL="0" indent="0" eaLnBrk="1" hangingPunct="1">
              <a:buNone/>
            </a:pPr>
            <a:r>
              <a:rPr lang="en-US" altLang="en-US" b="1" dirty="0"/>
              <a:t>Heapsort</a:t>
            </a:r>
            <a:r>
              <a:rPr lang="en-US" altLang="en-US" i="1" u="sng" dirty="0"/>
              <a:t> </a:t>
            </a:r>
            <a:r>
              <a:rPr lang="en-US" altLang="en-US" dirty="0"/>
              <a:t>is O(n log n)</a:t>
            </a:r>
          </a:p>
          <a:p>
            <a:pPr lvl="1" eaLnBrk="1" hangingPunct="1"/>
            <a:r>
              <a:rPr lang="en-US" altLang="en-US" dirty="0"/>
              <a:t>works in place (no additional storage)</a:t>
            </a:r>
          </a:p>
          <a:p>
            <a:pPr eaLnBrk="1" hangingPunct="1"/>
            <a:endParaRPr lang="en-US" altLang="en-US" dirty="0"/>
          </a:p>
          <a:p>
            <a:pPr marL="0" indent="0" eaLnBrk="1" hangingPunct="1">
              <a:buNone/>
            </a:pPr>
            <a:r>
              <a:rPr lang="en-US" altLang="en-US" dirty="0"/>
              <a:t>Idea:</a:t>
            </a:r>
          </a:p>
          <a:p>
            <a:pPr lvl="1" eaLnBrk="1" hangingPunct="1"/>
            <a:r>
              <a:rPr lang="en-US" altLang="en-US" dirty="0"/>
              <a:t>Insert each element into a max heap</a:t>
            </a:r>
          </a:p>
          <a:p>
            <a:pPr lvl="1" eaLnBrk="1" hangingPunct="1"/>
            <a:r>
              <a:rPr lang="en-US" altLang="en-US" dirty="0"/>
              <a:t>Repeatedly remove from max heap to array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>
            <a:extLst>
              <a:ext uri="{FF2B5EF4-FFF2-40B4-BE49-F238E27FC236}">
                <a16:creationId xmlns:a16="http://schemas.microsoft.com/office/drawing/2014/main" id="{2F24B457-D36C-16CB-407C-52BCC2773E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Heapsort</a:t>
            </a:r>
          </a:p>
        </p:txBody>
      </p:sp>
      <p:sp>
        <p:nvSpPr>
          <p:cNvPr id="428035" name="Rectangle 3">
            <a:extLst>
              <a:ext uri="{FF2B5EF4-FFF2-40B4-BE49-F238E27FC236}">
                <a16:creationId xmlns:a16="http://schemas.microsoft.com/office/drawing/2014/main" id="{D440865D-1E48-ACC7-45A3-A9D7DDDFA9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447799"/>
            <a:ext cx="8458200" cy="4799013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sz="4400" dirty="0"/>
              <a:t>The idea is to maintain the as yet unsorted elements as a max-heap. The largest of the unsorted elements will be at the root. Move it to the sorted part. and re-</a:t>
            </a:r>
            <a:r>
              <a:rPr lang="en-US" altLang="en-US" sz="4400" dirty="0" err="1"/>
              <a:t>heapify</a:t>
            </a:r>
            <a:r>
              <a:rPr lang="en-US" altLang="en-US" sz="4400" dirty="0"/>
              <a:t> the unsorted part.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BC0EA0-5F8A-3982-CB60-568F369A01C8}"/>
              </a:ext>
            </a:extLst>
          </p:cNvPr>
          <p:cNvSpPr/>
          <p:nvPr/>
        </p:nvSpPr>
        <p:spPr bwMode="auto">
          <a:xfrm>
            <a:off x="8021" y="6149725"/>
            <a:ext cx="1143000" cy="684212"/>
          </a:xfrm>
          <a:prstGeom prst="rect">
            <a:avLst/>
          </a:prstGeom>
          <a:solidFill>
            <a:srgbClr val="FFFFCC"/>
          </a:solidFill>
          <a:ln w="12700" cap="flat" cmpd="sng" algn="ctr">
            <a:solidFill>
              <a:srgbClr val="FFFFCC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>
            <a:extLst>
              <a:ext uri="{FF2B5EF4-FFF2-40B4-BE49-F238E27FC236}">
                <a16:creationId xmlns:a16="http://schemas.microsoft.com/office/drawing/2014/main" id="{2F24B457-D36C-16CB-407C-52BCC2773E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Heapsort</a:t>
            </a:r>
          </a:p>
        </p:txBody>
      </p:sp>
      <p:sp>
        <p:nvSpPr>
          <p:cNvPr id="428035" name="Rectangle 3">
            <a:extLst>
              <a:ext uri="{FF2B5EF4-FFF2-40B4-BE49-F238E27FC236}">
                <a16:creationId xmlns:a16="http://schemas.microsoft.com/office/drawing/2014/main" id="{D440865D-1E48-ACC7-45A3-A9D7DDDFA9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2" y="1219201"/>
            <a:ext cx="9135978" cy="50276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Start by building a max-heap on all elements in </a:t>
            </a:r>
            <a:r>
              <a:rPr lang="en-US" altLang="en-US" i="1" dirty="0"/>
              <a:t>A.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Repeat until all are sorted.</a:t>
            </a:r>
          </a:p>
          <a:p>
            <a:pPr lvl="1">
              <a:lnSpc>
                <a:spcPct val="90000"/>
              </a:lnSpc>
            </a:pPr>
            <a:r>
              <a:rPr lang="en-US" altLang="en-US" sz="3200" dirty="0"/>
              <a:t>Swap the maximum element to the end of the unsorted partition, which will be its final position.</a:t>
            </a:r>
          </a:p>
          <a:p>
            <a:pPr lvl="1">
              <a:lnSpc>
                <a:spcPct val="90000"/>
              </a:lnSpc>
            </a:pPr>
            <a:r>
              <a:rPr lang="en-US" altLang="en-US" sz="3200" dirty="0"/>
              <a:t>“Discard” </a:t>
            </a:r>
            <a:r>
              <a:rPr lang="en-US" altLang="en-US" sz="3200" i="1" dirty="0"/>
              <a:t>A</a:t>
            </a:r>
            <a:r>
              <a:rPr lang="en-US" altLang="en-US" sz="3200" dirty="0"/>
              <a:t>[</a:t>
            </a:r>
            <a:r>
              <a:rPr lang="en-US" altLang="en-US" sz="3200" i="1" dirty="0"/>
              <a:t>n</a:t>
            </a:r>
            <a:r>
              <a:rPr lang="en-US" altLang="en-US" sz="3200" dirty="0"/>
              <a:t>] by decrementing the heap size. The it is now the first element in the sorted part of the array.</a:t>
            </a:r>
          </a:p>
          <a:p>
            <a:pPr lvl="1">
              <a:lnSpc>
                <a:spcPct val="90000"/>
              </a:lnSpc>
            </a:pPr>
            <a:r>
              <a:rPr lang="en-US" altLang="en-US" sz="3200" dirty="0"/>
              <a:t>Restore the max-heap property on </a:t>
            </a:r>
            <a:r>
              <a:rPr lang="en-US" altLang="en-US" sz="3200" i="1" dirty="0"/>
              <a:t>A</a:t>
            </a:r>
            <a:r>
              <a:rPr lang="en-US" altLang="en-US" sz="3200" dirty="0"/>
              <a:t>[0..</a:t>
            </a:r>
            <a:r>
              <a:rPr lang="en-US" altLang="en-US" sz="3200" i="1" dirty="0"/>
              <a:t>n</a:t>
            </a:r>
            <a:r>
              <a:rPr lang="en-US" altLang="en-US" sz="3200" dirty="0"/>
              <a:t>–1], the unsorted part of the array.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E32218-AEBD-6412-CCD5-49EE2E3FC4A8}"/>
              </a:ext>
            </a:extLst>
          </p:cNvPr>
          <p:cNvSpPr/>
          <p:nvPr/>
        </p:nvSpPr>
        <p:spPr bwMode="auto">
          <a:xfrm>
            <a:off x="8021" y="6149725"/>
            <a:ext cx="1143000" cy="684212"/>
          </a:xfrm>
          <a:prstGeom prst="rect">
            <a:avLst/>
          </a:prstGeom>
          <a:solidFill>
            <a:srgbClr val="FFFFCC"/>
          </a:solidFill>
          <a:ln w="12700" cap="flat" cmpd="sng" algn="ctr">
            <a:solidFill>
              <a:srgbClr val="FFFFCC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145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procedures for implementing heap sort">
            <a:extLst>
              <a:ext uri="{FF2B5EF4-FFF2-40B4-BE49-F238E27FC236}">
                <a16:creationId xmlns:a16="http://schemas.microsoft.com/office/drawing/2014/main" id="{2C7A49F6-9677-3D36-21D5-630D28AB5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4" t="932" b="93285"/>
          <a:stretch>
            <a:fillRect/>
          </a:stretch>
        </p:blipFill>
        <p:spPr bwMode="auto">
          <a:xfrm>
            <a:off x="223838" y="0"/>
            <a:ext cx="8915400" cy="330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2" descr="procedures for implementing heap sort">
            <a:extLst>
              <a:ext uri="{FF2B5EF4-FFF2-40B4-BE49-F238E27FC236}">
                <a16:creationId xmlns:a16="http://schemas.microsoft.com/office/drawing/2014/main" id="{8EBDAB54-417D-14E9-07DE-5941A45B8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4" t="6667" r="3999" b="86935"/>
          <a:stretch>
            <a:fillRect/>
          </a:stretch>
        </p:blipFill>
        <p:spPr bwMode="auto">
          <a:xfrm>
            <a:off x="381000" y="3232150"/>
            <a:ext cx="8458200" cy="362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procedures for implementing heap sort">
            <a:extLst>
              <a:ext uri="{FF2B5EF4-FFF2-40B4-BE49-F238E27FC236}">
                <a16:creationId xmlns:a16="http://schemas.microsoft.com/office/drawing/2014/main" id="{A4DF2ADB-35BC-C9EC-E26E-750FBDCA0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8" t="13461" r="4092" b="81113"/>
          <a:stretch>
            <a:fillRect/>
          </a:stretch>
        </p:blipFill>
        <p:spPr bwMode="auto">
          <a:xfrm>
            <a:off x="190500" y="204788"/>
            <a:ext cx="8763000" cy="321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2" descr="procedures for implementing heap sort">
            <a:extLst>
              <a:ext uri="{FF2B5EF4-FFF2-40B4-BE49-F238E27FC236}">
                <a16:creationId xmlns:a16="http://schemas.microsoft.com/office/drawing/2014/main" id="{02C4808E-138B-E742-978F-DBE7C79CE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7" t="18889" r="3508" b="75719"/>
          <a:stretch>
            <a:fillRect/>
          </a:stretch>
        </p:blipFill>
        <p:spPr bwMode="auto">
          <a:xfrm>
            <a:off x="190500" y="3633788"/>
            <a:ext cx="85344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procedures for implementing heap sort">
            <a:extLst>
              <a:ext uri="{FF2B5EF4-FFF2-40B4-BE49-F238E27FC236}">
                <a16:creationId xmlns:a16="http://schemas.microsoft.com/office/drawing/2014/main" id="{71A6ED7B-28F2-1718-D4BD-9EAD5F0A6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0" t="24731" b="68889"/>
          <a:stretch>
            <a:fillRect/>
          </a:stretch>
        </p:blipFill>
        <p:spPr bwMode="auto">
          <a:xfrm>
            <a:off x="228600" y="139700"/>
            <a:ext cx="8686800" cy="360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2" descr="procedures for implementing heap sort">
            <a:extLst>
              <a:ext uri="{FF2B5EF4-FFF2-40B4-BE49-F238E27FC236}">
                <a16:creationId xmlns:a16="http://schemas.microsoft.com/office/drawing/2014/main" id="{33C1B0C2-F622-E50E-D5CE-870A1C77A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3" t="30721" r="2449" b="63257"/>
          <a:stretch>
            <a:fillRect/>
          </a:stretch>
        </p:blipFill>
        <p:spPr bwMode="auto">
          <a:xfrm>
            <a:off x="0" y="3276600"/>
            <a:ext cx="86106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procedures for implementing heap sort">
            <a:extLst>
              <a:ext uri="{FF2B5EF4-FFF2-40B4-BE49-F238E27FC236}">
                <a16:creationId xmlns:a16="http://schemas.microsoft.com/office/drawing/2014/main" id="{FC66E6BE-40F9-A7F1-B5A4-3CF2B92D0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2" t="37778" r="3670" b="56358"/>
          <a:stretch>
            <a:fillRect/>
          </a:stretch>
        </p:blipFill>
        <p:spPr bwMode="auto">
          <a:xfrm>
            <a:off x="304800" y="46038"/>
            <a:ext cx="8534400" cy="3395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2" descr="procedures for implementing heap sort">
            <a:extLst>
              <a:ext uri="{FF2B5EF4-FFF2-40B4-BE49-F238E27FC236}">
                <a16:creationId xmlns:a16="http://schemas.microsoft.com/office/drawing/2014/main" id="{584AAF71-D878-72B6-2DD0-3421E07F9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3" t="43980" r="3955" b="50618"/>
          <a:stretch>
            <a:fillRect/>
          </a:stretch>
        </p:blipFill>
        <p:spPr bwMode="auto">
          <a:xfrm>
            <a:off x="327025" y="3624263"/>
            <a:ext cx="8283575" cy="308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procedures for implementing heap sort">
            <a:extLst>
              <a:ext uri="{FF2B5EF4-FFF2-40B4-BE49-F238E27FC236}">
                <a16:creationId xmlns:a16="http://schemas.microsoft.com/office/drawing/2014/main" id="{FE9D656A-11E2-39E8-A71A-1F3A04291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2" t="49573" r="2194" b="44872"/>
          <a:stretch>
            <a:fillRect/>
          </a:stretch>
        </p:blipFill>
        <p:spPr bwMode="auto">
          <a:xfrm>
            <a:off x="152400" y="290513"/>
            <a:ext cx="8943975" cy="329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2" descr="procedures for implementing heap sort">
            <a:extLst>
              <a:ext uri="{FF2B5EF4-FFF2-40B4-BE49-F238E27FC236}">
                <a16:creationId xmlns:a16="http://schemas.microsoft.com/office/drawing/2014/main" id="{3B125D54-27D0-84B2-024A-55A910E1D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2" t="55234" r="3922" b="39462"/>
          <a:stretch>
            <a:fillRect/>
          </a:stretch>
        </p:blipFill>
        <p:spPr bwMode="auto">
          <a:xfrm>
            <a:off x="381000" y="3741738"/>
            <a:ext cx="8382000" cy="304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procedures for implementing heap sort">
            <a:extLst>
              <a:ext uri="{FF2B5EF4-FFF2-40B4-BE49-F238E27FC236}">
                <a16:creationId xmlns:a16="http://schemas.microsoft.com/office/drawing/2014/main" id="{01E90AAD-E55D-2D4D-D91D-F1EA92FC5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3" t="60406" r="3734" b="34851"/>
          <a:stretch>
            <a:fillRect/>
          </a:stretch>
        </p:blipFill>
        <p:spPr bwMode="auto">
          <a:xfrm>
            <a:off x="234950" y="457200"/>
            <a:ext cx="82296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2" descr="procedures for implementing heap sort">
            <a:extLst>
              <a:ext uri="{FF2B5EF4-FFF2-40B4-BE49-F238E27FC236}">
                <a16:creationId xmlns:a16="http://schemas.microsoft.com/office/drawing/2014/main" id="{31642D27-EA76-216D-D06E-F55DD2CED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15" t="65555" r="2679" b="30495"/>
          <a:stretch>
            <a:fillRect/>
          </a:stretch>
        </p:blipFill>
        <p:spPr bwMode="auto">
          <a:xfrm>
            <a:off x="219075" y="3325813"/>
            <a:ext cx="8858250" cy="246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procedures for implementing heap sort">
            <a:extLst>
              <a:ext uri="{FF2B5EF4-FFF2-40B4-BE49-F238E27FC236}">
                <a16:creationId xmlns:a16="http://schemas.microsoft.com/office/drawing/2014/main" id="{2807E1D2-6AB8-34E6-4DF3-131B4F25C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t="69250" r="1852" b="26067"/>
          <a:stretch>
            <a:fillRect/>
          </a:stretch>
        </p:blipFill>
        <p:spPr bwMode="auto">
          <a:xfrm>
            <a:off x="457200" y="381000"/>
            <a:ext cx="821055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2" descr="procedures for implementing heap sort">
            <a:extLst>
              <a:ext uri="{FF2B5EF4-FFF2-40B4-BE49-F238E27FC236}">
                <a16:creationId xmlns:a16="http://schemas.microsoft.com/office/drawing/2014/main" id="{EF01FEF3-F9CB-1164-ABBA-02965209E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36" t="74277" r="4919" b="21156"/>
          <a:stretch>
            <a:fillRect/>
          </a:stretch>
        </p:blipFill>
        <p:spPr bwMode="auto">
          <a:xfrm>
            <a:off x="495300" y="3429000"/>
            <a:ext cx="8172450" cy="267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procedures for implementing heap sort">
            <a:extLst>
              <a:ext uri="{FF2B5EF4-FFF2-40B4-BE49-F238E27FC236}">
                <a16:creationId xmlns:a16="http://schemas.microsoft.com/office/drawing/2014/main" id="{824F9574-4A20-B519-E6E3-9FBCFFDA7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4" t="79495" r="5556" b="16406"/>
          <a:stretch>
            <a:fillRect/>
          </a:stretch>
        </p:blipFill>
        <p:spPr bwMode="auto">
          <a:xfrm>
            <a:off x="381000" y="336550"/>
            <a:ext cx="8305800" cy="254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2" descr="procedures for implementing heap sort">
            <a:extLst>
              <a:ext uri="{FF2B5EF4-FFF2-40B4-BE49-F238E27FC236}">
                <a16:creationId xmlns:a16="http://schemas.microsoft.com/office/drawing/2014/main" id="{4FE5CC4E-0248-8E1C-0825-33E6E664A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38" t="84058" r="4373" b="11836"/>
          <a:stretch>
            <a:fillRect/>
          </a:stretch>
        </p:blipFill>
        <p:spPr bwMode="auto">
          <a:xfrm>
            <a:off x="228600" y="3733800"/>
            <a:ext cx="8458200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procedures for implementing heap sort">
            <a:extLst>
              <a:ext uri="{FF2B5EF4-FFF2-40B4-BE49-F238E27FC236}">
                <a16:creationId xmlns:a16="http://schemas.microsoft.com/office/drawing/2014/main" id="{F35F99D0-920D-06EE-6E8E-6A34C0BF8F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93" t="88075" r="2898" b="7886"/>
          <a:stretch>
            <a:fillRect/>
          </a:stretch>
        </p:blipFill>
        <p:spPr bwMode="auto">
          <a:xfrm>
            <a:off x="438150" y="180975"/>
            <a:ext cx="8305800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2" descr="procedures for implementing heap sort">
            <a:extLst>
              <a:ext uri="{FF2B5EF4-FFF2-40B4-BE49-F238E27FC236}">
                <a16:creationId xmlns:a16="http://schemas.microsoft.com/office/drawing/2014/main" id="{4CAE4232-1232-F84A-5FDF-04A1DF11F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90" t="92351" r="4349" b="4799"/>
          <a:stretch>
            <a:fillRect/>
          </a:stretch>
        </p:blipFill>
        <p:spPr bwMode="auto">
          <a:xfrm>
            <a:off x="438150" y="2979738"/>
            <a:ext cx="8305800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2" descr="procedures for implementing heap sort">
            <a:extLst>
              <a:ext uri="{FF2B5EF4-FFF2-40B4-BE49-F238E27FC236}">
                <a16:creationId xmlns:a16="http://schemas.microsoft.com/office/drawing/2014/main" id="{47299908-01AD-C14F-2092-7F4819A4C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42" t="95676" r="4347" b="1474"/>
          <a:stretch>
            <a:fillRect/>
          </a:stretch>
        </p:blipFill>
        <p:spPr bwMode="auto">
          <a:xfrm>
            <a:off x="317500" y="4819650"/>
            <a:ext cx="8509000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>
            <a:extLst>
              <a:ext uri="{FF2B5EF4-FFF2-40B4-BE49-F238E27FC236}">
                <a16:creationId xmlns:a16="http://schemas.microsoft.com/office/drawing/2014/main" id="{72D88016-291F-18A0-FD56-53F99AF4195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C8E83B62-A4C7-4484-B768-B77128808370}" type="slidenum">
              <a:rPr lang="en-US" altLang="en-US" sz="1400">
                <a:solidFill>
                  <a:schemeClr val="tx1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E06738AF-27E5-869C-D650-8825A414449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Heapsort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2F63C965-4FC9-F974-0648-A551905F626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Min heap</a:t>
            </a:r>
          </a:p>
          <a:p>
            <a:pPr lvl="1" eaLnBrk="1" hangingPunct="1"/>
            <a:r>
              <a:rPr lang="en-US" altLang="en-US"/>
              <a:t>Build a binary minHeap of N elements </a:t>
            </a:r>
          </a:p>
          <a:p>
            <a:pPr lvl="2" eaLnBrk="1" hangingPunct="1"/>
            <a:r>
              <a:rPr lang="en-US" altLang="en-US">
                <a:latin typeface="Courier" pitchFamily="1" charset="0"/>
              </a:rPr>
              <a:t>O(N)</a:t>
            </a:r>
            <a:r>
              <a:rPr lang="en-US" altLang="en-US"/>
              <a:t> time</a:t>
            </a:r>
          </a:p>
          <a:p>
            <a:pPr lvl="1" eaLnBrk="1" hangingPunct="1"/>
            <a:r>
              <a:rPr lang="en-US" altLang="en-US"/>
              <a:t>Then perform </a:t>
            </a:r>
            <a:r>
              <a:rPr lang="en-US" altLang="en-US">
                <a:latin typeface="Courier" pitchFamily="1" charset="0"/>
              </a:rPr>
              <a:t>N</a:t>
            </a:r>
            <a:r>
              <a:rPr lang="en-US" altLang="en-US"/>
              <a:t>  </a:t>
            </a:r>
            <a:r>
              <a:rPr lang="en-US" altLang="en-US" b="1">
                <a:solidFill>
                  <a:schemeClr val="accent2"/>
                </a:solidFill>
                <a:latin typeface="Courier" pitchFamily="1" charset="0"/>
              </a:rPr>
              <a:t>findMin</a:t>
            </a:r>
            <a:r>
              <a:rPr lang="en-US" altLang="en-US"/>
              <a:t> and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deleteMin</a:t>
            </a:r>
            <a:r>
              <a:rPr lang="en-US" altLang="en-US" i="1">
                <a:solidFill>
                  <a:schemeClr val="folHlink"/>
                </a:solidFill>
              </a:rPr>
              <a:t> </a:t>
            </a:r>
            <a:r>
              <a:rPr lang="en-US" altLang="en-US"/>
              <a:t>operations</a:t>
            </a:r>
          </a:p>
          <a:p>
            <a:pPr lvl="2" eaLnBrk="1" hangingPunct="1"/>
            <a:r>
              <a:rPr lang="en-US" altLang="en-US">
                <a:latin typeface="Courier" pitchFamily="1" charset="0"/>
              </a:rPr>
              <a:t>log(N)</a:t>
            </a:r>
            <a:r>
              <a:rPr lang="en-US" altLang="en-US"/>
              <a:t> time per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deleteMin</a:t>
            </a:r>
            <a:endParaRPr lang="en-US" altLang="en-US" b="1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lvl="1" eaLnBrk="1" hangingPunct="1"/>
            <a:r>
              <a:rPr lang="en-US" altLang="en-US"/>
              <a:t>Total complexity </a:t>
            </a:r>
            <a:r>
              <a:rPr lang="en-US" altLang="en-US">
                <a:latin typeface="Courier" pitchFamily="1" charset="0"/>
              </a:rPr>
              <a:t>O(N log N)</a:t>
            </a:r>
          </a:p>
          <a:p>
            <a:pPr lvl="1" eaLnBrk="1" hangingPunct="1"/>
            <a:r>
              <a:rPr lang="en-US" altLang="en-US"/>
              <a:t>It requires an extra array to store the results</a:t>
            </a:r>
          </a:p>
          <a:p>
            <a:pPr eaLnBrk="1" hangingPunct="1"/>
            <a:r>
              <a:rPr lang="en-US" altLang="en-US"/>
              <a:t>Max heap</a:t>
            </a:r>
          </a:p>
          <a:p>
            <a:pPr lvl="1" eaLnBrk="1" hangingPunct="1"/>
            <a:r>
              <a:rPr lang="en-US" altLang="en-US"/>
              <a:t>Storing deleted elements at the end avoid the need for an extra element</a:t>
            </a:r>
            <a:endParaRPr lang="en-US" altLang="en-US" i="1">
              <a:latin typeface="Chalkboard Bold" pitchFamily="1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1FED9FBE-3CEE-4B5D-D746-B20566C6D8F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A18A5B6-3BD0-49BC-A8F8-B2698BD1CA59}" type="slidenum">
              <a:rPr lang="en-US" altLang="en-US" sz="1400">
                <a:solidFill>
                  <a:schemeClr val="tx1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EF41539F-B700-BD27-DA51-50B8AE3445E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Heapsort Implementation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472710B6-0D15-BE24-B61A-3DE42B45868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19461" name="Picture 4" descr="fig07_10">
            <a:extLst>
              <a:ext uri="{FF2B5EF4-FFF2-40B4-BE49-F238E27FC236}">
                <a16:creationId xmlns:a16="http://schemas.microsoft.com/office/drawing/2014/main" id="{324F1404-3C13-71D1-4CE8-C733583D5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515"/>
          <a:stretch>
            <a:fillRect/>
          </a:stretch>
        </p:blipFill>
        <p:spPr bwMode="auto">
          <a:xfrm>
            <a:off x="76200" y="1295400"/>
            <a:ext cx="58674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2" name="Picture 5" descr="fig07_10">
            <a:extLst>
              <a:ext uri="{FF2B5EF4-FFF2-40B4-BE49-F238E27FC236}">
                <a16:creationId xmlns:a16="http://schemas.microsoft.com/office/drawing/2014/main" id="{83F04CD1-CACC-91E3-FE71-457E85380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547"/>
          <a:stretch>
            <a:fillRect/>
          </a:stretch>
        </p:blipFill>
        <p:spPr bwMode="auto">
          <a:xfrm>
            <a:off x="3962400" y="1295400"/>
            <a:ext cx="51054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3" name="Rectangle 6">
            <a:extLst>
              <a:ext uri="{FF2B5EF4-FFF2-40B4-BE49-F238E27FC236}">
                <a16:creationId xmlns:a16="http://schemas.microsoft.com/office/drawing/2014/main" id="{4958FE7F-B404-F026-F2C6-CBD91DACE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559050"/>
            <a:ext cx="3276600" cy="3810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64" name="Rectangle 7">
            <a:extLst>
              <a:ext uri="{FF2B5EF4-FFF2-40B4-BE49-F238E27FC236}">
                <a16:creationId xmlns:a16="http://schemas.microsoft.com/office/drawing/2014/main" id="{FFE69751-51CB-233B-FE3A-AA24BA297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982913"/>
            <a:ext cx="3276600" cy="10668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4">
            <a:extLst>
              <a:ext uri="{FF2B5EF4-FFF2-40B4-BE49-F238E27FC236}">
                <a16:creationId xmlns:a16="http://schemas.microsoft.com/office/drawing/2014/main" id="{BFF751ED-F22F-0B34-0A83-F4D852C1F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Chapter 10: Sorting</a:t>
            </a:r>
          </a:p>
        </p:txBody>
      </p:sp>
      <p:sp>
        <p:nvSpPr>
          <p:cNvPr id="7171" name="Slide Number Placeholder 5">
            <a:extLst>
              <a:ext uri="{FF2B5EF4-FFF2-40B4-BE49-F238E27FC236}">
                <a16:creationId xmlns:a16="http://schemas.microsoft.com/office/drawing/2014/main" id="{340E4C3D-EDFE-D291-8585-2F0ED1F0F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74B030F-3615-4D33-83F4-2AE3257C59F9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505C083F-2C21-4FE0-11E4-43FA22E97A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Heapsort Code</a:t>
            </a: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64996315-0D69-9BFA-9FEF-68420462A7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685800"/>
            <a:ext cx="9144000" cy="5562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public static &lt;T extends Comparable&lt;T&gt;&gt;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void sort (T[] a)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</a:t>
            </a:r>
            <a:r>
              <a:rPr lang="en-US" altLang="en-US" b="1" dirty="0" err="1">
                <a:latin typeface="Consolas" panose="020B0609020204030204" pitchFamily="49" charset="0"/>
              </a:rPr>
              <a:t>buildHp</a:t>
            </a:r>
            <a:r>
              <a:rPr lang="en-US" altLang="en-US" b="1" dirty="0">
                <a:latin typeface="Consolas" panose="020B0609020204030204" pitchFamily="49" charset="0"/>
              </a:rPr>
              <a:t>(a);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</a:t>
            </a:r>
            <a:r>
              <a:rPr lang="en-US" altLang="en-US" b="1" dirty="0" err="1">
                <a:latin typeface="Consolas" panose="020B0609020204030204" pitchFamily="49" charset="0"/>
              </a:rPr>
              <a:t>shrinkHp</a:t>
            </a:r>
            <a:r>
              <a:rPr lang="en-US" altLang="en-US" b="1" dirty="0">
                <a:latin typeface="Consolas" panose="020B0609020204030204" pitchFamily="49" charset="0"/>
              </a:rPr>
              <a:t>(a);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private static ... void </a:t>
            </a:r>
            <a:r>
              <a:rPr lang="en-US" altLang="en-US" b="1" dirty="0" err="1">
                <a:latin typeface="Consolas" panose="020B0609020204030204" pitchFamily="49" charset="0"/>
              </a:rPr>
              <a:t>buildHp</a:t>
            </a:r>
            <a:r>
              <a:rPr lang="en-US" altLang="en-US" b="1" dirty="0">
                <a:latin typeface="Consolas" panose="020B0609020204030204" pitchFamily="49" charset="0"/>
              </a:rPr>
              <a:t> (T[] a)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for (int n = 2; n &lt;= </a:t>
            </a:r>
            <a:r>
              <a:rPr lang="en-US" altLang="en-US" b="1" dirty="0" err="1">
                <a:latin typeface="Consolas" panose="020B0609020204030204" pitchFamily="49" charset="0"/>
              </a:rPr>
              <a:t>a.length</a:t>
            </a:r>
            <a:r>
              <a:rPr lang="en-US" altLang="en-US" b="1" dirty="0">
                <a:latin typeface="Consolas" panose="020B0609020204030204" pitchFamily="49" charset="0"/>
              </a:rPr>
              <a:t>; n++)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int </a:t>
            </a:r>
            <a:r>
              <a:rPr lang="en-US" altLang="en-US" b="1" dirty="0" err="1">
                <a:latin typeface="Consolas" panose="020B0609020204030204" pitchFamily="49" charset="0"/>
              </a:rPr>
              <a:t>chld</a:t>
            </a:r>
            <a:r>
              <a:rPr lang="en-US" altLang="en-US" b="1" dirty="0">
                <a:latin typeface="Consolas" panose="020B0609020204030204" pitchFamily="49" charset="0"/>
              </a:rPr>
              <a:t> = n-1; // add item and </a:t>
            </a:r>
            <a:r>
              <a:rPr lang="en-US" altLang="en-US" b="1" dirty="0" err="1">
                <a:latin typeface="Consolas" panose="020B0609020204030204" pitchFamily="49" charset="0"/>
              </a:rPr>
              <a:t>reheap</a:t>
            </a:r>
            <a:endParaRPr lang="en-US" altLang="en-US" b="1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int </a:t>
            </a:r>
            <a:r>
              <a:rPr lang="en-US" altLang="en-US" b="1" dirty="0" err="1">
                <a:latin typeface="Consolas" panose="020B0609020204030204" pitchFamily="49" charset="0"/>
              </a:rPr>
              <a:t>prnt</a:t>
            </a:r>
            <a:r>
              <a:rPr lang="en-US" altLang="en-US" b="1" dirty="0">
                <a:latin typeface="Consolas" panose="020B0609020204030204" pitchFamily="49" charset="0"/>
              </a:rPr>
              <a:t> = (chld-1) / 2;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while (</a:t>
            </a:r>
            <a:r>
              <a:rPr lang="en-US" altLang="en-US" b="1" dirty="0" err="1">
                <a:latin typeface="Consolas" panose="020B0609020204030204" pitchFamily="49" charset="0"/>
              </a:rPr>
              <a:t>prnt</a:t>
            </a:r>
            <a:r>
              <a:rPr lang="en-US" altLang="en-US" b="1" dirty="0">
                <a:latin typeface="Consolas" panose="020B0609020204030204" pitchFamily="49" charset="0"/>
              </a:rPr>
              <a:t> &gt;= 0 &amp;&amp;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     a[</a:t>
            </a:r>
            <a:r>
              <a:rPr lang="en-US" altLang="en-US" b="1" dirty="0" err="1">
                <a:latin typeface="Consolas" panose="020B0609020204030204" pitchFamily="49" charset="0"/>
              </a:rPr>
              <a:t>prnt</a:t>
            </a:r>
            <a:r>
              <a:rPr lang="en-US" altLang="en-US" b="1" dirty="0">
                <a:latin typeface="Consolas" panose="020B0609020204030204" pitchFamily="49" charset="0"/>
              </a:rPr>
              <a:t>].</a:t>
            </a:r>
            <a:r>
              <a:rPr lang="en-US" altLang="en-US" b="1" dirty="0" err="1">
                <a:latin typeface="Consolas" panose="020B0609020204030204" pitchFamily="49" charset="0"/>
              </a:rPr>
              <a:t>compareTo</a:t>
            </a:r>
            <a:r>
              <a:rPr lang="en-US" altLang="en-US" b="1" dirty="0">
                <a:latin typeface="Consolas" panose="020B0609020204030204" pitchFamily="49" charset="0"/>
              </a:rPr>
              <a:t>(a[</a:t>
            </a:r>
            <a:r>
              <a:rPr lang="en-US" altLang="en-US" b="1" dirty="0" err="1">
                <a:latin typeface="Consolas" panose="020B0609020204030204" pitchFamily="49" charset="0"/>
              </a:rPr>
              <a:t>chld</a:t>
            </a:r>
            <a:r>
              <a:rPr lang="en-US" altLang="en-US" b="1" dirty="0">
                <a:latin typeface="Consolas" panose="020B0609020204030204" pitchFamily="49" charset="0"/>
              </a:rPr>
              <a:t>])&lt;0)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swap(a, </a:t>
            </a:r>
            <a:r>
              <a:rPr lang="en-US" altLang="en-US" b="1" dirty="0" err="1">
                <a:latin typeface="Consolas" panose="020B0609020204030204" pitchFamily="49" charset="0"/>
              </a:rPr>
              <a:t>prnt</a:t>
            </a:r>
            <a:r>
              <a:rPr lang="en-US" altLang="en-US" b="1" dirty="0">
                <a:latin typeface="Consolas" panose="020B0609020204030204" pitchFamily="49" charset="0"/>
              </a:rPr>
              <a:t>, </a:t>
            </a:r>
            <a:r>
              <a:rPr lang="en-US" altLang="en-US" b="1" dirty="0" err="1">
                <a:latin typeface="Consolas" panose="020B0609020204030204" pitchFamily="49" charset="0"/>
              </a:rPr>
              <a:t>chld</a:t>
            </a:r>
            <a:r>
              <a:rPr lang="en-US" altLang="en-US" b="1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</a:t>
            </a:r>
            <a:r>
              <a:rPr lang="en-US" altLang="en-US" b="1" dirty="0" err="1">
                <a:latin typeface="Consolas" panose="020B0609020204030204" pitchFamily="49" charset="0"/>
              </a:rPr>
              <a:t>chld</a:t>
            </a:r>
            <a:r>
              <a:rPr lang="en-US" altLang="en-US" b="1" dirty="0">
                <a:latin typeface="Consolas" panose="020B0609020204030204" pitchFamily="49" charset="0"/>
              </a:rPr>
              <a:t> = </a:t>
            </a:r>
            <a:r>
              <a:rPr lang="en-US" altLang="en-US" b="1" dirty="0" err="1">
                <a:latin typeface="Consolas" panose="020B0609020204030204" pitchFamily="49" charset="0"/>
              </a:rPr>
              <a:t>prnt</a:t>
            </a:r>
            <a:r>
              <a:rPr lang="en-US" altLang="en-US" b="1" dirty="0">
                <a:latin typeface="Consolas" panose="020B0609020204030204" pitchFamily="49" charset="0"/>
              </a:rPr>
              <a:t>; </a:t>
            </a:r>
            <a:r>
              <a:rPr lang="en-US" altLang="en-US" b="1" dirty="0" err="1">
                <a:latin typeface="Consolas" panose="020B0609020204030204" pitchFamily="49" charset="0"/>
              </a:rPr>
              <a:t>prnt</a:t>
            </a:r>
            <a:r>
              <a:rPr lang="en-US" altLang="en-US" b="1" dirty="0">
                <a:latin typeface="Consolas" panose="020B0609020204030204" pitchFamily="49" charset="0"/>
              </a:rPr>
              <a:t> = (chld-1)/2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} } 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4">
            <a:extLst>
              <a:ext uri="{FF2B5EF4-FFF2-40B4-BE49-F238E27FC236}">
                <a16:creationId xmlns:a16="http://schemas.microsoft.com/office/drawing/2014/main" id="{74997C02-DCF8-24B8-1A6C-6C4C6E9C0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Chapter 10: Sorting</a:t>
            </a:r>
          </a:p>
        </p:txBody>
      </p:sp>
      <p:sp>
        <p:nvSpPr>
          <p:cNvPr id="8195" name="Slide Number Placeholder 5">
            <a:extLst>
              <a:ext uri="{FF2B5EF4-FFF2-40B4-BE49-F238E27FC236}">
                <a16:creationId xmlns:a16="http://schemas.microsoft.com/office/drawing/2014/main" id="{F4C4D099-7ED9-F204-74C8-853F9456E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F24EBC-564F-4D5B-A12A-066C68F529DC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1F6997C1-0489-CBCD-CDCF-4180A544DA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Heapsort Code (2)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C7AE66EF-4030-40CF-29F3-EEBEF7EB62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685800"/>
            <a:ext cx="9144000" cy="5562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private static ... void </a:t>
            </a:r>
            <a:r>
              <a:rPr lang="en-US" altLang="en-US" b="1" dirty="0" err="1">
                <a:latin typeface="Consolas" panose="020B0609020204030204" pitchFamily="49" charset="0"/>
              </a:rPr>
              <a:t>shrinkHp</a:t>
            </a:r>
            <a:r>
              <a:rPr lang="en-US" altLang="en-US" b="1" dirty="0">
                <a:latin typeface="Consolas" panose="020B0609020204030204" pitchFamily="49" charset="0"/>
              </a:rPr>
              <a:t> (T[] a)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int n = </a:t>
            </a:r>
            <a:r>
              <a:rPr lang="en-US" altLang="en-US" b="1" dirty="0" err="1">
                <a:latin typeface="Consolas" panose="020B0609020204030204" pitchFamily="49" charset="0"/>
              </a:rPr>
              <a:t>a.length</a:t>
            </a:r>
            <a:r>
              <a:rPr lang="en-US" altLang="en-US" b="1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for (int n = a.length-1; n &gt; 0; --n)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swap(a, 0, n);  // max -&gt; next </a:t>
            </a:r>
            <a:r>
              <a:rPr lang="en-US" altLang="en-US" b="1" dirty="0" err="1">
                <a:latin typeface="Consolas" panose="020B0609020204030204" pitchFamily="49" charset="0"/>
              </a:rPr>
              <a:t>posn</a:t>
            </a:r>
            <a:endParaRPr lang="en-US" altLang="en-US" b="1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int </a:t>
            </a:r>
            <a:r>
              <a:rPr lang="en-US" altLang="en-US" b="1" dirty="0" err="1">
                <a:latin typeface="Consolas" panose="020B0609020204030204" pitchFamily="49" charset="0"/>
              </a:rPr>
              <a:t>prnt</a:t>
            </a:r>
            <a:r>
              <a:rPr lang="en-US" altLang="en-US" b="1" dirty="0">
                <a:latin typeface="Consolas" panose="020B0609020204030204" pitchFamily="49" charset="0"/>
              </a:rPr>
              <a:t> = 0;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while (true)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int lc = 2 * </a:t>
            </a:r>
            <a:r>
              <a:rPr lang="en-US" altLang="en-US" b="1" dirty="0" err="1">
                <a:latin typeface="Consolas" panose="020B0609020204030204" pitchFamily="49" charset="0"/>
              </a:rPr>
              <a:t>prnt</a:t>
            </a:r>
            <a:r>
              <a:rPr lang="en-US" altLang="en-US" b="1" dirty="0">
                <a:latin typeface="Consolas" panose="020B0609020204030204" pitchFamily="49" charset="0"/>
              </a:rPr>
              <a:t> + 1;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if (lc &gt;= n) break;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int </a:t>
            </a:r>
            <a:r>
              <a:rPr lang="en-US" altLang="en-US" b="1" dirty="0" err="1">
                <a:latin typeface="Consolas" panose="020B0609020204030204" pitchFamily="49" charset="0"/>
              </a:rPr>
              <a:t>rc</a:t>
            </a:r>
            <a:r>
              <a:rPr lang="en-US" altLang="en-US" b="1" dirty="0">
                <a:latin typeface="Consolas" panose="020B0609020204030204" pitchFamily="49" charset="0"/>
              </a:rPr>
              <a:t> = lc + 1;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int </a:t>
            </a:r>
            <a:r>
              <a:rPr lang="en-US" altLang="en-US" b="1" dirty="0" err="1">
                <a:latin typeface="Consolas" panose="020B0609020204030204" pitchFamily="49" charset="0"/>
              </a:rPr>
              <a:t>maxc</a:t>
            </a:r>
            <a:r>
              <a:rPr lang="en-US" altLang="en-US" b="1" dirty="0">
                <a:latin typeface="Consolas" panose="020B0609020204030204" pitchFamily="49" charset="0"/>
              </a:rPr>
              <a:t> = lc;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if (</a:t>
            </a:r>
            <a:r>
              <a:rPr lang="en-US" altLang="en-US" b="1" dirty="0" err="1">
                <a:latin typeface="Consolas" panose="020B0609020204030204" pitchFamily="49" charset="0"/>
              </a:rPr>
              <a:t>rc</a:t>
            </a:r>
            <a:r>
              <a:rPr lang="en-US" altLang="en-US" b="1" dirty="0">
                <a:latin typeface="Consolas" panose="020B0609020204030204" pitchFamily="49" charset="0"/>
              </a:rPr>
              <a:t> &lt; n &amp;&amp;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    a[lc].</a:t>
            </a:r>
            <a:r>
              <a:rPr lang="en-US" altLang="en-US" b="1" dirty="0" err="1">
                <a:latin typeface="Consolas" panose="020B0609020204030204" pitchFamily="49" charset="0"/>
              </a:rPr>
              <a:t>compareTo</a:t>
            </a:r>
            <a:r>
              <a:rPr lang="en-US" altLang="en-US" b="1" dirty="0">
                <a:latin typeface="Consolas" panose="020B0609020204030204" pitchFamily="49" charset="0"/>
              </a:rPr>
              <a:t>(a[</a:t>
            </a:r>
            <a:r>
              <a:rPr lang="en-US" altLang="en-US" b="1" dirty="0" err="1">
                <a:latin typeface="Consolas" panose="020B0609020204030204" pitchFamily="49" charset="0"/>
              </a:rPr>
              <a:t>rc</a:t>
            </a:r>
            <a:r>
              <a:rPr lang="en-US" altLang="en-US" b="1" dirty="0">
                <a:latin typeface="Consolas" panose="020B0609020204030204" pitchFamily="49" charset="0"/>
              </a:rPr>
              <a:t>]) &lt; 0)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  </a:t>
            </a:r>
            <a:r>
              <a:rPr lang="en-US" altLang="en-US" b="1" dirty="0" err="1">
                <a:latin typeface="Consolas" panose="020B0609020204030204" pitchFamily="49" charset="0"/>
              </a:rPr>
              <a:t>maxc</a:t>
            </a:r>
            <a:r>
              <a:rPr lang="en-US" altLang="en-US" b="1" dirty="0">
                <a:latin typeface="Consolas" panose="020B0609020204030204" pitchFamily="49" charset="0"/>
              </a:rPr>
              <a:t> = </a:t>
            </a:r>
            <a:r>
              <a:rPr lang="en-US" altLang="en-US" b="1" dirty="0" err="1">
                <a:latin typeface="Consolas" panose="020B0609020204030204" pitchFamily="49" charset="0"/>
              </a:rPr>
              <a:t>rc</a:t>
            </a:r>
            <a:r>
              <a:rPr lang="en-US" altLang="en-US" b="1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....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4">
            <a:extLst>
              <a:ext uri="{FF2B5EF4-FFF2-40B4-BE49-F238E27FC236}">
                <a16:creationId xmlns:a16="http://schemas.microsoft.com/office/drawing/2014/main" id="{1117E898-E370-5AC8-D1AC-5FA423DE9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Chapter 10: Sorting</a:t>
            </a:r>
          </a:p>
        </p:txBody>
      </p:sp>
      <p:sp>
        <p:nvSpPr>
          <p:cNvPr id="9219" name="Slide Number Placeholder 5">
            <a:extLst>
              <a:ext uri="{FF2B5EF4-FFF2-40B4-BE49-F238E27FC236}">
                <a16:creationId xmlns:a16="http://schemas.microsoft.com/office/drawing/2014/main" id="{CE521C35-5D01-C5BA-5D35-999DDFDC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E184A39-B40A-4D83-A755-75874A6FD644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693D598-9EED-68CF-6940-F5BF059C7D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Heapsort Code (3)</a:t>
            </a:r>
          </a:p>
        </p:txBody>
      </p:sp>
      <p:sp>
        <p:nvSpPr>
          <p:cNvPr id="9221" name="Rectangle 3">
            <a:extLst>
              <a:ext uri="{FF2B5EF4-FFF2-40B4-BE49-F238E27FC236}">
                <a16:creationId xmlns:a16="http://schemas.microsoft.com/office/drawing/2014/main" id="{8C84DE24-C88C-DABB-247C-5080493215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685800"/>
            <a:ext cx="9144000" cy="5562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if (a[</a:t>
            </a:r>
            <a:r>
              <a:rPr lang="en-US" altLang="en-US" b="1" dirty="0" err="1">
                <a:latin typeface="Consolas" panose="020B0609020204030204" pitchFamily="49" charset="0"/>
              </a:rPr>
              <a:t>prnt</a:t>
            </a:r>
            <a:r>
              <a:rPr lang="en-US" altLang="en-US" b="1" dirty="0">
                <a:latin typeface="Consolas" panose="020B0609020204030204" pitchFamily="49" charset="0"/>
              </a:rPr>
              <a:t>].</a:t>
            </a:r>
            <a:r>
              <a:rPr lang="en-US" altLang="en-US" b="1" dirty="0" err="1">
                <a:latin typeface="Consolas" panose="020B0609020204030204" pitchFamily="49" charset="0"/>
              </a:rPr>
              <a:t>compareTo</a:t>
            </a:r>
            <a:r>
              <a:rPr lang="en-US" altLang="en-US" b="1" dirty="0">
                <a:latin typeface="Consolas" panose="020B0609020204030204" pitchFamily="49" charset="0"/>
              </a:rPr>
              <a:t>(a[</a:t>
            </a:r>
            <a:r>
              <a:rPr lang="en-US" altLang="en-US" b="1" dirty="0" err="1">
                <a:latin typeface="Consolas" panose="020B0609020204030204" pitchFamily="49" charset="0"/>
              </a:rPr>
              <a:t>maxc</a:t>
            </a:r>
            <a:r>
              <a:rPr lang="en-US" altLang="en-US" b="1" dirty="0">
                <a:latin typeface="Consolas" panose="020B0609020204030204" pitchFamily="49" charset="0"/>
              </a:rPr>
              <a:t>])&lt;0)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  swap(a, </a:t>
            </a:r>
            <a:r>
              <a:rPr lang="en-US" altLang="en-US" b="1" dirty="0" err="1">
                <a:latin typeface="Consolas" panose="020B0609020204030204" pitchFamily="49" charset="0"/>
              </a:rPr>
              <a:t>prnt</a:t>
            </a:r>
            <a:r>
              <a:rPr lang="en-US" altLang="en-US" b="1" dirty="0">
                <a:latin typeface="Consolas" panose="020B0609020204030204" pitchFamily="49" charset="0"/>
              </a:rPr>
              <a:t>, </a:t>
            </a:r>
            <a:r>
              <a:rPr lang="en-US" altLang="en-US" b="1" dirty="0" err="1">
                <a:latin typeface="Consolas" panose="020B0609020204030204" pitchFamily="49" charset="0"/>
              </a:rPr>
              <a:t>maxc</a:t>
            </a:r>
            <a:r>
              <a:rPr lang="en-US" altLang="en-US" b="1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  </a:t>
            </a:r>
            <a:r>
              <a:rPr lang="en-US" altLang="en-US" b="1" dirty="0" err="1">
                <a:latin typeface="Consolas" panose="020B0609020204030204" pitchFamily="49" charset="0"/>
              </a:rPr>
              <a:t>prnt</a:t>
            </a:r>
            <a:r>
              <a:rPr lang="en-US" altLang="en-US" b="1" dirty="0">
                <a:latin typeface="Consolas" panose="020B0609020204030204" pitchFamily="49" charset="0"/>
              </a:rPr>
              <a:t> = </a:t>
            </a:r>
            <a:r>
              <a:rPr lang="en-US" altLang="en-US" b="1" dirty="0" err="1">
                <a:latin typeface="Consolas" panose="020B0609020204030204" pitchFamily="49" charset="0"/>
              </a:rPr>
              <a:t>maxc</a:t>
            </a:r>
            <a:r>
              <a:rPr lang="en-US" altLang="en-US" b="1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} else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  break;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private static ... void swap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(T[] a, int </a:t>
            </a:r>
            <a:r>
              <a:rPr lang="en-US" altLang="en-US" b="1" dirty="0" err="1">
                <a:latin typeface="Consolas" panose="020B0609020204030204" pitchFamily="49" charset="0"/>
              </a:rPr>
              <a:t>i</a:t>
            </a:r>
            <a:r>
              <a:rPr lang="en-US" altLang="en-US" b="1" dirty="0">
                <a:latin typeface="Consolas" panose="020B0609020204030204" pitchFamily="49" charset="0"/>
              </a:rPr>
              <a:t>, int j)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T </a:t>
            </a:r>
            <a:r>
              <a:rPr lang="en-US" altLang="en-US" b="1" dirty="0" err="1">
                <a:latin typeface="Consolas" panose="020B0609020204030204" pitchFamily="49" charset="0"/>
              </a:rPr>
              <a:t>tmp</a:t>
            </a:r>
            <a:r>
              <a:rPr lang="en-US" altLang="en-US" b="1" dirty="0">
                <a:latin typeface="Consolas" panose="020B0609020204030204" pitchFamily="49" charset="0"/>
              </a:rPr>
              <a:t> = a[</a:t>
            </a:r>
            <a:r>
              <a:rPr lang="en-US" altLang="en-US" b="1" dirty="0" err="1">
                <a:latin typeface="Consolas" panose="020B0609020204030204" pitchFamily="49" charset="0"/>
              </a:rPr>
              <a:t>i</a:t>
            </a:r>
            <a:r>
              <a:rPr lang="en-US" altLang="en-US" b="1" dirty="0">
                <a:latin typeface="Consolas" panose="020B0609020204030204" pitchFamily="49" charset="0"/>
              </a:rPr>
              <a:t>]; a[</a:t>
            </a:r>
            <a:r>
              <a:rPr lang="en-US" altLang="en-US" b="1" dirty="0" err="1">
                <a:latin typeface="Consolas" panose="020B0609020204030204" pitchFamily="49" charset="0"/>
              </a:rPr>
              <a:t>i</a:t>
            </a:r>
            <a:r>
              <a:rPr lang="en-US" altLang="en-US" b="1" dirty="0">
                <a:latin typeface="Consolas" panose="020B0609020204030204" pitchFamily="49" charset="0"/>
              </a:rPr>
              <a:t>] = a[j]; a[j] = </a:t>
            </a:r>
            <a:r>
              <a:rPr lang="en-US" altLang="en-US" b="1" dirty="0" err="1">
                <a:latin typeface="Consolas" panose="020B0609020204030204" pitchFamily="49" charset="0"/>
              </a:rPr>
              <a:t>tmp</a:t>
            </a:r>
            <a:r>
              <a:rPr lang="en-US" altLang="en-US" b="1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6">
            <a:extLst>
              <a:ext uri="{FF2B5EF4-FFF2-40B4-BE49-F238E27FC236}">
                <a16:creationId xmlns:a16="http://schemas.microsoft.com/office/drawing/2014/main" id="{E9C3BA73-D95F-7B91-76B4-64B0FD8363F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F609007-853D-4BC6-B5D7-AB32E2FDFD17}" type="slidenum">
              <a:rPr lang="en-US" altLang="en-US" sz="1400">
                <a:solidFill>
                  <a:schemeClr val="tx1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6BCD8A33-53C4-A87A-68DF-AECDEA69973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(MaxHeap)</a:t>
            </a:r>
          </a:p>
        </p:txBody>
      </p:sp>
      <p:pic>
        <p:nvPicPr>
          <p:cNvPr id="21508" name="Picture 7" descr="fig07_08">
            <a:extLst>
              <a:ext uri="{FF2B5EF4-FFF2-40B4-BE49-F238E27FC236}">
                <a16:creationId xmlns:a16="http://schemas.microsoft.com/office/drawing/2014/main" id="{80953ACF-0A3B-2A38-5D7E-44A1F3199014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2057400"/>
            <a:ext cx="3819525" cy="3308350"/>
          </a:xfrm>
        </p:spPr>
      </p:pic>
      <p:pic>
        <p:nvPicPr>
          <p:cNvPr id="21509" name="Picture 9" descr="fig07_09">
            <a:extLst>
              <a:ext uri="{FF2B5EF4-FFF2-40B4-BE49-F238E27FC236}">
                <a16:creationId xmlns:a16="http://schemas.microsoft.com/office/drawing/2014/main" id="{FD7BF4EB-0B48-240F-48CC-709B56E427D0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38675" y="2079625"/>
            <a:ext cx="3819525" cy="3308350"/>
          </a:xfrm>
        </p:spPr>
      </p:pic>
      <p:sp>
        <p:nvSpPr>
          <p:cNvPr id="21510" name="Text Box 10">
            <a:extLst>
              <a:ext uri="{FF2B5EF4-FFF2-40B4-BE49-F238E27FC236}">
                <a16:creationId xmlns:a16="http://schemas.microsoft.com/office/drawing/2014/main" id="{6A694D90-18B6-B20B-1AC4-61A4657B0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5526088"/>
            <a:ext cx="2319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1"/>
                </a:solidFill>
                <a:cs typeface="Times New Roman" panose="02020603050405020304" pitchFamily="18" charset="0"/>
              </a:rPr>
              <a:t>After BuildHeap</a:t>
            </a:r>
          </a:p>
        </p:txBody>
      </p:sp>
      <p:sp>
        <p:nvSpPr>
          <p:cNvPr id="21511" name="Text Box 11">
            <a:extLst>
              <a:ext uri="{FF2B5EF4-FFF2-40B4-BE49-F238E27FC236}">
                <a16:creationId xmlns:a16="http://schemas.microsoft.com/office/drawing/2014/main" id="{6AAF3A98-9044-FC3D-993E-E38A46D48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5568950"/>
            <a:ext cx="289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1"/>
                </a:solidFill>
                <a:cs typeface="Times New Roman" panose="02020603050405020304" pitchFamily="18" charset="0"/>
              </a:rPr>
              <a:t>After first deleteMax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>
            <a:extLst>
              <a:ext uri="{FF2B5EF4-FFF2-40B4-BE49-F238E27FC236}">
                <a16:creationId xmlns:a16="http://schemas.microsoft.com/office/drawing/2014/main" id="{0541EB3D-4A8E-183F-E1E8-CE064EAAE8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3FC465-298F-444F-87EA-ADBDFD5F6F63}" type="slidenum">
              <a:rPr lang="en-US" altLang="en-US" sz="140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33C306D4-33AC-A580-198A-0E4697668D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solidFill>
                  <a:schemeClr val="tx1"/>
                </a:solidFill>
              </a:rPr>
              <a:t>Lower Bound on ‘Simple’ Sorting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EB4E33C8-DF64-F50F-E1E4-24F3C4AA43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Simple sorting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Performing only </a:t>
            </a:r>
            <a:r>
              <a:rPr lang="en-US" altLang="en-US">
                <a:solidFill>
                  <a:srgbClr val="2D2DB9"/>
                </a:solidFill>
              </a:rPr>
              <a:t>adjacent</a:t>
            </a:r>
            <a:r>
              <a:rPr lang="en-US" altLang="en-US"/>
              <a:t> exchanges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Such as bubble sort and insertion sort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Inversions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 an ordered pair </a:t>
            </a:r>
            <a:r>
              <a:rPr lang="en-US" altLang="en-US">
                <a:solidFill>
                  <a:schemeClr val="accent2"/>
                </a:solidFill>
              </a:rPr>
              <a:t>(i, j)</a:t>
            </a:r>
            <a:r>
              <a:rPr lang="en-US" altLang="en-US"/>
              <a:t> such that </a:t>
            </a:r>
            <a:r>
              <a:rPr lang="en-US" altLang="en-US">
                <a:solidFill>
                  <a:schemeClr val="accent2"/>
                </a:solidFill>
              </a:rPr>
              <a:t>i&lt;j</a:t>
            </a:r>
            <a:r>
              <a:rPr lang="en-US" altLang="en-US"/>
              <a:t> but </a:t>
            </a:r>
            <a:r>
              <a:rPr lang="en-US" altLang="en-US">
                <a:solidFill>
                  <a:schemeClr val="accent2"/>
                </a:solidFill>
              </a:rPr>
              <a:t>a[i] &gt; a[j]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34,8,64,51,32,21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(34,8), (34,32), (34,21), (64,51) …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Once an array has no inversions it is sorted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So sorting bounds depend on ‘average’ number of inversions performed</a:t>
            </a:r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>
            <a:extLst>
              <a:ext uri="{FF2B5EF4-FFF2-40B4-BE49-F238E27FC236}">
                <a16:creationId xmlns:a16="http://schemas.microsoft.com/office/drawing/2014/main" id="{A9E9B2BA-5A95-622C-0AEB-3E4135BAE1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A285AB-22DD-431A-88DD-03B48151DFC7}" type="slidenum">
              <a:rPr lang="en-US" altLang="en-US" sz="140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89D48F37-E15E-F975-22AB-3FDE98AA61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Theorem 1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05A714F2-20E4-9CB1-7148-95D1582593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Average number of inversions in an array of N distinct elements is </a:t>
            </a:r>
            <a:r>
              <a:rPr lang="en-US" altLang="en-US">
                <a:solidFill>
                  <a:schemeClr val="accent2"/>
                </a:solidFill>
              </a:rPr>
              <a:t>N(N-1)/4</a:t>
            </a:r>
          </a:p>
          <a:p>
            <a:pPr eaLnBrk="1" hangingPunct="1">
              <a:buFontTx/>
              <a:buNone/>
            </a:pPr>
            <a:endParaRPr lang="en-US" altLang="en-US"/>
          </a:p>
          <a:p>
            <a:pPr lvl="1" eaLnBrk="1" hangingPunct="1"/>
            <a:r>
              <a:rPr lang="en-US" altLang="en-US"/>
              <a:t>For any list L, consider reverse list L</a:t>
            </a:r>
            <a:r>
              <a:rPr lang="en-US" altLang="en-US" baseline="-25000"/>
              <a:t>r</a:t>
            </a:r>
          </a:p>
          <a:p>
            <a:pPr lvl="2" eaLnBrk="1" hangingPunct="1"/>
            <a:r>
              <a:rPr lang="en-US" altLang="en-US" sz="1600"/>
              <a:t>L: 34, 8, 64, 51, 32, 21</a:t>
            </a:r>
          </a:p>
          <a:p>
            <a:pPr lvl="2" eaLnBrk="1" hangingPunct="1"/>
            <a:r>
              <a:rPr lang="en-US" altLang="en-US" sz="1600"/>
              <a:t>Lr: 21, 32, 51, 64, 8, 34</a:t>
            </a:r>
          </a:p>
          <a:p>
            <a:pPr lvl="1" eaLnBrk="1" hangingPunct="1"/>
            <a:r>
              <a:rPr lang="en-US" altLang="en-US"/>
              <a:t>All possible number of pairs is            in L and Lr</a:t>
            </a:r>
          </a:p>
          <a:p>
            <a:pPr lvl="1" eaLnBrk="1" hangingPunct="1"/>
            <a:r>
              <a:rPr lang="en-US" altLang="en-US">
                <a:solidFill>
                  <a:schemeClr val="accent2"/>
                </a:solidFill>
              </a:rPr>
              <a:t>= N(N-1)/2</a:t>
            </a:r>
          </a:p>
          <a:p>
            <a:pPr lvl="1" eaLnBrk="1" hangingPunct="1"/>
            <a:r>
              <a:rPr lang="en-US" altLang="en-US"/>
              <a:t>Average number of inversion in L = </a:t>
            </a:r>
            <a:r>
              <a:rPr lang="en-US" altLang="en-US">
                <a:solidFill>
                  <a:schemeClr val="accent2"/>
                </a:solidFill>
              </a:rPr>
              <a:t>N(N-1)/4</a:t>
            </a:r>
          </a:p>
        </p:txBody>
      </p:sp>
      <p:graphicFrame>
        <p:nvGraphicFramePr>
          <p:cNvPr id="25605" name="Object 4">
            <a:extLst>
              <a:ext uri="{FF2B5EF4-FFF2-40B4-BE49-F238E27FC236}">
                <a16:creationId xmlns:a16="http://schemas.microsoft.com/office/drawing/2014/main" id="{D0CA233D-E59D-181B-0236-835F1F85F4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3505200"/>
          <a:ext cx="609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8600" imgH="228600" progId="Equation.3">
                  <p:embed/>
                </p:oleObj>
              </mc:Choice>
              <mc:Fallback>
                <p:oleObj name="Equation" r:id="rId3" imgW="2286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3505200"/>
                        <a:ext cx="609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>
            <a:extLst>
              <a:ext uri="{FF2B5EF4-FFF2-40B4-BE49-F238E27FC236}">
                <a16:creationId xmlns:a16="http://schemas.microsoft.com/office/drawing/2014/main" id="{876B3E7F-7D41-7337-DA8D-5636BD58EF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EF5E6B-8618-435F-9420-FFDE0209D90A}" type="slidenum">
              <a:rPr lang="en-US" altLang="en-US" sz="140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2F1ED9EC-D220-EA45-0629-F886065ED8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Theorem 2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9620077D-A155-DCAE-9900-BDB9BD89A3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Any algorithm that sorts by exchanging adjacent elements requires </a:t>
            </a:r>
            <a:r>
              <a:rPr lang="el-GR" altLang="en-US">
                <a:solidFill>
                  <a:schemeClr val="accent2"/>
                </a:solidFill>
                <a:cs typeface="Arial" panose="020B0604020202020204" pitchFamily="34" charset="0"/>
              </a:rPr>
              <a:t>Ω</a:t>
            </a:r>
            <a:r>
              <a:rPr lang="en-US" altLang="en-US">
                <a:solidFill>
                  <a:schemeClr val="accent2"/>
                </a:solidFill>
                <a:cs typeface="Arial" panose="020B0604020202020204" pitchFamily="34" charset="0"/>
              </a:rPr>
              <a:t>(n²)</a:t>
            </a:r>
            <a:r>
              <a:rPr lang="en-US" altLang="en-US"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D2DB9"/>
                </a:solidFill>
                <a:cs typeface="Arial" panose="020B0604020202020204" pitchFamily="34" charset="0"/>
              </a:rPr>
              <a:t>average</a:t>
            </a:r>
            <a:r>
              <a:rPr lang="en-US" altLang="en-US">
                <a:cs typeface="Arial" panose="020B0604020202020204" pitchFamily="34" charset="0"/>
              </a:rPr>
              <a:t> time</a:t>
            </a:r>
          </a:p>
          <a:p>
            <a:pPr eaLnBrk="1" hangingPunct="1"/>
            <a:endParaRPr lang="en-US" altLang="en-US">
              <a:cs typeface="Arial" panose="020B0604020202020204" pitchFamily="34" charset="0"/>
            </a:endParaRPr>
          </a:p>
          <a:p>
            <a:pPr lvl="1" eaLnBrk="1" hangingPunct="1"/>
            <a:r>
              <a:rPr lang="en-US" altLang="en-US">
                <a:cs typeface="Arial" panose="020B0604020202020204" pitchFamily="34" charset="0"/>
              </a:rPr>
              <a:t>Average number of inversions = </a:t>
            </a:r>
            <a:r>
              <a:rPr lang="el-GR" altLang="en-US">
                <a:solidFill>
                  <a:schemeClr val="accent2"/>
                </a:solidFill>
                <a:cs typeface="Arial" panose="020B0604020202020204" pitchFamily="34" charset="0"/>
              </a:rPr>
              <a:t>Ω</a:t>
            </a:r>
            <a:r>
              <a:rPr lang="en-US" altLang="en-US">
                <a:solidFill>
                  <a:schemeClr val="accent2"/>
                </a:solidFill>
                <a:cs typeface="Arial" panose="020B0604020202020204" pitchFamily="34" charset="0"/>
              </a:rPr>
              <a:t>(n</a:t>
            </a:r>
            <a:r>
              <a:rPr lang="en-US" altLang="en-US" baseline="30000">
                <a:solidFill>
                  <a:schemeClr val="accent2"/>
                </a:solidFill>
                <a:cs typeface="Arial" panose="020B0604020202020204" pitchFamily="34" charset="0"/>
              </a:rPr>
              <a:t>2</a:t>
            </a:r>
            <a:r>
              <a:rPr lang="en-US" altLang="en-US">
                <a:solidFill>
                  <a:schemeClr val="accent2"/>
                </a:solidFill>
                <a:cs typeface="Arial" panose="020B0604020202020204" pitchFamily="34" charset="0"/>
              </a:rPr>
              <a:t>)</a:t>
            </a:r>
          </a:p>
          <a:p>
            <a:pPr lvl="1" eaLnBrk="1" hangingPunct="1"/>
            <a:r>
              <a:rPr lang="en-US" altLang="en-US">
                <a:cs typeface="Arial" panose="020B0604020202020204" pitchFamily="34" charset="0"/>
              </a:rPr>
              <a:t>Number of swaps required  = </a:t>
            </a:r>
            <a:r>
              <a:rPr lang="el-GR" altLang="en-US">
                <a:solidFill>
                  <a:schemeClr val="accent2"/>
                </a:solidFill>
                <a:cs typeface="Arial" panose="020B0604020202020204" pitchFamily="34" charset="0"/>
              </a:rPr>
              <a:t>Ω</a:t>
            </a:r>
            <a:r>
              <a:rPr lang="en-US" altLang="en-US">
                <a:solidFill>
                  <a:schemeClr val="accent2"/>
                </a:solidFill>
                <a:cs typeface="Arial" panose="020B0604020202020204" pitchFamily="34" charset="0"/>
              </a:rPr>
              <a:t>(n</a:t>
            </a:r>
            <a:r>
              <a:rPr lang="en-US" altLang="en-US" baseline="30000">
                <a:solidFill>
                  <a:schemeClr val="accent2"/>
                </a:solidFill>
                <a:cs typeface="Arial" panose="020B0604020202020204" pitchFamily="34" charset="0"/>
              </a:rPr>
              <a:t>2</a:t>
            </a:r>
            <a:r>
              <a:rPr lang="en-US" altLang="en-US">
                <a:solidFill>
                  <a:schemeClr val="accent2"/>
                </a:solidFill>
                <a:cs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>
            <a:extLst>
              <a:ext uri="{FF2B5EF4-FFF2-40B4-BE49-F238E27FC236}">
                <a16:creationId xmlns:a16="http://schemas.microsoft.com/office/drawing/2014/main" id="{D9FC6B58-2D75-D3AE-CDE7-E5862E5D34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64C602-F1F0-412A-8A73-0D3016FACD20}" type="slidenum">
              <a:rPr lang="en-US" altLang="en-US" sz="140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090A626E-BA0B-C95A-1D49-A8E6FE00DC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Bound for Comparison Based Sorting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2774C249-F793-46D2-3D9D-7CE5F57CFA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O( n logn )</a:t>
            </a:r>
          </a:p>
          <a:p>
            <a:pPr lvl="1" eaLnBrk="1" hangingPunct="1"/>
            <a:r>
              <a:rPr lang="en-US" altLang="en-US"/>
              <a:t>Optimal bound for comparison-based sorting algorithms</a:t>
            </a:r>
          </a:p>
          <a:p>
            <a:pPr lvl="1" eaLnBrk="1" hangingPunct="1"/>
            <a:r>
              <a:rPr lang="en-US" altLang="en-US"/>
              <a:t>Achieved by </a:t>
            </a:r>
            <a:r>
              <a:rPr lang="en-US" altLang="en-US">
                <a:solidFill>
                  <a:srgbClr val="2D2DB9"/>
                </a:solidFill>
              </a:rPr>
              <a:t>Quick Sort, Merge Sort, and Heap Sort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4">
            <a:extLst>
              <a:ext uri="{FF2B5EF4-FFF2-40B4-BE49-F238E27FC236}">
                <a16:creationId xmlns:a16="http://schemas.microsoft.com/office/drawing/2014/main" id="{4250C9DE-E960-928F-37A8-78FE7F7A1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Chapter 10: Sorting</a:t>
            </a:r>
          </a:p>
        </p:txBody>
      </p:sp>
      <p:sp>
        <p:nvSpPr>
          <p:cNvPr id="10243" name="Slide Number Placeholder 5">
            <a:extLst>
              <a:ext uri="{FF2B5EF4-FFF2-40B4-BE49-F238E27FC236}">
                <a16:creationId xmlns:a16="http://schemas.microsoft.com/office/drawing/2014/main" id="{98BD0394-4A36-F863-05DB-F688C6B1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BE04E5-47F0-4FE0-B193-7C502C34FA5B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81D01A68-F300-5304-1184-73922CA97A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Heapsort Analysis</a:t>
            </a:r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31586DB5-B42E-5337-28D9-80FD4D673A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Insertion cost is log i for heap of size i</a:t>
            </a:r>
          </a:p>
          <a:p>
            <a:pPr lvl="1" eaLnBrk="1" hangingPunct="1"/>
            <a:r>
              <a:rPr lang="en-US" altLang="en-US"/>
              <a:t>Total insertion cost = log(n)+log(n-1)+...+log(1)</a:t>
            </a:r>
          </a:p>
          <a:p>
            <a:pPr lvl="1" eaLnBrk="1" hangingPunct="1"/>
            <a:r>
              <a:rPr lang="en-US" altLang="en-US"/>
              <a:t>This is O(n log n)</a:t>
            </a:r>
          </a:p>
          <a:p>
            <a:pPr eaLnBrk="1" hangingPunct="1"/>
            <a:r>
              <a:rPr lang="en-US" altLang="en-US"/>
              <a:t>Removal cost is also log i for heap of size i</a:t>
            </a:r>
          </a:p>
          <a:p>
            <a:pPr lvl="1" eaLnBrk="1" hangingPunct="1"/>
            <a:r>
              <a:rPr lang="en-US" altLang="en-US"/>
              <a:t>Total removal cost = O(n log n)</a:t>
            </a:r>
          </a:p>
          <a:p>
            <a:pPr lvl="1" eaLnBrk="1" hangingPunct="1"/>
            <a:endParaRPr lang="en-US" altLang="en-US"/>
          </a:p>
          <a:p>
            <a:pPr eaLnBrk="1" hangingPunct="1"/>
            <a:r>
              <a:rPr lang="en-US" altLang="en-US"/>
              <a:t>Total cost is O(n log n)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4">
            <a:extLst>
              <a:ext uri="{FF2B5EF4-FFF2-40B4-BE49-F238E27FC236}">
                <a16:creationId xmlns:a16="http://schemas.microsoft.com/office/drawing/2014/main" id="{651D8DE0-0C48-B2B4-E5AB-44D9C94E4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Chapter 10: Sorting</a:t>
            </a:r>
          </a:p>
        </p:txBody>
      </p:sp>
      <p:sp>
        <p:nvSpPr>
          <p:cNvPr id="11267" name="Slide Number Placeholder 5">
            <a:extLst>
              <a:ext uri="{FF2B5EF4-FFF2-40B4-BE49-F238E27FC236}">
                <a16:creationId xmlns:a16="http://schemas.microsoft.com/office/drawing/2014/main" id="{CA218B89-27D1-0C3D-ABB7-197A2A395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1B5296B-F3FB-4586-80B1-2507CA3FD99A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4A7B74E9-E159-9BC6-F061-C63852AC79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Testing Sortiing Algorithms</a:t>
            </a:r>
          </a:p>
        </p:txBody>
      </p:sp>
      <p:sp>
        <p:nvSpPr>
          <p:cNvPr id="11269" name="Rectangle 3">
            <a:extLst>
              <a:ext uri="{FF2B5EF4-FFF2-40B4-BE49-F238E27FC236}">
                <a16:creationId xmlns:a16="http://schemas.microsoft.com/office/drawing/2014/main" id="{1FD8DDC9-51CA-BC4C-C9CB-188BC5241C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Need to use a variety of test cases</a:t>
            </a:r>
          </a:p>
          <a:p>
            <a:pPr lvl="1" eaLnBrk="1" hangingPunct="1"/>
            <a:r>
              <a:rPr lang="en-US" altLang="en-US"/>
              <a:t>Small and large arrays</a:t>
            </a:r>
          </a:p>
          <a:p>
            <a:pPr lvl="1" eaLnBrk="1" hangingPunct="1"/>
            <a:r>
              <a:rPr lang="en-US" altLang="en-US"/>
              <a:t>Arrays in random order</a:t>
            </a:r>
          </a:p>
          <a:p>
            <a:pPr lvl="1" eaLnBrk="1" hangingPunct="1"/>
            <a:r>
              <a:rPr lang="en-US" altLang="en-US"/>
              <a:t>Arrays that are already sorted (and reverse order)</a:t>
            </a:r>
          </a:p>
          <a:p>
            <a:pPr lvl="1" eaLnBrk="1" hangingPunct="1"/>
            <a:r>
              <a:rPr lang="en-US" altLang="en-US"/>
              <a:t>Arrays with duplicate values</a:t>
            </a:r>
          </a:p>
          <a:p>
            <a:pPr eaLnBrk="1" hangingPunct="1"/>
            <a:r>
              <a:rPr lang="en-US" altLang="en-US"/>
              <a:t>Compare performance on each type of array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4">
            <a:extLst>
              <a:ext uri="{FF2B5EF4-FFF2-40B4-BE49-F238E27FC236}">
                <a16:creationId xmlns:a16="http://schemas.microsoft.com/office/drawing/2014/main" id="{46ECB1F4-817E-5C78-E979-70D57E124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Chapter 10: Sorting</a:t>
            </a:r>
          </a:p>
        </p:txBody>
      </p:sp>
      <p:sp>
        <p:nvSpPr>
          <p:cNvPr id="12291" name="Slide Number Placeholder 5">
            <a:extLst>
              <a:ext uri="{FF2B5EF4-FFF2-40B4-BE49-F238E27FC236}">
                <a16:creationId xmlns:a16="http://schemas.microsoft.com/office/drawing/2014/main" id="{A67E8952-D5B4-D73E-A27A-916028A53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6243650-C8EB-4B60-92F7-54EB1EEA9F3D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292" name="Rectangle 2">
            <a:extLst>
              <a:ext uri="{FF2B5EF4-FFF2-40B4-BE49-F238E27FC236}">
                <a16:creationId xmlns:a16="http://schemas.microsoft.com/office/drawing/2014/main" id="{02E6E411-1BBA-7EC9-320E-696B953CCB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Dutch National Flag Problem</a:t>
            </a:r>
          </a:p>
        </p:txBody>
      </p:sp>
      <p:sp>
        <p:nvSpPr>
          <p:cNvPr id="12293" name="Rectangle 3">
            <a:extLst>
              <a:ext uri="{FF2B5EF4-FFF2-40B4-BE49-F238E27FC236}">
                <a16:creationId xmlns:a16="http://schemas.microsoft.com/office/drawing/2014/main" id="{051B2B8F-38C3-885C-2F1F-F79521E5B0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Variety of partitioning algorithms have been published</a:t>
            </a:r>
          </a:p>
          <a:p>
            <a:pPr eaLnBrk="1" hangingPunct="1"/>
            <a:r>
              <a:rPr lang="en-US" altLang="en-US"/>
              <a:t>One that partitions an array into three segments was introduced by Edsger W. Dijkstra</a:t>
            </a:r>
          </a:p>
          <a:p>
            <a:pPr eaLnBrk="1" hangingPunct="1"/>
            <a:r>
              <a:rPr lang="en-US" altLang="en-US"/>
              <a:t>Problem: partition a disordered three-color flag into three contiguous segments</a:t>
            </a:r>
          </a:p>
          <a:p>
            <a:pPr eaLnBrk="1" hangingPunct="1"/>
            <a:r>
              <a:rPr lang="en-US" altLang="en-US"/>
              <a:t>Segments represent &lt;  =  &gt; the pivot value</a:t>
            </a:r>
          </a:p>
          <a:p>
            <a:pPr eaLnBrk="1" hangingPunct="1"/>
            <a:endParaRPr lang="en-US" altLang="en-US"/>
          </a:p>
        </p:txBody>
      </p:sp>
      <p:pic>
        <p:nvPicPr>
          <p:cNvPr id="12294" name="Picture 4">
            <a:extLst>
              <a:ext uri="{FF2B5EF4-FFF2-40B4-BE49-F238E27FC236}">
                <a16:creationId xmlns:a16="http://schemas.microsoft.com/office/drawing/2014/main" id="{D6BA7A3D-800E-2A89-BD11-17FE86CE3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810000"/>
            <a:ext cx="5172075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4">
            <a:extLst>
              <a:ext uri="{FF2B5EF4-FFF2-40B4-BE49-F238E27FC236}">
                <a16:creationId xmlns:a16="http://schemas.microsoft.com/office/drawing/2014/main" id="{125246A4-596F-277D-4ECB-D1218834B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Chapter 10: Sorting</a:t>
            </a:r>
          </a:p>
        </p:txBody>
      </p:sp>
      <p:sp>
        <p:nvSpPr>
          <p:cNvPr id="13315" name="Slide Number Placeholder 5">
            <a:extLst>
              <a:ext uri="{FF2B5EF4-FFF2-40B4-BE49-F238E27FC236}">
                <a16:creationId xmlns:a16="http://schemas.microsoft.com/office/drawing/2014/main" id="{8522151B-8E61-180B-E4BC-21C5BCF09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3D46B7-F45D-4B57-8B3A-77343C25FDBD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C23E5999-1F9F-5669-F26C-F2BA2520E5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Dutch National Flag Problem</a:t>
            </a:r>
          </a:p>
        </p:txBody>
      </p:sp>
      <p:pic>
        <p:nvPicPr>
          <p:cNvPr id="13317" name="Picture 5">
            <a:extLst>
              <a:ext uri="{FF2B5EF4-FFF2-40B4-BE49-F238E27FC236}">
                <a16:creationId xmlns:a16="http://schemas.microsoft.com/office/drawing/2014/main" id="{6C64E094-D801-8D29-B5FA-35C03AC28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200"/>
            <a:ext cx="9144000" cy="241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8" name="Picture 6">
            <a:extLst>
              <a:ext uri="{FF2B5EF4-FFF2-40B4-BE49-F238E27FC236}">
                <a16:creationId xmlns:a16="http://schemas.microsoft.com/office/drawing/2014/main" id="{1C3668B2-F28F-FC34-D852-919E22245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122613"/>
            <a:ext cx="7010400" cy="317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lass_simple">
  <a:themeElements>
    <a:clrScheme name="class_simp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lass_simpl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class_simp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_simp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_simp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_simp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_simp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_simp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_simp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Koffman Template">
  <a:themeElements>
    <a:clrScheme name="Koffman 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offman 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Koffman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ffman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ffman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ffman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ffman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ffman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ffman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ffman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ffman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ffman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ffman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ffman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mp122">
  <a:themeElements>
    <a:clrScheme name="comp122 8">
      <a:dk1>
        <a:srgbClr val="000000"/>
      </a:dk1>
      <a:lt1>
        <a:srgbClr val="FFFFCC"/>
      </a:lt1>
      <a:dk2>
        <a:srgbClr val="0000FF"/>
      </a:dk2>
      <a:lt2>
        <a:srgbClr val="808000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comp122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comp12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122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8">
        <a:dk1>
          <a:srgbClr val="000000"/>
        </a:dk1>
        <a:lt1>
          <a:srgbClr val="FFFFCC"/>
        </a:lt1>
        <a:dk2>
          <a:srgbClr val="0000FF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9">
        <a:dk1>
          <a:srgbClr val="080808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060606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1064</Words>
  <Application>Microsoft Office PowerPoint</Application>
  <PresentationFormat>On-screen Show (4:3)</PresentationFormat>
  <Paragraphs>162</Paragraphs>
  <Slides>27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9" baseType="lpstr">
      <vt:lpstr>Arial</vt:lpstr>
      <vt:lpstr>Arial Narrow</vt:lpstr>
      <vt:lpstr>Chalkboard Bold</vt:lpstr>
      <vt:lpstr>Consolas</vt:lpstr>
      <vt:lpstr>Courier</vt:lpstr>
      <vt:lpstr>Courier New</vt:lpstr>
      <vt:lpstr>Times New Roman</vt:lpstr>
      <vt:lpstr>Wingdings</vt:lpstr>
      <vt:lpstr>class_simple</vt:lpstr>
      <vt:lpstr>Koffman Template</vt:lpstr>
      <vt:lpstr>comp122</vt:lpstr>
      <vt:lpstr>Equation</vt:lpstr>
      <vt:lpstr>Sorting Definitions</vt:lpstr>
      <vt:lpstr>Heapsort</vt:lpstr>
      <vt:lpstr>Heapsort</vt:lpstr>
      <vt:lpstr>Heapsort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Heapsort</vt:lpstr>
      <vt:lpstr>Heapsort Implementation</vt:lpstr>
      <vt:lpstr>Heapsort Code</vt:lpstr>
      <vt:lpstr>Heapsort Code (2)</vt:lpstr>
      <vt:lpstr>Heapsort Code (3)</vt:lpstr>
      <vt:lpstr>Example (MaxHeap)</vt:lpstr>
      <vt:lpstr>Lower Bound on ‘Simple’ Sorting</vt:lpstr>
      <vt:lpstr>Theorem 1</vt:lpstr>
      <vt:lpstr>Theorem 2</vt:lpstr>
      <vt:lpstr>Bound for Comparison Based Sorting</vt:lpstr>
      <vt:lpstr>Heapsort Analysis</vt:lpstr>
      <vt:lpstr>Testing Sortiing Algorithms</vt:lpstr>
      <vt:lpstr>The Dutch National Flag Problem</vt:lpstr>
      <vt:lpstr>The Dutch National Flag Problem</vt:lpstr>
    </vt:vector>
  </TitlesOfParts>
  <Company>Ashok  Srinivasan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Sorting Algorithms </dc:title>
  <cp:lastModifiedBy>Weldon Jasik</cp:lastModifiedBy>
  <cp:revision>95</cp:revision>
  <dcterms:modified xsi:type="dcterms:W3CDTF">2025-03-05T19:02:32Z</dcterms:modified>
</cp:coreProperties>
</file>
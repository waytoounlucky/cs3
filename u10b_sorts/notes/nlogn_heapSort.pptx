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31" r:id="rId3"/>
    <p:sldMasterId id="2147483743" r:id="rId4"/>
  </p:sldMasterIdLst>
  <p:notesMasterIdLst>
    <p:notesMasterId r:id="rId18"/>
  </p:notesMasterIdLst>
  <p:sldIdLst>
    <p:sldId id="262" r:id="rId5"/>
    <p:sldId id="599" r:id="rId6"/>
    <p:sldId id="626" r:id="rId7"/>
    <p:sldId id="600" r:id="rId8"/>
    <p:sldId id="256" r:id="rId9"/>
    <p:sldId id="257" r:id="rId10"/>
    <p:sldId id="258" r:id="rId11"/>
    <p:sldId id="259" r:id="rId12"/>
    <p:sldId id="260" r:id="rId13"/>
    <p:sldId id="263" r:id="rId14"/>
    <p:sldId id="261" r:id="rId15"/>
    <p:sldId id="627" r:id="rId16"/>
    <p:sldId id="276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7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A51A8D-0F21-CB53-EBCD-1AF530EA87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F17B5-F463-C66E-CFAB-F7F4DCC99E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2191650-DE65-4C4F-8A77-5970FE3B2A7A}" type="datetimeFigureOut">
              <a:rPr lang="en-US"/>
              <a:pPr>
                <a:defRPr/>
              </a:pPr>
              <a:t>3/5/2025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D086927-67D4-6451-8B4C-108F1E89D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C792324-23C3-61B7-4BE7-A6E540914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CB13A-CE98-6840-95C3-1C0F2F05D3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99B7C-BA96-AB4D-41FE-5E12BABB0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1E5DB4E-E8B7-4ED5-A72F-9DDC655479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BEA6D31-AE7D-D207-C89D-E09717D0B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68B129-AC2E-44D5-9E01-C0DC2CE0246D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CB24408-BA5E-147F-A143-C6325CF8D7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A35D3ED-B059-D56E-8DAA-DB65ABA52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A329EBF-C904-12D8-7793-4B15EE2584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920E9D-4E27-46E3-BAF7-4B8A08F9B8F4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82A1B57-AC64-FC09-4706-9CA7BC4E3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7C9B9D23-1820-228C-CD6B-922D4EC43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7F0709B-B783-4A2A-ADC6-FC18784FF7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34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B6F5FB-4E57-42CB-80AF-E633BC33C5E0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09EB731-C18E-F865-9CFD-95F4816B60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5D71795-0AB4-DE77-FC6D-F491760C9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0D3ED43-1637-5A55-0A31-DBE3FB201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9A8AF0-2B9C-49E1-BDE1-133356B7E302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DC689EA-874D-6F09-6CE9-A74D695A43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8B7FA50-3EDA-17B0-4178-67D0C5B4E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here 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20a = 20b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just to differentiate the order we represent them as 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20a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and 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20b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var(--ff-mono)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From: https://stackoverflow.com/questions/19336881/why-isnt-heapsort-stable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5DB4E-E8B7-4ED5-A72F-9DDC6554791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1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F81B9-C453-3287-2327-38F4F84A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9EA15-23EE-3967-6B10-1B003E74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4DDCB-F2C3-D6BB-AAB0-8B1A7609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1846FA-41ED-4985-9114-CB531704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86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7697-582A-B9F4-051D-D81525E5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ACEAB-BC4E-20EB-F5F3-9206A48E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ED59-F3E0-6D53-8407-0243E806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A96C33-08C2-41D0-BE0C-343AE2F492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54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DEE4E-B818-8226-29BD-6E44F969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58647-654F-8C06-7408-69C48FBC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037A-F4BC-5BE8-7020-1E9D51D7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CA3143-4FB7-4AB9-882C-22B5E6F224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04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3ED00-ADA8-B52F-98A3-656D2813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AA44D-FE12-0503-C8FF-6CCA4DEA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C115B-A553-0B22-6C1C-1A3D7259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FDFC4B9-8BF5-45B5-9B2E-7319DF1655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1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00A64-5D1F-2DA6-89B4-D63BF03E5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4F232-6EC0-863A-C4D1-AB35D658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FA738-674F-3F41-03A9-3AA1A073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DE40175-4B77-48E4-8E67-5EFEBA381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604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E3F21-8D01-9171-2644-DAAED416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7A63A-BC69-3E62-2467-A0982BD26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9C926-EAAF-110B-BA4C-331CAE6C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4F2E22-8C41-4EAC-86C2-53FAF51A35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41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E48A7-892E-5B0C-118A-82631A52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08628-EC7D-4D53-2185-2A04EA30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23155-2CAD-3E0C-9CA8-A20DF032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BE29ED-3616-44F0-8C68-309EE7AE66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42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AC935-1C22-D9C2-B63B-3E7C4E05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A829C-872E-3888-86F0-DCDD6096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DD68-D85B-DB80-D50C-6A67C99C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18E485-DCA5-490B-B744-0604A1320D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01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5C9B-E0E6-B080-11FB-3BB9D064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96166-ED1F-72D6-EE06-B6885F35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E5770-FA7A-7930-B82A-B9932F94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1B5A55-E2BA-441E-80C5-2E2F74921D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356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7C2C7-7A9F-D6AC-9A06-6680F2F7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5306A-1FF0-111C-6C63-6ACD072E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3D199-4A15-40A9-B327-EA40840D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D094FA-298A-4524-842C-EE0A43163F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18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92A22-69D1-EAA1-0AFB-29DCB3DB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2B809-50E4-CAC8-64EF-15064DD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161D-BA1A-07C3-6347-5D3C8B65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5C6148-0E2A-4BCB-9E6A-1EBFCFC353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441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A9753124-8869-F1B4-03A1-2F0566A8B80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7025" y="3671888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3C6E7FB-07DB-7C54-DA6D-35714DC43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98F986-4F14-73C0-B0E1-CE7BB5102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CS 477/677 - Lecture 8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994539-A13D-B037-73DC-22DAF24FAF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073992-EE18-48F2-ABF4-D24EDF31BF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7076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06B34-4BAF-1FD2-2194-00DA3176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83B51-CC64-8F6F-6754-13A440A94A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B868D9-33BF-419C-BF15-04A8EC311A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985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2C94-2879-58E6-4782-7CB05242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0179F-505F-091E-57F3-CC67BAF6FD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FA5E34-1C43-470A-93B9-01ADB31131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269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19156-0C87-D769-35FC-822233A0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54FBC-031A-83F8-2834-18069FFE2B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EDE337-59B1-454A-8B74-C491FF5E87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877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7144F-5AA8-6DBD-D4CF-855F4A0F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BD3C23-AAAB-05C1-C880-9300987E4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38D181-17DB-47F4-91A2-EF746ECA22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336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D506A-8191-5D45-82BA-FE8C8C88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CD75A-9F89-DD32-D47B-7753F9A5AD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5778C3-D3D0-480A-86D3-198D199809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2461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4E1BF-A8B6-FAA8-688D-EAE8531B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616AC-6E56-98DE-DF0C-686872644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819815-1715-46A6-9B37-E5653C194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301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900AA-770D-C21E-0F76-1FC3CDD1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441E-6DEC-D5F8-0FFE-CBDE2E253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47A42AA-8AFE-4883-BDD2-AF48F7556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032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EDB9D-4473-41B1-A4B9-15623AB3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65813-6885-28B8-FE59-534AAFAE7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DD94DE-AEF3-49AB-A913-A3293F29D2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8172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0095-FD7E-D41D-2387-F9B35FBF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ED7B7-4429-B79C-4831-19D27E7ED2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F9D4BA-DC35-4E7F-8287-1AF1F1F27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5279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100013"/>
            <a:ext cx="2058988" cy="6191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13" y="100013"/>
            <a:ext cx="6027737" cy="6191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9255-7A74-47D2-40B7-9D0954A5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0F919-FC8F-0BBE-0345-D7831069BC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D05FB6-46D8-4E93-AFBD-0CAE005BD0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652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34F3EC-8820-45BE-7346-D0D85BEB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A332E-01A4-FC75-5DEF-59A7E4EDA6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C8CD2DD-C63C-4510-95B7-D807988B40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14163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98611-F746-0DCA-0D8C-692CF9F7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93BF-8C62-A365-293F-ADD75918C4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A481FD-B100-4ED2-B186-C060F848B6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932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BACC3B-EA11-764E-6281-757E5B98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57DED-3845-5FCA-B0D8-8A25A11AC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085008-6770-4B8D-995C-16365E9258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855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6E09-1565-1909-415D-AF501EF25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31144-C29D-AD88-11ED-31ADC7E962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162058-D3C3-4794-9A06-075F94CE6D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1091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B17D-39CA-7D83-F4AD-F08C1BC2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8E26C-FEA3-4D68-434C-A3AA18C7EA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9ED4EB-3099-46BD-89EB-FEB8A18DF1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976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40F142-E514-1C07-3053-A5E89E451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BD5972-6C12-577C-3AFC-323A4BE493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57EB1A-9F74-158A-2B18-34839C63E4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D9C625-F793-4573-94DD-60E0873BD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3234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A9FA0E-AA02-AD83-CB3A-F31CE58EBF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559BC2-3790-46D8-CD53-7DF76AFC6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F8C086-BADD-B30E-4023-7B647760E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861B7C-2ABB-4CA2-BFEB-E13D57FD7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775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D19FAB-D271-1F38-C589-A0872FD1F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9EC646-A45D-7270-F2D7-FE10B611A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04EE1E-670B-8421-B042-F0F91F321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2A9EF-51E1-42A6-A872-9F9814F0F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2006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3262B-F984-1A4D-97C9-043F079AC6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8CCB5-E931-2472-A0D0-D3D8A88768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BAB597-5514-AC0A-6509-DD3EBC75F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73AD7-94E5-485D-B2B7-C623DF955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1665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B97C411-C38F-EB60-CC7F-2BF365A953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1AB48C-658F-8994-3AEF-35339A693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6A9FF6-A869-5DB4-FAB2-1B6994C5D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3C670-81F6-425D-8EF0-5CFC46DC3C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738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B42C06-50AB-A797-0CCE-53406CD18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7684DA-3C60-AEE6-BBC9-865C248A8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A834FA-E5B6-1BF0-1DC0-AD21D0A5D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219DC-15B7-4DAB-B1AF-50EB4A1732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6609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46B41F-5441-9A32-F6E0-D225B9C37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3AF366-76A8-CEFF-1FF3-D220EC35F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3CBF83-DF36-4EB4-FB0D-12E148BF41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50D55-5566-4DD3-A933-6598F140D2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690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C2E9-472F-72CA-F800-55FE3797C5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86EE1-AC2C-317B-A572-C91FEA189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2B6BF-E8FA-702C-02BE-4B6057FCF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230600-8529-470E-A7BB-47C68217A5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5656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4D67C-FE22-A911-68DF-0FEF85CA7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4076E-2CF0-A514-4278-A5C5429C7B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D66D6-2E49-8B96-24CD-EDDA83EB82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84048-27B5-4BD7-B71C-1444922119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9250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CFEDA0-9F68-7F9B-DEEF-E2070A94B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A74352-3BB3-EF63-F206-979DBF224F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33D049-667C-5EEA-7ADE-B2B46D0427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93C6C-8C79-4F72-859F-5CCBE5F63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7202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B7E3F5-657F-CA51-0417-E223083AE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4EC0F2-5AF0-E8DC-EE32-1B6FD9DF0F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9B888D-6BD1-7C56-1BF5-F4DED50A2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EDB05-1999-40F3-9136-AF60D6A312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9051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39D0-E2E5-4B5C-BF2E-D5E4AC2B0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95293-4409-4563-9863-E442D8FDD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021363-4B47-2BEA-A2E1-5A1EB914F7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6EDFE7-2A6C-0BD5-4C96-E7F17FFCDA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F6088F-CB9B-39E3-460A-D5F2A4161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18763F-17A0-485C-A3B0-24C436791B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3213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1847-4DDF-4F2B-BC07-8775416F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1298-CA5B-44D9-8482-956BDFEE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D03FE7-0FA4-CDF0-2DD6-EC4B53BAF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A71562-FF7F-E138-3F79-491867F35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5BA20C-742A-26B3-171D-79AA2CAF1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DEA67-4585-4CDD-AAF0-43C8081C17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088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2284-2FC9-4A29-8494-CA04B320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272AD-46C6-4E35-81E5-AC4A892B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2C2980-B65E-054F-C142-A6DCE7BEF0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7CF4E9-DF2E-1CF5-DB25-631FFB3EE0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0FF58A-498B-D081-8834-CFB5CC2F7E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279464-9A72-4B64-AB90-A901323E7B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703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3075-C2EF-4A98-8DBC-5099BF86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0406-E234-4AF5-B9AB-F8002AB98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EF66A-770E-44B9-A9AC-6E8E8C324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37BB1-B121-F3EE-2264-DDDF275EA9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93F6B-EA8D-29BF-AC86-57F2BA332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56F8A-1548-376C-DD75-5557E8C97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54E34F-2C8A-4E50-8052-A83B12BDCF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0760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72A8-0BEA-47B2-8973-32DB7E94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E2EEE-A3B5-4582-99C9-35B9F65A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7AB8-1396-4D85-A9FF-1BC081D0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EE7EE-D2DB-4D20-A261-2C3D2DB98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770E1-DBAA-437C-BD14-BDFD5183D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390E80-217D-C611-39C6-B42467986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B78737-927D-8DE3-4E16-014A9E028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3A7E82-0F58-F93A-697E-39A2D69975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8B57E8-50E9-46C8-8C66-4D617683A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5094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167F-7977-4E29-9B85-FEC901E5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63B5BB6-CC09-7604-823F-30490E57C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C9D174-02AA-B7DE-90F4-414EE6042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0B6360-F6D6-C4A2-C012-9D9D316B2D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EEF79-9271-43A4-8A2C-355C24AE4A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0636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84D9799-DDA6-715D-0D30-E9B7BAB2C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B6F98B-B7AE-A8DF-D368-5ABDE0D5C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89D173-E59D-3A3A-35CC-D750BE093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B1E13-4DF9-4B3A-B26C-779E884303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0158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EBEA-C613-4226-87F3-747667F7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1092-DA30-47CA-996D-F82C3F60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1DAA9-CFD3-4CDF-BA95-0B7EFA0EB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273EC-B7F1-33E1-FF70-CC61C5DE0A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875EF-7B8F-0F22-79DC-238659375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E51E3-0DAC-0E1B-A099-414414F4C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A0A855-9D94-44E8-A33B-A026EFA43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6479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8E08-3511-482E-B33B-6498F566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9FBA4-FDF2-4188-8BA5-57A8A92F6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C72E9-16BA-48B6-A3B8-28B64FC0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F4A16-4B9F-4344-CFB4-D077A0B2AC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84660-8972-D6DE-438B-8F03A42971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7759E-C2EC-96BB-59F4-ED419EB68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314FAE-7F75-4C88-9D27-E585EF1159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9941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B8B5-97E1-4B1E-9BD6-0388ECE5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73D0A-610E-4F10-85A5-4ADED682A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E2BBED-841A-A456-81CC-845C56AA37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F310D-406A-A4CF-D716-9738F92EF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66E11B-6489-2B8B-8CEB-069332E15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41138-71A3-4BE9-850D-0CDCF7DC55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3232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04244-D89B-41E1-A5E7-5EAEC9BB7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76200"/>
            <a:ext cx="2286000" cy="6049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5EB48-3F1F-4DCF-BA3E-AD1FD4AD5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76200"/>
            <a:ext cx="6705600" cy="6049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7927A9-4E3E-E970-1538-C95F3E9D2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2A15E-5E29-25EF-4B91-8E35F51390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EF96A-06B6-4B34-A596-F22840868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52AB6-0FA9-4CEC-AC44-71F10D032C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16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BD3333-DD86-E998-169D-5104354A1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A61A40-4B26-A87F-9C56-577EB95F2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2DDA8E7-CB0C-BFBD-E37B-F3445E4804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1DAE94-91D5-444B-B5E9-3CAAB02495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89A73A-4B0E-DC8E-4F3B-10CF9306CB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CC99A0B-C007-4DD3-AA99-B10096CB9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515FF0B-4413-1FA4-C3E6-7559142AE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A4E90A9-9AE6-2FDB-4A2C-25762FEF6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43CDB0-E641-566F-EADF-9E1C291C7D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1C3D97-EA5F-771C-CA82-8FD70AC864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3E37D73-4D9C-4546-8A8D-E157B45F10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5" name="AutoShape 11">
            <a:extLst>
              <a:ext uri="{FF2B5EF4-FFF2-40B4-BE49-F238E27FC236}">
                <a16:creationId xmlns:a16="http://schemas.microsoft.com/office/drawing/2014/main" id="{FB1FD488-DBB4-A830-0FA0-6D8A319708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201FA4-F758-CC78-3BAA-5FAF9E462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ABEE97-BEDC-5154-D74D-627A01CEF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2430F8F8-8B74-466C-B13C-98A96717AA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25F6A869-95E3-4987-A0A9-010D98CF75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209FD3C5-4CCF-4BF0-A2FA-9992619DD8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7CAC4232-0ABF-486E-AF6C-F59AA75015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90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3AA132-A622-3F4F-A40F-2EADC64B1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DB34C0-661E-DD48-1556-42701CC78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2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71B3192-AA10-4039-89E3-0E9229D601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2D2474C-1834-48A8-8A2C-7F9A47470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80D8760-00A4-4D13-91A3-80E83859A1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4DBEE68-CE4C-4D2A-A08D-A28346A5FF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8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D1CB53E-1CD2-06C0-4E15-9CB798D0A1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en-US" sz="4400">
                <a:solidFill>
                  <a:srgbClr val="FF0000"/>
                </a:solidFill>
              </a:rPr>
              <a:t>Heapsort 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B781F25-0837-B2A1-E968-9BDCA75D3A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z="3200"/>
              <a:t>CSE 373</a:t>
            </a:r>
          </a:p>
          <a:p>
            <a:pPr eaLnBrk="1" hangingPunct="1"/>
            <a:r>
              <a:rPr lang="en-US" altLang="en-US" sz="3200"/>
              <a:t>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48EDF9CB-D676-C14D-46B8-608815ECD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8837F5-B9C4-43A3-A6D4-6481F60A650C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2771" name="Object 2">
            <a:extLst>
              <a:ext uri="{FF2B5EF4-FFF2-40B4-BE49-F238E27FC236}">
                <a16:creationId xmlns:a16="http://schemas.microsoft.com/office/drawing/2014/main" id="{DC67B5A0-A064-9BDD-DE3F-FCF5BFE3A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8275" y="1693863"/>
          <a:ext cx="245745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3" imgW="3512195" imgH="2097561" progId="PaintShopPro">
                  <p:embed/>
                </p:oleObj>
              </mc:Choice>
              <mc:Fallback>
                <p:oleObj name="Paint Shop Pro Image" r:id="rId3" imgW="3512195" imgH="2097561" progId="PaintShopPro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693863"/>
                        <a:ext cx="245745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3">
            <a:extLst>
              <a:ext uri="{FF2B5EF4-FFF2-40B4-BE49-F238E27FC236}">
                <a16:creationId xmlns:a16="http://schemas.microsoft.com/office/drawing/2014/main" id="{F110C4C2-EC7F-BAFB-3E8B-92858C234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</a:t>
            </a: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A8D3E4C8-7591-34BA-0E70-7BB6C8B8B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023938"/>
            <a:ext cx="8229600" cy="56324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/>
              <a:t>Goal: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Sort an array using heap representations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/>
              <a:t>Idea: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Build a </a:t>
            </a:r>
            <a:r>
              <a:rPr lang="en-US" altLang="en-US" b="1"/>
              <a:t>max-heap</a:t>
            </a:r>
            <a:r>
              <a:rPr lang="en-US" altLang="en-US"/>
              <a:t> from the array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Swap the root (the maximum element) with the last element in the array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“Discard” this last node by decreasing the heap size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Call MAX-HEAPIFY on the new root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/>
              <a:t>Repeat this process until only one node remains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7">
            <a:extLst>
              <a:ext uri="{FF2B5EF4-FFF2-40B4-BE49-F238E27FC236}">
                <a16:creationId xmlns:a16="http://schemas.microsoft.com/office/drawing/2014/main" id="{86D66D9E-9FCC-F444-3937-D4465F59EA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BFAA66-59EB-4FF6-B70E-3B8DCE5B4DEE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82306" name="Object 2">
            <a:extLst>
              <a:ext uri="{FF2B5EF4-FFF2-40B4-BE49-F238E27FC236}">
                <a16:creationId xmlns:a16="http://schemas.microsoft.com/office/drawing/2014/main" id="{2D6CFFC1-7930-4432-34BA-684A4436A313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381000" y="3924300"/>
          <a:ext cx="267017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3" imgW="3814634" imgH="2126829" progId="PaintShopPro">
                  <p:embed/>
                </p:oleObj>
              </mc:Choice>
              <mc:Fallback>
                <p:oleObj name="Paint Shop Pro Image" r:id="rId3" imgW="3814634" imgH="2126829" progId="PaintShopPro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24300"/>
                        <a:ext cx="2670175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3">
            <a:extLst>
              <a:ext uri="{FF2B5EF4-FFF2-40B4-BE49-F238E27FC236}">
                <a16:creationId xmlns:a16="http://schemas.microsoft.com/office/drawing/2014/main" id="{68E1B561-3123-F008-39E8-3139676313E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Example:			A=[7, 4, 3, 1, 2]</a:t>
            </a:r>
          </a:p>
        </p:txBody>
      </p:sp>
      <p:graphicFrame>
        <p:nvGraphicFramePr>
          <p:cNvPr id="482308" name="Object 4">
            <a:extLst>
              <a:ext uri="{FF2B5EF4-FFF2-40B4-BE49-F238E27FC236}">
                <a16:creationId xmlns:a16="http://schemas.microsoft.com/office/drawing/2014/main" id="{82E785AF-EBEE-2ABF-6CD9-70D4FC17F16F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381000" y="1371600"/>
          <a:ext cx="245745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5" imgW="3512195" imgH="2097561" progId="PaintShopPro">
                  <p:embed/>
                </p:oleObj>
              </mc:Choice>
              <mc:Fallback>
                <p:oleObj name="Paint Shop Pro Image" r:id="rId5" imgW="3512195" imgH="2097561" progId="PaintShopPro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2457450" cy="146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09" name="Object 5">
            <a:extLst>
              <a:ext uri="{FF2B5EF4-FFF2-40B4-BE49-F238E27FC236}">
                <a16:creationId xmlns:a16="http://schemas.microsoft.com/office/drawing/2014/main" id="{D437B052-0100-6433-1D2E-24F53163373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09925" y="1371600"/>
          <a:ext cx="2436813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7" imgW="3482927" imgH="2107317" progId="PaintShopPro">
                  <p:embed/>
                </p:oleObj>
              </mc:Choice>
              <mc:Fallback>
                <p:oleObj name="Paint Shop Pro Image" r:id="rId7" imgW="3482927" imgH="2107317" progId="PaintShopPro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5" y="1371600"/>
                        <a:ext cx="2436813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0" name="Object 6">
            <a:extLst>
              <a:ext uri="{FF2B5EF4-FFF2-40B4-BE49-F238E27FC236}">
                <a16:creationId xmlns:a16="http://schemas.microsoft.com/office/drawing/2014/main" id="{724C08ED-8C7F-DD1B-1098-6B168CE7C60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19800" y="1371600"/>
          <a:ext cx="2581275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9" imgW="3687805" imgH="2078049" progId="PaintShopPro">
                  <p:embed/>
                </p:oleObj>
              </mc:Choice>
              <mc:Fallback>
                <p:oleObj name="Paint Shop Pro Image" r:id="rId9" imgW="3687805" imgH="2078049" progId="PaintShopPro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371600"/>
                        <a:ext cx="2581275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1" name="Object 7">
            <a:extLst>
              <a:ext uri="{FF2B5EF4-FFF2-40B4-BE49-F238E27FC236}">
                <a16:creationId xmlns:a16="http://schemas.microsoft.com/office/drawing/2014/main" id="{448B553F-64AA-3BDF-F9DD-F850E8984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3938588"/>
          <a:ext cx="24511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1" imgW="3502439" imgH="2087805" progId="PaintShopPro">
                  <p:embed/>
                </p:oleObj>
              </mc:Choice>
              <mc:Fallback>
                <p:oleObj name="Paint Shop Pro Image" r:id="rId11" imgW="3502439" imgH="2087805" progId="PaintShopPro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3938588"/>
                        <a:ext cx="24511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2" name="Object 8">
            <a:extLst>
              <a:ext uri="{FF2B5EF4-FFF2-40B4-BE49-F238E27FC236}">
                <a16:creationId xmlns:a16="http://schemas.microsoft.com/office/drawing/2014/main" id="{45FC5775-1932-7423-FC49-5F0DD555A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4575" y="4376738"/>
          <a:ext cx="24765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13" imgW="3551220" imgH="839252" progId="PaintShopPro">
                  <p:embed/>
                </p:oleObj>
              </mc:Choice>
              <mc:Fallback>
                <p:oleObj name="Paint Shop Pro Image" r:id="rId13" imgW="3551220" imgH="839252" progId="PaintShopPro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575" y="4376738"/>
                        <a:ext cx="24765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2313" name="Group 9">
            <a:extLst>
              <a:ext uri="{FF2B5EF4-FFF2-40B4-BE49-F238E27FC236}">
                <a16:creationId xmlns:a16="http://schemas.microsoft.com/office/drawing/2014/main" id="{24A4A8EA-AED9-3DF9-D986-66C7627977A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828800"/>
            <a:ext cx="2284413" cy="1479550"/>
            <a:chOff x="336" y="1152"/>
            <a:chExt cx="1439" cy="932"/>
          </a:xfrm>
        </p:grpSpPr>
        <p:sp>
          <p:nvSpPr>
            <p:cNvPr id="34836" name="Line 10">
              <a:extLst>
                <a:ext uri="{FF2B5EF4-FFF2-40B4-BE49-F238E27FC236}">
                  <a16:creationId xmlns:a16="http://schemas.microsoft.com/office/drawing/2014/main" id="{A2480796-7933-1D1A-289A-E290089D2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7" y="1152"/>
              <a:ext cx="96" cy="384"/>
            </a:xfrm>
            <a:prstGeom prst="line">
              <a:avLst/>
            </a:pr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Text Box 11">
              <a:extLst>
                <a:ext uri="{FF2B5EF4-FFF2-40B4-BE49-F238E27FC236}">
                  <a16:creationId xmlns:a16="http://schemas.microsoft.com/office/drawing/2014/main" id="{BFFD092D-2C13-50CC-DE71-AE9289897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872"/>
              <a:ext cx="14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DD0111"/>
                  </a:solidFill>
                  <a:latin typeface="Arial" panose="020B0604020202020204" pitchFamily="34" charset="0"/>
                </a:rPr>
                <a:t>MAX-HEAPIFY(A, 1, 4)</a:t>
              </a:r>
            </a:p>
          </p:txBody>
        </p:sp>
      </p:grpSp>
      <p:grpSp>
        <p:nvGrpSpPr>
          <p:cNvPr id="482316" name="Group 12">
            <a:extLst>
              <a:ext uri="{FF2B5EF4-FFF2-40B4-BE49-F238E27FC236}">
                <a16:creationId xmlns:a16="http://schemas.microsoft.com/office/drawing/2014/main" id="{E1D406C6-3BFD-79DE-F6D4-1342EB657BC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600200"/>
            <a:ext cx="2284413" cy="1708150"/>
            <a:chOff x="2112" y="1008"/>
            <a:chExt cx="1439" cy="1076"/>
          </a:xfrm>
        </p:grpSpPr>
        <p:sp>
          <p:nvSpPr>
            <p:cNvPr id="34834" name="Text Box 13">
              <a:extLst>
                <a:ext uri="{FF2B5EF4-FFF2-40B4-BE49-F238E27FC236}">
                  <a16:creationId xmlns:a16="http://schemas.microsoft.com/office/drawing/2014/main" id="{FF4B4315-06B7-C5F6-8620-75DCDC907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872"/>
              <a:ext cx="14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DD0111"/>
                  </a:solidFill>
                  <a:latin typeface="Arial" panose="020B0604020202020204" pitchFamily="34" charset="0"/>
                </a:rPr>
                <a:t>MAX-HEAPIFY(A, 1, 3)</a:t>
              </a:r>
            </a:p>
          </p:txBody>
        </p:sp>
        <p:sp>
          <p:nvSpPr>
            <p:cNvPr id="34835" name="Freeform 14">
              <a:extLst>
                <a:ext uri="{FF2B5EF4-FFF2-40B4-BE49-F238E27FC236}">
                  <a16:creationId xmlns:a16="http://schemas.microsoft.com/office/drawing/2014/main" id="{1C22DB6B-37D1-0A5C-A90E-02110B77B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1008"/>
              <a:ext cx="720" cy="528"/>
            </a:xfrm>
            <a:custGeom>
              <a:avLst/>
              <a:gdLst>
                <a:gd name="T0" fmla="*/ 0 w 720"/>
                <a:gd name="T1" fmla="*/ 528 h 528"/>
                <a:gd name="T2" fmla="*/ 192 w 720"/>
                <a:gd name="T3" fmla="*/ 144 h 528"/>
                <a:gd name="T4" fmla="*/ 720 w 720"/>
                <a:gd name="T5" fmla="*/ 0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0" h="528">
                  <a:moveTo>
                    <a:pt x="0" y="528"/>
                  </a:moveTo>
                  <a:cubicBezTo>
                    <a:pt x="36" y="380"/>
                    <a:pt x="72" y="232"/>
                    <a:pt x="192" y="144"/>
                  </a:cubicBezTo>
                  <a:cubicBezTo>
                    <a:pt x="312" y="56"/>
                    <a:pt x="516" y="28"/>
                    <a:pt x="720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319" name="Group 15">
            <a:extLst>
              <a:ext uri="{FF2B5EF4-FFF2-40B4-BE49-F238E27FC236}">
                <a16:creationId xmlns:a16="http://schemas.microsoft.com/office/drawing/2014/main" id="{925CBFD1-3A18-DDDD-F7B0-FEE09CA27D7A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524000"/>
            <a:ext cx="2284413" cy="1784350"/>
            <a:chOff x="3936" y="960"/>
            <a:chExt cx="1439" cy="1124"/>
          </a:xfrm>
        </p:grpSpPr>
        <p:sp>
          <p:nvSpPr>
            <p:cNvPr id="34832" name="Text Box 16">
              <a:extLst>
                <a:ext uri="{FF2B5EF4-FFF2-40B4-BE49-F238E27FC236}">
                  <a16:creationId xmlns:a16="http://schemas.microsoft.com/office/drawing/2014/main" id="{B6B72F3F-7DD8-C462-5E12-24C91CD4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872"/>
              <a:ext cx="14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DD0111"/>
                  </a:solidFill>
                  <a:latin typeface="Arial" panose="020B0604020202020204" pitchFamily="34" charset="0"/>
                </a:rPr>
                <a:t>MAX-HEAPIFY(A, 1, 2)</a:t>
              </a:r>
            </a:p>
          </p:txBody>
        </p:sp>
        <p:sp>
          <p:nvSpPr>
            <p:cNvPr id="34833" name="Freeform 17">
              <a:extLst>
                <a:ext uri="{FF2B5EF4-FFF2-40B4-BE49-F238E27FC236}">
                  <a16:creationId xmlns:a16="http://schemas.microsoft.com/office/drawing/2014/main" id="{E0A25B8F-8337-803E-E6F1-3C101B550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960"/>
              <a:ext cx="288" cy="192"/>
            </a:xfrm>
            <a:custGeom>
              <a:avLst/>
              <a:gdLst>
                <a:gd name="T0" fmla="*/ 0 w 288"/>
                <a:gd name="T1" fmla="*/ 0 h 192"/>
                <a:gd name="T2" fmla="*/ 192 w 288"/>
                <a:gd name="T3" fmla="*/ 48 h 192"/>
                <a:gd name="T4" fmla="*/ 288 w 288"/>
                <a:gd name="T5" fmla="*/ 19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192">
                  <a:moveTo>
                    <a:pt x="0" y="0"/>
                  </a:moveTo>
                  <a:cubicBezTo>
                    <a:pt x="72" y="8"/>
                    <a:pt x="144" y="16"/>
                    <a:pt x="192" y="48"/>
                  </a:cubicBezTo>
                  <a:cubicBezTo>
                    <a:pt x="240" y="80"/>
                    <a:pt x="264" y="136"/>
                    <a:pt x="288" y="192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322" name="Group 18">
            <a:extLst>
              <a:ext uri="{FF2B5EF4-FFF2-40B4-BE49-F238E27FC236}">
                <a16:creationId xmlns:a16="http://schemas.microsoft.com/office/drawing/2014/main" id="{C3FB85BF-9134-FA36-FDD4-57EBF5544A1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114800"/>
            <a:ext cx="2284413" cy="1860550"/>
            <a:chOff x="336" y="2592"/>
            <a:chExt cx="1439" cy="1172"/>
          </a:xfrm>
        </p:grpSpPr>
        <p:sp>
          <p:nvSpPr>
            <p:cNvPr id="34830" name="Text Box 19">
              <a:extLst>
                <a:ext uri="{FF2B5EF4-FFF2-40B4-BE49-F238E27FC236}">
                  <a16:creationId xmlns:a16="http://schemas.microsoft.com/office/drawing/2014/main" id="{735F294A-05AF-DD3D-A049-722B8FF0B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552"/>
              <a:ext cx="143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DD0111"/>
                  </a:solidFill>
                  <a:latin typeface="Arial" panose="020B0604020202020204" pitchFamily="34" charset="0"/>
                </a:rPr>
                <a:t>MAX-HEAPIFY(A, 1, 1)</a:t>
              </a:r>
            </a:p>
          </p:txBody>
        </p:sp>
        <p:sp>
          <p:nvSpPr>
            <p:cNvPr id="34831" name="Freeform 20">
              <a:extLst>
                <a:ext uri="{FF2B5EF4-FFF2-40B4-BE49-F238E27FC236}">
                  <a16:creationId xmlns:a16="http://schemas.microsoft.com/office/drawing/2014/main" id="{C21CA2E9-803E-F317-A448-EDA75D6B0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2592"/>
              <a:ext cx="288" cy="192"/>
            </a:xfrm>
            <a:custGeom>
              <a:avLst/>
              <a:gdLst>
                <a:gd name="T0" fmla="*/ 0 w 288"/>
                <a:gd name="T1" fmla="*/ 192 h 192"/>
                <a:gd name="T2" fmla="*/ 96 w 288"/>
                <a:gd name="T3" fmla="*/ 48 h 192"/>
                <a:gd name="T4" fmla="*/ 288 w 288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192">
                  <a:moveTo>
                    <a:pt x="0" y="192"/>
                  </a:moveTo>
                  <a:cubicBezTo>
                    <a:pt x="24" y="136"/>
                    <a:pt x="48" y="80"/>
                    <a:pt x="96" y="48"/>
                  </a:cubicBezTo>
                  <a:cubicBezTo>
                    <a:pt x="144" y="16"/>
                    <a:pt x="216" y="8"/>
                    <a:pt x="288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32BAC141-3E65-A56D-A3F6-5E119662E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D4807B-2AA4-40D5-8277-E0E0C642D028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B8F736F-5A4A-3620-4B20-37422398B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Monotype Corsiva" panose="03010101010201010101" pitchFamily="66" charset="0"/>
              </a:rPr>
              <a:t>Alg:</a:t>
            </a:r>
            <a:r>
              <a:rPr lang="en-US" altLang="en-US"/>
              <a:t> HEAPSORT</a:t>
            </a:r>
            <a:r>
              <a:rPr lang="en-US" altLang="en-US" i="1"/>
              <a:t>(A)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0C68159-512B-4059-F9C8-768ABEABB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0837" y="1214438"/>
            <a:ext cx="6116637" cy="5076825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endParaRPr lang="en-US" altLang="en-US" i="1" dirty="0"/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BUILD-MAX-HEAP</a:t>
            </a:r>
            <a:r>
              <a:rPr lang="en-US" altLang="en-US" dirty="0">
                <a:latin typeface="Comic Sans MS" panose="030F0702030302020204" pitchFamily="66" charset="0"/>
              </a:rPr>
              <a:t>(A)</a:t>
            </a:r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for 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 = length[A]-1</a:t>
            </a:r>
            <a:r>
              <a:rPr lang="en-US" altLang="en-US" i="1" dirty="0"/>
              <a:t> </a:t>
            </a:r>
            <a:r>
              <a:rPr lang="en-US" altLang="en-US" b="1" dirty="0" err="1"/>
              <a:t>downto</a:t>
            </a:r>
            <a:r>
              <a:rPr lang="en-US" altLang="en-US" b="1" dirty="0"/>
              <a:t> 1</a:t>
            </a:r>
            <a:endParaRPr lang="en-US" altLang="en-US" dirty="0"/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 </a:t>
            </a:r>
            <a:r>
              <a:rPr lang="en-US" altLang="en-US" dirty="0"/>
              <a:t>exchange </a:t>
            </a:r>
            <a:r>
              <a:rPr lang="en-US" altLang="en-US" dirty="0">
                <a:latin typeface="Comic Sans MS" panose="030F0702030302020204" pitchFamily="66" charset="0"/>
              </a:rPr>
              <a:t>A[0] ↔ A[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]</a:t>
            </a:r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          MAX-HEAPIFY</a:t>
            </a:r>
            <a:r>
              <a:rPr lang="en-US" altLang="en-US" dirty="0">
                <a:latin typeface="Comic Sans MS" panose="030F0702030302020204" pitchFamily="66" charset="0"/>
              </a:rPr>
              <a:t>(A, 0, 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 - 1)</a:t>
            </a:r>
          </a:p>
          <a:p>
            <a:pPr marL="533400" indent="-533400" eaLnBrk="1" hangingPunct="1">
              <a:lnSpc>
                <a:spcPct val="130000"/>
              </a:lnSpc>
              <a:buFontTx/>
              <a:buNone/>
            </a:pPr>
            <a:endParaRPr lang="en-US" altLang="en-US" dirty="0">
              <a:latin typeface="Comic Sans MS" panose="030F0702030302020204" pitchFamily="66" charset="0"/>
            </a:endParaRPr>
          </a:p>
          <a:p>
            <a:pPr marL="533400" indent="-533400" eaLnBrk="1" hangingPunct="1">
              <a:lnSpc>
                <a:spcPct val="130000"/>
              </a:lnSpc>
            </a:pPr>
            <a:r>
              <a:rPr lang="en-US" altLang="en-US" dirty="0"/>
              <a:t>Running time: </a:t>
            </a:r>
            <a:r>
              <a:rPr lang="en-US" altLang="en-US" dirty="0">
                <a:latin typeface="Comic Sans MS" panose="030F0702030302020204" pitchFamily="66" charset="0"/>
              </a:rPr>
              <a:t>O(n log n)</a:t>
            </a:r>
            <a:endParaRPr lang="el-GR" altLang="en-US" dirty="0">
              <a:latin typeface="Comic Sans MS" panose="030F0702030302020204" pitchFamily="66" charset="0"/>
            </a:endParaRPr>
          </a:p>
          <a:p>
            <a:pPr marL="533400" indent="-533400" eaLnBrk="1" hangingPunct="1"/>
            <a:endParaRPr lang="en-US" altLang="en-US" dirty="0"/>
          </a:p>
        </p:txBody>
      </p:sp>
      <p:grpSp>
        <p:nvGrpSpPr>
          <p:cNvPr id="36869" name="Group 4">
            <a:extLst>
              <a:ext uri="{FF2B5EF4-FFF2-40B4-BE49-F238E27FC236}">
                <a16:creationId xmlns:a16="http://schemas.microsoft.com/office/drawing/2014/main" id="{6BD7B8F9-51FA-FDCE-04CF-8F0C46BC8E0F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1889125"/>
            <a:ext cx="2503488" cy="2319338"/>
            <a:chOff x="4116" y="1190"/>
            <a:chExt cx="1577" cy="1461"/>
          </a:xfrm>
        </p:grpSpPr>
        <p:sp>
          <p:nvSpPr>
            <p:cNvPr id="36870" name="Text Box 5">
              <a:extLst>
                <a:ext uri="{FF2B5EF4-FFF2-40B4-BE49-F238E27FC236}">
                  <a16:creationId xmlns:a16="http://schemas.microsoft.com/office/drawing/2014/main" id="{B998FD69-CBDF-BFA1-5E1C-4CFD71E9D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190"/>
              <a:ext cx="5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O(n)</a:t>
              </a:r>
            </a:p>
          </p:txBody>
        </p:sp>
        <p:sp>
          <p:nvSpPr>
            <p:cNvPr id="36871" name="Text Box 6">
              <a:extLst>
                <a:ext uri="{FF2B5EF4-FFF2-40B4-BE49-F238E27FC236}">
                  <a16:creationId xmlns:a16="http://schemas.microsoft.com/office/drawing/2014/main" id="{2B73CE07-403C-515F-E390-8961D87D2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234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O(lgn)</a:t>
              </a:r>
            </a:p>
          </p:txBody>
        </p:sp>
        <p:sp>
          <p:nvSpPr>
            <p:cNvPr id="36872" name="AutoShape 7">
              <a:extLst>
                <a:ext uri="{FF2B5EF4-FFF2-40B4-BE49-F238E27FC236}">
                  <a16:creationId xmlns:a16="http://schemas.microsoft.com/office/drawing/2014/main" id="{13E07468-9A75-7E17-F1EC-54A64A602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1477"/>
              <a:ext cx="144" cy="1174"/>
            </a:xfrm>
            <a:prstGeom prst="rightBrace">
              <a:avLst>
                <a:gd name="adj1" fmla="val 6794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73" name="Text Box 8">
              <a:extLst>
                <a:ext uri="{FF2B5EF4-FFF2-40B4-BE49-F238E27FC236}">
                  <a16:creationId xmlns:a16="http://schemas.microsoft.com/office/drawing/2014/main" id="{F61848BB-549C-6730-F7A5-2DD8D67B7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" y="191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latin typeface="Comic Sans MS" panose="030F0702030302020204" pitchFamily="66" charset="0"/>
                </a:rPr>
                <a:t>n-1</a:t>
              </a:r>
              <a:r>
                <a:rPr lang="en-US" altLang="en-US">
                  <a:solidFill>
                    <a:srgbClr val="000000"/>
                  </a:solidFill>
                  <a:latin typeface="Monotype Corsiva" panose="03010101010201010101" pitchFamily="66" charset="0"/>
                </a:rPr>
                <a:t> </a:t>
              </a: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times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A482220-D74A-CE64-49B5-96E34FD37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Heap Sort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B44D10-2FD4-7B74-78C0-D1C26A63B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545388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We use a Max-Heap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Root node = A[0]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Children of A[</a:t>
            </a:r>
            <a:r>
              <a:rPr lang="en-US" altLang="en-US" sz="2800" dirty="0" err="1"/>
              <a:t>i</a:t>
            </a:r>
            <a:r>
              <a:rPr lang="en-US" altLang="en-US" sz="2800" dirty="0"/>
              <a:t>] = A[2i+1], A[2i+2]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Keep track of current size N (number of nodes)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F1266555-26B0-50CE-5DC0-30E7EA2FE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7213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 = 5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CB0FC1D1-BC2D-9982-F0E7-A75F30EE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768850"/>
            <a:ext cx="62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value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BC2F4623-B658-885C-96DA-02955CB45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5181600"/>
            <a:ext cx="6365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index</a:t>
            </a:r>
          </a:p>
        </p:txBody>
      </p:sp>
      <p:sp>
        <p:nvSpPr>
          <p:cNvPr id="38919" name="Oval 7">
            <a:extLst>
              <a:ext uri="{FF2B5EF4-FFF2-40B4-BE49-F238E27FC236}">
                <a16:creationId xmlns:a16="http://schemas.microsoft.com/office/drawing/2014/main" id="{0B8576ED-BD63-5DFF-5F3E-2661FB7DB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1910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38920" name="Oval 8">
            <a:extLst>
              <a:ext uri="{FF2B5EF4-FFF2-40B4-BE49-F238E27FC236}">
                <a16:creationId xmlns:a16="http://schemas.microsoft.com/office/drawing/2014/main" id="{4A451F95-8A79-67DC-6054-23715EF6B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313" y="4724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38921" name="Oval 9">
            <a:extLst>
              <a:ext uri="{FF2B5EF4-FFF2-40B4-BE49-F238E27FC236}">
                <a16:creationId xmlns:a16="http://schemas.microsoft.com/office/drawing/2014/main" id="{F2E7C164-A8EE-01DC-35BF-6C256BD60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724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cxnSp>
        <p:nvCxnSpPr>
          <p:cNvPr id="38922" name="AutoShape 10">
            <a:extLst>
              <a:ext uri="{FF2B5EF4-FFF2-40B4-BE49-F238E27FC236}">
                <a16:creationId xmlns:a16="http://schemas.microsoft.com/office/drawing/2014/main" id="{696989FC-4601-5134-77F7-C38702D2B70C}"/>
              </a:ext>
            </a:extLst>
          </p:cNvPr>
          <p:cNvCxnSpPr>
            <a:cxnSpLocks noChangeShapeType="1"/>
            <a:stCxn id="38919" idx="3"/>
            <a:endCxn id="38921" idx="0"/>
          </p:cNvCxnSpPr>
          <p:nvPr/>
        </p:nvCxnSpPr>
        <p:spPr bwMode="auto">
          <a:xfrm flipH="1">
            <a:off x="7600950" y="44846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3" name="AutoShape 11">
            <a:extLst>
              <a:ext uri="{FF2B5EF4-FFF2-40B4-BE49-F238E27FC236}">
                <a16:creationId xmlns:a16="http://schemas.microsoft.com/office/drawing/2014/main" id="{AB7E64CC-0D3F-D89A-2453-EBF1C1608F6F}"/>
              </a:ext>
            </a:extLst>
          </p:cNvPr>
          <p:cNvCxnSpPr>
            <a:cxnSpLocks noChangeShapeType="1"/>
            <a:stCxn id="38919" idx="5"/>
            <a:endCxn id="38920" idx="0"/>
          </p:cNvCxnSpPr>
          <p:nvPr/>
        </p:nvCxnSpPr>
        <p:spPr bwMode="auto">
          <a:xfrm>
            <a:off x="8178800" y="4484688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4" name="Oval 12">
            <a:extLst>
              <a:ext uri="{FF2B5EF4-FFF2-40B4-BE49-F238E27FC236}">
                <a16:creationId xmlns:a16="http://schemas.microsoft.com/office/drawing/2014/main" id="{6306B422-7A07-FFED-F79C-07449CE60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2943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38925" name="Oval 13">
            <a:extLst>
              <a:ext uri="{FF2B5EF4-FFF2-40B4-BE49-F238E27FC236}">
                <a16:creationId xmlns:a16="http://schemas.microsoft.com/office/drawing/2014/main" id="{4EE4EEF7-3C48-2351-901A-A336F58D8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2943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38926" name="AutoShape 14">
            <a:extLst>
              <a:ext uri="{FF2B5EF4-FFF2-40B4-BE49-F238E27FC236}">
                <a16:creationId xmlns:a16="http://schemas.microsoft.com/office/drawing/2014/main" id="{E852865F-B339-47C3-C60F-F079FEE3E606}"/>
              </a:ext>
            </a:extLst>
          </p:cNvPr>
          <p:cNvCxnSpPr>
            <a:cxnSpLocks noChangeShapeType="1"/>
            <a:stCxn id="38921" idx="3"/>
            <a:endCxn id="38925" idx="0"/>
          </p:cNvCxnSpPr>
          <p:nvPr/>
        </p:nvCxnSpPr>
        <p:spPr bwMode="auto">
          <a:xfrm flipH="1">
            <a:off x="7107238" y="5018088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7" name="AutoShape 15">
            <a:extLst>
              <a:ext uri="{FF2B5EF4-FFF2-40B4-BE49-F238E27FC236}">
                <a16:creationId xmlns:a16="http://schemas.microsoft.com/office/drawing/2014/main" id="{F36C5F9B-C401-EEE6-3C19-5B389562FC7B}"/>
              </a:ext>
            </a:extLst>
          </p:cNvPr>
          <p:cNvCxnSpPr>
            <a:cxnSpLocks noChangeShapeType="1"/>
            <a:stCxn id="38921" idx="5"/>
            <a:endCxn id="38924" idx="0"/>
          </p:cNvCxnSpPr>
          <p:nvPr/>
        </p:nvCxnSpPr>
        <p:spPr bwMode="auto">
          <a:xfrm>
            <a:off x="7721600" y="5018088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8" name="Text Box 16">
            <a:extLst>
              <a:ext uri="{FF2B5EF4-FFF2-40B4-BE49-F238E27FC236}">
                <a16:creationId xmlns:a16="http://schemas.microsoft.com/office/drawing/2014/main" id="{A31FA01C-CD81-5B7B-7766-90BE53A5D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38929" name="Text Box 17">
            <a:extLst>
              <a:ext uri="{FF2B5EF4-FFF2-40B4-BE49-F238E27FC236}">
                <a16:creationId xmlns:a16="http://schemas.microsoft.com/office/drawing/2014/main" id="{0C59C28D-397D-2799-FD93-2B1C7445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38930" name="Text Box 18">
            <a:extLst>
              <a:ext uri="{FF2B5EF4-FFF2-40B4-BE49-F238E27FC236}">
                <a16:creationId xmlns:a16="http://schemas.microsoft.com/office/drawing/2014/main" id="{B13EA131-D0C8-2821-074C-85ACBDF4B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38931" name="Text Box 19">
            <a:extLst>
              <a:ext uri="{FF2B5EF4-FFF2-40B4-BE49-F238E27FC236}">
                <a16:creationId xmlns:a16="http://schemas.microsoft.com/office/drawing/2014/main" id="{197B754C-1F2B-70D0-C164-E00783161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38932" name="Text Box 20">
            <a:extLst>
              <a:ext uri="{FF2B5EF4-FFF2-40B4-BE49-F238E27FC236}">
                <a16:creationId xmlns:a16="http://schemas.microsoft.com/office/drawing/2014/main" id="{C095BB5C-3489-9EBA-2A92-AE59B9604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38933" name="Text Box 21">
            <a:extLst>
              <a:ext uri="{FF2B5EF4-FFF2-40B4-BE49-F238E27FC236}">
                <a16:creationId xmlns:a16="http://schemas.microsoft.com/office/drawing/2014/main" id="{8A7137F6-DA04-51C9-D105-59C80ACED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 </a:t>
            </a:r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B1D9A1B8-FFB0-168B-0114-D791B16A2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38935" name="Text Box 23">
            <a:extLst>
              <a:ext uri="{FF2B5EF4-FFF2-40B4-BE49-F238E27FC236}">
                <a16:creationId xmlns:a16="http://schemas.microsoft.com/office/drawing/2014/main" id="{3C7F4F65-8D31-CF1E-7C28-03EFAFEDC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cxnSp>
        <p:nvCxnSpPr>
          <p:cNvPr id="38943" name="AutoShape 31">
            <a:extLst>
              <a:ext uri="{FF2B5EF4-FFF2-40B4-BE49-F238E27FC236}">
                <a16:creationId xmlns:a16="http://schemas.microsoft.com/office/drawing/2014/main" id="{5C48BD80-C365-3F73-FAEA-5028CF604B5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199606" y="4115594"/>
            <a:ext cx="1588" cy="1219200"/>
          </a:xfrm>
          <a:prstGeom prst="curvedConnector3">
            <a:avLst>
              <a:gd name="adj1" fmla="val -14400000"/>
            </a:avLst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44" name="AutoShape 32">
            <a:extLst>
              <a:ext uri="{FF2B5EF4-FFF2-40B4-BE49-F238E27FC236}">
                <a16:creationId xmlns:a16="http://schemas.microsoft.com/office/drawing/2014/main" id="{95006807-05CC-E5AD-7916-C49E0CA14D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504406" y="3810794"/>
            <a:ext cx="1588" cy="1828800"/>
          </a:xfrm>
          <a:prstGeom prst="curvedConnector3">
            <a:avLst>
              <a:gd name="adj1" fmla="val -20400005"/>
            </a:avLst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8AF4386-5000-A5CE-BA0C-D378E256460F}"/>
              </a:ext>
            </a:extLst>
          </p:cNvPr>
          <p:cNvGrpSpPr/>
          <p:nvPr/>
        </p:nvGrpSpPr>
        <p:grpSpPr>
          <a:xfrm>
            <a:off x="1676400" y="5181600"/>
            <a:ext cx="4876800" cy="457200"/>
            <a:chOff x="1676400" y="5181600"/>
            <a:chExt cx="4876800" cy="457200"/>
          </a:xfrm>
        </p:grpSpPr>
        <p:sp>
          <p:nvSpPr>
            <p:cNvPr id="38936" name="Text Box 24">
              <a:extLst>
                <a:ext uri="{FF2B5EF4-FFF2-40B4-BE49-F238E27FC236}">
                  <a16:creationId xmlns:a16="http://schemas.microsoft.com/office/drawing/2014/main" id="{7EA07605-1C2F-5274-789D-5E2621CF9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38937" name="Text Box 25">
              <a:extLst>
                <a:ext uri="{FF2B5EF4-FFF2-40B4-BE49-F238E27FC236}">
                  <a16:creationId xmlns:a16="http://schemas.microsoft.com/office/drawing/2014/main" id="{00EAE5AD-4AF9-E4BF-1A12-6DADDF2CE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38938" name="Text Box 26">
              <a:extLst>
                <a:ext uri="{FF2B5EF4-FFF2-40B4-BE49-F238E27FC236}">
                  <a16:creationId xmlns:a16="http://schemas.microsoft.com/office/drawing/2014/main" id="{021B6E36-671A-1774-9C12-2E1E34360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38939" name="Text Box 27">
              <a:extLst>
                <a:ext uri="{FF2B5EF4-FFF2-40B4-BE49-F238E27FC236}">
                  <a16:creationId xmlns:a16="http://schemas.microsoft.com/office/drawing/2014/main" id="{AD22789B-4B9E-E1F3-2ABE-C7F8199DB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38940" name="Text Box 28">
              <a:extLst>
                <a:ext uri="{FF2B5EF4-FFF2-40B4-BE49-F238E27FC236}">
                  <a16:creationId xmlns:a16="http://schemas.microsoft.com/office/drawing/2014/main" id="{BDFA89CD-2316-8F09-F599-2FCB2E9C3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38941" name="Text Box 29">
              <a:extLst>
                <a:ext uri="{FF2B5EF4-FFF2-40B4-BE49-F238E27FC236}">
                  <a16:creationId xmlns:a16="http://schemas.microsoft.com/office/drawing/2014/main" id="{181B509B-241C-0C8F-2801-167373D9F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38942" name="Text Box 30">
              <a:extLst>
                <a:ext uri="{FF2B5EF4-FFF2-40B4-BE49-F238E27FC236}">
                  <a16:creationId xmlns:a16="http://schemas.microsoft.com/office/drawing/2014/main" id="{0E135F62-2B27-B785-78E4-AD9A27149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38945" name="Text Box 33">
              <a:extLst>
                <a:ext uri="{FF2B5EF4-FFF2-40B4-BE49-F238E27FC236}">
                  <a16:creationId xmlns:a16="http://schemas.microsoft.com/office/drawing/2014/main" id="{E61A5531-0D12-9CB1-49A9-BBA10EDF3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7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B2E6390-7C15-96F8-42CC-9BD241DAB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Using Binary Heaps for Sorting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EB4077-22C6-96F4-39F4-2A012BEFE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4953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Build a </a:t>
            </a:r>
            <a:r>
              <a:rPr lang="en-US" altLang="en-US" sz="2800" u="sng">
                <a:solidFill>
                  <a:srgbClr val="0000FF"/>
                </a:solidFill>
              </a:rPr>
              <a:t>max-heap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Do N </a:t>
            </a:r>
            <a:r>
              <a:rPr lang="en-US" altLang="en-US" sz="2800" u="sng">
                <a:solidFill>
                  <a:srgbClr val="0000FF"/>
                </a:solidFill>
              </a:rPr>
              <a:t>DeleteMax </a:t>
            </a:r>
            <a:r>
              <a:rPr lang="en-US" altLang="en-US" sz="2800"/>
              <a:t>operations and store each Max element as it comes out of the heap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Data comes out in largest to smallest order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Where can we put the elements as they are removed from the heap?</a:t>
            </a:r>
          </a:p>
        </p:txBody>
      </p:sp>
      <p:sp>
        <p:nvSpPr>
          <p:cNvPr id="39940" name="Line 4">
            <a:extLst>
              <a:ext uri="{FF2B5EF4-FFF2-40B4-BE49-F238E27FC236}">
                <a16:creationId xmlns:a16="http://schemas.microsoft.com/office/drawing/2014/main" id="{D5AE3F6C-307E-0F0E-96AD-7B2B1DB35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1963" y="3694113"/>
            <a:ext cx="0" cy="369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85C293D2-B343-0CA6-A754-7C4E9D9E4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2206625"/>
            <a:ext cx="1355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Build</a:t>
            </a:r>
          </a:p>
          <a:p>
            <a:pPr algn="ctr"/>
            <a:r>
              <a:rPr lang="en-US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Max-heap</a:t>
            </a:r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7D35FDCC-22DB-84EB-2A86-3CAA1FEB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4025"/>
            <a:ext cx="1439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DeleteMax</a:t>
            </a:r>
          </a:p>
        </p:txBody>
      </p:sp>
      <p:sp>
        <p:nvSpPr>
          <p:cNvPr id="39943" name="Oval 7">
            <a:extLst>
              <a:ext uri="{FF2B5EF4-FFF2-40B4-BE49-F238E27FC236}">
                <a16:creationId xmlns:a16="http://schemas.microsoft.com/office/drawing/2014/main" id="{7A861D71-2911-C25B-D050-47CC3E10F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19812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17698F43-288B-D1F0-10D1-E435B308F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313" y="25146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39945" name="Oval 9">
            <a:extLst>
              <a:ext uri="{FF2B5EF4-FFF2-40B4-BE49-F238E27FC236}">
                <a16:creationId xmlns:a16="http://schemas.microsoft.com/office/drawing/2014/main" id="{DC423533-9348-F293-6345-1D90B1D6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25146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cxnSp>
        <p:nvCxnSpPr>
          <p:cNvPr id="39946" name="AutoShape 10">
            <a:extLst>
              <a:ext uri="{FF2B5EF4-FFF2-40B4-BE49-F238E27FC236}">
                <a16:creationId xmlns:a16="http://schemas.microsoft.com/office/drawing/2014/main" id="{6B9D2AB4-EA96-7F24-1D99-687ECAB3172E}"/>
              </a:ext>
            </a:extLst>
          </p:cNvPr>
          <p:cNvCxnSpPr>
            <a:cxnSpLocks noChangeShapeType="1"/>
            <a:stCxn id="39943" idx="3"/>
            <a:endCxn id="39945" idx="0"/>
          </p:cNvCxnSpPr>
          <p:nvPr/>
        </p:nvCxnSpPr>
        <p:spPr bwMode="auto">
          <a:xfrm flipH="1">
            <a:off x="7600950" y="22748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7" name="AutoShape 11">
            <a:extLst>
              <a:ext uri="{FF2B5EF4-FFF2-40B4-BE49-F238E27FC236}">
                <a16:creationId xmlns:a16="http://schemas.microsoft.com/office/drawing/2014/main" id="{84F52A2A-F7A2-1E01-4163-C2E05C977170}"/>
              </a:ext>
            </a:extLst>
          </p:cNvPr>
          <p:cNvCxnSpPr>
            <a:cxnSpLocks noChangeShapeType="1"/>
            <a:stCxn id="39943" idx="5"/>
            <a:endCxn id="39944" idx="0"/>
          </p:cNvCxnSpPr>
          <p:nvPr/>
        </p:nvCxnSpPr>
        <p:spPr bwMode="auto">
          <a:xfrm>
            <a:off x="8178800" y="2274888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8" name="Oval 12">
            <a:extLst>
              <a:ext uri="{FF2B5EF4-FFF2-40B4-BE49-F238E27FC236}">
                <a16:creationId xmlns:a16="http://schemas.microsoft.com/office/drawing/2014/main" id="{CF09BD52-A9F3-F9A8-5D5C-54FBDEC16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0845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39949" name="Oval 13">
            <a:extLst>
              <a:ext uri="{FF2B5EF4-FFF2-40B4-BE49-F238E27FC236}">
                <a16:creationId xmlns:a16="http://schemas.microsoft.com/office/drawing/2014/main" id="{96EA99A4-B31C-F3DB-FB49-A8A20BBA7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0845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39950" name="AutoShape 14">
            <a:extLst>
              <a:ext uri="{FF2B5EF4-FFF2-40B4-BE49-F238E27FC236}">
                <a16:creationId xmlns:a16="http://schemas.microsoft.com/office/drawing/2014/main" id="{76CFC1B9-0102-7DD5-3398-F31156A3ADE6}"/>
              </a:ext>
            </a:extLst>
          </p:cNvPr>
          <p:cNvCxnSpPr>
            <a:cxnSpLocks noChangeShapeType="1"/>
            <a:stCxn id="39945" idx="3"/>
            <a:endCxn id="39949" idx="0"/>
          </p:cNvCxnSpPr>
          <p:nvPr/>
        </p:nvCxnSpPr>
        <p:spPr bwMode="auto">
          <a:xfrm flipH="1">
            <a:off x="7107238" y="2808288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1" name="AutoShape 15">
            <a:extLst>
              <a:ext uri="{FF2B5EF4-FFF2-40B4-BE49-F238E27FC236}">
                <a16:creationId xmlns:a16="http://schemas.microsoft.com/office/drawing/2014/main" id="{5ED8E38D-454E-F5D3-2FF0-F479D6B58E67}"/>
              </a:ext>
            </a:extLst>
          </p:cNvPr>
          <p:cNvCxnSpPr>
            <a:cxnSpLocks noChangeShapeType="1"/>
            <a:stCxn id="39945" idx="5"/>
            <a:endCxn id="39948" idx="0"/>
          </p:cNvCxnSpPr>
          <p:nvPr/>
        </p:nvCxnSpPr>
        <p:spPr bwMode="auto">
          <a:xfrm>
            <a:off x="7721600" y="2808288"/>
            <a:ext cx="300038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52" name="Oval 16">
            <a:extLst>
              <a:ext uri="{FF2B5EF4-FFF2-40B4-BE49-F238E27FC236}">
                <a16:creationId xmlns:a16="http://schemas.microsoft.com/office/drawing/2014/main" id="{15C90FAD-4045-9093-A10C-F24FD78BF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343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39953" name="Oval 17">
            <a:extLst>
              <a:ext uri="{FF2B5EF4-FFF2-40B4-BE49-F238E27FC236}">
                <a16:creationId xmlns:a16="http://schemas.microsoft.com/office/drawing/2014/main" id="{4AAC515E-0EB0-15CC-78FB-31DC2F58D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313" y="48768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39954" name="Oval 18">
            <a:extLst>
              <a:ext uri="{FF2B5EF4-FFF2-40B4-BE49-F238E27FC236}">
                <a16:creationId xmlns:a16="http://schemas.microsoft.com/office/drawing/2014/main" id="{62F05CE0-EDC5-52A2-1ADA-8649EDD7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8768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cxnSp>
        <p:nvCxnSpPr>
          <p:cNvPr id="39955" name="AutoShape 19">
            <a:extLst>
              <a:ext uri="{FF2B5EF4-FFF2-40B4-BE49-F238E27FC236}">
                <a16:creationId xmlns:a16="http://schemas.microsoft.com/office/drawing/2014/main" id="{908F09B9-D09D-90E2-F01B-742AB2909734}"/>
              </a:ext>
            </a:extLst>
          </p:cNvPr>
          <p:cNvCxnSpPr>
            <a:cxnSpLocks noChangeShapeType="1"/>
            <a:stCxn id="39952" idx="3"/>
            <a:endCxn id="39954" idx="0"/>
          </p:cNvCxnSpPr>
          <p:nvPr/>
        </p:nvCxnSpPr>
        <p:spPr bwMode="auto">
          <a:xfrm flipH="1">
            <a:off x="7600950" y="46370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6" name="AutoShape 20">
            <a:extLst>
              <a:ext uri="{FF2B5EF4-FFF2-40B4-BE49-F238E27FC236}">
                <a16:creationId xmlns:a16="http://schemas.microsoft.com/office/drawing/2014/main" id="{2DA35010-0780-EE1F-CF64-9006BFF65FB4}"/>
              </a:ext>
            </a:extLst>
          </p:cNvPr>
          <p:cNvCxnSpPr>
            <a:cxnSpLocks noChangeShapeType="1"/>
            <a:stCxn id="39952" idx="5"/>
            <a:endCxn id="39953" idx="0"/>
          </p:cNvCxnSpPr>
          <p:nvPr/>
        </p:nvCxnSpPr>
        <p:spPr bwMode="auto">
          <a:xfrm>
            <a:off x="8178800" y="4637088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57" name="Oval 21">
            <a:extLst>
              <a:ext uri="{FF2B5EF4-FFF2-40B4-BE49-F238E27FC236}">
                <a16:creationId xmlns:a16="http://schemas.microsoft.com/office/drawing/2014/main" id="{C1FFE08A-5664-BF13-C78B-641C0A8A4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4467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39958" name="Oval 22">
            <a:extLst>
              <a:ext uri="{FF2B5EF4-FFF2-40B4-BE49-F238E27FC236}">
                <a16:creationId xmlns:a16="http://schemas.microsoft.com/office/drawing/2014/main" id="{4BD38A80-FEAB-CAD7-5AE5-3F436B576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4467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39959" name="AutoShape 23">
            <a:extLst>
              <a:ext uri="{FF2B5EF4-FFF2-40B4-BE49-F238E27FC236}">
                <a16:creationId xmlns:a16="http://schemas.microsoft.com/office/drawing/2014/main" id="{D435EF6A-9F38-8B8E-3F52-79361F3EDEF3}"/>
              </a:ext>
            </a:extLst>
          </p:cNvPr>
          <p:cNvCxnSpPr>
            <a:cxnSpLocks noChangeShapeType="1"/>
            <a:stCxn id="39954" idx="3"/>
            <a:endCxn id="39958" idx="0"/>
          </p:cNvCxnSpPr>
          <p:nvPr/>
        </p:nvCxnSpPr>
        <p:spPr bwMode="auto">
          <a:xfrm flipH="1">
            <a:off x="7107238" y="5170488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DE32583-F84B-D74D-0A2F-0374242B4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1 Removal = 1 Addition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241FF61-3232-95B0-B380-F656C34E8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545388" cy="2743200"/>
          </a:xfrm>
        </p:spPr>
        <p:txBody>
          <a:bodyPr/>
          <a:lstStyle/>
          <a:p>
            <a:pPr eaLnBrk="1" hangingPunct="1"/>
            <a:r>
              <a:rPr lang="en-US" altLang="en-US" sz="2800"/>
              <a:t>Every time we do a DeleteMax, the heap gets smaller by one node, and we have one more node to store</a:t>
            </a:r>
          </a:p>
          <a:p>
            <a:pPr lvl="1" eaLnBrk="1" hangingPunct="1"/>
            <a:r>
              <a:rPr lang="en-US" altLang="en-US" sz="2400"/>
              <a:t>Store the data at the end of the heap array</a:t>
            </a:r>
          </a:p>
          <a:p>
            <a:pPr lvl="1" eaLnBrk="1" hangingPunct="1"/>
            <a:r>
              <a:rPr lang="en-US" altLang="en-US" sz="2400"/>
              <a:t>Not "in the heap" but it is in the heap array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E76B6431-36D4-8739-D25C-DACEF3632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637213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 = 4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82B6A0FA-64F5-EE16-2A47-225BD2B4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768850"/>
            <a:ext cx="62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value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25EE83E3-756E-B43A-D3EA-892C636AC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5181600"/>
            <a:ext cx="6365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index</a:t>
            </a:r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0E8EC3D6-1AE4-40CC-7D01-2C6BD61F1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A402C34E-16CD-63DE-CDF7-D5FCD408D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BE0576DF-77C6-D062-2758-AA0FED957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919634AD-3A40-7CA6-FB07-10A0E4753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A8BBE2F9-96AC-5377-2C32-4728C4BE2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7244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0972" name="Text Box 12">
            <a:extLst>
              <a:ext uri="{FF2B5EF4-FFF2-40B4-BE49-F238E27FC236}">
                <a16:creationId xmlns:a16="http://schemas.microsoft.com/office/drawing/2014/main" id="{34B73D26-673D-B348-F2FF-E16DCE2C8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 </a:t>
            </a:r>
          </a:p>
        </p:txBody>
      </p:sp>
      <p:sp>
        <p:nvSpPr>
          <p:cNvPr id="40973" name="Text Box 13">
            <a:extLst>
              <a:ext uri="{FF2B5EF4-FFF2-40B4-BE49-F238E27FC236}">
                <a16:creationId xmlns:a16="http://schemas.microsoft.com/office/drawing/2014/main" id="{E40FC04F-C3F9-C3E5-AFAC-5AAFB2C1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0974" name="Text Box 14">
            <a:extLst>
              <a:ext uri="{FF2B5EF4-FFF2-40B4-BE49-F238E27FC236}">
                <a16:creationId xmlns:a16="http://schemas.microsoft.com/office/drawing/2014/main" id="{1ECD5780-49AE-7069-6D25-079370FE3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7244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0975" name="Text Box 15">
            <a:extLst>
              <a:ext uri="{FF2B5EF4-FFF2-40B4-BE49-F238E27FC236}">
                <a16:creationId xmlns:a16="http://schemas.microsoft.com/office/drawing/2014/main" id="{8D28A93D-EA06-A85F-6959-81E919179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181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40983" name="Oval 23">
            <a:extLst>
              <a:ext uri="{FF2B5EF4-FFF2-40B4-BE49-F238E27FC236}">
                <a16:creationId xmlns:a16="http://schemas.microsoft.com/office/drawing/2014/main" id="{7307C4BA-C5F2-530E-7CBA-863BE445F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343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0984" name="Oval 24">
            <a:extLst>
              <a:ext uri="{FF2B5EF4-FFF2-40B4-BE49-F238E27FC236}">
                <a16:creationId xmlns:a16="http://schemas.microsoft.com/office/drawing/2014/main" id="{16EF532B-D89C-051E-5E98-F288461E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313" y="48768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0985" name="Oval 25">
            <a:extLst>
              <a:ext uri="{FF2B5EF4-FFF2-40B4-BE49-F238E27FC236}">
                <a16:creationId xmlns:a16="http://schemas.microsoft.com/office/drawing/2014/main" id="{B57BCD94-2580-2F9B-9567-F419E7B96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913" y="48768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cxnSp>
        <p:nvCxnSpPr>
          <p:cNvPr id="40986" name="AutoShape 26">
            <a:extLst>
              <a:ext uri="{FF2B5EF4-FFF2-40B4-BE49-F238E27FC236}">
                <a16:creationId xmlns:a16="http://schemas.microsoft.com/office/drawing/2014/main" id="{6BA52E52-34D0-BD97-8B1F-479E7AC8D67F}"/>
              </a:ext>
            </a:extLst>
          </p:cNvPr>
          <p:cNvCxnSpPr>
            <a:cxnSpLocks noChangeShapeType="1"/>
            <a:stCxn id="40983" idx="3"/>
            <a:endCxn id="40985" idx="0"/>
          </p:cNvCxnSpPr>
          <p:nvPr/>
        </p:nvCxnSpPr>
        <p:spPr bwMode="auto">
          <a:xfrm flipH="1">
            <a:off x="7600950" y="46370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7" name="AutoShape 27">
            <a:extLst>
              <a:ext uri="{FF2B5EF4-FFF2-40B4-BE49-F238E27FC236}">
                <a16:creationId xmlns:a16="http://schemas.microsoft.com/office/drawing/2014/main" id="{E7C7D0FA-BAC5-BCBA-5473-89687373EA22}"/>
              </a:ext>
            </a:extLst>
          </p:cNvPr>
          <p:cNvCxnSpPr>
            <a:cxnSpLocks noChangeShapeType="1"/>
            <a:stCxn id="40983" idx="5"/>
            <a:endCxn id="40984" idx="0"/>
          </p:cNvCxnSpPr>
          <p:nvPr/>
        </p:nvCxnSpPr>
        <p:spPr bwMode="auto">
          <a:xfrm>
            <a:off x="8178800" y="4637088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8" name="Oval 28">
            <a:extLst>
              <a:ext uri="{FF2B5EF4-FFF2-40B4-BE49-F238E27FC236}">
                <a16:creationId xmlns:a16="http://schemas.microsoft.com/office/drawing/2014/main" id="{E1FD808D-4A1D-5755-7DD1-194E26619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4467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0989" name="Oval 29">
            <a:extLst>
              <a:ext uri="{FF2B5EF4-FFF2-40B4-BE49-F238E27FC236}">
                <a16:creationId xmlns:a16="http://schemas.microsoft.com/office/drawing/2014/main" id="{02747270-8409-B51F-8AC0-EA86D3C4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446713"/>
            <a:ext cx="344488" cy="34448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40990" name="AutoShape 30">
            <a:extLst>
              <a:ext uri="{FF2B5EF4-FFF2-40B4-BE49-F238E27FC236}">
                <a16:creationId xmlns:a16="http://schemas.microsoft.com/office/drawing/2014/main" id="{255B34C5-58C0-1E00-6C69-087BFB816057}"/>
              </a:ext>
            </a:extLst>
          </p:cNvPr>
          <p:cNvCxnSpPr>
            <a:cxnSpLocks noChangeShapeType="1"/>
            <a:stCxn id="40985" idx="3"/>
            <a:endCxn id="40989" idx="0"/>
          </p:cNvCxnSpPr>
          <p:nvPr/>
        </p:nvCxnSpPr>
        <p:spPr bwMode="auto">
          <a:xfrm flipH="1">
            <a:off x="7107238" y="5170488"/>
            <a:ext cx="371475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52564CF-9383-28C8-DAF5-027CEE734593}"/>
              </a:ext>
            </a:extLst>
          </p:cNvPr>
          <p:cNvGrpSpPr/>
          <p:nvPr/>
        </p:nvGrpSpPr>
        <p:grpSpPr>
          <a:xfrm>
            <a:off x="1676400" y="5181600"/>
            <a:ext cx="4876800" cy="457200"/>
            <a:chOff x="1676400" y="5181600"/>
            <a:chExt cx="4876800" cy="457200"/>
          </a:xfrm>
        </p:grpSpPr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B998E2E5-157F-C2B1-FC9C-F799C6FF4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37B6DF63-B16B-2C8A-BDDE-7AFB4446A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5" name="Text Box 26">
              <a:extLst>
                <a:ext uri="{FF2B5EF4-FFF2-40B4-BE49-F238E27FC236}">
                  <a16:creationId xmlns:a16="http://schemas.microsoft.com/office/drawing/2014/main" id="{34FD0383-DD80-E20C-EA87-D55AC3E59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6" name="Text Box 27">
              <a:extLst>
                <a:ext uri="{FF2B5EF4-FFF2-40B4-BE49-F238E27FC236}">
                  <a16:creationId xmlns:a16="http://schemas.microsoft.com/office/drawing/2014/main" id="{FCCFE2AB-014A-7407-6F3A-9D4CD00F6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153C4397-D8D2-C2E6-B368-8EBD0F797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38AE7BD9-F73E-8910-56C2-AC782A0EE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EC22B22D-B73F-B3A4-EEE9-59515A19C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" name="Text Box 33">
              <a:extLst>
                <a:ext uri="{FF2B5EF4-FFF2-40B4-BE49-F238E27FC236}">
                  <a16:creationId xmlns:a16="http://schemas.microsoft.com/office/drawing/2014/main" id="{5D9D6F06-EB2A-C2AD-9B9F-EA099D2A0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7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81E6107-40DE-EB3D-7894-C93A1C773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Repeated DeleteMax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2841E0B1-420C-C163-B52C-9925F44C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276600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 = 3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4E23D6DA-D895-6CEA-932B-1751C6921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6A8323BF-2A99-3438-DBAF-91B69A13C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D4550083-3C8D-2264-98F1-0B956359C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A3694EC9-41F1-3398-FC36-38A98D60F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860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FA3D4E92-50FA-F959-9314-DBC516381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860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F97F2260-A269-62B7-25CA-908EE0696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 </a:t>
            </a:r>
          </a:p>
        </p:txBody>
      </p:sp>
      <p:sp>
        <p:nvSpPr>
          <p:cNvPr id="41994" name="Text Box 10">
            <a:extLst>
              <a:ext uri="{FF2B5EF4-FFF2-40B4-BE49-F238E27FC236}">
                <a16:creationId xmlns:a16="http://schemas.microsoft.com/office/drawing/2014/main" id="{1D659D3B-E4D0-3F9E-CE95-0A10FB60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1995" name="Text Box 11">
            <a:extLst>
              <a:ext uri="{FF2B5EF4-FFF2-40B4-BE49-F238E27FC236}">
                <a16:creationId xmlns:a16="http://schemas.microsoft.com/office/drawing/2014/main" id="{11AD8101-E754-CCA5-5DCF-A9A457CDD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86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1996" name="Text Box 12">
            <a:extLst>
              <a:ext uri="{FF2B5EF4-FFF2-40B4-BE49-F238E27FC236}">
                <a16:creationId xmlns:a16="http://schemas.microsoft.com/office/drawing/2014/main" id="{9732F521-2981-BD75-586F-D73DB0681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42004" name="Oval 20">
            <a:extLst>
              <a:ext uri="{FF2B5EF4-FFF2-40B4-BE49-F238E27FC236}">
                <a16:creationId xmlns:a16="http://schemas.microsoft.com/office/drawing/2014/main" id="{7A781742-B22C-BA25-C9A7-CA8585E2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13" y="19050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2005" name="Oval 21">
            <a:extLst>
              <a:ext uri="{FF2B5EF4-FFF2-40B4-BE49-F238E27FC236}">
                <a16:creationId xmlns:a16="http://schemas.microsoft.com/office/drawing/2014/main" id="{4EA0E681-4BC2-E05B-4E0A-2C41C6A8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2438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2006" name="Oval 22">
            <a:extLst>
              <a:ext uri="{FF2B5EF4-FFF2-40B4-BE49-F238E27FC236}">
                <a16:creationId xmlns:a16="http://schemas.microsoft.com/office/drawing/2014/main" id="{FEEA4C33-A359-577E-E85F-55FB6070B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2438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42007" name="AutoShape 23">
            <a:extLst>
              <a:ext uri="{FF2B5EF4-FFF2-40B4-BE49-F238E27FC236}">
                <a16:creationId xmlns:a16="http://schemas.microsoft.com/office/drawing/2014/main" id="{52BB4829-7223-733F-915A-873CEF53BFCB}"/>
              </a:ext>
            </a:extLst>
          </p:cNvPr>
          <p:cNvCxnSpPr>
            <a:cxnSpLocks noChangeShapeType="1"/>
            <a:stCxn id="42004" idx="3"/>
            <a:endCxn id="42006" idx="0"/>
          </p:cNvCxnSpPr>
          <p:nvPr/>
        </p:nvCxnSpPr>
        <p:spPr bwMode="auto">
          <a:xfrm flipH="1">
            <a:off x="6991350" y="21986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8" name="AutoShape 24">
            <a:extLst>
              <a:ext uri="{FF2B5EF4-FFF2-40B4-BE49-F238E27FC236}">
                <a16:creationId xmlns:a16="http://schemas.microsoft.com/office/drawing/2014/main" id="{DAD9B6FA-AF76-04DB-0E24-70D4AEDE504D}"/>
              </a:ext>
            </a:extLst>
          </p:cNvPr>
          <p:cNvCxnSpPr>
            <a:cxnSpLocks noChangeShapeType="1"/>
            <a:stCxn id="42004" idx="5"/>
            <a:endCxn id="42005" idx="0"/>
          </p:cNvCxnSpPr>
          <p:nvPr/>
        </p:nvCxnSpPr>
        <p:spPr bwMode="auto">
          <a:xfrm>
            <a:off x="7569200" y="2198688"/>
            <a:ext cx="336550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9" name="Oval 25">
            <a:extLst>
              <a:ext uri="{FF2B5EF4-FFF2-40B4-BE49-F238E27FC236}">
                <a16:creationId xmlns:a16="http://schemas.microsoft.com/office/drawing/2014/main" id="{E48739F5-1EDA-1C08-F7FF-22E9C7A28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0083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2010" name="Oval 26">
            <a:extLst>
              <a:ext uri="{FF2B5EF4-FFF2-40B4-BE49-F238E27FC236}">
                <a16:creationId xmlns:a16="http://schemas.microsoft.com/office/drawing/2014/main" id="{3252532C-E049-DC95-433F-DC4BEABEA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0083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2011" name="Text Box 27">
            <a:extLst>
              <a:ext uri="{FF2B5EF4-FFF2-40B4-BE49-F238E27FC236}">
                <a16:creationId xmlns:a16="http://schemas.microsoft.com/office/drawing/2014/main" id="{D45F232C-F5E4-0456-B4EB-1032EB547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181600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 = 2</a:t>
            </a:r>
          </a:p>
        </p:txBody>
      </p:sp>
      <p:sp>
        <p:nvSpPr>
          <p:cNvPr id="42012" name="Text Box 28">
            <a:extLst>
              <a:ext uri="{FF2B5EF4-FFF2-40B4-BE49-F238E27FC236}">
                <a16:creationId xmlns:a16="http://schemas.microsoft.com/office/drawing/2014/main" id="{F2E533A8-1081-EFDC-1728-9B3E5A3E4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191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6D3A3616-A939-9CCF-B52F-C2F0CF4CA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191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42014" name="Text Box 30">
            <a:extLst>
              <a:ext uri="{FF2B5EF4-FFF2-40B4-BE49-F238E27FC236}">
                <a16:creationId xmlns:a16="http://schemas.microsoft.com/office/drawing/2014/main" id="{CD271DF3-881D-8010-DC74-783362A23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1910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2015" name="Text Box 31">
            <a:extLst>
              <a:ext uri="{FF2B5EF4-FFF2-40B4-BE49-F238E27FC236}">
                <a16:creationId xmlns:a16="http://schemas.microsoft.com/office/drawing/2014/main" id="{ABBF83BF-2794-0D83-567E-2857683F0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910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2016" name="Text Box 32">
            <a:extLst>
              <a:ext uri="{FF2B5EF4-FFF2-40B4-BE49-F238E27FC236}">
                <a16:creationId xmlns:a16="http://schemas.microsoft.com/office/drawing/2014/main" id="{B37D73C8-83AE-6131-0B3C-644ADA685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1910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2017" name="Text Box 33">
            <a:extLst>
              <a:ext uri="{FF2B5EF4-FFF2-40B4-BE49-F238E27FC236}">
                <a16:creationId xmlns:a16="http://schemas.microsoft.com/office/drawing/2014/main" id="{75DCC3F1-4981-E4E3-B37F-D502FCCE9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191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 </a:t>
            </a:r>
          </a:p>
        </p:txBody>
      </p:sp>
      <p:sp>
        <p:nvSpPr>
          <p:cNvPr id="42018" name="Text Box 34">
            <a:extLst>
              <a:ext uri="{FF2B5EF4-FFF2-40B4-BE49-F238E27FC236}">
                <a16:creationId xmlns:a16="http://schemas.microsoft.com/office/drawing/2014/main" id="{0B050695-769C-C538-D61A-6FBA4D58A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191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2019" name="Text Box 35">
            <a:extLst>
              <a:ext uri="{FF2B5EF4-FFF2-40B4-BE49-F238E27FC236}">
                <a16:creationId xmlns:a16="http://schemas.microsoft.com/office/drawing/2014/main" id="{FB9F4242-60E7-803B-80A6-1D41E1A11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910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2028" name="Oval 44">
            <a:extLst>
              <a:ext uri="{FF2B5EF4-FFF2-40B4-BE49-F238E27FC236}">
                <a16:creationId xmlns:a16="http://schemas.microsoft.com/office/drawing/2014/main" id="{31936FD6-8009-CC18-2733-3E5CC2C3F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13" y="38100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2029" name="Oval 45">
            <a:extLst>
              <a:ext uri="{FF2B5EF4-FFF2-40B4-BE49-F238E27FC236}">
                <a16:creationId xmlns:a16="http://schemas.microsoft.com/office/drawing/2014/main" id="{5C6CF657-79C5-A73A-76AD-08B5B80FB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343400"/>
            <a:ext cx="344487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2030" name="Oval 46">
            <a:extLst>
              <a:ext uri="{FF2B5EF4-FFF2-40B4-BE49-F238E27FC236}">
                <a16:creationId xmlns:a16="http://schemas.microsoft.com/office/drawing/2014/main" id="{C43BD5F5-D6EB-2F52-1A4F-7767BFD99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4343400"/>
            <a:ext cx="344487" cy="3444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cxnSp>
        <p:nvCxnSpPr>
          <p:cNvPr id="42031" name="AutoShape 47">
            <a:extLst>
              <a:ext uri="{FF2B5EF4-FFF2-40B4-BE49-F238E27FC236}">
                <a16:creationId xmlns:a16="http://schemas.microsoft.com/office/drawing/2014/main" id="{45A5BFB2-C0EB-BB30-C73D-4C240D6B6DC7}"/>
              </a:ext>
            </a:extLst>
          </p:cNvPr>
          <p:cNvCxnSpPr>
            <a:cxnSpLocks noChangeShapeType="1"/>
            <a:stCxn id="42028" idx="3"/>
            <a:endCxn id="42030" idx="0"/>
          </p:cNvCxnSpPr>
          <p:nvPr/>
        </p:nvCxnSpPr>
        <p:spPr bwMode="auto">
          <a:xfrm flipH="1">
            <a:off x="6991350" y="4103688"/>
            <a:ext cx="334963" cy="239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2" name="Oval 48">
            <a:extLst>
              <a:ext uri="{FF2B5EF4-FFF2-40B4-BE49-F238E27FC236}">
                <a16:creationId xmlns:a16="http://schemas.microsoft.com/office/drawing/2014/main" id="{F12C38FD-8800-97C7-B9C5-28E4257B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9133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2033" name="Oval 49">
            <a:extLst>
              <a:ext uri="{FF2B5EF4-FFF2-40B4-BE49-F238E27FC236}">
                <a16:creationId xmlns:a16="http://schemas.microsoft.com/office/drawing/2014/main" id="{9DDCAC5C-2DD6-19A4-131E-E6C43F55A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913313"/>
            <a:ext cx="344488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1ECE15-3CAA-AFAE-2EEF-C286A196667C}"/>
              </a:ext>
            </a:extLst>
          </p:cNvPr>
          <p:cNvGrpSpPr/>
          <p:nvPr/>
        </p:nvGrpSpPr>
        <p:grpSpPr>
          <a:xfrm>
            <a:off x="1066800" y="4635640"/>
            <a:ext cx="4876800" cy="457200"/>
            <a:chOff x="1676400" y="5181600"/>
            <a:chExt cx="4876800" cy="457200"/>
          </a:xfrm>
        </p:grpSpPr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0621A52A-8CBB-A7DD-9861-79BAD3D8A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94A1114D-66DD-1B21-53F5-21B360A55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5" name="Text Box 26">
              <a:extLst>
                <a:ext uri="{FF2B5EF4-FFF2-40B4-BE49-F238E27FC236}">
                  <a16:creationId xmlns:a16="http://schemas.microsoft.com/office/drawing/2014/main" id="{8B5251CC-84D7-F1DB-D970-C0C4F48D7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6" name="Text Box 27">
              <a:extLst>
                <a:ext uri="{FF2B5EF4-FFF2-40B4-BE49-F238E27FC236}">
                  <a16:creationId xmlns:a16="http://schemas.microsoft.com/office/drawing/2014/main" id="{27D53510-989B-405B-1288-7C47DC977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0BBFB113-ABB2-C3B7-41BB-6F448B7CC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EAC1B0E2-C088-8553-4020-7868429F0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5C46DB9D-3407-F7BB-A496-8DC0C5888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" name="Text Box 33">
              <a:extLst>
                <a:ext uri="{FF2B5EF4-FFF2-40B4-BE49-F238E27FC236}">
                  <a16:creationId xmlns:a16="http://schemas.microsoft.com/office/drawing/2014/main" id="{7217BAD3-3F2A-D9A5-2FD2-ED2CEF333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7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2AAD68-42FD-4E5F-BF8B-B4A5F45365F3}"/>
              </a:ext>
            </a:extLst>
          </p:cNvPr>
          <p:cNvGrpSpPr/>
          <p:nvPr/>
        </p:nvGrpSpPr>
        <p:grpSpPr>
          <a:xfrm>
            <a:off x="1070987" y="2771252"/>
            <a:ext cx="4876800" cy="457200"/>
            <a:chOff x="1676400" y="5181600"/>
            <a:chExt cx="4876800" cy="457200"/>
          </a:xfrm>
        </p:grpSpPr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12231F90-49AE-BF4A-7FFE-58289FFEA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6FDCEACA-2BA0-AC74-E671-AC3953489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EB328BD7-9BA2-DFD7-8408-B4AC5ECE0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5" name="Text Box 27">
              <a:extLst>
                <a:ext uri="{FF2B5EF4-FFF2-40B4-BE49-F238E27FC236}">
                  <a16:creationId xmlns:a16="http://schemas.microsoft.com/office/drawing/2014/main" id="{51DE80E1-AC80-F46A-CDD3-A738E6347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B057C226-AEC1-9327-201F-2ABCDFDCD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7" name="Text Box 29">
              <a:extLst>
                <a:ext uri="{FF2B5EF4-FFF2-40B4-BE49-F238E27FC236}">
                  <a16:creationId xmlns:a16="http://schemas.microsoft.com/office/drawing/2014/main" id="{D4702E4F-19CF-C297-5CA5-F41ADCEC2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8" name="Text Box 30">
              <a:extLst>
                <a:ext uri="{FF2B5EF4-FFF2-40B4-BE49-F238E27FC236}">
                  <a16:creationId xmlns:a16="http://schemas.microsoft.com/office/drawing/2014/main" id="{935FAF65-9B5F-57ED-07CB-203630F0F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9" name="Text Box 33">
              <a:extLst>
                <a:ext uri="{FF2B5EF4-FFF2-40B4-BE49-F238E27FC236}">
                  <a16:creationId xmlns:a16="http://schemas.microsoft.com/office/drawing/2014/main" id="{CFD39AAC-44B7-80EA-3469-0AE31E0A7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7E36783-5D59-4E4A-2D39-27E2ED00A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Heap Sort is In-place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8016C43-5231-EF18-D0A2-71FF1FA6A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545388" cy="1066800"/>
          </a:xfrm>
        </p:spPr>
        <p:txBody>
          <a:bodyPr/>
          <a:lstStyle/>
          <a:p>
            <a:pPr eaLnBrk="1" hangingPunct="1"/>
            <a:r>
              <a:rPr lang="en-US" altLang="en-US" sz="2800"/>
              <a:t>After all the DeleteMaxs, the heap is gone but the array is full and is in sorted order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E6F1346C-6DEA-8F0D-C1C0-255C86BBE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72000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N = 0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C2B6F838-0747-0640-88BA-A83FF5771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3" y="3702050"/>
            <a:ext cx="62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value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AFF2067A-E21B-F9F0-7DF1-A40D8A40A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4114800"/>
            <a:ext cx="6365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/>
              <a:t>index</a:t>
            </a: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E79F1115-824E-8F54-2841-ACACFBA34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288" y="36576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088CA74A-DA05-13CD-415E-1586E2BF2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888" y="36576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4A546342-7698-5A4F-7A5D-416BCB946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36576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F163F6CC-41AB-A7A1-3A9E-48C9B6CE4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36576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sp>
        <p:nvSpPr>
          <p:cNvPr id="43019" name="Text Box 11">
            <a:extLst>
              <a:ext uri="{FF2B5EF4-FFF2-40B4-BE49-F238E27FC236}">
                <a16:creationId xmlns:a16="http://schemas.microsoft.com/office/drawing/2014/main" id="{1B106C86-C8ED-DDDC-C316-E0D2A003F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688" y="3657600"/>
            <a:ext cx="609600" cy="457200"/>
          </a:xfrm>
          <a:prstGeom prst="rect">
            <a:avLst/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3020" name="Text Box 12">
            <a:extLst>
              <a:ext uri="{FF2B5EF4-FFF2-40B4-BE49-F238E27FC236}">
                <a16:creationId xmlns:a16="http://schemas.microsoft.com/office/drawing/2014/main" id="{27A7A333-81DE-BB22-0635-63CBE18C5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8" y="36576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 </a:t>
            </a:r>
          </a:p>
        </p:txBody>
      </p:sp>
      <p:sp>
        <p:nvSpPr>
          <p:cNvPr id="43021" name="Text Box 13">
            <a:extLst>
              <a:ext uri="{FF2B5EF4-FFF2-40B4-BE49-F238E27FC236}">
                <a16:creationId xmlns:a16="http://schemas.microsoft.com/office/drawing/2014/main" id="{7AA3427D-7F22-CB52-A9EA-AD4B02C17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8" y="36576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3022" name="Text Box 14">
            <a:extLst>
              <a:ext uri="{FF2B5EF4-FFF2-40B4-BE49-F238E27FC236}">
                <a16:creationId xmlns:a16="http://schemas.microsoft.com/office/drawing/2014/main" id="{593CF7F5-27F9-FF11-79AA-406C5D86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488" y="3657600"/>
            <a:ext cx="6096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43031" name="Oval 23">
            <a:extLst>
              <a:ext uri="{FF2B5EF4-FFF2-40B4-BE49-F238E27FC236}">
                <a16:creationId xmlns:a16="http://schemas.microsoft.com/office/drawing/2014/main" id="{BF215FF5-33C4-DA88-5C5F-0415AAD4C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276600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2</a:t>
            </a:r>
          </a:p>
        </p:txBody>
      </p:sp>
      <p:sp>
        <p:nvSpPr>
          <p:cNvPr id="43032" name="Oval 24">
            <a:extLst>
              <a:ext uri="{FF2B5EF4-FFF2-40B4-BE49-F238E27FC236}">
                <a16:creationId xmlns:a16="http://schemas.microsoft.com/office/drawing/2014/main" id="{B034F7C3-60ED-B0E6-7B07-0A544202D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810000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5</a:t>
            </a:r>
          </a:p>
        </p:txBody>
      </p:sp>
      <p:sp>
        <p:nvSpPr>
          <p:cNvPr id="43033" name="Oval 25">
            <a:extLst>
              <a:ext uri="{FF2B5EF4-FFF2-40B4-BE49-F238E27FC236}">
                <a16:creationId xmlns:a16="http://schemas.microsoft.com/office/drawing/2014/main" id="{3F7F95D9-9EB9-2324-6581-6A42AFE28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810000"/>
            <a:ext cx="344488" cy="344488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</a:t>
            </a:r>
          </a:p>
        </p:txBody>
      </p:sp>
      <p:sp>
        <p:nvSpPr>
          <p:cNvPr id="43034" name="Oval 26">
            <a:extLst>
              <a:ext uri="{FF2B5EF4-FFF2-40B4-BE49-F238E27FC236}">
                <a16:creationId xmlns:a16="http://schemas.microsoft.com/office/drawing/2014/main" id="{BDFA4B5C-AD55-E329-F768-FF020889A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488" y="4379913"/>
            <a:ext cx="344487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7</a:t>
            </a:r>
          </a:p>
        </p:txBody>
      </p:sp>
      <p:sp>
        <p:nvSpPr>
          <p:cNvPr id="43035" name="Oval 27">
            <a:extLst>
              <a:ext uri="{FF2B5EF4-FFF2-40B4-BE49-F238E27FC236}">
                <a16:creationId xmlns:a16="http://schemas.microsoft.com/office/drawing/2014/main" id="{EF879318-078D-D79B-8D6F-9699130ED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88" y="4379913"/>
            <a:ext cx="344487" cy="344487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88FF30-15CD-DDE3-2DA5-CF158B98E1B0}"/>
              </a:ext>
            </a:extLst>
          </p:cNvPr>
          <p:cNvGrpSpPr/>
          <p:nvPr/>
        </p:nvGrpSpPr>
        <p:grpSpPr>
          <a:xfrm>
            <a:off x="1806698" y="4114800"/>
            <a:ext cx="4876800" cy="457200"/>
            <a:chOff x="1676400" y="5181600"/>
            <a:chExt cx="4876800" cy="457200"/>
          </a:xfrm>
        </p:grpSpPr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D6432278-1DBE-19D8-04E9-11B1A3508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3453AD43-6BCF-6182-A1EC-D16FE3337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5" name="Text Box 26">
              <a:extLst>
                <a:ext uri="{FF2B5EF4-FFF2-40B4-BE49-F238E27FC236}">
                  <a16:creationId xmlns:a16="http://schemas.microsoft.com/office/drawing/2014/main" id="{78BF25D3-4A11-905C-8FD4-027CCCB3D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6" name="Text Box 27">
              <a:extLst>
                <a:ext uri="{FF2B5EF4-FFF2-40B4-BE49-F238E27FC236}">
                  <a16:creationId xmlns:a16="http://schemas.microsoft.com/office/drawing/2014/main" id="{8D2E5DD3-C909-778E-2190-20BDEE959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26F9C33B-E495-0582-9E4D-2ECAE1183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870B9FEC-1DDC-D069-EE52-F3C3FF2F9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B650EC0B-A1A3-BF6E-9344-F1E2B2FE5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" name="Text Box 33">
              <a:extLst>
                <a:ext uri="{FF2B5EF4-FFF2-40B4-BE49-F238E27FC236}">
                  <a16:creationId xmlns:a16="http://schemas.microsoft.com/office/drawing/2014/main" id="{A6F21952-8CBE-554C-348A-7375E9E59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51816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 b="1" dirty="0">
                  <a:latin typeface="Courier New" panose="02070309020205020404" pitchFamily="49" charset="0"/>
                </a:rPr>
                <a:t>7</a:t>
              </a: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9426530F-5A60-CE92-3A30-1517994B2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98E058-5B11-443D-8083-2DD3DB095B6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6A5FA49-2D67-68E9-89C2-DDAB1BB47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</a:rPr>
              <a:t>Sorting Definitions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011817B-9562-4C52-D387-8B620C8A6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In-place sorting</a:t>
            </a:r>
          </a:p>
          <a:p>
            <a:pPr lvl="1" eaLnBrk="1" hangingPunct="1"/>
            <a:r>
              <a:rPr lang="en-US" altLang="en-US" sz="2800" dirty="0"/>
              <a:t>Sorting of a data structure does not require any external data structure for storing the intermediate steps</a:t>
            </a:r>
            <a:br>
              <a:rPr lang="en-US" altLang="en-US" sz="2800" dirty="0"/>
            </a:b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Stable sorting</a:t>
            </a:r>
            <a:r>
              <a:rPr lang="en-US" altLang="en-US" sz="2800" dirty="0"/>
              <a:t> </a:t>
            </a:r>
          </a:p>
          <a:p>
            <a:pPr lvl="1" eaLnBrk="1" hangingPunct="1"/>
            <a:r>
              <a:rPr lang="en-US" altLang="en-US" sz="2800" dirty="0"/>
              <a:t>If the same element is present multiple times, then they retain the original relative order of positions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A204BE3-00BD-8080-5982-7BC42FDE8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Heapsort: Analysis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AE07CCF-781C-B71F-83EF-A4597A270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7772400" cy="2971800"/>
          </a:xfrm>
        </p:spPr>
        <p:txBody>
          <a:bodyPr/>
          <a:lstStyle/>
          <a:p>
            <a:pPr eaLnBrk="1" hangingPunct="1"/>
            <a:r>
              <a:rPr lang="en-US" altLang="en-US" dirty="0"/>
              <a:t>Running time</a:t>
            </a:r>
          </a:p>
          <a:p>
            <a:pPr lvl="1" eaLnBrk="1" hangingPunct="1"/>
            <a:r>
              <a:rPr lang="en-US" altLang="en-US" dirty="0"/>
              <a:t>time to </a:t>
            </a:r>
            <a:r>
              <a:rPr lang="en-US" altLang="en-US" dirty="0">
                <a:solidFill>
                  <a:schemeClr val="accent2"/>
                </a:solidFill>
              </a:rPr>
              <a:t>build</a:t>
            </a:r>
            <a:r>
              <a:rPr lang="en-US" altLang="en-US" dirty="0"/>
              <a:t> max-heap is </a:t>
            </a:r>
            <a:r>
              <a:rPr lang="en-US" altLang="en-US" dirty="0">
                <a:solidFill>
                  <a:schemeClr val="accent2"/>
                </a:solidFill>
              </a:rPr>
              <a:t>O(N)</a:t>
            </a:r>
          </a:p>
          <a:p>
            <a:pPr lvl="1" eaLnBrk="1" hangingPunct="1"/>
            <a:r>
              <a:rPr lang="en-US" altLang="en-US" dirty="0"/>
              <a:t>time for </a:t>
            </a:r>
            <a:r>
              <a:rPr lang="en-US" altLang="en-US" dirty="0">
                <a:solidFill>
                  <a:schemeClr val="accent2"/>
                </a:solidFill>
              </a:rPr>
              <a:t>N </a:t>
            </a:r>
            <a:r>
              <a:rPr lang="en-US" altLang="en-US" dirty="0" err="1">
                <a:solidFill>
                  <a:schemeClr val="accent2"/>
                </a:solidFill>
              </a:rPr>
              <a:t>DeleteMax</a:t>
            </a:r>
            <a:r>
              <a:rPr lang="en-US" altLang="en-US" dirty="0"/>
              <a:t> operations is </a:t>
            </a:r>
            <a:r>
              <a:rPr lang="en-US" altLang="en-US" dirty="0">
                <a:solidFill>
                  <a:schemeClr val="accent2"/>
                </a:solidFill>
              </a:rPr>
              <a:t>N O(log N)</a:t>
            </a:r>
          </a:p>
          <a:p>
            <a:pPr lvl="1" eaLnBrk="1" hangingPunct="1"/>
            <a:r>
              <a:rPr lang="en-US" altLang="en-US" dirty="0"/>
              <a:t>total time is </a:t>
            </a:r>
            <a:r>
              <a:rPr lang="en-US" altLang="en-US" b="1" dirty="0">
                <a:solidFill>
                  <a:schemeClr val="accent2"/>
                </a:solidFill>
              </a:rPr>
              <a:t>O(N log N)</a:t>
            </a:r>
            <a:br>
              <a:rPr lang="en-US" altLang="en-US" b="1" dirty="0">
                <a:solidFill>
                  <a:schemeClr val="accent2"/>
                </a:solidFill>
              </a:rPr>
            </a:br>
            <a:endParaRPr lang="en-US" altLang="en-US" b="1" dirty="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Heapsort is </a:t>
            </a:r>
            <a:r>
              <a:rPr lang="en-US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in-place</a:t>
            </a:r>
            <a:r>
              <a:rPr lang="en-US" altLang="en-US" dirty="0">
                <a:sym typeface="Symbol" panose="05050102010706020507" pitchFamily="18" charset="2"/>
              </a:rPr>
              <a:t> but </a:t>
            </a:r>
            <a:r>
              <a:rPr lang="en-US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not stable </a:t>
            </a:r>
            <a:r>
              <a:rPr lang="en-US" altLang="en-US" dirty="0">
                <a:sym typeface="Symbol" panose="05050102010706020507" pitchFamily="18" charset="2"/>
              </a:rPr>
              <a:t>(why?)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A204BE3-00BD-8080-5982-7BC42FDE8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16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Heapsort: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AA60E6-69B2-2C64-D996-8544B899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71600"/>
            <a:ext cx="8001000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Consider max-heap: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5 </a:t>
            </a:r>
            <a:r>
              <a:rPr lang="en-US" altLang="en-US" sz="2800" b="1" dirty="0">
                <a:solidFill>
                  <a:srgbClr val="0C0D0E"/>
                </a:solidFill>
                <a:latin typeface="var(--ff-mono)"/>
              </a:rPr>
              <a:t>4</a:t>
            </a:r>
            <a:r>
              <a:rPr kumimoji="0" lang="en-US" altLang="en-US" sz="2800" i="0" u="none" strike="noStrike" cap="none" normalizeH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4</a:t>
            </a:r>
            <a:r>
              <a:rPr kumimoji="0" lang="en-US" altLang="en-US" sz="2800" i="0" u="none" strike="noStrike" cap="none" normalizeH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 3 </a:t>
            </a:r>
            <a:r>
              <a:rPr lang="en-US" altLang="en-US" sz="2800" dirty="0">
                <a:solidFill>
                  <a:srgbClr val="0C0D0E"/>
                </a:solidFill>
                <a:latin typeface="var(--ff-mono)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 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5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</a:t>
            </a:r>
            <a:r>
              <a:rPr lang="en-US" altLang="en-US" sz="3200" dirty="0">
                <a:solidFill>
                  <a:srgbClr val="0C0D0E"/>
                </a:solidFill>
                <a:latin typeface="-apple-system"/>
              </a:rPr>
              <a:t>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s removed first and placed in the last index,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C0D0E"/>
                </a:solidFill>
                <a:latin typeface="-apple-system"/>
              </a:rPr>
              <a:t>but nothing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 then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4a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is removed and placed in the last but one index and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4b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 in the last but two index so after heap sort the array looks like: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dirty="0">
              <a:solidFill>
                <a:srgbClr val="0C0D0E"/>
              </a:solidFill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76613" algn="l"/>
              </a:tabLs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	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1 2 3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4b 4a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5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0C0D0E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-apple-system"/>
              </a:rPr>
              <a:t>It does not preserve the order of elements and hence can't be stable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753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73CFB92B-1E65-DBDF-69AC-E2C3CE4A9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0999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HeapSort</a:t>
            </a:r>
            <a:r>
              <a:rPr lang="en-US" altLang="en-US" dirty="0"/>
              <a:t> vs </a:t>
            </a:r>
            <a:r>
              <a:rPr lang="en-US" altLang="en-US" dirty="0" err="1"/>
              <a:t>MergeSort</a:t>
            </a:r>
            <a:endParaRPr lang="en-US" altLang="en-US" dirty="0"/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57B8D258-0E12-B6E2-D5A4-0586ED13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839200" cy="48006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en-US" b="1" dirty="0"/>
              <a:t>Both are O(n log n)</a:t>
            </a:r>
          </a:p>
          <a:p>
            <a:pPr marL="0" indent="0" eaLnBrk="1" hangingPunct="1">
              <a:buNone/>
            </a:pPr>
            <a:endParaRPr lang="en-US" altLang="en-US" b="1" dirty="0"/>
          </a:p>
          <a:p>
            <a:pPr marL="0" indent="0" eaLnBrk="1" hangingPunct="1">
              <a:buNone/>
            </a:pPr>
            <a:r>
              <a:rPr lang="en-US" altLang="en-US" b="1" dirty="0" err="1"/>
              <a:t>MergeSort</a:t>
            </a:r>
            <a:r>
              <a:rPr lang="en-US" altLang="en-US" dirty="0"/>
              <a:t> </a:t>
            </a:r>
          </a:p>
          <a:p>
            <a:pPr lvl="1" eaLnBrk="1" hangingPunct="1"/>
            <a:r>
              <a:rPr lang="en-US" altLang="en-US" dirty="0"/>
              <a:t>Is stable</a:t>
            </a:r>
          </a:p>
          <a:p>
            <a:pPr lvl="1" eaLnBrk="1" hangingPunct="1"/>
            <a:r>
              <a:rPr lang="en-US" altLang="en-US" dirty="0"/>
              <a:t>but temporarily requires extra storage</a:t>
            </a:r>
          </a:p>
          <a:p>
            <a:pPr marL="457200" lvl="1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 err="1"/>
              <a:t>HeapSort</a:t>
            </a:r>
            <a:r>
              <a:rPr lang="en-US" altLang="en-US" b="1" dirty="0"/>
              <a:t> 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works in place (no additional storage)</a:t>
            </a:r>
          </a:p>
          <a:p>
            <a:pPr lvl="1" eaLnBrk="1" hangingPunct="1"/>
            <a:r>
              <a:rPr lang="en-US" altLang="en-US" dirty="0"/>
              <a:t>but is not 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lass_simple">
  <a:themeElements>
    <a:clrScheme name="class_si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_si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lass_si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_si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Koffman Template">
  <a:themeElements>
    <a:clrScheme name="Koffman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offman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Koffman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701</Words>
  <Application>Microsoft Office PowerPoint</Application>
  <PresentationFormat>On-screen Show (4:3)</PresentationFormat>
  <Paragraphs>206</Paragraphs>
  <Slides>13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-apple-system</vt:lpstr>
      <vt:lpstr>Aptos</vt:lpstr>
      <vt:lpstr>Arial</vt:lpstr>
      <vt:lpstr>Comic Sans MS</vt:lpstr>
      <vt:lpstr>Courier New</vt:lpstr>
      <vt:lpstr>Monotype Corsiva</vt:lpstr>
      <vt:lpstr>Symbol</vt:lpstr>
      <vt:lpstr>Times New Roman</vt:lpstr>
      <vt:lpstr>var(--ff-mono)</vt:lpstr>
      <vt:lpstr>Default Design</vt:lpstr>
      <vt:lpstr>1_Default Design</vt:lpstr>
      <vt:lpstr>class_simple</vt:lpstr>
      <vt:lpstr>Koffman Template</vt:lpstr>
      <vt:lpstr>Paint Shop Pro Image</vt:lpstr>
      <vt:lpstr>Heapsort </vt:lpstr>
      <vt:lpstr>Heapsort</vt:lpstr>
      <vt:lpstr>Example:   A=[7, 4, 3, 1, 2]</vt:lpstr>
      <vt:lpstr>Alg: HEAPSORT(A)</vt:lpstr>
      <vt:lpstr>Heap Sort</vt:lpstr>
      <vt:lpstr>Using Binary Heaps for Sorting</vt:lpstr>
      <vt:lpstr>1 Removal = 1 Addition</vt:lpstr>
      <vt:lpstr>Repeated DeleteMax</vt:lpstr>
      <vt:lpstr> Heap Sort is In-place</vt:lpstr>
      <vt:lpstr>Sorting Definitions</vt:lpstr>
      <vt:lpstr>Heapsort: Analysis</vt:lpstr>
      <vt:lpstr>Heapsort: Analysis</vt:lpstr>
      <vt:lpstr>HeapSort vs MergeSort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Weldon Jasik</cp:lastModifiedBy>
  <cp:revision>11</cp:revision>
  <dcterms:created xsi:type="dcterms:W3CDTF">1601-01-01T00:00:00Z</dcterms:created>
  <dcterms:modified xsi:type="dcterms:W3CDTF">2025-03-05T19:32:26Z</dcterms:modified>
</cp:coreProperties>
</file>
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3"/>
  </p:notesMasterIdLst>
  <p:handoutMasterIdLst>
    <p:handoutMasterId r:id="rId34"/>
  </p:handoutMasterIdLst>
  <p:sldIdLst>
    <p:sldId id="256" r:id="rId2"/>
    <p:sldId id="374" r:id="rId3"/>
    <p:sldId id="349" r:id="rId4"/>
    <p:sldId id="347" r:id="rId5"/>
    <p:sldId id="352" r:id="rId6"/>
    <p:sldId id="333" r:id="rId7"/>
    <p:sldId id="334" r:id="rId8"/>
    <p:sldId id="339" r:id="rId9"/>
    <p:sldId id="362" r:id="rId10"/>
    <p:sldId id="363" r:id="rId11"/>
    <p:sldId id="364" r:id="rId12"/>
    <p:sldId id="365" r:id="rId13"/>
    <p:sldId id="377" r:id="rId14"/>
    <p:sldId id="366" r:id="rId15"/>
    <p:sldId id="367" r:id="rId16"/>
    <p:sldId id="368" r:id="rId17"/>
    <p:sldId id="370" r:id="rId18"/>
    <p:sldId id="338" r:id="rId19"/>
    <p:sldId id="375" r:id="rId20"/>
    <p:sldId id="379" r:id="rId21"/>
    <p:sldId id="378" r:id="rId22"/>
    <p:sldId id="371" r:id="rId23"/>
    <p:sldId id="376" r:id="rId24"/>
    <p:sldId id="372" r:id="rId25"/>
    <p:sldId id="373" r:id="rId26"/>
    <p:sldId id="356" r:id="rId27"/>
    <p:sldId id="351" r:id="rId28"/>
    <p:sldId id="350" r:id="rId29"/>
    <p:sldId id="342" r:id="rId30"/>
    <p:sldId id="343" r:id="rId31"/>
    <p:sldId id="346" r:id="rId32"/>
  </p:sldIdLst>
  <p:sldSz cx="9144000" cy="6858000" type="screen4x3"/>
  <p:notesSz cx="6858000" cy="9144000"/>
  <p:custDataLst>
    <p:tags r:id="rId35"/>
  </p:custDataLst>
  <p:defaultTextStyle>
    <a:defPPr>
      <a:defRPr lang="en-US"/>
    </a:defPPr>
    <a:lvl1pPr algn="l" rtl="0" eaLnBrk="0" fontAlgn="base" hangingPunct="0">
      <a:spcBef>
        <a:spcPct val="0"/>
      </a:spcBef>
      <a:spcAft>
        <a:spcPct val="0"/>
      </a:spcAft>
      <a:defRPr sz="26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6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6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6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600" kern="1200">
        <a:solidFill>
          <a:schemeClr val="tx1"/>
        </a:solidFill>
        <a:latin typeface="Tahoma" panose="020B0604030504040204" pitchFamily="34" charset="0"/>
        <a:ea typeface="+mn-ea"/>
        <a:cs typeface="+mn-cs"/>
      </a:defRPr>
    </a:lvl5pPr>
    <a:lvl6pPr marL="2286000" algn="l" defTabSz="914400" rtl="0" eaLnBrk="1" latinLnBrk="0" hangingPunct="1">
      <a:defRPr sz="2600" kern="1200">
        <a:solidFill>
          <a:schemeClr val="tx1"/>
        </a:solidFill>
        <a:latin typeface="Tahoma" panose="020B0604030504040204" pitchFamily="34" charset="0"/>
        <a:ea typeface="+mn-ea"/>
        <a:cs typeface="+mn-cs"/>
      </a:defRPr>
    </a:lvl6pPr>
    <a:lvl7pPr marL="2743200" algn="l" defTabSz="914400" rtl="0" eaLnBrk="1" latinLnBrk="0" hangingPunct="1">
      <a:defRPr sz="2600" kern="1200">
        <a:solidFill>
          <a:schemeClr val="tx1"/>
        </a:solidFill>
        <a:latin typeface="Tahoma" panose="020B0604030504040204" pitchFamily="34" charset="0"/>
        <a:ea typeface="+mn-ea"/>
        <a:cs typeface="+mn-cs"/>
      </a:defRPr>
    </a:lvl7pPr>
    <a:lvl8pPr marL="3200400" algn="l" defTabSz="914400" rtl="0" eaLnBrk="1" latinLnBrk="0" hangingPunct="1">
      <a:defRPr sz="2600" kern="1200">
        <a:solidFill>
          <a:schemeClr val="tx1"/>
        </a:solidFill>
        <a:latin typeface="Tahoma" panose="020B0604030504040204" pitchFamily="34" charset="0"/>
        <a:ea typeface="+mn-ea"/>
        <a:cs typeface="+mn-cs"/>
      </a:defRPr>
    </a:lvl8pPr>
    <a:lvl9pPr marL="3657600" algn="l" defTabSz="914400" rtl="0" eaLnBrk="1" latinLnBrk="0" hangingPunct="1">
      <a:defRPr sz="26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6600"/>
    <a:srgbClr val="0000FF"/>
    <a:srgbClr val="C7C7F1"/>
    <a:srgbClr val="FFCC00"/>
    <a:srgbClr val="FF9900"/>
    <a:srgbClr val="003366"/>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9307" autoAdjust="0"/>
    <p:restoredTop sz="94681" autoAdjust="0"/>
  </p:normalViewPr>
  <p:slideViewPr>
    <p:cSldViewPr>
      <p:cViewPr varScale="1">
        <p:scale>
          <a:sx n="90" d="100"/>
          <a:sy n="90" d="100"/>
        </p:scale>
        <p:origin x="581"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0" d="100"/>
          <a:sy n="60" d="100"/>
        </p:scale>
        <p:origin x="-172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DEF5FE6B-1FB8-A829-FFB7-F811A55CF07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77827" name="Rectangle 3">
            <a:extLst>
              <a:ext uri="{FF2B5EF4-FFF2-40B4-BE49-F238E27FC236}">
                <a16:creationId xmlns:a16="http://schemas.microsoft.com/office/drawing/2014/main" id="{F190FBC1-F876-FEA4-A571-29D971AD76F6}"/>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77828" name="Rectangle 4">
            <a:extLst>
              <a:ext uri="{FF2B5EF4-FFF2-40B4-BE49-F238E27FC236}">
                <a16:creationId xmlns:a16="http://schemas.microsoft.com/office/drawing/2014/main" id="{833E38DE-2E3D-3323-B053-0542E2564259}"/>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77829" name="Rectangle 5">
            <a:extLst>
              <a:ext uri="{FF2B5EF4-FFF2-40B4-BE49-F238E27FC236}">
                <a16:creationId xmlns:a16="http://schemas.microsoft.com/office/drawing/2014/main" id="{92B69002-EAB5-A2D5-038F-B52B6C27E357}"/>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FE3B17B6-5265-46DD-A7E7-16E6156F7D1F}"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4EAD36CC-1FFF-369C-FDE9-AC5A4CE7DEC4}"/>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83971" name="Rectangle 3">
            <a:extLst>
              <a:ext uri="{FF2B5EF4-FFF2-40B4-BE49-F238E27FC236}">
                <a16:creationId xmlns:a16="http://schemas.microsoft.com/office/drawing/2014/main" id="{B91824C3-885D-895D-51D7-9AA7E8B54470}"/>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052" name="Rectangle 4">
            <a:extLst>
              <a:ext uri="{FF2B5EF4-FFF2-40B4-BE49-F238E27FC236}">
                <a16:creationId xmlns:a16="http://schemas.microsoft.com/office/drawing/2014/main" id="{7DBB78BA-1CCA-1855-4A39-79403C9DD675}"/>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3973" name="Rectangle 5">
            <a:extLst>
              <a:ext uri="{FF2B5EF4-FFF2-40B4-BE49-F238E27FC236}">
                <a16:creationId xmlns:a16="http://schemas.microsoft.com/office/drawing/2014/main" id="{83900ADB-1D69-9FFA-E5D0-2F85F43317E3}"/>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678" name="Rectangle 8">
            <a:extLst>
              <a:ext uri="{FF2B5EF4-FFF2-40B4-BE49-F238E27FC236}">
                <a16:creationId xmlns:a16="http://schemas.microsoft.com/office/drawing/2014/main" id="{F8DD9BFC-4F34-8CF3-DC2B-B0E005DBA412}"/>
              </a:ext>
            </a:extLst>
          </p:cNvPr>
          <p:cNvSpPr>
            <a:spLocks noChangeArrowheads="1"/>
          </p:cNvSpPr>
          <p:nvPr/>
        </p:nvSpPr>
        <p:spPr bwMode="auto">
          <a:xfrm>
            <a:off x="1371600" y="8686800"/>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lvl1pPr>
              <a:defRPr sz="2600">
                <a:solidFill>
                  <a:schemeClr val="tx1"/>
                </a:solidFill>
                <a:latin typeface="Tahoma" panose="020B0604030504040204" pitchFamily="34" charset="0"/>
              </a:defRPr>
            </a:lvl1pPr>
            <a:lvl2pPr marL="742950" indent="-285750">
              <a:defRPr sz="2600">
                <a:solidFill>
                  <a:schemeClr val="tx1"/>
                </a:solidFill>
                <a:latin typeface="Tahoma" panose="020B0604030504040204" pitchFamily="34" charset="0"/>
              </a:defRPr>
            </a:lvl2pPr>
            <a:lvl3pPr marL="1143000" indent="-228600">
              <a:defRPr sz="2600">
                <a:solidFill>
                  <a:schemeClr val="tx1"/>
                </a:solidFill>
                <a:latin typeface="Tahoma" panose="020B0604030504040204" pitchFamily="34" charset="0"/>
              </a:defRPr>
            </a:lvl3pPr>
            <a:lvl4pPr marL="1600200" indent="-228600">
              <a:defRPr sz="2600">
                <a:solidFill>
                  <a:schemeClr val="tx1"/>
                </a:solidFill>
                <a:latin typeface="Tahoma" panose="020B0604030504040204" pitchFamily="34" charset="0"/>
              </a:defRPr>
            </a:lvl4pPr>
            <a:lvl5pPr marL="2057400" indent="-228600">
              <a:defRPr sz="2600">
                <a:solidFill>
                  <a:schemeClr val="tx1"/>
                </a:solidFill>
                <a:latin typeface="Tahoma" panose="020B0604030504040204" pitchFamily="34" charset="0"/>
              </a:defRPr>
            </a:lvl5pPr>
            <a:lvl6pPr marL="2514600" indent="-228600" eaLnBrk="0" fontAlgn="base" hangingPunct="0">
              <a:spcBef>
                <a:spcPct val="0"/>
              </a:spcBef>
              <a:spcAft>
                <a:spcPct val="0"/>
              </a:spcAft>
              <a:defRPr sz="2600">
                <a:solidFill>
                  <a:schemeClr val="tx1"/>
                </a:solidFill>
                <a:latin typeface="Tahoma" panose="020B0604030504040204" pitchFamily="34" charset="0"/>
              </a:defRPr>
            </a:lvl6pPr>
            <a:lvl7pPr marL="2971800" indent="-228600" eaLnBrk="0" fontAlgn="base" hangingPunct="0">
              <a:spcBef>
                <a:spcPct val="0"/>
              </a:spcBef>
              <a:spcAft>
                <a:spcPct val="0"/>
              </a:spcAft>
              <a:defRPr sz="2600">
                <a:solidFill>
                  <a:schemeClr val="tx1"/>
                </a:solidFill>
                <a:latin typeface="Tahoma" panose="020B0604030504040204" pitchFamily="34" charset="0"/>
              </a:defRPr>
            </a:lvl7pPr>
            <a:lvl8pPr marL="3429000" indent="-228600" eaLnBrk="0" fontAlgn="base" hangingPunct="0">
              <a:spcBef>
                <a:spcPct val="0"/>
              </a:spcBef>
              <a:spcAft>
                <a:spcPct val="0"/>
              </a:spcAft>
              <a:defRPr sz="2600">
                <a:solidFill>
                  <a:schemeClr val="tx1"/>
                </a:solidFill>
                <a:latin typeface="Tahoma" panose="020B0604030504040204" pitchFamily="34" charset="0"/>
              </a:defRPr>
            </a:lvl8pPr>
            <a:lvl9pPr marL="3886200" indent="-228600" eaLnBrk="0" fontAlgn="base" hangingPunct="0">
              <a:spcBef>
                <a:spcPct val="0"/>
              </a:spcBef>
              <a:spcAft>
                <a:spcPct val="0"/>
              </a:spcAft>
              <a:defRPr sz="2600">
                <a:solidFill>
                  <a:schemeClr val="tx1"/>
                </a:solidFill>
                <a:latin typeface="Tahoma" panose="020B0604030504040204" pitchFamily="34" charset="0"/>
              </a:defRPr>
            </a:lvl9pPr>
          </a:lstStyle>
          <a:p>
            <a:pPr algn="r"/>
            <a:r>
              <a:rPr lang="en-US" altLang="en-US" sz="1200" b="1"/>
              <a:t>©A+ Computer Science     www.apluscompsci.com                 </a:t>
            </a:r>
            <a:fld id="{B16AC90F-0551-4684-8880-6B6D108AE2C1}" type="slidenum">
              <a:rPr lang="en-US" altLang="en-US" sz="1200" b="1"/>
              <a:pPr algn="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443DE2BF-22DC-8B7D-1139-8576E998D3B2}"/>
              </a:ext>
            </a:extLst>
          </p:cNvPr>
          <p:cNvSpPr>
            <a:spLocks noChangeArrowheads="1" noTextEdit="1"/>
          </p:cNvSpPr>
          <p:nvPr>
            <p:ph type="sldImg"/>
          </p:nvPr>
        </p:nvSpPr>
        <p:spPr>
          <a:ln/>
        </p:spPr>
      </p:sp>
      <p:sp>
        <p:nvSpPr>
          <p:cNvPr id="5123" name="Rectangle 3">
            <a:extLst>
              <a:ext uri="{FF2B5EF4-FFF2-40B4-BE49-F238E27FC236}">
                <a16:creationId xmlns:a16="http://schemas.microsoft.com/office/drawing/2014/main" id="{5A27AC8F-FF76-A69B-AC0A-498B77965675}"/>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4C0A63D6-FC45-A557-7945-0D7E2CC53F43}"/>
              </a:ext>
            </a:extLst>
          </p:cNvPr>
          <p:cNvSpPr>
            <a:spLocks noChangeArrowheads="1" noTextEdit="1"/>
          </p:cNvSpPr>
          <p:nvPr>
            <p:ph type="sldImg"/>
          </p:nvPr>
        </p:nvSpPr>
        <p:spPr>
          <a:ln/>
        </p:spPr>
      </p:sp>
      <p:sp>
        <p:nvSpPr>
          <p:cNvPr id="8195" name="Rectangle 3">
            <a:extLst>
              <a:ext uri="{FF2B5EF4-FFF2-40B4-BE49-F238E27FC236}">
                <a16:creationId xmlns:a16="http://schemas.microsoft.com/office/drawing/2014/main" id="{FBB8E97D-67B5-AC7B-1DC5-20AF3F5AAB4E}"/>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B1DB10D-9282-F130-2628-8E865D7E0811}"/>
              </a:ext>
            </a:extLst>
          </p:cNvPr>
          <p:cNvSpPr>
            <a:spLocks noChangeArrowheads="1" noTextEdit="1"/>
          </p:cNvSpPr>
          <p:nvPr>
            <p:ph type="sldImg"/>
          </p:nvPr>
        </p:nvSpPr>
        <p:spPr>
          <a:ln/>
        </p:spPr>
      </p:sp>
      <p:sp>
        <p:nvSpPr>
          <p:cNvPr id="10243" name="Rectangle 3">
            <a:extLst>
              <a:ext uri="{FF2B5EF4-FFF2-40B4-BE49-F238E27FC236}">
                <a16:creationId xmlns:a16="http://schemas.microsoft.com/office/drawing/2014/main" id="{E3D1CB5A-355E-4971-8051-5A43EC2C990B}"/>
              </a:ext>
            </a:extLst>
          </p:cNvPr>
          <p:cNvSpPr>
            <a:spLocks noGrp="1" noChangeArrowheads="1"/>
          </p:cNvSpPr>
          <p:nvPr>
            <p:ph type="body" idx="1"/>
          </p:nvPr>
        </p:nvSpPr>
        <p:spPr>
          <a:noFill/>
        </p:spPr>
        <p:txBody>
          <a:bodyPr/>
          <a:lstStyle/>
          <a:p>
            <a:r>
              <a:rPr lang="en-US" altLang="en-US" sz="1600"/>
              <a:t>The </a:t>
            </a:r>
            <a:r>
              <a:rPr lang="en-US" altLang="en-US" sz="1600">
                <a:latin typeface="Courier New" panose="02070309020205020404" pitchFamily="49" charset="0"/>
              </a:rPr>
              <a:t>Arrays</a:t>
            </a:r>
            <a:r>
              <a:rPr lang="en-US" altLang="en-US" sz="1600"/>
              <a:t> class methods above are very useful methods for manipulating Java arrays.  </a:t>
            </a:r>
          </a:p>
          <a:p>
            <a:r>
              <a:rPr lang="en-US" altLang="en-US" sz="1600">
                <a:latin typeface="Courier New" panose="02070309020205020404" pitchFamily="49" charset="0"/>
              </a:rPr>
              <a:t>sort()</a:t>
            </a:r>
            <a:r>
              <a:rPr lang="en-US" altLang="en-US" sz="1600"/>
              <a:t> will naturally order the items in an array.</a:t>
            </a:r>
          </a:p>
          <a:p>
            <a:r>
              <a:rPr lang="en-US" altLang="en-US" sz="1600">
                <a:latin typeface="Courier New" panose="02070309020205020404" pitchFamily="49" charset="0"/>
              </a:rPr>
              <a:t>binarySearch()</a:t>
            </a:r>
            <a:r>
              <a:rPr lang="en-US" altLang="en-US" sz="1600"/>
              <a:t>  will find an item in the array and return the spot at which the item was found.</a:t>
            </a:r>
          </a:p>
          <a:p>
            <a:r>
              <a:rPr lang="en-US" altLang="en-US" sz="1600">
                <a:latin typeface="Courier New" panose="02070309020205020404" pitchFamily="49" charset="0"/>
              </a:rPr>
              <a:t>equals()</a:t>
            </a:r>
            <a:r>
              <a:rPr lang="en-US" altLang="en-US" sz="1600"/>
              <a:t> will see if two arrays contain the exact same items in the exact same order.</a:t>
            </a:r>
          </a:p>
          <a:p>
            <a:r>
              <a:rPr lang="en-US" altLang="en-US" sz="1600">
                <a:latin typeface="Courier New" panose="02070309020205020404" pitchFamily="49" charset="0"/>
              </a:rPr>
              <a:t>fill()</a:t>
            </a:r>
            <a:r>
              <a:rPr lang="en-US" altLang="en-US" sz="1600"/>
              <a:t> will fill in all spots in the array with a provided value.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5BD25B66-AF0C-DCA4-81E9-704174088026}"/>
              </a:ext>
            </a:extLst>
          </p:cNvPr>
          <p:cNvSpPr>
            <a:spLocks noChangeArrowheads="1" noTextEdit="1"/>
          </p:cNvSpPr>
          <p:nvPr>
            <p:ph type="sldImg"/>
          </p:nvPr>
        </p:nvSpPr>
        <p:spPr>
          <a:ln/>
        </p:spPr>
      </p:sp>
      <p:sp>
        <p:nvSpPr>
          <p:cNvPr id="12291" name="Rectangle 3">
            <a:extLst>
              <a:ext uri="{FF2B5EF4-FFF2-40B4-BE49-F238E27FC236}">
                <a16:creationId xmlns:a16="http://schemas.microsoft.com/office/drawing/2014/main" id="{49DEDEC1-80FB-5884-3722-3732B1D1AC9D}"/>
              </a:ext>
            </a:extLst>
          </p:cNvPr>
          <p:cNvSpPr>
            <a:spLocks noGrp="1" noChangeArrowheads="1"/>
          </p:cNvSpPr>
          <p:nvPr>
            <p:ph type="body" idx="1"/>
          </p:nvPr>
        </p:nvSpPr>
        <p:spPr>
          <a:noFill/>
        </p:spPr>
        <p:txBody>
          <a:bodyPr/>
          <a:lstStyle/>
          <a:p>
            <a:r>
              <a:rPr lang="en-US" altLang="en-US" sz="1600"/>
              <a:t>The </a:t>
            </a:r>
            <a:r>
              <a:rPr lang="en-US" altLang="en-US" sz="1600">
                <a:latin typeface="Courier New" panose="02070309020205020404" pitchFamily="49" charset="0"/>
              </a:rPr>
              <a:t>Collections</a:t>
            </a:r>
            <a:r>
              <a:rPr lang="en-US" altLang="en-US" sz="1600"/>
              <a:t> class methods above are very useful methods for manipulating Java Collections.  </a:t>
            </a:r>
          </a:p>
          <a:p>
            <a:r>
              <a:rPr lang="en-US" altLang="en-US" sz="1600">
                <a:latin typeface="Courier New" panose="02070309020205020404" pitchFamily="49" charset="0"/>
              </a:rPr>
              <a:t>sort()</a:t>
            </a:r>
            <a:r>
              <a:rPr lang="en-US" altLang="en-US" sz="1600"/>
              <a:t> will naturally order the items in the collection.</a:t>
            </a:r>
          </a:p>
          <a:p>
            <a:r>
              <a:rPr lang="en-US" altLang="en-US" sz="1600">
                <a:latin typeface="Courier New" panose="02070309020205020404" pitchFamily="49" charset="0"/>
              </a:rPr>
              <a:t>binarySearch()</a:t>
            </a:r>
            <a:r>
              <a:rPr lang="en-US" altLang="en-US" sz="1600"/>
              <a:t>  will find an item in the array and return the spot at which the item was found.</a:t>
            </a:r>
          </a:p>
          <a:p>
            <a:r>
              <a:rPr lang="en-US" altLang="en-US" sz="1600">
                <a:latin typeface="Courier New" panose="02070309020205020404" pitchFamily="49" charset="0"/>
              </a:rPr>
              <a:t>fill()</a:t>
            </a:r>
            <a:r>
              <a:rPr lang="en-US" altLang="en-US" sz="1600"/>
              <a:t> will fill in all spots in the array with a provided value.</a:t>
            </a:r>
          </a:p>
          <a:p>
            <a:r>
              <a:rPr lang="en-US" altLang="en-US" sz="1600">
                <a:latin typeface="Courier New" panose="02070309020205020404" pitchFamily="49" charset="0"/>
              </a:rPr>
              <a:t>rotate()</a:t>
            </a:r>
            <a:r>
              <a:rPr lang="en-US" altLang="en-US" sz="1600"/>
              <a:t> will shift items to the left(- negative x) a specified amount or shift items to the right(+ positive x) a specified amount.</a:t>
            </a:r>
          </a:p>
          <a:p>
            <a:r>
              <a:rPr lang="en-US" altLang="en-US" sz="1600">
                <a:latin typeface="Courier New" panose="02070309020205020404" pitchFamily="49" charset="0"/>
              </a:rPr>
              <a:t>reverse()</a:t>
            </a:r>
            <a:r>
              <a:rPr lang="en-US" altLang="en-US" sz="1600"/>
              <a:t> will reverse the order of all items.</a:t>
            </a:r>
          </a:p>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0CE116D8-1153-FCBE-BE0F-A62BEEE56D61}"/>
              </a:ext>
            </a:extLst>
          </p:cNvPr>
          <p:cNvSpPr>
            <a:spLocks noChangeArrowheads="1" noTextEdit="1"/>
          </p:cNvSpPr>
          <p:nvPr>
            <p:ph type="sldImg"/>
          </p:nvPr>
        </p:nvSpPr>
        <p:spPr>
          <a:ln/>
        </p:spPr>
      </p:sp>
      <p:sp>
        <p:nvSpPr>
          <p:cNvPr id="14339" name="Rectangle 3">
            <a:extLst>
              <a:ext uri="{FF2B5EF4-FFF2-40B4-BE49-F238E27FC236}">
                <a16:creationId xmlns:a16="http://schemas.microsoft.com/office/drawing/2014/main" id="{870CAB99-2FCA-838D-77A6-1EC57F2AB9AA}"/>
              </a:ext>
            </a:extLst>
          </p:cNvPr>
          <p:cNvSpPr>
            <a:spLocks noGrp="1" noChangeArrowheads="1"/>
          </p:cNvSpPr>
          <p:nvPr>
            <p:ph type="body" idx="1"/>
          </p:nvPr>
        </p:nvSpPr>
        <p:spPr>
          <a:noFill/>
        </p:spPr>
        <p:txBody>
          <a:bodyPr/>
          <a:lstStyle/>
          <a:p>
            <a:r>
              <a:rPr lang="en-US" altLang="en-US" sz="1600">
                <a:latin typeface="Courier New" panose="02070309020205020404" pitchFamily="49" charset="0"/>
              </a:rPr>
              <a:t>indexOf()</a:t>
            </a:r>
            <a:r>
              <a:rPr lang="en-US" altLang="en-US" sz="1600"/>
              <a:t> and </a:t>
            </a:r>
            <a:r>
              <a:rPr lang="en-US" altLang="en-US" sz="1600">
                <a:latin typeface="Courier New" panose="02070309020205020404" pitchFamily="49" charset="0"/>
              </a:rPr>
              <a:t>binarySearch()</a:t>
            </a:r>
            <a:r>
              <a:rPr lang="en-US" altLang="en-US" sz="1600"/>
              <a:t> seach and array for specified value.</a:t>
            </a:r>
          </a:p>
          <a:p>
            <a:r>
              <a:rPr lang="en-US" altLang="en-US" sz="1600">
                <a:latin typeface="Courier New" panose="02070309020205020404" pitchFamily="49" charset="0"/>
              </a:rPr>
              <a:t>indexOf()</a:t>
            </a:r>
            <a:r>
              <a:rPr lang="en-US" altLang="en-US" sz="1600"/>
              <a:t> will return the spot at which the item was found.   It will return -1 if the item was not present.</a:t>
            </a:r>
          </a:p>
          <a:p>
            <a:r>
              <a:rPr lang="en-US" altLang="en-US" sz="1600">
                <a:latin typeface="Courier New" panose="02070309020205020404" pitchFamily="49" charset="0"/>
              </a:rPr>
              <a:t>binarySearch()</a:t>
            </a:r>
            <a:r>
              <a:rPr lang="en-US" altLang="en-US" sz="1600"/>
              <a:t> will return the spot at which the item was found.   It will return -1 + -location(where the item should be) if the item was not present.</a:t>
            </a:r>
          </a:p>
          <a:p>
            <a:endParaRPr lang="en-US" altLang="en-US" sz="16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317991C-3253-7787-98CF-9CBAF1428612}"/>
              </a:ext>
            </a:extLst>
          </p:cNvPr>
          <p:cNvSpPr>
            <a:spLocks noChangeArrowheads="1" noTextEdit="1"/>
          </p:cNvSpPr>
          <p:nvPr>
            <p:ph type="sldImg"/>
          </p:nvPr>
        </p:nvSpPr>
        <p:spPr>
          <a:ln/>
        </p:spPr>
      </p:sp>
      <p:sp>
        <p:nvSpPr>
          <p:cNvPr id="16387" name="Rectangle 3">
            <a:extLst>
              <a:ext uri="{FF2B5EF4-FFF2-40B4-BE49-F238E27FC236}">
                <a16:creationId xmlns:a16="http://schemas.microsoft.com/office/drawing/2014/main" id="{B357AF5A-0668-55E8-0FF9-F7D967A15E85}"/>
              </a:ext>
            </a:extLst>
          </p:cNvPr>
          <p:cNvSpPr>
            <a:spLocks noGrp="1" noChangeArrowheads="1"/>
          </p:cNvSpPr>
          <p:nvPr>
            <p:ph type="body" idx="1"/>
          </p:nvPr>
        </p:nvSpPr>
        <p:spPr>
          <a:noFill/>
        </p:spPr>
        <p:txBody>
          <a:bodyPr/>
          <a:lstStyle/>
          <a:p>
            <a:r>
              <a:rPr lang="en-US" altLang="en-US" sz="1600">
                <a:latin typeface="Courier New" panose="02070309020205020404" pitchFamily="49" charset="0"/>
              </a:rPr>
              <a:t>sort()</a:t>
            </a:r>
            <a:r>
              <a:rPr lang="en-US" altLang="en-US" sz="1600"/>
              <a:t> will naturally order the items in an array.</a:t>
            </a:r>
          </a:p>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5E2BACE-E0BD-AAEF-3E6B-0BE66A81DBA7}"/>
              </a:ext>
            </a:extLst>
          </p:cNvPr>
          <p:cNvSpPr>
            <a:spLocks noChangeArrowheads="1" noTextEdit="1"/>
          </p:cNvSpPr>
          <p:nvPr>
            <p:ph type="sldImg"/>
          </p:nvPr>
        </p:nvSpPr>
        <p:spPr>
          <a:ln/>
        </p:spPr>
      </p:sp>
      <p:sp>
        <p:nvSpPr>
          <p:cNvPr id="18435" name="Rectangle 3">
            <a:extLst>
              <a:ext uri="{FF2B5EF4-FFF2-40B4-BE49-F238E27FC236}">
                <a16:creationId xmlns:a16="http://schemas.microsoft.com/office/drawing/2014/main" id="{E247313A-8279-0B97-E5AF-1E3495D9A890}"/>
              </a:ext>
            </a:extLst>
          </p:cNvPr>
          <p:cNvSpPr>
            <a:spLocks noGrp="1" noChangeArrowheads="1"/>
          </p:cNvSpPr>
          <p:nvPr>
            <p:ph type="body" idx="1"/>
          </p:nvPr>
        </p:nvSpPr>
        <p:spPr>
          <a:noFill/>
        </p:spPr>
        <p:txBody>
          <a:bodyPr/>
          <a:lstStyle/>
          <a:p>
            <a:r>
              <a:rPr lang="en-US" altLang="en-US" sz="1600">
                <a:latin typeface="Courier New" panose="02070309020205020404" pitchFamily="49" charset="0"/>
              </a:rPr>
              <a:t>sort()</a:t>
            </a:r>
            <a:r>
              <a:rPr lang="en-US" altLang="en-US" sz="1600"/>
              <a:t> will naturally order the items in the Collection.</a:t>
            </a:r>
          </a:p>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2996324-338F-2F99-85C1-A823AC7F3BB1}"/>
              </a:ext>
            </a:extLst>
          </p:cNvPr>
          <p:cNvSpPr>
            <a:spLocks noChangeArrowheads="1" noTextEdit="1"/>
          </p:cNvSpPr>
          <p:nvPr>
            <p:ph type="sldImg"/>
          </p:nvPr>
        </p:nvSpPr>
        <p:spPr>
          <a:ln/>
        </p:spPr>
      </p:sp>
      <p:sp>
        <p:nvSpPr>
          <p:cNvPr id="20483" name="Rectangle 3">
            <a:extLst>
              <a:ext uri="{FF2B5EF4-FFF2-40B4-BE49-F238E27FC236}">
                <a16:creationId xmlns:a16="http://schemas.microsoft.com/office/drawing/2014/main" id="{13A63D99-FA23-416F-F52C-3CA2B67E1352}"/>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1018EEEE-815B-97BB-F07D-3AD9B8E96428}"/>
              </a:ext>
            </a:extLst>
          </p:cNvPr>
          <p:cNvSpPr>
            <a:spLocks noChangeArrowheads="1" noTextEdit="1"/>
          </p:cNvSpPr>
          <p:nvPr>
            <p:ph type="sldImg"/>
          </p:nvPr>
        </p:nvSpPr>
        <p:spPr>
          <a:ln/>
        </p:spPr>
      </p:sp>
      <p:sp>
        <p:nvSpPr>
          <p:cNvPr id="22531" name="Rectangle 3">
            <a:extLst>
              <a:ext uri="{FF2B5EF4-FFF2-40B4-BE49-F238E27FC236}">
                <a16:creationId xmlns:a16="http://schemas.microsoft.com/office/drawing/2014/main" id="{5280E95D-26B5-BFD2-8123-D8B29CB977F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142C835-F22D-6C76-430B-1E5F0F8DDF43}"/>
              </a:ext>
            </a:extLst>
          </p:cNvPr>
          <p:cNvSpPr>
            <a:spLocks noChangeArrowheads="1" noTextEdit="1"/>
          </p:cNvSpPr>
          <p:nvPr>
            <p:ph type="sldImg"/>
          </p:nvPr>
        </p:nvSpPr>
        <p:spPr>
          <a:ln/>
        </p:spPr>
      </p:sp>
      <p:sp>
        <p:nvSpPr>
          <p:cNvPr id="24579" name="Rectangle 3">
            <a:extLst>
              <a:ext uri="{FF2B5EF4-FFF2-40B4-BE49-F238E27FC236}">
                <a16:creationId xmlns:a16="http://schemas.microsoft.com/office/drawing/2014/main" id="{4ADE7E08-6AFC-78C7-25D4-9B71879D93F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B21F762-4DF8-0B54-9880-D66221D9D77A}"/>
              </a:ext>
            </a:extLst>
          </p:cNvPr>
          <p:cNvSpPr>
            <a:spLocks noChangeArrowheads="1" noTextEdit="1"/>
          </p:cNvSpPr>
          <p:nvPr>
            <p:ph type="sldImg"/>
          </p:nvPr>
        </p:nvSpPr>
        <p:spPr>
          <a:ln/>
        </p:spPr>
      </p:sp>
      <p:sp>
        <p:nvSpPr>
          <p:cNvPr id="26627" name="Rectangle 3">
            <a:extLst>
              <a:ext uri="{FF2B5EF4-FFF2-40B4-BE49-F238E27FC236}">
                <a16:creationId xmlns:a16="http://schemas.microsoft.com/office/drawing/2014/main" id="{88091FA3-6E92-9E5A-42F7-2024AF83B765}"/>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B9ECEF3E-4427-0B37-D708-CC20414C1413}"/>
              </a:ext>
            </a:extLst>
          </p:cNvPr>
          <p:cNvSpPr>
            <a:spLocks noChangeArrowheads="1" noTextEdit="1"/>
          </p:cNvSpPr>
          <p:nvPr>
            <p:ph type="sldImg"/>
          </p:nvPr>
        </p:nvSpPr>
        <p:spPr>
          <a:ln/>
        </p:spPr>
      </p:sp>
      <p:sp>
        <p:nvSpPr>
          <p:cNvPr id="28675" name="Rectangle 3">
            <a:extLst>
              <a:ext uri="{FF2B5EF4-FFF2-40B4-BE49-F238E27FC236}">
                <a16:creationId xmlns:a16="http://schemas.microsoft.com/office/drawing/2014/main" id="{B7BE1F88-8BDF-F7C8-90DB-BA6B8A6B6A16}"/>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A6A5060E-AF5B-BE3D-4893-F0CA2BD10555}"/>
              </a:ext>
            </a:extLst>
          </p:cNvPr>
          <p:cNvSpPr>
            <a:spLocks noChangeArrowheads="1" noTextEdit="1"/>
          </p:cNvSpPr>
          <p:nvPr>
            <p:ph type="sldImg"/>
          </p:nvPr>
        </p:nvSpPr>
        <p:spPr>
          <a:ln/>
        </p:spPr>
      </p:sp>
      <p:sp>
        <p:nvSpPr>
          <p:cNvPr id="30723" name="Rectangle 3">
            <a:extLst>
              <a:ext uri="{FF2B5EF4-FFF2-40B4-BE49-F238E27FC236}">
                <a16:creationId xmlns:a16="http://schemas.microsoft.com/office/drawing/2014/main" id="{C27D1A89-BCE0-1054-51B2-0D400BCEFA28}"/>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D7667EF2-AB4E-2AC6-3AAD-14076005510D}"/>
              </a:ext>
            </a:extLst>
          </p:cNvPr>
          <p:cNvSpPr>
            <a:spLocks noChangeArrowheads="1" noTextEdit="1"/>
          </p:cNvSpPr>
          <p:nvPr>
            <p:ph type="sldImg"/>
          </p:nvPr>
        </p:nvSpPr>
        <p:spPr>
          <a:ln/>
        </p:spPr>
      </p:sp>
      <p:sp>
        <p:nvSpPr>
          <p:cNvPr id="32771" name="Rectangle 3">
            <a:extLst>
              <a:ext uri="{FF2B5EF4-FFF2-40B4-BE49-F238E27FC236}">
                <a16:creationId xmlns:a16="http://schemas.microsoft.com/office/drawing/2014/main" id="{5F43953E-EF18-1AD1-C950-9A739939495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2458316A-033D-F1EC-043C-639C3952EC20}"/>
              </a:ext>
            </a:extLst>
          </p:cNvPr>
          <p:cNvSpPr>
            <a:spLocks noChangeArrowheads="1" noTextEdit="1"/>
          </p:cNvSpPr>
          <p:nvPr>
            <p:ph type="sldImg"/>
          </p:nvPr>
        </p:nvSpPr>
        <p:spPr>
          <a:ln/>
        </p:spPr>
      </p:sp>
      <p:sp>
        <p:nvSpPr>
          <p:cNvPr id="34819" name="Rectangle 3">
            <a:extLst>
              <a:ext uri="{FF2B5EF4-FFF2-40B4-BE49-F238E27FC236}">
                <a16:creationId xmlns:a16="http://schemas.microsoft.com/office/drawing/2014/main" id="{345749BC-2822-48E2-5E84-95B08A5D9C0F}"/>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BFF939E4-0676-6995-C6C1-1768A4704A91}"/>
              </a:ext>
            </a:extLst>
          </p:cNvPr>
          <p:cNvSpPr>
            <a:spLocks noChangeArrowheads="1" noTextEdit="1"/>
          </p:cNvSpPr>
          <p:nvPr>
            <p:ph type="sldImg"/>
          </p:nvPr>
        </p:nvSpPr>
        <p:spPr>
          <a:ln/>
        </p:spPr>
      </p:sp>
      <p:sp>
        <p:nvSpPr>
          <p:cNvPr id="36867" name="Rectangle 3">
            <a:extLst>
              <a:ext uri="{FF2B5EF4-FFF2-40B4-BE49-F238E27FC236}">
                <a16:creationId xmlns:a16="http://schemas.microsoft.com/office/drawing/2014/main" id="{9850990C-6CBE-DD87-99DE-24C114CB4A0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E4FF617D-E776-8BC5-7B44-75A25E45E53D}"/>
              </a:ext>
            </a:extLst>
          </p:cNvPr>
          <p:cNvSpPr>
            <a:spLocks noChangeArrowheads="1" noTextEdit="1"/>
          </p:cNvSpPr>
          <p:nvPr>
            <p:ph type="sldImg"/>
          </p:nvPr>
        </p:nvSpPr>
        <p:spPr>
          <a:ln/>
        </p:spPr>
      </p:sp>
      <p:sp>
        <p:nvSpPr>
          <p:cNvPr id="38915" name="Rectangle 3">
            <a:extLst>
              <a:ext uri="{FF2B5EF4-FFF2-40B4-BE49-F238E27FC236}">
                <a16:creationId xmlns:a16="http://schemas.microsoft.com/office/drawing/2014/main" id="{2892380A-641E-D122-ECCC-197D4744D588}"/>
              </a:ext>
            </a:extLst>
          </p:cNvPr>
          <p:cNvSpPr>
            <a:spLocks noGrp="1" noChangeArrowheads="1"/>
          </p:cNvSpPr>
          <p:nvPr>
            <p:ph type="body" idx="1"/>
          </p:nvPr>
        </p:nvSpPr>
        <p:spPr>
          <a:noFill/>
        </p:spPr>
        <p:txBody>
          <a:bodyPr/>
          <a:lstStyle/>
          <a:p>
            <a:r>
              <a:rPr lang="en-US" altLang="en-US" sz="1600"/>
              <a:t>Binary search will search a sorted array or Collection for a specified value.   The spot at which the item was found will be returned.   If the item was not found, -1 is returned.</a:t>
            </a:r>
          </a:p>
          <a:p>
            <a:endParaRPr lang="en-US" altLang="en-US" sz="1600"/>
          </a:p>
          <a:p>
            <a:r>
              <a:rPr lang="en-US" altLang="en-US" sz="1600"/>
              <a:t>Binary search is much more efficient that a Linear / Sequential search, but the data must be sorted.  Binary Search will spit the list in half each time it looks for a match.   If the search value is not found at the current spot, the current spot is compared to the search value.  If the search value is bigger than the item at the current spot, the top half of the list is split and checked.   If the search value is less than the item at the current spot, the bottom half of the list is split and checked.  This process continues until the search value is found or the bottom and top indexes cross.</a:t>
            </a:r>
          </a:p>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6E349EE-9AC7-1427-1716-A4C95E096E47}"/>
              </a:ext>
            </a:extLst>
          </p:cNvPr>
          <p:cNvSpPr>
            <a:spLocks noChangeArrowheads="1" noTextEdit="1"/>
          </p:cNvSpPr>
          <p:nvPr>
            <p:ph type="sldImg"/>
          </p:nvPr>
        </p:nvSpPr>
        <p:spPr>
          <a:ln/>
        </p:spPr>
      </p:sp>
      <p:sp>
        <p:nvSpPr>
          <p:cNvPr id="40963" name="Rectangle 3">
            <a:extLst>
              <a:ext uri="{FF2B5EF4-FFF2-40B4-BE49-F238E27FC236}">
                <a16:creationId xmlns:a16="http://schemas.microsoft.com/office/drawing/2014/main" id="{D108E87A-E934-9671-4B29-03A0A2D3D6C4}"/>
              </a:ext>
            </a:extLst>
          </p:cNvPr>
          <p:cNvSpPr>
            <a:spLocks noGrp="1" noChangeArrowheads="1"/>
          </p:cNvSpPr>
          <p:nvPr>
            <p:ph type="body" idx="1"/>
          </p:nvPr>
        </p:nvSpPr>
        <p:spPr>
          <a:noFill/>
        </p:spPr>
        <p:txBody>
          <a:bodyPr/>
          <a:lstStyle/>
          <a:p>
            <a:r>
              <a:rPr lang="en-US" altLang="en-US" sz="1600"/>
              <a:t>Binary search will search a sorted array or Collection for a specified value.   The spot at which the item was found will be returned.   If the item was not found, -1 is returned.</a:t>
            </a:r>
          </a:p>
          <a:p>
            <a:endParaRPr lang="en-US" altLang="en-US" sz="1600"/>
          </a:p>
          <a:p>
            <a:r>
              <a:rPr lang="en-US" altLang="en-US" sz="1600"/>
              <a:t>Binary search is much more efficient that a Linear / Sequential search, but the data must be sorted.  Binary Search will spit the list in half each time it looks for a match.   If the search value is not found at the current spot, the current spot is compared to the search value.  If the search value is bigger than the item at the current spot, the top half of the list is split and checked.   If the search value is less than the item at the current spot, the bottom half of the list is split and checked.  This process continues until the search value is found or the bottom and top indexes cross.</a:t>
            </a:r>
          </a:p>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23125D3D-60E5-CD46-8678-FDBF2AFB0426}"/>
              </a:ext>
            </a:extLst>
          </p:cNvPr>
          <p:cNvSpPr>
            <a:spLocks noChangeArrowheads="1" noTextEdit="1"/>
          </p:cNvSpPr>
          <p:nvPr>
            <p:ph type="sldImg"/>
          </p:nvPr>
        </p:nvSpPr>
        <p:spPr>
          <a:ln/>
        </p:spPr>
      </p:sp>
      <p:sp>
        <p:nvSpPr>
          <p:cNvPr id="43011" name="Rectangle 3">
            <a:extLst>
              <a:ext uri="{FF2B5EF4-FFF2-40B4-BE49-F238E27FC236}">
                <a16:creationId xmlns:a16="http://schemas.microsoft.com/office/drawing/2014/main" id="{8B1A97F8-48DB-4290-29F5-3C2B65ACE95E}"/>
              </a:ext>
            </a:extLst>
          </p:cNvPr>
          <p:cNvSpPr>
            <a:spLocks noGrp="1" noChangeArrowheads="1"/>
          </p:cNvSpPr>
          <p:nvPr>
            <p:ph type="body" idx="1"/>
          </p:nvPr>
        </p:nvSpPr>
        <p:spPr>
          <a:noFill/>
        </p:spPr>
        <p:txBody>
          <a:bodyPr/>
          <a:lstStyle/>
          <a:p>
            <a:r>
              <a:rPr lang="en-US" altLang="en-US" sz="1600"/>
              <a:t>Binary search will search a sorted array or Collection for a specified value.   The spot at which the item was found will be returned.   If the item was not found, -1 is returned.</a:t>
            </a:r>
          </a:p>
          <a:p>
            <a:endParaRPr lang="en-US" altLang="en-US" sz="1600"/>
          </a:p>
          <a:p>
            <a:r>
              <a:rPr lang="en-US" altLang="en-US" sz="1600"/>
              <a:t>Binary search is much more efficient that a Linear / Sequential search, but the data must be sorted.  Binary Search will spit the list in half each time it looks for a match.   If the search value is not found at the current spot, the current spot is compared to the search value.  If the search value is bigger than the item at the current spot, the top half of the list is split and checked.   If the search value is less than the item at the current spot, the bottom half of the list is split and checked.  This process continues until the search value is found or the bottom and top indexes cross.</a:t>
            </a:r>
          </a:p>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8F711EB-6034-D8B1-2858-EF22EC4913AE}"/>
              </a:ext>
            </a:extLst>
          </p:cNvPr>
          <p:cNvSpPr>
            <a:spLocks noChangeArrowheads="1" noTextEdit="1"/>
          </p:cNvSpPr>
          <p:nvPr>
            <p:ph type="sldImg"/>
          </p:nvPr>
        </p:nvSpPr>
        <p:spPr>
          <a:ln/>
        </p:spPr>
      </p:sp>
      <p:sp>
        <p:nvSpPr>
          <p:cNvPr id="46083" name="Rectangle 3">
            <a:extLst>
              <a:ext uri="{FF2B5EF4-FFF2-40B4-BE49-F238E27FC236}">
                <a16:creationId xmlns:a16="http://schemas.microsoft.com/office/drawing/2014/main" id="{CBB5439F-4AB7-5D7C-BF0F-6F2D54CD16B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DDA541B-0138-6AC0-2D15-05793AF395C0}"/>
              </a:ext>
            </a:extLst>
          </p:cNvPr>
          <p:cNvSpPr>
            <a:spLocks noChangeArrowheads="1" noTextEdit="1"/>
          </p:cNvSpPr>
          <p:nvPr>
            <p:ph type="sldImg"/>
          </p:nvPr>
        </p:nvSpPr>
        <p:spPr>
          <a:ln/>
        </p:spPr>
      </p:sp>
      <p:sp>
        <p:nvSpPr>
          <p:cNvPr id="48131" name="Rectangle 3">
            <a:extLst>
              <a:ext uri="{FF2B5EF4-FFF2-40B4-BE49-F238E27FC236}">
                <a16:creationId xmlns:a16="http://schemas.microsoft.com/office/drawing/2014/main" id="{97CEE127-513D-95EB-E8F0-5BA68EEB4E38}"/>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246186AF-7851-D654-6F93-F727FFBEA763}"/>
              </a:ext>
            </a:extLst>
          </p:cNvPr>
          <p:cNvSpPr>
            <a:spLocks noChangeArrowheads="1" noTextEdit="1"/>
          </p:cNvSpPr>
          <p:nvPr>
            <p:ph type="sldImg"/>
          </p:nvPr>
        </p:nvSpPr>
        <p:spPr>
          <a:ln/>
        </p:spPr>
      </p:sp>
      <p:sp>
        <p:nvSpPr>
          <p:cNvPr id="50179" name="Rectangle 3">
            <a:extLst>
              <a:ext uri="{FF2B5EF4-FFF2-40B4-BE49-F238E27FC236}">
                <a16:creationId xmlns:a16="http://schemas.microsoft.com/office/drawing/2014/main" id="{18F2E96F-C4D8-1C37-F8A9-EADFB06CA9E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D9CB54BE-22E3-C359-278B-52F1FB1D33A5}"/>
              </a:ext>
            </a:extLst>
          </p:cNvPr>
          <p:cNvSpPr>
            <a:spLocks noChangeArrowheads="1" noTextEdit="1"/>
          </p:cNvSpPr>
          <p:nvPr>
            <p:ph type="sldImg"/>
          </p:nvPr>
        </p:nvSpPr>
        <p:spPr>
          <a:ln/>
        </p:spPr>
      </p:sp>
      <p:sp>
        <p:nvSpPr>
          <p:cNvPr id="52227" name="Rectangle 3">
            <a:extLst>
              <a:ext uri="{FF2B5EF4-FFF2-40B4-BE49-F238E27FC236}">
                <a16:creationId xmlns:a16="http://schemas.microsoft.com/office/drawing/2014/main" id="{578DADEE-213A-BF87-4472-BC01F4AE60FC}"/>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B64B94EE-E5CC-D347-8763-56AD0B848438}"/>
              </a:ext>
            </a:extLst>
          </p:cNvPr>
          <p:cNvSpPr>
            <a:spLocks noChangeArrowheads="1" noTextEdit="1"/>
          </p:cNvSpPr>
          <p:nvPr>
            <p:ph type="sldImg"/>
          </p:nvPr>
        </p:nvSpPr>
        <p:spPr>
          <a:ln/>
        </p:spPr>
      </p:sp>
      <p:sp>
        <p:nvSpPr>
          <p:cNvPr id="54275" name="Rectangle 3">
            <a:extLst>
              <a:ext uri="{FF2B5EF4-FFF2-40B4-BE49-F238E27FC236}">
                <a16:creationId xmlns:a16="http://schemas.microsoft.com/office/drawing/2014/main" id="{1FA0EA2C-5E79-4FDF-E429-B77894E1BDB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DDA767A5-41CA-C70F-FD5C-1762A108D1C1}"/>
              </a:ext>
            </a:extLst>
          </p:cNvPr>
          <p:cNvSpPr>
            <a:spLocks noChangeArrowheads="1" noTextEdit="1"/>
          </p:cNvSpPr>
          <p:nvPr>
            <p:ph type="sldImg"/>
          </p:nvPr>
        </p:nvSpPr>
        <p:spPr>
          <a:ln/>
        </p:spPr>
      </p:sp>
      <p:sp>
        <p:nvSpPr>
          <p:cNvPr id="56323" name="Rectangle 3">
            <a:extLst>
              <a:ext uri="{FF2B5EF4-FFF2-40B4-BE49-F238E27FC236}">
                <a16:creationId xmlns:a16="http://schemas.microsoft.com/office/drawing/2014/main" id="{084F7C13-8274-25AD-1AA0-F18AF8353F3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A412E2B0-9ADE-EFF4-B33D-3F7CE48F4114}"/>
              </a:ext>
            </a:extLst>
          </p:cNvPr>
          <p:cNvSpPr>
            <a:spLocks noChangeArrowheads="1" noTextEdit="1"/>
          </p:cNvSpPr>
          <p:nvPr>
            <p:ph type="sldImg"/>
          </p:nvPr>
        </p:nvSpPr>
        <p:spPr>
          <a:ln/>
        </p:spPr>
      </p:sp>
      <p:sp>
        <p:nvSpPr>
          <p:cNvPr id="58371" name="Rectangle 3">
            <a:extLst>
              <a:ext uri="{FF2B5EF4-FFF2-40B4-BE49-F238E27FC236}">
                <a16:creationId xmlns:a16="http://schemas.microsoft.com/office/drawing/2014/main" id="{E714E475-0820-3C38-C0F7-70FB9290DA7F}"/>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764F545F-2CF1-D9C3-30ED-292694121FC3}"/>
              </a:ext>
            </a:extLst>
          </p:cNvPr>
          <p:cNvSpPr>
            <a:spLocks noChangeArrowheads="1" noTextEdit="1"/>
          </p:cNvSpPr>
          <p:nvPr>
            <p:ph type="sldImg"/>
          </p:nvPr>
        </p:nvSpPr>
        <p:spPr>
          <a:ln/>
        </p:spPr>
      </p:sp>
      <p:sp>
        <p:nvSpPr>
          <p:cNvPr id="60419" name="Rectangle 3">
            <a:extLst>
              <a:ext uri="{FF2B5EF4-FFF2-40B4-BE49-F238E27FC236}">
                <a16:creationId xmlns:a16="http://schemas.microsoft.com/office/drawing/2014/main" id="{AF1CEC8C-D028-A2EA-AAC7-6ABBC85D3F95}"/>
              </a:ext>
            </a:extLst>
          </p:cNvPr>
          <p:cNvSpPr>
            <a:spLocks noGrp="1" noChangeArrowheads="1"/>
          </p:cNvSpPr>
          <p:nvPr>
            <p:ph type="body" idx="1"/>
          </p:nvPr>
        </p:nvSpPr>
        <p:spPr>
          <a:noFill/>
        </p:spPr>
        <p:txBody>
          <a:bodyPr/>
          <a:lstStyle/>
          <a:p>
            <a:r>
              <a:rPr lang="en-US" altLang="en-US" sz="1600">
                <a:latin typeface="Courier New" panose="02070309020205020404" pitchFamily="49" charset="0"/>
                <a:cs typeface="Courier New" panose="02070309020205020404" pitchFamily="49" charset="0"/>
              </a:rPr>
              <a:t>binarySeach()</a:t>
            </a:r>
            <a:r>
              <a:rPr lang="en-US" altLang="en-US" sz="1600"/>
              <a:t> works quite to locate items and to find the spot at which an item should be placed in the list..</a:t>
            </a:r>
          </a:p>
          <a:p>
            <a:r>
              <a:rPr lang="en-US" altLang="en-US" sz="1600">
                <a:latin typeface="Courier New" panose="02070309020205020404" pitchFamily="49" charset="0"/>
                <a:cs typeface="Courier New" panose="02070309020205020404" pitchFamily="49" charset="0"/>
              </a:rPr>
              <a:t>binarySeach()</a:t>
            </a:r>
            <a:r>
              <a:rPr lang="en-US" altLang="en-US" sz="1600"/>
              <a:t> will return the spot at which an item is located or -1 + -where the item should be if it were present.</a:t>
            </a:r>
          </a:p>
          <a:p>
            <a:endParaRPr lang="en-US" altLang="en-US" sz="16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B287F81C-BB6D-F9D6-6FCE-55FAE872E221}"/>
              </a:ext>
            </a:extLst>
          </p:cNvPr>
          <p:cNvSpPr>
            <a:spLocks noChangeArrowheads="1" noTextEdit="1"/>
          </p:cNvSpPr>
          <p:nvPr>
            <p:ph type="sldImg"/>
          </p:nvPr>
        </p:nvSpPr>
        <p:spPr>
          <a:ln/>
        </p:spPr>
      </p:sp>
      <p:sp>
        <p:nvSpPr>
          <p:cNvPr id="62467" name="Rectangle 3">
            <a:extLst>
              <a:ext uri="{FF2B5EF4-FFF2-40B4-BE49-F238E27FC236}">
                <a16:creationId xmlns:a16="http://schemas.microsoft.com/office/drawing/2014/main" id="{E2C07607-F164-2B75-89C2-A68550DAED0F}"/>
              </a:ext>
            </a:extLst>
          </p:cNvPr>
          <p:cNvSpPr>
            <a:spLocks noGrp="1" noChangeArrowheads="1"/>
          </p:cNvSpPr>
          <p:nvPr>
            <p:ph type="body" idx="1"/>
          </p:nvPr>
        </p:nvSpPr>
        <p:spPr>
          <a:noFill/>
        </p:spPr>
        <p:txBody>
          <a:bodyPr/>
          <a:lstStyle/>
          <a:p>
            <a:r>
              <a:rPr lang="en-US" altLang="en-US" sz="1600">
                <a:latin typeface="Courier New" panose="02070309020205020404" pitchFamily="49" charset="0"/>
                <a:cs typeface="Courier New" panose="02070309020205020404" pitchFamily="49" charset="0"/>
              </a:rPr>
              <a:t>binarySeach()</a:t>
            </a:r>
            <a:r>
              <a:rPr lang="en-US" altLang="en-US" sz="1600"/>
              <a:t> works quite to locate items and to find the spot at which an item should be placed in the list..</a:t>
            </a:r>
          </a:p>
          <a:p>
            <a:r>
              <a:rPr lang="en-US" altLang="en-US" sz="1600">
                <a:latin typeface="Courier New" panose="02070309020205020404" pitchFamily="49" charset="0"/>
                <a:cs typeface="Courier New" panose="02070309020205020404" pitchFamily="49" charset="0"/>
              </a:rPr>
              <a:t>binarySeach()</a:t>
            </a:r>
            <a:r>
              <a:rPr lang="en-US" altLang="en-US" sz="1600"/>
              <a:t> will return the spot at which an item is located or -1 + -where the item should be if it were present.</a:t>
            </a:r>
          </a:p>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9A833E10-FC4E-3D65-A028-22A634BA6814}"/>
              </a:ext>
            </a:extLst>
          </p:cNvPr>
          <p:cNvSpPr>
            <a:spLocks noChangeArrowheads="1" noTextEdit="1"/>
          </p:cNvSpPr>
          <p:nvPr>
            <p:ph type="sldImg"/>
          </p:nvPr>
        </p:nvSpPr>
        <p:spPr>
          <a:ln/>
        </p:spPr>
      </p:sp>
      <p:sp>
        <p:nvSpPr>
          <p:cNvPr id="64515" name="Rectangle 3">
            <a:extLst>
              <a:ext uri="{FF2B5EF4-FFF2-40B4-BE49-F238E27FC236}">
                <a16:creationId xmlns:a16="http://schemas.microsoft.com/office/drawing/2014/main" id="{BF673771-56EF-C4C7-13FB-51D955A725A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3636B569-2717-4C9B-102D-91717FB228A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B52E6D9-5717-1FD7-DE54-334093FAD067}"/>
              </a:ext>
            </a:extLst>
          </p:cNvPr>
          <p:cNvSpPr>
            <a:spLocks noGrp="1" noChangeArrowheads="1"/>
          </p:cNvSpPr>
          <p:nvPr>
            <p:ph type="sldNum" sz="quarter" idx="11"/>
          </p:nvPr>
        </p:nvSpPr>
        <p:spPr>
          <a:ln/>
        </p:spPr>
        <p:txBody>
          <a:bodyPr/>
          <a:lstStyle>
            <a:lvl1pPr>
              <a:defRPr/>
            </a:lvl1pPr>
          </a:lstStyle>
          <a:p>
            <a:fld id="{CF1CBE9F-A3AE-474F-BE5E-A50D9A54ADFB}" type="slidenum">
              <a:rPr lang="en-US" altLang="en-US"/>
              <a:pPr/>
              <a:t>‹#›</a:t>
            </a:fld>
            <a:endParaRPr lang="en-US" altLang="en-US"/>
          </a:p>
        </p:txBody>
      </p:sp>
      <p:sp>
        <p:nvSpPr>
          <p:cNvPr id="6" name="Rectangle 7">
            <a:extLst>
              <a:ext uri="{FF2B5EF4-FFF2-40B4-BE49-F238E27FC236}">
                <a16:creationId xmlns:a16="http://schemas.microsoft.com/office/drawing/2014/main" id="{5EA2DA6F-46BD-CBD9-9976-AF8A840722A2}"/>
              </a:ext>
            </a:extLst>
          </p:cNvPr>
          <p:cNvSpPr>
            <a:spLocks noGrp="1" noChangeArrowheads="1"/>
          </p:cNvSpPr>
          <p:nvPr>
            <p:ph type="ftr" sz="quarter" idx="12"/>
          </p:nvPr>
        </p:nvSpPr>
        <p:spPr>
          <a:ln/>
        </p:spPr>
        <p:txBody>
          <a:bodyPr/>
          <a:lstStyle>
            <a:lvl1pPr>
              <a:defRPr b="0">
                <a:latin typeface="Tahoma" panose="020B0604030504040204"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3013213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8FBF4A9-3484-990E-60B1-41642F24FCE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9986907-130B-8F70-D5AB-29A8784810A8}"/>
              </a:ext>
            </a:extLst>
          </p:cNvPr>
          <p:cNvSpPr>
            <a:spLocks noGrp="1" noChangeArrowheads="1"/>
          </p:cNvSpPr>
          <p:nvPr>
            <p:ph type="sldNum" sz="quarter" idx="11"/>
          </p:nvPr>
        </p:nvSpPr>
        <p:spPr>
          <a:ln/>
        </p:spPr>
        <p:txBody>
          <a:bodyPr/>
          <a:lstStyle>
            <a:lvl1pPr>
              <a:defRPr/>
            </a:lvl1pPr>
          </a:lstStyle>
          <a:p>
            <a:fld id="{819BE6F1-5737-4C76-B6F8-8CE431548D32}" type="slidenum">
              <a:rPr lang="en-US" altLang="en-US"/>
              <a:pPr/>
              <a:t>‹#›</a:t>
            </a:fld>
            <a:endParaRPr lang="en-US" altLang="en-US"/>
          </a:p>
        </p:txBody>
      </p:sp>
      <p:sp>
        <p:nvSpPr>
          <p:cNvPr id="6" name="Rectangle 7">
            <a:extLst>
              <a:ext uri="{FF2B5EF4-FFF2-40B4-BE49-F238E27FC236}">
                <a16:creationId xmlns:a16="http://schemas.microsoft.com/office/drawing/2014/main" id="{F2ABDBDF-7154-8699-95EC-A67FE8664195}"/>
              </a:ext>
            </a:extLst>
          </p:cNvPr>
          <p:cNvSpPr>
            <a:spLocks noGrp="1" noChangeArrowheads="1"/>
          </p:cNvSpPr>
          <p:nvPr>
            <p:ph type="ftr" sz="quarter" idx="12"/>
          </p:nvPr>
        </p:nvSpPr>
        <p:spPr>
          <a:ln/>
        </p:spPr>
        <p:txBody>
          <a:bodyPr/>
          <a:lstStyle>
            <a:lvl1pPr>
              <a:defRPr b="0">
                <a:latin typeface="Tahoma" panose="020B0604030504040204"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194915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53A2F3F-AAE8-1B86-66FF-E03A19C79C9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6A536D9-E765-5BEE-AF38-D499E67130FE}"/>
              </a:ext>
            </a:extLst>
          </p:cNvPr>
          <p:cNvSpPr>
            <a:spLocks noGrp="1" noChangeArrowheads="1"/>
          </p:cNvSpPr>
          <p:nvPr>
            <p:ph type="sldNum" sz="quarter" idx="11"/>
          </p:nvPr>
        </p:nvSpPr>
        <p:spPr>
          <a:ln/>
        </p:spPr>
        <p:txBody>
          <a:bodyPr/>
          <a:lstStyle>
            <a:lvl1pPr>
              <a:defRPr/>
            </a:lvl1pPr>
          </a:lstStyle>
          <a:p>
            <a:fld id="{F0EDC617-C604-41E5-B3E5-E03D14A11D09}" type="slidenum">
              <a:rPr lang="en-US" altLang="en-US"/>
              <a:pPr/>
              <a:t>‹#›</a:t>
            </a:fld>
            <a:endParaRPr lang="en-US" altLang="en-US"/>
          </a:p>
        </p:txBody>
      </p:sp>
      <p:sp>
        <p:nvSpPr>
          <p:cNvPr id="6" name="Rectangle 7">
            <a:extLst>
              <a:ext uri="{FF2B5EF4-FFF2-40B4-BE49-F238E27FC236}">
                <a16:creationId xmlns:a16="http://schemas.microsoft.com/office/drawing/2014/main" id="{F046B279-B747-FE17-5337-053AC8342941}"/>
              </a:ext>
            </a:extLst>
          </p:cNvPr>
          <p:cNvSpPr>
            <a:spLocks noGrp="1" noChangeArrowheads="1"/>
          </p:cNvSpPr>
          <p:nvPr>
            <p:ph type="ftr" sz="quarter" idx="12"/>
          </p:nvPr>
        </p:nvSpPr>
        <p:spPr>
          <a:ln/>
        </p:spPr>
        <p:txBody>
          <a:bodyPr/>
          <a:lstStyle>
            <a:lvl1pPr>
              <a:defRPr b="0">
                <a:latin typeface="Tahoma" panose="020B0604030504040204"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1861672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0D9D54CA-93B6-D8BE-4D16-4AC87253B1C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55ECB58-5CC3-8B66-94BA-B5ECC528EB9A}"/>
              </a:ext>
            </a:extLst>
          </p:cNvPr>
          <p:cNvSpPr>
            <a:spLocks noGrp="1" noChangeArrowheads="1"/>
          </p:cNvSpPr>
          <p:nvPr>
            <p:ph type="sldNum" sz="quarter" idx="11"/>
          </p:nvPr>
        </p:nvSpPr>
        <p:spPr>
          <a:ln/>
        </p:spPr>
        <p:txBody>
          <a:bodyPr/>
          <a:lstStyle>
            <a:lvl1pPr>
              <a:defRPr/>
            </a:lvl1pPr>
          </a:lstStyle>
          <a:p>
            <a:fld id="{03000485-7E87-4483-B145-BBB7449E6B8A}" type="slidenum">
              <a:rPr lang="en-US" altLang="en-US"/>
              <a:pPr/>
              <a:t>‹#›</a:t>
            </a:fld>
            <a:endParaRPr lang="en-US" altLang="en-US"/>
          </a:p>
        </p:txBody>
      </p:sp>
      <p:sp>
        <p:nvSpPr>
          <p:cNvPr id="7" name="Rectangle 7">
            <a:extLst>
              <a:ext uri="{FF2B5EF4-FFF2-40B4-BE49-F238E27FC236}">
                <a16:creationId xmlns:a16="http://schemas.microsoft.com/office/drawing/2014/main" id="{77811331-8F66-90D3-BD26-10AEC6C675BC}"/>
              </a:ext>
            </a:extLst>
          </p:cNvPr>
          <p:cNvSpPr>
            <a:spLocks noGrp="1" noChangeArrowheads="1"/>
          </p:cNvSpPr>
          <p:nvPr>
            <p:ph type="ftr" sz="quarter" idx="12"/>
          </p:nvPr>
        </p:nvSpPr>
        <p:spPr>
          <a:ln/>
        </p:spPr>
        <p:txBody>
          <a:bodyPr/>
          <a:lstStyle>
            <a:lvl1pPr>
              <a:defRPr b="0">
                <a:latin typeface="Tahoma" panose="020B0604030504040204"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947838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D67DEEFF-104F-702E-EC26-D8062049C8B6}"/>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8DBEEFC7-D402-FDB7-C71D-6FBE4CC1DA5B}"/>
              </a:ext>
            </a:extLst>
          </p:cNvPr>
          <p:cNvSpPr>
            <a:spLocks noGrp="1" noChangeArrowheads="1"/>
          </p:cNvSpPr>
          <p:nvPr>
            <p:ph type="sldNum" sz="quarter" idx="11"/>
          </p:nvPr>
        </p:nvSpPr>
        <p:spPr>
          <a:ln/>
        </p:spPr>
        <p:txBody>
          <a:bodyPr/>
          <a:lstStyle>
            <a:lvl1pPr>
              <a:defRPr/>
            </a:lvl1pPr>
          </a:lstStyle>
          <a:p>
            <a:fld id="{57F6D6EA-1CAE-4875-B114-639849A2B9B9}" type="slidenum">
              <a:rPr lang="en-US" altLang="en-US"/>
              <a:pPr/>
              <a:t>‹#›</a:t>
            </a:fld>
            <a:endParaRPr lang="en-US" altLang="en-US"/>
          </a:p>
        </p:txBody>
      </p:sp>
      <p:sp>
        <p:nvSpPr>
          <p:cNvPr id="9" name="Rectangle 7">
            <a:extLst>
              <a:ext uri="{FF2B5EF4-FFF2-40B4-BE49-F238E27FC236}">
                <a16:creationId xmlns:a16="http://schemas.microsoft.com/office/drawing/2014/main" id="{487B8802-E7AB-F19D-9AA0-01706BA60020}"/>
              </a:ext>
            </a:extLst>
          </p:cNvPr>
          <p:cNvSpPr>
            <a:spLocks noGrp="1" noChangeArrowheads="1"/>
          </p:cNvSpPr>
          <p:nvPr>
            <p:ph type="ftr" sz="quarter" idx="12"/>
          </p:nvPr>
        </p:nvSpPr>
        <p:spPr>
          <a:ln/>
        </p:spPr>
        <p:txBody>
          <a:bodyPr/>
          <a:lstStyle>
            <a:lvl1pPr>
              <a:defRPr b="0">
                <a:latin typeface="Tahoma" panose="020B0604030504040204"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453185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8A719C3F-E340-17DF-5D81-3C631CE68215}"/>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013F6176-00BE-3EFB-9913-0EB42CC275D0}"/>
              </a:ext>
            </a:extLst>
          </p:cNvPr>
          <p:cNvSpPr>
            <a:spLocks noGrp="1" noChangeArrowheads="1"/>
          </p:cNvSpPr>
          <p:nvPr>
            <p:ph type="sldNum" sz="quarter" idx="11"/>
          </p:nvPr>
        </p:nvSpPr>
        <p:spPr>
          <a:ln/>
        </p:spPr>
        <p:txBody>
          <a:bodyPr/>
          <a:lstStyle>
            <a:lvl1pPr>
              <a:defRPr/>
            </a:lvl1pPr>
          </a:lstStyle>
          <a:p>
            <a:fld id="{FA7161F0-3552-4480-832C-C11AFCEF1B53}" type="slidenum">
              <a:rPr lang="en-US" altLang="en-US"/>
              <a:pPr/>
              <a:t>‹#›</a:t>
            </a:fld>
            <a:endParaRPr lang="en-US" altLang="en-US"/>
          </a:p>
        </p:txBody>
      </p:sp>
      <p:sp>
        <p:nvSpPr>
          <p:cNvPr id="5" name="Rectangle 7">
            <a:extLst>
              <a:ext uri="{FF2B5EF4-FFF2-40B4-BE49-F238E27FC236}">
                <a16:creationId xmlns:a16="http://schemas.microsoft.com/office/drawing/2014/main" id="{32CD65F0-F5D9-FAF7-33EF-D976AAA0B3D7}"/>
              </a:ext>
            </a:extLst>
          </p:cNvPr>
          <p:cNvSpPr>
            <a:spLocks noGrp="1" noChangeArrowheads="1"/>
          </p:cNvSpPr>
          <p:nvPr>
            <p:ph type="ftr" sz="quarter" idx="12"/>
          </p:nvPr>
        </p:nvSpPr>
        <p:spPr>
          <a:ln/>
        </p:spPr>
        <p:txBody>
          <a:bodyPr/>
          <a:lstStyle>
            <a:lvl1pPr>
              <a:defRPr b="0">
                <a:latin typeface="Tahoma" panose="020B0604030504040204"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401298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AF6BB6A-99AD-34CD-5A21-79CEB64537C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90897485-50E7-467E-EF9C-B00FB58CA555}"/>
              </a:ext>
            </a:extLst>
          </p:cNvPr>
          <p:cNvSpPr>
            <a:spLocks noGrp="1" noChangeArrowheads="1"/>
          </p:cNvSpPr>
          <p:nvPr>
            <p:ph type="sldNum" sz="quarter" idx="11"/>
          </p:nvPr>
        </p:nvSpPr>
        <p:spPr>
          <a:ln/>
        </p:spPr>
        <p:txBody>
          <a:bodyPr/>
          <a:lstStyle>
            <a:lvl1pPr>
              <a:defRPr/>
            </a:lvl1pPr>
          </a:lstStyle>
          <a:p>
            <a:fld id="{55E23C6F-4367-491A-8CE7-F72BA584DFA9}" type="slidenum">
              <a:rPr lang="en-US" altLang="en-US"/>
              <a:pPr/>
              <a:t>‹#›</a:t>
            </a:fld>
            <a:endParaRPr lang="en-US" altLang="en-US"/>
          </a:p>
        </p:txBody>
      </p:sp>
      <p:sp>
        <p:nvSpPr>
          <p:cNvPr id="4" name="Rectangle 7">
            <a:extLst>
              <a:ext uri="{FF2B5EF4-FFF2-40B4-BE49-F238E27FC236}">
                <a16:creationId xmlns:a16="http://schemas.microsoft.com/office/drawing/2014/main" id="{53C210FF-C7CF-351E-561C-108887022CF9}"/>
              </a:ext>
            </a:extLst>
          </p:cNvPr>
          <p:cNvSpPr>
            <a:spLocks noGrp="1" noChangeArrowheads="1"/>
          </p:cNvSpPr>
          <p:nvPr>
            <p:ph type="ftr" sz="quarter" idx="12"/>
          </p:nvPr>
        </p:nvSpPr>
        <p:spPr>
          <a:ln/>
        </p:spPr>
        <p:txBody>
          <a:bodyPr/>
          <a:lstStyle>
            <a:lvl1pPr>
              <a:defRPr b="0">
                <a:latin typeface="Tahoma" panose="020B0604030504040204"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235212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C55E6737-A47E-2109-59B3-E2F770757A7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D6AE51F-12CC-0531-D4EC-1A947BBE4FCC}"/>
              </a:ext>
            </a:extLst>
          </p:cNvPr>
          <p:cNvSpPr>
            <a:spLocks noGrp="1" noChangeArrowheads="1"/>
          </p:cNvSpPr>
          <p:nvPr>
            <p:ph type="sldNum" sz="quarter" idx="11"/>
          </p:nvPr>
        </p:nvSpPr>
        <p:spPr>
          <a:ln/>
        </p:spPr>
        <p:txBody>
          <a:bodyPr/>
          <a:lstStyle>
            <a:lvl1pPr>
              <a:defRPr/>
            </a:lvl1pPr>
          </a:lstStyle>
          <a:p>
            <a:fld id="{8373CFFF-B907-4A0B-BE9E-580D4B60B66B}" type="slidenum">
              <a:rPr lang="en-US" altLang="en-US"/>
              <a:pPr/>
              <a:t>‹#›</a:t>
            </a:fld>
            <a:endParaRPr lang="en-US" altLang="en-US"/>
          </a:p>
        </p:txBody>
      </p:sp>
      <p:sp>
        <p:nvSpPr>
          <p:cNvPr id="7" name="Rectangle 7">
            <a:extLst>
              <a:ext uri="{FF2B5EF4-FFF2-40B4-BE49-F238E27FC236}">
                <a16:creationId xmlns:a16="http://schemas.microsoft.com/office/drawing/2014/main" id="{CDE77897-E5A9-27C3-4DDE-4E3B2BA99AFF}"/>
              </a:ext>
            </a:extLst>
          </p:cNvPr>
          <p:cNvSpPr>
            <a:spLocks noGrp="1" noChangeArrowheads="1"/>
          </p:cNvSpPr>
          <p:nvPr>
            <p:ph type="ftr" sz="quarter" idx="12"/>
          </p:nvPr>
        </p:nvSpPr>
        <p:spPr>
          <a:ln/>
        </p:spPr>
        <p:txBody>
          <a:bodyPr/>
          <a:lstStyle>
            <a:lvl1pPr>
              <a:defRPr b="0">
                <a:latin typeface="Tahoma" panose="020B0604030504040204"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851509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EDED4B6-8923-29A8-8FE9-5648033861A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6452DE1-24B5-A40A-E258-91431D930F0C}"/>
              </a:ext>
            </a:extLst>
          </p:cNvPr>
          <p:cNvSpPr>
            <a:spLocks noGrp="1" noChangeArrowheads="1"/>
          </p:cNvSpPr>
          <p:nvPr>
            <p:ph type="sldNum" sz="quarter" idx="11"/>
          </p:nvPr>
        </p:nvSpPr>
        <p:spPr>
          <a:ln/>
        </p:spPr>
        <p:txBody>
          <a:bodyPr/>
          <a:lstStyle>
            <a:lvl1pPr>
              <a:defRPr/>
            </a:lvl1pPr>
          </a:lstStyle>
          <a:p>
            <a:fld id="{2375C72E-D40C-4FD9-A2D8-CBED9332AAC0}" type="slidenum">
              <a:rPr lang="en-US" altLang="en-US"/>
              <a:pPr/>
              <a:t>‹#›</a:t>
            </a:fld>
            <a:endParaRPr lang="en-US" altLang="en-US"/>
          </a:p>
        </p:txBody>
      </p:sp>
      <p:sp>
        <p:nvSpPr>
          <p:cNvPr id="7" name="Rectangle 7">
            <a:extLst>
              <a:ext uri="{FF2B5EF4-FFF2-40B4-BE49-F238E27FC236}">
                <a16:creationId xmlns:a16="http://schemas.microsoft.com/office/drawing/2014/main" id="{6F8FA70A-12DA-3CCF-F473-D3D279A20380}"/>
              </a:ext>
            </a:extLst>
          </p:cNvPr>
          <p:cNvSpPr>
            <a:spLocks noGrp="1" noChangeArrowheads="1"/>
          </p:cNvSpPr>
          <p:nvPr>
            <p:ph type="ftr" sz="quarter" idx="12"/>
          </p:nvPr>
        </p:nvSpPr>
        <p:spPr>
          <a:ln/>
        </p:spPr>
        <p:txBody>
          <a:bodyPr/>
          <a:lstStyle>
            <a:lvl1pPr>
              <a:defRPr b="0">
                <a:latin typeface="Tahoma" panose="020B0604030504040204"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518557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BAEC4A1-5FC6-0FE3-C5D5-37E6B45D248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12E74CA5-493D-63E7-10C8-4DE839206EF4}"/>
              </a:ext>
            </a:extLst>
          </p:cNvPr>
          <p:cNvSpPr>
            <a:spLocks noGrp="1" noChangeArrowheads="1"/>
          </p:cNvSpPr>
          <p:nvPr>
            <p:ph type="sldNum" sz="quarter" idx="11"/>
          </p:nvPr>
        </p:nvSpPr>
        <p:spPr>
          <a:ln/>
        </p:spPr>
        <p:txBody>
          <a:bodyPr/>
          <a:lstStyle>
            <a:lvl1pPr>
              <a:defRPr/>
            </a:lvl1pPr>
          </a:lstStyle>
          <a:p>
            <a:fld id="{23110622-2FC4-4024-A72E-2E7324D6F744}" type="slidenum">
              <a:rPr lang="en-US" altLang="en-US"/>
              <a:pPr/>
              <a:t>‹#›</a:t>
            </a:fld>
            <a:endParaRPr lang="en-US" altLang="en-US"/>
          </a:p>
        </p:txBody>
      </p:sp>
      <p:sp>
        <p:nvSpPr>
          <p:cNvPr id="6" name="Rectangle 7">
            <a:extLst>
              <a:ext uri="{FF2B5EF4-FFF2-40B4-BE49-F238E27FC236}">
                <a16:creationId xmlns:a16="http://schemas.microsoft.com/office/drawing/2014/main" id="{1D909052-0C02-6736-1EA3-2EA990162A52}"/>
              </a:ext>
            </a:extLst>
          </p:cNvPr>
          <p:cNvSpPr>
            <a:spLocks noGrp="1" noChangeArrowheads="1"/>
          </p:cNvSpPr>
          <p:nvPr>
            <p:ph type="ftr" sz="quarter" idx="12"/>
          </p:nvPr>
        </p:nvSpPr>
        <p:spPr>
          <a:ln/>
        </p:spPr>
        <p:txBody>
          <a:bodyPr/>
          <a:lstStyle>
            <a:lvl1pPr>
              <a:defRPr b="0">
                <a:latin typeface="Tahoma" panose="020B0604030504040204"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1930480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5EF5CDF-E4A3-BF36-4485-EA24C95D044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ECD28D8-865C-47CC-25A3-6F2ADE825806}"/>
              </a:ext>
            </a:extLst>
          </p:cNvPr>
          <p:cNvSpPr>
            <a:spLocks noGrp="1" noChangeArrowheads="1"/>
          </p:cNvSpPr>
          <p:nvPr>
            <p:ph type="sldNum" sz="quarter" idx="11"/>
          </p:nvPr>
        </p:nvSpPr>
        <p:spPr>
          <a:ln/>
        </p:spPr>
        <p:txBody>
          <a:bodyPr/>
          <a:lstStyle>
            <a:lvl1pPr>
              <a:defRPr/>
            </a:lvl1pPr>
          </a:lstStyle>
          <a:p>
            <a:fld id="{2EC65FDB-F277-4D8B-BA8E-BE17F276B32F}" type="slidenum">
              <a:rPr lang="en-US" altLang="en-US"/>
              <a:pPr/>
              <a:t>‹#›</a:t>
            </a:fld>
            <a:endParaRPr lang="en-US" altLang="en-US"/>
          </a:p>
        </p:txBody>
      </p:sp>
      <p:sp>
        <p:nvSpPr>
          <p:cNvPr id="6" name="Rectangle 7">
            <a:extLst>
              <a:ext uri="{FF2B5EF4-FFF2-40B4-BE49-F238E27FC236}">
                <a16:creationId xmlns:a16="http://schemas.microsoft.com/office/drawing/2014/main" id="{7CB7031F-C661-AEB9-D104-4563B25C9F69}"/>
              </a:ext>
            </a:extLst>
          </p:cNvPr>
          <p:cNvSpPr>
            <a:spLocks noGrp="1" noChangeArrowheads="1"/>
          </p:cNvSpPr>
          <p:nvPr>
            <p:ph type="ftr" sz="quarter" idx="12"/>
          </p:nvPr>
        </p:nvSpPr>
        <p:spPr>
          <a:ln/>
        </p:spPr>
        <p:txBody>
          <a:bodyPr/>
          <a:lstStyle>
            <a:lvl1pPr>
              <a:defRPr b="0">
                <a:latin typeface="Tahoma" panose="020B0604030504040204"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809824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357F70C-3B3A-AB69-BB23-A0C81D8AFE16}"/>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C6CACD99-3CBA-47BF-8618-13B6C4FB87D6}"/>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E0E98A32-CFAD-D71D-9822-8DC06D938861}"/>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en-US"/>
          </a:p>
        </p:txBody>
      </p:sp>
      <p:sp>
        <p:nvSpPr>
          <p:cNvPr id="1030" name="Rectangle 6">
            <a:extLst>
              <a:ext uri="{FF2B5EF4-FFF2-40B4-BE49-F238E27FC236}">
                <a16:creationId xmlns:a16="http://schemas.microsoft.com/office/drawing/2014/main" id="{3452DF29-2FC8-17F4-BD42-9E235509A6D9}"/>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defRPr>
            </a:lvl1pPr>
          </a:lstStyle>
          <a:p>
            <a:fld id="{29BF40FD-7EDD-408F-B6B6-64DAA681574F}" type="slidenum">
              <a:rPr lang="en-US" altLang="en-US"/>
              <a:pPr/>
              <a:t>‹#›</a:t>
            </a:fld>
            <a:endParaRPr lang="en-US" altLang="en-US"/>
          </a:p>
        </p:txBody>
      </p:sp>
      <p:sp>
        <p:nvSpPr>
          <p:cNvPr id="1031" name="Rectangle 7">
            <a:extLst>
              <a:ext uri="{FF2B5EF4-FFF2-40B4-BE49-F238E27FC236}">
                <a16:creationId xmlns:a16="http://schemas.microsoft.com/office/drawing/2014/main" id="{2C7D5A09-88B6-3A86-D54B-6A30D09DFF3C}"/>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1">
                <a:latin typeface="+mn-lt"/>
              </a:defRPr>
            </a:lvl1pPr>
          </a:lstStyle>
          <a:p>
            <a:pPr>
              <a:defRPr/>
            </a:pPr>
            <a:endParaRPr lang="en-US"/>
          </a:p>
          <a:p>
            <a:pPr>
              <a:defRPr/>
            </a:pPr>
            <a:endParaRPr lang="en-US" b="0">
              <a:latin typeface="Tahoma" panose="020B0604030504040204" pitchFamily="34" charset="0"/>
            </a:endParaRPr>
          </a:p>
          <a:p>
            <a:pPr>
              <a:defRPr/>
            </a:pPr>
            <a:endParaRPr lang="en-US">
              <a:latin typeface="Tahoma" panose="020B0604030504040204" pitchFamily="34" charset="0"/>
            </a:endParaRPr>
          </a:p>
          <a:p>
            <a:pPr>
              <a:defRPr/>
            </a:pPr>
            <a:r>
              <a:rPr lang="en-US">
                <a:latin typeface="Tahoma" panose="020B0604030504040204"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89062E74-8592-A5E4-EC69-53F58464AF4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4099" name="WordArt 2">
            <a:extLst>
              <a:ext uri="{FF2B5EF4-FFF2-40B4-BE49-F238E27FC236}">
                <a16:creationId xmlns:a16="http://schemas.microsoft.com/office/drawing/2014/main" id="{D8A10284-2809-7F76-26C6-F6108105DBEE}"/>
              </a:ext>
            </a:extLst>
          </p:cNvPr>
          <p:cNvSpPr>
            <a:spLocks noChangeArrowheads="1" noChangeShapeType="1" noTextEdit="1"/>
          </p:cNvSpPr>
          <p:nvPr/>
        </p:nvSpPr>
        <p:spPr bwMode="auto">
          <a:xfrm>
            <a:off x="990600" y="1066800"/>
            <a:ext cx="7162800" cy="2971800"/>
          </a:xfrm>
          <a:prstGeom prst="rect">
            <a:avLst/>
          </a:prstGeom>
        </p:spPr>
        <p:txBody>
          <a:bodyPr wrap="none" fromWordArt="1">
            <a:prstTxWarp prst="textPlain">
              <a:avLst>
                <a:gd name="adj" fmla="val 50000"/>
              </a:avLst>
            </a:prstTxWarp>
          </a:bodyPr>
          <a:lstStyle/>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panose="020B0806030902050204" pitchFamily="34" charset="0"/>
              </a:rPr>
              <a:t>Sorting and </a:t>
            </a:r>
          </a:p>
          <a:p>
            <a:pPr algn="ctr"/>
            <a:r>
              <a:rPr lang="en-US" sz="3600" kern="10">
                <a:ln w="19050">
                  <a:solidFill>
                    <a:srgbClr val="99CCFF"/>
                  </a:solidFill>
                  <a:round/>
                  <a:headEnd/>
                  <a:tailEnd/>
                </a:ln>
                <a:solidFill>
                  <a:srgbClr val="0066CC"/>
                </a:solidFill>
                <a:effectLst>
                  <a:outerShdw dist="35921" dir="2700000" algn="ctr" rotWithShape="0">
                    <a:srgbClr val="990000"/>
                  </a:outerShdw>
                </a:effectLst>
                <a:latin typeface="Impact" panose="020B0806030902050204" pitchFamily="34" charset="0"/>
              </a:rPr>
              <a:t>Searching</a:t>
            </a:r>
          </a:p>
        </p:txBody>
      </p:sp>
      <p:sp>
        <p:nvSpPr>
          <p:cNvPr id="4100" name="WordArt 6">
            <a:extLst>
              <a:ext uri="{FF2B5EF4-FFF2-40B4-BE49-F238E27FC236}">
                <a16:creationId xmlns:a16="http://schemas.microsoft.com/office/drawing/2014/main" id="{698869A4-7E3E-AE1E-1FDA-76EF6112EF2B}"/>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22</a:t>
            </a:r>
          </a:p>
        </p:txBody>
      </p:sp>
      <p:pic>
        <p:nvPicPr>
          <p:cNvPr id="4101" name="Picture 7" descr="j0290350[1]">
            <a:extLst>
              <a:ext uri="{FF2B5EF4-FFF2-40B4-BE49-F238E27FC236}">
                <a16:creationId xmlns:a16="http://schemas.microsoft.com/office/drawing/2014/main" id="{444916B3-F701-B36F-C597-C23F616D05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4953000"/>
            <a:ext cx="169068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2FE3A6A-9E7B-45EF-DBDD-4DC7B12D483F}"/>
              </a:ext>
            </a:extLst>
          </p:cNvPr>
          <p:cNvSpPr>
            <a:spLocks noGrp="1"/>
          </p:cNvSpPr>
          <p:nvPr>
            <p:ph type="ftr" sz="quarter" idx="12"/>
          </p:nvPr>
        </p:nvSpPr>
        <p:spPr/>
        <p:txBody>
          <a:body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
        <p:nvSpPr>
          <p:cNvPr id="6147" name="Rectangle 2">
            <a:extLst>
              <a:ext uri="{FF2B5EF4-FFF2-40B4-BE49-F238E27FC236}">
                <a16:creationId xmlns:a16="http://schemas.microsoft.com/office/drawing/2014/main" id="{E9190C22-BBAF-BACE-38AE-F8CBC89F18C2}"/>
              </a:ext>
            </a:extLst>
          </p:cNvPr>
          <p:cNvSpPr>
            <a:spLocks noChangeArrowheads="1"/>
          </p:cNvSpPr>
          <p:nvPr/>
        </p:nvSpPr>
        <p:spPr bwMode="auto">
          <a:xfrm>
            <a:off x="457200" y="685800"/>
            <a:ext cx="80772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7200" b="1">
                <a:latin typeface="Freestyle Script" panose="030804020302050B0404" pitchFamily="66" charset="0"/>
              </a:rPr>
              <a:t>Do the right things even though they're hard rather than the wrong things just because they're easy and you'll be smarter than most people.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Footer Placeholder 3">
            <a:extLst>
              <a:ext uri="{FF2B5EF4-FFF2-40B4-BE49-F238E27FC236}">
                <a16:creationId xmlns:a16="http://schemas.microsoft.com/office/drawing/2014/main" id="{F3B959DD-BFC9-B818-3242-0A5A8B3D72D6}"/>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7171" name="WordArt 2">
            <a:extLst>
              <a:ext uri="{FF2B5EF4-FFF2-40B4-BE49-F238E27FC236}">
                <a16:creationId xmlns:a16="http://schemas.microsoft.com/office/drawing/2014/main" id="{72989CA2-F162-7190-28A3-20C619DB38D3}"/>
              </a:ext>
            </a:extLst>
          </p:cNvPr>
          <p:cNvSpPr>
            <a:spLocks noChangeArrowheads="1" noChangeShapeType="1" noTextEdit="1"/>
          </p:cNvSpPr>
          <p:nvPr/>
        </p:nvSpPr>
        <p:spPr bwMode="auto">
          <a:xfrm>
            <a:off x="609600" y="990600"/>
            <a:ext cx="7848600" cy="3886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Java</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Sorts and Searches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a:extLst>
              <a:ext uri="{FF2B5EF4-FFF2-40B4-BE49-F238E27FC236}">
                <a16:creationId xmlns:a16="http://schemas.microsoft.com/office/drawing/2014/main" id="{61A32FC4-E214-0CAC-C447-7B712C46E89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graphicFrame>
        <p:nvGraphicFramePr>
          <p:cNvPr id="104475" name="Group 27">
            <a:extLst>
              <a:ext uri="{FF2B5EF4-FFF2-40B4-BE49-F238E27FC236}">
                <a16:creationId xmlns:a16="http://schemas.microsoft.com/office/drawing/2014/main" id="{05B35E76-4C4A-2366-6BEF-0804CEB2FA5D}"/>
              </a:ext>
            </a:extLst>
          </p:cNvPr>
          <p:cNvGraphicFramePr>
            <a:graphicFrameLocks noGrp="1"/>
          </p:cNvGraphicFramePr>
          <p:nvPr/>
        </p:nvGraphicFramePr>
        <p:xfrm>
          <a:off x="609600" y="533400"/>
          <a:ext cx="8077200" cy="3983038"/>
        </p:xfrm>
        <a:graphic>
          <a:graphicData uri="http://schemas.openxmlformats.org/drawingml/2006/table">
            <a:tbl>
              <a:tblPr/>
              <a:tblGrid>
                <a:gridCol w="25146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1476375">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dirty="0">
                          <a:ln>
                            <a:noFill/>
                          </a:ln>
                          <a:solidFill>
                            <a:srgbClr val="FF0000"/>
                          </a:solidFill>
                          <a:effectLst/>
                          <a:latin typeface="Tahoma" pitchFamily="34" charset="0"/>
                        </a:rPr>
                        <a:t>Arrays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sort(x)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puts all items in x in ascending order</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chemeClr val="accent2"/>
                          </a:solidFill>
                          <a:effectLst/>
                          <a:latin typeface="Tahoma" pitchFamily="34" charset="0"/>
                        </a:rPr>
                        <a:t>binarySearch</a:t>
                      </a:r>
                      <a:r>
                        <a:rPr kumimoji="0" lang="en-US" sz="2000" b="1" i="0" u="none" strike="noStrike" cap="none" normalizeH="0" baseline="0" dirty="0">
                          <a:ln>
                            <a:noFill/>
                          </a:ln>
                          <a:solidFill>
                            <a:schemeClr val="accent2"/>
                          </a:solidFill>
                          <a:effectLst/>
                          <a:latin typeface="Tahoma" pitchFamily="34" charset="0"/>
                        </a:rPr>
                        <a:t>(</a:t>
                      </a:r>
                      <a:r>
                        <a:rPr kumimoji="0" lang="en-US" sz="2000" b="1" i="0" u="none" strike="noStrike" cap="none" normalizeH="0" baseline="0" dirty="0" err="1">
                          <a:ln>
                            <a:noFill/>
                          </a:ln>
                          <a:solidFill>
                            <a:schemeClr val="accent2"/>
                          </a:solidFill>
                          <a:effectLst/>
                          <a:latin typeface="Tahoma" pitchFamily="34" charset="0"/>
                        </a:rPr>
                        <a:t>x,y</a:t>
                      </a:r>
                      <a:r>
                        <a:rPr kumimoji="0" lang="en-US" sz="2000" b="1" i="0" u="none" strike="noStrike" cap="none" normalizeH="0" baseline="0" dirty="0">
                          <a:ln>
                            <a:noFill/>
                          </a:ln>
                          <a:solidFill>
                            <a:schemeClr val="accent2"/>
                          </a:solidFill>
                          <a:effectLst/>
                          <a:latin typeface="Tahoma" pitchFamily="34" charset="0"/>
                        </a:rPr>
                        <a: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checks x for the location of 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equals(x,y)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checks if x and y have the same values</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fill(x, 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fills all spots in x with value 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9241" name="Text Box 28">
            <a:extLst>
              <a:ext uri="{FF2B5EF4-FFF2-40B4-BE49-F238E27FC236}">
                <a16:creationId xmlns:a16="http://schemas.microsoft.com/office/drawing/2014/main" id="{5D950D07-CAAC-2246-6171-2FBD9C60C595}"/>
              </a:ext>
            </a:extLst>
          </p:cNvPr>
          <p:cNvSpPr txBox="1">
            <a:spLocks noChangeArrowheads="1"/>
          </p:cNvSpPr>
          <p:nvPr/>
        </p:nvSpPr>
        <p:spPr bwMode="auto">
          <a:xfrm>
            <a:off x="2133600" y="5562600"/>
            <a:ext cx="4495800" cy="5318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a:solidFill>
                  <a:schemeClr val="accent2"/>
                </a:solidFill>
                <a:latin typeface="Tahoma" panose="020B0604030504040204" pitchFamily="34" charset="0"/>
              </a:rPr>
              <a:t>import  java.util.Arrays;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a:extLst>
              <a:ext uri="{FF2B5EF4-FFF2-40B4-BE49-F238E27FC236}">
                <a16:creationId xmlns:a16="http://schemas.microsoft.com/office/drawing/2014/main" id="{8A6323E6-1E83-CD10-9589-104FE4ECC8A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graphicFrame>
        <p:nvGraphicFramePr>
          <p:cNvPr id="109570" name="Group 2">
            <a:extLst>
              <a:ext uri="{FF2B5EF4-FFF2-40B4-BE49-F238E27FC236}">
                <a16:creationId xmlns:a16="http://schemas.microsoft.com/office/drawing/2014/main" id="{A53C4A41-B67F-DA5D-EF8E-5BDCD548F885}"/>
              </a:ext>
            </a:extLst>
          </p:cNvPr>
          <p:cNvGraphicFramePr>
            <a:graphicFrameLocks noGrp="1"/>
          </p:cNvGraphicFramePr>
          <p:nvPr/>
        </p:nvGraphicFramePr>
        <p:xfrm>
          <a:off x="609600" y="533400"/>
          <a:ext cx="8077200" cy="4430713"/>
        </p:xfrm>
        <a:graphic>
          <a:graphicData uri="http://schemas.openxmlformats.org/drawingml/2006/table">
            <a:tbl>
              <a:tblPr/>
              <a:tblGrid>
                <a:gridCol w="2720975">
                  <a:extLst>
                    <a:ext uri="{9D8B030D-6E8A-4147-A177-3AD203B41FA5}">
                      <a16:colId xmlns:a16="http://schemas.microsoft.com/office/drawing/2014/main" val="20000"/>
                    </a:ext>
                  </a:extLst>
                </a:gridCol>
                <a:gridCol w="5356225">
                  <a:extLst>
                    <a:ext uri="{9D8B030D-6E8A-4147-A177-3AD203B41FA5}">
                      <a16:colId xmlns:a16="http://schemas.microsoft.com/office/drawing/2014/main" val="20001"/>
                    </a:ext>
                  </a:extLst>
                </a:gridCol>
              </a:tblGrid>
              <a:tr h="1476375">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600" b="1" i="0" u="none" strike="noStrike" cap="none" normalizeH="0" baseline="0" dirty="0">
                          <a:ln>
                            <a:noFill/>
                          </a:ln>
                          <a:solidFill>
                            <a:srgbClr val="FF0000"/>
                          </a:solidFill>
                          <a:effectLst/>
                          <a:latin typeface="Tahoma" pitchFamily="34" charset="0"/>
                        </a:rPr>
                        <a:t>Collections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6600"/>
                          </a:solidFill>
                          <a:effectLst/>
                          <a:latin typeface="Tahoma" pitchFamily="34" charset="0"/>
                        </a:rPr>
                        <a:t>frequently used methods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Use</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sort(x)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puts all items in x in ascending order</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dirty="0" err="1">
                          <a:ln>
                            <a:noFill/>
                          </a:ln>
                          <a:solidFill>
                            <a:schemeClr val="accent2"/>
                          </a:solidFill>
                          <a:effectLst/>
                          <a:latin typeface="Tahoma" pitchFamily="34" charset="0"/>
                        </a:rPr>
                        <a:t>binarySearch</a:t>
                      </a:r>
                      <a:r>
                        <a:rPr kumimoji="0" lang="en-US" sz="2000" b="1" i="0" u="none" strike="noStrike" cap="none" normalizeH="0" baseline="0" dirty="0">
                          <a:ln>
                            <a:noFill/>
                          </a:ln>
                          <a:solidFill>
                            <a:schemeClr val="accent2"/>
                          </a:solidFill>
                          <a:effectLst/>
                          <a:latin typeface="Tahoma" pitchFamily="34" charset="0"/>
                        </a:rPr>
                        <a:t>(</a:t>
                      </a:r>
                      <a:r>
                        <a:rPr kumimoji="0" lang="en-US" sz="2000" b="1" i="0" u="none" strike="noStrike" cap="none" normalizeH="0" baseline="0" dirty="0" err="1">
                          <a:ln>
                            <a:noFill/>
                          </a:ln>
                          <a:solidFill>
                            <a:schemeClr val="accent2"/>
                          </a:solidFill>
                          <a:effectLst/>
                          <a:latin typeface="Tahoma" pitchFamily="34" charset="0"/>
                        </a:rPr>
                        <a:t>x,y</a:t>
                      </a:r>
                      <a:r>
                        <a:rPr kumimoji="0" lang="en-US" sz="2000" b="1" i="0" u="none" strike="noStrike" cap="none" normalizeH="0" baseline="0" dirty="0">
                          <a:ln>
                            <a:noFill/>
                          </a:ln>
                          <a:solidFill>
                            <a:schemeClr val="accent2"/>
                          </a:solidFill>
                          <a:effectLst/>
                          <a:latin typeface="Tahoma" pitchFamily="34" charset="0"/>
                        </a:rPr>
                        <a: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checks x for the location of 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fill(x,y)</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fills all spots in x with value y</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492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rotate(x)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shifts items in x left or right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5085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reverse(x)</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reverses the order of the items in x</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292" name="Text Box 27">
            <a:extLst>
              <a:ext uri="{FF2B5EF4-FFF2-40B4-BE49-F238E27FC236}">
                <a16:creationId xmlns:a16="http://schemas.microsoft.com/office/drawing/2014/main" id="{D59F8183-EFF7-6ADB-3962-3AD8F48272C3}"/>
              </a:ext>
            </a:extLst>
          </p:cNvPr>
          <p:cNvSpPr txBox="1">
            <a:spLocks noChangeArrowheads="1"/>
          </p:cNvSpPr>
          <p:nvPr/>
        </p:nvSpPr>
        <p:spPr bwMode="auto">
          <a:xfrm>
            <a:off x="1828800" y="5715000"/>
            <a:ext cx="5257800" cy="531813"/>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a:solidFill>
                  <a:schemeClr val="accent2"/>
                </a:solidFill>
                <a:latin typeface="Tahoma" panose="020B0604030504040204" pitchFamily="34" charset="0"/>
              </a:rPr>
              <a:t>import  java.util.Collections;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a:extLst>
              <a:ext uri="{FF2B5EF4-FFF2-40B4-BE49-F238E27FC236}">
                <a16:creationId xmlns:a16="http://schemas.microsoft.com/office/drawing/2014/main" id="{6F57B571-0BF3-B153-06EB-1A0B8D8ED072}"/>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3315" name="WordArt 2">
            <a:extLst>
              <a:ext uri="{FF2B5EF4-FFF2-40B4-BE49-F238E27FC236}">
                <a16:creationId xmlns:a16="http://schemas.microsoft.com/office/drawing/2014/main" id="{27B81549-C0C0-5889-49CD-E0420575D254}"/>
              </a:ext>
            </a:extLst>
          </p:cNvPr>
          <p:cNvSpPr>
            <a:spLocks noChangeArrowheads="1" noChangeShapeType="1" noTextEdit="1"/>
          </p:cNvSpPr>
          <p:nvPr/>
        </p:nvSpPr>
        <p:spPr bwMode="auto">
          <a:xfrm>
            <a:off x="1066800" y="381000"/>
            <a:ext cx="7010400" cy="914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Java Searches</a:t>
            </a:r>
          </a:p>
        </p:txBody>
      </p:sp>
      <p:sp>
        <p:nvSpPr>
          <p:cNvPr id="13316" name="Text Box 3">
            <a:extLst>
              <a:ext uri="{FF2B5EF4-FFF2-40B4-BE49-F238E27FC236}">
                <a16:creationId xmlns:a16="http://schemas.microsoft.com/office/drawing/2014/main" id="{60E314BE-F30E-3ADC-A0D5-279FC9C35C57}"/>
              </a:ext>
            </a:extLst>
          </p:cNvPr>
          <p:cNvSpPr txBox="1">
            <a:spLocks noChangeArrowheads="1"/>
          </p:cNvSpPr>
          <p:nvPr/>
        </p:nvSpPr>
        <p:spPr bwMode="auto">
          <a:xfrm>
            <a:off x="1371600" y="2057400"/>
            <a:ext cx="6096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b="1">
              <a:solidFill>
                <a:srgbClr val="0000FF"/>
              </a:solidFill>
              <a:latin typeface="Tahoma" panose="020B0604030504040204" pitchFamily="34" charset="0"/>
            </a:endParaRPr>
          </a:p>
        </p:txBody>
      </p:sp>
      <p:sp>
        <p:nvSpPr>
          <p:cNvPr id="13317" name="Text Box 4">
            <a:extLst>
              <a:ext uri="{FF2B5EF4-FFF2-40B4-BE49-F238E27FC236}">
                <a16:creationId xmlns:a16="http://schemas.microsoft.com/office/drawing/2014/main" id="{6D502922-FECC-B50A-6B41-C3D38BE637F8}"/>
              </a:ext>
            </a:extLst>
          </p:cNvPr>
          <p:cNvSpPr txBox="1">
            <a:spLocks noChangeArrowheads="1"/>
          </p:cNvSpPr>
          <p:nvPr/>
        </p:nvSpPr>
        <p:spPr bwMode="auto">
          <a:xfrm>
            <a:off x="533400" y="2057400"/>
            <a:ext cx="8305800" cy="3846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1">
                <a:latin typeface="Tahoma" panose="020B0604030504040204" pitchFamily="34" charset="0"/>
              </a:rPr>
              <a:t>String s  = </a:t>
            </a:r>
            <a:r>
              <a:rPr lang="en-US" altLang="en-US" sz="2600" b="1">
                <a:latin typeface="Tahoma" panose="020B0604030504040204" pitchFamily="34" charset="0"/>
              </a:rPr>
              <a:t>“</a:t>
            </a:r>
            <a:r>
              <a:rPr lang="en-US" altLang="en-US" sz="2400" b="1">
                <a:latin typeface="Tahoma" panose="020B0604030504040204" pitchFamily="34" charset="0"/>
              </a:rPr>
              <a:t>The cat goes moo.</a:t>
            </a:r>
            <a:r>
              <a:rPr lang="en-US" altLang="en-US" sz="2600" b="1">
                <a:latin typeface="Tahoma" panose="020B0604030504040204" pitchFamily="34" charset="0"/>
              </a:rPr>
              <a:t>"</a:t>
            </a:r>
            <a:r>
              <a:rPr lang="en-US" altLang="en-US" sz="2400" b="1">
                <a:latin typeface="Tahoma" panose="020B0604030504040204" pitchFamily="34" charset="0"/>
              </a:rPr>
              <a:t>;</a:t>
            </a:r>
          </a:p>
          <a:p>
            <a:pPr>
              <a:spcBef>
                <a:spcPct val="0"/>
              </a:spcBef>
              <a:buFontTx/>
              <a:buNone/>
            </a:pPr>
            <a:r>
              <a:rPr lang="en-US" altLang="en-US" sz="2400" b="1">
                <a:latin typeface="Tahoma" panose="020B0604030504040204" pitchFamily="34" charset="0"/>
              </a:rPr>
              <a:t>out.println(s.indexOf(</a:t>
            </a:r>
            <a:r>
              <a:rPr lang="en-US" altLang="en-US" sz="2600" b="1">
                <a:latin typeface="Tahoma" panose="020B0604030504040204" pitchFamily="34" charset="0"/>
              </a:rPr>
              <a:t>"</a:t>
            </a:r>
            <a:r>
              <a:rPr lang="en-US" altLang="en-US" sz="2400" b="1">
                <a:latin typeface="Tahoma" panose="020B0604030504040204" pitchFamily="34" charset="0"/>
              </a:rPr>
              <a:t>3</a:t>
            </a:r>
            <a:r>
              <a:rPr lang="en-US" altLang="en-US" sz="2600" b="1">
                <a:latin typeface="Tahoma" panose="020B0604030504040204" pitchFamily="34" charset="0"/>
              </a:rPr>
              <a:t>"</a:t>
            </a:r>
            <a:r>
              <a:rPr lang="en-US" altLang="en-US" sz="2400" b="1">
                <a:latin typeface="Tahoma" panose="020B0604030504040204" pitchFamily="34" charset="0"/>
              </a:rPr>
              <a:t>));     </a:t>
            </a:r>
          </a:p>
          <a:p>
            <a:pPr>
              <a:spcBef>
                <a:spcPct val="0"/>
              </a:spcBef>
              <a:buFontTx/>
              <a:buNone/>
            </a:pPr>
            <a:endParaRPr lang="en-US" altLang="en-US" sz="2400" b="1">
              <a:latin typeface="Tahoma" panose="020B0604030504040204" pitchFamily="34" charset="0"/>
            </a:endParaRPr>
          </a:p>
          <a:p>
            <a:pPr>
              <a:spcBef>
                <a:spcPct val="0"/>
              </a:spcBef>
              <a:buFontTx/>
              <a:buNone/>
            </a:pPr>
            <a:endParaRPr lang="en-US" altLang="en-US" sz="2400" b="1">
              <a:latin typeface="Tahoma" panose="020B0604030504040204" pitchFamily="34" charset="0"/>
            </a:endParaRPr>
          </a:p>
          <a:p>
            <a:pPr>
              <a:spcBef>
                <a:spcPct val="0"/>
              </a:spcBef>
              <a:buFontTx/>
              <a:buNone/>
            </a:pPr>
            <a:r>
              <a:rPr lang="en-US" altLang="en-US" sz="2400" b="1">
                <a:latin typeface="Tahoma" panose="020B0604030504040204" pitchFamily="34" charset="0"/>
              </a:rPr>
              <a:t>int[] ray = {1,3,5,7,11,18,91};</a:t>
            </a:r>
          </a:p>
          <a:p>
            <a:pPr>
              <a:spcBef>
                <a:spcPct val="0"/>
              </a:spcBef>
              <a:buFontTx/>
              <a:buNone/>
            </a:pPr>
            <a:r>
              <a:rPr lang="en-US" altLang="en-US" sz="2400" b="1">
                <a:latin typeface="Tahoma" panose="020B0604030504040204" pitchFamily="34" charset="0"/>
              </a:rPr>
              <a:t>out.println(Arrays.binarySearch(ray,5));    </a:t>
            </a:r>
          </a:p>
          <a:p>
            <a:pPr>
              <a:spcBef>
                <a:spcPct val="0"/>
              </a:spcBef>
              <a:buFontTx/>
              <a:buNone/>
            </a:pPr>
            <a:endParaRPr lang="en-US" altLang="en-US" sz="2400" b="1">
              <a:latin typeface="Tahoma" panose="020B0604030504040204" pitchFamily="34" charset="0"/>
            </a:endParaRPr>
          </a:p>
          <a:p>
            <a:pPr>
              <a:spcBef>
                <a:spcPct val="0"/>
              </a:spcBef>
              <a:buFontTx/>
              <a:buNone/>
            </a:pPr>
            <a:endParaRPr lang="en-US" altLang="en-US" sz="2400" b="1">
              <a:latin typeface="Tahoma" panose="020B0604030504040204" pitchFamily="34" charset="0"/>
            </a:endParaRPr>
          </a:p>
          <a:p>
            <a:pPr>
              <a:spcBef>
                <a:spcPct val="0"/>
              </a:spcBef>
              <a:buFontTx/>
              <a:buNone/>
            </a:pPr>
            <a:r>
              <a:rPr lang="en-US" altLang="en-US" sz="2400" b="1">
                <a:latin typeface="Tahoma" panose="020B0604030504040204" pitchFamily="34" charset="0"/>
              </a:rPr>
              <a:t>int[] ray = {1,3,5,7,11,18,91};</a:t>
            </a:r>
          </a:p>
          <a:p>
            <a:pPr>
              <a:spcBef>
                <a:spcPct val="0"/>
              </a:spcBef>
              <a:buFontTx/>
              <a:buNone/>
            </a:pPr>
            <a:r>
              <a:rPr lang="en-US" altLang="en-US" sz="2400" b="1">
                <a:latin typeface="Tahoma" panose="020B0604030504040204" pitchFamily="34" charset="0"/>
              </a:rPr>
              <a:t>out.println(Arrays.binarySearch(ray,15));   </a:t>
            </a:r>
          </a:p>
        </p:txBody>
      </p:sp>
      <p:sp>
        <p:nvSpPr>
          <p:cNvPr id="13318" name="Text Box 5">
            <a:extLst>
              <a:ext uri="{FF2B5EF4-FFF2-40B4-BE49-F238E27FC236}">
                <a16:creationId xmlns:a16="http://schemas.microsoft.com/office/drawing/2014/main" id="{ADF86315-4D2F-E598-8F41-AE3097C37D44}"/>
              </a:ext>
            </a:extLst>
          </p:cNvPr>
          <p:cNvSpPr txBox="1">
            <a:spLocks noChangeArrowheads="1"/>
          </p:cNvSpPr>
          <p:nvPr/>
        </p:nvSpPr>
        <p:spPr bwMode="auto">
          <a:xfrm>
            <a:off x="7010400" y="1905000"/>
            <a:ext cx="1905000" cy="22987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b="1" u="sng">
                <a:solidFill>
                  <a:srgbClr val="FF0000"/>
                </a:solidFill>
                <a:latin typeface="Tahoma" panose="020B0604030504040204" pitchFamily="34" charset="0"/>
              </a:rPr>
              <a:t>OUTPUT</a:t>
            </a:r>
          </a:p>
          <a:p>
            <a:pPr>
              <a:spcBef>
                <a:spcPct val="50000"/>
              </a:spcBef>
              <a:buFontTx/>
              <a:buNone/>
            </a:pPr>
            <a:r>
              <a:rPr lang="en-US" altLang="en-US" b="1">
                <a:latin typeface="Tahoma" panose="020B0604030504040204" pitchFamily="34" charset="0"/>
              </a:rPr>
              <a:t>-1</a:t>
            </a:r>
            <a:br>
              <a:rPr lang="en-US" altLang="en-US" b="1">
                <a:latin typeface="Tahoma" panose="020B0604030504040204" pitchFamily="34" charset="0"/>
              </a:rPr>
            </a:br>
            <a:r>
              <a:rPr lang="en-US" altLang="en-US" b="1">
                <a:latin typeface="Tahoma" panose="020B0604030504040204" pitchFamily="34" charset="0"/>
              </a:rPr>
              <a:t>2</a:t>
            </a:r>
            <a:br>
              <a:rPr lang="en-US" altLang="en-US" b="1">
                <a:latin typeface="Tahoma" panose="020B0604030504040204" pitchFamily="34" charset="0"/>
              </a:rPr>
            </a:br>
            <a:r>
              <a:rPr lang="en-US" altLang="en-US" b="1">
                <a:latin typeface="Tahoma" panose="020B0604030504040204" pitchFamily="34" charset="0"/>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3">
            <a:extLst>
              <a:ext uri="{FF2B5EF4-FFF2-40B4-BE49-F238E27FC236}">
                <a16:creationId xmlns:a16="http://schemas.microsoft.com/office/drawing/2014/main" id="{5CBBA25F-B8F1-93F3-11D5-7DB872EAF73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5363" name="WordArt 2">
            <a:extLst>
              <a:ext uri="{FF2B5EF4-FFF2-40B4-BE49-F238E27FC236}">
                <a16:creationId xmlns:a16="http://schemas.microsoft.com/office/drawing/2014/main" id="{7EDEFBFD-E0A2-71EC-522B-9308C6DB6486}"/>
              </a:ext>
            </a:extLst>
          </p:cNvPr>
          <p:cNvSpPr>
            <a:spLocks noChangeArrowheads="1" noChangeShapeType="1" noTextEdit="1"/>
          </p:cNvSpPr>
          <p:nvPr/>
        </p:nvSpPr>
        <p:spPr bwMode="auto">
          <a:xfrm>
            <a:off x="1066800" y="381000"/>
            <a:ext cx="7010400" cy="914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Java Sorts</a:t>
            </a:r>
          </a:p>
        </p:txBody>
      </p:sp>
      <p:sp>
        <p:nvSpPr>
          <p:cNvPr id="15364" name="Rectangle 4">
            <a:extLst>
              <a:ext uri="{FF2B5EF4-FFF2-40B4-BE49-F238E27FC236}">
                <a16:creationId xmlns:a16="http://schemas.microsoft.com/office/drawing/2014/main" id="{4B6539FC-051C-9B3D-37D8-E5CCB68BD44A}"/>
              </a:ext>
            </a:extLst>
          </p:cNvPr>
          <p:cNvSpPr>
            <a:spLocks noChangeArrowheads="1"/>
          </p:cNvSpPr>
          <p:nvPr/>
        </p:nvSpPr>
        <p:spPr bwMode="auto">
          <a:xfrm>
            <a:off x="609600" y="1600200"/>
            <a:ext cx="693420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800" b="1">
              <a:latin typeface="Tahoma" panose="020B0604030504040204" pitchFamily="34" charset="0"/>
            </a:endParaRPr>
          </a:p>
          <a:p>
            <a:pPr>
              <a:spcBef>
                <a:spcPct val="0"/>
              </a:spcBef>
              <a:buFontTx/>
              <a:buNone/>
            </a:pPr>
            <a:r>
              <a:rPr lang="en-US" altLang="en-US" sz="2800" b="1">
                <a:latin typeface="Tahoma" panose="020B0604030504040204" pitchFamily="34" charset="0"/>
              </a:rPr>
              <a:t>int[] ray = {13,6,17,18,2,-5};</a:t>
            </a:r>
          </a:p>
          <a:p>
            <a:pPr>
              <a:spcBef>
                <a:spcPct val="0"/>
              </a:spcBef>
              <a:buFontTx/>
              <a:buNone/>
            </a:pPr>
            <a:r>
              <a:rPr lang="en-US" altLang="en-US" sz="2800" b="1">
                <a:solidFill>
                  <a:srgbClr val="7030A0"/>
                </a:solidFill>
                <a:latin typeface="Tahoma" panose="020B0604030504040204" pitchFamily="34" charset="0"/>
              </a:rPr>
              <a:t>Arrays.sort(ray);   </a:t>
            </a:r>
            <a:endParaRPr lang="en-US" altLang="en-US" sz="2000" b="1">
              <a:solidFill>
                <a:srgbClr val="7030A0"/>
              </a:solidFill>
              <a:latin typeface="Tahoma" panose="020B0604030504040204" pitchFamily="34" charset="0"/>
            </a:endParaRPr>
          </a:p>
          <a:p>
            <a:pPr>
              <a:spcBef>
                <a:spcPct val="0"/>
              </a:spcBef>
              <a:buFontTx/>
              <a:buNone/>
            </a:pPr>
            <a:endParaRPr lang="en-US" altLang="en-US" sz="2800" b="1">
              <a:latin typeface="Tahoma" panose="020B0604030504040204" pitchFamily="34" charset="0"/>
            </a:endParaRPr>
          </a:p>
          <a:p>
            <a:pPr>
              <a:spcBef>
                <a:spcPct val="0"/>
              </a:spcBef>
              <a:buFontTx/>
              <a:buNone/>
            </a:pPr>
            <a:r>
              <a:rPr lang="en-US" altLang="en-US" sz="2800" b="1">
                <a:latin typeface="Tahoma" panose="020B0604030504040204" pitchFamily="34" charset="0"/>
              </a:rPr>
              <a:t>for(int i = 0; i &lt; ray.length; i++)</a:t>
            </a:r>
          </a:p>
          <a:p>
            <a:pPr>
              <a:spcBef>
                <a:spcPct val="0"/>
              </a:spcBef>
              <a:buFontTx/>
              <a:buNone/>
            </a:pPr>
            <a:r>
              <a:rPr lang="en-US" altLang="en-US" sz="2800" b="1">
                <a:latin typeface="Tahoma" panose="020B0604030504040204" pitchFamily="34" charset="0"/>
              </a:rPr>
              <a:t>{</a:t>
            </a:r>
          </a:p>
          <a:p>
            <a:pPr>
              <a:spcBef>
                <a:spcPct val="0"/>
              </a:spcBef>
              <a:buFontTx/>
              <a:buNone/>
            </a:pPr>
            <a:r>
              <a:rPr lang="en-US" altLang="en-US" sz="2800" b="1">
                <a:latin typeface="Tahoma" panose="020B0604030504040204" pitchFamily="34" charset="0"/>
              </a:rPr>
              <a:t>     out.println(ray[i]</a:t>
            </a:r>
            <a:r>
              <a:rPr lang="en-US" altLang="en-US" sz="2600" b="1">
                <a:latin typeface="Tahoma" panose="020B0604030504040204" pitchFamily="34" charset="0"/>
              </a:rPr>
              <a:t>);</a:t>
            </a:r>
            <a:endParaRPr lang="en-US" altLang="en-US" sz="2800" b="1">
              <a:latin typeface="Tahoma" panose="020B0604030504040204" pitchFamily="34" charset="0"/>
            </a:endParaRPr>
          </a:p>
          <a:p>
            <a:pPr>
              <a:spcBef>
                <a:spcPct val="0"/>
              </a:spcBef>
              <a:buFontTx/>
              <a:buNone/>
            </a:pPr>
            <a:r>
              <a:rPr lang="en-US" altLang="en-US" sz="2800" b="1">
                <a:latin typeface="Tahoma" panose="020B0604030504040204" pitchFamily="34" charset="0"/>
              </a:rPr>
              <a:t>}</a:t>
            </a:r>
          </a:p>
        </p:txBody>
      </p:sp>
      <p:sp>
        <p:nvSpPr>
          <p:cNvPr id="15365" name="Text Box 5">
            <a:extLst>
              <a:ext uri="{FF2B5EF4-FFF2-40B4-BE49-F238E27FC236}">
                <a16:creationId xmlns:a16="http://schemas.microsoft.com/office/drawing/2014/main" id="{4721E8B8-648D-D3DE-97C7-4EE4F891CDE5}"/>
              </a:ext>
            </a:extLst>
          </p:cNvPr>
          <p:cNvSpPr txBox="1">
            <a:spLocks noChangeArrowheads="1"/>
          </p:cNvSpPr>
          <p:nvPr/>
        </p:nvSpPr>
        <p:spPr bwMode="auto">
          <a:xfrm>
            <a:off x="7010400" y="1905000"/>
            <a:ext cx="1905000" cy="351631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b="1" u="sng">
                <a:solidFill>
                  <a:srgbClr val="FF0000"/>
                </a:solidFill>
                <a:latin typeface="Tahoma" panose="020B0604030504040204" pitchFamily="34" charset="0"/>
              </a:rPr>
              <a:t>OUTPUT</a:t>
            </a:r>
            <a:r>
              <a:rPr lang="en-US" altLang="en-US" b="1">
                <a:latin typeface="Tahoma" panose="020B0604030504040204" pitchFamily="34" charset="0"/>
              </a:rPr>
              <a:t>-5</a:t>
            </a:r>
            <a:br>
              <a:rPr lang="en-US" altLang="en-US" b="1">
                <a:latin typeface="Tahoma" panose="020B0604030504040204" pitchFamily="34" charset="0"/>
              </a:rPr>
            </a:br>
            <a:r>
              <a:rPr lang="en-US" altLang="en-US" b="1">
                <a:latin typeface="Tahoma" panose="020B0604030504040204" pitchFamily="34" charset="0"/>
              </a:rPr>
              <a:t>2</a:t>
            </a:r>
            <a:br>
              <a:rPr lang="en-US" altLang="en-US" b="1">
                <a:latin typeface="Tahoma" panose="020B0604030504040204" pitchFamily="34" charset="0"/>
              </a:rPr>
            </a:br>
            <a:r>
              <a:rPr lang="en-US" altLang="en-US" b="1">
                <a:latin typeface="Tahoma" panose="020B0604030504040204" pitchFamily="34" charset="0"/>
              </a:rPr>
              <a:t>6</a:t>
            </a:r>
            <a:br>
              <a:rPr lang="en-US" altLang="en-US" b="1">
                <a:latin typeface="Tahoma" panose="020B0604030504040204" pitchFamily="34" charset="0"/>
              </a:rPr>
            </a:br>
            <a:r>
              <a:rPr lang="en-US" altLang="en-US" b="1">
                <a:latin typeface="Tahoma" panose="020B0604030504040204" pitchFamily="34" charset="0"/>
              </a:rPr>
              <a:t>13</a:t>
            </a:r>
            <a:br>
              <a:rPr lang="en-US" altLang="en-US" b="1">
                <a:latin typeface="Tahoma" panose="020B0604030504040204" pitchFamily="34" charset="0"/>
              </a:rPr>
            </a:br>
            <a:r>
              <a:rPr lang="en-US" altLang="en-US" b="1">
                <a:latin typeface="Tahoma" panose="020B0604030504040204" pitchFamily="34" charset="0"/>
              </a:rPr>
              <a:t>17</a:t>
            </a:r>
            <a:br>
              <a:rPr lang="en-US" altLang="en-US" b="1">
                <a:latin typeface="Tahoma" panose="020B0604030504040204" pitchFamily="34" charset="0"/>
              </a:rPr>
            </a:br>
            <a:r>
              <a:rPr lang="en-US" altLang="en-US" b="1">
                <a:latin typeface="Tahoma" panose="020B0604030504040204" pitchFamily="34" charset="0"/>
              </a:rPr>
              <a:t>18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a:extLst>
              <a:ext uri="{FF2B5EF4-FFF2-40B4-BE49-F238E27FC236}">
                <a16:creationId xmlns:a16="http://schemas.microsoft.com/office/drawing/2014/main" id="{0907660D-C36A-DBF4-AD76-FCBCCB7FC34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17411" name="WordArt 2">
            <a:extLst>
              <a:ext uri="{FF2B5EF4-FFF2-40B4-BE49-F238E27FC236}">
                <a16:creationId xmlns:a16="http://schemas.microsoft.com/office/drawing/2014/main" id="{301C83CD-D5B5-047C-D43A-386579CB84F9}"/>
              </a:ext>
            </a:extLst>
          </p:cNvPr>
          <p:cNvSpPr>
            <a:spLocks noChangeArrowheads="1" noChangeShapeType="1" noTextEdit="1"/>
          </p:cNvSpPr>
          <p:nvPr/>
        </p:nvSpPr>
        <p:spPr bwMode="auto">
          <a:xfrm>
            <a:off x="1066800" y="381000"/>
            <a:ext cx="7010400" cy="914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Java Sorts</a:t>
            </a:r>
          </a:p>
        </p:txBody>
      </p:sp>
      <p:sp>
        <p:nvSpPr>
          <p:cNvPr id="17412" name="Rectangle 3">
            <a:extLst>
              <a:ext uri="{FF2B5EF4-FFF2-40B4-BE49-F238E27FC236}">
                <a16:creationId xmlns:a16="http://schemas.microsoft.com/office/drawing/2014/main" id="{456C2186-FC83-71A4-4EDE-F7D5A0368C94}"/>
              </a:ext>
            </a:extLst>
          </p:cNvPr>
          <p:cNvSpPr>
            <a:spLocks noChangeArrowheads="1"/>
          </p:cNvSpPr>
          <p:nvPr/>
        </p:nvSpPr>
        <p:spPr bwMode="auto">
          <a:xfrm>
            <a:off x="457200" y="1600200"/>
            <a:ext cx="7162800" cy="472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b="1">
                <a:latin typeface="Tahoma" panose="020B0604030504040204" pitchFamily="34" charset="0"/>
              </a:rPr>
              <a:t>ArrayList&lt;Integer&gt; ray; </a:t>
            </a:r>
          </a:p>
          <a:p>
            <a:pPr>
              <a:spcBef>
                <a:spcPct val="0"/>
              </a:spcBef>
              <a:buFontTx/>
              <a:buNone/>
            </a:pPr>
            <a:r>
              <a:rPr lang="en-US" altLang="en-US" sz="2800" b="1">
                <a:latin typeface="Tahoma" panose="020B0604030504040204" pitchFamily="34" charset="0"/>
              </a:rPr>
              <a:t>ray=new ArrayList&lt;Integer&gt;();</a:t>
            </a:r>
          </a:p>
          <a:p>
            <a:pPr>
              <a:spcBef>
                <a:spcPct val="0"/>
              </a:spcBef>
              <a:buFontTx/>
              <a:buNone/>
            </a:pPr>
            <a:r>
              <a:rPr lang="en-US" altLang="en-US" sz="2800" b="1">
                <a:latin typeface="Tahoma" panose="020B0604030504040204" pitchFamily="34" charset="0"/>
              </a:rPr>
              <a:t>ray.add(21);</a:t>
            </a:r>
          </a:p>
          <a:p>
            <a:pPr>
              <a:spcBef>
                <a:spcPct val="0"/>
              </a:spcBef>
              <a:buFontTx/>
              <a:buNone/>
            </a:pPr>
            <a:r>
              <a:rPr lang="en-US" altLang="en-US" sz="2800" b="1">
                <a:latin typeface="Tahoma" panose="020B0604030504040204" pitchFamily="34" charset="0"/>
              </a:rPr>
              <a:t>ray.add(2);</a:t>
            </a:r>
          </a:p>
          <a:p>
            <a:pPr>
              <a:spcBef>
                <a:spcPct val="0"/>
              </a:spcBef>
              <a:buFontTx/>
              <a:buNone/>
            </a:pPr>
            <a:r>
              <a:rPr lang="en-US" altLang="en-US" sz="2800" b="1">
                <a:latin typeface="Tahoma" panose="020B0604030504040204" pitchFamily="34" charset="0"/>
              </a:rPr>
              <a:t>ray.add(13);</a:t>
            </a:r>
          </a:p>
          <a:p>
            <a:pPr>
              <a:spcBef>
                <a:spcPct val="0"/>
              </a:spcBef>
              <a:buFontTx/>
              <a:buNone/>
            </a:pPr>
            <a:r>
              <a:rPr lang="en-US" altLang="en-US" sz="2600" b="1">
                <a:latin typeface="Tahoma" panose="020B0604030504040204" pitchFamily="34" charset="0"/>
              </a:rPr>
              <a:t>ray.add(-1);</a:t>
            </a:r>
          </a:p>
          <a:p>
            <a:pPr>
              <a:spcBef>
                <a:spcPct val="0"/>
              </a:spcBef>
              <a:buFontTx/>
              <a:buNone/>
            </a:pPr>
            <a:r>
              <a:rPr lang="en-US" altLang="en-US" sz="2600" b="1">
                <a:latin typeface="Tahoma" panose="020B0604030504040204" pitchFamily="34" charset="0"/>
              </a:rPr>
              <a:t>ray.add(3);</a:t>
            </a:r>
          </a:p>
          <a:p>
            <a:pPr>
              <a:spcBef>
                <a:spcPct val="0"/>
              </a:spcBef>
              <a:buFontTx/>
              <a:buNone/>
            </a:pPr>
            <a:r>
              <a:rPr lang="en-US" altLang="en-US" sz="2800" b="1">
                <a:solidFill>
                  <a:srgbClr val="7030A0"/>
                </a:solidFill>
                <a:latin typeface="Tahoma" panose="020B0604030504040204" pitchFamily="34" charset="0"/>
              </a:rPr>
              <a:t>Collections.sort(ray);</a:t>
            </a:r>
          </a:p>
          <a:p>
            <a:pPr>
              <a:spcBef>
                <a:spcPct val="0"/>
              </a:spcBef>
              <a:buFontTx/>
              <a:buNone/>
            </a:pPr>
            <a:endParaRPr lang="en-US" altLang="en-US" sz="2800" b="1">
              <a:latin typeface="Tahoma" panose="020B0604030504040204" pitchFamily="34" charset="0"/>
            </a:endParaRPr>
          </a:p>
          <a:p>
            <a:pPr>
              <a:spcBef>
                <a:spcPct val="0"/>
              </a:spcBef>
              <a:buFontTx/>
              <a:buNone/>
            </a:pPr>
            <a:r>
              <a:rPr lang="en-US" altLang="en-US" sz="2800" b="1">
                <a:latin typeface="Tahoma" panose="020B0604030504040204" pitchFamily="34" charset="0"/>
              </a:rPr>
              <a:t>for(int  num  :  ray )</a:t>
            </a:r>
          </a:p>
          <a:p>
            <a:pPr>
              <a:spcBef>
                <a:spcPct val="0"/>
              </a:spcBef>
              <a:buFontTx/>
              <a:buNone/>
            </a:pPr>
            <a:r>
              <a:rPr lang="en-US" altLang="en-US" sz="2800" b="1">
                <a:latin typeface="Tahoma" panose="020B0604030504040204" pitchFamily="34" charset="0"/>
              </a:rPr>
              <a:t>   out.println(num);</a:t>
            </a:r>
          </a:p>
        </p:txBody>
      </p:sp>
      <p:sp>
        <p:nvSpPr>
          <p:cNvPr id="17413" name="Text Box 4">
            <a:extLst>
              <a:ext uri="{FF2B5EF4-FFF2-40B4-BE49-F238E27FC236}">
                <a16:creationId xmlns:a16="http://schemas.microsoft.com/office/drawing/2014/main" id="{00D673C9-C484-AA9D-8F41-8CA71F74AF88}"/>
              </a:ext>
            </a:extLst>
          </p:cNvPr>
          <p:cNvSpPr txBox="1">
            <a:spLocks noChangeArrowheads="1"/>
          </p:cNvSpPr>
          <p:nvPr/>
        </p:nvSpPr>
        <p:spPr bwMode="auto">
          <a:xfrm>
            <a:off x="7010400" y="2286000"/>
            <a:ext cx="1905000" cy="302895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b="1" u="sng">
                <a:solidFill>
                  <a:srgbClr val="FF0000"/>
                </a:solidFill>
                <a:latin typeface="Tahoma" panose="020B0604030504040204" pitchFamily="34" charset="0"/>
              </a:rPr>
              <a:t>OUTPUT</a:t>
            </a:r>
            <a:r>
              <a:rPr lang="en-US" altLang="en-US" b="1">
                <a:latin typeface="Tahoma" panose="020B0604030504040204" pitchFamily="34" charset="0"/>
              </a:rPr>
              <a:t>-1</a:t>
            </a:r>
            <a:br>
              <a:rPr lang="en-US" altLang="en-US" b="1">
                <a:latin typeface="Tahoma" panose="020B0604030504040204" pitchFamily="34" charset="0"/>
              </a:rPr>
            </a:br>
            <a:r>
              <a:rPr lang="en-US" altLang="en-US" b="1">
                <a:latin typeface="Tahoma" panose="020B0604030504040204" pitchFamily="34" charset="0"/>
              </a:rPr>
              <a:t>2</a:t>
            </a:r>
            <a:br>
              <a:rPr lang="en-US" altLang="en-US" b="1">
                <a:latin typeface="Tahoma" panose="020B0604030504040204" pitchFamily="34" charset="0"/>
              </a:rPr>
            </a:br>
            <a:r>
              <a:rPr lang="en-US" altLang="en-US" b="1">
                <a:latin typeface="Tahoma" panose="020B0604030504040204" pitchFamily="34" charset="0"/>
              </a:rPr>
              <a:t>3</a:t>
            </a:r>
            <a:br>
              <a:rPr lang="en-US" altLang="en-US" b="1">
                <a:latin typeface="Tahoma" panose="020B0604030504040204" pitchFamily="34" charset="0"/>
              </a:rPr>
            </a:br>
            <a:r>
              <a:rPr lang="en-US" altLang="en-US" b="1">
                <a:latin typeface="Tahoma" panose="020B0604030504040204" pitchFamily="34" charset="0"/>
              </a:rPr>
              <a:t>13</a:t>
            </a:r>
            <a:br>
              <a:rPr lang="en-US" altLang="en-US" b="1">
                <a:latin typeface="Tahoma" panose="020B0604030504040204" pitchFamily="34" charset="0"/>
              </a:rPr>
            </a:br>
            <a:r>
              <a:rPr lang="en-US" altLang="en-US" b="1">
                <a:latin typeface="Tahoma" panose="020B0604030504040204" pitchFamily="34" charset="0"/>
              </a:rPr>
              <a:t>21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a:extLst>
              <a:ext uri="{FF2B5EF4-FFF2-40B4-BE49-F238E27FC236}">
                <a16:creationId xmlns:a16="http://schemas.microsoft.com/office/drawing/2014/main" id="{4C74B899-A17F-55BB-B333-D41C74B02736}"/>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9459" name="WordArt 1026">
            <a:extLst>
              <a:ext uri="{FF2B5EF4-FFF2-40B4-BE49-F238E27FC236}">
                <a16:creationId xmlns:a16="http://schemas.microsoft.com/office/drawing/2014/main" id="{B948607B-EFC6-CD94-1364-6D3EF1D5CDA8}"/>
              </a:ext>
            </a:extLst>
          </p:cNvPr>
          <p:cNvSpPr>
            <a:spLocks noChangeArrowheads="1" noChangeShapeType="1" noTextEdit="1"/>
          </p:cNvSpPr>
          <p:nvPr/>
        </p:nvSpPr>
        <p:spPr bwMode="auto">
          <a:xfrm>
            <a:off x="1371600" y="2286000"/>
            <a:ext cx="6096000" cy="18288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Searching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FF2B5EF4-FFF2-40B4-BE49-F238E27FC236}">
                <a16:creationId xmlns:a16="http://schemas.microsoft.com/office/drawing/2014/main" id="{F03A321E-9694-0B0F-A471-AB323196A75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1507" name="Text Box 2">
            <a:extLst>
              <a:ext uri="{FF2B5EF4-FFF2-40B4-BE49-F238E27FC236}">
                <a16:creationId xmlns:a16="http://schemas.microsoft.com/office/drawing/2014/main" id="{CE6A6646-AE76-0B2C-46E9-2DE7A03561F9}"/>
              </a:ext>
            </a:extLst>
          </p:cNvPr>
          <p:cNvSpPr txBox="1">
            <a:spLocks noChangeArrowheads="1"/>
          </p:cNvSpPr>
          <p:nvPr/>
        </p:nvSpPr>
        <p:spPr bwMode="auto">
          <a:xfrm>
            <a:off x="728663" y="1066800"/>
            <a:ext cx="7600950" cy="387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latin typeface="Courier New" panose="02070309020205020404" pitchFamily="49" charset="0"/>
            </a:endParaRPr>
          </a:p>
          <a:p>
            <a:pPr>
              <a:spcBef>
                <a:spcPct val="0"/>
              </a:spcBef>
              <a:buFontTx/>
              <a:buNone/>
            </a:pPr>
            <a:endParaRPr lang="en-US" altLang="en-US" sz="2400">
              <a:latin typeface="Arial" panose="020B0604020202020204" pitchFamily="34" charset="0"/>
            </a:endParaRPr>
          </a:p>
          <a:p>
            <a:pPr>
              <a:spcBef>
                <a:spcPct val="0"/>
              </a:spcBef>
              <a:buFontTx/>
              <a:buNone/>
            </a:pPr>
            <a:endParaRPr lang="en-US" altLang="en-US">
              <a:latin typeface="Tahoma" panose="020B0604030504040204" pitchFamily="34" charset="0"/>
            </a:endParaRPr>
          </a:p>
          <a:p>
            <a:pPr>
              <a:spcBef>
                <a:spcPct val="0"/>
              </a:spcBef>
              <a:buFontTx/>
              <a:buNone/>
            </a:pPr>
            <a:endParaRPr lang="en-US" altLang="en-US">
              <a:solidFill>
                <a:srgbClr val="000099"/>
              </a:solidFill>
              <a:latin typeface="Tahoma" panose="020B0604030504040204" pitchFamily="34" charset="0"/>
            </a:endParaRPr>
          </a:p>
          <a:p>
            <a:pPr>
              <a:spcBef>
                <a:spcPct val="0"/>
              </a:spcBef>
              <a:buFontTx/>
              <a:buNone/>
            </a:pPr>
            <a:r>
              <a:rPr lang="en-US" altLang="en-US" sz="2600">
                <a:latin typeface="Arial" panose="020B0604020202020204" pitchFamily="34" charset="0"/>
              </a:rPr>
              <a:t>The Linear Search searches through a </a:t>
            </a:r>
          </a:p>
          <a:p>
            <a:pPr>
              <a:spcBef>
                <a:spcPct val="0"/>
              </a:spcBef>
              <a:buFontTx/>
              <a:buNone/>
            </a:pPr>
            <a:r>
              <a:rPr lang="en-US" altLang="en-US" sz="2600">
                <a:latin typeface="Arial" panose="020B0604020202020204" pitchFamily="34" charset="0"/>
              </a:rPr>
              <a:t>list one element at time looking for a match.</a:t>
            </a:r>
          </a:p>
          <a:p>
            <a:pPr>
              <a:spcBef>
                <a:spcPct val="0"/>
              </a:spcBef>
              <a:buFontTx/>
              <a:buNone/>
            </a:pPr>
            <a:r>
              <a:rPr lang="en-US" altLang="en-US" sz="2600">
                <a:latin typeface="Arial" panose="020B0604020202020204" pitchFamily="34" charset="0"/>
              </a:rPr>
              <a:t>The index position of a match is returned if</a:t>
            </a:r>
          </a:p>
          <a:p>
            <a:pPr>
              <a:spcBef>
                <a:spcPct val="0"/>
              </a:spcBef>
              <a:buFontTx/>
              <a:buNone/>
            </a:pPr>
            <a:r>
              <a:rPr lang="en-US" altLang="en-US" sz="2600">
                <a:latin typeface="Arial" panose="020B0604020202020204" pitchFamily="34" charset="0"/>
              </a:rPr>
              <a:t>found or -1 is returned if no match is found.</a:t>
            </a:r>
            <a:endParaRPr lang="en-US" altLang="en-US" sz="2400">
              <a:latin typeface="Arial" panose="020B0604020202020204" pitchFamily="34" charset="0"/>
            </a:endParaRPr>
          </a:p>
          <a:p>
            <a:pPr>
              <a:spcBef>
                <a:spcPct val="0"/>
              </a:spcBef>
              <a:buFontTx/>
              <a:buNone/>
            </a:pPr>
            <a:endParaRPr lang="en-US" altLang="en-US" sz="2400">
              <a:latin typeface="Arial" panose="020B0604020202020204" pitchFamily="34" charset="0"/>
            </a:endParaRPr>
          </a:p>
        </p:txBody>
      </p:sp>
      <p:sp>
        <p:nvSpPr>
          <p:cNvPr id="21508" name="WordArt 3">
            <a:extLst>
              <a:ext uri="{FF2B5EF4-FFF2-40B4-BE49-F238E27FC236}">
                <a16:creationId xmlns:a16="http://schemas.microsoft.com/office/drawing/2014/main" id="{7DE1F6AE-34A4-2799-A6C4-C4462C4FD3E9}"/>
              </a:ext>
            </a:extLst>
          </p:cNvPr>
          <p:cNvSpPr>
            <a:spLocks noChangeArrowheads="1" noChangeShapeType="1" noTextEdit="1"/>
          </p:cNvSpPr>
          <p:nvPr/>
        </p:nvSpPr>
        <p:spPr bwMode="auto">
          <a:xfrm>
            <a:off x="1600200" y="914400"/>
            <a:ext cx="5867400" cy="9906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outerShdw>
                </a:effectLst>
                <a:latin typeface="Impact" panose="020B0806030902050204" pitchFamily="34" charset="0"/>
              </a:rPr>
              <a:t>Linear / Sequential</a:t>
            </a:r>
          </a:p>
          <a:p>
            <a:r>
              <a:rPr lang="en-US" sz="3600" kern="10">
                <a:ln w="9525">
                  <a:solidFill>
                    <a:srgbClr val="FF9900"/>
                  </a:solidFill>
                  <a:round/>
                  <a:headEnd/>
                  <a:tailEnd/>
                </a:ln>
                <a:solidFill>
                  <a:srgbClr val="FFFF99"/>
                </a:solidFill>
                <a:effectLst>
                  <a:outerShdw dist="35921" dir="2700000" algn="ctr" rotWithShape="0">
                    <a:srgbClr val="C0C0C0"/>
                  </a:outerShdw>
                </a:effectLst>
                <a:latin typeface="Impact" panose="020B0806030902050204" pitchFamily="34" charset="0"/>
              </a:rPr>
              <a:t>Search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a:extLst>
              <a:ext uri="{FF2B5EF4-FFF2-40B4-BE49-F238E27FC236}">
                <a16:creationId xmlns:a16="http://schemas.microsoft.com/office/drawing/2014/main" id="{12D8B2A1-B678-C7A8-57A1-F4147D8664E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3555" name="Rectangle 1026">
            <a:extLst>
              <a:ext uri="{FF2B5EF4-FFF2-40B4-BE49-F238E27FC236}">
                <a16:creationId xmlns:a16="http://schemas.microsoft.com/office/drawing/2014/main" id="{F3835342-ED1F-DD03-F833-78D66C9DABB9}"/>
              </a:ext>
            </a:extLst>
          </p:cNvPr>
          <p:cNvSpPr>
            <a:spLocks noChangeArrowheads="1"/>
          </p:cNvSpPr>
          <p:nvPr/>
        </p:nvSpPr>
        <p:spPr bwMode="auto">
          <a:xfrm>
            <a:off x="1143000" y="1676400"/>
            <a:ext cx="6999288" cy="397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b="1">
                <a:latin typeface="Tahoma" panose="020B0604030504040204" pitchFamily="34" charset="0"/>
              </a:rPr>
              <a:t>int linearSearch(int[] stuff, int val)</a:t>
            </a:r>
          </a:p>
          <a:p>
            <a:pPr>
              <a:spcBef>
                <a:spcPct val="0"/>
              </a:spcBef>
              <a:buFontTx/>
              <a:buNone/>
            </a:pPr>
            <a:r>
              <a:rPr lang="en-US" altLang="en-US" sz="2800" b="1">
                <a:latin typeface="Tahoma" panose="020B0604030504040204" pitchFamily="34" charset="0"/>
              </a:rPr>
              <a:t>{</a:t>
            </a:r>
          </a:p>
          <a:p>
            <a:pPr>
              <a:spcBef>
                <a:spcPct val="0"/>
              </a:spcBef>
              <a:buFontTx/>
              <a:buNone/>
            </a:pPr>
            <a:r>
              <a:rPr lang="en-US" altLang="en-US" sz="2800" b="1">
                <a:latin typeface="Tahoma" panose="020B0604030504040204" pitchFamily="34" charset="0"/>
              </a:rPr>
              <a:t>   for(int i=0; i&lt; stuff.length; i++)</a:t>
            </a:r>
          </a:p>
          <a:p>
            <a:pPr>
              <a:spcBef>
                <a:spcPct val="0"/>
              </a:spcBef>
              <a:buFontTx/>
              <a:buNone/>
            </a:pPr>
            <a:r>
              <a:rPr lang="en-US" altLang="en-US" sz="2800" b="1">
                <a:latin typeface="Tahoma" panose="020B0604030504040204" pitchFamily="34" charset="0"/>
              </a:rPr>
              <a:t>   {</a:t>
            </a:r>
          </a:p>
          <a:p>
            <a:pPr>
              <a:spcBef>
                <a:spcPct val="0"/>
              </a:spcBef>
              <a:buFontTx/>
              <a:buNone/>
            </a:pPr>
            <a:r>
              <a:rPr lang="en-US" altLang="en-US" sz="2800" b="1">
                <a:latin typeface="Tahoma" panose="020B0604030504040204" pitchFamily="34" charset="0"/>
              </a:rPr>
              <a:t>      if (stuff[i] </a:t>
            </a:r>
            <a:r>
              <a:rPr lang="en-US" altLang="en-US" sz="2800" b="1">
                <a:solidFill>
                  <a:srgbClr val="FF0000"/>
                </a:solidFill>
                <a:latin typeface="Tahoma" panose="020B0604030504040204" pitchFamily="34" charset="0"/>
              </a:rPr>
              <a:t>==</a:t>
            </a:r>
            <a:r>
              <a:rPr lang="en-US" altLang="en-US" sz="2800" b="1">
                <a:latin typeface="Tahoma" panose="020B0604030504040204" pitchFamily="34" charset="0"/>
              </a:rPr>
              <a:t> val )</a:t>
            </a:r>
          </a:p>
          <a:p>
            <a:pPr>
              <a:spcBef>
                <a:spcPct val="0"/>
              </a:spcBef>
              <a:buFontTx/>
              <a:buNone/>
            </a:pPr>
            <a:r>
              <a:rPr lang="en-US" altLang="en-US" sz="2800" b="1">
                <a:latin typeface="Tahoma" panose="020B0604030504040204" pitchFamily="34" charset="0"/>
              </a:rPr>
              <a:t>         return i;</a:t>
            </a:r>
          </a:p>
          <a:p>
            <a:pPr>
              <a:spcBef>
                <a:spcPct val="0"/>
              </a:spcBef>
              <a:buFontTx/>
              <a:buNone/>
            </a:pPr>
            <a:r>
              <a:rPr lang="en-US" altLang="en-US" sz="2800" b="1">
                <a:latin typeface="Tahoma" panose="020B0604030504040204" pitchFamily="34" charset="0"/>
              </a:rPr>
              <a:t>   }</a:t>
            </a:r>
          </a:p>
          <a:p>
            <a:pPr>
              <a:spcBef>
                <a:spcPct val="0"/>
              </a:spcBef>
              <a:buFontTx/>
              <a:buNone/>
            </a:pPr>
            <a:r>
              <a:rPr lang="en-US" altLang="en-US" sz="2800" b="1">
                <a:latin typeface="Tahoma" panose="020B0604030504040204" pitchFamily="34" charset="0"/>
              </a:rPr>
              <a:t>   return -1;   </a:t>
            </a:r>
            <a:r>
              <a:rPr lang="en-US" altLang="en-US" sz="2800" b="1">
                <a:solidFill>
                  <a:srgbClr val="006600"/>
                </a:solidFill>
                <a:latin typeface="Tahoma" panose="020B0604030504040204" pitchFamily="34" charset="0"/>
              </a:rPr>
              <a:t>//returns -1 if not found</a:t>
            </a:r>
          </a:p>
          <a:p>
            <a:pPr>
              <a:spcBef>
                <a:spcPct val="0"/>
              </a:spcBef>
              <a:buFontTx/>
              <a:buNone/>
            </a:pPr>
            <a:r>
              <a:rPr lang="en-US" altLang="en-US" sz="2800" b="1">
                <a:latin typeface="Tahoma" panose="020B0604030504040204" pitchFamily="34" charset="0"/>
              </a:rPr>
              <a:t>}	</a:t>
            </a:r>
          </a:p>
        </p:txBody>
      </p:sp>
      <p:sp>
        <p:nvSpPr>
          <p:cNvPr id="23556" name="WordArt 1028">
            <a:extLst>
              <a:ext uri="{FF2B5EF4-FFF2-40B4-BE49-F238E27FC236}">
                <a16:creationId xmlns:a16="http://schemas.microsoft.com/office/drawing/2014/main" id="{6775E713-C16A-42F2-26A8-A1F22ACA48FE}"/>
              </a:ext>
            </a:extLst>
          </p:cNvPr>
          <p:cNvSpPr>
            <a:spLocks noChangeArrowheads="1" noChangeShapeType="1" noTextEdit="1"/>
          </p:cNvSpPr>
          <p:nvPr/>
        </p:nvSpPr>
        <p:spPr bwMode="auto">
          <a:xfrm>
            <a:off x="1371600" y="457200"/>
            <a:ext cx="6400800" cy="685800"/>
          </a:xfrm>
          <a:prstGeom prst="rect">
            <a:avLst/>
          </a:prstGeom>
        </p:spPr>
        <p:txBody>
          <a:bodyPr wrap="none" fromWordArt="1">
            <a:prstTxWarp prst="textPlain">
              <a:avLst>
                <a:gd name="adj" fmla="val 50000"/>
              </a:avLst>
            </a:prstTxWarp>
          </a:bodyPr>
          <a:lstStyle/>
          <a:p>
            <a:r>
              <a:rPr lang="en-US" sz="3600" kern="10">
                <a:ln w="9525">
                  <a:solidFill>
                    <a:srgbClr val="FF6600"/>
                  </a:solidFill>
                  <a:round/>
                  <a:headEnd/>
                  <a:tailEnd/>
                </a:ln>
                <a:solidFill>
                  <a:srgbClr val="FFFF00"/>
                </a:solidFill>
                <a:effectLst>
                  <a:outerShdw dist="35921" dir="2700000" algn="ctr" rotWithShape="0">
                    <a:srgbClr val="C0C0C0"/>
                  </a:outerShdw>
                </a:effectLst>
                <a:latin typeface="Impact" panose="020B0806030902050204" pitchFamily="34" charset="0"/>
              </a:rPr>
              <a:t>Linear with Primitives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a:extLst>
              <a:ext uri="{FF2B5EF4-FFF2-40B4-BE49-F238E27FC236}">
                <a16:creationId xmlns:a16="http://schemas.microsoft.com/office/drawing/2014/main" id="{A61CFFBB-EDC6-0704-0061-448DCC794EA6}"/>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5603" name="Rectangle 2">
            <a:extLst>
              <a:ext uri="{FF2B5EF4-FFF2-40B4-BE49-F238E27FC236}">
                <a16:creationId xmlns:a16="http://schemas.microsoft.com/office/drawing/2014/main" id="{E444D6E8-B71F-8F90-2CEF-ED8DDEF5A7AF}"/>
              </a:ext>
            </a:extLst>
          </p:cNvPr>
          <p:cNvSpPr>
            <a:spLocks noChangeArrowheads="1"/>
          </p:cNvSpPr>
          <p:nvPr/>
        </p:nvSpPr>
        <p:spPr bwMode="auto">
          <a:xfrm>
            <a:off x="609600" y="1447800"/>
            <a:ext cx="7815263" cy="409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00" b="1">
                <a:latin typeface="Tahoma" panose="020B0604030504040204" pitchFamily="34" charset="0"/>
              </a:rPr>
              <a:t>int linearSearch(Comparable[] stuff, </a:t>
            </a:r>
          </a:p>
          <a:p>
            <a:pPr>
              <a:spcBef>
                <a:spcPct val="0"/>
              </a:spcBef>
              <a:buFontTx/>
              <a:buNone/>
            </a:pPr>
            <a:r>
              <a:rPr lang="en-US" altLang="en-US" sz="2600" b="1">
                <a:latin typeface="Tahoma" panose="020B0604030504040204" pitchFamily="34" charset="0"/>
              </a:rPr>
              <a:t>					Comparable item)</a:t>
            </a:r>
          </a:p>
          <a:p>
            <a:pPr>
              <a:spcBef>
                <a:spcPct val="0"/>
              </a:spcBef>
              <a:buFontTx/>
              <a:buNone/>
            </a:pPr>
            <a:r>
              <a:rPr lang="en-US" altLang="en-US" sz="2600" b="1">
                <a:latin typeface="Tahoma" panose="020B0604030504040204" pitchFamily="34" charset="0"/>
              </a:rPr>
              <a:t>{</a:t>
            </a:r>
          </a:p>
          <a:p>
            <a:pPr>
              <a:spcBef>
                <a:spcPct val="0"/>
              </a:spcBef>
              <a:buFontTx/>
              <a:buNone/>
            </a:pPr>
            <a:r>
              <a:rPr lang="en-US" altLang="en-US" sz="2600" b="1">
                <a:latin typeface="Tahoma" panose="020B0604030504040204" pitchFamily="34" charset="0"/>
              </a:rPr>
              <a:t>    for(int i=0; i&lt;stuff.length; i++)</a:t>
            </a:r>
          </a:p>
          <a:p>
            <a:pPr>
              <a:spcBef>
                <a:spcPct val="0"/>
              </a:spcBef>
              <a:buFontTx/>
              <a:buNone/>
            </a:pP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        if (stuff[i].</a:t>
            </a:r>
            <a:r>
              <a:rPr lang="en-US" altLang="en-US" sz="2600" b="1">
                <a:solidFill>
                  <a:srgbClr val="FF3300"/>
                </a:solidFill>
                <a:latin typeface="Tahoma" panose="020B0604030504040204" pitchFamily="34" charset="0"/>
              </a:rPr>
              <a:t>equals(item)</a:t>
            </a:r>
            <a:r>
              <a:rPr lang="en-US" altLang="en-US" sz="2600" b="1">
                <a:latin typeface="Tahoma" panose="020B0604030504040204" pitchFamily="34" charset="0"/>
              </a:rPr>
              <a:t>)</a:t>
            </a:r>
          </a:p>
          <a:p>
            <a:pPr>
              <a:spcBef>
                <a:spcPct val="0"/>
              </a:spcBef>
              <a:buFontTx/>
              <a:buNone/>
            </a:pPr>
            <a:r>
              <a:rPr lang="en-US" altLang="en-US" sz="2600" b="1">
                <a:latin typeface="Tahoma" panose="020B0604030504040204" pitchFamily="34" charset="0"/>
              </a:rPr>
              <a:t>	   	return i;</a:t>
            </a:r>
          </a:p>
          <a:p>
            <a:pPr>
              <a:spcBef>
                <a:spcPct val="0"/>
              </a:spcBef>
              <a:buFontTx/>
              <a:buNone/>
            </a:pP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    return -1;   </a:t>
            </a:r>
            <a:r>
              <a:rPr lang="en-US" altLang="en-US" sz="2600" b="1">
                <a:solidFill>
                  <a:srgbClr val="006600"/>
                </a:solidFill>
                <a:latin typeface="Tahoma" panose="020B0604030504040204" pitchFamily="34" charset="0"/>
              </a:rPr>
              <a:t>//returns -1 if not found</a:t>
            </a:r>
          </a:p>
          <a:p>
            <a:pPr>
              <a:spcBef>
                <a:spcPct val="0"/>
              </a:spcBef>
              <a:buFontTx/>
              <a:buNone/>
            </a:pPr>
            <a:r>
              <a:rPr lang="en-US" altLang="en-US" sz="2600" b="1">
                <a:latin typeface="Tahoma" panose="020B0604030504040204" pitchFamily="34" charset="0"/>
              </a:rPr>
              <a:t>}	</a:t>
            </a:r>
          </a:p>
        </p:txBody>
      </p:sp>
      <p:sp>
        <p:nvSpPr>
          <p:cNvPr id="25604" name="WordArt 4">
            <a:extLst>
              <a:ext uri="{FF2B5EF4-FFF2-40B4-BE49-F238E27FC236}">
                <a16:creationId xmlns:a16="http://schemas.microsoft.com/office/drawing/2014/main" id="{3D310A2D-00E5-A63A-38DF-4829F9E82C06}"/>
              </a:ext>
            </a:extLst>
          </p:cNvPr>
          <p:cNvSpPr>
            <a:spLocks noChangeArrowheads="1" noChangeShapeType="1" noTextEdit="1"/>
          </p:cNvSpPr>
          <p:nvPr/>
        </p:nvSpPr>
        <p:spPr bwMode="auto">
          <a:xfrm>
            <a:off x="1371600" y="457200"/>
            <a:ext cx="6400800" cy="685800"/>
          </a:xfrm>
          <a:prstGeom prst="rect">
            <a:avLst/>
          </a:prstGeom>
        </p:spPr>
        <p:txBody>
          <a:bodyPr wrap="none" fromWordArt="1">
            <a:prstTxWarp prst="textPlain">
              <a:avLst>
                <a:gd name="adj" fmla="val 50000"/>
              </a:avLst>
            </a:prstTxWarp>
          </a:bodyPr>
          <a:lstStyle/>
          <a:p>
            <a:r>
              <a:rPr lang="en-US" sz="3600" kern="10">
                <a:ln w="9525">
                  <a:solidFill>
                    <a:srgbClr val="FF6600"/>
                  </a:solidFill>
                  <a:round/>
                  <a:headEnd/>
                  <a:tailEnd/>
                </a:ln>
                <a:solidFill>
                  <a:srgbClr val="FFFF00"/>
                </a:solidFill>
                <a:effectLst>
                  <a:outerShdw dist="35921" dir="2700000" algn="ctr" rotWithShape="0">
                    <a:srgbClr val="C0C0C0"/>
                  </a:outerShdw>
                </a:effectLst>
                <a:latin typeface="Impact" panose="020B0806030902050204" pitchFamily="34" charset="0"/>
              </a:rPr>
              <a:t>Linear with Objects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a:extLst>
              <a:ext uri="{FF2B5EF4-FFF2-40B4-BE49-F238E27FC236}">
                <a16:creationId xmlns:a16="http://schemas.microsoft.com/office/drawing/2014/main" id="{2F4035A3-F9B9-C7A6-5E9A-4608C2B38A7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7651" name="Rectangle 2">
            <a:extLst>
              <a:ext uri="{FF2B5EF4-FFF2-40B4-BE49-F238E27FC236}">
                <a16:creationId xmlns:a16="http://schemas.microsoft.com/office/drawing/2014/main" id="{0640987B-3F79-BDF3-99A8-0CD77C5E440B}"/>
              </a:ext>
            </a:extLst>
          </p:cNvPr>
          <p:cNvSpPr>
            <a:spLocks noChangeArrowheads="1"/>
          </p:cNvSpPr>
          <p:nvPr/>
        </p:nvSpPr>
        <p:spPr bwMode="auto">
          <a:xfrm>
            <a:off x="609600" y="1447800"/>
            <a:ext cx="7815263" cy="409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00" b="1">
                <a:latin typeface="Tahoma" panose="020B0604030504040204" pitchFamily="34" charset="0"/>
              </a:rPr>
              <a:t>int linearSearch(Comparable[] stuff, </a:t>
            </a:r>
          </a:p>
          <a:p>
            <a:pPr>
              <a:spcBef>
                <a:spcPct val="0"/>
              </a:spcBef>
              <a:buFontTx/>
              <a:buNone/>
            </a:pPr>
            <a:r>
              <a:rPr lang="en-US" altLang="en-US" sz="2600" b="1">
                <a:latin typeface="Tahoma" panose="020B0604030504040204" pitchFamily="34" charset="0"/>
              </a:rPr>
              <a:t>					Comparable item)</a:t>
            </a:r>
          </a:p>
          <a:p>
            <a:pPr>
              <a:spcBef>
                <a:spcPct val="0"/>
              </a:spcBef>
              <a:buFontTx/>
              <a:buNone/>
            </a:pPr>
            <a:r>
              <a:rPr lang="en-US" altLang="en-US" sz="2600" b="1">
                <a:latin typeface="Tahoma" panose="020B0604030504040204" pitchFamily="34" charset="0"/>
              </a:rPr>
              <a:t>{</a:t>
            </a:r>
          </a:p>
          <a:p>
            <a:pPr>
              <a:spcBef>
                <a:spcPct val="0"/>
              </a:spcBef>
              <a:buFontTx/>
              <a:buNone/>
            </a:pPr>
            <a:r>
              <a:rPr lang="en-US" altLang="en-US" sz="2600" b="1">
                <a:latin typeface="Tahoma" panose="020B0604030504040204" pitchFamily="34" charset="0"/>
              </a:rPr>
              <a:t>    for(int i=0; i&lt;stuff.length; i++)</a:t>
            </a:r>
          </a:p>
          <a:p>
            <a:pPr>
              <a:spcBef>
                <a:spcPct val="0"/>
              </a:spcBef>
              <a:buFontTx/>
              <a:buNone/>
            </a:pP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        if (stuff[i].</a:t>
            </a:r>
            <a:r>
              <a:rPr lang="en-US" altLang="en-US" sz="2600" b="1">
                <a:solidFill>
                  <a:srgbClr val="FF3300"/>
                </a:solidFill>
                <a:latin typeface="Tahoma" panose="020B0604030504040204" pitchFamily="34" charset="0"/>
              </a:rPr>
              <a:t>compareTo</a:t>
            </a:r>
            <a:r>
              <a:rPr lang="en-US" altLang="en-US" sz="2600" b="1">
                <a:latin typeface="Tahoma" panose="020B0604030504040204" pitchFamily="34" charset="0"/>
              </a:rPr>
              <a:t>(item)==0)</a:t>
            </a:r>
          </a:p>
          <a:p>
            <a:pPr>
              <a:spcBef>
                <a:spcPct val="0"/>
              </a:spcBef>
              <a:buFontTx/>
              <a:buNone/>
            </a:pPr>
            <a:r>
              <a:rPr lang="en-US" altLang="en-US" sz="2600" b="1">
                <a:latin typeface="Tahoma" panose="020B0604030504040204" pitchFamily="34" charset="0"/>
              </a:rPr>
              <a:t>	   	return i;</a:t>
            </a:r>
          </a:p>
          <a:p>
            <a:pPr>
              <a:spcBef>
                <a:spcPct val="0"/>
              </a:spcBef>
              <a:buFontTx/>
              <a:buNone/>
            </a:pP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    return -1;   </a:t>
            </a:r>
            <a:r>
              <a:rPr lang="en-US" altLang="en-US" sz="2600" b="1">
                <a:solidFill>
                  <a:srgbClr val="006600"/>
                </a:solidFill>
                <a:latin typeface="Tahoma" panose="020B0604030504040204" pitchFamily="34" charset="0"/>
              </a:rPr>
              <a:t>//returns -1 if not found</a:t>
            </a:r>
          </a:p>
          <a:p>
            <a:pPr>
              <a:spcBef>
                <a:spcPct val="0"/>
              </a:spcBef>
              <a:buFontTx/>
              <a:buNone/>
            </a:pPr>
            <a:r>
              <a:rPr lang="en-US" altLang="en-US" sz="2600" b="1">
                <a:latin typeface="Tahoma" panose="020B0604030504040204" pitchFamily="34" charset="0"/>
              </a:rPr>
              <a:t>}	</a:t>
            </a:r>
          </a:p>
        </p:txBody>
      </p:sp>
      <p:sp>
        <p:nvSpPr>
          <p:cNvPr id="27652" name="WordArt 4">
            <a:extLst>
              <a:ext uri="{FF2B5EF4-FFF2-40B4-BE49-F238E27FC236}">
                <a16:creationId xmlns:a16="http://schemas.microsoft.com/office/drawing/2014/main" id="{CC38E2E5-FE4D-7340-C999-DB4332574E0A}"/>
              </a:ext>
            </a:extLst>
          </p:cNvPr>
          <p:cNvSpPr>
            <a:spLocks noChangeArrowheads="1" noChangeShapeType="1" noTextEdit="1"/>
          </p:cNvSpPr>
          <p:nvPr/>
        </p:nvSpPr>
        <p:spPr bwMode="auto">
          <a:xfrm>
            <a:off x="1371600" y="457200"/>
            <a:ext cx="6400800" cy="685800"/>
          </a:xfrm>
          <a:prstGeom prst="rect">
            <a:avLst/>
          </a:prstGeom>
        </p:spPr>
        <p:txBody>
          <a:bodyPr wrap="none" fromWordArt="1">
            <a:prstTxWarp prst="textPlain">
              <a:avLst>
                <a:gd name="adj" fmla="val 50000"/>
              </a:avLst>
            </a:prstTxWarp>
          </a:bodyPr>
          <a:lstStyle/>
          <a:p>
            <a:r>
              <a:rPr lang="en-US" sz="3600" kern="10">
                <a:ln w="9525">
                  <a:solidFill>
                    <a:srgbClr val="FF6600"/>
                  </a:solidFill>
                  <a:round/>
                  <a:headEnd/>
                  <a:tailEnd/>
                </a:ln>
                <a:solidFill>
                  <a:srgbClr val="FFFF00"/>
                </a:solidFill>
                <a:effectLst>
                  <a:outerShdw dist="35921" dir="2700000" algn="ctr" rotWithShape="0">
                    <a:srgbClr val="C0C0C0"/>
                  </a:outerShdw>
                </a:effectLst>
                <a:latin typeface="Impact" panose="020B0806030902050204" pitchFamily="34" charset="0"/>
              </a:rPr>
              <a:t>Linear with Objects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a:extLst>
              <a:ext uri="{FF2B5EF4-FFF2-40B4-BE49-F238E27FC236}">
                <a16:creationId xmlns:a16="http://schemas.microsoft.com/office/drawing/2014/main" id="{56F06D95-6222-8D65-7278-7C3CB26B16EF}"/>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9699" name="WordArt 2">
            <a:extLst>
              <a:ext uri="{FF2B5EF4-FFF2-40B4-BE49-F238E27FC236}">
                <a16:creationId xmlns:a16="http://schemas.microsoft.com/office/drawing/2014/main" id="{4CE96D39-8DE1-CCA4-D19E-9621DD6A1BD1}"/>
              </a:ext>
            </a:extLst>
          </p:cNvPr>
          <p:cNvSpPr>
            <a:spLocks noChangeArrowheads="1" noChangeShapeType="1" noTextEdit="1"/>
          </p:cNvSpPr>
          <p:nvPr/>
        </p:nvSpPr>
        <p:spPr bwMode="auto">
          <a:xfrm>
            <a:off x="228600" y="1524000"/>
            <a:ext cx="8686800" cy="3505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linearsearch.java</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linearsearchtester.java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a:extLst>
              <a:ext uri="{FF2B5EF4-FFF2-40B4-BE49-F238E27FC236}">
                <a16:creationId xmlns:a16="http://schemas.microsoft.com/office/drawing/2014/main" id="{DAAE4DB4-331D-8D3A-6DBD-4EDB66F23FD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1747" name="WordArt 2">
            <a:extLst>
              <a:ext uri="{FF2B5EF4-FFF2-40B4-BE49-F238E27FC236}">
                <a16:creationId xmlns:a16="http://schemas.microsoft.com/office/drawing/2014/main" id="{2584738C-A791-DADE-0B28-BB7CB94E9FE0}"/>
              </a:ext>
            </a:extLst>
          </p:cNvPr>
          <p:cNvSpPr>
            <a:spLocks noChangeArrowheads="1" noChangeShapeType="1" noTextEdit="1"/>
          </p:cNvSpPr>
          <p:nvPr/>
        </p:nvSpPr>
        <p:spPr bwMode="auto">
          <a:xfrm>
            <a:off x="1371600" y="838200"/>
            <a:ext cx="6248400" cy="3581400"/>
          </a:xfrm>
          <a:prstGeom prst="rect">
            <a:avLst/>
          </a:prstGeom>
        </p:spPr>
        <p:txBody>
          <a:bodyPr wrap="none" fromWordArt="1">
            <a:prstTxWarp prst="textSlantUp">
              <a:avLst>
                <a:gd name="adj" fmla="val 32056"/>
              </a:avLst>
            </a:prstTxWarp>
          </a:bodyPr>
          <a:lstStyle/>
          <a:p>
            <a:r>
              <a:rPr lang="en-US" sz="3600" kern="10">
                <a:ln w="9525">
                  <a:solidFill>
                    <a:srgbClr val="CC99FF"/>
                  </a:solidFill>
                  <a:round/>
                  <a:headEnd/>
                  <a:tailEnd/>
                </a:ln>
                <a:gradFill rotWithShape="1">
                  <a:gsLst>
                    <a:gs pos="0">
                      <a:srgbClr val="6600CC"/>
                    </a:gs>
                    <a:gs pos="100000">
                      <a:srgbClr val="CC00CC"/>
                    </a:gs>
                  </a:gsLst>
                  <a:lin ang="5400000" scaled="1"/>
                </a:gradFill>
                <a:effectLst>
                  <a:outerShdw dist="53882" dir="2700000" algn="ctr" rotWithShape="0">
                    <a:srgbClr val="9999FF"/>
                  </a:outerShdw>
                </a:effectLst>
                <a:latin typeface="Impact" panose="020B0806030902050204" pitchFamily="34" charset="0"/>
              </a:rPr>
              <a:t>Binary Search</a:t>
            </a:r>
          </a:p>
        </p:txBody>
      </p:sp>
      <p:sp>
        <p:nvSpPr>
          <p:cNvPr id="31748" name="Text Box 3">
            <a:extLst>
              <a:ext uri="{FF2B5EF4-FFF2-40B4-BE49-F238E27FC236}">
                <a16:creationId xmlns:a16="http://schemas.microsoft.com/office/drawing/2014/main" id="{B8F389A9-38C5-0BD6-07CB-32694915FF8F}"/>
              </a:ext>
            </a:extLst>
          </p:cNvPr>
          <p:cNvSpPr txBox="1">
            <a:spLocks noChangeArrowheads="1"/>
          </p:cNvSpPr>
          <p:nvPr/>
        </p:nvSpPr>
        <p:spPr bwMode="auto">
          <a:xfrm>
            <a:off x="4572000" y="4572000"/>
            <a:ext cx="27717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a:latin typeface="Tahoma" panose="020B0604030504040204" pitchFamily="34" charset="0"/>
              </a:rPr>
              <a:t>0100100101</a:t>
            </a:r>
          </a:p>
        </p:txBody>
      </p:sp>
      <p:sp>
        <p:nvSpPr>
          <p:cNvPr id="31749" name="Text Box 4">
            <a:extLst>
              <a:ext uri="{FF2B5EF4-FFF2-40B4-BE49-F238E27FC236}">
                <a16:creationId xmlns:a16="http://schemas.microsoft.com/office/drawing/2014/main" id="{93CC416A-D57C-8EBF-0508-41A76CDB94EF}"/>
              </a:ext>
            </a:extLst>
          </p:cNvPr>
          <p:cNvSpPr txBox="1">
            <a:spLocks noChangeArrowheads="1"/>
          </p:cNvSpPr>
          <p:nvPr/>
        </p:nvSpPr>
        <p:spPr bwMode="auto">
          <a:xfrm>
            <a:off x="1295400" y="609600"/>
            <a:ext cx="9366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a:latin typeface="Tahoma" panose="020B0604030504040204" pitchFamily="34" charset="0"/>
              </a:rPr>
              <a:t>1/2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a:extLst>
              <a:ext uri="{FF2B5EF4-FFF2-40B4-BE49-F238E27FC236}">
                <a16:creationId xmlns:a16="http://schemas.microsoft.com/office/drawing/2014/main" id="{75452A4B-E112-6C67-78E1-A425849878B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3795" name="Text Box 2">
            <a:extLst>
              <a:ext uri="{FF2B5EF4-FFF2-40B4-BE49-F238E27FC236}">
                <a16:creationId xmlns:a16="http://schemas.microsoft.com/office/drawing/2014/main" id="{5AE68D7F-C645-236B-1909-42294C003E04}"/>
              </a:ext>
            </a:extLst>
          </p:cNvPr>
          <p:cNvSpPr txBox="1">
            <a:spLocks noChangeArrowheads="1"/>
          </p:cNvSpPr>
          <p:nvPr/>
        </p:nvSpPr>
        <p:spPr bwMode="auto">
          <a:xfrm>
            <a:off x="685800" y="1219200"/>
            <a:ext cx="8001000" cy="477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400">
              <a:latin typeface="Arial" panose="020B0604020202020204" pitchFamily="34" charset="0"/>
            </a:endParaRPr>
          </a:p>
          <a:p>
            <a:pPr>
              <a:spcBef>
                <a:spcPct val="0"/>
              </a:spcBef>
              <a:buFontTx/>
              <a:buNone/>
            </a:pPr>
            <a:endParaRPr lang="en-US" altLang="en-US">
              <a:latin typeface="Tahoma" panose="020B0604030504040204" pitchFamily="34" charset="0"/>
            </a:endParaRPr>
          </a:p>
          <a:p>
            <a:pPr>
              <a:spcBef>
                <a:spcPct val="0"/>
              </a:spcBef>
              <a:buFontTx/>
              <a:buNone/>
            </a:pPr>
            <a:endParaRPr lang="en-US" altLang="en-US">
              <a:solidFill>
                <a:schemeClr val="accent2"/>
              </a:solidFill>
              <a:latin typeface="Tahoma" panose="020B0604030504040204" pitchFamily="34" charset="0"/>
            </a:endParaRPr>
          </a:p>
          <a:p>
            <a:pPr>
              <a:spcBef>
                <a:spcPct val="0"/>
              </a:spcBef>
              <a:buFontTx/>
              <a:buNone/>
            </a:pPr>
            <a:r>
              <a:rPr lang="en-US" altLang="en-US" sz="3600">
                <a:latin typeface="Tahoma" panose="020B0604030504040204" pitchFamily="34" charset="0"/>
              </a:rPr>
              <a:t>The Binary Search only works with</a:t>
            </a:r>
          </a:p>
          <a:p>
            <a:pPr>
              <a:spcBef>
                <a:spcPct val="0"/>
              </a:spcBef>
              <a:buFontTx/>
              <a:buNone/>
            </a:pPr>
            <a:r>
              <a:rPr lang="en-US" altLang="en-US" sz="3600">
                <a:latin typeface="Tahoma" panose="020B0604030504040204" pitchFamily="34" charset="0"/>
              </a:rPr>
              <a:t>sorted lists.  The Binary search cuts</a:t>
            </a:r>
          </a:p>
          <a:p>
            <a:pPr>
              <a:spcBef>
                <a:spcPct val="0"/>
              </a:spcBef>
              <a:buFontTx/>
              <a:buNone/>
            </a:pPr>
            <a:r>
              <a:rPr lang="en-US" altLang="en-US" sz="3600">
                <a:latin typeface="Tahoma" panose="020B0604030504040204" pitchFamily="34" charset="0"/>
              </a:rPr>
              <a:t>the list in half each time it checks for</a:t>
            </a:r>
          </a:p>
          <a:p>
            <a:pPr>
              <a:spcBef>
                <a:spcPct val="0"/>
              </a:spcBef>
              <a:buFontTx/>
              <a:buNone/>
            </a:pPr>
            <a:r>
              <a:rPr lang="en-US" altLang="en-US" sz="3600">
                <a:latin typeface="Tahoma" panose="020B0604030504040204" pitchFamily="34" charset="0"/>
              </a:rPr>
              <a:t>for the specified value.  If the value is</a:t>
            </a:r>
          </a:p>
          <a:p>
            <a:pPr>
              <a:spcBef>
                <a:spcPct val="0"/>
              </a:spcBef>
              <a:buFontTx/>
              <a:buNone/>
            </a:pPr>
            <a:r>
              <a:rPr lang="en-US" altLang="en-US" sz="3600">
                <a:latin typeface="Tahoma" panose="020B0604030504040204" pitchFamily="34" charset="0"/>
              </a:rPr>
              <a:t>not found, the search continue in the</a:t>
            </a:r>
          </a:p>
          <a:p>
            <a:pPr>
              <a:spcBef>
                <a:spcPct val="0"/>
              </a:spcBef>
              <a:buFontTx/>
              <a:buNone/>
            </a:pPr>
            <a:r>
              <a:rPr lang="en-US" altLang="en-US" sz="3600">
                <a:latin typeface="Tahoma" panose="020B0604030504040204" pitchFamily="34" charset="0"/>
              </a:rPr>
              <a:t>half most likely to contain the value.</a:t>
            </a:r>
            <a:endParaRPr lang="en-US" altLang="en-US" sz="3600">
              <a:latin typeface="Arial" panose="020B0604020202020204" pitchFamily="34" charset="0"/>
            </a:endParaRPr>
          </a:p>
        </p:txBody>
      </p:sp>
      <p:sp>
        <p:nvSpPr>
          <p:cNvPr id="33796" name="WordArt 3">
            <a:extLst>
              <a:ext uri="{FF2B5EF4-FFF2-40B4-BE49-F238E27FC236}">
                <a16:creationId xmlns:a16="http://schemas.microsoft.com/office/drawing/2014/main" id="{123F3DFA-A7DF-7918-7C94-C36936B1E75D}"/>
              </a:ext>
            </a:extLst>
          </p:cNvPr>
          <p:cNvSpPr>
            <a:spLocks noChangeArrowheads="1" noChangeShapeType="1" noTextEdit="1"/>
          </p:cNvSpPr>
          <p:nvPr/>
        </p:nvSpPr>
        <p:spPr bwMode="auto">
          <a:xfrm>
            <a:off x="1752600" y="914400"/>
            <a:ext cx="5867400" cy="6858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outerShdw>
                </a:effectLst>
                <a:latin typeface="Impact" panose="020B0806030902050204" pitchFamily="34" charset="0"/>
              </a:rPr>
              <a:t>BinarySearch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a:extLst>
              <a:ext uri="{FF2B5EF4-FFF2-40B4-BE49-F238E27FC236}">
                <a16:creationId xmlns:a16="http://schemas.microsoft.com/office/drawing/2014/main" id="{CF2E309B-D2A5-2787-52A3-1F3C4F0838E4}"/>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8435" name="Rectangle 2">
            <a:extLst>
              <a:ext uri="{FF2B5EF4-FFF2-40B4-BE49-F238E27FC236}">
                <a16:creationId xmlns:a16="http://schemas.microsoft.com/office/drawing/2014/main" id="{675D5C34-A2C0-E214-2D60-BED6D39EB48E}"/>
              </a:ext>
            </a:extLst>
          </p:cNvPr>
          <p:cNvSpPr>
            <a:spLocks noChangeArrowheads="1"/>
          </p:cNvSpPr>
          <p:nvPr/>
        </p:nvSpPr>
        <p:spPr bwMode="auto">
          <a:xfrm>
            <a:off x="495300" y="475357"/>
            <a:ext cx="81534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600">
                <a:solidFill>
                  <a:schemeClr val="tx1"/>
                </a:solidFill>
                <a:latin typeface="Tahoma" panose="020B0604030504040204" pitchFamily="34" charset="0"/>
              </a:defRPr>
            </a:lvl1pPr>
            <a:lvl2pPr marL="742950" indent="-285750">
              <a:defRPr sz="2600">
                <a:solidFill>
                  <a:schemeClr val="tx1"/>
                </a:solidFill>
                <a:latin typeface="Tahoma" panose="020B0604030504040204" pitchFamily="34" charset="0"/>
              </a:defRPr>
            </a:lvl2pPr>
            <a:lvl3pPr marL="1143000" indent="-228600">
              <a:defRPr sz="2600">
                <a:solidFill>
                  <a:schemeClr val="tx1"/>
                </a:solidFill>
                <a:latin typeface="Tahoma" panose="020B0604030504040204" pitchFamily="34" charset="0"/>
              </a:defRPr>
            </a:lvl3pPr>
            <a:lvl4pPr marL="1600200" indent="-228600">
              <a:defRPr sz="2600">
                <a:solidFill>
                  <a:schemeClr val="tx1"/>
                </a:solidFill>
                <a:latin typeface="Tahoma" panose="020B0604030504040204" pitchFamily="34" charset="0"/>
              </a:defRPr>
            </a:lvl4pPr>
            <a:lvl5pPr marL="2057400" indent="-228600">
              <a:defRPr sz="2600">
                <a:solidFill>
                  <a:schemeClr val="tx1"/>
                </a:solidFill>
                <a:latin typeface="Tahoma" panose="020B0604030504040204" pitchFamily="34" charset="0"/>
              </a:defRPr>
            </a:lvl5pPr>
            <a:lvl6pPr marL="2514600" indent="-228600" eaLnBrk="0" fontAlgn="base" hangingPunct="0">
              <a:spcBef>
                <a:spcPct val="0"/>
              </a:spcBef>
              <a:spcAft>
                <a:spcPct val="0"/>
              </a:spcAft>
              <a:defRPr sz="2600">
                <a:solidFill>
                  <a:schemeClr val="tx1"/>
                </a:solidFill>
                <a:latin typeface="Tahoma" panose="020B0604030504040204" pitchFamily="34" charset="0"/>
              </a:defRPr>
            </a:lvl6pPr>
            <a:lvl7pPr marL="2971800" indent="-228600" eaLnBrk="0" fontAlgn="base" hangingPunct="0">
              <a:spcBef>
                <a:spcPct val="0"/>
              </a:spcBef>
              <a:spcAft>
                <a:spcPct val="0"/>
              </a:spcAft>
              <a:defRPr sz="2600">
                <a:solidFill>
                  <a:schemeClr val="tx1"/>
                </a:solidFill>
                <a:latin typeface="Tahoma" panose="020B0604030504040204" pitchFamily="34" charset="0"/>
              </a:defRPr>
            </a:lvl7pPr>
            <a:lvl8pPr marL="3429000" indent="-228600" eaLnBrk="0" fontAlgn="base" hangingPunct="0">
              <a:spcBef>
                <a:spcPct val="0"/>
              </a:spcBef>
              <a:spcAft>
                <a:spcPct val="0"/>
              </a:spcAft>
              <a:defRPr sz="2600">
                <a:solidFill>
                  <a:schemeClr val="tx1"/>
                </a:solidFill>
                <a:latin typeface="Tahoma" panose="020B0604030504040204" pitchFamily="34" charset="0"/>
              </a:defRPr>
            </a:lvl8pPr>
            <a:lvl9pPr marL="3886200" indent="-228600" eaLnBrk="0" fontAlgn="base" hangingPunct="0">
              <a:spcBef>
                <a:spcPct val="0"/>
              </a:spcBef>
              <a:spcAft>
                <a:spcPct val="0"/>
              </a:spcAft>
              <a:defRPr sz="2600">
                <a:solidFill>
                  <a:schemeClr val="tx1"/>
                </a:solidFill>
                <a:latin typeface="Tahoma" panose="020B0604030504040204" pitchFamily="34" charset="0"/>
              </a:defRPr>
            </a:lvl9pPr>
          </a:lstStyle>
          <a:p>
            <a:pPr>
              <a:defRPr/>
            </a:pPr>
            <a:r>
              <a:rPr lang="en-US" altLang="en-US" sz="3200" dirty="0" err="1"/>
              <a:t>int</a:t>
            </a:r>
            <a:r>
              <a:rPr lang="en-US" altLang="en-US" sz="3200" dirty="0"/>
              <a:t>[] stuff = {1, 6, 8, 10, 14, 22, 30, 50};</a:t>
            </a:r>
          </a:p>
          <a:p>
            <a:pPr>
              <a:defRPr/>
            </a:pPr>
            <a:endParaRPr lang="en-US" altLang="en-US" sz="3200" dirty="0"/>
          </a:p>
          <a:p>
            <a:pPr>
              <a:defRPr/>
            </a:pPr>
            <a:r>
              <a:rPr lang="en-US" altLang="en-US" sz="3200" dirty="0"/>
              <a:t>0 + 7 = 7 / 2 = 3</a:t>
            </a:r>
          </a:p>
          <a:p>
            <a:pPr>
              <a:defRPr/>
            </a:pPr>
            <a:r>
              <a:rPr lang="en-US" altLang="en-US" sz="3200" dirty="0"/>
              <a:t>stuff[3] = 10</a:t>
            </a:r>
          </a:p>
          <a:p>
            <a:pPr>
              <a:defRPr/>
            </a:pPr>
            <a:endParaRPr lang="en-US" altLang="en-US" sz="3200" dirty="0"/>
          </a:p>
          <a:p>
            <a:pPr>
              <a:defRPr/>
            </a:pPr>
            <a:r>
              <a:rPr lang="en-US" altLang="en-US" sz="3200" dirty="0"/>
              <a:t>4 + 7 = 11 div 2 = 5</a:t>
            </a:r>
          </a:p>
          <a:p>
            <a:pPr>
              <a:defRPr/>
            </a:pPr>
            <a:r>
              <a:rPr lang="en-US" altLang="en-US" sz="3200" dirty="0"/>
              <a:t>stuff[5] = 22</a:t>
            </a:r>
          </a:p>
          <a:p>
            <a:pPr>
              <a:defRPr/>
            </a:pPr>
            <a:endParaRPr lang="en-US" altLang="en-US" sz="3200" dirty="0"/>
          </a:p>
          <a:p>
            <a:pPr>
              <a:defRPr/>
            </a:pPr>
            <a:r>
              <a:rPr lang="en-US" altLang="en-US" sz="3200" dirty="0"/>
              <a:t>6 + 7 = 13 div 2 = 6</a:t>
            </a:r>
          </a:p>
          <a:p>
            <a:pPr>
              <a:defRPr/>
            </a:pPr>
            <a:r>
              <a:rPr lang="en-US" altLang="en-US" sz="3200" dirty="0"/>
              <a:t>stuff[6] = 30</a:t>
            </a:r>
          </a:p>
          <a:p>
            <a:pPr>
              <a:defRPr/>
            </a:pPr>
            <a:endParaRPr lang="en-US" altLang="en-US" sz="3200" dirty="0"/>
          </a:p>
          <a:p>
            <a:pPr>
              <a:defRPr/>
            </a:pPr>
            <a:r>
              <a:rPr lang="en-US" altLang="en-US" sz="3200" strike="sngStrike" dirty="0"/>
              <a:t>6 + 5 </a:t>
            </a:r>
            <a:r>
              <a:rPr lang="en-US" altLang="en-US" sz="3200" dirty="0"/>
              <a:t>=</a:t>
            </a:r>
            <a:endParaRPr lang="en-US" altLang="en-US" sz="4000" dirty="0"/>
          </a:p>
        </p:txBody>
      </p:sp>
      <p:sp>
        <p:nvSpPr>
          <p:cNvPr id="35844" name="Text Box 3">
            <a:extLst>
              <a:ext uri="{FF2B5EF4-FFF2-40B4-BE49-F238E27FC236}">
                <a16:creationId xmlns:a16="http://schemas.microsoft.com/office/drawing/2014/main" id="{9A076F7F-BE26-C7E6-40B1-0551AC2E6EC5}"/>
              </a:ext>
            </a:extLst>
          </p:cNvPr>
          <p:cNvSpPr txBox="1">
            <a:spLocks noChangeArrowheads="1"/>
          </p:cNvSpPr>
          <p:nvPr/>
        </p:nvSpPr>
        <p:spPr bwMode="auto">
          <a:xfrm>
            <a:off x="4876800" y="1676400"/>
            <a:ext cx="342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600">
              <a:latin typeface="Tahoma" panose="020B0604030504040204" pitchFamily="34" charset="0"/>
            </a:endParaRPr>
          </a:p>
        </p:txBody>
      </p:sp>
      <p:sp>
        <p:nvSpPr>
          <p:cNvPr id="35845" name="Rectangle 5">
            <a:extLst>
              <a:ext uri="{FF2B5EF4-FFF2-40B4-BE49-F238E27FC236}">
                <a16:creationId xmlns:a16="http://schemas.microsoft.com/office/drawing/2014/main" id="{3342F159-CD19-26B1-9F2D-34FB62525929}"/>
              </a:ext>
            </a:extLst>
          </p:cNvPr>
          <p:cNvSpPr>
            <a:spLocks noChangeArrowheads="1"/>
          </p:cNvSpPr>
          <p:nvPr/>
        </p:nvSpPr>
        <p:spPr bwMode="auto">
          <a:xfrm>
            <a:off x="4267200" y="4800600"/>
            <a:ext cx="4572000" cy="137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600">
                <a:solidFill>
                  <a:schemeClr val="accent2"/>
                </a:solidFill>
                <a:latin typeface="Tahoma" panose="020B0604030504040204" pitchFamily="34" charset="0"/>
              </a:rPr>
              <a:t>If you are searching for 25, how many times will you check the stuff?</a:t>
            </a:r>
          </a:p>
        </p:txBody>
      </p:sp>
      <p:sp>
        <p:nvSpPr>
          <p:cNvPr id="35846" name="WordArt 6">
            <a:extLst>
              <a:ext uri="{FF2B5EF4-FFF2-40B4-BE49-F238E27FC236}">
                <a16:creationId xmlns:a16="http://schemas.microsoft.com/office/drawing/2014/main" id="{00ACF5BC-8809-861C-E938-DCEE7F5CD9EC}"/>
              </a:ext>
            </a:extLst>
          </p:cNvPr>
          <p:cNvSpPr>
            <a:spLocks noChangeArrowheads="1" noChangeShapeType="1" noTextEdit="1"/>
          </p:cNvSpPr>
          <p:nvPr/>
        </p:nvSpPr>
        <p:spPr bwMode="auto">
          <a:xfrm>
            <a:off x="4495800" y="2743200"/>
            <a:ext cx="3810000" cy="5334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outerShdw>
                </a:effectLst>
                <a:latin typeface="Impact" panose="020B0806030902050204" pitchFamily="34" charset="0"/>
              </a:rPr>
              <a:t>BinarySearch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a:extLst>
              <a:ext uri="{FF2B5EF4-FFF2-40B4-BE49-F238E27FC236}">
                <a16:creationId xmlns:a16="http://schemas.microsoft.com/office/drawing/2014/main" id="{26784583-7730-00EA-959D-6527D612A29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37891" name="Text Box 4">
            <a:extLst>
              <a:ext uri="{FF2B5EF4-FFF2-40B4-BE49-F238E27FC236}">
                <a16:creationId xmlns:a16="http://schemas.microsoft.com/office/drawing/2014/main" id="{83435440-D9D3-5921-7467-1F64496D5765}"/>
              </a:ext>
            </a:extLst>
          </p:cNvPr>
          <p:cNvSpPr txBox="1">
            <a:spLocks noChangeArrowheads="1"/>
          </p:cNvSpPr>
          <p:nvPr/>
        </p:nvSpPr>
        <p:spPr bwMode="auto">
          <a:xfrm>
            <a:off x="574675" y="236538"/>
            <a:ext cx="7467600" cy="644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00" b="1">
                <a:latin typeface="Tahoma" panose="020B0604030504040204" pitchFamily="34" charset="0"/>
              </a:rPr>
              <a:t>int binarySearch(int[] list, int toFind)</a:t>
            </a:r>
          </a:p>
          <a:p>
            <a:pPr>
              <a:spcBef>
                <a:spcPct val="0"/>
              </a:spcBef>
              <a:buFontTx/>
              <a:buNone/>
            </a:pPr>
            <a:r>
              <a:rPr lang="en-US" altLang="en-US" sz="2600" b="1">
                <a:latin typeface="Tahoma" panose="020B0604030504040204" pitchFamily="34" charset="0"/>
              </a:rPr>
              <a:t>{</a:t>
            </a:r>
          </a:p>
          <a:p>
            <a:pPr>
              <a:spcBef>
                <a:spcPct val="0"/>
              </a:spcBef>
              <a:buFontTx/>
              <a:buNone/>
            </a:pPr>
            <a:r>
              <a:rPr lang="en-US" altLang="en-US" sz="2600" b="1">
                <a:latin typeface="Tahoma" panose="020B0604030504040204" pitchFamily="34" charset="0"/>
              </a:rPr>
              <a:t>   int bot = 0, top = list.length-1;</a:t>
            </a:r>
          </a:p>
          <a:p>
            <a:pPr>
              <a:spcBef>
                <a:spcPct val="0"/>
              </a:spcBef>
              <a:buFontTx/>
              <a:buNone/>
            </a:pPr>
            <a:r>
              <a:rPr lang="en-US" altLang="en-US" sz="2600" b="1">
                <a:latin typeface="Tahoma" panose="020B0604030504040204" pitchFamily="34" charset="0"/>
              </a:rPr>
              <a:t>   while(bot&lt;=top)  </a:t>
            </a:r>
          </a:p>
          <a:p>
            <a:pPr>
              <a:spcBef>
                <a:spcPct val="0"/>
              </a:spcBef>
              <a:buFontTx/>
              <a:buNone/>
            </a:pP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      int middle = (bot + top) / 2;</a:t>
            </a:r>
          </a:p>
          <a:p>
            <a:pPr>
              <a:spcBef>
                <a:spcPct val="0"/>
              </a:spcBef>
              <a:buFontTx/>
              <a:buNone/>
            </a:pPr>
            <a:r>
              <a:rPr lang="en-US" altLang="en-US" sz="2600" b="1">
                <a:latin typeface="Tahoma" panose="020B0604030504040204" pitchFamily="34" charset="0"/>
              </a:rPr>
              <a:t>      if (</a:t>
            </a:r>
            <a:r>
              <a:rPr lang="en-US" altLang="en-US" sz="2600" b="1">
                <a:solidFill>
                  <a:srgbClr val="7030A0"/>
                </a:solidFill>
                <a:latin typeface="Tahoma" panose="020B0604030504040204" pitchFamily="34" charset="0"/>
              </a:rPr>
              <a:t>list[middle] </a:t>
            </a:r>
            <a:r>
              <a:rPr lang="en-US" altLang="en-US" sz="2600" b="1">
                <a:solidFill>
                  <a:srgbClr val="FF3300"/>
                </a:solidFill>
                <a:latin typeface="Tahoma" panose="020B0604030504040204" pitchFamily="34" charset="0"/>
              </a:rPr>
              <a:t>==</a:t>
            </a:r>
            <a:r>
              <a:rPr lang="en-US" altLang="en-US" sz="2600" b="1">
                <a:solidFill>
                  <a:srgbClr val="7030A0"/>
                </a:solidFill>
                <a:latin typeface="Tahoma" panose="020B0604030504040204" pitchFamily="34" charset="0"/>
              </a:rPr>
              <a:t> toFind</a:t>
            </a: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         return middle;</a:t>
            </a:r>
          </a:p>
          <a:p>
            <a:pPr>
              <a:spcBef>
                <a:spcPct val="0"/>
              </a:spcBef>
              <a:buFontTx/>
              <a:buNone/>
            </a:pPr>
            <a:r>
              <a:rPr lang="en-US" altLang="en-US" sz="2600" b="1">
                <a:latin typeface="Tahoma" panose="020B0604030504040204" pitchFamily="34" charset="0"/>
              </a:rPr>
              <a:t>      else</a:t>
            </a:r>
          </a:p>
          <a:p>
            <a:pPr>
              <a:spcBef>
                <a:spcPct val="0"/>
              </a:spcBef>
              <a:buFontTx/>
              <a:buNone/>
            </a:pPr>
            <a:r>
              <a:rPr lang="en-US" altLang="en-US" sz="2600" b="1">
                <a:latin typeface="Tahoma" panose="020B0604030504040204" pitchFamily="34" charset="0"/>
              </a:rPr>
              <a:t>         if (</a:t>
            </a:r>
            <a:r>
              <a:rPr lang="en-US" altLang="en-US" sz="2600" b="1">
                <a:solidFill>
                  <a:srgbClr val="7030A0"/>
                </a:solidFill>
                <a:latin typeface="Tahoma" panose="020B0604030504040204" pitchFamily="34" charset="0"/>
              </a:rPr>
              <a:t>toFind </a:t>
            </a:r>
            <a:r>
              <a:rPr lang="en-US" altLang="en-US" sz="2600" b="1">
                <a:solidFill>
                  <a:srgbClr val="FF3300"/>
                </a:solidFill>
                <a:latin typeface="Tahoma" panose="020B0604030504040204" pitchFamily="34" charset="0"/>
              </a:rPr>
              <a:t>&lt;</a:t>
            </a:r>
            <a:r>
              <a:rPr lang="en-US" altLang="en-US" sz="2600" b="1">
                <a:solidFill>
                  <a:srgbClr val="7030A0"/>
                </a:solidFill>
                <a:latin typeface="Tahoma" panose="020B0604030504040204" pitchFamily="34" charset="0"/>
              </a:rPr>
              <a:t> list[middle]</a:t>
            </a:r>
            <a:r>
              <a:rPr lang="en-US" altLang="en-US" sz="2600" b="1">
                <a:latin typeface="Tahoma" panose="020B0604030504040204" pitchFamily="34" charset="0"/>
              </a:rPr>
              <a:t>)</a:t>
            </a:r>
          </a:p>
          <a:p>
            <a:pPr>
              <a:spcBef>
                <a:spcPct val="0"/>
              </a:spcBef>
              <a:buFontTx/>
              <a:buNone/>
            </a:pPr>
            <a:r>
              <a:rPr lang="en-US" altLang="en-US" sz="2600" b="1">
                <a:latin typeface="Tahoma" panose="020B0604030504040204" pitchFamily="34" charset="0"/>
              </a:rPr>
              <a:t>            top = middle-1;</a:t>
            </a:r>
          </a:p>
          <a:p>
            <a:pPr>
              <a:spcBef>
                <a:spcPct val="0"/>
              </a:spcBef>
              <a:buFontTx/>
              <a:buNone/>
            </a:pPr>
            <a:r>
              <a:rPr lang="en-US" altLang="en-US" sz="2600" b="1">
                <a:latin typeface="Tahoma" panose="020B0604030504040204" pitchFamily="34" charset="0"/>
              </a:rPr>
              <a:t>         else</a:t>
            </a:r>
          </a:p>
          <a:p>
            <a:pPr>
              <a:spcBef>
                <a:spcPct val="0"/>
              </a:spcBef>
              <a:buFontTx/>
              <a:buNone/>
            </a:pPr>
            <a:r>
              <a:rPr lang="en-US" altLang="en-US" sz="2600" b="1">
                <a:latin typeface="Tahoma" panose="020B0604030504040204" pitchFamily="34" charset="0"/>
              </a:rPr>
              <a:t>            bot = middle+1;</a:t>
            </a:r>
          </a:p>
          <a:p>
            <a:pPr>
              <a:spcBef>
                <a:spcPct val="0"/>
              </a:spcBef>
              <a:buFontTx/>
              <a:buNone/>
            </a:pP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   return -1;</a:t>
            </a:r>
          </a:p>
          <a:p>
            <a:pPr>
              <a:spcBef>
                <a:spcPct val="0"/>
              </a:spcBef>
              <a:buFontTx/>
              <a:buNone/>
            </a:pPr>
            <a:r>
              <a:rPr lang="en-US" altLang="en-US" sz="2600" b="1">
                <a:latin typeface="Tahoma" panose="020B0604030504040204" pitchFamily="34" charset="0"/>
              </a:rPr>
              <a:t>}</a:t>
            </a:r>
          </a:p>
        </p:txBody>
      </p:sp>
      <p:sp>
        <p:nvSpPr>
          <p:cNvPr id="37892" name="WordArt 5">
            <a:extLst>
              <a:ext uri="{FF2B5EF4-FFF2-40B4-BE49-F238E27FC236}">
                <a16:creationId xmlns:a16="http://schemas.microsoft.com/office/drawing/2014/main" id="{FD915B07-BE9C-6015-3108-1DF105CCF8A1}"/>
              </a:ext>
            </a:extLst>
          </p:cNvPr>
          <p:cNvSpPr>
            <a:spLocks noChangeArrowheads="1" noChangeShapeType="1" noTextEdit="1"/>
          </p:cNvSpPr>
          <p:nvPr/>
        </p:nvSpPr>
        <p:spPr bwMode="auto">
          <a:xfrm>
            <a:off x="5334000" y="4648200"/>
            <a:ext cx="3505200" cy="1752600"/>
          </a:xfrm>
          <a:prstGeom prst="rect">
            <a:avLst/>
          </a:prstGeom>
        </p:spPr>
        <p:txBody>
          <a:bodyPr wrap="none" fromWordArt="1">
            <a:prstTxWarp prst="textPlain">
              <a:avLst>
                <a:gd name="adj" fmla="val 50000"/>
              </a:avLst>
            </a:prstTxWarp>
          </a:bodyPr>
          <a:lstStyle/>
          <a:p>
            <a:pPr algn="ctr">
              <a:defRPr/>
            </a:pPr>
            <a:r>
              <a:rPr lang="en-US" sz="3600" kern="10" dirty="0" err="1">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binarySearch</a:t>
            </a:r>
            <a:endParaRPr lang="en-US" sz="3600" kern="10" dirty="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endParaRPr>
          </a:p>
          <a:p>
            <a:pPr algn="ctr">
              <a:defRPr/>
            </a:pPr>
            <a:r>
              <a:rPr lang="en-US" sz="3600" kern="10" dirty="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With</a:t>
            </a:r>
          </a:p>
          <a:p>
            <a:pPr algn="ctr">
              <a:defRPr/>
            </a:pPr>
            <a:r>
              <a:rPr lang="en-US" sz="3600" kern="10" dirty="0">
                <a:ln w="9525">
                  <a:solidFill>
                    <a:srgbClr val="FFFF00"/>
                  </a:solidFill>
                  <a:round/>
                  <a:headEnd/>
                  <a:tailEnd/>
                </a:ln>
                <a:solidFill>
                  <a:srgbClr val="FF6600"/>
                </a:solidFill>
                <a:effectLst>
                  <a:outerShdw dist="35921" dir="2700000" algn="ctr" rotWithShape="0">
                    <a:srgbClr val="C0C0C0"/>
                  </a:outerShdw>
                </a:effectLst>
                <a:latin typeface="Impact" panose="020B0806030902050204" pitchFamily="34" charset="0"/>
              </a:rPr>
              <a:t>Primitives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a:extLst>
              <a:ext uri="{FF2B5EF4-FFF2-40B4-BE49-F238E27FC236}">
                <a16:creationId xmlns:a16="http://schemas.microsoft.com/office/drawing/2014/main" id="{2F5BA7D7-169A-D9B2-2E7B-84A0B0E136BF}"/>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39939" name="Text Box 4">
            <a:extLst>
              <a:ext uri="{FF2B5EF4-FFF2-40B4-BE49-F238E27FC236}">
                <a16:creationId xmlns:a16="http://schemas.microsoft.com/office/drawing/2014/main" id="{5F9ED247-C531-5B6A-1EFB-E694A22E9444}"/>
              </a:ext>
            </a:extLst>
          </p:cNvPr>
          <p:cNvSpPr txBox="1">
            <a:spLocks noChangeArrowheads="1"/>
          </p:cNvSpPr>
          <p:nvPr/>
        </p:nvSpPr>
        <p:spPr bwMode="auto">
          <a:xfrm>
            <a:off x="152400" y="236538"/>
            <a:ext cx="8915400" cy="6494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00" b="1">
                <a:latin typeface="Tahoma" panose="020B0604030504040204" pitchFamily="34" charset="0"/>
              </a:rPr>
              <a:t>int binarySearch(</a:t>
            </a:r>
            <a:r>
              <a:rPr lang="en-US" altLang="en-US" sz="2600" b="1">
                <a:solidFill>
                  <a:srgbClr val="FF3300"/>
                </a:solidFill>
                <a:latin typeface="Tahoma" panose="020B0604030504040204" pitchFamily="34" charset="0"/>
              </a:rPr>
              <a:t>Comparable</a:t>
            </a:r>
            <a:r>
              <a:rPr lang="en-US" altLang="en-US" sz="2600" b="1">
                <a:latin typeface="Tahoma" panose="020B0604030504040204" pitchFamily="34" charset="0"/>
              </a:rPr>
              <a:t>[] list, int toFind)</a:t>
            </a:r>
          </a:p>
          <a:p>
            <a:pPr>
              <a:spcBef>
                <a:spcPct val="0"/>
              </a:spcBef>
              <a:buFontTx/>
              <a:buNone/>
            </a:pPr>
            <a:r>
              <a:rPr lang="en-US" altLang="en-US" sz="2600" b="1">
                <a:latin typeface="Tahoma" panose="020B0604030504040204" pitchFamily="34" charset="0"/>
              </a:rPr>
              <a:t>{</a:t>
            </a:r>
          </a:p>
          <a:p>
            <a:pPr>
              <a:spcBef>
                <a:spcPct val="0"/>
              </a:spcBef>
              <a:buFontTx/>
              <a:buNone/>
            </a:pPr>
            <a:r>
              <a:rPr lang="en-US" altLang="en-US" sz="2600" b="1">
                <a:latin typeface="Tahoma" panose="020B0604030504040204" pitchFamily="34" charset="0"/>
              </a:rPr>
              <a:t>   int bot = 0, top = list.length-1;</a:t>
            </a:r>
          </a:p>
          <a:p>
            <a:pPr>
              <a:spcBef>
                <a:spcPct val="0"/>
              </a:spcBef>
              <a:buFontTx/>
              <a:buNone/>
            </a:pPr>
            <a:r>
              <a:rPr lang="en-US" altLang="en-US" sz="2600" b="1">
                <a:latin typeface="Tahoma" panose="020B0604030504040204" pitchFamily="34" charset="0"/>
              </a:rPr>
              <a:t>   while(bot&lt;=top)  </a:t>
            </a:r>
          </a:p>
          <a:p>
            <a:pPr>
              <a:spcBef>
                <a:spcPct val="0"/>
              </a:spcBef>
              <a:buFontTx/>
              <a:buNone/>
            </a:pP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      int middle = (bot + top) / 2;</a:t>
            </a:r>
          </a:p>
          <a:p>
            <a:pPr>
              <a:spcBef>
                <a:spcPct val="0"/>
              </a:spcBef>
              <a:buFontTx/>
              <a:buNone/>
            </a:pPr>
            <a:r>
              <a:rPr lang="en-US" altLang="en-US" sz="2600" b="1">
                <a:latin typeface="Tahoma" panose="020B0604030504040204" pitchFamily="34" charset="0"/>
              </a:rPr>
              <a:t>      if (</a:t>
            </a:r>
            <a:r>
              <a:rPr lang="en-US" altLang="en-US" sz="2600" b="1">
                <a:solidFill>
                  <a:srgbClr val="7030A0"/>
                </a:solidFill>
                <a:latin typeface="Tahoma" panose="020B0604030504040204" pitchFamily="34" charset="0"/>
              </a:rPr>
              <a:t>list[middle].</a:t>
            </a:r>
            <a:r>
              <a:rPr lang="en-US" altLang="en-US" sz="2600" b="1">
                <a:solidFill>
                  <a:srgbClr val="FF3300"/>
                </a:solidFill>
                <a:latin typeface="Tahoma" panose="020B0604030504040204" pitchFamily="34" charset="0"/>
              </a:rPr>
              <a:t>equals</a:t>
            </a:r>
            <a:r>
              <a:rPr lang="en-US" altLang="en-US" sz="2600" b="1">
                <a:solidFill>
                  <a:srgbClr val="7030A0"/>
                </a:solidFill>
                <a:latin typeface="Tahoma" panose="020B0604030504040204" pitchFamily="34" charset="0"/>
              </a:rPr>
              <a:t>(toFind)</a:t>
            </a: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         return middle;</a:t>
            </a:r>
          </a:p>
          <a:p>
            <a:pPr>
              <a:spcBef>
                <a:spcPct val="0"/>
              </a:spcBef>
              <a:buFontTx/>
              <a:buNone/>
            </a:pPr>
            <a:r>
              <a:rPr lang="en-US" altLang="en-US" sz="2600" b="1">
                <a:latin typeface="Tahoma" panose="020B0604030504040204" pitchFamily="34" charset="0"/>
              </a:rPr>
              <a:t>      else</a:t>
            </a:r>
          </a:p>
          <a:p>
            <a:pPr>
              <a:spcBef>
                <a:spcPct val="0"/>
              </a:spcBef>
              <a:buFontTx/>
              <a:buNone/>
            </a:pPr>
            <a:r>
              <a:rPr lang="en-US" altLang="en-US" sz="2600" b="1">
                <a:latin typeface="Tahoma" panose="020B0604030504040204" pitchFamily="34" charset="0"/>
              </a:rPr>
              <a:t>         if (</a:t>
            </a:r>
            <a:r>
              <a:rPr lang="en-US" altLang="en-US" sz="2600" b="1">
                <a:solidFill>
                  <a:srgbClr val="7030A0"/>
                </a:solidFill>
                <a:latin typeface="Tahoma" panose="020B0604030504040204" pitchFamily="34" charset="0"/>
              </a:rPr>
              <a:t>toFind.</a:t>
            </a:r>
            <a:r>
              <a:rPr lang="en-US" altLang="en-US" sz="2600" b="1">
                <a:solidFill>
                  <a:srgbClr val="FF3300"/>
                </a:solidFill>
                <a:latin typeface="Tahoma" panose="020B0604030504040204" pitchFamily="34" charset="0"/>
              </a:rPr>
              <a:t>compareTo</a:t>
            </a:r>
            <a:r>
              <a:rPr lang="en-US" altLang="en-US" sz="2600" b="1">
                <a:solidFill>
                  <a:srgbClr val="7030A0"/>
                </a:solidFill>
                <a:latin typeface="Tahoma" panose="020B0604030504040204" pitchFamily="34" charset="0"/>
              </a:rPr>
              <a:t>(list[middle]) </a:t>
            </a:r>
            <a:r>
              <a:rPr lang="en-US" altLang="en-US" sz="2600" b="1">
                <a:solidFill>
                  <a:srgbClr val="FF3300"/>
                </a:solidFill>
                <a:latin typeface="Tahoma" panose="020B0604030504040204" pitchFamily="34" charset="0"/>
              </a:rPr>
              <a:t>&lt; 0</a:t>
            </a:r>
            <a:r>
              <a:rPr lang="en-US" altLang="en-US" sz="2600" b="1">
                <a:latin typeface="Tahoma" panose="020B0604030504040204" pitchFamily="34" charset="0"/>
              </a:rPr>
              <a:t>)</a:t>
            </a:r>
          </a:p>
          <a:p>
            <a:pPr>
              <a:spcBef>
                <a:spcPct val="0"/>
              </a:spcBef>
              <a:buFontTx/>
              <a:buNone/>
            </a:pPr>
            <a:r>
              <a:rPr lang="en-US" altLang="en-US" sz="2600" b="1">
                <a:latin typeface="Tahoma" panose="020B0604030504040204" pitchFamily="34" charset="0"/>
              </a:rPr>
              <a:t>            top = middle-1;</a:t>
            </a:r>
          </a:p>
          <a:p>
            <a:pPr>
              <a:spcBef>
                <a:spcPct val="0"/>
              </a:spcBef>
              <a:buFontTx/>
              <a:buNone/>
            </a:pPr>
            <a:r>
              <a:rPr lang="en-US" altLang="en-US" sz="2600" b="1">
                <a:latin typeface="Tahoma" panose="020B0604030504040204" pitchFamily="34" charset="0"/>
              </a:rPr>
              <a:t>         else</a:t>
            </a:r>
          </a:p>
          <a:p>
            <a:pPr>
              <a:spcBef>
                <a:spcPct val="0"/>
              </a:spcBef>
              <a:buFontTx/>
              <a:buNone/>
            </a:pPr>
            <a:r>
              <a:rPr lang="en-US" altLang="en-US" sz="2600" b="1">
                <a:latin typeface="Tahoma" panose="020B0604030504040204" pitchFamily="34" charset="0"/>
              </a:rPr>
              <a:t>            bot = middle+1;</a:t>
            </a:r>
          </a:p>
          <a:p>
            <a:pPr>
              <a:spcBef>
                <a:spcPct val="0"/>
              </a:spcBef>
              <a:buFontTx/>
              <a:buNone/>
            </a:pP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   return -1;</a:t>
            </a:r>
          </a:p>
          <a:p>
            <a:pPr>
              <a:spcBef>
                <a:spcPct val="0"/>
              </a:spcBef>
              <a:buFontTx/>
              <a:buNone/>
            </a:pPr>
            <a:r>
              <a:rPr lang="en-US" altLang="en-US" sz="2600" b="1">
                <a:latin typeface="Tahoma" panose="020B0604030504040204" pitchFamily="34" charset="0"/>
              </a:rPr>
              <a:t>}</a:t>
            </a:r>
          </a:p>
        </p:txBody>
      </p:sp>
      <p:sp>
        <p:nvSpPr>
          <p:cNvPr id="39940" name="WordArt 5">
            <a:extLst>
              <a:ext uri="{FF2B5EF4-FFF2-40B4-BE49-F238E27FC236}">
                <a16:creationId xmlns:a16="http://schemas.microsoft.com/office/drawing/2014/main" id="{7DFB0FD2-5BC5-5FC5-ECF9-6232269CFF43}"/>
              </a:ext>
            </a:extLst>
          </p:cNvPr>
          <p:cNvSpPr>
            <a:spLocks noChangeArrowheads="1" noChangeShapeType="1" noTextEdit="1"/>
          </p:cNvSpPr>
          <p:nvPr/>
        </p:nvSpPr>
        <p:spPr bwMode="auto">
          <a:xfrm>
            <a:off x="5334000" y="4648200"/>
            <a:ext cx="3352800" cy="1600200"/>
          </a:xfrm>
          <a:prstGeom prst="rect">
            <a:avLst/>
          </a:prstGeom>
        </p:spPr>
        <p:txBody>
          <a:bodyPr wrap="none" fromWordArt="1">
            <a:prstTxWarp prst="textPlain">
              <a:avLst>
                <a:gd name="adj" fmla="val 50000"/>
              </a:avLst>
            </a:prstTxWarp>
          </a:bodyPr>
          <a:lstStyle/>
          <a:p>
            <a:pPr algn="ctr">
              <a:defRPr/>
            </a:pPr>
            <a:r>
              <a:rPr lang="en-US" sz="3600" kern="10" dirty="0" err="1">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binarySearch</a:t>
            </a:r>
            <a:endParaRPr lang="en-US" sz="3600" kern="10" dirty="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endParaRPr>
          </a:p>
          <a:p>
            <a:pPr algn="ctr">
              <a:defRPr/>
            </a:pPr>
            <a:r>
              <a:rPr lang="en-US" sz="3600" kern="10" dirty="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With</a:t>
            </a:r>
          </a:p>
          <a:p>
            <a:pPr algn="ctr">
              <a:defRPr/>
            </a:pPr>
            <a:r>
              <a:rPr lang="en-US" sz="3600" kern="10" dirty="0">
                <a:ln w="9525">
                  <a:solidFill>
                    <a:srgbClr val="FFFF00"/>
                  </a:solidFill>
                  <a:round/>
                  <a:headEnd/>
                  <a:tailEnd/>
                </a:ln>
                <a:solidFill>
                  <a:schemeClr val="accent1">
                    <a:lumMod val="50000"/>
                  </a:schemeClr>
                </a:solidFill>
                <a:effectLst>
                  <a:outerShdw dist="35921" dir="2700000" algn="ctr" rotWithShape="0">
                    <a:srgbClr val="C0C0C0"/>
                  </a:outerShdw>
                </a:effectLst>
                <a:latin typeface="Impact" panose="020B0806030902050204" pitchFamily="34" charset="0"/>
              </a:rPr>
              <a:t>Objects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a:extLst>
              <a:ext uri="{FF2B5EF4-FFF2-40B4-BE49-F238E27FC236}">
                <a16:creationId xmlns:a16="http://schemas.microsoft.com/office/drawing/2014/main" id="{C6DEDE7B-F409-FB7F-2C0B-A26C8F6B37CF}"/>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37891" name="Text Box 4">
            <a:extLst>
              <a:ext uri="{FF2B5EF4-FFF2-40B4-BE49-F238E27FC236}">
                <a16:creationId xmlns:a16="http://schemas.microsoft.com/office/drawing/2014/main" id="{9CB2DCBA-0A5D-DD9D-12A8-4F4E007655BF}"/>
              </a:ext>
            </a:extLst>
          </p:cNvPr>
          <p:cNvSpPr txBox="1">
            <a:spLocks noChangeArrowheads="1"/>
          </p:cNvSpPr>
          <p:nvPr/>
        </p:nvSpPr>
        <p:spPr bwMode="auto">
          <a:xfrm>
            <a:off x="574675" y="236538"/>
            <a:ext cx="7467600" cy="644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defRPr/>
            </a:pPr>
            <a:r>
              <a:rPr lang="en-US" altLang="en-US" sz="2600" b="1" dirty="0">
                <a:latin typeface="Tahoma" panose="020B0604030504040204" pitchFamily="34" charset="0"/>
              </a:rPr>
              <a:t>public </a:t>
            </a:r>
            <a:r>
              <a:rPr lang="en-US" altLang="en-US" sz="2600" b="1" dirty="0" err="1">
                <a:latin typeface="Tahoma" panose="020B0604030504040204" pitchFamily="34" charset="0"/>
              </a:rPr>
              <a:t>int</a:t>
            </a:r>
            <a:r>
              <a:rPr lang="en-US" altLang="en-US" sz="2600" b="1" dirty="0">
                <a:latin typeface="Tahoma" panose="020B0604030504040204" pitchFamily="34" charset="0"/>
              </a:rPr>
              <a:t> </a:t>
            </a:r>
            <a:r>
              <a:rPr lang="en-US" altLang="en-US" sz="2600" b="1" dirty="0" err="1">
                <a:latin typeface="Tahoma" panose="020B0604030504040204" pitchFamily="34" charset="0"/>
              </a:rPr>
              <a:t>binarySearch</a:t>
            </a:r>
            <a:r>
              <a:rPr lang="en-US" altLang="en-US" sz="2600" b="1" dirty="0">
                <a:latin typeface="Tahoma" panose="020B0604030504040204" pitchFamily="34" charset="0"/>
              </a:rPr>
              <a:t>(</a:t>
            </a:r>
            <a:r>
              <a:rPr lang="en-US" altLang="en-US" sz="2600" b="1" dirty="0" err="1">
                <a:latin typeface="Tahoma" panose="020B0604030504040204" pitchFamily="34" charset="0"/>
              </a:rPr>
              <a:t>int</a:t>
            </a:r>
            <a:r>
              <a:rPr lang="en-US" altLang="en-US" sz="2600" b="1" dirty="0">
                <a:latin typeface="Tahoma" panose="020B0604030504040204" pitchFamily="34" charset="0"/>
              </a:rPr>
              <a:t>[] list, </a:t>
            </a:r>
            <a:r>
              <a:rPr lang="en-US" altLang="en-US" sz="2600" b="1" dirty="0" err="1">
                <a:latin typeface="Tahoma" panose="020B0604030504040204" pitchFamily="34" charset="0"/>
              </a:rPr>
              <a:t>int</a:t>
            </a:r>
            <a:r>
              <a:rPr lang="en-US" altLang="en-US" sz="2600" b="1" dirty="0">
                <a:latin typeface="Tahoma" panose="020B0604030504040204" pitchFamily="34" charset="0"/>
              </a:rPr>
              <a:t> </a:t>
            </a:r>
            <a:r>
              <a:rPr lang="en-US" altLang="en-US" sz="2600" b="1" dirty="0" err="1">
                <a:latin typeface="Tahoma" panose="020B0604030504040204" pitchFamily="34" charset="0"/>
              </a:rPr>
              <a:t>toFind</a:t>
            </a:r>
            <a:r>
              <a:rPr lang="en-US" altLang="en-US" sz="2600" b="1" dirty="0">
                <a:latin typeface="Tahoma" panose="020B0604030504040204" pitchFamily="34" charset="0"/>
              </a:rPr>
              <a:t>)</a:t>
            </a:r>
          </a:p>
          <a:p>
            <a:pPr>
              <a:spcBef>
                <a:spcPct val="0"/>
              </a:spcBef>
              <a:buFontTx/>
              <a:buNone/>
              <a:defRPr/>
            </a:pPr>
            <a:r>
              <a:rPr lang="en-US" altLang="en-US" sz="2600" b="1" dirty="0">
                <a:latin typeface="Tahoma" panose="020B0604030504040204" pitchFamily="34" charset="0"/>
              </a:rPr>
              <a:t>{</a:t>
            </a:r>
          </a:p>
          <a:p>
            <a:pPr>
              <a:spcBef>
                <a:spcPct val="0"/>
              </a:spcBef>
              <a:buFontTx/>
              <a:buNone/>
              <a:defRPr/>
            </a:pPr>
            <a:r>
              <a:rPr lang="en-US" altLang="en-US" sz="2600" b="1" dirty="0">
                <a:latin typeface="Tahoma" panose="020B0604030504040204" pitchFamily="34" charset="0"/>
              </a:rPr>
              <a:t>   </a:t>
            </a:r>
            <a:r>
              <a:rPr lang="en-US" altLang="en-US" sz="2600" b="1" dirty="0" err="1">
                <a:latin typeface="Tahoma" panose="020B0604030504040204" pitchFamily="34" charset="0"/>
              </a:rPr>
              <a:t>int</a:t>
            </a:r>
            <a:r>
              <a:rPr lang="en-US" altLang="en-US" sz="2600" b="1" dirty="0">
                <a:latin typeface="Tahoma" panose="020B0604030504040204" pitchFamily="34" charset="0"/>
              </a:rPr>
              <a:t> </a:t>
            </a:r>
            <a:r>
              <a:rPr lang="en-US" altLang="en-US" sz="2600" b="1" dirty="0">
                <a:solidFill>
                  <a:srgbClr val="7030A0"/>
                </a:solidFill>
                <a:latin typeface="Tahoma" panose="020B0604030504040204" pitchFamily="34" charset="0"/>
              </a:rPr>
              <a:t>bot = 0</a:t>
            </a:r>
            <a:r>
              <a:rPr lang="en-US" altLang="en-US" sz="2600" b="1" dirty="0">
                <a:latin typeface="Tahoma" panose="020B0604030504040204" pitchFamily="34" charset="0"/>
              </a:rPr>
              <a:t>, </a:t>
            </a:r>
            <a:r>
              <a:rPr lang="en-US" altLang="en-US" sz="2600" b="1" dirty="0">
                <a:solidFill>
                  <a:srgbClr val="7030A0"/>
                </a:solidFill>
                <a:latin typeface="Tahoma" panose="020B0604030504040204" pitchFamily="34" charset="0"/>
              </a:rPr>
              <a:t>top = list.length-1</a:t>
            </a:r>
            <a:r>
              <a:rPr lang="en-US" altLang="en-US" sz="2600" b="1" dirty="0">
                <a:latin typeface="Tahoma" panose="020B0604030504040204" pitchFamily="34" charset="0"/>
              </a:rPr>
              <a:t>;</a:t>
            </a:r>
          </a:p>
          <a:p>
            <a:pPr>
              <a:spcBef>
                <a:spcPct val="0"/>
              </a:spcBef>
              <a:buFontTx/>
              <a:buNone/>
              <a:defRPr/>
            </a:pPr>
            <a:r>
              <a:rPr lang="en-US" altLang="en-US" sz="2600" b="1" dirty="0">
                <a:latin typeface="Tahoma" panose="020B0604030504040204" pitchFamily="34" charset="0"/>
              </a:rPr>
              <a:t>   </a:t>
            </a:r>
            <a:r>
              <a:rPr lang="en-US" altLang="en-US" sz="2600" b="1" dirty="0">
                <a:solidFill>
                  <a:srgbClr val="C00000"/>
                </a:solidFill>
                <a:latin typeface="Tahoma" panose="020B0604030504040204" pitchFamily="34" charset="0"/>
              </a:rPr>
              <a:t>while</a:t>
            </a:r>
            <a:r>
              <a:rPr lang="en-US" altLang="en-US" sz="2600" b="1" dirty="0">
                <a:latin typeface="Tahoma" panose="020B0604030504040204" pitchFamily="34" charset="0"/>
              </a:rPr>
              <a:t>(bot&lt;=top)  </a:t>
            </a:r>
          </a:p>
          <a:p>
            <a:pPr>
              <a:spcBef>
                <a:spcPct val="0"/>
              </a:spcBef>
              <a:buFontTx/>
              <a:buNone/>
              <a:defRPr/>
            </a:pPr>
            <a:r>
              <a:rPr lang="en-US" altLang="en-US" sz="2600" b="1" dirty="0">
                <a:latin typeface="Tahoma" panose="020B0604030504040204" pitchFamily="34" charset="0"/>
              </a:rPr>
              <a:t>   {</a:t>
            </a:r>
          </a:p>
          <a:p>
            <a:pPr>
              <a:spcBef>
                <a:spcPct val="0"/>
              </a:spcBef>
              <a:buFontTx/>
              <a:buNone/>
              <a:defRPr/>
            </a:pPr>
            <a:r>
              <a:rPr lang="en-US" altLang="en-US" sz="2600" b="1" dirty="0">
                <a:latin typeface="Tahoma" panose="020B0604030504040204" pitchFamily="34" charset="0"/>
              </a:rPr>
              <a:t>      </a:t>
            </a:r>
            <a:r>
              <a:rPr lang="en-US" altLang="en-US" sz="2600" b="1" dirty="0" err="1">
                <a:latin typeface="Tahoma" panose="020B0604030504040204" pitchFamily="34" charset="0"/>
              </a:rPr>
              <a:t>int</a:t>
            </a:r>
            <a:r>
              <a:rPr lang="en-US" altLang="en-US" sz="2600" b="1" dirty="0">
                <a:latin typeface="Tahoma" panose="020B0604030504040204" pitchFamily="34" charset="0"/>
              </a:rPr>
              <a:t> middle = (bot + top) / 2;</a:t>
            </a:r>
          </a:p>
          <a:p>
            <a:pPr>
              <a:spcBef>
                <a:spcPct val="0"/>
              </a:spcBef>
              <a:buFontTx/>
              <a:buNone/>
              <a:defRPr/>
            </a:pPr>
            <a:r>
              <a:rPr lang="en-US" altLang="en-US" sz="2600" b="1" dirty="0">
                <a:latin typeface="Tahoma" panose="020B0604030504040204" pitchFamily="34" charset="0"/>
              </a:rPr>
              <a:t>      if (</a:t>
            </a:r>
            <a:r>
              <a:rPr lang="en-US" altLang="en-US" sz="2600" b="1" dirty="0">
                <a:solidFill>
                  <a:srgbClr val="7030A0"/>
                </a:solidFill>
                <a:latin typeface="Tahoma" panose="020B0604030504040204" pitchFamily="34" charset="0"/>
              </a:rPr>
              <a:t>list[middle] == </a:t>
            </a:r>
            <a:r>
              <a:rPr lang="en-US" altLang="en-US" sz="2600" b="1" dirty="0" err="1">
                <a:solidFill>
                  <a:srgbClr val="7030A0"/>
                </a:solidFill>
                <a:latin typeface="Tahoma" panose="020B0604030504040204" pitchFamily="34" charset="0"/>
              </a:rPr>
              <a:t>toFind</a:t>
            </a:r>
            <a:r>
              <a:rPr lang="en-US" altLang="en-US" sz="2600" b="1" dirty="0">
                <a:latin typeface="Tahoma" panose="020B0604030504040204" pitchFamily="34" charset="0"/>
              </a:rPr>
              <a:t>)  </a:t>
            </a:r>
          </a:p>
          <a:p>
            <a:pPr>
              <a:spcBef>
                <a:spcPct val="0"/>
              </a:spcBef>
              <a:buFontTx/>
              <a:buNone/>
              <a:defRPr/>
            </a:pPr>
            <a:r>
              <a:rPr lang="en-US" altLang="en-US" sz="2600" b="1" dirty="0">
                <a:solidFill>
                  <a:schemeClr val="accent1">
                    <a:lumMod val="50000"/>
                  </a:schemeClr>
                </a:solidFill>
                <a:latin typeface="Tahoma" panose="020B0604030504040204" pitchFamily="34" charset="0"/>
              </a:rPr>
              <a:t>         return middle;</a:t>
            </a:r>
          </a:p>
          <a:p>
            <a:pPr>
              <a:spcBef>
                <a:spcPct val="0"/>
              </a:spcBef>
              <a:buFontTx/>
              <a:buNone/>
              <a:defRPr/>
            </a:pPr>
            <a:r>
              <a:rPr lang="en-US" altLang="en-US" sz="2600" b="1" dirty="0">
                <a:latin typeface="Tahoma" panose="020B0604030504040204" pitchFamily="34" charset="0"/>
              </a:rPr>
              <a:t>      else</a:t>
            </a:r>
          </a:p>
          <a:p>
            <a:pPr>
              <a:spcBef>
                <a:spcPct val="0"/>
              </a:spcBef>
              <a:buFontTx/>
              <a:buNone/>
              <a:defRPr/>
            </a:pPr>
            <a:r>
              <a:rPr lang="en-US" altLang="en-US" sz="2600" b="1" dirty="0">
                <a:latin typeface="Tahoma" panose="020B0604030504040204" pitchFamily="34" charset="0"/>
              </a:rPr>
              <a:t>         if (</a:t>
            </a:r>
            <a:r>
              <a:rPr lang="en-US" altLang="en-US" sz="2600" b="1" dirty="0" err="1">
                <a:solidFill>
                  <a:srgbClr val="7030A0"/>
                </a:solidFill>
                <a:latin typeface="Tahoma" panose="020B0604030504040204" pitchFamily="34" charset="0"/>
              </a:rPr>
              <a:t>toFind</a:t>
            </a:r>
            <a:r>
              <a:rPr lang="en-US" altLang="en-US" sz="2600" b="1" dirty="0">
                <a:solidFill>
                  <a:srgbClr val="7030A0"/>
                </a:solidFill>
                <a:latin typeface="Tahoma" panose="020B0604030504040204" pitchFamily="34" charset="0"/>
              </a:rPr>
              <a:t> &lt; list[middle]</a:t>
            </a:r>
            <a:r>
              <a:rPr lang="en-US" altLang="en-US" sz="2600" b="1" dirty="0">
                <a:latin typeface="Tahoma" panose="020B0604030504040204" pitchFamily="34" charset="0"/>
              </a:rPr>
              <a:t>)</a:t>
            </a:r>
          </a:p>
          <a:p>
            <a:pPr>
              <a:spcBef>
                <a:spcPct val="0"/>
              </a:spcBef>
              <a:buFontTx/>
              <a:buNone/>
              <a:defRPr/>
            </a:pPr>
            <a:r>
              <a:rPr lang="en-US" altLang="en-US" sz="2600" b="1" dirty="0">
                <a:solidFill>
                  <a:srgbClr val="0000FF"/>
                </a:solidFill>
                <a:latin typeface="Tahoma" panose="020B0604030504040204" pitchFamily="34" charset="0"/>
              </a:rPr>
              <a:t>            top = middle-1;</a:t>
            </a:r>
          </a:p>
          <a:p>
            <a:pPr>
              <a:spcBef>
                <a:spcPct val="0"/>
              </a:spcBef>
              <a:buFontTx/>
              <a:buNone/>
              <a:defRPr/>
            </a:pPr>
            <a:r>
              <a:rPr lang="en-US" altLang="en-US" sz="2600" b="1" dirty="0">
                <a:latin typeface="Tahoma" panose="020B0604030504040204" pitchFamily="34" charset="0"/>
              </a:rPr>
              <a:t>         else</a:t>
            </a:r>
          </a:p>
          <a:p>
            <a:pPr>
              <a:spcBef>
                <a:spcPct val="0"/>
              </a:spcBef>
              <a:buFontTx/>
              <a:buNone/>
              <a:defRPr/>
            </a:pPr>
            <a:r>
              <a:rPr lang="en-US" altLang="en-US" sz="2600" b="1" dirty="0">
                <a:solidFill>
                  <a:srgbClr val="0000FF"/>
                </a:solidFill>
                <a:latin typeface="Tahoma" panose="020B0604030504040204" pitchFamily="34" charset="0"/>
              </a:rPr>
              <a:t>            bot = middle+1;</a:t>
            </a:r>
          </a:p>
          <a:p>
            <a:pPr>
              <a:spcBef>
                <a:spcPct val="0"/>
              </a:spcBef>
              <a:buFontTx/>
              <a:buNone/>
              <a:defRPr/>
            </a:pPr>
            <a:r>
              <a:rPr lang="en-US" altLang="en-US" sz="2600" b="1" dirty="0">
                <a:latin typeface="Tahoma" panose="020B0604030504040204" pitchFamily="34" charset="0"/>
              </a:rPr>
              <a:t>   }</a:t>
            </a:r>
          </a:p>
          <a:p>
            <a:pPr>
              <a:spcBef>
                <a:spcPct val="0"/>
              </a:spcBef>
              <a:buFontTx/>
              <a:buNone/>
              <a:defRPr/>
            </a:pPr>
            <a:r>
              <a:rPr lang="en-US" altLang="en-US" sz="2600" b="1" dirty="0">
                <a:latin typeface="Tahoma" panose="020B0604030504040204" pitchFamily="34" charset="0"/>
              </a:rPr>
              <a:t>   return -1;</a:t>
            </a:r>
          </a:p>
          <a:p>
            <a:pPr>
              <a:spcBef>
                <a:spcPct val="0"/>
              </a:spcBef>
              <a:buFontTx/>
              <a:buNone/>
              <a:defRPr/>
            </a:pPr>
            <a:r>
              <a:rPr lang="en-US" altLang="en-US" sz="2600" b="1" dirty="0">
                <a:latin typeface="Tahoma" panose="020B0604030504040204" pitchFamily="34" charset="0"/>
              </a:rPr>
              <a:t>}</a:t>
            </a:r>
          </a:p>
        </p:txBody>
      </p:sp>
      <p:sp>
        <p:nvSpPr>
          <p:cNvPr id="37892" name="WordArt 5">
            <a:extLst>
              <a:ext uri="{FF2B5EF4-FFF2-40B4-BE49-F238E27FC236}">
                <a16:creationId xmlns:a16="http://schemas.microsoft.com/office/drawing/2014/main" id="{D30D6E67-FA79-5098-1C77-FBB9C7A1B40C}"/>
              </a:ext>
            </a:extLst>
          </p:cNvPr>
          <p:cNvSpPr>
            <a:spLocks noChangeArrowheads="1" noChangeShapeType="1" noTextEdit="1"/>
          </p:cNvSpPr>
          <p:nvPr/>
        </p:nvSpPr>
        <p:spPr bwMode="auto">
          <a:xfrm>
            <a:off x="5334000" y="4648200"/>
            <a:ext cx="3276600" cy="1371600"/>
          </a:xfrm>
          <a:prstGeom prst="rect">
            <a:avLst/>
          </a:prstGeom>
        </p:spPr>
        <p:txBody>
          <a:bodyPr wrap="none" fromWordArt="1">
            <a:prstTxWarp prst="textPlain">
              <a:avLst>
                <a:gd name="adj" fmla="val 50000"/>
              </a:avLst>
            </a:prstTxWarp>
          </a:bodyPr>
          <a:lstStyle/>
          <a:p>
            <a:pPr algn="ctr">
              <a:defRPr/>
            </a:pPr>
            <a:r>
              <a:rPr lang="en-US" sz="3600" kern="10" dirty="0">
                <a:ln w="9525">
                  <a:solidFill>
                    <a:srgbClr val="FFFF00"/>
                  </a:solidFill>
                  <a:round/>
                  <a:headEnd/>
                  <a:tailEnd/>
                </a:ln>
                <a:effectLst>
                  <a:outerShdw dist="35921" dir="2700000" algn="ctr" rotWithShape="0">
                    <a:srgbClr val="C0C0C0"/>
                  </a:outerShdw>
                </a:effectLst>
                <a:latin typeface="Impact" panose="020B0806030902050204" pitchFamily="34" charset="0"/>
              </a:rPr>
              <a:t>Iterative</a:t>
            </a:r>
          </a:p>
          <a:p>
            <a:pPr algn="ctr">
              <a:defRPr/>
            </a:pPr>
            <a:r>
              <a:rPr lang="en-US" sz="3600" kern="10" dirty="0" err="1">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binarySearch</a:t>
            </a:r>
            <a:endParaRPr lang="en-US" sz="3600" kern="10" dirty="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16E27D5-9F0E-336B-92AF-15DFA4605A0B}"/>
              </a:ext>
            </a:extLst>
          </p:cNvPr>
          <p:cNvSpPr/>
          <p:nvPr/>
        </p:nvSpPr>
        <p:spPr>
          <a:xfrm>
            <a:off x="0" y="263525"/>
            <a:ext cx="9144000" cy="5908675"/>
          </a:xfrm>
          <a:prstGeom prst="rect">
            <a:avLst/>
          </a:prstGeom>
        </p:spPr>
        <p:txBody>
          <a:bodyPr>
            <a:spAutoFit/>
          </a:bodyPr>
          <a:lstStyle/>
          <a:p>
            <a:pPr>
              <a:defRPr/>
            </a:pPr>
            <a:r>
              <a:rPr lang="en-US" sz="2100" b="1" dirty="0"/>
              <a:t>public </a:t>
            </a:r>
            <a:r>
              <a:rPr lang="en-US" sz="2100" b="1" dirty="0" err="1"/>
              <a:t>int</a:t>
            </a:r>
            <a:r>
              <a:rPr lang="en-US" sz="2100" b="1" dirty="0"/>
              <a:t> </a:t>
            </a:r>
            <a:r>
              <a:rPr lang="en-US" sz="2100" b="1" dirty="0" err="1"/>
              <a:t>binarySearch</a:t>
            </a:r>
            <a:r>
              <a:rPr lang="en-US" sz="2100" b="1" dirty="0"/>
              <a:t>(</a:t>
            </a:r>
            <a:r>
              <a:rPr lang="en-US" sz="2100" b="1" dirty="0" err="1"/>
              <a:t>int</a:t>
            </a:r>
            <a:r>
              <a:rPr lang="en-US" sz="2100" b="1" dirty="0"/>
              <a:t>[] stuff, </a:t>
            </a:r>
            <a:r>
              <a:rPr lang="en-US" sz="2100" b="1" dirty="0" err="1"/>
              <a:t>int</a:t>
            </a:r>
            <a:r>
              <a:rPr lang="en-US" sz="2100" b="1" dirty="0"/>
              <a:t> </a:t>
            </a:r>
            <a:r>
              <a:rPr lang="en-US" sz="2100" b="1" dirty="0" err="1"/>
              <a:t>toFind</a:t>
            </a:r>
            <a:r>
              <a:rPr lang="en-US" sz="2100" b="1" dirty="0"/>
              <a:t>) </a:t>
            </a:r>
          </a:p>
          <a:p>
            <a:pPr>
              <a:defRPr/>
            </a:pPr>
            <a:r>
              <a:rPr lang="en-US" sz="2100" b="1" dirty="0"/>
              <a:t>{   </a:t>
            </a:r>
          </a:p>
          <a:p>
            <a:pPr>
              <a:defRPr/>
            </a:pPr>
            <a:r>
              <a:rPr lang="en-US" sz="2100" b="1" dirty="0"/>
              <a:t>   return </a:t>
            </a:r>
            <a:r>
              <a:rPr lang="en-US" sz="2100" b="1" dirty="0" err="1"/>
              <a:t>binarySearch</a:t>
            </a:r>
            <a:r>
              <a:rPr lang="en-US" sz="2100" b="1" dirty="0"/>
              <a:t>(stuff, </a:t>
            </a:r>
            <a:r>
              <a:rPr lang="en-US" sz="2100" b="1" dirty="0" err="1"/>
              <a:t>toFind</a:t>
            </a:r>
            <a:r>
              <a:rPr lang="en-US" sz="2100" b="1" dirty="0"/>
              <a:t>, </a:t>
            </a:r>
            <a:r>
              <a:rPr lang="en-US" sz="2100" b="1" dirty="0">
                <a:solidFill>
                  <a:srgbClr val="7030A0"/>
                </a:solidFill>
              </a:rPr>
              <a:t>0</a:t>
            </a:r>
            <a:r>
              <a:rPr lang="en-US" sz="2100" b="1" dirty="0"/>
              <a:t>, </a:t>
            </a:r>
            <a:r>
              <a:rPr lang="en-US" sz="2100" b="1" dirty="0">
                <a:solidFill>
                  <a:srgbClr val="7030A0"/>
                </a:solidFill>
              </a:rPr>
              <a:t>stuff.length-1</a:t>
            </a:r>
            <a:r>
              <a:rPr lang="en-US" sz="2100" b="1" dirty="0"/>
              <a:t>);   </a:t>
            </a:r>
          </a:p>
          <a:p>
            <a:pPr>
              <a:defRPr/>
            </a:pPr>
            <a:r>
              <a:rPr lang="en-US" sz="2100" b="1" dirty="0"/>
              <a:t>}</a:t>
            </a:r>
          </a:p>
          <a:p>
            <a:pPr>
              <a:defRPr/>
            </a:pPr>
            <a:r>
              <a:rPr lang="en-US" sz="2100" b="1" dirty="0"/>
              <a:t>	</a:t>
            </a:r>
          </a:p>
          <a:p>
            <a:pPr>
              <a:defRPr/>
            </a:pPr>
            <a:r>
              <a:rPr lang="en-US" sz="2100" b="1" dirty="0"/>
              <a:t>private </a:t>
            </a:r>
            <a:r>
              <a:rPr lang="en-US" sz="2100" b="1" dirty="0" err="1"/>
              <a:t>int</a:t>
            </a:r>
            <a:r>
              <a:rPr lang="en-US" sz="2100" b="1" dirty="0"/>
              <a:t> </a:t>
            </a:r>
            <a:r>
              <a:rPr lang="en-US" sz="2100" b="1" dirty="0" err="1"/>
              <a:t>binarySearch</a:t>
            </a:r>
            <a:r>
              <a:rPr lang="en-US" sz="2100" b="1" dirty="0"/>
              <a:t>(</a:t>
            </a:r>
            <a:r>
              <a:rPr lang="en-US" sz="2100" b="1" dirty="0" err="1"/>
              <a:t>int</a:t>
            </a:r>
            <a:r>
              <a:rPr lang="en-US" sz="2100" b="1" dirty="0"/>
              <a:t>[] stuff, </a:t>
            </a:r>
            <a:r>
              <a:rPr lang="en-US" sz="2100" b="1" dirty="0" err="1"/>
              <a:t>int</a:t>
            </a:r>
            <a:r>
              <a:rPr lang="en-US" sz="2100" b="1" dirty="0"/>
              <a:t> </a:t>
            </a:r>
            <a:r>
              <a:rPr lang="en-US" sz="2100" b="1" dirty="0" err="1"/>
              <a:t>toFind</a:t>
            </a:r>
            <a:r>
              <a:rPr lang="en-US" sz="2100" b="1" dirty="0"/>
              <a:t>, </a:t>
            </a:r>
            <a:r>
              <a:rPr lang="en-US" sz="2100" b="1" dirty="0" err="1"/>
              <a:t>int</a:t>
            </a:r>
            <a:r>
              <a:rPr lang="en-US" sz="2100" b="1" dirty="0"/>
              <a:t> </a:t>
            </a:r>
            <a:r>
              <a:rPr lang="en-US" sz="2100" b="1" dirty="0">
                <a:solidFill>
                  <a:srgbClr val="7030A0"/>
                </a:solidFill>
              </a:rPr>
              <a:t>bot</a:t>
            </a:r>
            <a:r>
              <a:rPr lang="en-US" sz="2100" b="1" dirty="0"/>
              <a:t>, </a:t>
            </a:r>
            <a:r>
              <a:rPr lang="en-US" sz="2100" b="1" dirty="0" err="1"/>
              <a:t>int</a:t>
            </a:r>
            <a:r>
              <a:rPr lang="en-US" sz="2100" b="1" dirty="0"/>
              <a:t> </a:t>
            </a:r>
            <a:r>
              <a:rPr lang="en-US" sz="2100" b="1" dirty="0">
                <a:solidFill>
                  <a:srgbClr val="7030A0"/>
                </a:solidFill>
              </a:rPr>
              <a:t>top</a:t>
            </a:r>
            <a:r>
              <a:rPr lang="en-US" sz="2100" b="1" dirty="0"/>
              <a:t>)</a:t>
            </a:r>
          </a:p>
          <a:p>
            <a:pPr>
              <a:defRPr/>
            </a:pPr>
            <a:r>
              <a:rPr lang="en-US" sz="2100" b="1" dirty="0"/>
              <a:t>{</a:t>
            </a:r>
          </a:p>
          <a:p>
            <a:pPr>
              <a:defRPr/>
            </a:pPr>
            <a:r>
              <a:rPr lang="en-US" sz="2100" b="1" dirty="0"/>
              <a:t>   </a:t>
            </a:r>
            <a:r>
              <a:rPr lang="en-US" sz="2100" b="1" dirty="0">
                <a:solidFill>
                  <a:srgbClr val="C00000"/>
                </a:solidFill>
              </a:rPr>
              <a:t>if</a:t>
            </a:r>
            <a:r>
              <a:rPr lang="en-US" sz="2100" b="1" dirty="0"/>
              <a:t>(bot&lt;=top) {</a:t>
            </a:r>
          </a:p>
          <a:p>
            <a:pPr>
              <a:defRPr/>
            </a:pPr>
            <a:r>
              <a:rPr lang="en-US" sz="2100" b="1" dirty="0"/>
              <a:t>      </a:t>
            </a:r>
            <a:r>
              <a:rPr lang="en-US" sz="2100" b="1" dirty="0" err="1"/>
              <a:t>int</a:t>
            </a:r>
            <a:r>
              <a:rPr lang="en-US" sz="2100" b="1" dirty="0"/>
              <a:t> middle = (</a:t>
            </a:r>
            <a:r>
              <a:rPr lang="en-US" sz="2100" b="1" dirty="0" err="1"/>
              <a:t>bot+top</a:t>
            </a:r>
            <a:r>
              <a:rPr lang="en-US" sz="2100" b="1" dirty="0"/>
              <a:t>)/2;</a:t>
            </a:r>
          </a:p>
          <a:p>
            <a:pPr>
              <a:defRPr/>
            </a:pPr>
            <a:r>
              <a:rPr lang="en-US" sz="2100" b="1" dirty="0"/>
              <a:t>      if(stuff[middle]== </a:t>
            </a:r>
            <a:r>
              <a:rPr lang="en-US" sz="2100" b="1" dirty="0" err="1"/>
              <a:t>toFind</a:t>
            </a:r>
            <a:r>
              <a:rPr lang="en-US" sz="2100" b="1" dirty="0"/>
              <a:t>) </a:t>
            </a:r>
          </a:p>
          <a:p>
            <a:pPr>
              <a:defRPr/>
            </a:pPr>
            <a:r>
              <a:rPr lang="en-US" sz="2100" b="1" dirty="0">
                <a:solidFill>
                  <a:schemeClr val="accent1">
                    <a:lumMod val="50000"/>
                  </a:schemeClr>
                </a:solidFill>
              </a:rPr>
              <a:t>         return middle;</a:t>
            </a:r>
          </a:p>
          <a:p>
            <a:pPr>
              <a:defRPr/>
            </a:pPr>
            <a:r>
              <a:rPr lang="en-US" sz="2100" b="1" dirty="0"/>
              <a:t>      if(</a:t>
            </a:r>
            <a:r>
              <a:rPr lang="en-US" sz="2100" b="1" dirty="0" err="1"/>
              <a:t>toFind</a:t>
            </a:r>
            <a:r>
              <a:rPr lang="en-US" sz="2100" b="1" dirty="0"/>
              <a:t> &lt; stuff[middle])</a:t>
            </a:r>
          </a:p>
          <a:p>
            <a:pPr>
              <a:defRPr/>
            </a:pPr>
            <a:r>
              <a:rPr lang="en-US" sz="2100" b="1" dirty="0">
                <a:solidFill>
                  <a:srgbClr val="7030A0"/>
                </a:solidFill>
              </a:rPr>
              <a:t>         return </a:t>
            </a:r>
            <a:r>
              <a:rPr lang="en-US" sz="2100" b="1" dirty="0" err="1">
                <a:solidFill>
                  <a:srgbClr val="7030A0"/>
                </a:solidFill>
              </a:rPr>
              <a:t>binarySearch</a:t>
            </a:r>
            <a:r>
              <a:rPr lang="en-US" sz="2100" b="1" dirty="0">
                <a:solidFill>
                  <a:srgbClr val="7030A0"/>
                </a:solidFill>
              </a:rPr>
              <a:t>(stuff, </a:t>
            </a:r>
            <a:r>
              <a:rPr lang="en-US" sz="2100" b="1" dirty="0" err="1">
                <a:solidFill>
                  <a:srgbClr val="7030A0"/>
                </a:solidFill>
              </a:rPr>
              <a:t>toFind</a:t>
            </a:r>
            <a:r>
              <a:rPr lang="en-US" sz="2100" b="1" dirty="0">
                <a:solidFill>
                  <a:srgbClr val="7030A0"/>
                </a:solidFill>
              </a:rPr>
              <a:t>, bot, </a:t>
            </a:r>
            <a:r>
              <a:rPr lang="en-US" sz="2100" b="1" dirty="0">
                <a:solidFill>
                  <a:srgbClr val="0000FF"/>
                </a:solidFill>
              </a:rPr>
              <a:t>middle-1</a:t>
            </a:r>
            <a:r>
              <a:rPr lang="en-US" sz="2100" b="1" dirty="0">
                <a:solidFill>
                  <a:srgbClr val="7030A0"/>
                </a:solidFill>
              </a:rPr>
              <a:t>);</a:t>
            </a:r>
          </a:p>
          <a:p>
            <a:pPr>
              <a:defRPr/>
            </a:pPr>
            <a:r>
              <a:rPr lang="en-US" sz="2100" b="1" dirty="0"/>
              <a:t>      else</a:t>
            </a:r>
          </a:p>
          <a:p>
            <a:pPr>
              <a:defRPr/>
            </a:pPr>
            <a:r>
              <a:rPr lang="en-US" sz="2100" b="1" dirty="0">
                <a:solidFill>
                  <a:srgbClr val="7030A0"/>
                </a:solidFill>
              </a:rPr>
              <a:t>         return </a:t>
            </a:r>
            <a:r>
              <a:rPr lang="en-US" sz="2100" b="1" dirty="0" err="1">
                <a:solidFill>
                  <a:srgbClr val="7030A0"/>
                </a:solidFill>
              </a:rPr>
              <a:t>binarySearch</a:t>
            </a:r>
            <a:r>
              <a:rPr lang="en-US" sz="2100" b="1" dirty="0">
                <a:solidFill>
                  <a:srgbClr val="7030A0"/>
                </a:solidFill>
              </a:rPr>
              <a:t>(stuff, </a:t>
            </a:r>
            <a:r>
              <a:rPr lang="en-US" sz="2100" b="1" dirty="0" err="1">
                <a:solidFill>
                  <a:srgbClr val="7030A0"/>
                </a:solidFill>
              </a:rPr>
              <a:t>toFind</a:t>
            </a:r>
            <a:r>
              <a:rPr lang="en-US" sz="2100" b="1" dirty="0">
                <a:solidFill>
                  <a:srgbClr val="7030A0"/>
                </a:solidFill>
              </a:rPr>
              <a:t>, </a:t>
            </a:r>
            <a:r>
              <a:rPr lang="en-US" sz="2100" b="1" dirty="0">
                <a:solidFill>
                  <a:srgbClr val="0000FF"/>
                </a:solidFill>
              </a:rPr>
              <a:t>middle+1</a:t>
            </a:r>
            <a:r>
              <a:rPr lang="en-US" sz="2100" b="1" dirty="0">
                <a:solidFill>
                  <a:srgbClr val="7030A0"/>
                </a:solidFill>
              </a:rPr>
              <a:t>, top);</a:t>
            </a:r>
          </a:p>
          <a:p>
            <a:pPr>
              <a:defRPr/>
            </a:pPr>
            <a:r>
              <a:rPr lang="en-US" sz="2100" b="1" dirty="0"/>
              <a:t>   }</a:t>
            </a:r>
          </a:p>
          <a:p>
            <a:pPr>
              <a:defRPr/>
            </a:pPr>
            <a:r>
              <a:rPr lang="en-US" sz="2100" b="1" dirty="0"/>
              <a:t>   return -1;   //returns -1 if not found </a:t>
            </a:r>
          </a:p>
          <a:p>
            <a:pPr>
              <a:defRPr/>
            </a:pPr>
            <a:r>
              <a:rPr lang="en-US" sz="2100" b="1" dirty="0"/>
              <a:t>} </a:t>
            </a:r>
          </a:p>
        </p:txBody>
      </p:sp>
      <p:sp>
        <p:nvSpPr>
          <p:cNvPr id="4" name="WordArt 5">
            <a:extLst>
              <a:ext uri="{FF2B5EF4-FFF2-40B4-BE49-F238E27FC236}">
                <a16:creationId xmlns:a16="http://schemas.microsoft.com/office/drawing/2014/main" id="{156AF73C-52EC-AE15-20DE-A9C4E76A5869}"/>
              </a:ext>
            </a:extLst>
          </p:cNvPr>
          <p:cNvSpPr>
            <a:spLocks noChangeArrowheads="1" noChangeShapeType="1" noTextEdit="1"/>
          </p:cNvSpPr>
          <p:nvPr/>
        </p:nvSpPr>
        <p:spPr bwMode="auto">
          <a:xfrm>
            <a:off x="5410200" y="5257800"/>
            <a:ext cx="3276600" cy="1371600"/>
          </a:xfrm>
          <a:prstGeom prst="rect">
            <a:avLst/>
          </a:prstGeom>
        </p:spPr>
        <p:txBody>
          <a:bodyPr wrap="none" fromWordArt="1">
            <a:prstTxWarp prst="textPlain">
              <a:avLst>
                <a:gd name="adj" fmla="val 50000"/>
              </a:avLst>
            </a:prstTxWarp>
          </a:bodyPr>
          <a:lstStyle/>
          <a:p>
            <a:pPr algn="ctr">
              <a:defRPr/>
            </a:pPr>
            <a:r>
              <a:rPr lang="en-US" sz="3600" kern="10" dirty="0">
                <a:ln w="9525">
                  <a:solidFill>
                    <a:srgbClr val="FFFF00"/>
                  </a:solidFill>
                  <a:round/>
                  <a:headEnd/>
                  <a:tailEnd/>
                </a:ln>
                <a:effectLst>
                  <a:outerShdw dist="35921" dir="2700000" algn="ctr" rotWithShape="0">
                    <a:srgbClr val="C0C0C0"/>
                  </a:outerShdw>
                </a:effectLst>
                <a:latin typeface="Impact" panose="020B0806030902050204" pitchFamily="34" charset="0"/>
              </a:rPr>
              <a:t>Recursive</a:t>
            </a:r>
          </a:p>
          <a:p>
            <a:pPr algn="ctr">
              <a:defRPr/>
            </a:pPr>
            <a:r>
              <a:rPr lang="en-US" sz="3600" kern="10" dirty="0" err="1">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binarySearch</a:t>
            </a:r>
            <a:endParaRPr lang="en-US" sz="3600" kern="10" dirty="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a:extLst>
              <a:ext uri="{FF2B5EF4-FFF2-40B4-BE49-F238E27FC236}">
                <a16:creationId xmlns:a16="http://schemas.microsoft.com/office/drawing/2014/main" id="{97A8F279-671D-44FC-4129-8966BA984D3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5059" name="Rectangle 2">
            <a:extLst>
              <a:ext uri="{FF2B5EF4-FFF2-40B4-BE49-F238E27FC236}">
                <a16:creationId xmlns:a16="http://schemas.microsoft.com/office/drawing/2014/main" id="{3A34FFBA-796C-E30F-10F8-9A332104C280}"/>
              </a:ext>
            </a:extLst>
          </p:cNvPr>
          <p:cNvSpPr>
            <a:spLocks noChangeArrowheads="1"/>
          </p:cNvSpPr>
          <p:nvPr/>
        </p:nvSpPr>
        <p:spPr bwMode="auto">
          <a:xfrm>
            <a:off x="533400" y="74613"/>
            <a:ext cx="184150"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600">
              <a:latin typeface="Tahoma" panose="020B0604030504040204" pitchFamily="34" charset="0"/>
            </a:endParaRPr>
          </a:p>
          <a:p>
            <a:pPr>
              <a:spcBef>
                <a:spcPct val="0"/>
              </a:spcBef>
              <a:buFontTx/>
              <a:buNone/>
            </a:pPr>
            <a:endParaRPr lang="en-US" altLang="en-US" sz="2600">
              <a:latin typeface="Tahoma" panose="020B0604030504040204" pitchFamily="34" charset="0"/>
            </a:endParaRPr>
          </a:p>
          <a:p>
            <a:pPr>
              <a:spcBef>
                <a:spcPct val="0"/>
              </a:spcBef>
              <a:buFontTx/>
              <a:buNone/>
            </a:pPr>
            <a:endParaRPr lang="en-US" altLang="en-US">
              <a:latin typeface="Tahoma" panose="020B0604030504040204" pitchFamily="34" charset="0"/>
            </a:endParaRPr>
          </a:p>
        </p:txBody>
      </p:sp>
      <p:sp>
        <p:nvSpPr>
          <p:cNvPr id="45060" name="Text Box 3">
            <a:extLst>
              <a:ext uri="{FF2B5EF4-FFF2-40B4-BE49-F238E27FC236}">
                <a16:creationId xmlns:a16="http://schemas.microsoft.com/office/drawing/2014/main" id="{A2912A35-7FD4-57C5-D42C-0165CF9612E2}"/>
              </a:ext>
            </a:extLst>
          </p:cNvPr>
          <p:cNvSpPr txBox="1">
            <a:spLocks noChangeArrowheads="1"/>
          </p:cNvSpPr>
          <p:nvPr/>
        </p:nvSpPr>
        <p:spPr bwMode="auto">
          <a:xfrm>
            <a:off x="4876800" y="1676400"/>
            <a:ext cx="342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600">
              <a:latin typeface="Tahoma" panose="020B0604030504040204" pitchFamily="34" charset="0"/>
            </a:endParaRPr>
          </a:p>
        </p:txBody>
      </p:sp>
      <p:sp>
        <p:nvSpPr>
          <p:cNvPr id="45061" name="Text Box 4">
            <a:extLst>
              <a:ext uri="{FF2B5EF4-FFF2-40B4-BE49-F238E27FC236}">
                <a16:creationId xmlns:a16="http://schemas.microsoft.com/office/drawing/2014/main" id="{DC9E6A81-9B16-CF8F-A72A-63D8DB8E3E4C}"/>
              </a:ext>
            </a:extLst>
          </p:cNvPr>
          <p:cNvSpPr txBox="1">
            <a:spLocks noChangeArrowheads="1"/>
          </p:cNvSpPr>
          <p:nvPr/>
        </p:nvSpPr>
        <p:spPr bwMode="auto">
          <a:xfrm>
            <a:off x="685800" y="1524000"/>
            <a:ext cx="7620000" cy="457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a:latin typeface="Tahoma" panose="020B0604030504040204" pitchFamily="34" charset="0"/>
              </a:rPr>
              <a:t>Given a list of N items.  </a:t>
            </a:r>
          </a:p>
          <a:p>
            <a:pPr>
              <a:spcBef>
                <a:spcPct val="50000"/>
              </a:spcBef>
              <a:buFontTx/>
              <a:buNone/>
            </a:pPr>
            <a:r>
              <a:rPr lang="en-US" altLang="en-US" sz="2800">
                <a:latin typeface="Tahoma" panose="020B0604030504040204" pitchFamily="34" charset="0"/>
              </a:rPr>
              <a:t>What is the next largest power of 2?</a:t>
            </a:r>
          </a:p>
          <a:p>
            <a:pPr>
              <a:spcBef>
                <a:spcPct val="50000"/>
              </a:spcBef>
              <a:buFontTx/>
              <a:buNone/>
            </a:pPr>
            <a:r>
              <a:rPr lang="en-US" altLang="en-US" sz="2800">
                <a:latin typeface="Tahoma" panose="020B0604030504040204" pitchFamily="34" charset="0"/>
              </a:rPr>
              <a:t>If N is 100, the next largest </a:t>
            </a:r>
            <a:br>
              <a:rPr lang="en-US" altLang="en-US" sz="2800">
                <a:latin typeface="Tahoma" panose="020B0604030504040204" pitchFamily="34" charset="0"/>
              </a:rPr>
            </a:br>
            <a:r>
              <a:rPr lang="en-US" altLang="en-US" sz="2800">
                <a:latin typeface="Tahoma" panose="020B0604030504040204" pitchFamily="34" charset="0"/>
              </a:rPr>
              <a:t>power of 2 is 7.</a:t>
            </a:r>
          </a:p>
          <a:p>
            <a:pPr>
              <a:spcBef>
                <a:spcPct val="50000"/>
              </a:spcBef>
              <a:buFontTx/>
              <a:buNone/>
            </a:pPr>
            <a:r>
              <a:rPr lang="en-US" altLang="en-US" sz="2800">
                <a:solidFill>
                  <a:srgbClr val="FF3300"/>
                </a:solidFill>
                <a:latin typeface="Tahoma" panose="020B0604030504040204" pitchFamily="34" charset="0"/>
              </a:rPr>
              <a:t>Log</a:t>
            </a:r>
            <a:r>
              <a:rPr lang="en-US" altLang="en-US" sz="2800" baseline="-25000">
                <a:solidFill>
                  <a:srgbClr val="FF3300"/>
                </a:solidFill>
                <a:latin typeface="Tahoma" panose="020B0604030504040204" pitchFamily="34" charset="0"/>
              </a:rPr>
              <a:t>2</a:t>
            </a:r>
            <a:r>
              <a:rPr lang="en-US" altLang="en-US" sz="2800">
                <a:solidFill>
                  <a:srgbClr val="FF3300"/>
                </a:solidFill>
                <a:latin typeface="Tahoma" panose="020B0604030504040204" pitchFamily="34" charset="0"/>
              </a:rPr>
              <a:t>(100) = 6.64386</a:t>
            </a:r>
          </a:p>
          <a:p>
            <a:pPr>
              <a:spcBef>
                <a:spcPct val="50000"/>
              </a:spcBef>
              <a:buFontTx/>
              <a:buNone/>
            </a:pPr>
            <a:r>
              <a:rPr lang="en-US" altLang="en-US" sz="2800">
                <a:latin typeface="Tahoma" panose="020B0604030504040204" pitchFamily="34" charset="0"/>
              </a:rPr>
              <a:t>2</a:t>
            </a:r>
            <a:r>
              <a:rPr lang="en-US" altLang="en-US" sz="2800" baseline="30000">
                <a:latin typeface="Tahoma" panose="020B0604030504040204" pitchFamily="34" charset="0"/>
              </a:rPr>
              <a:t>7</a:t>
            </a:r>
            <a:r>
              <a:rPr lang="en-US" altLang="en-US" sz="2800">
                <a:latin typeface="Tahoma" panose="020B0604030504040204" pitchFamily="34" charset="0"/>
              </a:rPr>
              <a:t> = 128.  </a:t>
            </a:r>
          </a:p>
          <a:p>
            <a:pPr>
              <a:spcBef>
                <a:spcPct val="50000"/>
              </a:spcBef>
              <a:buFontTx/>
              <a:buNone/>
            </a:pPr>
            <a:r>
              <a:rPr lang="en-US" altLang="en-US" sz="2800">
                <a:latin typeface="Tahoma" panose="020B0604030504040204" pitchFamily="34" charset="0"/>
              </a:rPr>
              <a:t>It would take 7 checks max to find if an item existed in a list of 100 items.</a:t>
            </a:r>
            <a:r>
              <a:rPr lang="en-US" altLang="en-US" sz="2800">
                <a:solidFill>
                  <a:srgbClr val="FFFF00"/>
                </a:solidFill>
                <a:latin typeface="Tahoma" panose="020B0604030504040204" pitchFamily="34" charset="0"/>
              </a:rPr>
              <a:t> </a:t>
            </a:r>
          </a:p>
        </p:txBody>
      </p:sp>
      <p:sp>
        <p:nvSpPr>
          <p:cNvPr id="45062" name="WordArt 5">
            <a:extLst>
              <a:ext uri="{FF2B5EF4-FFF2-40B4-BE49-F238E27FC236}">
                <a16:creationId xmlns:a16="http://schemas.microsoft.com/office/drawing/2014/main" id="{2695FFDE-729F-C922-2805-DD7558AF1CD0}"/>
              </a:ext>
            </a:extLst>
          </p:cNvPr>
          <p:cNvSpPr>
            <a:spLocks noChangeArrowheads="1" noChangeShapeType="1" noTextEdit="1"/>
          </p:cNvSpPr>
          <p:nvPr/>
        </p:nvSpPr>
        <p:spPr bwMode="auto">
          <a:xfrm>
            <a:off x="838200" y="228600"/>
            <a:ext cx="6781800" cy="9906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Binary Search ShortCut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a:extLst>
              <a:ext uri="{FF2B5EF4-FFF2-40B4-BE49-F238E27FC236}">
                <a16:creationId xmlns:a16="http://schemas.microsoft.com/office/drawing/2014/main" id="{961CCBEA-0BB0-AA8E-34F1-0FF8E6C62E2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7107" name="Rectangle 2">
            <a:extLst>
              <a:ext uri="{FF2B5EF4-FFF2-40B4-BE49-F238E27FC236}">
                <a16:creationId xmlns:a16="http://schemas.microsoft.com/office/drawing/2014/main" id="{809AF490-9F2B-CDD2-7E53-C210B26B177D}"/>
              </a:ext>
            </a:extLst>
          </p:cNvPr>
          <p:cNvSpPr>
            <a:spLocks noChangeArrowheads="1"/>
          </p:cNvSpPr>
          <p:nvPr/>
        </p:nvSpPr>
        <p:spPr bwMode="auto">
          <a:xfrm>
            <a:off x="304800" y="2014538"/>
            <a:ext cx="8610600" cy="3170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b="1">
                <a:latin typeface="Tahoma" panose="020B0604030504040204" pitchFamily="34" charset="0"/>
              </a:rPr>
              <a:t>What would happen if you searched for the 14 in this array?</a:t>
            </a:r>
          </a:p>
          <a:p>
            <a:pPr>
              <a:spcBef>
                <a:spcPct val="0"/>
              </a:spcBef>
              <a:buFontTx/>
              <a:buNone/>
            </a:pPr>
            <a:endParaRPr lang="en-US" altLang="en-US" b="1">
              <a:latin typeface="Tahoma" panose="020B0604030504040204" pitchFamily="34" charset="0"/>
            </a:endParaRPr>
          </a:p>
          <a:p>
            <a:pPr>
              <a:spcBef>
                <a:spcPct val="0"/>
              </a:spcBef>
              <a:buFontTx/>
              <a:buNone/>
            </a:pPr>
            <a:r>
              <a:rPr lang="en-US" altLang="en-US" b="1">
                <a:latin typeface="Tahoma" panose="020B0604030504040204" pitchFamily="34" charset="0"/>
              </a:rPr>
              <a:t>int[] stuff = {22, 1, 14, 10, 8, 50, 30, 1};</a:t>
            </a:r>
          </a:p>
          <a:p>
            <a:pPr>
              <a:spcBef>
                <a:spcPct val="0"/>
              </a:spcBef>
              <a:buFontTx/>
              <a:buNone/>
            </a:pPr>
            <a:endParaRPr lang="en-US" altLang="en-US" b="1">
              <a:latin typeface="Tahoma" panose="020B0604030504040204" pitchFamily="34" charset="0"/>
            </a:endParaRPr>
          </a:p>
          <a:p>
            <a:pPr>
              <a:spcBef>
                <a:spcPct val="0"/>
              </a:spcBef>
              <a:buFontTx/>
              <a:buNone/>
            </a:pPr>
            <a:endParaRPr lang="en-US" altLang="en-US" sz="4000" b="1">
              <a:latin typeface="Tahoma" panose="020B0604030504040204" pitchFamily="34" charset="0"/>
            </a:endParaRPr>
          </a:p>
        </p:txBody>
      </p:sp>
      <p:sp>
        <p:nvSpPr>
          <p:cNvPr id="47108" name="Text Box 3">
            <a:extLst>
              <a:ext uri="{FF2B5EF4-FFF2-40B4-BE49-F238E27FC236}">
                <a16:creationId xmlns:a16="http://schemas.microsoft.com/office/drawing/2014/main" id="{8E1341D3-DFC1-1B32-488F-F32E20008F3F}"/>
              </a:ext>
            </a:extLst>
          </p:cNvPr>
          <p:cNvSpPr txBox="1">
            <a:spLocks noChangeArrowheads="1"/>
          </p:cNvSpPr>
          <p:nvPr/>
        </p:nvSpPr>
        <p:spPr bwMode="auto">
          <a:xfrm>
            <a:off x="4876800" y="1676400"/>
            <a:ext cx="342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600">
              <a:latin typeface="Tahoma" panose="020B0604030504040204" pitchFamily="34" charset="0"/>
            </a:endParaRPr>
          </a:p>
        </p:txBody>
      </p:sp>
      <p:sp>
        <p:nvSpPr>
          <p:cNvPr id="47109" name="WordArt 6">
            <a:extLst>
              <a:ext uri="{FF2B5EF4-FFF2-40B4-BE49-F238E27FC236}">
                <a16:creationId xmlns:a16="http://schemas.microsoft.com/office/drawing/2014/main" id="{74CACCFE-EB0C-DF78-91F1-E52A3D77E1D9}"/>
              </a:ext>
            </a:extLst>
          </p:cNvPr>
          <p:cNvSpPr>
            <a:spLocks noChangeArrowheads="1" noChangeShapeType="1" noTextEdit="1"/>
          </p:cNvSpPr>
          <p:nvPr/>
        </p:nvSpPr>
        <p:spPr bwMode="auto">
          <a:xfrm>
            <a:off x="2438400" y="415925"/>
            <a:ext cx="3810000" cy="533400"/>
          </a:xfrm>
          <a:prstGeom prst="rect">
            <a:avLst/>
          </a:prstGeom>
        </p:spPr>
        <p:txBody>
          <a:bodyPr wrap="none" fromWordArt="1">
            <a:prstTxWarp prst="textPlain">
              <a:avLst>
                <a:gd name="adj" fmla="val 50000"/>
              </a:avLst>
            </a:prstTxWarp>
          </a:bodyPr>
          <a:lstStyle/>
          <a:p>
            <a:r>
              <a:rPr lang="en-US" sz="3600" kern="10">
                <a:ln w="9525">
                  <a:solidFill>
                    <a:srgbClr val="FF9900"/>
                  </a:solidFill>
                  <a:round/>
                  <a:headEnd/>
                  <a:tailEnd/>
                </a:ln>
                <a:solidFill>
                  <a:srgbClr val="FFFF99"/>
                </a:solidFill>
                <a:effectLst>
                  <a:outerShdw dist="35921" dir="2700000" algn="ctr" rotWithShape="0">
                    <a:srgbClr val="C0C0C0"/>
                  </a:outerShdw>
                </a:effectLst>
                <a:latin typeface="Impact" panose="020B0806030902050204" pitchFamily="34" charset="0"/>
              </a:rPr>
              <a:t>BinarySearch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a:extLst>
              <a:ext uri="{FF2B5EF4-FFF2-40B4-BE49-F238E27FC236}">
                <a16:creationId xmlns:a16="http://schemas.microsoft.com/office/drawing/2014/main" id="{AA6FAFCC-ECC2-BBB4-5EF0-6C5E9E8095D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9155" name="Text Box 2">
            <a:extLst>
              <a:ext uri="{FF2B5EF4-FFF2-40B4-BE49-F238E27FC236}">
                <a16:creationId xmlns:a16="http://schemas.microsoft.com/office/drawing/2014/main" id="{929E13C7-720F-DBC7-B01C-AAC5B81C9EF7}"/>
              </a:ext>
            </a:extLst>
          </p:cNvPr>
          <p:cNvSpPr txBox="1">
            <a:spLocks noChangeArrowheads="1"/>
          </p:cNvSpPr>
          <p:nvPr/>
        </p:nvSpPr>
        <p:spPr bwMode="auto">
          <a:xfrm>
            <a:off x="457200" y="1524000"/>
            <a:ext cx="8413750" cy="463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2600">
              <a:latin typeface="Tahoma" panose="020B0604030504040204" pitchFamily="34" charset="0"/>
            </a:endParaRPr>
          </a:p>
          <a:p>
            <a:pPr>
              <a:spcBef>
                <a:spcPct val="0"/>
              </a:spcBef>
              <a:buFontTx/>
              <a:buNone/>
            </a:pPr>
            <a:endParaRPr lang="en-US" altLang="en-US" sz="2600">
              <a:latin typeface="Tahoma" panose="020B0604030504040204" pitchFamily="34" charset="0"/>
            </a:endParaRPr>
          </a:p>
          <a:p>
            <a:pPr>
              <a:spcBef>
                <a:spcPct val="0"/>
              </a:spcBef>
              <a:buFontTx/>
              <a:buNone/>
            </a:pPr>
            <a:r>
              <a:rPr lang="en-US" altLang="en-US" sz="2600">
                <a:latin typeface="Tahoma" panose="020B0604030504040204" pitchFamily="34" charset="0"/>
              </a:rPr>
              <a:t>Name			Best Case	Avg. Case	Worst Case</a:t>
            </a:r>
          </a:p>
          <a:p>
            <a:pPr>
              <a:spcBef>
                <a:spcPct val="0"/>
              </a:spcBef>
              <a:buFontTx/>
              <a:buNone/>
            </a:pPr>
            <a:endParaRPr lang="en-US" altLang="en-US" sz="1600" u="sng">
              <a:latin typeface="Tahoma" panose="020B0604030504040204" pitchFamily="34" charset="0"/>
            </a:endParaRPr>
          </a:p>
          <a:p>
            <a:pPr>
              <a:spcBef>
                <a:spcPct val="0"/>
              </a:spcBef>
              <a:buFontTx/>
              <a:buNone/>
            </a:pPr>
            <a:r>
              <a:rPr lang="en-US" altLang="en-US" sz="1800">
                <a:latin typeface="Tahoma" panose="020B0604030504040204" pitchFamily="34" charset="0"/>
              </a:rPr>
              <a:t>Linear/Sequential Search	   O(1) 	 	O(N) 		O(N)</a:t>
            </a:r>
            <a:r>
              <a:rPr lang="en-US" altLang="en-US" sz="1400">
                <a:latin typeface="Tahoma" panose="020B0604030504040204" pitchFamily="34" charset="0"/>
              </a:rPr>
              <a:t>		</a:t>
            </a: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1800">
                <a:latin typeface="Tahoma" panose="020B0604030504040204" pitchFamily="34" charset="0"/>
              </a:rPr>
              <a:t>Binary Search		   O(1)	 	O( log</a:t>
            </a:r>
            <a:r>
              <a:rPr lang="en-US" altLang="en-US" sz="1800" baseline="-25000">
                <a:latin typeface="Tahoma" panose="020B0604030504040204" pitchFamily="34" charset="0"/>
              </a:rPr>
              <a:t>2</a:t>
            </a:r>
            <a:r>
              <a:rPr lang="en-US" altLang="en-US" sz="1800">
                <a:latin typeface="Tahoma" panose="020B0604030504040204" pitchFamily="34" charset="0"/>
              </a:rPr>
              <a:t> N )	O( log</a:t>
            </a:r>
            <a:r>
              <a:rPr lang="en-US" altLang="en-US" sz="1800" baseline="-25000">
                <a:latin typeface="Tahoma" panose="020B0604030504040204" pitchFamily="34" charset="0"/>
              </a:rPr>
              <a:t>2</a:t>
            </a:r>
            <a:r>
              <a:rPr lang="en-US" altLang="en-US" sz="1800">
                <a:latin typeface="Tahoma" panose="020B0604030504040204" pitchFamily="34" charset="0"/>
              </a:rPr>
              <a:t> N ) </a:t>
            </a:r>
          </a:p>
          <a:p>
            <a:pPr>
              <a:spcBef>
                <a:spcPct val="0"/>
              </a:spcBef>
              <a:buFontTx/>
              <a:buNone/>
            </a:pPr>
            <a:endParaRPr lang="en-US" altLang="en-US" sz="1800">
              <a:latin typeface="Tahoma" panose="020B0604030504040204" pitchFamily="34" charset="0"/>
            </a:endParaRPr>
          </a:p>
          <a:p>
            <a:pPr>
              <a:spcBef>
                <a:spcPct val="0"/>
              </a:spcBef>
              <a:buFontTx/>
              <a:buNone/>
            </a:pPr>
            <a:endParaRPr lang="en-US" altLang="en-US" sz="1800">
              <a:latin typeface="Tahoma" panose="020B0604030504040204" pitchFamily="34" charset="0"/>
            </a:endParaRPr>
          </a:p>
          <a:p>
            <a:pPr>
              <a:spcBef>
                <a:spcPct val="0"/>
              </a:spcBef>
              <a:buFontTx/>
              <a:buNone/>
            </a:pPr>
            <a:r>
              <a:rPr lang="en-US" altLang="en-US" sz="1800">
                <a:latin typeface="Tahoma" panose="020B0604030504040204" pitchFamily="34" charset="0"/>
              </a:rPr>
              <a:t>All searches have a best case run time of O(1) if written properly.</a:t>
            </a:r>
          </a:p>
          <a:p>
            <a:pPr>
              <a:spcBef>
                <a:spcPct val="0"/>
              </a:spcBef>
              <a:buFontTx/>
              <a:buNone/>
            </a:pPr>
            <a:r>
              <a:rPr lang="en-US" altLang="en-US" sz="1800">
                <a:latin typeface="Tahoma" panose="020B0604030504040204" pitchFamily="34" charset="0"/>
              </a:rPr>
              <a:t>You have to look at the code to determine if the search has the </a:t>
            </a:r>
          </a:p>
          <a:p>
            <a:pPr>
              <a:spcBef>
                <a:spcPct val="0"/>
              </a:spcBef>
              <a:buFontTx/>
              <a:buNone/>
            </a:pPr>
            <a:r>
              <a:rPr lang="en-US" altLang="en-US" sz="1800">
                <a:latin typeface="Tahoma" panose="020B0604030504040204" pitchFamily="34" charset="0"/>
              </a:rPr>
              <a:t>ability to find the item and return immediately.  If this case is present,</a:t>
            </a:r>
          </a:p>
          <a:p>
            <a:pPr>
              <a:spcBef>
                <a:spcPct val="0"/>
              </a:spcBef>
              <a:buFontTx/>
              <a:buNone/>
            </a:pPr>
            <a:r>
              <a:rPr lang="en-US" altLang="en-US" sz="1800">
                <a:latin typeface="Tahoma" panose="020B0604030504040204" pitchFamily="34" charset="0"/>
              </a:rPr>
              <a:t>the algorithm can have a best case of O(1).</a:t>
            </a:r>
          </a:p>
          <a:p>
            <a:pPr>
              <a:spcBef>
                <a:spcPct val="0"/>
              </a:spcBef>
              <a:buFontTx/>
              <a:buNone/>
            </a:pPr>
            <a:endParaRPr lang="en-US" altLang="en-US" sz="1800">
              <a:latin typeface="Tahoma" panose="020B0604030504040204" pitchFamily="34" charset="0"/>
            </a:endParaRPr>
          </a:p>
          <a:p>
            <a:pPr>
              <a:spcBef>
                <a:spcPct val="0"/>
              </a:spcBef>
              <a:buFontTx/>
              <a:buNone/>
            </a:pPr>
            <a:endParaRPr lang="en-US" altLang="en-US" sz="1800">
              <a:latin typeface="Tahoma" panose="020B0604030504040204" pitchFamily="34" charset="0"/>
            </a:endParaRPr>
          </a:p>
        </p:txBody>
      </p:sp>
      <p:sp>
        <p:nvSpPr>
          <p:cNvPr id="49156" name="WordArt 3">
            <a:extLst>
              <a:ext uri="{FF2B5EF4-FFF2-40B4-BE49-F238E27FC236}">
                <a16:creationId xmlns:a16="http://schemas.microsoft.com/office/drawing/2014/main" id="{AA3D1273-05C1-0653-FEC0-C9EFE91486D3}"/>
              </a:ext>
            </a:extLst>
          </p:cNvPr>
          <p:cNvSpPr>
            <a:spLocks noChangeArrowheads="1" noChangeShapeType="1" noTextEdit="1"/>
          </p:cNvSpPr>
          <p:nvPr/>
        </p:nvSpPr>
        <p:spPr bwMode="auto">
          <a:xfrm>
            <a:off x="533400" y="533400"/>
            <a:ext cx="8001000" cy="1295400"/>
          </a:xfrm>
          <a:prstGeom prst="rect">
            <a:avLst/>
          </a:prstGeom>
        </p:spPr>
        <p:txBody>
          <a:bodyPr wrap="none" fromWordArt="1">
            <a:prstTxWarp prst="textPlain">
              <a:avLst>
                <a:gd name="adj" fmla="val 50000"/>
              </a:avLst>
            </a:prstTxWarp>
          </a:bodyPr>
          <a:lstStyle/>
          <a:p>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General Big O Chart</a:t>
            </a:r>
          </a:p>
          <a:p>
            <a:r>
              <a:rPr lang="en-US" sz="3600" kern="10">
                <a:ln w="9525">
                  <a:solidFill>
                    <a:srgbClr val="FFFF99"/>
                  </a:solidFill>
                  <a:round/>
                  <a:headEnd/>
                  <a:tailEnd/>
                </a:ln>
                <a:solidFill>
                  <a:srgbClr val="0000FF"/>
                </a:solidFill>
                <a:effectLst>
                  <a:outerShdw dist="35921" dir="2700000" algn="ctr" rotWithShape="0">
                    <a:srgbClr val="C0C0C0"/>
                  </a:outerShdw>
                </a:effectLst>
                <a:latin typeface="Impact" panose="020B0806030902050204" pitchFamily="34" charset="0"/>
              </a:rPr>
              <a:t>for Searches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a:extLst>
              <a:ext uri="{FF2B5EF4-FFF2-40B4-BE49-F238E27FC236}">
                <a16:creationId xmlns:a16="http://schemas.microsoft.com/office/drawing/2014/main" id="{515EBD38-342A-9665-4E65-9AABFD9D44C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1203" name="WordArt 2">
            <a:extLst>
              <a:ext uri="{FF2B5EF4-FFF2-40B4-BE49-F238E27FC236}">
                <a16:creationId xmlns:a16="http://schemas.microsoft.com/office/drawing/2014/main" id="{FDBA421A-0B31-A94B-7FC4-C400BB8EF2CA}"/>
              </a:ext>
            </a:extLst>
          </p:cNvPr>
          <p:cNvSpPr>
            <a:spLocks noChangeArrowheads="1" noChangeShapeType="1" noTextEdit="1"/>
          </p:cNvSpPr>
          <p:nvPr/>
        </p:nvSpPr>
        <p:spPr bwMode="auto">
          <a:xfrm>
            <a:off x="228600" y="1524000"/>
            <a:ext cx="8686800" cy="3505200"/>
          </a:xfrm>
          <a:prstGeom prst="rect">
            <a:avLst/>
          </a:prstGeom>
        </p:spPr>
        <p:txBody>
          <a:bodyPr wrap="none" fromWordArt="1">
            <a:prstTxWarp prst="textPlain">
              <a:avLst>
                <a:gd name="adj" fmla="val 50000"/>
              </a:avLst>
            </a:prstTxWarp>
          </a:bodyPr>
          <a:lstStyle/>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 </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binarysearch.java</a:t>
            </a:r>
          </a:p>
          <a:p>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binarysearchtester.java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a:extLst>
              <a:ext uri="{FF2B5EF4-FFF2-40B4-BE49-F238E27FC236}">
                <a16:creationId xmlns:a16="http://schemas.microsoft.com/office/drawing/2014/main" id="{6BF1D988-3FE2-C410-A24D-836899E0C26B}"/>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53251" name="WordArt 4">
            <a:extLst>
              <a:ext uri="{FF2B5EF4-FFF2-40B4-BE49-F238E27FC236}">
                <a16:creationId xmlns:a16="http://schemas.microsoft.com/office/drawing/2014/main" id="{8A1109E7-9FE0-8DCE-E793-0475F2719FC5}"/>
              </a:ext>
            </a:extLst>
          </p:cNvPr>
          <p:cNvSpPr>
            <a:spLocks noChangeArrowheads="1" noChangeShapeType="1" noTextEdit="1"/>
          </p:cNvSpPr>
          <p:nvPr/>
        </p:nvSpPr>
        <p:spPr bwMode="auto">
          <a:xfrm>
            <a:off x="1143000" y="1295400"/>
            <a:ext cx="6934200" cy="3657600"/>
          </a:xfrm>
          <a:prstGeom prst="rect">
            <a:avLst/>
          </a:prstGeom>
        </p:spPr>
        <p:txBody>
          <a:bodyPr wrap="none" fromWordArt="1">
            <a:prstTxWarp prst="textPlain">
              <a:avLst>
                <a:gd name="adj" fmla="val 50000"/>
              </a:avLst>
            </a:prstTxWarp>
          </a:bodyPr>
          <a:lstStyle/>
          <a:p>
            <a:pPr algn="ctr"/>
            <a:r>
              <a:rPr lang="en-US" sz="3600" kern="10">
                <a:ln w="9525">
                  <a:solidFill>
                    <a:srgbClr val="333399"/>
                  </a:solidFill>
                  <a:round/>
                  <a:headEnd type="none" w="sm" len="sm"/>
                  <a:tailEnd type="none" w="sm" len="sm"/>
                </a:ln>
                <a:solidFill>
                  <a:srgbClr val="99CC00"/>
                </a:solidFill>
                <a:effectLst>
                  <a:outerShdw dist="35921" dir="2700000" algn="ctr" rotWithShape="0">
                    <a:srgbClr val="C0C0C0"/>
                  </a:outerShdw>
                </a:effectLst>
                <a:latin typeface="Impact" panose="020B0806030902050204" pitchFamily="34" charset="0"/>
              </a:rPr>
              <a:t>People</a:t>
            </a:r>
          </a:p>
          <a:p>
            <a:pPr algn="ctr"/>
            <a:r>
              <a:rPr lang="en-US" sz="3600" kern="10">
                <a:ln w="9525">
                  <a:solidFill>
                    <a:srgbClr val="333399"/>
                  </a:solidFill>
                  <a:round/>
                  <a:headEnd type="none" w="sm" len="sm"/>
                  <a:tailEnd type="none" w="sm" len="sm"/>
                </a:ln>
                <a:solidFill>
                  <a:srgbClr val="99CC00"/>
                </a:solidFill>
                <a:effectLst>
                  <a:outerShdw dist="35921" dir="2700000" algn="ctr" rotWithShape="0">
                    <a:srgbClr val="C0C0C0"/>
                  </a:outerShdw>
                </a:effectLst>
                <a:latin typeface="Impact" panose="020B0806030902050204" pitchFamily="34" charset="0"/>
              </a:rPr>
              <a:t>Search</a:t>
            </a:r>
          </a:p>
          <a:p>
            <a:pPr algn="ctr"/>
            <a:r>
              <a:rPr lang="en-US" sz="3600" kern="10">
                <a:ln w="9525">
                  <a:solidFill>
                    <a:srgbClr val="333399"/>
                  </a:solidFill>
                  <a:round/>
                  <a:headEnd type="none" w="sm" len="sm"/>
                  <a:tailEnd type="none" w="sm" len="sm"/>
                </a:ln>
                <a:solidFill>
                  <a:srgbClr val="99CC00"/>
                </a:solidFill>
                <a:effectLst>
                  <a:outerShdw dist="35921" dir="2700000" algn="ctr" rotWithShape="0">
                    <a:srgbClr val="C0C0C0"/>
                  </a:outerShdw>
                </a:effectLst>
                <a:latin typeface="Impact" panose="020B0806030902050204" pitchFamily="34" charset="0"/>
              </a:rPr>
              <a:t>Demo</a:t>
            </a:r>
          </a:p>
        </p:txBody>
      </p:sp>
      <p:sp>
        <p:nvSpPr>
          <p:cNvPr id="53252" name="Text Box 5">
            <a:extLst>
              <a:ext uri="{FF2B5EF4-FFF2-40B4-BE49-F238E27FC236}">
                <a16:creationId xmlns:a16="http://schemas.microsoft.com/office/drawing/2014/main" id="{BA340D00-6F9F-D5DC-B82D-1C59418BE17C}"/>
              </a:ext>
            </a:extLst>
          </p:cNvPr>
          <p:cNvSpPr txBox="1">
            <a:spLocks noChangeArrowheads="1"/>
          </p:cNvSpPr>
          <p:nvPr/>
        </p:nvSpPr>
        <p:spPr bwMode="auto">
          <a:xfrm>
            <a:off x="914400" y="5562600"/>
            <a:ext cx="7205663" cy="498475"/>
          </a:xfrm>
          <a:prstGeom prst="rect">
            <a:avLst/>
          </a:prstGeom>
          <a:noFill/>
          <a:ln w="9525">
            <a:solidFill>
              <a:srgbClr val="33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00">
                <a:solidFill>
                  <a:srgbClr val="FF6600"/>
                </a:solidFill>
                <a:latin typeface="Tahoma" panose="020B0604030504040204" pitchFamily="34" charset="0"/>
              </a:rPr>
              <a:t>Line up some students and search for someone.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a:extLst>
              <a:ext uri="{FF2B5EF4-FFF2-40B4-BE49-F238E27FC236}">
                <a16:creationId xmlns:a16="http://schemas.microsoft.com/office/drawing/2014/main" id="{2BDEA19F-009D-8692-54F6-E01361FCDF8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55299" name="WordArt 2">
            <a:extLst>
              <a:ext uri="{FF2B5EF4-FFF2-40B4-BE49-F238E27FC236}">
                <a16:creationId xmlns:a16="http://schemas.microsoft.com/office/drawing/2014/main" id="{B4059965-90CC-3A26-4067-FBDDA5FAD41C}"/>
              </a:ext>
            </a:extLst>
          </p:cNvPr>
          <p:cNvSpPr>
            <a:spLocks noChangeArrowheads="1" noChangeShapeType="1" noTextEdit="1"/>
          </p:cNvSpPr>
          <p:nvPr/>
        </p:nvSpPr>
        <p:spPr bwMode="auto">
          <a:xfrm>
            <a:off x="990600" y="1600200"/>
            <a:ext cx="7010400" cy="3505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Lab 22</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Help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3">
            <a:extLst>
              <a:ext uri="{FF2B5EF4-FFF2-40B4-BE49-F238E27FC236}">
                <a16:creationId xmlns:a16="http://schemas.microsoft.com/office/drawing/2014/main" id="{41AD18CE-1D2D-E2B9-E2F6-3EE2E79A0F9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57347" name="Rectangle 2">
            <a:extLst>
              <a:ext uri="{FF2B5EF4-FFF2-40B4-BE49-F238E27FC236}">
                <a16:creationId xmlns:a16="http://schemas.microsoft.com/office/drawing/2014/main" id="{DDE231AB-D4F8-0E5D-9CE0-7B9FB71E80FB}"/>
              </a:ext>
            </a:extLst>
          </p:cNvPr>
          <p:cNvSpPr>
            <a:spLocks noChangeArrowheads="1"/>
          </p:cNvSpPr>
          <p:nvPr/>
        </p:nvSpPr>
        <p:spPr bwMode="auto">
          <a:xfrm>
            <a:off x="1295400" y="1371600"/>
            <a:ext cx="6596063"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b="1">
              <a:latin typeface="Tahoma" panose="020B0604030504040204" pitchFamily="34" charset="0"/>
            </a:endParaRPr>
          </a:p>
          <a:p>
            <a:pPr>
              <a:spcBef>
                <a:spcPct val="0"/>
              </a:spcBef>
              <a:buFontTx/>
              <a:buNone/>
            </a:pPr>
            <a:r>
              <a:rPr lang="en-US" altLang="en-US" b="1">
                <a:latin typeface="Tahoma" panose="020B0604030504040204" pitchFamily="34" charset="0"/>
              </a:rPr>
              <a:t>word = puppy</a:t>
            </a:r>
          </a:p>
          <a:p>
            <a:pPr>
              <a:spcBef>
                <a:spcPct val="0"/>
              </a:spcBef>
              <a:buFontTx/>
              <a:buNone/>
            </a:pPr>
            <a:endParaRPr lang="en-US" altLang="en-US" b="1">
              <a:latin typeface="Tahoma" panose="020B0604030504040204" pitchFamily="34" charset="0"/>
            </a:endParaRPr>
          </a:p>
          <a:p>
            <a:pPr>
              <a:spcBef>
                <a:spcPct val="0"/>
              </a:spcBef>
              <a:buFontTx/>
              <a:buNone/>
            </a:pPr>
            <a:r>
              <a:rPr lang="en-US" altLang="en-US" b="1">
                <a:latin typeface="Tahoma" panose="020B0604030504040204" pitchFamily="34" charset="0"/>
              </a:rPr>
              <a:t>Original list</a:t>
            </a:r>
          </a:p>
          <a:p>
            <a:pPr>
              <a:spcBef>
                <a:spcPct val="0"/>
              </a:spcBef>
              <a:buFontTx/>
              <a:buNone/>
            </a:pPr>
            <a:r>
              <a:rPr lang="en-US" altLang="en-US" b="1">
                <a:solidFill>
                  <a:schemeClr val="accent2"/>
                </a:solidFill>
                <a:latin typeface="Tahoma" panose="020B0604030504040204" pitchFamily="34" charset="0"/>
              </a:rPr>
              <a:t>[ant, top, xylaphone]</a:t>
            </a:r>
          </a:p>
          <a:p>
            <a:pPr>
              <a:spcBef>
                <a:spcPct val="0"/>
              </a:spcBef>
              <a:buFontTx/>
              <a:buNone/>
            </a:pPr>
            <a:endParaRPr lang="en-US" altLang="en-US" b="1">
              <a:latin typeface="Tahoma" panose="020B0604030504040204" pitchFamily="34" charset="0"/>
            </a:endParaRPr>
          </a:p>
          <a:p>
            <a:pPr>
              <a:spcBef>
                <a:spcPct val="0"/>
              </a:spcBef>
              <a:buFontTx/>
              <a:buNone/>
            </a:pPr>
            <a:r>
              <a:rPr lang="en-US" altLang="en-US" b="1">
                <a:latin typeface="Tahoma" panose="020B0604030504040204" pitchFamily="34" charset="0"/>
              </a:rPr>
              <a:t>Original list after adding puppy</a:t>
            </a:r>
          </a:p>
          <a:p>
            <a:pPr>
              <a:spcBef>
                <a:spcPct val="0"/>
              </a:spcBef>
              <a:buFontTx/>
              <a:buNone/>
            </a:pPr>
            <a:r>
              <a:rPr lang="en-US" altLang="en-US" b="1">
                <a:solidFill>
                  <a:schemeClr val="accent2"/>
                </a:solidFill>
                <a:latin typeface="Tahoma" panose="020B0604030504040204" pitchFamily="34" charset="0"/>
              </a:rPr>
              <a:t>[ant, puppy, top, xylaphone]</a:t>
            </a:r>
          </a:p>
          <a:p>
            <a:pPr>
              <a:spcBef>
                <a:spcPct val="0"/>
              </a:spcBef>
              <a:buFontTx/>
              <a:buNone/>
            </a:pPr>
            <a:r>
              <a:rPr lang="en-US" altLang="en-US" sz="2400" b="1">
                <a:solidFill>
                  <a:srgbClr val="FFFF00"/>
                </a:solidFill>
                <a:latin typeface="Tahoma" panose="020B0604030504040204" pitchFamily="34" charset="0"/>
              </a:rPr>
              <a:t>	</a:t>
            </a:r>
          </a:p>
        </p:txBody>
      </p:sp>
      <p:sp>
        <p:nvSpPr>
          <p:cNvPr id="57348" name="WordArt 3">
            <a:extLst>
              <a:ext uri="{FF2B5EF4-FFF2-40B4-BE49-F238E27FC236}">
                <a16:creationId xmlns:a16="http://schemas.microsoft.com/office/drawing/2014/main" id="{766E9EAB-16CF-25FF-4407-B9E588014555}"/>
              </a:ext>
            </a:extLst>
          </p:cNvPr>
          <p:cNvSpPr>
            <a:spLocks noChangeArrowheads="1" noChangeShapeType="1" noTextEdit="1"/>
          </p:cNvSpPr>
          <p:nvPr/>
        </p:nvSpPr>
        <p:spPr bwMode="auto">
          <a:xfrm>
            <a:off x="838200" y="381000"/>
            <a:ext cx="7239000" cy="8382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Insertion Sort  Logic</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3">
            <a:extLst>
              <a:ext uri="{FF2B5EF4-FFF2-40B4-BE49-F238E27FC236}">
                <a16:creationId xmlns:a16="http://schemas.microsoft.com/office/drawing/2014/main" id="{DB197AC4-C9ED-C3AC-3AB3-3DCAA1B0D16A}"/>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59395" name="Rectangle 2">
            <a:extLst>
              <a:ext uri="{FF2B5EF4-FFF2-40B4-BE49-F238E27FC236}">
                <a16:creationId xmlns:a16="http://schemas.microsoft.com/office/drawing/2014/main" id="{657D0FE5-7951-FDA5-8455-5D7B159EDD08}"/>
              </a:ext>
            </a:extLst>
          </p:cNvPr>
          <p:cNvSpPr>
            <a:spLocks noChangeArrowheads="1"/>
          </p:cNvSpPr>
          <p:nvPr/>
        </p:nvSpPr>
        <p:spPr bwMode="auto">
          <a:xfrm>
            <a:off x="457200" y="1981200"/>
            <a:ext cx="8382000" cy="369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00" b="1">
                <a:latin typeface="Tahoma" panose="020B0604030504040204" pitchFamily="34" charset="0"/>
              </a:rPr>
              <a:t>void remove(String word )</a:t>
            </a:r>
          </a:p>
          <a:p>
            <a:pPr>
              <a:spcBef>
                <a:spcPct val="0"/>
              </a:spcBef>
              <a:buFontTx/>
              <a:buNone/>
            </a:pPr>
            <a:r>
              <a:rPr lang="en-US" altLang="en-US" sz="2600" b="1">
                <a:latin typeface="Tahoma" panose="020B0604030504040204" pitchFamily="34" charset="0"/>
              </a:rPr>
              <a:t>{</a:t>
            </a:r>
          </a:p>
          <a:p>
            <a:pPr>
              <a:spcBef>
                <a:spcPct val="0"/>
              </a:spcBef>
              <a:buFontTx/>
              <a:buNone/>
            </a:pPr>
            <a:r>
              <a:rPr lang="en-US" altLang="en-US" sz="2600" b="1">
                <a:latin typeface="Tahoma" panose="020B0604030504040204" pitchFamily="34" charset="0"/>
              </a:rPr>
              <a:t>   int loc = Collections.binarySearch(list, word);</a:t>
            </a:r>
          </a:p>
          <a:p>
            <a:pPr>
              <a:spcBef>
                <a:spcPct val="0"/>
              </a:spcBef>
              <a:buFontTx/>
              <a:buNone/>
            </a:pPr>
            <a:r>
              <a:rPr lang="en-US" altLang="en-US" sz="2600" b="1">
                <a:latin typeface="Tahoma" panose="020B0604030504040204" pitchFamily="34" charset="0"/>
              </a:rPr>
              <a:t>   if(loc &gt;=0)</a:t>
            </a:r>
          </a:p>
          <a:p>
            <a:pPr>
              <a:spcBef>
                <a:spcPct val="0"/>
              </a:spcBef>
              <a:buFontTx/>
              <a:buNone/>
            </a:pP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        list.remove(loc);</a:t>
            </a:r>
          </a:p>
          <a:p>
            <a:pPr>
              <a:spcBef>
                <a:spcPct val="0"/>
              </a:spcBef>
              <a:buFontTx/>
              <a:buNone/>
            </a:pP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a:t>
            </a:r>
            <a:endParaRPr lang="en-US" altLang="en-US" sz="2800" b="1">
              <a:latin typeface="Tahoma" panose="020B0604030504040204" pitchFamily="34" charset="0"/>
            </a:endParaRPr>
          </a:p>
          <a:p>
            <a:pPr>
              <a:spcBef>
                <a:spcPct val="0"/>
              </a:spcBef>
              <a:buFontTx/>
              <a:buNone/>
            </a:pPr>
            <a:endParaRPr lang="en-US" altLang="en-US" sz="2800" b="1">
              <a:latin typeface="Tahoma" panose="020B0604030504040204" pitchFamily="34" charset="0"/>
            </a:endParaRPr>
          </a:p>
        </p:txBody>
      </p:sp>
      <p:sp>
        <p:nvSpPr>
          <p:cNvPr id="59396" name="WordArt 3">
            <a:extLst>
              <a:ext uri="{FF2B5EF4-FFF2-40B4-BE49-F238E27FC236}">
                <a16:creationId xmlns:a16="http://schemas.microsoft.com/office/drawing/2014/main" id="{0349649F-1835-AF55-12CA-90FB120108AB}"/>
              </a:ext>
            </a:extLst>
          </p:cNvPr>
          <p:cNvSpPr>
            <a:spLocks noChangeArrowheads="1" noChangeShapeType="1" noTextEdit="1"/>
          </p:cNvSpPr>
          <p:nvPr/>
        </p:nvSpPr>
        <p:spPr bwMode="auto">
          <a:xfrm>
            <a:off x="685800" y="457200"/>
            <a:ext cx="7391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Removing an Item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3">
            <a:extLst>
              <a:ext uri="{FF2B5EF4-FFF2-40B4-BE49-F238E27FC236}">
                <a16:creationId xmlns:a16="http://schemas.microsoft.com/office/drawing/2014/main" id="{62FB010F-9070-8253-E5C7-238EE62B51F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61443" name="Rectangle 2">
            <a:extLst>
              <a:ext uri="{FF2B5EF4-FFF2-40B4-BE49-F238E27FC236}">
                <a16:creationId xmlns:a16="http://schemas.microsoft.com/office/drawing/2014/main" id="{A5F2A119-62F4-8D70-7F92-60FBD6213B27}"/>
              </a:ext>
            </a:extLst>
          </p:cNvPr>
          <p:cNvSpPr>
            <a:spLocks noChangeArrowheads="1"/>
          </p:cNvSpPr>
          <p:nvPr/>
        </p:nvSpPr>
        <p:spPr bwMode="auto">
          <a:xfrm>
            <a:off x="533400" y="1828800"/>
            <a:ext cx="8229600" cy="4090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600" b="1">
                <a:latin typeface="Tahoma" panose="020B0604030504040204" pitchFamily="34" charset="0"/>
              </a:rPr>
              <a:t>void add(String word)</a:t>
            </a:r>
          </a:p>
          <a:p>
            <a:pPr>
              <a:spcBef>
                <a:spcPct val="0"/>
              </a:spcBef>
              <a:buFontTx/>
              <a:buNone/>
            </a:pPr>
            <a:r>
              <a:rPr lang="en-US" altLang="en-US" sz="2600" b="1">
                <a:latin typeface="Tahoma" panose="020B0604030504040204" pitchFamily="34" charset="0"/>
              </a:rPr>
              <a:t>{</a:t>
            </a:r>
          </a:p>
          <a:p>
            <a:pPr>
              <a:spcBef>
                <a:spcPct val="0"/>
              </a:spcBef>
              <a:buFontTx/>
              <a:buNone/>
            </a:pPr>
            <a:r>
              <a:rPr lang="en-US" altLang="en-US" sz="2600" b="1">
                <a:latin typeface="Tahoma" panose="020B0604030504040204" pitchFamily="34" charset="0"/>
              </a:rPr>
              <a:t>   int loc = Collections.binarySearch(list, word);     </a:t>
            </a:r>
          </a:p>
          <a:p>
            <a:pPr>
              <a:spcBef>
                <a:spcPct val="0"/>
              </a:spcBef>
              <a:buFontTx/>
              <a:buNone/>
            </a:pPr>
            <a:r>
              <a:rPr lang="en-US" altLang="en-US" sz="2600" b="1">
                <a:latin typeface="Tahoma" panose="020B0604030504040204" pitchFamily="34" charset="0"/>
              </a:rPr>
              <a:t>   if(loc &lt; 0)</a:t>
            </a:r>
          </a:p>
          <a:p>
            <a:pPr>
              <a:spcBef>
                <a:spcPct val="0"/>
              </a:spcBef>
              <a:buFontTx/>
              <a:buNone/>
            </a:pP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         loc = Math.abs(loc+1);  </a:t>
            </a:r>
            <a:r>
              <a:rPr lang="en-US" altLang="en-US" sz="2600" b="1">
                <a:solidFill>
                  <a:srgbClr val="FF3300"/>
                </a:solidFill>
                <a:latin typeface="Tahoma" panose="020B0604030504040204" pitchFamily="34" charset="0"/>
              </a:rPr>
              <a:t>//??</a:t>
            </a:r>
          </a:p>
          <a:p>
            <a:pPr>
              <a:spcBef>
                <a:spcPct val="0"/>
              </a:spcBef>
              <a:buFontTx/>
              <a:buNone/>
            </a:pPr>
            <a:r>
              <a:rPr lang="en-US" altLang="en-US" sz="2600" b="1">
                <a:latin typeface="Tahoma" panose="020B0604030504040204" pitchFamily="34" charset="0"/>
              </a:rPr>
              <a:t>	list.add(loc, word);</a:t>
            </a:r>
          </a:p>
          <a:p>
            <a:pPr>
              <a:spcBef>
                <a:spcPct val="0"/>
              </a:spcBef>
              <a:buFontTx/>
              <a:buNone/>
            </a:pPr>
            <a:r>
              <a:rPr lang="en-US" altLang="en-US" sz="2600" b="1">
                <a:latin typeface="Tahoma" panose="020B0604030504040204" pitchFamily="34" charset="0"/>
              </a:rPr>
              <a:t>   }</a:t>
            </a:r>
          </a:p>
          <a:p>
            <a:pPr>
              <a:spcBef>
                <a:spcPct val="0"/>
              </a:spcBef>
              <a:buFontTx/>
              <a:buNone/>
            </a:pPr>
            <a:r>
              <a:rPr lang="en-US" altLang="en-US" sz="2600" b="1">
                <a:latin typeface="Tahoma" panose="020B0604030504040204" pitchFamily="34" charset="0"/>
              </a:rPr>
              <a:t>}</a:t>
            </a:r>
            <a:endParaRPr lang="en-US" altLang="en-US" sz="2800" b="1">
              <a:latin typeface="Tahoma" panose="020B0604030504040204" pitchFamily="34" charset="0"/>
            </a:endParaRPr>
          </a:p>
          <a:p>
            <a:pPr>
              <a:spcBef>
                <a:spcPct val="0"/>
              </a:spcBef>
              <a:buFontTx/>
              <a:buNone/>
            </a:pPr>
            <a:endParaRPr lang="en-US" altLang="en-US" sz="2800" b="1">
              <a:latin typeface="Tahoma" panose="020B0604030504040204" pitchFamily="34" charset="0"/>
            </a:endParaRPr>
          </a:p>
        </p:txBody>
      </p:sp>
      <p:sp>
        <p:nvSpPr>
          <p:cNvPr id="61444" name="WordArt 3">
            <a:extLst>
              <a:ext uri="{FF2B5EF4-FFF2-40B4-BE49-F238E27FC236}">
                <a16:creationId xmlns:a16="http://schemas.microsoft.com/office/drawing/2014/main" id="{9150FF2C-0FC9-AEF3-5084-517447273C35}"/>
              </a:ext>
            </a:extLst>
          </p:cNvPr>
          <p:cNvSpPr>
            <a:spLocks noChangeArrowheads="1" noChangeShapeType="1" noTextEdit="1"/>
          </p:cNvSpPr>
          <p:nvPr/>
        </p:nvSpPr>
        <p:spPr bwMode="auto">
          <a:xfrm>
            <a:off x="685800" y="457200"/>
            <a:ext cx="7391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Inserting an item into an ArrayList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3">
            <a:extLst>
              <a:ext uri="{FF2B5EF4-FFF2-40B4-BE49-F238E27FC236}">
                <a16:creationId xmlns:a16="http://schemas.microsoft.com/office/drawing/2014/main" id="{A7E4B8B9-62D4-7F8E-0B14-91EA5B36FCC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b="1"/>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b="1">
              <a:latin typeface="Tahoma" panose="020B0604030504040204" pitchFamily="34" charset="0"/>
            </a:endParaRPr>
          </a:p>
          <a:p>
            <a:pPr>
              <a:spcBef>
                <a:spcPct val="0"/>
              </a:spcBef>
              <a:buFontTx/>
              <a:buNone/>
            </a:pPr>
            <a:r>
              <a:rPr lang="en-US" altLang="en-US" sz="800" b="1">
                <a:latin typeface="Tahoma" panose="020B0604030504040204" pitchFamily="34" charset="0"/>
              </a:rPr>
              <a:t>© A+ Computer Science  -  www.apluscompsci.com</a:t>
            </a:r>
          </a:p>
        </p:txBody>
      </p:sp>
      <p:sp>
        <p:nvSpPr>
          <p:cNvPr id="63491" name="WordArt 2">
            <a:extLst>
              <a:ext uri="{FF2B5EF4-FFF2-40B4-BE49-F238E27FC236}">
                <a16:creationId xmlns:a16="http://schemas.microsoft.com/office/drawing/2014/main" id="{E3CAF7C8-A4C3-E231-3F2C-96514161B716}"/>
              </a:ext>
            </a:extLst>
          </p:cNvPr>
          <p:cNvSpPr>
            <a:spLocks noChangeArrowheads="1" noChangeShapeType="1" noTextEdit="1"/>
          </p:cNvSpPr>
          <p:nvPr/>
        </p:nvSpPr>
        <p:spPr bwMode="auto">
          <a:xfrm>
            <a:off x="1143000" y="1295400"/>
            <a:ext cx="6934200" cy="3657600"/>
          </a:xfrm>
          <a:prstGeom prst="rect">
            <a:avLst/>
          </a:prstGeom>
        </p:spPr>
        <p:txBody>
          <a:bodyPr wrap="none" fromWordArt="1">
            <a:prstTxWarp prst="textPlain">
              <a:avLst>
                <a:gd name="adj" fmla="val 50000"/>
              </a:avLst>
            </a:prstTxWarp>
          </a:bodyPr>
          <a:lstStyle/>
          <a:p>
            <a:pPr algn="ctr"/>
            <a:r>
              <a:rPr lang="en-US" sz="3600" kern="10">
                <a:ln w="9525">
                  <a:solidFill>
                    <a:srgbClr val="333399"/>
                  </a:solidFill>
                  <a:round/>
                  <a:headEnd type="none" w="sm" len="sm"/>
                  <a:tailEnd type="none" w="sm" len="sm"/>
                </a:ln>
                <a:solidFill>
                  <a:srgbClr val="00FF00"/>
                </a:solidFill>
                <a:effectLst>
                  <a:outerShdw dist="35921" dir="2700000" algn="ctr" rotWithShape="0">
                    <a:srgbClr val="C0C0C0"/>
                  </a:outerShdw>
                </a:effectLst>
                <a:latin typeface="Impact" panose="020B0806030902050204" pitchFamily="34" charset="0"/>
              </a:rPr>
              <a:t>Start work</a:t>
            </a:r>
          </a:p>
          <a:p>
            <a:pPr algn="ctr"/>
            <a:r>
              <a:rPr lang="en-US" sz="3600" kern="10">
                <a:ln w="9525">
                  <a:solidFill>
                    <a:srgbClr val="333399"/>
                  </a:solidFill>
                  <a:round/>
                  <a:headEnd type="none" w="sm" len="sm"/>
                  <a:tailEnd type="none" w="sm" len="sm"/>
                </a:ln>
                <a:solidFill>
                  <a:srgbClr val="00FF00"/>
                </a:solidFill>
                <a:effectLst>
                  <a:outerShdw dist="35921" dir="2700000" algn="ctr" rotWithShape="0">
                    <a:srgbClr val="C0C0C0"/>
                  </a:outerShdw>
                </a:effectLst>
                <a:latin typeface="Impact" panose="020B0806030902050204" pitchFamily="34" charset="0"/>
              </a:rPr>
              <a:t>on Lab 22a</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9.0&quot;&gt;&lt;object type=&quot;1&quot; unique_id=&quot;10001&quot;&gt;&lt;object type=&quot;2&quot; unique_id=&quot;10087&quot;&gt;&lt;object type=&quot;3&quot; unique_id=&quot;10088&quot;&gt;&lt;property id=&quot;20148&quot; value=&quot;5&quot;/&gt;&lt;property id=&quot;20300&quot; value=&quot;Slide 1&quot;/&gt;&lt;property id=&quot;20307&quot; value=&quot;256&quot;/&gt;&lt;/object&gt;&lt;object type=&quot;3&quot; unique_id=&quot;10089&quot;&gt;&lt;property id=&quot;20148&quot; value=&quot;5&quot;/&gt;&lt;property id=&quot;20300&quot; value=&quot;Slide 2&quot;/&gt;&lt;property id=&quot;20307&quot; value=&quot;374&quot;/&gt;&lt;/object&gt;&lt;object type=&quot;3&quot; unique_id=&quot;10090&quot;&gt;&lt;property id=&quot;20148&quot; value=&quot;5&quot;/&gt;&lt;property id=&quot;20300&quot; value=&quot;Slide 3&quot;/&gt;&lt;property id=&quot;20307&quot; value=&quot;349&quot;/&gt;&lt;/object&gt;&lt;object type=&quot;3&quot; unique_id=&quot;10091&quot;&gt;&lt;property id=&quot;20148&quot; value=&quot;5&quot;/&gt;&lt;property id=&quot;20300&quot; value=&quot;Slide 4&quot;/&gt;&lt;property id=&quot;20307&quot; value=&quot;347&quot;/&gt;&lt;/object&gt;&lt;object type=&quot;3&quot; unique_id=&quot;10092&quot;&gt;&lt;property id=&quot;20148&quot; value=&quot;5&quot;/&gt;&lt;property id=&quot;20300&quot; value=&quot;Slide 5&quot;/&gt;&lt;property id=&quot;20307&quot; value=&quot;352&quot;/&gt;&lt;/object&gt;&lt;object type=&quot;3&quot; unique_id=&quot;10093&quot;&gt;&lt;property id=&quot;20148&quot; value=&quot;5&quot;/&gt;&lt;property id=&quot;20300&quot; value=&quot;Slide 6&quot;/&gt;&lt;property id=&quot;20307&quot; value=&quot;333&quot;/&gt;&lt;/object&gt;&lt;object type=&quot;3&quot; unique_id=&quot;10094&quot;&gt;&lt;property id=&quot;20148&quot; value=&quot;5&quot;/&gt;&lt;property id=&quot;20300&quot; value=&quot;Slide 7&quot;/&gt;&lt;property id=&quot;20307&quot; value=&quot;334&quot;/&gt;&lt;/object&gt;&lt;object type=&quot;3&quot; unique_id=&quot;10095&quot;&gt;&lt;property id=&quot;20148&quot; value=&quot;5&quot;/&gt;&lt;property id=&quot;20300&quot; value=&quot;Slide 8&quot;/&gt;&lt;property id=&quot;20307&quot; value=&quot;339&quot;/&gt;&lt;/object&gt;&lt;object type=&quot;3&quot; unique_id=&quot;10096&quot;&gt;&lt;property id=&quot;20148&quot; value=&quot;5&quot;/&gt;&lt;property id=&quot;20300&quot; value=&quot;Slide 9&quot;/&gt;&lt;property id=&quot;20307&quot; value=&quot;362&quot;/&gt;&lt;/object&gt;&lt;object type=&quot;3&quot; unique_id=&quot;10097&quot;&gt;&lt;property id=&quot;20148&quot; value=&quot;5&quot;/&gt;&lt;property id=&quot;20300&quot; value=&quot;Slide 10&quot;/&gt;&lt;property id=&quot;20307&quot; value=&quot;363&quot;/&gt;&lt;/object&gt;&lt;object type=&quot;3&quot; unique_id=&quot;10098&quot;&gt;&lt;property id=&quot;20148&quot; value=&quot;5&quot;/&gt;&lt;property id=&quot;20300&quot; value=&quot;Slide 11&quot;/&gt;&lt;property id=&quot;20307&quot; value=&quot;364&quot;/&gt;&lt;/object&gt;&lt;object type=&quot;3&quot; unique_id=&quot;10099&quot;&gt;&lt;property id=&quot;20148&quot; value=&quot;5&quot;/&gt;&lt;property id=&quot;20300&quot; value=&quot;Slide 12&quot;/&gt;&lt;property id=&quot;20307&quot; value=&quot;365&quot;/&gt;&lt;/object&gt;&lt;object type=&quot;3&quot; unique_id=&quot;10100&quot;&gt;&lt;property id=&quot;20148&quot; value=&quot;5&quot;/&gt;&lt;property id=&quot;20300&quot; value=&quot;Slide 13&quot;/&gt;&lt;property id=&quot;20307&quot; value=&quot;366&quot;/&gt;&lt;/object&gt;&lt;object type=&quot;3&quot; unique_id=&quot;10101&quot;&gt;&lt;property id=&quot;20148&quot; value=&quot;5&quot;/&gt;&lt;property id=&quot;20300&quot; value=&quot;Slide 14&quot;/&gt;&lt;property id=&quot;20307&quot; value=&quot;367&quot;/&gt;&lt;/object&gt;&lt;object type=&quot;3&quot; unique_id=&quot;10102&quot;&gt;&lt;property id=&quot;20148&quot; value=&quot;5&quot;/&gt;&lt;property id=&quot;20300&quot; value=&quot;Slide 15&quot;/&gt;&lt;property id=&quot;20307&quot; value=&quot;368&quot;/&gt;&lt;/object&gt;&lt;object type=&quot;3&quot; unique_id=&quot;10103&quot;&gt;&lt;property id=&quot;20148&quot; value=&quot;5&quot;/&gt;&lt;property id=&quot;20300&quot; value=&quot;Slide 17&quot;/&gt;&lt;property id=&quot;20307&quot; value=&quot;338&quot;/&gt;&lt;/object&gt;&lt;object type=&quot;3&quot; unique_id=&quot;10104&quot;&gt;&lt;property id=&quot;20148&quot; value=&quot;5&quot;/&gt;&lt;property id=&quot;20300&quot; value=&quot;Slide 16&quot;/&gt;&lt;property id=&quot;20307&quot; value=&quot;370&quot;/&gt;&lt;/object&gt;&lt;object type=&quot;3&quot; unique_id=&quot;10105&quot;&gt;&lt;property id=&quot;20148&quot; value=&quot;5&quot;/&gt;&lt;property id=&quot;20300&quot; value=&quot;Slide 18&quot;/&gt;&lt;property id=&quot;20307&quot; value=&quot;371&quot;/&gt;&lt;/object&gt;&lt;object type=&quot;3&quot; unique_id=&quot;10106&quot;&gt;&lt;property id=&quot;20148&quot; value=&quot;5&quot;/&gt;&lt;property id=&quot;20300&quot; value=&quot;Slide 19&quot;/&gt;&lt;property id=&quot;20307&quot; value=&quot;372&quot;/&gt;&lt;/object&gt;&lt;object type=&quot;3&quot; unique_id=&quot;10107&quot;&gt;&lt;property id=&quot;20148&quot; value=&quot;5&quot;/&gt;&lt;property id=&quot;20300&quot; value=&quot;Slide 20&quot;/&gt;&lt;property id=&quot;20307&quot; value=&quot;373&quot;/&gt;&lt;/object&gt;&lt;object type=&quot;3&quot; unique_id=&quot;10108&quot;&gt;&lt;property id=&quot;20148&quot; value=&quot;5&quot;/&gt;&lt;property id=&quot;20300&quot; value=&quot;Slide 21&quot;/&gt;&lt;property id=&quot;20307&quot; value=&quot;356&quot;/&gt;&lt;/object&gt;&lt;object type=&quot;3&quot; unique_id=&quot;10114&quot;&gt;&lt;property id=&quot;20148&quot; value=&quot;5&quot;/&gt;&lt;property id=&quot;20300&quot; value=&quot;Slide 22&quot;/&gt;&lt;property id=&quot;20307&quot; value=&quot;351&quot;/&gt;&lt;/object&gt;&lt;object type=&quot;3&quot; unique_id=&quot;10115&quot;&gt;&lt;property id=&quot;20148&quot; value=&quot;5&quot;/&gt;&lt;property id=&quot;20300&quot; value=&quot;Slide 23&quot;/&gt;&lt;property id=&quot;20307&quot; value=&quot;350&quot;/&gt;&lt;/object&gt;&lt;object type=&quot;3&quot; unique_id=&quot;10116&quot;&gt;&lt;property id=&quot;20148&quot; value=&quot;5&quot;/&gt;&lt;property id=&quot;20300&quot; value=&quot;Slide 24&quot;/&gt;&lt;property id=&quot;20307&quot; value=&quot;342&quot;/&gt;&lt;/object&gt;&lt;object type=&quot;3&quot; unique_id=&quot;10117&quot;&gt;&lt;property id=&quot;20148&quot; value=&quot;5&quot;/&gt;&lt;property id=&quot;20300&quot; value=&quot;Slide 25&quot;/&gt;&lt;property id=&quot;20307&quot; value=&quot;343&quot;/&gt;&lt;/object&gt;&lt;object type=&quot;3&quot; unique_id=&quot;10120&quot;&gt;&lt;property id=&quot;20148&quot; value=&quot;5&quot;/&gt;&lt;property id=&quot;20300&quot; value=&quot;Slide 26&quot;/&gt;&lt;property id=&quot;20307&quot; value=&quot;346&quot;/&gt;&lt;/object&gt;&lt;/object&gt;&lt;object type=&quot;8&quot; unique_id=&quot;10155&quot;&gt;&lt;/object&gt;&lt;/object&gt;&lt;/database&gt;"/>
  <p:tag name="SECTOMILLISECCONVERTED" val="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6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6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1465</TotalTime>
  <Words>2750</Words>
  <Application>Microsoft Office PowerPoint</Application>
  <PresentationFormat>On-screen Show (4:3)</PresentationFormat>
  <Paragraphs>435</Paragraphs>
  <Slides>31</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Tahoma</vt:lpstr>
      <vt:lpstr>Arial</vt:lpstr>
      <vt:lpstr>Times New Roman</vt:lpstr>
      <vt:lpstr>Freestyle Script</vt:lpstr>
      <vt:lpstr>Courier New</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Sorting and Searching</dc:title>
  <dc:subject>Sorting and Searching</dc:subject>
  <dc:creator>A+ Computer Science</dc:creator>
  <cp:keywords>www.apluscompsci.com</cp:keywords>
  <dc:description>Sorting and Searching_x000d_
©A+ Computer Science_x000d_
www.apluscompsci.com</dc:description>
  <cp:lastModifiedBy>Weldon Jasik</cp:lastModifiedBy>
  <cp:revision>218</cp:revision>
  <cp:lastPrinted>2000-04-26T16:54:12Z</cp:lastPrinted>
  <dcterms:created xsi:type="dcterms:W3CDTF">1998-04-06T14:13:40Z</dcterms:created>
  <dcterms:modified xsi:type="dcterms:W3CDTF">2024-04-24T12:02:44Z</dcterms:modified>
  <cp:category>www.apluscompsci.com</cp:category>
</cp:coreProperties>
</file>
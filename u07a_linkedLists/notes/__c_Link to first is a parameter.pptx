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60" r:id="rId2"/>
  </p:sldMasterIdLst>
  <p:notesMasterIdLst>
    <p:notesMasterId r:id="rId35"/>
  </p:notesMasterIdLst>
  <p:handoutMasterIdLst>
    <p:handoutMasterId r:id="rId36"/>
  </p:handoutMasterIdLst>
  <p:sldIdLst>
    <p:sldId id="293" r:id="rId3"/>
    <p:sldId id="417" r:id="rId4"/>
    <p:sldId id="258" r:id="rId5"/>
    <p:sldId id="445" r:id="rId6"/>
    <p:sldId id="418" r:id="rId7"/>
    <p:sldId id="388" r:id="rId8"/>
    <p:sldId id="311" r:id="rId9"/>
    <p:sldId id="312" r:id="rId10"/>
    <p:sldId id="383" r:id="rId11"/>
    <p:sldId id="389" r:id="rId12"/>
    <p:sldId id="317" r:id="rId13"/>
    <p:sldId id="365" r:id="rId14"/>
    <p:sldId id="409" r:id="rId15"/>
    <p:sldId id="419" r:id="rId16"/>
    <p:sldId id="422" r:id="rId17"/>
    <p:sldId id="424" r:id="rId18"/>
    <p:sldId id="448" r:id="rId19"/>
    <p:sldId id="449" r:id="rId20"/>
    <p:sldId id="450" r:id="rId21"/>
    <p:sldId id="451" r:id="rId22"/>
    <p:sldId id="427" r:id="rId23"/>
    <p:sldId id="384" r:id="rId24"/>
    <p:sldId id="453" r:id="rId25"/>
    <p:sldId id="454" r:id="rId26"/>
    <p:sldId id="452" r:id="rId27"/>
    <p:sldId id="455" r:id="rId28"/>
    <p:sldId id="456" r:id="rId29"/>
    <p:sldId id="432" r:id="rId30"/>
    <p:sldId id="430" r:id="rId31"/>
    <p:sldId id="433" r:id="rId32"/>
    <p:sldId id="434" r:id="rId33"/>
    <p:sldId id="322" r:id="rId3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E1"/>
    <a:srgbClr val="0000CC"/>
    <a:srgbClr val="336633"/>
    <a:srgbClr val="0000FF"/>
    <a:srgbClr val="330099"/>
    <a:srgbClr val="E7F6EF"/>
    <a:srgbClr val="CBECDE"/>
    <a:srgbClr val="A50021"/>
    <a:srgbClr val="CC3300"/>
    <a:srgbClr val="33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74497" autoAdjust="0"/>
  </p:normalViewPr>
  <p:slideViewPr>
    <p:cSldViewPr snapToGrid="0">
      <p:cViewPr>
        <p:scale>
          <a:sx n="75" d="100"/>
          <a:sy n="75" d="100"/>
        </p:scale>
        <p:origin x="869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980"/>
    </p:cViewPr>
  </p:sorterViewPr>
  <p:notesViewPr>
    <p:cSldViewPr snapToGrid="0">
      <p:cViewPr varScale="1">
        <p:scale>
          <a:sx n="60" d="100"/>
          <a:sy n="60" d="100"/>
        </p:scale>
        <p:origin x="-2490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A81C265-B1C2-471B-B18F-DD82EF45B82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C079320B-1D61-4E30-ADCA-00847373434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B15ECF5B-F8C0-4CF7-8C65-84BA085BDC2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03A3E004-1F63-40F0-9663-8858D997242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432E2B96-9C06-4A8B-9DEE-BF176AD5E0C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19E576DC-6DB4-4542-9148-85BEECA101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14833FEA-F53C-4FE8-A51A-3ECBE46CF2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2036EBB4-7F48-4E22-98D8-07B6AE5A5E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B3DB2B02-83C6-4523-BE7F-85F7AE5011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7799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C7805699-0433-4C85-97D3-24686370B0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187FF283-508F-4D33-B08D-8538F48ADA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68491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C7805699-0433-4C85-97D3-24686370B0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187FF283-508F-4D33-B08D-8538F48ADA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702D8EB7-D755-4600-B528-6FFB7C9ECE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F84C0684-5E9A-4DE3-AA93-16FB5ADC5A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6FC505B1-EF2F-4A46-8FA9-AC13D76D32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D829EDC9-D5B1-4579-9744-6F7A44138D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CBF7306C-0BAD-49CA-97B5-EB426F7EBC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DF377936-0AC3-4A33-B9FA-B575A007D3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 dirty="0"/>
              <a:t>NPE == </a:t>
            </a:r>
            <a:r>
              <a:rPr lang="en-US" altLang="en-US" dirty="0" err="1"/>
              <a:t>NullPointerException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06CF32E0-6CB3-444C-9653-D2749797DE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B66CD9A4-6460-42CA-9BB1-59D60E07F9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8486F1AD-5519-42AB-9116-0BEA9523B2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BBEEBCFA-4105-4E1A-9BFF-6F1DEA8C35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35AD3AB9-CB8A-451F-9505-0EDC74EF49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70C20E36-57B2-43F3-A731-FF01AED6F8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75E26B8-6D24-43AA-8A04-CCACE779D5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CCAC2BC8-C57B-4833-BDB5-84A1A6A513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A547579A-EDF0-44CB-8187-C596E907D7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73BA74A2-D5EF-41E7-817E-F0A7DB09AA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3E06D021-24B6-4F47-A1D7-96132A88AE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8D6D36A0-427A-4B38-8A9D-ADE4387587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01B2C66C-8921-4C21-B3D8-11FA0D05A0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1B7F3D1D-1FD0-4E86-A3E5-D5987C1439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CBD96D12-DEF8-44BD-8BED-7A86F9273E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3C02A26C-C626-4B63-A790-FE6A9343F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CBD96D12-DEF8-44BD-8BED-7A86F9273E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3C02A26C-C626-4B63-A790-FE6A9343F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16701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C650E-2B30-5574-56FB-CA6C92FD1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D0659D40-B9EE-8B0C-A623-9BF463F995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3861C38D-6A53-E1B4-1125-336E65FC15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1178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9DA85-9E57-7D42-A642-9EDE71215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97A87E03-048F-347D-D741-4EED28C442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B69A594E-BE22-AE04-928B-FBE93AFC2E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16601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28389-3425-4A39-613B-2D35B30CA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B57519D2-30B2-C23E-1508-9B0816AC5E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31AB0F63-EE8D-B2BE-78CC-EA42724B68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29931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97BDF265-0DEB-42E4-B899-9D28C7411A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41EACA4D-ADEE-48A8-9D64-6F5C1179AB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7AE3A6ED-1353-47D9-8A31-B7C2B66C3A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498FB0CC-135C-4CC1-BB4C-9EDE445782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D6ED2-4F1F-6D8E-6E1F-CE1C432F6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F547865C-DCCD-0F7F-FD0C-D8C9C30FF2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82C6F1C6-2B1F-2932-042D-F6E02A32F2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83530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FEA3B-BE26-35A8-0F65-B8C8A93E9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D2758DB0-4B1C-121C-77BB-54A411344F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FFBFC438-7FD0-07E6-ED32-F0471B406D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 dirty="0"/>
              <a:t>In lab 2, front is a parameter, and even if we made it store a link to a new node, it wouldn’t affect the variable used by the caller of our method.</a:t>
            </a:r>
          </a:p>
        </p:txBody>
      </p:sp>
    </p:spTree>
    <p:extLst>
      <p:ext uri="{BB962C8B-B14F-4D97-AF65-F5344CB8AC3E}">
        <p14:creationId xmlns:p14="http://schemas.microsoft.com/office/powerpoint/2010/main" val="4989366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5FBFF-676B-7903-814B-0E832E8F6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25E09CEA-AB6A-A1F1-FCD0-A0D0CA03D4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447A4A5B-BA5E-F6EB-BB86-C40869E33B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46581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CC5DC-D3F4-5845-C5ED-2E3D0F484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40297531-7F66-26C3-40FF-67D79ABA68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44996F87-E350-4434-59DD-65841594D6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23714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EE70D2F4-8005-4666-BC3D-E5522E922C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A05F7BEA-553F-44B6-94B8-93DC28CB74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54B1B619-2A55-4AEC-BC24-8FED882FDD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9D098FA6-B2B3-4B76-AB49-B9AC6F75A1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DC9E6D4E-2D2F-41AD-8AE5-16078FFE80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40816827-D5EA-42A0-BFC4-7804718386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>
            <a:extLst>
              <a:ext uri="{FF2B5EF4-FFF2-40B4-BE49-F238E27FC236}">
                <a16:creationId xmlns:a16="http://schemas.microsoft.com/office/drawing/2014/main" id="{5187CD12-5497-4DDF-9C98-98A15949EF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E11EB7B8-A0FF-4BCC-B2CD-4019EA172C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7C436ECF-3E6B-4665-ABA7-2794B6014A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74F64F6E-FD33-4346-A98A-105E3019BB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EBF3316-E646-42D9-8491-E12A9C4048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E673751-D0D4-43BF-9E1A-72989C9732C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9D4E20-2045-446F-8110-A1D77EC4BE8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478EFA95-EF3B-4222-A3CA-5E10D92C5BCA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580888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1B63385-1929-4C1F-A072-F78EEB7386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3D53940-8057-45C2-9093-55DACDCF9F3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5221E9-ABCE-473C-8C79-A8DF224B52F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CBE5D1C3-C3DF-45BD-8F37-37681FF5C2A9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145162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D5728C1-44C7-4F0A-89DF-771925D48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3D13E40-E81D-4E96-9021-2A0B3C57414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2DCF54-775B-4199-891C-34263C8AF26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3A82CD45-B035-427B-88B8-394645F8E13A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652971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862C17-16AA-4F13-81AB-C05410E03B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D66B823-CA31-4381-B375-435BACEB3E9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B4E660-17D2-40E5-B3BD-BC03864065E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63458B24-48D2-43F1-BC11-4E230F00F90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168294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14294D4-68DB-4E20-9466-9928CD6044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4CEEA9B9-4060-44F3-9AD7-4B900F08EF4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EB224B-3A84-4B86-87F2-077C1E787C5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5BF0EF-3CEB-41B1-8AD1-F127147BBB86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835754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7DE7DEE-5D88-4355-BDE6-BBA7ED7B54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A287BB4-C04A-47E1-A1F6-23F2C7A4A1A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BE6CE5-F13E-4D24-BA7C-643E41200EC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CD73FFD8-3921-48F3-8003-26A59728B261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250589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E5B0FDC-0D0A-4406-BEE6-E8698520D5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63FDAF6-65D3-4AE7-B413-A26956CCB68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E82FFA-A343-41F8-A944-CCDE55561D4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421D90BC-2638-46DE-9682-9F668B9CD7A2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409702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4B4995-4616-4DE8-AD50-3A73A7367A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4052D76-1CB4-4CD5-9C04-7754CA0B17D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CD2388-4565-4435-8190-53E6AAE269A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546DBB93-3436-4DC8-AEC3-7C8388C08EC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955524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0B9C28-A8D0-44D8-B8C9-05BB457440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28E2729-0597-4F39-A654-EAFB0AEB31E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9B5FFE-6466-4B74-B71A-09E45EE1709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D3E93671-63A0-4C1C-889D-F441D74F363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260003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B0B54FB-B5E1-45CF-B97A-22EA9CBC1C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81E3E92-8E25-42AD-8604-44398226F73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02501B-F662-4AD6-943B-F6AA86CA345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32EEEAFE-5003-4CAB-AD93-494549780587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46611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28D8E88-BFE0-4946-B9AE-3090869588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0FCD7A5-36D9-4313-850C-87B15B5D368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77F7B4-CAB9-4642-B967-205A05C5494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125898C-59DC-447A-A842-049798986F51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9370030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3"/>
          <p:cNvGrpSpPr>
            <a:grpSpLocks/>
          </p:cNvGrpSpPr>
          <p:nvPr/>
        </p:nvGrpSpPr>
        <p:grpSpPr bwMode="auto">
          <a:xfrm>
            <a:off x="-9525" y="0"/>
            <a:ext cx="9169400" cy="533400"/>
            <a:chOff x="-6" y="-180"/>
            <a:chExt cx="5776" cy="516"/>
          </a:xfrm>
        </p:grpSpPr>
        <p:sp>
          <p:nvSpPr>
            <p:cNvPr id="5" name="Freeform 4"/>
            <p:cNvSpPr>
              <a:spLocks/>
            </p:cNvSpPr>
            <p:nvPr/>
          </p:nvSpPr>
          <p:spPr bwMode="auto">
            <a:xfrm>
              <a:off x="-6" y="-180"/>
              <a:ext cx="5772" cy="5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6" y="2"/>
                </a:cxn>
                <a:cxn ang="0">
                  <a:pos x="2542" y="0"/>
                </a:cxn>
                <a:cxn ang="0">
                  <a:pos x="4374" y="367"/>
                </a:cxn>
                <a:cxn ang="0">
                  <a:pos x="5766" y="55"/>
                </a:cxn>
                <a:cxn ang="0">
                  <a:pos x="5772" y="213"/>
                </a:cxn>
                <a:cxn ang="0">
                  <a:pos x="4302" y="439"/>
                </a:cxn>
                <a:cxn ang="0">
                  <a:pos x="1488" y="201"/>
                </a:cxn>
                <a:cxn ang="0">
                  <a:pos x="0" y="656"/>
                </a:cxn>
                <a:cxn ang="0">
                  <a:pos x="6" y="2"/>
                </a:cxn>
              </a:cxnLst>
              <a:rect l="0" t="0" r="0" b="0"/>
              <a:pathLst>
                <a:path w="5772" h="656">
                  <a:moveTo>
                    <a:pt x="6" y="2"/>
                  </a:moveTo>
                  <a:lnTo>
                    <a:pt x="2542" y="0"/>
                  </a:lnTo>
                  <a:cubicBezTo>
                    <a:pt x="2746" y="101"/>
                    <a:pt x="3828" y="367"/>
                    <a:pt x="4374" y="367"/>
                  </a:cubicBezTo>
                  <a:cubicBezTo>
                    <a:pt x="4920" y="367"/>
                    <a:pt x="5526" y="152"/>
                    <a:pt x="5766" y="55"/>
                  </a:cubicBezTo>
                  <a:lnTo>
                    <a:pt x="5772" y="213"/>
                  </a:lnTo>
                  <a:cubicBezTo>
                    <a:pt x="5670" y="257"/>
                    <a:pt x="5016" y="441"/>
                    <a:pt x="4302" y="439"/>
                  </a:cubicBezTo>
                  <a:cubicBezTo>
                    <a:pt x="3588" y="437"/>
                    <a:pt x="2205" y="165"/>
                    <a:pt x="1488" y="201"/>
                  </a:cubicBezTo>
                  <a:cubicBezTo>
                    <a:pt x="750" y="209"/>
                    <a:pt x="270" y="482"/>
                    <a:pt x="0" y="656"/>
                  </a:cubicBezTo>
                  <a:lnTo>
                    <a:pt x="6" y="2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shade val="50000"/>
                    <a:alpha val="45000"/>
                    <a:satMod val="120000"/>
                  </a:schemeClr>
                </a:gs>
                <a:gs pos="100000">
                  <a:schemeClr val="accent3">
                    <a:shade val="80000"/>
                    <a:alpha val="55000"/>
                    <a:satMod val="155000"/>
                  </a:schemeClr>
                </a:gs>
              </a:gsLst>
              <a:lin ang="54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  <a:cs typeface="Times New Roman" charset="0"/>
              </a:endParaRPr>
            </a:p>
          </p:txBody>
        </p:sp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2688" y="-180"/>
              <a:ext cx="3072" cy="263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1668" y="564"/>
                </a:cxn>
                <a:cxn ang="0">
                  <a:pos x="3000" y="186"/>
                </a:cxn>
                <a:cxn ang="0">
                  <a:pos x="3000" y="6"/>
                </a:cxn>
                <a:cxn ang="0">
                  <a:pos x="0" y="0"/>
                </a:cxn>
              </a:cxnLst>
              <a:rect l="0" t="0" r="0" b="0"/>
              <a:pathLst>
                <a:path w="3000" h="595">
                  <a:moveTo>
                    <a:pt x="0" y="0"/>
                  </a:moveTo>
                  <a:cubicBezTo>
                    <a:pt x="174" y="102"/>
                    <a:pt x="1168" y="533"/>
                    <a:pt x="1668" y="564"/>
                  </a:cubicBezTo>
                  <a:cubicBezTo>
                    <a:pt x="2168" y="595"/>
                    <a:pt x="2778" y="279"/>
                    <a:pt x="3000" y="186"/>
                  </a:cubicBezTo>
                  <a:lnTo>
                    <a:pt x="3000" y="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3">
                    <a:shade val="50000"/>
                    <a:alpha val="30000"/>
                    <a:satMod val="130000"/>
                  </a:schemeClr>
                </a:gs>
                <a:gs pos="80000">
                  <a:schemeClr val="accent2">
                    <a:shade val="75000"/>
                    <a:alpha val="45000"/>
                    <a:satMod val="140000"/>
                  </a:schemeClr>
                </a:gs>
              </a:gsLst>
              <a:lin ang="54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  <a:cs typeface="Times New Roman" charset="0"/>
              </a:endParaRPr>
            </a:p>
          </p:txBody>
        </p:sp>
        <p:grpSp>
          <p:nvGrpSpPr>
            <p:cNvPr id="7" name="Group 1"/>
            <p:cNvGrpSpPr>
              <a:grpSpLocks/>
            </p:cNvGrpSpPr>
            <p:nvPr/>
          </p:nvGrpSpPr>
          <p:grpSpPr bwMode="auto">
            <a:xfrm>
              <a:off x="0" y="-42"/>
              <a:ext cx="5770" cy="246"/>
              <a:chOff x="-13880" y="438044"/>
              <a:chExt cx="9173112" cy="427357"/>
            </a:xfrm>
          </p:grpSpPr>
          <p:sp>
            <p:nvSpPr>
              <p:cNvPr id="8" name="Freeform 7"/>
              <p:cNvSpPr>
                <a:spLocks/>
              </p:cNvSpPr>
              <p:nvPr/>
            </p:nvSpPr>
            <p:spPr bwMode="auto">
              <a:xfrm rot="21435692">
                <a:off x="-13880" y="438118"/>
                <a:ext cx="9173112" cy="427283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0" y="966"/>
                  </a:cxn>
                  <a:cxn ang="0">
                    <a:pos x="1608" y="282"/>
                  </a:cxn>
                  <a:cxn ang="0">
                    <a:pos x="4110" y="1008"/>
                  </a:cxn>
                  <a:cxn ang="0">
                    <a:pos x="5772" y="0"/>
                  </a:cxn>
                </a:cxnLst>
                <a:rect l="0" t="0" r="0" b="0"/>
                <a:pathLst>
                  <a:path w="5772" h="1055">
                    <a:moveTo>
                      <a:pt x="0" y="966"/>
                    </a:moveTo>
                    <a:cubicBezTo>
                      <a:pt x="282" y="738"/>
                      <a:pt x="923" y="275"/>
                      <a:pt x="1608" y="282"/>
                    </a:cubicBezTo>
                    <a:cubicBezTo>
                      <a:pt x="2293" y="289"/>
                      <a:pt x="3416" y="1055"/>
                      <a:pt x="4110" y="1008"/>
                    </a:cubicBezTo>
                    <a:cubicBezTo>
                      <a:pt x="4804" y="961"/>
                      <a:pt x="5426" y="210"/>
                      <a:pt x="5772" y="0"/>
                    </a:cubicBezTo>
                  </a:path>
                </a:pathLst>
              </a:custGeom>
              <a:noFill/>
              <a:ln w="10795" cap="flat" cmpd="sng" algn="ctr">
                <a:gradFill>
                  <a:gsLst>
                    <a:gs pos="74000">
                      <a:schemeClr val="accent3">
                        <a:shade val="75000"/>
                      </a:schemeClr>
                    </a:gs>
                    <a:gs pos="86000">
                      <a:schemeClr val="tx1">
                        <a:alpha val="29000"/>
                      </a:schemeClr>
                    </a:gs>
                    <a:gs pos="16000">
                      <a:schemeClr val="accent2">
                        <a:shade val="75000"/>
                        <a:alpha val="56000"/>
                      </a:schemeClr>
                    </a:gs>
                  </a:gsLst>
                  <a:lin ang="5400000" scaled="1"/>
                </a:gra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ＭＳ Ｐゴシック" charset="0"/>
                    <a:cs typeface="Times New Roman" charset="0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5pPr>
                <a:lvl6pPr marL="4572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6pPr>
                <a:lvl7pPr marL="9144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7pPr>
                <a:lvl8pPr marL="13716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8pPr>
                <a:lvl9pPr marL="18288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9pPr>
              </a:lstStyle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9" name="Freeform 8"/>
              <p:cNvSpPr>
                <a:spLocks/>
              </p:cNvSpPr>
              <p:nvPr/>
            </p:nvSpPr>
            <p:spPr bwMode="auto">
              <a:xfrm rot="21435692">
                <a:off x="-10858" y="438044"/>
                <a:ext cx="9169042" cy="382392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0" y="732"/>
                  </a:cxn>
                  <a:cxn ang="0">
                    <a:pos x="1638" y="228"/>
                  </a:cxn>
                  <a:cxn ang="0">
                    <a:pos x="4122" y="816"/>
                  </a:cxn>
                  <a:cxn ang="0">
                    <a:pos x="5766" y="0"/>
                  </a:cxn>
                </a:cxnLst>
                <a:rect l="0" t="0" r="0" b="0"/>
                <a:pathLst>
                  <a:path w="5766" h="854">
                    <a:moveTo>
                      <a:pt x="0" y="732"/>
                    </a:moveTo>
                    <a:cubicBezTo>
                      <a:pt x="273" y="647"/>
                      <a:pt x="951" y="214"/>
                      <a:pt x="1638" y="228"/>
                    </a:cubicBezTo>
                    <a:cubicBezTo>
                      <a:pt x="2325" y="242"/>
                      <a:pt x="3434" y="854"/>
                      <a:pt x="4122" y="816"/>
                    </a:cubicBezTo>
                    <a:cubicBezTo>
                      <a:pt x="4810" y="778"/>
                      <a:pt x="5424" y="170"/>
                      <a:pt x="5766" y="0"/>
                    </a:cubicBezTo>
                  </a:path>
                </a:pathLst>
              </a:custGeom>
              <a:noFill/>
              <a:ln w="9525" cap="flat" cmpd="sng" algn="ctr">
                <a:gradFill>
                  <a:gsLst>
                    <a:gs pos="74000">
                      <a:schemeClr val="accent4"/>
                    </a:gs>
                    <a:gs pos="44000">
                      <a:schemeClr val="accent1"/>
                    </a:gs>
                    <a:gs pos="33000">
                      <a:schemeClr val="accent2">
                        <a:alpha val="56000"/>
                      </a:schemeClr>
                    </a:gs>
                  </a:gsLst>
                  <a:lin ang="5400000" scaled="1"/>
                </a:gra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ＭＳ Ｐゴシック" charset="0"/>
                    <a:cs typeface="Times New Roman" charset="0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5pPr>
                <a:lvl6pPr marL="4572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6pPr>
                <a:lvl7pPr marL="9144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7pPr>
                <a:lvl8pPr marL="13716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8pPr>
                <a:lvl9pPr marL="18288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9pPr>
              </a:lstStyle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</p:grpSp>
      <p:sp>
        <p:nvSpPr>
          <p:cNvPr id="81924" name="Title Placeholder 8"/>
          <p:cNvSpPr>
            <a:spLocks noGrp="1"/>
          </p:cNvSpPr>
          <p:nvPr>
            <p:ph type="ctrTitle"/>
          </p:nvPr>
        </p:nvSpPr>
        <p:spPr>
          <a:xfrm>
            <a:off x="685800" y="1219200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1925" name="Text Placeholder 29"/>
          <p:cNvSpPr>
            <a:spLocks noGrp="1"/>
          </p:cNvSpPr>
          <p:nvPr>
            <p:ph type="subTitle" idx="1"/>
          </p:nvPr>
        </p:nvSpPr>
        <p:spPr>
          <a:xfrm>
            <a:off x="685800" y="3276600"/>
            <a:ext cx="7772400" cy="1752600"/>
          </a:xfrm>
          <a:ln w="9525"/>
        </p:spPr>
        <p:txBody>
          <a:bodyPr/>
          <a:lstStyle>
            <a:lvl1pPr marL="0" indent="0" algn="ctr">
              <a:buFont typeface="Wingdings 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809416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040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37268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040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7831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  <a:prstGeom prst="rect">
            <a:avLst/>
          </a:prstGeo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34671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9738"/>
            <a:ext cx="8229600" cy="7032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9154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3944905" y="6504997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212</a:t>
            </a:r>
          </a:p>
        </p:txBody>
      </p:sp>
    </p:spTree>
    <p:extLst>
      <p:ext uri="{BB962C8B-B14F-4D97-AF65-F5344CB8AC3E}">
        <p14:creationId xmlns:p14="http://schemas.microsoft.com/office/powerpoint/2010/main" val="32533985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6001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D8ECE40-9177-464C-A4A0-7C90B8D9EB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75881AF-BAC6-4DB8-A6D2-914CCD1132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D3B868F-2FA4-4A5C-BDEA-D9F6757CE90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C7E766D-CF08-415B-A339-93DF86FAD9D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EBA80AB3-A713-496F-8928-FDA1A35C4B2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23DCD569-0E93-4D9A-821B-CDE4264A307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800" b="1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0">
              <a:latin typeface="Tahoma" pitchFamily="34" charset="0"/>
            </a:endParaRPr>
          </a:p>
          <a:p>
            <a:pPr>
              <a:defRPr/>
            </a:pPr>
            <a:endParaRPr lang="en-US" altLang="en-US">
              <a:latin typeface="Tahoma" pitchFamily="34" charset="0"/>
            </a:endParaRPr>
          </a:p>
          <a:p>
            <a:pPr>
              <a:defRPr/>
            </a:pPr>
            <a:r>
              <a:rPr lang="en-US" altLang="en-US">
                <a:latin typeface="Tahoma" pitchFamily="34" charset="0"/>
              </a:rPr>
              <a:t>© A+ Computer Science  -  www.apluscompsci.com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8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228600" y="1371600"/>
            <a:ext cx="89154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grpSp>
        <p:nvGrpSpPr>
          <p:cNvPr id="1028" name="Group 24"/>
          <p:cNvGrpSpPr>
            <a:grpSpLocks/>
          </p:cNvGrpSpPr>
          <p:nvPr/>
        </p:nvGrpSpPr>
        <p:grpSpPr bwMode="auto">
          <a:xfrm>
            <a:off x="-9525" y="0"/>
            <a:ext cx="9169400" cy="533400"/>
            <a:chOff x="-6" y="-180"/>
            <a:chExt cx="5776" cy="516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-6" y="-180"/>
              <a:ext cx="5772" cy="5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6" y="2"/>
                </a:cxn>
                <a:cxn ang="0">
                  <a:pos x="2542" y="0"/>
                </a:cxn>
                <a:cxn ang="0">
                  <a:pos x="4374" y="367"/>
                </a:cxn>
                <a:cxn ang="0">
                  <a:pos x="5766" y="55"/>
                </a:cxn>
                <a:cxn ang="0">
                  <a:pos x="5772" y="213"/>
                </a:cxn>
                <a:cxn ang="0">
                  <a:pos x="4302" y="439"/>
                </a:cxn>
                <a:cxn ang="0">
                  <a:pos x="1488" y="201"/>
                </a:cxn>
                <a:cxn ang="0">
                  <a:pos x="0" y="656"/>
                </a:cxn>
                <a:cxn ang="0">
                  <a:pos x="6" y="2"/>
                </a:cxn>
              </a:cxnLst>
              <a:rect l="0" t="0" r="0" b="0"/>
              <a:pathLst>
                <a:path w="5772" h="656">
                  <a:moveTo>
                    <a:pt x="6" y="2"/>
                  </a:moveTo>
                  <a:lnTo>
                    <a:pt x="2542" y="0"/>
                  </a:lnTo>
                  <a:cubicBezTo>
                    <a:pt x="2746" y="101"/>
                    <a:pt x="3828" y="367"/>
                    <a:pt x="4374" y="367"/>
                  </a:cubicBezTo>
                  <a:cubicBezTo>
                    <a:pt x="4920" y="367"/>
                    <a:pt x="5526" y="152"/>
                    <a:pt x="5766" y="55"/>
                  </a:cubicBezTo>
                  <a:lnTo>
                    <a:pt x="5772" y="213"/>
                  </a:lnTo>
                  <a:cubicBezTo>
                    <a:pt x="5670" y="257"/>
                    <a:pt x="5016" y="441"/>
                    <a:pt x="4302" y="439"/>
                  </a:cubicBezTo>
                  <a:cubicBezTo>
                    <a:pt x="3588" y="437"/>
                    <a:pt x="2205" y="165"/>
                    <a:pt x="1488" y="201"/>
                  </a:cubicBezTo>
                  <a:cubicBezTo>
                    <a:pt x="750" y="209"/>
                    <a:pt x="270" y="482"/>
                    <a:pt x="0" y="656"/>
                  </a:cubicBezTo>
                  <a:lnTo>
                    <a:pt x="6" y="2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shade val="50000"/>
                    <a:alpha val="45000"/>
                    <a:satMod val="120000"/>
                  </a:schemeClr>
                </a:gs>
                <a:gs pos="100000">
                  <a:schemeClr val="accent3">
                    <a:shade val="80000"/>
                    <a:alpha val="55000"/>
                    <a:satMod val="155000"/>
                  </a:schemeClr>
                </a:gs>
              </a:gsLst>
              <a:lin ang="54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  <a:cs typeface="Times New Roman" charset="0"/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2688" y="-180"/>
              <a:ext cx="3072" cy="263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1668" y="564"/>
                </a:cxn>
                <a:cxn ang="0">
                  <a:pos x="3000" y="186"/>
                </a:cxn>
                <a:cxn ang="0">
                  <a:pos x="3000" y="6"/>
                </a:cxn>
                <a:cxn ang="0">
                  <a:pos x="0" y="0"/>
                </a:cxn>
              </a:cxnLst>
              <a:rect l="0" t="0" r="0" b="0"/>
              <a:pathLst>
                <a:path w="3000" h="595">
                  <a:moveTo>
                    <a:pt x="0" y="0"/>
                  </a:moveTo>
                  <a:cubicBezTo>
                    <a:pt x="174" y="102"/>
                    <a:pt x="1168" y="533"/>
                    <a:pt x="1668" y="564"/>
                  </a:cubicBezTo>
                  <a:cubicBezTo>
                    <a:pt x="2168" y="595"/>
                    <a:pt x="2778" y="279"/>
                    <a:pt x="3000" y="186"/>
                  </a:cubicBezTo>
                  <a:lnTo>
                    <a:pt x="3000" y="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3">
                    <a:shade val="50000"/>
                    <a:alpha val="30000"/>
                    <a:satMod val="130000"/>
                  </a:schemeClr>
                </a:gs>
                <a:gs pos="80000">
                  <a:schemeClr val="accent2">
                    <a:shade val="75000"/>
                    <a:alpha val="45000"/>
                    <a:satMod val="140000"/>
                  </a:schemeClr>
                </a:gs>
              </a:gsLst>
              <a:lin ang="54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  <a:cs typeface="Times New Roman" charset="0"/>
              </a:endParaRPr>
            </a:p>
          </p:txBody>
        </p:sp>
        <p:grpSp>
          <p:nvGrpSpPr>
            <p:cNvPr id="1032" name="Group 1"/>
            <p:cNvGrpSpPr>
              <a:grpSpLocks/>
            </p:cNvGrpSpPr>
            <p:nvPr/>
          </p:nvGrpSpPr>
          <p:grpSpPr bwMode="auto">
            <a:xfrm>
              <a:off x="0" y="-42"/>
              <a:ext cx="5770" cy="246"/>
              <a:chOff x="-13880" y="438044"/>
              <a:chExt cx="9173112" cy="427357"/>
            </a:xfrm>
          </p:grpSpPr>
          <p:sp>
            <p:nvSpPr>
              <p:cNvPr id="12" name="Freeform 11"/>
              <p:cNvSpPr>
                <a:spLocks/>
              </p:cNvSpPr>
              <p:nvPr/>
            </p:nvSpPr>
            <p:spPr bwMode="auto">
              <a:xfrm rot="21435692">
                <a:off x="-13880" y="438118"/>
                <a:ext cx="9173112" cy="427283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0" y="966"/>
                  </a:cxn>
                  <a:cxn ang="0">
                    <a:pos x="1608" y="282"/>
                  </a:cxn>
                  <a:cxn ang="0">
                    <a:pos x="4110" y="1008"/>
                  </a:cxn>
                  <a:cxn ang="0">
                    <a:pos x="5772" y="0"/>
                  </a:cxn>
                </a:cxnLst>
                <a:rect l="0" t="0" r="0" b="0"/>
                <a:pathLst>
                  <a:path w="5772" h="1055">
                    <a:moveTo>
                      <a:pt x="0" y="966"/>
                    </a:moveTo>
                    <a:cubicBezTo>
                      <a:pt x="282" y="738"/>
                      <a:pt x="923" y="275"/>
                      <a:pt x="1608" y="282"/>
                    </a:cubicBezTo>
                    <a:cubicBezTo>
                      <a:pt x="2293" y="289"/>
                      <a:pt x="3416" y="1055"/>
                      <a:pt x="4110" y="1008"/>
                    </a:cubicBezTo>
                    <a:cubicBezTo>
                      <a:pt x="4804" y="961"/>
                      <a:pt x="5426" y="210"/>
                      <a:pt x="5772" y="0"/>
                    </a:cubicBezTo>
                  </a:path>
                </a:pathLst>
              </a:custGeom>
              <a:noFill/>
              <a:ln w="10795" cap="flat" cmpd="sng" algn="ctr">
                <a:gradFill>
                  <a:gsLst>
                    <a:gs pos="74000">
                      <a:schemeClr val="accent3">
                        <a:shade val="75000"/>
                      </a:schemeClr>
                    </a:gs>
                    <a:gs pos="86000">
                      <a:schemeClr val="tx1">
                        <a:alpha val="29000"/>
                      </a:schemeClr>
                    </a:gs>
                    <a:gs pos="16000">
                      <a:schemeClr val="accent2">
                        <a:shade val="75000"/>
                        <a:alpha val="56000"/>
                      </a:schemeClr>
                    </a:gs>
                  </a:gsLst>
                  <a:lin ang="5400000" scaled="1"/>
                </a:gra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ＭＳ Ｐゴシック" charset="0"/>
                    <a:cs typeface="Times New Roman" charset="0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5pPr>
                <a:lvl6pPr marL="4572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6pPr>
                <a:lvl7pPr marL="9144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7pPr>
                <a:lvl8pPr marL="13716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8pPr>
                <a:lvl9pPr marL="18288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9pPr>
              </a:lstStyle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3" name="Freeform 12"/>
              <p:cNvSpPr>
                <a:spLocks/>
              </p:cNvSpPr>
              <p:nvPr/>
            </p:nvSpPr>
            <p:spPr bwMode="auto">
              <a:xfrm rot="21435692">
                <a:off x="-10858" y="438044"/>
                <a:ext cx="9169042" cy="382392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0" y="732"/>
                  </a:cxn>
                  <a:cxn ang="0">
                    <a:pos x="1638" y="228"/>
                  </a:cxn>
                  <a:cxn ang="0">
                    <a:pos x="4122" y="816"/>
                  </a:cxn>
                  <a:cxn ang="0">
                    <a:pos x="5766" y="0"/>
                  </a:cxn>
                </a:cxnLst>
                <a:rect l="0" t="0" r="0" b="0"/>
                <a:pathLst>
                  <a:path w="5766" h="854">
                    <a:moveTo>
                      <a:pt x="0" y="732"/>
                    </a:moveTo>
                    <a:cubicBezTo>
                      <a:pt x="273" y="647"/>
                      <a:pt x="951" y="214"/>
                      <a:pt x="1638" y="228"/>
                    </a:cubicBezTo>
                    <a:cubicBezTo>
                      <a:pt x="2325" y="242"/>
                      <a:pt x="3434" y="854"/>
                      <a:pt x="4122" y="816"/>
                    </a:cubicBezTo>
                    <a:cubicBezTo>
                      <a:pt x="4810" y="778"/>
                      <a:pt x="5424" y="170"/>
                      <a:pt x="5766" y="0"/>
                    </a:cubicBezTo>
                  </a:path>
                </a:pathLst>
              </a:custGeom>
              <a:noFill/>
              <a:ln w="9525" cap="flat" cmpd="sng" algn="ctr">
                <a:gradFill>
                  <a:gsLst>
                    <a:gs pos="74000">
                      <a:schemeClr val="accent4"/>
                    </a:gs>
                    <a:gs pos="44000">
                      <a:schemeClr val="accent1"/>
                    </a:gs>
                    <a:gs pos="33000">
                      <a:schemeClr val="accent2">
                        <a:alpha val="56000"/>
                      </a:schemeClr>
                    </a:gs>
                  </a:gsLst>
                  <a:lin ang="5400000" scaled="1"/>
                </a:gra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ＭＳ Ｐゴシック" charset="0"/>
                    <a:cs typeface="Times New Roman" charset="0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5pPr>
                <a:lvl6pPr marL="4572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6pPr>
                <a:lvl7pPr marL="9144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7pPr>
                <a:lvl8pPr marL="13716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8pPr>
                <a:lvl9pPr marL="18288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9pPr>
              </a:lstStyle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</p:grpSp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8326438" y="6430963"/>
            <a:ext cx="762000" cy="365125"/>
          </a:xfrm>
          <a:prstGeom prst="rect">
            <a:avLst/>
          </a:prstGeom>
          <a:noFill/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buFont typeface="Wingdings" panose="05000000000000000000" pitchFamily="2" charset="2"/>
              <a:buNone/>
              <a:defRPr/>
            </a:pPr>
            <a:fld id="{4902ECC2-4A39-4E20-AECF-DDF2B3AC0189}" type="slidenum">
              <a:rPr lang="en-US" altLang="en-US" sz="1200" smtClean="0">
                <a:solidFill>
                  <a:srgbClr val="424242"/>
                </a:solidFill>
              </a:rPr>
              <a:pPr algn="r" eaLnBrk="1" hangingPunct="1">
                <a:buFont typeface="Wingdings" panose="05000000000000000000" pitchFamily="2" charset="2"/>
                <a:buNone/>
                <a:defRPr/>
              </a:pPr>
              <a:t>‹#›</a:t>
            </a:fld>
            <a:endParaRPr lang="en-US" altLang="en-US" sz="1200">
              <a:solidFill>
                <a:srgbClr val="424242"/>
              </a:solidFill>
            </a:endParaRPr>
          </a:p>
        </p:txBody>
      </p:sp>
      <p:sp>
        <p:nvSpPr>
          <p:cNvPr id="11" name="AutoShape 3"/>
          <p:cNvSpPr>
            <a:spLocks noChangeArrowheads="1"/>
          </p:cNvSpPr>
          <p:nvPr userDrawn="1"/>
        </p:nvSpPr>
        <p:spPr bwMode="auto">
          <a:xfrm>
            <a:off x="0" y="0"/>
            <a:ext cx="9144000" cy="1246414"/>
          </a:xfrm>
          <a:prstGeom prst="roundRect">
            <a:avLst>
              <a:gd name="adj" fmla="val 111"/>
            </a:avLst>
          </a:prstGeom>
          <a:gradFill rotWithShape="0">
            <a:gsLst>
              <a:gs pos="0">
                <a:srgbClr val="800000"/>
              </a:gs>
              <a:gs pos="100000">
                <a:srgbClr val="FF0000"/>
              </a:gs>
            </a:gsLst>
            <a:lin ang="4500000" scaled="1"/>
          </a:gra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1432" tIns="45716" rIns="91432" bIns="45716" anchor="ctr"/>
          <a:lstStyle>
            <a:lvl1pPr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8613" indent="-227013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Andale Mono" pitchFamily="1" charset="0"/>
              <a:buNone/>
              <a:defRPr/>
            </a:pPr>
            <a:endParaRPr lang="en-US" altLang="en-US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439738"/>
            <a:ext cx="8229600" cy="703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39575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  <a:ea typeface="MS PGothic" panose="020B0600070205080204" pitchFamily="34" charset="-128"/>
          <a:cs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EB641B"/>
        </a:buClr>
        <a:buSzPct val="95000"/>
        <a:buFont typeface="Wingdings 2" panose="05020102010507070707" pitchFamily="18" charset="2"/>
        <a:buChar char=""/>
        <a:defRPr sz="22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anose="05020102010507070707" pitchFamily="18" charset="2"/>
        <a:buChar char="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EB641B"/>
        </a:buClr>
        <a:buSzPct val="65000"/>
        <a:buFont typeface="Wingdings 2" panose="05020102010507070707" pitchFamily="18" charset="2"/>
        <a:buChar char=""/>
        <a:defRPr sz="17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39639D"/>
        </a:buClr>
        <a:buSzPct val="65000"/>
        <a:buFont typeface="Wingdings 2" panose="05020102010507070707" pitchFamily="18" charset="2"/>
        <a:buChar char=""/>
        <a:defRPr sz="17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>
            <a:extLst>
              <a:ext uri="{FF2B5EF4-FFF2-40B4-BE49-F238E27FC236}">
                <a16:creationId xmlns:a16="http://schemas.microsoft.com/office/drawing/2014/main" id="{A328D7BA-8516-4D0A-A215-163672FD06E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ABE6EDA3-9CD3-4DF5-BB13-321154F00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50812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MS LineDraw" charset="2"/>
            </a:endParaRPr>
          </a:p>
        </p:txBody>
      </p:sp>
      <p:sp>
        <p:nvSpPr>
          <p:cNvPr id="63492" name="Text Box 4">
            <a:extLst>
              <a:ext uri="{FF2B5EF4-FFF2-40B4-BE49-F238E27FC236}">
                <a16:creationId xmlns:a16="http://schemas.microsoft.com/office/drawing/2014/main" id="{D2340A22-84E5-4AB9-AA45-8FA85F7237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3048000"/>
            <a:ext cx="7045325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A linked list is a group of nodes.   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Each node contains a value and 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reference to the next node in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the list.</a:t>
            </a:r>
          </a:p>
        </p:txBody>
      </p:sp>
      <p:sp>
        <p:nvSpPr>
          <p:cNvPr id="24581" name="WordArt 6">
            <a:extLst>
              <a:ext uri="{FF2B5EF4-FFF2-40B4-BE49-F238E27FC236}">
                <a16:creationId xmlns:a16="http://schemas.microsoft.com/office/drawing/2014/main" id="{77530551-8514-44DA-8A9F-7DE0C4C9A58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762000"/>
            <a:ext cx="75438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Linked Lists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3">
            <a:extLst>
              <a:ext uri="{FF2B5EF4-FFF2-40B4-BE49-F238E27FC236}">
                <a16:creationId xmlns:a16="http://schemas.microsoft.com/office/drawing/2014/main" id="{D00D5A11-75B4-45BD-A10B-8E5ABDAD15F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96A8F1A0-33B4-4A46-AC8C-5F1BD6309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447800"/>
            <a:ext cx="8153400" cy="4789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public class Node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private Comparable data;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private Node next;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public Node(Comparable dat, Node nxt)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   data=dat;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   next=nxt;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26628" name="WordArt 3">
            <a:extLst>
              <a:ext uri="{FF2B5EF4-FFF2-40B4-BE49-F238E27FC236}">
                <a16:creationId xmlns:a16="http://schemas.microsoft.com/office/drawing/2014/main" id="{EB0F3751-D6AF-4015-A3D2-A164F2AD88E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90600" y="381000"/>
            <a:ext cx="65532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Simple Node Class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Typical Linked List</a:t>
            </a:r>
          </a:p>
        </p:txBody>
      </p:sp>
      <p:sp>
        <p:nvSpPr>
          <p:cNvPr id="309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97739"/>
            <a:ext cx="8915400" cy="1863212"/>
          </a:xfrm>
        </p:spPr>
        <p:txBody>
          <a:bodyPr/>
          <a:lstStyle/>
          <a:p>
            <a:pPr eaLnBrk="1" hangingPunct="1">
              <a:buFont typeface="Wingdings 2" charset="0"/>
              <a:buChar char=""/>
              <a:defRPr/>
            </a:pPr>
            <a:r>
              <a:rPr lang="en-US" sz="2600" b="1" dirty="0">
                <a:latin typeface="Courier New" charset="0"/>
                <a:ea typeface="ＭＳ Ｐゴシック" charset="-128"/>
              </a:rPr>
              <a:t>list</a:t>
            </a:r>
            <a:r>
              <a:rPr lang="en-US" sz="2600" dirty="0">
                <a:ea typeface="ＭＳ Ｐゴシック" charset="0"/>
              </a:rPr>
              <a:t> is a reference variable that stores a reference to the first node. It does not store 10!</a:t>
            </a:r>
          </a:p>
          <a:p>
            <a:pPr eaLnBrk="1" hangingPunct="1">
              <a:buFont typeface="Wingdings 2" charset="0"/>
              <a:buChar char=""/>
              <a:defRPr/>
            </a:pPr>
            <a:r>
              <a:rPr lang="en-US" sz="2600" dirty="0">
                <a:ea typeface="ＭＳ Ｐゴシック" charset="0"/>
              </a:rPr>
              <a:t>Each node</a:t>
            </a:r>
            <a:r>
              <a:rPr lang="en-US" sz="2600" dirty="0">
                <a:ea typeface="ＭＳ Ｐゴシック" charset="-128"/>
              </a:rPr>
              <a:t> stores a value AND a reference to the node that follows it.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06B4F8-4568-7BCB-B8B1-E0490EB7A9AB}"/>
              </a:ext>
            </a:extLst>
          </p:cNvPr>
          <p:cNvSpPr/>
          <p:nvPr/>
        </p:nvSpPr>
        <p:spPr>
          <a:xfrm>
            <a:off x="3097162" y="6422465"/>
            <a:ext cx="6046838" cy="4268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 descr="reference variable list points to a node storing 10 and a link to a node storing 20 and a link to . . . a link to a final node storing 990 and no link.&#10;&#10;list --&gt; 10 --&gt; 20 --&gt; ... --&gt; 990&#10;">
            <a:extLst>
              <a:ext uri="{FF2B5EF4-FFF2-40B4-BE49-F238E27FC236}">
                <a16:creationId xmlns:a16="http://schemas.microsoft.com/office/drawing/2014/main" id="{02F24E35-76DB-DA8A-BC68-72A29E9DC073}"/>
              </a:ext>
            </a:extLst>
          </p:cNvPr>
          <p:cNvGrpSpPr/>
          <p:nvPr/>
        </p:nvGrpSpPr>
        <p:grpSpPr>
          <a:xfrm>
            <a:off x="282575" y="3732548"/>
            <a:ext cx="8525856" cy="938865"/>
            <a:chOff x="282575" y="4024648"/>
            <a:chExt cx="8525856" cy="938865"/>
          </a:xfrm>
        </p:grpSpPr>
        <p:sp>
          <p:nvSpPr>
            <p:cNvPr id="309316" name="Line 68"/>
            <p:cNvSpPr>
              <a:spLocks noChangeShapeType="1"/>
            </p:cNvSpPr>
            <p:nvPr/>
          </p:nvSpPr>
          <p:spPr bwMode="auto">
            <a:xfrm flipV="1">
              <a:off x="6530975" y="4642771"/>
              <a:ext cx="3857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92E157B-286A-D6E6-8644-660100CCEF27}"/>
                </a:ext>
              </a:extLst>
            </p:cNvPr>
            <p:cNvGrpSpPr/>
            <p:nvPr/>
          </p:nvGrpSpPr>
          <p:grpSpPr>
            <a:xfrm>
              <a:off x="6973376" y="4027696"/>
              <a:ext cx="1835055" cy="932769"/>
              <a:chOff x="6973376" y="4110305"/>
              <a:chExt cx="1835055" cy="932769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74C26217-3D7E-7736-40B9-45FB2ABF65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73376" y="4110305"/>
                <a:ext cx="1835055" cy="932769"/>
              </a:xfrm>
              <a:prstGeom prst="rect">
                <a:avLst/>
              </a:prstGeom>
            </p:spPr>
          </p:pic>
          <p:sp>
            <p:nvSpPr>
              <p:cNvPr id="309317" name="Line 69"/>
              <p:cNvSpPr>
                <a:spLocks noChangeShapeType="1"/>
              </p:cNvSpPr>
              <p:nvPr/>
            </p:nvSpPr>
            <p:spPr bwMode="auto">
              <a:xfrm flipH="1">
                <a:off x="7890903" y="4551680"/>
                <a:ext cx="867017" cy="37858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/>
                <a:ext uri="{AF507438-7753-43e0-B8FC-AC1667EBCBE1}"/>
              </a:extLst>
            </p:spPr>
            <p:txBody>
              <a:bodyPr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9318" name="Text Box 70"/>
            <p:cNvSpPr txBox="1">
              <a:spLocks noChangeArrowheads="1"/>
            </p:cNvSpPr>
            <p:nvPr/>
          </p:nvSpPr>
          <p:spPr bwMode="auto">
            <a:xfrm>
              <a:off x="282575" y="4193509"/>
              <a:ext cx="7937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MS PGothic" panose="020B0600070205080204" pitchFamily="34" charset="-128"/>
                  <a:cs typeface="+mn-cs"/>
                </a:rPr>
                <a:t>list</a:t>
              </a:r>
            </a:p>
          </p:txBody>
        </p:sp>
        <p:sp>
          <p:nvSpPr>
            <p:cNvPr id="309319" name="Line 71"/>
            <p:cNvSpPr>
              <a:spLocks noChangeShapeType="1"/>
            </p:cNvSpPr>
            <p:nvPr/>
          </p:nvSpPr>
          <p:spPr bwMode="auto">
            <a:xfrm flipV="1">
              <a:off x="1158875" y="4404646"/>
              <a:ext cx="762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09320" name="Text Box 72"/>
            <p:cNvSpPr txBox="1">
              <a:spLocks noChangeArrowheads="1"/>
            </p:cNvSpPr>
            <p:nvPr/>
          </p:nvSpPr>
          <p:spPr bwMode="auto">
            <a:xfrm>
              <a:off x="6073775" y="4398296"/>
              <a:ext cx="4127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MS PGothic" panose="020B0600070205080204" pitchFamily="34" charset="-128"/>
                  <a:cs typeface="+mn-cs"/>
                </a:rPr>
                <a:t>...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201FC27-5556-783A-4E2A-687FC66974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59300" y="4027696"/>
              <a:ext cx="1676545" cy="932769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899101D-8E64-79EC-05FD-ED23DFFBE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66029" y="4024648"/>
              <a:ext cx="1682642" cy="938865"/>
            </a:xfrm>
            <a:prstGeom prst="rect">
              <a:avLst/>
            </a:prstGeom>
          </p:spPr>
        </p:pic>
        <p:sp>
          <p:nvSpPr>
            <p:cNvPr id="309333" name="Line 85"/>
            <p:cNvSpPr>
              <a:spLocks noChangeShapeType="1"/>
            </p:cNvSpPr>
            <p:nvPr/>
          </p:nvSpPr>
          <p:spPr bwMode="auto">
            <a:xfrm flipV="1">
              <a:off x="5286375" y="4642771"/>
              <a:ext cx="762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09321" name="Line 73"/>
            <p:cNvSpPr>
              <a:spLocks noChangeShapeType="1"/>
            </p:cNvSpPr>
            <p:nvPr/>
          </p:nvSpPr>
          <p:spPr bwMode="auto">
            <a:xfrm flipV="1">
              <a:off x="3292475" y="4642771"/>
              <a:ext cx="762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25" name="Group 24" descr="list --&gt; 10 --&gt; 20 --&gt; ... --&gt; 990">
            <a:extLst>
              <a:ext uri="{FF2B5EF4-FFF2-40B4-BE49-F238E27FC236}">
                <a16:creationId xmlns:a16="http://schemas.microsoft.com/office/drawing/2014/main" id="{EF0A4CAB-F47E-F2FC-D9C0-7A1BE63704C5}"/>
              </a:ext>
            </a:extLst>
          </p:cNvPr>
          <p:cNvGrpSpPr/>
          <p:nvPr/>
        </p:nvGrpSpPr>
        <p:grpSpPr>
          <a:xfrm>
            <a:off x="711200" y="5598646"/>
            <a:ext cx="7092371" cy="784830"/>
            <a:chOff x="711200" y="5598646"/>
            <a:chExt cx="7092371" cy="784830"/>
          </a:xfrm>
        </p:grpSpPr>
        <p:sp>
          <p:nvSpPr>
            <p:cNvPr id="4" name="Line 68">
              <a:extLst>
                <a:ext uri="{FF2B5EF4-FFF2-40B4-BE49-F238E27FC236}">
                  <a16:creationId xmlns:a16="http://schemas.microsoft.com/office/drawing/2014/main" id="{A293203F-72C0-9866-7530-9730355345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50000" y="5977989"/>
              <a:ext cx="3857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1" name="Text Box 70">
              <a:extLst>
                <a:ext uri="{FF2B5EF4-FFF2-40B4-BE49-F238E27FC236}">
                  <a16:creationId xmlns:a16="http://schemas.microsoft.com/office/drawing/2014/main" id="{DAC6D41A-4692-4DAD-DCEA-201966E9D1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1200" y="5779552"/>
              <a:ext cx="7937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MS PGothic" panose="020B0600070205080204" pitchFamily="34" charset="-128"/>
                  <a:cs typeface="+mn-cs"/>
                </a:rPr>
                <a:t>list</a:t>
              </a:r>
            </a:p>
          </p:txBody>
        </p:sp>
        <p:sp>
          <p:nvSpPr>
            <p:cNvPr id="12" name="Line 71">
              <a:extLst>
                <a:ext uri="{FF2B5EF4-FFF2-40B4-BE49-F238E27FC236}">
                  <a16:creationId xmlns:a16="http://schemas.microsoft.com/office/drawing/2014/main" id="{264F5BBC-46B5-9AA2-DF5B-323939B342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7500" y="5977989"/>
              <a:ext cx="762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3" name="Text Box 72">
              <a:extLst>
                <a:ext uri="{FF2B5EF4-FFF2-40B4-BE49-F238E27FC236}">
                  <a16:creationId xmlns:a16="http://schemas.microsoft.com/office/drawing/2014/main" id="{53088945-FFD4-2B92-E5C1-61257D0DD3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2800" y="5830352"/>
              <a:ext cx="4127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MS PGothic" panose="020B0600070205080204" pitchFamily="34" charset="-128"/>
                  <a:cs typeface="+mn-cs"/>
                </a:rPr>
                <a:t>...</a:t>
              </a:r>
            </a:p>
          </p:txBody>
        </p:sp>
        <p:sp>
          <p:nvSpPr>
            <p:cNvPr id="16" name="Line 85">
              <a:extLst>
                <a:ext uri="{FF2B5EF4-FFF2-40B4-BE49-F238E27FC236}">
                  <a16:creationId xmlns:a16="http://schemas.microsoft.com/office/drawing/2014/main" id="{70B97693-03E1-57DF-0014-B9E1C327CE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05400" y="5977989"/>
              <a:ext cx="762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7" name="Line 73">
              <a:extLst>
                <a:ext uri="{FF2B5EF4-FFF2-40B4-BE49-F238E27FC236}">
                  <a16:creationId xmlns:a16="http://schemas.microsoft.com/office/drawing/2014/main" id="{DD6F9BF8-730A-8682-03DF-AFFA060934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52800" y="5977989"/>
              <a:ext cx="762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3D0F03C-7662-6167-EEE6-5565D2788BCD}"/>
                </a:ext>
              </a:extLst>
            </p:cNvPr>
            <p:cNvSpPr txBox="1"/>
            <p:nvPr/>
          </p:nvSpPr>
          <p:spPr>
            <a:xfrm>
              <a:off x="2536536" y="5598646"/>
              <a:ext cx="660400" cy="78483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1050" dirty="0"/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2400" dirty="0"/>
                <a:t>10</a:t>
              </a: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105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8C7095B-63C9-8F2F-768E-A8C201CDC5A6}"/>
                </a:ext>
              </a:extLst>
            </p:cNvPr>
            <p:cNvSpPr txBox="1"/>
            <p:nvPr/>
          </p:nvSpPr>
          <p:spPr>
            <a:xfrm>
              <a:off x="4298950" y="5598646"/>
              <a:ext cx="660400" cy="78483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1050" dirty="0"/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2400" dirty="0"/>
                <a:t>20</a:t>
              </a: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105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A7CB58A-D505-D912-0F68-9D06B5845DA9}"/>
                </a:ext>
              </a:extLst>
            </p:cNvPr>
            <p:cNvSpPr txBox="1"/>
            <p:nvPr/>
          </p:nvSpPr>
          <p:spPr>
            <a:xfrm>
              <a:off x="6998438" y="5598646"/>
              <a:ext cx="805133" cy="78483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1050" dirty="0"/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2400" dirty="0"/>
                <a:t>990</a:t>
              </a: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1050" dirty="0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79B6BF65-D470-C4D9-DD2D-2AA626441AE9}"/>
              </a:ext>
            </a:extLst>
          </p:cNvPr>
          <p:cNvSpPr txBox="1"/>
          <p:nvPr/>
        </p:nvSpPr>
        <p:spPr>
          <a:xfrm>
            <a:off x="327280" y="5018535"/>
            <a:ext cx="47772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 more streamlined representation: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3">
            <a:extLst>
              <a:ext uri="{FF2B5EF4-FFF2-40B4-BE49-F238E27FC236}">
                <a16:creationId xmlns:a16="http://schemas.microsoft.com/office/drawing/2014/main" id="{946195DF-7BF0-4671-908A-749789810B0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F138ADEC-BEC2-459D-AAE9-0C14610FB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50812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MS LineDraw" charset="2"/>
            </a:endParaRPr>
          </a:p>
        </p:txBody>
      </p:sp>
      <p:grpSp>
        <p:nvGrpSpPr>
          <p:cNvPr id="2" name="Group 1" descr="reference variable node stores a reference to a ListNode object storing &quot;B&quot; and null. The memory location node stores is 0xF2.">
            <a:extLst>
              <a:ext uri="{FF2B5EF4-FFF2-40B4-BE49-F238E27FC236}">
                <a16:creationId xmlns:a16="http://schemas.microsoft.com/office/drawing/2014/main" id="{6CD26A19-0A70-1610-A2BB-8AF4D12F239A}"/>
              </a:ext>
            </a:extLst>
          </p:cNvPr>
          <p:cNvGrpSpPr/>
          <p:nvPr/>
        </p:nvGrpSpPr>
        <p:grpSpPr>
          <a:xfrm>
            <a:off x="1447800" y="2438400"/>
            <a:ext cx="3804444" cy="1250950"/>
            <a:chOff x="1447800" y="2438400"/>
            <a:chExt cx="3804444" cy="1250950"/>
          </a:xfrm>
        </p:grpSpPr>
        <p:sp>
          <p:nvSpPr>
            <p:cNvPr id="28676" name="Line 3">
              <a:extLst>
                <a:ext uri="{FF2B5EF4-FFF2-40B4-BE49-F238E27FC236}">
                  <a16:creationId xmlns:a16="http://schemas.microsoft.com/office/drawing/2014/main" id="{75493DBE-9CF7-4493-9BEA-C70653FD3B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7000" y="3276600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77" name="Rectangle 4">
              <a:extLst>
                <a:ext uri="{FF2B5EF4-FFF2-40B4-BE49-F238E27FC236}">
                  <a16:creationId xmlns:a16="http://schemas.microsoft.com/office/drawing/2014/main" id="{E6BB0464-A47E-4CB9-8CDC-0BC34523E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28194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28678" name="Rectangle 5">
              <a:extLst>
                <a:ext uri="{FF2B5EF4-FFF2-40B4-BE49-F238E27FC236}">
                  <a16:creationId xmlns:a16="http://schemas.microsoft.com/office/drawing/2014/main" id="{1FA7082F-F7C8-4629-A777-FC04FBB24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28194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28680" name="Text Box 7">
              <a:extLst>
                <a:ext uri="{FF2B5EF4-FFF2-40B4-BE49-F238E27FC236}">
                  <a16:creationId xmlns:a16="http://schemas.microsoft.com/office/drawing/2014/main" id="{0014584C-BCA7-4366-AB6E-8E8BCEB65B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9000" y="29718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28681" name="Text Box 8">
              <a:extLst>
                <a:ext uri="{FF2B5EF4-FFF2-40B4-BE49-F238E27FC236}">
                  <a16:creationId xmlns:a16="http://schemas.microsoft.com/office/drawing/2014/main" id="{45F1F17A-9FA6-4024-8733-BD6D37F5FF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1644" y="3004997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28682" name="Text Box 9">
              <a:extLst>
                <a:ext uri="{FF2B5EF4-FFF2-40B4-BE49-F238E27FC236}">
                  <a16:creationId xmlns:a16="http://schemas.microsoft.com/office/drawing/2014/main" id="{7A0523A3-8911-40AA-A84A-A40C1D191D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7800" y="2895600"/>
              <a:ext cx="1295400" cy="579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b="1">
                  <a:latin typeface="Tahoma" panose="020B0604030504040204" pitchFamily="34" charset="0"/>
                </a:rPr>
                <a:t>node</a:t>
              </a:r>
            </a:p>
          </p:txBody>
        </p:sp>
        <p:sp>
          <p:nvSpPr>
            <p:cNvPr id="28683" name="Text Box 10">
              <a:extLst>
                <a:ext uri="{FF2B5EF4-FFF2-40B4-BE49-F238E27FC236}">
                  <a16:creationId xmlns:a16="http://schemas.microsoft.com/office/drawing/2014/main" id="{CCFEAF47-A311-4F48-9428-44CD3A4198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0200" y="33528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28684" name="Text Box 11">
              <a:extLst>
                <a:ext uri="{FF2B5EF4-FFF2-40B4-BE49-F238E27FC236}">
                  <a16:creationId xmlns:a16="http://schemas.microsoft.com/office/drawing/2014/main" id="{CAB28DCE-156A-47E1-A446-DCC88FA7EC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3800" y="24384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</p:grpSp>
      <p:sp>
        <p:nvSpPr>
          <p:cNvPr id="28685" name="WordArt 12">
            <a:extLst>
              <a:ext uri="{FF2B5EF4-FFF2-40B4-BE49-F238E27FC236}">
                <a16:creationId xmlns:a16="http://schemas.microsoft.com/office/drawing/2014/main" id="{32E15CAD-8FA8-4095-ABDE-712A9AE1EC3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762000"/>
            <a:ext cx="75438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A Single Node</a:t>
            </a:r>
          </a:p>
        </p:txBody>
      </p:sp>
      <p:sp>
        <p:nvSpPr>
          <p:cNvPr id="28686" name="Text Box 13">
            <a:extLst>
              <a:ext uri="{FF2B5EF4-FFF2-40B4-BE49-F238E27FC236}">
                <a16:creationId xmlns:a16="http://schemas.microsoft.com/office/drawing/2014/main" id="{10806F20-EE18-4366-9E85-411E462B9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114800"/>
            <a:ext cx="5780088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A node typically has a data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component and a reference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to the next node.</a:t>
            </a:r>
          </a:p>
        </p:txBody>
      </p:sp>
    </p:spTree>
    <p:extLst>
      <p:ext uri="{BB962C8B-B14F-4D97-AF65-F5344CB8AC3E}">
        <p14:creationId xmlns:p14="http://schemas.microsoft.com/office/powerpoint/2010/main" val="2239250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3">
            <a:extLst>
              <a:ext uri="{FF2B5EF4-FFF2-40B4-BE49-F238E27FC236}">
                <a16:creationId xmlns:a16="http://schemas.microsoft.com/office/drawing/2014/main" id="{946195DF-7BF0-4671-908A-749789810B0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248400" y="6320095"/>
            <a:ext cx="28956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 dirty="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grpSp>
        <p:nvGrpSpPr>
          <p:cNvPr id="2" name="Group 1" descr="Below is the same description as the last slide, but this image has an arrow leading from the &quot;next&quot; part of the node to the word &quot;null&quot;, whereas the previous image had the word &quot;null&quot; in the &quot;next&quot; part of the node.&#10;&#10;reference variable node stores a reference to a ListNode object storing &quot;B&quot; and null. The memory location node stores is 0xF2.">
            <a:extLst>
              <a:ext uri="{FF2B5EF4-FFF2-40B4-BE49-F238E27FC236}">
                <a16:creationId xmlns:a16="http://schemas.microsoft.com/office/drawing/2014/main" id="{141488A4-2902-2CC1-7104-40CF5328F26E}"/>
              </a:ext>
            </a:extLst>
          </p:cNvPr>
          <p:cNvGrpSpPr/>
          <p:nvPr/>
        </p:nvGrpSpPr>
        <p:grpSpPr>
          <a:xfrm>
            <a:off x="1624385" y="1868227"/>
            <a:ext cx="5215219" cy="1250950"/>
            <a:chOff x="1624385" y="1868227"/>
            <a:chExt cx="5215219" cy="1250950"/>
          </a:xfrm>
        </p:grpSpPr>
        <p:sp>
          <p:nvSpPr>
            <p:cNvPr id="28675" name="Rectangle 2">
              <a:extLst>
                <a:ext uri="{FF2B5EF4-FFF2-40B4-BE49-F238E27FC236}">
                  <a16:creationId xmlns:a16="http://schemas.microsoft.com/office/drawing/2014/main" id="{F138ADEC-BEC2-459D-AAE9-0C14610FB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5454" y="1988108"/>
              <a:ext cx="1841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MS LineDraw" charset="2"/>
              </a:endParaRPr>
            </a:p>
          </p:txBody>
        </p:sp>
        <p:sp>
          <p:nvSpPr>
            <p:cNvPr id="28676" name="Line 3">
              <a:extLst>
                <a:ext uri="{FF2B5EF4-FFF2-40B4-BE49-F238E27FC236}">
                  <a16:creationId xmlns:a16="http://schemas.microsoft.com/office/drawing/2014/main" id="{75493DBE-9CF7-4493-9BEA-C70653FD3B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3585" y="2706427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77" name="Rectangle 4">
              <a:extLst>
                <a:ext uri="{FF2B5EF4-FFF2-40B4-BE49-F238E27FC236}">
                  <a16:creationId xmlns:a16="http://schemas.microsoft.com/office/drawing/2014/main" id="{E6BB0464-A47E-4CB9-8CDC-0BC34523E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6985" y="2249227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28678" name="Rectangle 5">
              <a:extLst>
                <a:ext uri="{FF2B5EF4-FFF2-40B4-BE49-F238E27FC236}">
                  <a16:creationId xmlns:a16="http://schemas.microsoft.com/office/drawing/2014/main" id="{1FA7082F-F7C8-4629-A777-FC04FBB24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1385" y="2249227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28679" name="Line 6">
              <a:extLst>
                <a:ext uri="{FF2B5EF4-FFF2-40B4-BE49-F238E27FC236}">
                  <a16:creationId xmlns:a16="http://schemas.microsoft.com/office/drawing/2014/main" id="{AE029987-C8EA-4EA9-ABBF-67A972BD85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0985" y="2706427"/>
              <a:ext cx="9144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0" name="Text Box 7">
              <a:extLst>
                <a:ext uri="{FF2B5EF4-FFF2-40B4-BE49-F238E27FC236}">
                  <a16:creationId xmlns:a16="http://schemas.microsoft.com/office/drawing/2014/main" id="{0014584C-BCA7-4366-AB6E-8E8BCEB65B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5585" y="2401627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28681" name="Text Box 8">
              <a:extLst>
                <a:ext uri="{FF2B5EF4-FFF2-40B4-BE49-F238E27FC236}">
                  <a16:creationId xmlns:a16="http://schemas.microsoft.com/office/drawing/2014/main" id="{45F1F17A-9FA6-4024-8733-BD6D37F5FF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15385" y="2477827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28682" name="Text Box 9">
              <a:extLst>
                <a:ext uri="{FF2B5EF4-FFF2-40B4-BE49-F238E27FC236}">
                  <a16:creationId xmlns:a16="http://schemas.microsoft.com/office/drawing/2014/main" id="{7A0523A3-8911-40AA-A84A-A40C1D191D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4385" y="2325427"/>
              <a:ext cx="1295400" cy="579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b="1" dirty="0">
                  <a:latin typeface="Tahoma" panose="020B0604030504040204" pitchFamily="34" charset="0"/>
                </a:rPr>
                <a:t>node</a:t>
              </a:r>
            </a:p>
          </p:txBody>
        </p:sp>
        <p:sp>
          <p:nvSpPr>
            <p:cNvPr id="28683" name="Text Box 10">
              <a:extLst>
                <a:ext uri="{FF2B5EF4-FFF2-40B4-BE49-F238E27FC236}">
                  <a16:creationId xmlns:a16="http://schemas.microsoft.com/office/drawing/2014/main" id="{CCFEAF47-A311-4F48-9428-44CD3A4198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785" y="2782627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28684" name="Text Box 11">
              <a:extLst>
                <a:ext uri="{FF2B5EF4-FFF2-40B4-BE49-F238E27FC236}">
                  <a16:creationId xmlns:a16="http://schemas.microsoft.com/office/drawing/2014/main" id="{CAB28DCE-156A-47E1-A446-DCC88FA7EC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0385" y="1868227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</p:grpSp>
      <p:sp>
        <p:nvSpPr>
          <p:cNvPr id="28686" name="Text Box 13">
            <a:extLst>
              <a:ext uri="{FF2B5EF4-FFF2-40B4-BE49-F238E27FC236}">
                <a16:creationId xmlns:a16="http://schemas.microsoft.com/office/drawing/2014/main" id="{10806F20-EE18-4366-9E85-411E462B9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748" y="511693"/>
            <a:ext cx="833717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C00000"/>
                </a:solidFill>
                <a:latin typeface="Tahoma" panose="020B0604030504040204" pitchFamily="34" charset="0"/>
              </a:rPr>
              <a:t>Some draw the null reference this way!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12D104-EB37-C32A-8849-E0E212EAB1BC}"/>
              </a:ext>
            </a:extLst>
          </p:cNvPr>
          <p:cNvSpPr txBox="1"/>
          <p:nvPr/>
        </p:nvSpPr>
        <p:spPr>
          <a:xfrm>
            <a:off x="598392" y="3770574"/>
            <a:ext cx="814219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200" b="1" dirty="0">
                <a:solidFill>
                  <a:srgbClr val="C00000"/>
                </a:solidFill>
                <a:latin typeface="Tahoma" panose="020B0604030504040204" pitchFamily="34" charset="0"/>
              </a:rPr>
              <a:t>This leads to the misconception that the “B” node points to a node that stores a </a:t>
            </a:r>
            <a:r>
              <a:rPr lang="en-US" altLang="en-US" sz="3200" b="1" i="1" dirty="0">
                <a:solidFill>
                  <a:srgbClr val="C00000"/>
                </a:solidFill>
                <a:latin typeface="Tahoma" panose="020B0604030504040204" pitchFamily="34" charset="0"/>
              </a:rPr>
              <a:t>null</a:t>
            </a:r>
            <a:r>
              <a:rPr lang="en-US" altLang="en-US" sz="3200" b="1" dirty="0">
                <a:solidFill>
                  <a:srgbClr val="C00000"/>
                </a:solidFill>
                <a:latin typeface="Tahoma" panose="020B0604030504040204" pitchFamily="34" charset="0"/>
              </a:rPr>
              <a:t> value, but there simply is no node after the “B” node.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Footer Placeholder 3">
            <a:extLst>
              <a:ext uri="{FF2B5EF4-FFF2-40B4-BE49-F238E27FC236}">
                <a16:creationId xmlns:a16="http://schemas.microsoft.com/office/drawing/2014/main" id="{88A65B06-EB06-4ACE-B1BA-53CCEAD2BBD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7452FD68-A092-40F7-A4D5-799F7E015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209800"/>
            <a:ext cx="7467600" cy="3540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public interface Linkable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   Comparable </a:t>
            </a:r>
            <a:r>
              <a:rPr lang="en-US" altLang="en-US" sz="2800" b="1" dirty="0" err="1">
                <a:latin typeface="Tahoma" panose="020B0604030504040204" pitchFamily="34" charset="0"/>
              </a:rPr>
              <a:t>getValue</a:t>
            </a:r>
            <a:r>
              <a:rPr lang="en-US" altLang="en-US" sz="2800" b="1" dirty="0">
                <a:latin typeface="Tahoma" panose="020B0604030504040204" pitchFamily="34" charset="0"/>
              </a:rPr>
              <a:t>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   </a:t>
            </a:r>
            <a:r>
              <a:rPr lang="en-US" altLang="en-US" sz="2800" b="1" dirty="0">
                <a:solidFill>
                  <a:srgbClr val="0070C0"/>
                </a:solidFill>
                <a:latin typeface="Tahoma" panose="020B0604030504040204" pitchFamily="34" charset="0"/>
              </a:rPr>
              <a:t>Linkable</a:t>
            </a:r>
            <a:r>
              <a:rPr lang="en-US" altLang="en-US" sz="2800" b="1" dirty="0">
                <a:latin typeface="Tahoma" panose="020B0604030504040204" pitchFamily="34" charset="0"/>
              </a:rPr>
              <a:t> </a:t>
            </a:r>
            <a:r>
              <a:rPr lang="en-US" altLang="en-US" sz="2800" b="1" dirty="0" err="1">
                <a:latin typeface="Tahoma" panose="020B0604030504040204" pitchFamily="34" charset="0"/>
              </a:rPr>
              <a:t>getNext</a:t>
            </a:r>
            <a:r>
              <a:rPr lang="en-US" altLang="en-US" sz="2800" b="1" dirty="0">
                <a:latin typeface="Tahoma" panose="020B0604030504040204" pitchFamily="34" charset="0"/>
              </a:rPr>
              <a:t>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   void </a:t>
            </a:r>
            <a:r>
              <a:rPr lang="en-US" altLang="en-US" sz="2800" b="1" dirty="0" err="1">
                <a:latin typeface="Tahoma" panose="020B0604030504040204" pitchFamily="34" charset="0"/>
              </a:rPr>
              <a:t>setValue</a:t>
            </a:r>
            <a:r>
              <a:rPr lang="en-US" altLang="en-US" sz="2800" b="1" dirty="0">
                <a:latin typeface="Tahoma" panose="020B0604030504040204" pitchFamily="34" charset="0"/>
              </a:rPr>
              <a:t>(Comparable value);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   void </a:t>
            </a:r>
            <a:r>
              <a:rPr lang="en-US" altLang="en-US" sz="2800" b="1" dirty="0" err="1">
                <a:latin typeface="Tahoma" panose="020B0604030504040204" pitchFamily="34" charset="0"/>
              </a:rPr>
              <a:t>setNext</a:t>
            </a:r>
            <a:r>
              <a:rPr lang="en-US" altLang="en-US" sz="2800" b="1" dirty="0">
                <a:latin typeface="Tahoma" panose="020B0604030504040204" pitchFamily="34" charset="0"/>
              </a:rPr>
              <a:t>(</a:t>
            </a:r>
            <a:r>
              <a:rPr lang="en-US" altLang="en-US" sz="2800" b="1" dirty="0">
                <a:solidFill>
                  <a:srgbClr val="0070C0"/>
                </a:solidFill>
                <a:latin typeface="Tahoma" panose="020B0604030504040204" pitchFamily="34" charset="0"/>
              </a:rPr>
              <a:t>Linkable</a:t>
            </a:r>
            <a:r>
              <a:rPr lang="en-US" altLang="en-US" sz="2800" b="1" dirty="0">
                <a:latin typeface="Tahoma" panose="020B0604030504040204" pitchFamily="34" charset="0"/>
              </a:rPr>
              <a:t> next);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30724" name="WordArt 3">
            <a:extLst>
              <a:ext uri="{FF2B5EF4-FFF2-40B4-BE49-F238E27FC236}">
                <a16:creationId xmlns:a16="http://schemas.microsoft.com/office/drawing/2014/main" id="{F183F238-9A8A-49BA-B18F-704942143AC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685800"/>
            <a:ext cx="72390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Linkable Interface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3">
            <a:extLst>
              <a:ext uri="{FF2B5EF4-FFF2-40B4-BE49-F238E27FC236}">
                <a16:creationId xmlns:a16="http://schemas.microsoft.com/office/drawing/2014/main" id="{094BE7ED-7E37-4C6C-B2B3-F801E0CE4D9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32771" name="Rectangle 1026">
            <a:extLst>
              <a:ext uri="{FF2B5EF4-FFF2-40B4-BE49-F238E27FC236}">
                <a16:creationId xmlns:a16="http://schemas.microsoft.com/office/drawing/2014/main" id="{2937205B-9519-4A27-9CE2-E3E041C94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57200"/>
            <a:ext cx="8153400" cy="501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public class </a:t>
            </a:r>
            <a:r>
              <a:rPr lang="en-US" altLang="en-US" sz="20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000" b="1" dirty="0">
                <a:latin typeface="Tahoma" panose="020B0604030504040204" pitchFamily="34" charset="0"/>
              </a:rPr>
              <a:t> implements Linkable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   private Comparable value;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   private </a:t>
            </a:r>
            <a:r>
              <a:rPr lang="en-US" altLang="en-US" sz="20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000" b="1" dirty="0">
                <a:latin typeface="Tahoma" panose="020B0604030504040204" pitchFamily="34" charset="0"/>
              </a:rPr>
              <a:t> next;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1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   public </a:t>
            </a:r>
            <a:r>
              <a:rPr lang="en-US" altLang="en-US" sz="20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000" b="1" dirty="0">
                <a:latin typeface="Tahoma" panose="020B0604030504040204" pitchFamily="34" charset="0"/>
              </a:rPr>
              <a:t>(Comparable value, </a:t>
            </a:r>
            <a:r>
              <a:rPr lang="en-US" altLang="en-US" sz="20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000" b="1" dirty="0">
                <a:latin typeface="Tahoma" panose="020B0604030504040204" pitchFamily="34" charset="0"/>
              </a:rPr>
              <a:t> next)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      </a:t>
            </a:r>
            <a:r>
              <a:rPr lang="en-US" altLang="en-US" sz="2000" b="1" dirty="0" err="1">
                <a:latin typeface="Tahoma" panose="020B0604030504040204" pitchFamily="34" charset="0"/>
              </a:rPr>
              <a:t>this.value</a:t>
            </a:r>
            <a:r>
              <a:rPr lang="en-US" altLang="en-US" sz="2000" dirty="0">
                <a:latin typeface="Tahoma" panose="020B0604030504040204" pitchFamily="34" charset="0"/>
              </a:rPr>
              <a:t> </a:t>
            </a:r>
            <a:r>
              <a:rPr lang="en-US" altLang="en-US" sz="2000" b="1" dirty="0">
                <a:latin typeface="Tahoma" panose="020B0604030504040204" pitchFamily="34" charset="0"/>
              </a:rPr>
              <a:t>= value;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      </a:t>
            </a:r>
            <a:r>
              <a:rPr lang="en-US" altLang="en-US" sz="2000" b="1" dirty="0" err="1">
                <a:latin typeface="Tahoma" panose="020B0604030504040204" pitchFamily="34" charset="0"/>
              </a:rPr>
              <a:t>this.next</a:t>
            </a:r>
            <a:r>
              <a:rPr lang="en-US" altLang="en-US" sz="2000" dirty="0">
                <a:latin typeface="Tahoma" panose="020B0604030504040204" pitchFamily="34" charset="0"/>
              </a:rPr>
              <a:t> </a:t>
            </a:r>
            <a:r>
              <a:rPr lang="en-US" altLang="en-US" sz="2000" b="1" dirty="0">
                <a:latin typeface="Tahoma" panose="020B0604030504040204" pitchFamily="34" charset="0"/>
              </a:rPr>
              <a:t>= next;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1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   public Comparable </a:t>
            </a:r>
            <a:r>
              <a:rPr lang="en-US" altLang="en-US" sz="2000" b="1" dirty="0" err="1">
                <a:latin typeface="Tahoma" panose="020B0604030504040204" pitchFamily="34" charset="0"/>
              </a:rPr>
              <a:t>getValue</a:t>
            </a:r>
            <a:r>
              <a:rPr lang="en-US" altLang="en-US" sz="2000" b="1" dirty="0">
                <a:latin typeface="Tahoma" panose="020B0604030504040204" pitchFamily="34" charset="0"/>
              </a:rPr>
              <a:t>()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   public </a:t>
            </a:r>
            <a:r>
              <a:rPr lang="en-US" altLang="en-US" sz="2000" b="1" dirty="0" err="1">
                <a:solidFill>
                  <a:srgbClr val="0070C0"/>
                </a:solidFill>
                <a:latin typeface="Tahoma" panose="020B0604030504040204" pitchFamily="34" charset="0"/>
              </a:rPr>
              <a:t>ListNode</a:t>
            </a:r>
            <a:r>
              <a:rPr lang="en-US" altLang="en-US" sz="2000" b="1" dirty="0">
                <a:latin typeface="Tahoma" panose="020B0604030504040204" pitchFamily="34" charset="0"/>
              </a:rPr>
              <a:t> </a:t>
            </a:r>
            <a:r>
              <a:rPr lang="en-US" altLang="en-US" sz="2000" b="1" dirty="0" err="1">
                <a:latin typeface="Tahoma" panose="020B0604030504040204" pitchFamily="34" charset="0"/>
              </a:rPr>
              <a:t>getNext</a:t>
            </a:r>
            <a:r>
              <a:rPr lang="en-US" altLang="en-US" sz="2000" b="1" dirty="0">
                <a:latin typeface="Tahoma" panose="020B0604030504040204" pitchFamily="34" charset="0"/>
              </a:rPr>
              <a:t>()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1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   public void </a:t>
            </a:r>
            <a:r>
              <a:rPr lang="en-US" altLang="en-US" sz="2000" b="1" dirty="0" err="1">
                <a:latin typeface="Tahoma" panose="020B0604030504040204" pitchFamily="34" charset="0"/>
              </a:rPr>
              <a:t>setValue</a:t>
            </a:r>
            <a:r>
              <a:rPr lang="en-US" altLang="en-US" sz="2000" b="1" dirty="0">
                <a:latin typeface="Tahoma" panose="020B0604030504040204" pitchFamily="34" charset="0"/>
              </a:rPr>
              <a:t>(Comparable value)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   public void </a:t>
            </a:r>
            <a:r>
              <a:rPr lang="en-US" altLang="en-US" sz="2000" b="1" dirty="0" err="1">
                <a:latin typeface="Tahoma" panose="020B0604030504040204" pitchFamily="34" charset="0"/>
              </a:rPr>
              <a:t>setNext</a:t>
            </a:r>
            <a:r>
              <a:rPr lang="en-US" altLang="en-US" sz="2000" b="1" dirty="0">
                <a:latin typeface="Tahoma" panose="020B0604030504040204" pitchFamily="34" charset="0"/>
              </a:rPr>
              <a:t>(</a:t>
            </a:r>
            <a:r>
              <a:rPr lang="en-US" altLang="en-US" sz="2000" b="1" dirty="0">
                <a:solidFill>
                  <a:srgbClr val="0070C0"/>
                </a:solidFill>
                <a:latin typeface="Tahoma" panose="020B0604030504040204" pitchFamily="34" charset="0"/>
              </a:rPr>
              <a:t>Linkable</a:t>
            </a:r>
            <a:r>
              <a:rPr lang="en-US" altLang="en-US" sz="2000" b="1" dirty="0">
                <a:latin typeface="Tahoma" panose="020B0604030504040204" pitchFamily="34" charset="0"/>
              </a:rPr>
              <a:t> next)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32772" name="WordArt 1027">
            <a:extLst>
              <a:ext uri="{FF2B5EF4-FFF2-40B4-BE49-F238E27FC236}">
                <a16:creationId xmlns:a16="http://schemas.microsoft.com/office/drawing/2014/main" id="{3749889A-C3E8-4B4A-A127-090EAF64D22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423451" y="2644614"/>
            <a:ext cx="35052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The </a:t>
            </a:r>
          </a:p>
          <a:p>
            <a:pPr algn="ctr"/>
            <a:r>
              <a:rPr lang="en-US" sz="3600" kern="10" dirty="0" err="1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ListNode</a:t>
            </a:r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 </a:t>
            </a:r>
          </a:p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Class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oter Placeholder 3">
            <a:extLst>
              <a:ext uri="{FF2B5EF4-FFF2-40B4-BE49-F238E27FC236}">
                <a16:creationId xmlns:a16="http://schemas.microsoft.com/office/drawing/2014/main" id="{869AC684-9010-419A-AF70-AF9FC8739DB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216446" y="6299173"/>
            <a:ext cx="28956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 dirty="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34819" name="Text Box 2">
            <a:extLst>
              <a:ext uri="{FF2B5EF4-FFF2-40B4-BE49-F238E27FC236}">
                <a16:creationId xmlns:a16="http://schemas.microsoft.com/office/drawing/2014/main" id="{722A2647-79E2-41C8-A00F-EFE27CA795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612900"/>
            <a:ext cx="8915400" cy="3200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Linkable node = new </a:t>
            </a:r>
            <a:r>
              <a:rPr lang="en-US" altLang="en-US" sz="28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latin typeface="Tahoma" panose="020B0604030504040204" pitchFamily="34" charset="0"/>
              </a:rPr>
              <a:t>("10", null);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Tahoma" panose="020B0604030504040204" pitchFamily="34" charset="0"/>
              </a:rPr>
              <a:t>	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b="1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b="1" dirty="0">
                <a:latin typeface="Tahoma" panose="020B0604030504040204" pitchFamily="34" charset="0"/>
              </a:rPr>
              <a:t>(node);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800" b="1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b="1" dirty="0">
                <a:latin typeface="Tahoma" panose="020B0604030504040204" pitchFamily="34" charset="0"/>
              </a:rPr>
              <a:t>(</a:t>
            </a:r>
            <a:r>
              <a:rPr lang="en-US" altLang="en-US" sz="2800" b="1" dirty="0" err="1">
                <a:latin typeface="Tahoma" panose="020B0604030504040204" pitchFamily="34" charset="0"/>
              </a:rPr>
              <a:t>node.getValue</a:t>
            </a:r>
            <a:r>
              <a:rPr lang="en-US" altLang="en-US" sz="2800" b="1" dirty="0">
                <a:latin typeface="Tahoma" panose="020B0604030504040204" pitchFamily="34" charset="0"/>
              </a:rPr>
              <a:t>());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b="1" dirty="0">
                <a:latin typeface="Tahoma" panose="020B0604030504040204" pitchFamily="34" charset="0"/>
              </a:rPr>
              <a:t>(</a:t>
            </a:r>
            <a:r>
              <a:rPr lang="en-US" altLang="en-US" sz="2800" b="1" dirty="0" err="1">
                <a:latin typeface="Tahoma" panose="020B0604030504040204" pitchFamily="34" charset="0"/>
              </a:rPr>
              <a:t>node.getNext</a:t>
            </a:r>
            <a:r>
              <a:rPr lang="en-US" altLang="en-US" sz="2800" b="1" dirty="0">
                <a:latin typeface="Tahoma" panose="020B0604030504040204" pitchFamily="34" charset="0"/>
              </a:rPr>
              <a:t>());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b="1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800" b="1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b="1" dirty="0">
                <a:latin typeface="Tahoma" panose="020B0604030504040204" pitchFamily="34" charset="0"/>
              </a:rPr>
              <a:t>(</a:t>
            </a:r>
            <a:r>
              <a:rPr lang="en-US" altLang="en-US" sz="2800" b="1" dirty="0" err="1">
                <a:latin typeface="Tahoma" panose="020B0604030504040204" pitchFamily="34" charset="0"/>
              </a:rPr>
              <a:t>node.getNext</a:t>
            </a:r>
            <a:r>
              <a:rPr lang="en-US" altLang="en-US" sz="2800" b="1" dirty="0">
                <a:latin typeface="Tahoma" panose="020B0604030504040204" pitchFamily="34" charset="0"/>
              </a:rPr>
              <a:t>()</a:t>
            </a:r>
            <a:r>
              <a:rPr lang="en-US" alt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.</a:t>
            </a:r>
            <a:r>
              <a:rPr lang="en-US" altLang="en-US" sz="2800" b="1" dirty="0" err="1">
                <a:solidFill>
                  <a:srgbClr val="FF0000"/>
                </a:solidFill>
                <a:latin typeface="Tahoma" panose="020B0604030504040204" pitchFamily="34" charset="0"/>
              </a:rPr>
              <a:t>getNext</a:t>
            </a:r>
            <a:r>
              <a:rPr lang="en-US" alt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()</a:t>
            </a:r>
            <a:r>
              <a:rPr lang="en-US" altLang="en-US" sz="2800" b="1" dirty="0">
                <a:latin typeface="Tahoma" panose="020B0604030504040204" pitchFamily="34" charset="0"/>
              </a:rPr>
              <a:t>);</a:t>
            </a:r>
            <a:r>
              <a:rPr lang="en-US" alt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2800" b="1" dirty="0">
                <a:solidFill>
                  <a:srgbClr val="FF0000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NPE!!!</a:t>
            </a:r>
            <a:endParaRPr lang="en-US" altLang="en-US" sz="2800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grpSp>
        <p:nvGrpSpPr>
          <p:cNvPr id="2" name="Group 1" descr="reference variable node stores a reference to a ListNode object storing 10 and null. The memory location node stores is 0xFA.">
            <a:extLst>
              <a:ext uri="{FF2B5EF4-FFF2-40B4-BE49-F238E27FC236}">
                <a16:creationId xmlns:a16="http://schemas.microsoft.com/office/drawing/2014/main" id="{519FAAB4-39FB-7314-70D2-D37CEA2C1753}"/>
              </a:ext>
            </a:extLst>
          </p:cNvPr>
          <p:cNvGrpSpPr/>
          <p:nvPr/>
        </p:nvGrpSpPr>
        <p:grpSpPr>
          <a:xfrm>
            <a:off x="2357280" y="5164388"/>
            <a:ext cx="3543300" cy="1219200"/>
            <a:chOff x="2357280" y="4967747"/>
            <a:chExt cx="3543300" cy="1219200"/>
          </a:xfrm>
        </p:grpSpPr>
        <p:sp>
          <p:nvSpPr>
            <p:cNvPr id="88068" name="Rectangle 4">
              <a:extLst>
                <a:ext uri="{FF2B5EF4-FFF2-40B4-BE49-F238E27FC236}">
                  <a16:creationId xmlns:a16="http://schemas.microsoft.com/office/drawing/2014/main" id="{63B35EE1-968B-4FF0-BE31-73BEAB7296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1280" y="5348747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88069" name="Rectangle 5">
              <a:extLst>
                <a:ext uri="{FF2B5EF4-FFF2-40B4-BE49-F238E27FC236}">
                  <a16:creationId xmlns:a16="http://schemas.microsoft.com/office/drawing/2014/main" id="{3384A7FC-0D2F-4787-8604-F7625D9173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5680" y="5348747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88071" name="Text Box 7">
              <a:extLst>
                <a:ext uri="{FF2B5EF4-FFF2-40B4-BE49-F238E27FC236}">
                  <a16:creationId xmlns:a16="http://schemas.microsoft.com/office/drawing/2014/main" id="{97EB41B5-29CC-4198-9B2D-9AD3EAB8E3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7480" y="5577347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10</a:t>
              </a:r>
            </a:p>
          </p:txBody>
        </p:sp>
        <p:sp>
          <p:nvSpPr>
            <p:cNvPr id="88072" name="Text Box 8">
              <a:extLst>
                <a:ext uri="{FF2B5EF4-FFF2-40B4-BE49-F238E27FC236}">
                  <a16:creationId xmlns:a16="http://schemas.microsoft.com/office/drawing/2014/main" id="{2126790F-140A-4F5A-A7F9-C43373F4C9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9980" y="5539434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88073" name="Text Box 9">
              <a:extLst>
                <a:ext uri="{FF2B5EF4-FFF2-40B4-BE49-F238E27FC236}">
                  <a16:creationId xmlns:a16="http://schemas.microsoft.com/office/drawing/2014/main" id="{B89DADA2-B95E-4774-BC46-5B56EA6790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7280" y="5424947"/>
              <a:ext cx="14478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1" dirty="0">
                  <a:latin typeface="Tahoma" panose="020B0604030504040204" pitchFamily="34" charset="0"/>
                </a:rPr>
                <a:t>node</a:t>
              </a:r>
            </a:p>
          </p:txBody>
        </p:sp>
        <p:sp>
          <p:nvSpPr>
            <p:cNvPr id="88074" name="Text Box 10">
              <a:extLst>
                <a:ext uri="{FF2B5EF4-FFF2-40B4-BE49-F238E27FC236}">
                  <a16:creationId xmlns:a16="http://schemas.microsoft.com/office/drawing/2014/main" id="{E5F90ED7-4532-46A9-80FD-75D2B2C830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5880" y="5805947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0xFA</a:t>
              </a:r>
            </a:p>
          </p:txBody>
        </p:sp>
        <p:sp>
          <p:nvSpPr>
            <p:cNvPr id="88075" name="Text Box 11">
              <a:extLst>
                <a:ext uri="{FF2B5EF4-FFF2-40B4-BE49-F238E27FC236}">
                  <a16:creationId xmlns:a16="http://schemas.microsoft.com/office/drawing/2014/main" id="{5AE0BFE6-352E-4A26-B7E1-30A6CC60CF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8480" y="4967747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0xFA</a:t>
              </a:r>
            </a:p>
          </p:txBody>
        </p:sp>
        <p:sp>
          <p:nvSpPr>
            <p:cNvPr id="88076" name="Line 12">
              <a:extLst>
                <a:ext uri="{FF2B5EF4-FFF2-40B4-BE49-F238E27FC236}">
                  <a16:creationId xmlns:a16="http://schemas.microsoft.com/office/drawing/2014/main" id="{25CD0869-AD12-481D-B12C-1E39315A22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080" y="5729747"/>
              <a:ext cx="5334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830" name="Text Box 13">
            <a:extLst>
              <a:ext uri="{FF2B5EF4-FFF2-40B4-BE49-F238E27FC236}">
                <a16:creationId xmlns:a16="http://schemas.microsoft.com/office/drawing/2014/main" id="{DC4AA381-4CA2-4A46-BBEA-6303CE27FA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4381" y="2303268"/>
            <a:ext cx="3067665" cy="1815882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800" b="1" u="sng" dirty="0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  <a:br>
              <a:rPr lang="en-US" altLang="en-US" sz="2800" b="1" u="sng" dirty="0">
                <a:solidFill>
                  <a:srgbClr val="FF0000"/>
                </a:solidFill>
                <a:latin typeface="Tahoma" panose="020B0604030504040204" pitchFamily="34" charset="0"/>
              </a:rPr>
            </a:br>
            <a:r>
              <a:rPr lang="en-US" altLang="en-US" sz="2800" b="1" dirty="0">
                <a:latin typeface="Tahoma" panose="020B0604030504040204" pitchFamily="34" charset="0"/>
              </a:rPr>
              <a:t>ListNode@0xFA</a:t>
            </a:r>
            <a:br>
              <a:rPr lang="en-US" altLang="en-US" sz="2800" b="1" dirty="0">
                <a:latin typeface="Tahoma" panose="020B0604030504040204" pitchFamily="34" charset="0"/>
              </a:rPr>
            </a:br>
            <a:r>
              <a:rPr lang="en-US" altLang="en-US" sz="2800" b="1" dirty="0">
                <a:latin typeface="Tahoma" panose="020B0604030504040204" pitchFamily="34" charset="0"/>
              </a:rPr>
              <a:t>10</a:t>
            </a:r>
            <a:br>
              <a:rPr lang="en-US" altLang="en-US" sz="2800" b="1" dirty="0">
                <a:latin typeface="Tahoma" panose="020B0604030504040204" pitchFamily="34" charset="0"/>
              </a:rPr>
            </a:br>
            <a:r>
              <a:rPr lang="en-US" altLang="en-US" sz="2800" b="1" dirty="0">
                <a:latin typeface="Tahoma" panose="020B0604030504040204" pitchFamily="34" charset="0"/>
              </a:rPr>
              <a:t>null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D635B1-BF43-10D0-B1DB-535520FEAAB3}"/>
              </a:ext>
            </a:extLst>
          </p:cNvPr>
          <p:cNvSpPr/>
          <p:nvPr/>
        </p:nvSpPr>
        <p:spPr>
          <a:xfrm>
            <a:off x="1864514" y="280396"/>
            <a:ext cx="502413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A Single Node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Footer Placeholder 3">
            <a:extLst>
              <a:ext uri="{FF2B5EF4-FFF2-40B4-BE49-F238E27FC236}">
                <a16:creationId xmlns:a16="http://schemas.microsoft.com/office/drawing/2014/main" id="{7DCEA428-94FA-43B0-B4E6-E3C9BF7D76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38915" name="WordArt 2">
            <a:extLst>
              <a:ext uri="{FF2B5EF4-FFF2-40B4-BE49-F238E27FC236}">
                <a16:creationId xmlns:a16="http://schemas.microsoft.com/office/drawing/2014/main" id="{895C2814-1F9A-4F1F-8C38-D5148A7E9EE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2362200"/>
            <a:ext cx="73914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Linking Nodes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Footer Placeholder 3">
            <a:extLst>
              <a:ext uri="{FF2B5EF4-FFF2-40B4-BE49-F238E27FC236}">
                <a16:creationId xmlns:a16="http://schemas.microsoft.com/office/drawing/2014/main" id="{CFB5C8F0-3640-40A1-84E0-302E0D34D03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40963" name="WordArt 3">
            <a:extLst>
              <a:ext uri="{FF2B5EF4-FFF2-40B4-BE49-F238E27FC236}">
                <a16:creationId xmlns:a16="http://schemas.microsoft.com/office/drawing/2014/main" id="{7C222F03-920C-4806-B174-DB380239D61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Linking Nodes</a:t>
            </a:r>
          </a:p>
        </p:txBody>
      </p:sp>
      <p:sp>
        <p:nvSpPr>
          <p:cNvPr id="40964" name="Rectangle 32">
            <a:extLst>
              <a:ext uri="{FF2B5EF4-FFF2-40B4-BE49-F238E27FC236}">
                <a16:creationId xmlns:a16="http://schemas.microsoft.com/office/drawing/2014/main" id="{E45706D2-616F-4FE1-BFEB-42B5C0E300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971800"/>
            <a:ext cx="8497888" cy="308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latin typeface="Tahoma" panose="020B0604030504040204" pitchFamily="34" charset="0"/>
              </a:rPr>
              <a:t> x = new </a:t>
            </a:r>
            <a:r>
              <a:rPr lang="en-US" altLang="en-US" sz="28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latin typeface="Tahoma" panose="020B0604030504040204" pitchFamily="34" charset="0"/>
              </a:rPr>
              <a:t>("10",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		     </a:t>
            </a:r>
            <a:r>
              <a:rPr lang="en-US" altLang="en-US" sz="2800" b="1" dirty="0">
                <a:solidFill>
                  <a:srgbClr val="336633"/>
                </a:solidFill>
                <a:latin typeface="Tahoma" panose="020B0604030504040204" pitchFamily="34" charset="0"/>
              </a:rPr>
              <a:t>new </a:t>
            </a:r>
            <a:r>
              <a:rPr lang="en-US" altLang="en-US" sz="2800" b="1" dirty="0" err="1">
                <a:solidFill>
                  <a:srgbClr val="336633"/>
                </a:solidFill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solidFill>
                  <a:srgbClr val="336633"/>
                </a:solidFill>
                <a:latin typeface="Tahoma" panose="020B0604030504040204" pitchFamily="34" charset="0"/>
              </a:rPr>
              <a:t>("11",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		     </a:t>
            </a:r>
            <a:r>
              <a:rPr lang="en-US" altLang="en-US" sz="2800" b="1" dirty="0">
                <a:solidFill>
                  <a:srgbClr val="0000FF"/>
                </a:solidFill>
                <a:latin typeface="Tahoma" panose="020B0604030504040204" pitchFamily="34" charset="0"/>
              </a:rPr>
              <a:t>new </a:t>
            </a:r>
            <a:r>
              <a:rPr lang="en-US" altLang="en-US" sz="2800" b="1" dirty="0" err="1">
                <a:solidFill>
                  <a:srgbClr val="0000FF"/>
                </a:solidFill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solidFill>
                  <a:srgbClr val="0000FF"/>
                </a:solidFill>
                <a:latin typeface="Tahoma" panose="020B0604030504040204" pitchFamily="34" charset="0"/>
              </a:rPr>
              <a:t>("12",null)</a:t>
            </a:r>
            <a:r>
              <a:rPr lang="en-US" altLang="en-US" sz="2800" b="1" dirty="0">
                <a:solidFill>
                  <a:srgbClr val="336633"/>
                </a:solidFill>
                <a:latin typeface="Tahoma" panose="020B0604030504040204" pitchFamily="34" charset="0"/>
              </a:rPr>
              <a:t>)</a:t>
            </a:r>
            <a:r>
              <a:rPr lang="en-US" altLang="en-US" sz="2800" b="1" dirty="0">
                <a:latin typeface="Tahoma" panose="020B0604030504040204" pitchFamily="34" charset="0"/>
              </a:rPr>
              <a:t>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b="1" dirty="0">
                <a:latin typeface="Tahoma" panose="020B0604030504040204" pitchFamily="34" charset="0"/>
              </a:rPr>
              <a:t>(</a:t>
            </a:r>
            <a:r>
              <a:rPr lang="en-US" altLang="en-US" sz="2800" b="1" dirty="0" err="1">
                <a:latin typeface="Tahoma" panose="020B0604030504040204" pitchFamily="34" charset="0"/>
              </a:rPr>
              <a:t>x.getValue</a:t>
            </a:r>
            <a:r>
              <a:rPr lang="en-US" altLang="en-US" sz="2800" b="1" dirty="0">
                <a:latin typeface="Tahoma" panose="020B0604030504040204" pitchFamily="34" charset="0"/>
              </a:rPr>
              <a:t>());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b="1" dirty="0">
                <a:latin typeface="Tahoma" panose="020B0604030504040204" pitchFamily="34" charset="0"/>
              </a:rPr>
              <a:t>(</a:t>
            </a:r>
            <a:r>
              <a:rPr lang="en-US" altLang="en-US" sz="2800" b="1" dirty="0" err="1">
                <a:latin typeface="Tahoma" panose="020B0604030504040204" pitchFamily="34" charset="0"/>
              </a:rPr>
              <a:t>x.getNext</a:t>
            </a:r>
            <a:r>
              <a:rPr lang="en-US" altLang="en-US" sz="2800" b="1" dirty="0">
                <a:latin typeface="Tahoma" panose="020B0604030504040204" pitchFamily="34" charset="0"/>
              </a:rPr>
              <a:t>().</a:t>
            </a:r>
            <a:r>
              <a:rPr lang="en-US" altLang="en-US" sz="2800" b="1" dirty="0" err="1">
                <a:latin typeface="Tahoma" panose="020B0604030504040204" pitchFamily="34" charset="0"/>
              </a:rPr>
              <a:t>getNext</a:t>
            </a:r>
            <a:r>
              <a:rPr lang="en-US" altLang="en-US" sz="2800" b="1" dirty="0">
                <a:latin typeface="Tahoma" panose="020B0604030504040204" pitchFamily="34" charset="0"/>
              </a:rPr>
              <a:t>().</a:t>
            </a:r>
            <a:r>
              <a:rPr lang="en-US" altLang="en-US" sz="2800" b="1" dirty="0" err="1">
                <a:latin typeface="Tahoma" panose="020B0604030504040204" pitchFamily="34" charset="0"/>
              </a:rPr>
              <a:t>getValue</a:t>
            </a:r>
            <a:r>
              <a:rPr lang="en-US" altLang="en-US" sz="2800" b="1" dirty="0">
                <a:latin typeface="Tahoma" panose="020B0604030504040204" pitchFamily="34" charset="0"/>
              </a:rPr>
              <a:t>());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b="1" dirty="0">
                <a:latin typeface="Tahoma" panose="020B0604030504040204" pitchFamily="34" charset="0"/>
              </a:rPr>
              <a:t>(</a:t>
            </a:r>
            <a:r>
              <a:rPr lang="en-US" altLang="en-US" sz="2800" b="1" dirty="0" err="1">
                <a:latin typeface="Tahoma" panose="020B0604030504040204" pitchFamily="34" charset="0"/>
              </a:rPr>
              <a:t>x.getNext</a:t>
            </a:r>
            <a:r>
              <a:rPr lang="en-US" altLang="en-US" sz="2800" b="1" dirty="0">
                <a:latin typeface="Tahoma" panose="020B0604030504040204" pitchFamily="34" charset="0"/>
              </a:rPr>
              <a:t>().</a:t>
            </a:r>
            <a:r>
              <a:rPr lang="en-US" altLang="en-US" sz="2800" b="1" dirty="0" err="1">
                <a:latin typeface="Tahoma" panose="020B0604030504040204" pitchFamily="34" charset="0"/>
              </a:rPr>
              <a:t>getValue</a:t>
            </a:r>
            <a:r>
              <a:rPr lang="en-US" altLang="en-US" sz="2800" b="1" dirty="0">
                <a:latin typeface="Tahoma" panose="020B0604030504040204" pitchFamily="34" charset="0"/>
              </a:rPr>
              <a:t>());</a:t>
            </a:r>
          </a:p>
        </p:txBody>
      </p:sp>
      <p:sp>
        <p:nvSpPr>
          <p:cNvPr id="40965" name="Text Box 34">
            <a:extLst>
              <a:ext uri="{FF2B5EF4-FFF2-40B4-BE49-F238E27FC236}">
                <a16:creationId xmlns:a16="http://schemas.microsoft.com/office/drawing/2014/main" id="{C1B444E0-DA1C-41F5-A7B6-B0442926B8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1600200"/>
            <a:ext cx="1981200" cy="2054225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  <a:r>
              <a:rPr lang="en-US" altLang="en-US" b="1">
                <a:latin typeface="Tahoma" panose="020B0604030504040204" pitchFamily="34" charset="0"/>
              </a:rPr>
              <a:t>10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12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Footer Placeholder 3">
            <a:extLst>
              <a:ext uri="{FF2B5EF4-FFF2-40B4-BE49-F238E27FC236}">
                <a16:creationId xmlns:a16="http://schemas.microsoft.com/office/drawing/2014/main" id="{733B75A4-4886-4EE1-9211-8C2FFE56168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E32363B8-6C31-49E1-A5EA-739D92CB2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752600"/>
            <a:ext cx="7143750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latin typeface="Tahoma" panose="020B0604030504040204" pitchFamily="34" charset="0"/>
              </a:rPr>
              <a:t> x = new </a:t>
            </a:r>
            <a:r>
              <a:rPr lang="en-US" altLang="en-US" sz="28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latin typeface="Tahoma" panose="020B0604030504040204" pitchFamily="34" charset="0"/>
              </a:rPr>
              <a:t>("10", null);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b="1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latin typeface="Tahoma" panose="020B0604030504040204" pitchFamily="34" charset="0"/>
              </a:rPr>
              <a:t> y = new </a:t>
            </a:r>
            <a:r>
              <a:rPr lang="en-US" altLang="en-US" sz="28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latin typeface="Tahoma" panose="020B0604030504040204" pitchFamily="34" charset="0"/>
              </a:rPr>
              <a:t>("11", x);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b="1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latin typeface="Tahoma" panose="020B0604030504040204" pitchFamily="34" charset="0"/>
              </a:rPr>
              <a:t> z = new </a:t>
            </a:r>
            <a:r>
              <a:rPr lang="en-US" altLang="en-US" sz="28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latin typeface="Tahoma" panose="020B0604030504040204" pitchFamily="34" charset="0"/>
              </a:rPr>
              <a:t>("12", y);</a:t>
            </a:r>
          </a:p>
        </p:txBody>
      </p:sp>
      <p:grpSp>
        <p:nvGrpSpPr>
          <p:cNvPr id="2" name="Group 1" descr="This image shows 3 nodes linked together as well as three variables, x, y, and z, that store references to them:&#10;&#10;z = 0x12&#10;0x12 --&gt; 12, 0x15&#10;y = 0x15&#10;0x15 --&gt; 11, 0x17&#10;x = 0x17&#10;0x17 --&gt; 10, null&#10;&#10;Normally this linked list would be represented linearly as:&#10;&#10;z --&gt; 12 --&gt; 11 --&gt; 10 where it is understood that z is a reference variable that refers to the first node and each number represents a node that stores that numeric value AND a link to the following node.">
            <a:extLst>
              <a:ext uri="{FF2B5EF4-FFF2-40B4-BE49-F238E27FC236}">
                <a16:creationId xmlns:a16="http://schemas.microsoft.com/office/drawing/2014/main" id="{7003C4CD-7B1B-A446-8448-559A2A9F9D7F}"/>
              </a:ext>
            </a:extLst>
          </p:cNvPr>
          <p:cNvGrpSpPr/>
          <p:nvPr/>
        </p:nvGrpSpPr>
        <p:grpSpPr>
          <a:xfrm>
            <a:off x="0" y="4191000"/>
            <a:ext cx="8229600" cy="2089150"/>
            <a:chOff x="0" y="4191000"/>
            <a:chExt cx="8229600" cy="2089150"/>
          </a:xfrm>
        </p:grpSpPr>
        <p:sp>
          <p:nvSpPr>
            <p:cNvPr id="93196" name="Rectangle 12">
              <a:extLst>
                <a:ext uri="{FF2B5EF4-FFF2-40B4-BE49-F238E27FC236}">
                  <a16:creationId xmlns:a16="http://schemas.microsoft.com/office/drawing/2014/main" id="{3E0BC32D-3F57-42BB-AA0B-EEDE393FE6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24600" y="44958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93197" name="Rectangle 13">
              <a:extLst>
                <a:ext uri="{FF2B5EF4-FFF2-40B4-BE49-F238E27FC236}">
                  <a16:creationId xmlns:a16="http://schemas.microsoft.com/office/drawing/2014/main" id="{6B56A01B-287C-4F84-8D3A-577F378830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9000" y="44958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3200" name="Text Box 16">
              <a:extLst>
                <a:ext uri="{FF2B5EF4-FFF2-40B4-BE49-F238E27FC236}">
                  <a16:creationId xmlns:a16="http://schemas.microsoft.com/office/drawing/2014/main" id="{951DF76F-A357-41EE-BBD5-312E9BD2F5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0800" y="47244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10</a:t>
              </a:r>
            </a:p>
          </p:txBody>
        </p:sp>
        <p:sp>
          <p:nvSpPr>
            <p:cNvPr id="93209" name="Text Box 25">
              <a:extLst>
                <a:ext uri="{FF2B5EF4-FFF2-40B4-BE49-F238E27FC236}">
                  <a16:creationId xmlns:a16="http://schemas.microsoft.com/office/drawing/2014/main" id="{AC79DB6B-1328-4636-ADA0-732B9D3A87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2600" y="5562600"/>
              <a:ext cx="14478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1">
                  <a:latin typeface="Tahoma" panose="020B0604030504040204" pitchFamily="34" charset="0"/>
                </a:rPr>
                <a:t>x</a:t>
              </a:r>
            </a:p>
          </p:txBody>
        </p:sp>
        <p:sp>
          <p:nvSpPr>
            <p:cNvPr id="93215" name="Text Box 31">
              <a:extLst>
                <a:ext uri="{FF2B5EF4-FFF2-40B4-BE49-F238E27FC236}">
                  <a16:creationId xmlns:a16="http://schemas.microsoft.com/office/drawing/2014/main" id="{69C4D6E4-E8DB-460A-9CCA-CCC5999191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0" y="41910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0x17</a:t>
              </a:r>
            </a:p>
          </p:txBody>
        </p:sp>
        <p:sp>
          <p:nvSpPr>
            <p:cNvPr id="93218" name="Text Box 34">
              <a:extLst>
                <a:ext uri="{FF2B5EF4-FFF2-40B4-BE49-F238E27FC236}">
                  <a16:creationId xmlns:a16="http://schemas.microsoft.com/office/drawing/2014/main" id="{C461ADA9-DD17-493A-9113-AE3A9E1A24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67600" y="4724400"/>
              <a:ext cx="667871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93221" name="Text Box 37">
              <a:extLst>
                <a:ext uri="{FF2B5EF4-FFF2-40B4-BE49-F238E27FC236}">
                  <a16:creationId xmlns:a16="http://schemas.microsoft.com/office/drawing/2014/main" id="{A84DFD7D-CDC6-447D-9B3A-C12E3756C6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0200" y="5943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0x17</a:t>
              </a:r>
            </a:p>
          </p:txBody>
        </p:sp>
        <p:sp>
          <p:nvSpPr>
            <p:cNvPr id="93222" name="Line 38">
              <a:extLst>
                <a:ext uri="{FF2B5EF4-FFF2-40B4-BE49-F238E27FC236}">
                  <a16:creationId xmlns:a16="http://schemas.microsoft.com/office/drawing/2014/main" id="{3822C529-BD55-477A-9229-2CE2809918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43600" y="5029200"/>
              <a:ext cx="304800" cy="53340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41" name="Rectangle 57">
              <a:extLst>
                <a:ext uri="{FF2B5EF4-FFF2-40B4-BE49-F238E27FC236}">
                  <a16:creationId xmlns:a16="http://schemas.microsoft.com/office/drawing/2014/main" id="{DD111D31-915F-4726-B76E-16FE49843A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5400" y="44958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3242" name="Rectangle 58">
              <a:extLst>
                <a:ext uri="{FF2B5EF4-FFF2-40B4-BE49-F238E27FC236}">
                  <a16:creationId xmlns:a16="http://schemas.microsoft.com/office/drawing/2014/main" id="{1C8BDB8C-B66E-4E6E-ABE2-5D2304F05A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9800" y="44958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3243" name="Line 59">
              <a:extLst>
                <a:ext uri="{FF2B5EF4-FFF2-40B4-BE49-F238E27FC236}">
                  <a16:creationId xmlns:a16="http://schemas.microsoft.com/office/drawing/2014/main" id="{341A5F2B-7276-40D1-8195-8E8EF4618E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8000" y="4953000"/>
              <a:ext cx="5334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44" name="Rectangle 60">
              <a:extLst>
                <a:ext uri="{FF2B5EF4-FFF2-40B4-BE49-F238E27FC236}">
                  <a16:creationId xmlns:a16="http://schemas.microsoft.com/office/drawing/2014/main" id="{4331EBBF-AF74-44A9-AFA5-8F99766EE7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600" y="44958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3245" name="Rectangle 61">
              <a:extLst>
                <a:ext uri="{FF2B5EF4-FFF2-40B4-BE49-F238E27FC236}">
                  <a16:creationId xmlns:a16="http://schemas.microsoft.com/office/drawing/2014/main" id="{3073509A-7596-48DF-92A3-0C02FBC7C6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44958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3246" name="Line 62">
              <a:extLst>
                <a:ext uri="{FF2B5EF4-FFF2-40B4-BE49-F238E27FC236}">
                  <a16:creationId xmlns:a16="http://schemas.microsoft.com/office/drawing/2014/main" id="{C76304D4-EE68-483E-A309-C2B334C461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10200" y="4953000"/>
              <a:ext cx="5334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47" name="Text Box 63">
              <a:extLst>
                <a:ext uri="{FF2B5EF4-FFF2-40B4-BE49-F238E27FC236}">
                  <a16:creationId xmlns:a16="http://schemas.microsoft.com/office/drawing/2014/main" id="{1FF3A8F8-0CBE-4469-B9A1-5195222789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3800" y="47244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11</a:t>
              </a:r>
            </a:p>
          </p:txBody>
        </p:sp>
        <p:sp>
          <p:nvSpPr>
            <p:cNvPr id="93248" name="Text Box 64">
              <a:extLst>
                <a:ext uri="{FF2B5EF4-FFF2-40B4-BE49-F238E27FC236}">
                  <a16:creationId xmlns:a16="http://schemas.microsoft.com/office/drawing/2014/main" id="{25737533-1272-4A92-B77A-E42FEB91BE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1600" y="47244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12</a:t>
              </a:r>
            </a:p>
          </p:txBody>
        </p:sp>
        <p:sp>
          <p:nvSpPr>
            <p:cNvPr id="93249" name="Text Box 65">
              <a:extLst>
                <a:ext uri="{FF2B5EF4-FFF2-40B4-BE49-F238E27FC236}">
                  <a16:creationId xmlns:a16="http://schemas.microsoft.com/office/drawing/2014/main" id="{EAADA115-0BB0-4242-8516-E4F03F311B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1800" y="5410200"/>
              <a:ext cx="14478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1">
                  <a:latin typeface="Tahoma" panose="020B0604030504040204" pitchFamily="34" charset="0"/>
                </a:rPr>
                <a:t>y</a:t>
              </a:r>
            </a:p>
          </p:txBody>
        </p:sp>
        <p:sp>
          <p:nvSpPr>
            <p:cNvPr id="93250" name="Text Box 66">
              <a:extLst>
                <a:ext uri="{FF2B5EF4-FFF2-40B4-BE49-F238E27FC236}">
                  <a16:creationId xmlns:a16="http://schemas.microsoft.com/office/drawing/2014/main" id="{DCA76FFA-4414-46AF-AD6C-4E1BB8D179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00" y="4648200"/>
              <a:ext cx="14478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1">
                  <a:latin typeface="Tahoma" panose="020B0604030504040204" pitchFamily="34" charset="0"/>
                </a:rPr>
                <a:t>z</a:t>
              </a:r>
            </a:p>
          </p:txBody>
        </p:sp>
        <p:sp>
          <p:nvSpPr>
            <p:cNvPr id="93251" name="Text Box 67">
              <a:extLst>
                <a:ext uri="{FF2B5EF4-FFF2-40B4-BE49-F238E27FC236}">
                  <a16:creationId xmlns:a16="http://schemas.microsoft.com/office/drawing/2014/main" id="{27CE9588-3B74-47AB-B38D-0BCF6034C4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51054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0x12</a:t>
              </a:r>
            </a:p>
          </p:txBody>
        </p:sp>
        <p:sp>
          <p:nvSpPr>
            <p:cNvPr id="93252" name="Line 68">
              <a:extLst>
                <a:ext uri="{FF2B5EF4-FFF2-40B4-BE49-F238E27FC236}">
                  <a16:creationId xmlns:a16="http://schemas.microsoft.com/office/drawing/2014/main" id="{AA587DBA-EF24-4739-B9DC-8B07AFE5A2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2000" y="4953000"/>
              <a:ext cx="5334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53" name="Text Box 69">
              <a:extLst>
                <a:ext uri="{FF2B5EF4-FFF2-40B4-BE49-F238E27FC236}">
                  <a16:creationId xmlns:a16="http://schemas.microsoft.com/office/drawing/2014/main" id="{4094D04E-707A-46B0-A85F-16742D6E74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2600" y="41910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0x12</a:t>
              </a:r>
            </a:p>
          </p:txBody>
        </p:sp>
        <p:sp>
          <p:nvSpPr>
            <p:cNvPr id="93254" name="Text Box 70">
              <a:extLst>
                <a:ext uri="{FF2B5EF4-FFF2-40B4-BE49-F238E27FC236}">
                  <a16:creationId xmlns:a16="http://schemas.microsoft.com/office/drawing/2014/main" id="{F58392D4-1F7F-4C5B-8961-86235A1375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4800" y="41910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0x15</a:t>
              </a:r>
            </a:p>
          </p:txBody>
        </p:sp>
        <p:sp>
          <p:nvSpPr>
            <p:cNvPr id="93255" name="Text Box 71">
              <a:extLst>
                <a:ext uri="{FF2B5EF4-FFF2-40B4-BE49-F238E27FC236}">
                  <a16:creationId xmlns:a16="http://schemas.microsoft.com/office/drawing/2014/main" id="{3663D850-59BF-42B3-9E64-A133CBDC0A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2200" y="47244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0x15</a:t>
              </a:r>
            </a:p>
          </p:txBody>
        </p:sp>
        <p:sp>
          <p:nvSpPr>
            <p:cNvPr id="93256" name="Text Box 72">
              <a:extLst>
                <a:ext uri="{FF2B5EF4-FFF2-40B4-BE49-F238E27FC236}">
                  <a16:creationId xmlns:a16="http://schemas.microsoft.com/office/drawing/2014/main" id="{E1F67665-A599-4415-93C3-7D0A4BEDA0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8200" y="47244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0x17</a:t>
              </a:r>
            </a:p>
          </p:txBody>
        </p:sp>
        <p:sp>
          <p:nvSpPr>
            <p:cNvPr id="93257" name="Text Box 73">
              <a:extLst>
                <a:ext uri="{FF2B5EF4-FFF2-40B4-BE49-F238E27FC236}">
                  <a16:creationId xmlns:a16="http://schemas.microsoft.com/office/drawing/2014/main" id="{6685E6B7-BAD4-4AA6-AC39-8DE5B70D8C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7000" y="5943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0x15</a:t>
              </a:r>
            </a:p>
          </p:txBody>
        </p:sp>
        <p:sp>
          <p:nvSpPr>
            <p:cNvPr id="93258" name="Line 74">
              <a:extLst>
                <a:ext uri="{FF2B5EF4-FFF2-40B4-BE49-F238E27FC236}">
                  <a16:creationId xmlns:a16="http://schemas.microsoft.com/office/drawing/2014/main" id="{D6E22B71-2D20-458F-9949-27FFE7AB27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76600" y="5105400"/>
              <a:ext cx="304800" cy="38100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5088" name="WordArt 75">
            <a:extLst>
              <a:ext uri="{FF2B5EF4-FFF2-40B4-BE49-F238E27FC236}">
                <a16:creationId xmlns:a16="http://schemas.microsoft.com/office/drawing/2014/main" id="{FF8166D1-C7FC-4495-8101-4DA8A486EF8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Linking Nodes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Footer Placeholder 3">
            <a:extLst>
              <a:ext uri="{FF2B5EF4-FFF2-40B4-BE49-F238E27FC236}">
                <a16:creationId xmlns:a16="http://schemas.microsoft.com/office/drawing/2014/main" id="{86E17B69-EC87-40A4-A032-CE4DAA07931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6C7B3325-5863-434D-A567-68B7F75E4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752600"/>
            <a:ext cx="7132638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x = new ListNode(10.3, null);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y = new ListNode(11.0, x);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z = new ListNode(12.5, y);</a:t>
            </a:r>
          </a:p>
        </p:txBody>
      </p:sp>
      <p:grpSp>
        <p:nvGrpSpPr>
          <p:cNvPr id="2" name="Group 1" descr="This image is similar to the last one, except it doesn't show the memory references.  There are 3 nodes linked together as well as three variables, x, y, and z, that store references to them:&#10;&#10;z --&gt; 12.5 node --&gt; 11.0 node --&gt; 10.3 node&#10;y --&gt; 11.0 node&#10;x --&gt; 10.3 node&#10;&#10;y = 0x15&#10;0x15 --&gt; 11, 0x17&#10;x = 0x17&#10;0x17 --&gt; 10, null&#10;">
            <a:extLst>
              <a:ext uri="{FF2B5EF4-FFF2-40B4-BE49-F238E27FC236}">
                <a16:creationId xmlns:a16="http://schemas.microsoft.com/office/drawing/2014/main" id="{40156607-9457-421A-776A-6834D0493077}"/>
              </a:ext>
            </a:extLst>
          </p:cNvPr>
          <p:cNvGrpSpPr/>
          <p:nvPr/>
        </p:nvGrpSpPr>
        <p:grpSpPr>
          <a:xfrm>
            <a:off x="381000" y="4419600"/>
            <a:ext cx="7655861" cy="1524000"/>
            <a:chOff x="381000" y="4419600"/>
            <a:chExt cx="7655861" cy="1524000"/>
          </a:xfrm>
        </p:grpSpPr>
        <p:sp>
          <p:nvSpPr>
            <p:cNvPr id="47108" name="Rectangle 4">
              <a:extLst>
                <a:ext uri="{FF2B5EF4-FFF2-40B4-BE49-F238E27FC236}">
                  <a16:creationId xmlns:a16="http://schemas.microsoft.com/office/drawing/2014/main" id="{861B4A8B-4A02-4202-8409-E86F312461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9200" y="4419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47109" name="Rectangle 5">
              <a:extLst>
                <a:ext uri="{FF2B5EF4-FFF2-40B4-BE49-F238E27FC236}">
                  <a16:creationId xmlns:a16="http://schemas.microsoft.com/office/drawing/2014/main" id="{A40F9448-C1D9-47D4-9000-71C5BB1251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4419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47110" name="Line 6">
              <a:extLst>
                <a:ext uri="{FF2B5EF4-FFF2-40B4-BE49-F238E27FC236}">
                  <a16:creationId xmlns:a16="http://schemas.microsoft.com/office/drawing/2014/main" id="{EAB141D8-32B9-47C8-849D-78B6ACD651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0800" y="4876800"/>
              <a:ext cx="9144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11" name="Rectangle 7">
              <a:extLst>
                <a:ext uri="{FF2B5EF4-FFF2-40B4-BE49-F238E27FC236}">
                  <a16:creationId xmlns:a16="http://schemas.microsoft.com/office/drawing/2014/main" id="{5A16ED35-E20F-4831-96D5-76706AD6B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400" y="4419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47112" name="Rectangle 8">
              <a:extLst>
                <a:ext uri="{FF2B5EF4-FFF2-40B4-BE49-F238E27FC236}">
                  <a16:creationId xmlns:a16="http://schemas.microsoft.com/office/drawing/2014/main" id="{1417493C-3875-4F3D-B605-3B113402B6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5800" y="4419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47113" name="Line 9">
              <a:extLst>
                <a:ext uri="{FF2B5EF4-FFF2-40B4-BE49-F238E27FC236}">
                  <a16:creationId xmlns:a16="http://schemas.microsoft.com/office/drawing/2014/main" id="{CDCBE074-5B67-4A77-B4A2-2F327FF02A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3000" y="4876800"/>
              <a:ext cx="9144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14" name="Rectangle 10">
              <a:extLst>
                <a:ext uri="{FF2B5EF4-FFF2-40B4-BE49-F238E27FC236}">
                  <a16:creationId xmlns:a16="http://schemas.microsoft.com/office/drawing/2014/main" id="{D45E4C30-B5F7-4E60-AE64-5FF7C8C95B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800" y="4419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7115" name="Rectangle 11">
              <a:extLst>
                <a:ext uri="{FF2B5EF4-FFF2-40B4-BE49-F238E27FC236}">
                  <a16:creationId xmlns:a16="http://schemas.microsoft.com/office/drawing/2014/main" id="{8E691505-798B-4421-A834-69B0553DAE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4200" y="4419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47117" name="Text Box 13">
              <a:extLst>
                <a:ext uri="{FF2B5EF4-FFF2-40B4-BE49-F238E27FC236}">
                  <a16:creationId xmlns:a16="http://schemas.microsoft.com/office/drawing/2014/main" id="{D1C8CF99-F88C-4D0E-82E2-37CD59F7CE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0" y="4648200"/>
              <a:ext cx="1143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10.3</a:t>
              </a:r>
            </a:p>
          </p:txBody>
        </p:sp>
        <p:sp>
          <p:nvSpPr>
            <p:cNvPr id="47118" name="Text Box 14">
              <a:extLst>
                <a:ext uri="{FF2B5EF4-FFF2-40B4-BE49-F238E27FC236}">
                  <a16:creationId xmlns:a16="http://schemas.microsoft.com/office/drawing/2014/main" id="{D60EA552-A16D-4792-90E3-11BB2E7EE3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600" y="4648200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11.0</a:t>
              </a:r>
            </a:p>
          </p:txBody>
        </p:sp>
        <p:sp>
          <p:nvSpPr>
            <p:cNvPr id="47119" name="Text Box 15">
              <a:extLst>
                <a:ext uri="{FF2B5EF4-FFF2-40B4-BE49-F238E27FC236}">
                  <a16:creationId xmlns:a16="http://schemas.microsoft.com/office/drawing/2014/main" id="{81A78FD5-8D90-466A-A70A-199D8E167B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400" y="4648200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12.5</a:t>
              </a:r>
            </a:p>
          </p:txBody>
        </p:sp>
        <p:sp>
          <p:nvSpPr>
            <p:cNvPr id="47120" name="Text Box 16">
              <a:extLst>
                <a:ext uri="{FF2B5EF4-FFF2-40B4-BE49-F238E27FC236}">
                  <a16:creationId xmlns:a16="http://schemas.microsoft.com/office/drawing/2014/main" id="{ED979DA3-AF6D-42CF-84EC-061E7A5E32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" y="45720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z</a:t>
              </a:r>
            </a:p>
          </p:txBody>
        </p:sp>
        <p:sp>
          <p:nvSpPr>
            <p:cNvPr id="47121" name="Text Box 17">
              <a:extLst>
                <a:ext uri="{FF2B5EF4-FFF2-40B4-BE49-F238E27FC236}">
                  <a16:creationId xmlns:a16="http://schemas.microsoft.com/office/drawing/2014/main" id="{85799B8C-401C-442E-A4FF-C674681A00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5600" y="5486400"/>
              <a:ext cx="1600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y</a:t>
              </a:r>
            </a:p>
          </p:txBody>
        </p:sp>
        <p:sp>
          <p:nvSpPr>
            <p:cNvPr id="47122" name="Text Box 18">
              <a:extLst>
                <a:ext uri="{FF2B5EF4-FFF2-40B4-BE49-F238E27FC236}">
                  <a16:creationId xmlns:a16="http://schemas.microsoft.com/office/drawing/2014/main" id="{9D842C97-DEA9-4037-81C5-99C90CD893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0" y="5486400"/>
              <a:ext cx="1447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x</a:t>
              </a:r>
            </a:p>
          </p:txBody>
        </p:sp>
        <p:sp>
          <p:nvSpPr>
            <p:cNvPr id="47123" name="Text Box 19">
              <a:extLst>
                <a:ext uri="{FF2B5EF4-FFF2-40B4-BE49-F238E27FC236}">
                  <a16:creationId xmlns:a16="http://schemas.microsoft.com/office/drawing/2014/main" id="{2C5B327D-9544-40B2-8E62-6819D790D1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6261" y="4619068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47124" name="Line 20">
              <a:extLst>
                <a:ext uri="{FF2B5EF4-FFF2-40B4-BE49-F238E27FC236}">
                  <a16:creationId xmlns:a16="http://schemas.microsoft.com/office/drawing/2014/main" id="{67C9FEDF-F439-47FE-9FF7-DAAACC7A72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38800" y="5029200"/>
              <a:ext cx="304800" cy="53340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25" name="Line 21">
              <a:extLst>
                <a:ext uri="{FF2B5EF4-FFF2-40B4-BE49-F238E27FC236}">
                  <a16:creationId xmlns:a16="http://schemas.microsoft.com/office/drawing/2014/main" id="{5699475D-AF55-4715-9141-72ABC82573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0400" y="5029200"/>
              <a:ext cx="304800" cy="53340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26" name="Line 22">
              <a:extLst>
                <a:ext uri="{FF2B5EF4-FFF2-40B4-BE49-F238E27FC236}">
                  <a16:creationId xmlns:a16="http://schemas.microsoft.com/office/drawing/2014/main" id="{88FB87FA-87BB-474F-AB61-BBCC17F1A4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2000" y="4800600"/>
              <a:ext cx="4572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127" name="WordArt 23">
            <a:extLst>
              <a:ext uri="{FF2B5EF4-FFF2-40B4-BE49-F238E27FC236}">
                <a16:creationId xmlns:a16="http://schemas.microsoft.com/office/drawing/2014/main" id="{C9CCF7FC-F67A-480C-8BE7-9E3C28A9DBF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Linking Nodes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Footer Placeholder 3">
            <a:extLst>
              <a:ext uri="{FF2B5EF4-FFF2-40B4-BE49-F238E27FC236}">
                <a16:creationId xmlns:a16="http://schemas.microsoft.com/office/drawing/2014/main" id="{7C6C72C3-51C3-4F90-9270-A0EC7C64B63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49155" name="WordArt 2">
            <a:extLst>
              <a:ext uri="{FF2B5EF4-FFF2-40B4-BE49-F238E27FC236}">
                <a16:creationId xmlns:a16="http://schemas.microsoft.com/office/drawing/2014/main" id="{223A8399-73A3-447B-8255-BA31E7A3794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Linking Nodes</a:t>
            </a: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8007D972-210A-4A1F-93FC-4B03633D6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676400"/>
            <a:ext cx="8470900" cy="308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x = new ListNode(10.3, null);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y = new ListNode(11.0, x);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z = new ListNode(12.5, y);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out.println(z.getValue());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out.println(z.getNext().getNext().getValue());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out.println(z.getNext().getValue());</a:t>
            </a:r>
          </a:p>
        </p:txBody>
      </p:sp>
      <p:sp>
        <p:nvSpPr>
          <p:cNvPr id="49157" name="Text Box 4">
            <a:extLst>
              <a:ext uri="{FF2B5EF4-FFF2-40B4-BE49-F238E27FC236}">
                <a16:creationId xmlns:a16="http://schemas.microsoft.com/office/drawing/2014/main" id="{E587E026-68D8-44F4-82F7-F019610075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4724400"/>
            <a:ext cx="1981200" cy="1873250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  <a:r>
              <a:rPr lang="en-US" altLang="en-US" sz="2800" b="1">
                <a:latin typeface="Tahoma" panose="020B0604030504040204" pitchFamily="34" charset="0"/>
              </a:rPr>
              <a:t>12.5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10.3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11.0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Footer Placeholder 3">
            <a:extLst>
              <a:ext uri="{FF2B5EF4-FFF2-40B4-BE49-F238E27FC236}">
                <a16:creationId xmlns:a16="http://schemas.microsoft.com/office/drawing/2014/main" id="{59245B57-DB93-48DD-918C-C1CD5D457C9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3251" name="WordArt 2">
            <a:extLst>
              <a:ext uri="{FF2B5EF4-FFF2-40B4-BE49-F238E27FC236}">
                <a16:creationId xmlns:a16="http://schemas.microsoft.com/office/drawing/2014/main" id="{F8CA01F0-95A2-4488-A602-C52211A3FD7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2362200"/>
            <a:ext cx="73914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Using Loops 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With Lists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Footer Placeholder 3">
            <a:extLst>
              <a:ext uri="{FF2B5EF4-FFF2-40B4-BE49-F238E27FC236}">
                <a16:creationId xmlns:a16="http://schemas.microsoft.com/office/drawing/2014/main" id="{DC91DDB1-5660-4FA6-9D9F-9452B3B61F3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5299" name="WordArt 2">
            <a:extLst>
              <a:ext uri="{FF2B5EF4-FFF2-40B4-BE49-F238E27FC236}">
                <a16:creationId xmlns:a16="http://schemas.microsoft.com/office/drawing/2014/main" id="{75BCA2D9-5EDE-43C6-BE9C-99852183B7A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Printing All Nodes</a:t>
            </a:r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324C29C3-4C27-4128-A145-5045A78F7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600200"/>
            <a:ext cx="7326313" cy="350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x = new ListNode("10",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		     new ListNode("11",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		     new ListNode("12",null)));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while( x != null 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out.println( x.getValue() 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55301" name="Text Box 4">
            <a:extLst>
              <a:ext uri="{FF2B5EF4-FFF2-40B4-BE49-F238E27FC236}">
                <a16:creationId xmlns:a16="http://schemas.microsoft.com/office/drawing/2014/main" id="{6F419529-A048-44A5-BED2-D65F3636EE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810000"/>
            <a:ext cx="1981200" cy="2541588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  <a:r>
              <a:rPr lang="en-US" altLang="en-US" b="1">
                <a:latin typeface="Tahoma" panose="020B0604030504040204" pitchFamily="34" charset="0"/>
              </a:rPr>
              <a:t>10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10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10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. . 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2D3A83-EACF-3111-49A5-B009C1792704}"/>
              </a:ext>
            </a:extLst>
          </p:cNvPr>
          <p:cNvSpPr txBox="1"/>
          <p:nvPr/>
        </p:nvSpPr>
        <p:spPr>
          <a:xfrm>
            <a:off x="685800" y="5537200"/>
            <a:ext cx="56012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Infinite Loop == Very Bad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Footer Placeholder 3">
            <a:extLst>
              <a:ext uri="{FF2B5EF4-FFF2-40B4-BE49-F238E27FC236}">
                <a16:creationId xmlns:a16="http://schemas.microsoft.com/office/drawing/2014/main" id="{DE901941-3D2A-46F8-8B54-CA582599E19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248400" y="6324600"/>
            <a:ext cx="28956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 dirty="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9395" name="WordArt 2">
            <a:extLst>
              <a:ext uri="{FF2B5EF4-FFF2-40B4-BE49-F238E27FC236}">
                <a16:creationId xmlns:a16="http://schemas.microsoft.com/office/drawing/2014/main" id="{2D00BD8B-720E-47D6-890A-5651EBF3D4D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Printing All Nodes</a:t>
            </a:r>
          </a:p>
        </p:txBody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2D7B41C7-10A1-49D3-947C-B6458739A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600200"/>
            <a:ext cx="7326313" cy="3935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x = new ListNode("10",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		     new ListNode("11",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		     new ListNode("12",null)));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while( x != null 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out.println( x.getValue() 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</a:t>
            </a:r>
            <a:r>
              <a:rPr lang="en-US" altLang="en-US" sz="2800" b="1">
                <a:solidFill>
                  <a:srgbClr val="008000"/>
                </a:solidFill>
                <a:latin typeface="Tahoma" panose="020B0604030504040204" pitchFamily="34" charset="0"/>
              </a:rPr>
              <a:t>x = x.getNext();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59397" name="Text Box 4">
            <a:extLst>
              <a:ext uri="{FF2B5EF4-FFF2-40B4-BE49-F238E27FC236}">
                <a16:creationId xmlns:a16="http://schemas.microsoft.com/office/drawing/2014/main" id="{8C9E15C1-FE6A-45C6-A0B1-55EFCC4B9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810000"/>
            <a:ext cx="1981200" cy="2054225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  <a:r>
              <a:rPr lang="en-US" altLang="en-US" b="1">
                <a:latin typeface="Tahoma" panose="020B0604030504040204" pitchFamily="34" charset="0"/>
              </a:rPr>
              <a:t>10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11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12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45BD2E-B3AC-66FF-93CA-AE3C1F43FF6F}"/>
              </a:ext>
            </a:extLst>
          </p:cNvPr>
          <p:cNvSpPr txBox="1"/>
          <p:nvPr/>
        </p:nvSpPr>
        <p:spPr>
          <a:xfrm>
            <a:off x="114300" y="5995988"/>
            <a:ext cx="91294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Better, but what is x storing after the loop?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Footer Placeholder 3">
            <a:extLst>
              <a:ext uri="{FF2B5EF4-FFF2-40B4-BE49-F238E27FC236}">
                <a16:creationId xmlns:a16="http://schemas.microsoft.com/office/drawing/2014/main" id="{DE901941-3D2A-46F8-8B54-CA582599E19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248400" y="6324600"/>
            <a:ext cx="28956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 dirty="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9395" name="WordArt 2">
            <a:extLst>
              <a:ext uri="{FF2B5EF4-FFF2-40B4-BE49-F238E27FC236}">
                <a16:creationId xmlns:a16="http://schemas.microsoft.com/office/drawing/2014/main" id="{2D00BD8B-720E-47D6-890A-5651EBF3D4D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Printing All Nodes</a:t>
            </a:r>
          </a:p>
        </p:txBody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2D7B41C7-10A1-49D3-947C-B6458739A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600200"/>
            <a:ext cx="7396577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latin typeface="Tahoma" panose="020B0604030504040204" pitchFamily="34" charset="0"/>
              </a:rPr>
              <a:t> x = new </a:t>
            </a:r>
            <a:r>
              <a:rPr lang="en-US" altLang="en-US" sz="28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latin typeface="Tahoma" panose="020B0604030504040204" pitchFamily="34" charset="0"/>
              </a:rPr>
              <a:t>("10",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		     new </a:t>
            </a:r>
            <a:r>
              <a:rPr lang="en-US" altLang="en-US" sz="28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latin typeface="Tahoma" panose="020B0604030504040204" pitchFamily="34" charset="0"/>
              </a:rPr>
              <a:t>("11",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		     new </a:t>
            </a:r>
            <a:r>
              <a:rPr lang="en-US" altLang="en-US" sz="28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latin typeface="Tahoma" panose="020B0604030504040204" pitchFamily="34" charset="0"/>
              </a:rPr>
              <a:t>("12",null)));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 err="1">
                <a:solidFill>
                  <a:srgbClr val="336633"/>
                </a:solidFill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solidFill>
                  <a:srgbClr val="336633"/>
                </a:solidFill>
                <a:latin typeface="Tahoma" panose="020B0604030504040204" pitchFamily="34" charset="0"/>
              </a:rPr>
              <a:t> temp = x;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while( temp != null 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   </a:t>
            </a:r>
            <a:r>
              <a:rPr lang="en-US" altLang="en-US" sz="2800" b="1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b="1" dirty="0">
                <a:latin typeface="Tahoma" panose="020B0604030504040204" pitchFamily="34" charset="0"/>
              </a:rPr>
              <a:t>( </a:t>
            </a:r>
            <a:r>
              <a:rPr lang="en-US" altLang="en-US" sz="2800" b="1" dirty="0" err="1">
                <a:latin typeface="Tahoma" panose="020B0604030504040204" pitchFamily="34" charset="0"/>
              </a:rPr>
              <a:t>temp.getValue</a:t>
            </a:r>
            <a:r>
              <a:rPr lang="en-US" altLang="en-US" sz="2800" b="1" dirty="0">
                <a:latin typeface="Tahoma" panose="020B0604030504040204" pitchFamily="34" charset="0"/>
              </a:rPr>
              <a:t>() 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   </a:t>
            </a:r>
            <a:r>
              <a:rPr lang="en-US" altLang="en-US" sz="2800" b="1" dirty="0">
                <a:solidFill>
                  <a:srgbClr val="008000"/>
                </a:solidFill>
                <a:latin typeface="Tahoma" panose="020B0604030504040204" pitchFamily="34" charset="0"/>
              </a:rPr>
              <a:t>temp = </a:t>
            </a:r>
            <a:r>
              <a:rPr lang="en-US" altLang="en-US" sz="2800" b="1" dirty="0" err="1">
                <a:solidFill>
                  <a:srgbClr val="008000"/>
                </a:solidFill>
                <a:latin typeface="Tahoma" panose="020B0604030504040204" pitchFamily="34" charset="0"/>
              </a:rPr>
              <a:t>temp.getNext</a:t>
            </a:r>
            <a:r>
              <a:rPr lang="en-US" altLang="en-US" sz="2800" b="1" dirty="0">
                <a:solidFill>
                  <a:srgbClr val="008000"/>
                </a:solidFill>
                <a:latin typeface="Tahoma" panose="020B0604030504040204" pitchFamily="34" charset="0"/>
              </a:rPr>
              <a:t>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59397" name="Text Box 4">
            <a:extLst>
              <a:ext uri="{FF2B5EF4-FFF2-40B4-BE49-F238E27FC236}">
                <a16:creationId xmlns:a16="http://schemas.microsoft.com/office/drawing/2014/main" id="{8C9E15C1-FE6A-45C6-A0B1-55EFCC4B9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810000"/>
            <a:ext cx="1981200" cy="2054225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  <a:r>
              <a:rPr lang="en-US" altLang="en-US" b="1">
                <a:latin typeface="Tahoma" panose="020B0604030504040204" pitchFamily="34" charset="0"/>
              </a:rPr>
              <a:t>10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11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12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45BD2E-B3AC-66FF-93CA-AE3C1F43FF6F}"/>
              </a:ext>
            </a:extLst>
          </p:cNvPr>
          <p:cNvSpPr txBox="1"/>
          <p:nvPr/>
        </p:nvSpPr>
        <p:spPr>
          <a:xfrm>
            <a:off x="50800" y="5995988"/>
            <a:ext cx="91903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336633"/>
                </a:solidFill>
              </a:rPr>
              <a:t>x still points to the first node after the loop.</a:t>
            </a:r>
          </a:p>
        </p:txBody>
      </p:sp>
    </p:spTree>
    <p:extLst>
      <p:ext uri="{BB962C8B-B14F-4D97-AF65-F5344CB8AC3E}">
        <p14:creationId xmlns:p14="http://schemas.microsoft.com/office/powerpoint/2010/main" val="21491888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A78B8-6BFE-B263-4FDF-CBA450BCE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Footer Placeholder 3">
            <a:extLst>
              <a:ext uri="{FF2B5EF4-FFF2-40B4-BE49-F238E27FC236}">
                <a16:creationId xmlns:a16="http://schemas.microsoft.com/office/drawing/2014/main" id="{A6F3BD4A-E4CC-82C0-FBE0-60CE8A0EA8D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248400" y="6324600"/>
            <a:ext cx="28956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 dirty="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9395" name="WordArt 2">
            <a:extLst>
              <a:ext uri="{FF2B5EF4-FFF2-40B4-BE49-F238E27FC236}">
                <a16:creationId xmlns:a16="http://schemas.microsoft.com/office/drawing/2014/main" id="{977345AA-CB3F-0E74-8872-21D32881968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532245" y="2928412"/>
            <a:ext cx="4488404" cy="52523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Printing All Nodes</a:t>
            </a:r>
          </a:p>
        </p:txBody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0B69557B-435B-89FC-71A3-09F9BEA25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313" y="234103"/>
            <a:ext cx="7455887" cy="6555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rgbClr val="336633"/>
                </a:solidFill>
                <a:latin typeface="Tahoma" panose="020B0604030504040204" pitchFamily="34" charset="0"/>
              </a:rPr>
              <a:t>//Iterative method: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public static void print1(</a:t>
            </a:r>
            <a:r>
              <a:rPr lang="en-US" altLang="en-US" sz="28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latin typeface="Tahoma" panose="020B0604030504040204" pitchFamily="34" charset="0"/>
              </a:rPr>
              <a:t> list) {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     </a:t>
            </a:r>
            <a:r>
              <a:rPr lang="en-US" altLang="en-US" sz="2800" b="1" dirty="0">
                <a:solidFill>
                  <a:srgbClr val="0000CC"/>
                </a:solidFill>
                <a:latin typeface="Tahoma" panose="020B0604030504040204" pitchFamily="34" charset="0"/>
              </a:rPr>
              <a:t>while </a:t>
            </a:r>
            <a:r>
              <a:rPr lang="en-US" altLang="en-US" sz="2800" b="1" dirty="0">
                <a:latin typeface="Tahoma" panose="020B0604030504040204" pitchFamily="34" charset="0"/>
              </a:rPr>
              <a:t>(list != null)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           </a:t>
            </a:r>
            <a:r>
              <a:rPr lang="en-US" altLang="en-US" sz="2800" b="1" dirty="0" err="1">
                <a:latin typeface="Tahoma" panose="020B0604030504040204" pitchFamily="34" charset="0"/>
              </a:rPr>
              <a:t>out.print</a:t>
            </a:r>
            <a:r>
              <a:rPr lang="en-US" altLang="en-US" sz="2800" b="1" dirty="0">
                <a:latin typeface="Tahoma" panose="020B0604030504040204" pitchFamily="34" charset="0"/>
              </a:rPr>
              <a:t>(</a:t>
            </a:r>
            <a:r>
              <a:rPr lang="en-US" altLang="en-US" sz="2800" b="1" dirty="0" err="1">
                <a:latin typeface="Tahoma" panose="020B0604030504040204" pitchFamily="34" charset="0"/>
              </a:rPr>
              <a:t>list.getValue</a:t>
            </a:r>
            <a:r>
              <a:rPr lang="en-US" altLang="en-US" sz="2800" b="1" dirty="0">
                <a:latin typeface="Tahoma" panose="020B0604030504040204" pitchFamily="34" charset="0"/>
              </a:rPr>
              <a:t>() + " 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rgbClr val="0000CC"/>
                </a:solidFill>
                <a:latin typeface="Tahoma" panose="020B0604030504040204" pitchFamily="34" charset="0"/>
              </a:rPr>
              <a:t>           list = </a:t>
            </a:r>
            <a:r>
              <a:rPr lang="en-US" altLang="en-US" sz="2800" b="1" dirty="0" err="1">
                <a:solidFill>
                  <a:srgbClr val="0000CC"/>
                </a:solidFill>
                <a:latin typeface="Tahoma" panose="020B0604030504040204" pitchFamily="34" charset="0"/>
              </a:rPr>
              <a:t>list.getNext</a:t>
            </a:r>
            <a:r>
              <a:rPr lang="en-US" altLang="en-US" sz="2800" b="1" dirty="0">
                <a:solidFill>
                  <a:srgbClr val="0000CC"/>
                </a:solidFill>
                <a:latin typeface="Tahoma" panose="020B0604030504040204" pitchFamily="34" charset="0"/>
              </a:rPr>
              <a:t>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 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b="1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rgbClr val="336633"/>
                </a:solidFill>
                <a:latin typeface="Tahoma" panose="020B0604030504040204" pitchFamily="34" charset="0"/>
              </a:rPr>
              <a:t>//Recursive method: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public static void print(</a:t>
            </a:r>
            <a:r>
              <a:rPr lang="en-US" altLang="en-US" sz="28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latin typeface="Tahoma" panose="020B0604030504040204" pitchFamily="34" charset="0"/>
              </a:rPr>
              <a:t> list)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     </a:t>
            </a:r>
            <a:r>
              <a:rPr lang="en-US" altLang="en-US" sz="2800" b="1" dirty="0">
                <a:solidFill>
                  <a:srgbClr val="0000CC"/>
                </a:solidFill>
                <a:latin typeface="Tahoma" panose="020B0604030504040204" pitchFamily="34" charset="0"/>
              </a:rPr>
              <a:t>if </a:t>
            </a:r>
            <a:r>
              <a:rPr lang="en-US" altLang="en-US" sz="2800" b="1" dirty="0">
                <a:latin typeface="Tahoma" panose="020B0604030504040204" pitchFamily="34" charset="0"/>
              </a:rPr>
              <a:t>(list != null)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           </a:t>
            </a:r>
            <a:r>
              <a:rPr lang="en-US" altLang="en-US" sz="2800" b="1" dirty="0" err="1">
                <a:latin typeface="Tahoma" panose="020B0604030504040204" pitchFamily="34" charset="0"/>
              </a:rPr>
              <a:t>out.print</a:t>
            </a:r>
            <a:r>
              <a:rPr lang="en-US" altLang="en-US" sz="2800" b="1" dirty="0">
                <a:latin typeface="Tahoma" panose="020B0604030504040204" pitchFamily="34" charset="0"/>
              </a:rPr>
              <a:t>(</a:t>
            </a:r>
            <a:r>
              <a:rPr lang="en-US" altLang="en-US" sz="2800" b="1" dirty="0" err="1">
                <a:latin typeface="Tahoma" panose="020B0604030504040204" pitchFamily="34" charset="0"/>
              </a:rPr>
              <a:t>list.getValue</a:t>
            </a:r>
            <a:r>
              <a:rPr lang="en-US" altLang="en-US" sz="2800" b="1" dirty="0">
                <a:latin typeface="Tahoma" panose="020B0604030504040204" pitchFamily="34" charset="0"/>
              </a:rPr>
              <a:t>() + " 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rgbClr val="0000CC"/>
                </a:solidFill>
                <a:latin typeface="Tahoma" panose="020B0604030504040204" pitchFamily="34" charset="0"/>
              </a:rPr>
              <a:t>           print(</a:t>
            </a:r>
            <a:r>
              <a:rPr lang="en-US" altLang="en-US" sz="2800" b="1" dirty="0" err="1">
                <a:solidFill>
                  <a:srgbClr val="0000CC"/>
                </a:solidFill>
                <a:latin typeface="Tahoma" panose="020B0604030504040204" pitchFamily="34" charset="0"/>
              </a:rPr>
              <a:t>list.getNext</a:t>
            </a:r>
            <a:r>
              <a:rPr lang="en-US" altLang="en-US" sz="2800" b="1" dirty="0">
                <a:solidFill>
                  <a:srgbClr val="0000CC"/>
                </a:solidFill>
                <a:latin typeface="Tahoma" panose="020B0604030504040204" pitchFamily="34" charset="0"/>
              </a:rPr>
              <a:t>());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 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822596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7A431-0ED6-4CB1-01B8-467557C3F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Footer Placeholder 3">
            <a:extLst>
              <a:ext uri="{FF2B5EF4-FFF2-40B4-BE49-F238E27FC236}">
                <a16:creationId xmlns:a16="http://schemas.microsoft.com/office/drawing/2014/main" id="{67B0AED6-F723-4CD9-FE41-E413722DBB8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248400" y="6324600"/>
            <a:ext cx="28956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 dirty="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8FBFE8-5D6F-A253-D13F-B5B9AB1EC0C9}"/>
              </a:ext>
            </a:extLst>
          </p:cNvPr>
          <p:cNvSpPr txBox="1"/>
          <p:nvPr/>
        </p:nvSpPr>
        <p:spPr>
          <a:xfrm>
            <a:off x="549962" y="1456585"/>
            <a:ext cx="841513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public static int </a:t>
            </a:r>
            <a:r>
              <a:rPr lang="en-US" sz="3200" b="1" dirty="0" err="1"/>
              <a:t>nodeCount</a:t>
            </a:r>
            <a:r>
              <a:rPr lang="en-US" sz="3200" b="1" dirty="0"/>
              <a:t>(Node list) </a:t>
            </a:r>
          </a:p>
          <a:p>
            <a:r>
              <a:rPr lang="en-US" sz="3200" b="1" dirty="0"/>
              <a:t>{ </a:t>
            </a:r>
            <a:br>
              <a:rPr lang="en-US" sz="3200" b="1" dirty="0"/>
            </a:br>
            <a:r>
              <a:rPr lang="en-US" sz="3200" b="1" dirty="0"/>
              <a:t>     int count=0;</a:t>
            </a:r>
            <a:br>
              <a:rPr lang="en-US" sz="3200" b="1" dirty="0"/>
            </a:br>
            <a:r>
              <a:rPr lang="en-US" sz="3200" b="1" dirty="0"/>
              <a:t>     while(list != null) {</a:t>
            </a:r>
            <a:br>
              <a:rPr lang="en-US" sz="3200" b="1" dirty="0"/>
            </a:br>
            <a:r>
              <a:rPr lang="en-US" sz="3200" b="1" dirty="0"/>
              <a:t>          count++;</a:t>
            </a:r>
            <a:br>
              <a:rPr lang="en-US" sz="3200" b="1" dirty="0"/>
            </a:br>
            <a:r>
              <a:rPr lang="en-US" sz="3200" b="1" dirty="0"/>
              <a:t>          list = </a:t>
            </a:r>
            <a:r>
              <a:rPr lang="en-US" sz="3200" b="1" dirty="0" err="1"/>
              <a:t>list.getNext</a:t>
            </a:r>
            <a:r>
              <a:rPr lang="en-US" sz="3200" b="1" dirty="0"/>
              <a:t>();</a:t>
            </a:r>
            <a:br>
              <a:rPr lang="en-US" sz="3200" b="1" dirty="0"/>
            </a:br>
            <a:r>
              <a:rPr lang="en-US" sz="3200" b="1" dirty="0"/>
              <a:t>     }</a:t>
            </a:r>
            <a:br>
              <a:rPr lang="en-US" sz="3200" b="1" dirty="0"/>
            </a:br>
            <a:r>
              <a:rPr lang="en-US" sz="3200" b="1" dirty="0"/>
              <a:t>     return count;</a:t>
            </a:r>
            <a:br>
              <a:rPr lang="en-US" sz="3200" b="1" dirty="0"/>
            </a:br>
            <a:r>
              <a:rPr lang="en-US" sz="3200" b="1" dirty="0"/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40FB43-2E41-A860-4ECF-CE4339AFF935}"/>
              </a:ext>
            </a:extLst>
          </p:cNvPr>
          <p:cNvSpPr/>
          <p:nvPr/>
        </p:nvSpPr>
        <p:spPr>
          <a:xfrm>
            <a:off x="258418" y="268215"/>
            <a:ext cx="8627163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0000CC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Counting </a:t>
            </a:r>
            <a:r>
              <a:rPr lang="en-US" sz="4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0000CC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Nodes Iteratively</a:t>
            </a:r>
            <a:endParaRPr lang="en-US" sz="48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rgbClr val="0000CC"/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883762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2DE93-0949-0DA6-8394-A73ADB720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Footer Placeholder 3">
            <a:extLst>
              <a:ext uri="{FF2B5EF4-FFF2-40B4-BE49-F238E27FC236}">
                <a16:creationId xmlns:a16="http://schemas.microsoft.com/office/drawing/2014/main" id="{CDF30EB1-6C61-4BE3-8B0A-CC19A3D1581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248400" y="6324600"/>
            <a:ext cx="28956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 dirty="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2405D4-26B9-B1E5-22A9-475914FD1FEE}"/>
              </a:ext>
            </a:extLst>
          </p:cNvPr>
          <p:cNvSpPr txBox="1"/>
          <p:nvPr/>
        </p:nvSpPr>
        <p:spPr>
          <a:xfrm>
            <a:off x="92764" y="1705093"/>
            <a:ext cx="914399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public static int </a:t>
            </a:r>
            <a:r>
              <a:rPr lang="en-US" sz="3200" b="1" dirty="0" err="1"/>
              <a:t>nodeCount</a:t>
            </a:r>
            <a:r>
              <a:rPr lang="en-US" sz="3200" b="1" dirty="0"/>
              <a:t>(Node list) </a:t>
            </a:r>
          </a:p>
          <a:p>
            <a:r>
              <a:rPr lang="en-US" sz="3200" b="1" dirty="0"/>
              <a:t>{  </a:t>
            </a:r>
            <a:br>
              <a:rPr lang="en-US" sz="3200" b="1" dirty="0"/>
            </a:br>
            <a:r>
              <a:rPr lang="en-US" sz="3200" b="1" dirty="0"/>
              <a:t>     if(list == null)</a:t>
            </a:r>
            <a:br>
              <a:rPr lang="en-US" sz="3200" b="1" dirty="0"/>
            </a:br>
            <a:r>
              <a:rPr lang="en-US" sz="3200" b="1" dirty="0"/>
              <a:t>          return 0;</a:t>
            </a:r>
            <a:br>
              <a:rPr lang="en-US" sz="3200" b="1" dirty="0"/>
            </a:br>
            <a:r>
              <a:rPr lang="en-US" sz="3200" b="1" dirty="0"/>
              <a:t>     else</a:t>
            </a:r>
            <a:br>
              <a:rPr lang="en-US" sz="3200" b="1" dirty="0"/>
            </a:br>
            <a:r>
              <a:rPr lang="en-US" sz="3200" b="1" dirty="0"/>
              <a:t>          return 1 + </a:t>
            </a:r>
            <a:r>
              <a:rPr lang="en-US" sz="3200" b="1" dirty="0" err="1"/>
              <a:t>nodeCount</a:t>
            </a:r>
            <a:r>
              <a:rPr lang="en-US" sz="3200" b="1" dirty="0"/>
              <a:t>(</a:t>
            </a:r>
            <a:r>
              <a:rPr lang="en-US" sz="3200" b="1" dirty="0" err="1"/>
              <a:t>list.getNext</a:t>
            </a:r>
            <a:r>
              <a:rPr lang="en-US" sz="3200" b="1" dirty="0"/>
              <a:t>());</a:t>
            </a:r>
            <a:br>
              <a:rPr lang="en-US" sz="3200" b="1" dirty="0"/>
            </a:br>
            <a:r>
              <a:rPr lang="en-US" sz="3200" b="1" dirty="0"/>
              <a:t>}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7DFB27-B68F-BF8D-9165-A6ADE92037DC}"/>
              </a:ext>
            </a:extLst>
          </p:cNvPr>
          <p:cNvSpPr/>
          <p:nvPr/>
        </p:nvSpPr>
        <p:spPr>
          <a:xfrm>
            <a:off x="205410" y="268215"/>
            <a:ext cx="8792817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0000CC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Counting </a:t>
            </a:r>
            <a:r>
              <a:rPr lang="en-US" sz="4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0000CC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Nodes Recursively</a:t>
            </a:r>
            <a:endParaRPr lang="en-US" sz="48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rgbClr val="0000CC"/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157992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Footer Placeholder 3">
            <a:extLst>
              <a:ext uri="{FF2B5EF4-FFF2-40B4-BE49-F238E27FC236}">
                <a16:creationId xmlns:a16="http://schemas.microsoft.com/office/drawing/2014/main" id="{692B78AA-5511-4609-9D7F-0AB6232D88D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63491" name="WordArt 2">
            <a:extLst>
              <a:ext uri="{FF2B5EF4-FFF2-40B4-BE49-F238E27FC236}">
                <a16:creationId xmlns:a16="http://schemas.microsoft.com/office/drawing/2014/main" id="{0A58F576-B93E-4527-8563-FFFB3ADAF48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Summing All Nodes</a:t>
            </a:r>
          </a:p>
        </p:txBody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99EAC22B-02DC-4E27-8801-CE25E60D6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600200"/>
            <a:ext cx="7026275" cy="4789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x = new ListNode(11,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		     new ListNode(8,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		     new ListNode(5,null)));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int sum=0;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while( x != null 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sum = sum + (Integer)x.getValue();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x = x.getNext();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out.println(sum);</a:t>
            </a:r>
          </a:p>
        </p:txBody>
      </p:sp>
      <p:sp>
        <p:nvSpPr>
          <p:cNvPr id="63493" name="Text Box 4">
            <a:extLst>
              <a:ext uri="{FF2B5EF4-FFF2-40B4-BE49-F238E27FC236}">
                <a16:creationId xmlns:a16="http://schemas.microsoft.com/office/drawing/2014/main" id="{2D83B299-E1D7-4FEF-A7DB-F5472526AC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276600"/>
            <a:ext cx="1981200" cy="1079500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  <a:r>
              <a:rPr lang="en-US" altLang="en-US" b="1">
                <a:latin typeface="Tahoma" panose="020B0604030504040204" pitchFamily="34" charset="0"/>
              </a:rPr>
              <a:t>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Footer Placeholder 3">
            <a:extLst>
              <a:ext uri="{FF2B5EF4-FFF2-40B4-BE49-F238E27FC236}">
                <a16:creationId xmlns:a16="http://schemas.microsoft.com/office/drawing/2014/main" id="{0EB6099F-AABF-4965-BD3F-F402EDE9989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F40EEE06-FAD0-4188-8F85-84E70E935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143000"/>
            <a:ext cx="19589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        </a:t>
            </a:r>
          </a:p>
        </p:txBody>
      </p:sp>
      <p:grpSp>
        <p:nvGrpSpPr>
          <p:cNvPr id="2" name="Group 1" descr="front = 0xF33&#10;0xF33 --&gt; dog, 0xF2&#10;0xF2 --&gt; cat, null&#10;&#10;Normal representation:&#10;front --&gt; dog --&gt; cat --&gt; null">
            <a:extLst>
              <a:ext uri="{FF2B5EF4-FFF2-40B4-BE49-F238E27FC236}">
                <a16:creationId xmlns:a16="http://schemas.microsoft.com/office/drawing/2014/main" id="{9DE390BD-749F-AA78-5C7D-A58FC891EBF5}"/>
              </a:ext>
            </a:extLst>
          </p:cNvPr>
          <p:cNvGrpSpPr/>
          <p:nvPr/>
        </p:nvGrpSpPr>
        <p:grpSpPr>
          <a:xfrm>
            <a:off x="1981200" y="1453444"/>
            <a:ext cx="5589496" cy="1250950"/>
            <a:chOff x="1981200" y="2514600"/>
            <a:chExt cx="5589496" cy="1250950"/>
          </a:xfrm>
        </p:grpSpPr>
        <p:sp>
          <p:nvSpPr>
            <p:cNvPr id="71684" name="Rectangle 6">
              <a:extLst>
                <a:ext uri="{FF2B5EF4-FFF2-40B4-BE49-F238E27FC236}">
                  <a16:creationId xmlns:a16="http://schemas.microsoft.com/office/drawing/2014/main" id="{2BE50758-8F94-49DC-8ED0-1A83A4CE8D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2895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71685" name="Rectangle 7">
              <a:extLst>
                <a:ext uri="{FF2B5EF4-FFF2-40B4-BE49-F238E27FC236}">
                  <a16:creationId xmlns:a16="http://schemas.microsoft.com/office/drawing/2014/main" id="{174B9809-B47D-464D-867F-C6A7119E71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8600" y="2895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71686" name="Line 8">
              <a:extLst>
                <a:ext uri="{FF2B5EF4-FFF2-40B4-BE49-F238E27FC236}">
                  <a16:creationId xmlns:a16="http://schemas.microsoft.com/office/drawing/2014/main" id="{ED90A58A-9E6D-4396-A5A9-E6FD6B791A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3000" y="3352800"/>
              <a:ext cx="4572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687" name="Rectangle 9">
              <a:extLst>
                <a:ext uri="{FF2B5EF4-FFF2-40B4-BE49-F238E27FC236}">
                  <a16:creationId xmlns:a16="http://schemas.microsoft.com/office/drawing/2014/main" id="{FE41F74F-4827-4E4E-85C7-CFF1E5E5AA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895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1688" name="Rectangle 10">
              <a:extLst>
                <a:ext uri="{FF2B5EF4-FFF2-40B4-BE49-F238E27FC236}">
                  <a16:creationId xmlns:a16="http://schemas.microsoft.com/office/drawing/2014/main" id="{DFD0E51B-9D51-46F0-8E13-130065C9D7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7000" y="2895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71690" name="Text Box 12">
              <a:extLst>
                <a:ext uri="{FF2B5EF4-FFF2-40B4-BE49-F238E27FC236}">
                  <a16:creationId xmlns:a16="http://schemas.microsoft.com/office/drawing/2014/main" id="{232BBAAF-6359-49E6-AF66-8E51B42AA9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8800" y="31242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cat</a:t>
              </a:r>
            </a:p>
          </p:txBody>
        </p:sp>
        <p:sp>
          <p:nvSpPr>
            <p:cNvPr id="71691" name="Text Box 13">
              <a:extLst>
                <a:ext uri="{FF2B5EF4-FFF2-40B4-BE49-F238E27FC236}">
                  <a16:creationId xmlns:a16="http://schemas.microsoft.com/office/drawing/2014/main" id="{966892D3-75F4-4410-AB0D-988FDD90CF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0400" y="31242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dog</a:t>
              </a:r>
            </a:p>
          </p:txBody>
        </p:sp>
        <p:sp>
          <p:nvSpPr>
            <p:cNvPr id="71692" name="Text Box 16">
              <a:extLst>
                <a:ext uri="{FF2B5EF4-FFF2-40B4-BE49-F238E27FC236}">
                  <a16:creationId xmlns:a16="http://schemas.microsoft.com/office/drawing/2014/main" id="{92169B3E-D055-409F-9D0D-2DAEC579D3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0096" y="3131110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71693" name="Text Box 21">
              <a:extLst>
                <a:ext uri="{FF2B5EF4-FFF2-40B4-BE49-F238E27FC236}">
                  <a16:creationId xmlns:a16="http://schemas.microsoft.com/office/drawing/2014/main" id="{F58DBD64-EE54-4069-9C63-D7C1E85D06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1200" y="3048000"/>
              <a:ext cx="9906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>
                  <a:latin typeface="Tahoma" panose="020B0604030504040204" pitchFamily="34" charset="0"/>
                </a:rPr>
                <a:t>front</a:t>
              </a:r>
            </a:p>
          </p:txBody>
        </p:sp>
        <p:sp>
          <p:nvSpPr>
            <p:cNvPr id="71694" name="Text Box 22">
              <a:extLst>
                <a:ext uri="{FF2B5EF4-FFF2-40B4-BE49-F238E27FC236}">
                  <a16:creationId xmlns:a16="http://schemas.microsoft.com/office/drawing/2014/main" id="{42500536-2DFD-40CD-AE6F-894EDB151E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2514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71695" name="Text Box 23">
              <a:extLst>
                <a:ext uri="{FF2B5EF4-FFF2-40B4-BE49-F238E27FC236}">
                  <a16:creationId xmlns:a16="http://schemas.microsoft.com/office/drawing/2014/main" id="{48A9B8FF-686E-474D-A0DF-2F5B9AD225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7200" y="32004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71696" name="Text Box 24">
              <a:extLst>
                <a:ext uri="{FF2B5EF4-FFF2-40B4-BE49-F238E27FC236}">
                  <a16:creationId xmlns:a16="http://schemas.microsoft.com/office/drawing/2014/main" id="{2ABD523D-F3AC-4528-983B-016C52440F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1200" y="34290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0xF33</a:t>
              </a:r>
            </a:p>
          </p:txBody>
        </p:sp>
        <p:sp>
          <p:nvSpPr>
            <p:cNvPr id="71697" name="Text Box 25">
              <a:extLst>
                <a:ext uri="{FF2B5EF4-FFF2-40B4-BE49-F238E27FC236}">
                  <a16:creationId xmlns:a16="http://schemas.microsoft.com/office/drawing/2014/main" id="{943FD49A-FC93-4E42-9221-6403E0E11E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600" y="2514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0xF33</a:t>
              </a:r>
            </a:p>
          </p:txBody>
        </p:sp>
      </p:grpSp>
      <p:sp>
        <p:nvSpPr>
          <p:cNvPr id="71698" name="Text Box 30">
            <a:extLst>
              <a:ext uri="{FF2B5EF4-FFF2-40B4-BE49-F238E27FC236}">
                <a16:creationId xmlns:a16="http://schemas.microsoft.com/office/drawing/2014/main" id="{B37A3CCE-9FD8-4F41-9D8E-F0F9B9855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233" y="3243502"/>
            <a:ext cx="8547533" cy="138499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Node </a:t>
            </a:r>
            <a:r>
              <a:rPr lang="en-US" altLang="en-US" sz="2800" b="1" dirty="0" err="1">
                <a:solidFill>
                  <a:schemeClr val="accent2"/>
                </a:solidFill>
                <a:latin typeface="Tahoma" panose="020B0604030504040204" pitchFamily="34" charset="0"/>
              </a:rPr>
              <a:t>newNode</a:t>
            </a:r>
            <a:r>
              <a:rPr lang="en-US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 = new Node(</a:t>
            </a:r>
            <a:r>
              <a:rPr lang="en-US" altLang="en-US" sz="2800" b="1" dirty="0" err="1">
                <a:solidFill>
                  <a:schemeClr val="accent2"/>
                </a:solidFill>
                <a:latin typeface="Tahoma" panose="020B0604030504040204" pitchFamily="34" charset="0"/>
              </a:rPr>
              <a:t>front.getValue</a:t>
            </a:r>
            <a:r>
              <a:rPr lang="en-US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(),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                                            </a:t>
            </a:r>
            <a:r>
              <a:rPr lang="en-US" altLang="en-US" sz="1000" b="1" dirty="0">
                <a:solidFill>
                  <a:schemeClr val="accent2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     </a:t>
            </a:r>
            <a:r>
              <a:rPr lang="en-US" altLang="en-US" sz="2800" b="1" dirty="0" err="1">
                <a:solidFill>
                  <a:schemeClr val="accent2"/>
                </a:solidFill>
                <a:latin typeface="Tahoma" panose="020B0604030504040204" pitchFamily="34" charset="0"/>
              </a:rPr>
              <a:t>front.getNext</a:t>
            </a:r>
            <a:r>
              <a:rPr lang="en-US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());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 err="1">
                <a:solidFill>
                  <a:schemeClr val="accent2"/>
                </a:solidFill>
                <a:latin typeface="Tahoma" panose="020B0604030504040204" pitchFamily="34" charset="0"/>
              </a:rPr>
              <a:t>front.setNext</a:t>
            </a:r>
            <a:r>
              <a:rPr lang="en-US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(</a:t>
            </a:r>
            <a:r>
              <a:rPr lang="en-US" altLang="en-US" sz="2800" b="1" dirty="0" err="1">
                <a:solidFill>
                  <a:schemeClr val="accent2"/>
                </a:solidFill>
                <a:latin typeface="Tahoma" panose="020B0604030504040204" pitchFamily="34" charset="0"/>
              </a:rPr>
              <a:t>newNode</a:t>
            </a:r>
            <a:r>
              <a:rPr lang="en-US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);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EC7461-F720-57EF-6343-C214C59CEDC6}"/>
              </a:ext>
            </a:extLst>
          </p:cNvPr>
          <p:cNvSpPr/>
          <p:nvPr/>
        </p:nvSpPr>
        <p:spPr>
          <a:xfrm>
            <a:off x="205410" y="268215"/>
            <a:ext cx="8792817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0000CC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Duplicating the First Node</a:t>
            </a:r>
          </a:p>
        </p:txBody>
      </p:sp>
      <p:grpSp>
        <p:nvGrpSpPr>
          <p:cNvPr id="4" name="Group 3" descr="front = 0xF17&#10;0xF17 --&gt; pig, 0xF33&#10;0xF33 --&gt; dog, 0xF2&#10;0xF2 --&gt; cat, null&#10;&#10;Normal representation:&#10;front --&gt; pig --&gt; dog --&gt; cat --&gt; null">
            <a:extLst>
              <a:ext uri="{FF2B5EF4-FFF2-40B4-BE49-F238E27FC236}">
                <a16:creationId xmlns:a16="http://schemas.microsoft.com/office/drawing/2014/main" id="{14C47CDB-4938-5964-94A1-3726CEDCB14C}"/>
              </a:ext>
            </a:extLst>
          </p:cNvPr>
          <p:cNvGrpSpPr/>
          <p:nvPr/>
        </p:nvGrpSpPr>
        <p:grpSpPr>
          <a:xfrm>
            <a:off x="628650" y="4908244"/>
            <a:ext cx="7810500" cy="1250950"/>
            <a:chOff x="304800" y="2514600"/>
            <a:chExt cx="7810500" cy="1250950"/>
          </a:xfrm>
        </p:grpSpPr>
        <p:sp>
          <p:nvSpPr>
            <p:cNvPr id="5" name="Rectangle 13">
              <a:extLst>
                <a:ext uri="{FF2B5EF4-FFF2-40B4-BE49-F238E27FC236}">
                  <a16:creationId xmlns:a16="http://schemas.microsoft.com/office/drawing/2014/main" id="{D1AF82C9-E727-BB61-4CC8-A00C3808A4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5400" y="2895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6" name="Rectangle 14">
              <a:extLst>
                <a:ext uri="{FF2B5EF4-FFF2-40B4-BE49-F238E27FC236}">
                  <a16:creationId xmlns:a16="http://schemas.microsoft.com/office/drawing/2014/main" id="{EFD646DE-72EB-5B59-680C-5E586AEF95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9800" y="2895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7" name="Line 15">
              <a:extLst>
                <a:ext uri="{FF2B5EF4-FFF2-40B4-BE49-F238E27FC236}">
                  <a16:creationId xmlns:a16="http://schemas.microsoft.com/office/drawing/2014/main" id="{D7859910-7819-847A-D456-B8DE44E6E6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4200" y="3352800"/>
              <a:ext cx="4572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Rectangle 16">
              <a:extLst>
                <a:ext uri="{FF2B5EF4-FFF2-40B4-BE49-F238E27FC236}">
                  <a16:creationId xmlns:a16="http://schemas.microsoft.com/office/drawing/2014/main" id="{B6449A2E-EC09-4517-CEC3-64729D6B16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600" y="2895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" name="Rectangle 17">
              <a:extLst>
                <a:ext uri="{FF2B5EF4-FFF2-40B4-BE49-F238E27FC236}">
                  <a16:creationId xmlns:a16="http://schemas.microsoft.com/office/drawing/2014/main" id="{6246B4DB-3EB5-713B-FAD8-E11BF3C92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2895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10" name="Line 18">
              <a:extLst>
                <a:ext uri="{FF2B5EF4-FFF2-40B4-BE49-F238E27FC236}">
                  <a16:creationId xmlns:a16="http://schemas.microsoft.com/office/drawing/2014/main" id="{97A320AD-C7E3-E450-73F5-DA7D92B82C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6400" y="3352800"/>
              <a:ext cx="4572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Rectangle 19">
              <a:extLst>
                <a:ext uri="{FF2B5EF4-FFF2-40B4-BE49-F238E27FC236}">
                  <a16:creationId xmlns:a16="http://schemas.microsoft.com/office/drawing/2014/main" id="{F7FFA33F-58AC-2AC4-1CF2-358630771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0" y="2895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" name="Rectangle 20">
              <a:extLst>
                <a:ext uri="{FF2B5EF4-FFF2-40B4-BE49-F238E27FC236}">
                  <a16:creationId xmlns:a16="http://schemas.microsoft.com/office/drawing/2014/main" id="{F2A21107-B96D-59AC-D85B-D57A10E520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0400" y="2895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13" name="Text Box 22">
              <a:extLst>
                <a:ext uri="{FF2B5EF4-FFF2-40B4-BE49-F238E27FC236}">
                  <a16:creationId xmlns:a16="http://schemas.microsoft.com/office/drawing/2014/main" id="{238D0491-5B40-EB69-1B46-823CB668CF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2200" y="31242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cat</a:t>
              </a:r>
            </a:p>
          </p:txBody>
        </p:sp>
        <p:sp>
          <p:nvSpPr>
            <p:cNvPr id="14" name="Text Box 23">
              <a:extLst>
                <a:ext uri="{FF2B5EF4-FFF2-40B4-BE49-F238E27FC236}">
                  <a16:creationId xmlns:a16="http://schemas.microsoft.com/office/drawing/2014/main" id="{FB38CD7B-31D9-7E37-62EA-564EBC7955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3800" y="31242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solidFill>
                    <a:srgbClr val="7030A0"/>
                  </a:solidFill>
                  <a:latin typeface="Tahoma" panose="020B0604030504040204" pitchFamily="34" charset="0"/>
                </a:rPr>
                <a:t>dog</a:t>
              </a:r>
            </a:p>
          </p:txBody>
        </p:sp>
        <p:sp>
          <p:nvSpPr>
            <p:cNvPr id="15" name="Text Box 24">
              <a:extLst>
                <a:ext uri="{FF2B5EF4-FFF2-40B4-BE49-F238E27FC236}">
                  <a16:creationId xmlns:a16="http://schemas.microsoft.com/office/drawing/2014/main" id="{A3BB5DF2-29F3-73A9-1FD8-A61D7232CC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1600" y="31242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dog</a:t>
              </a:r>
            </a:p>
          </p:txBody>
        </p:sp>
        <p:sp>
          <p:nvSpPr>
            <p:cNvPr id="16" name="Text Box 26">
              <a:extLst>
                <a:ext uri="{FF2B5EF4-FFF2-40B4-BE49-F238E27FC236}">
                  <a16:creationId xmlns:a16="http://schemas.microsoft.com/office/drawing/2014/main" id="{6B304D2A-B894-C8E5-5DC5-833C5A77ED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24700" y="3124200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17" name="Text Box 30">
              <a:extLst>
                <a:ext uri="{FF2B5EF4-FFF2-40B4-BE49-F238E27FC236}">
                  <a16:creationId xmlns:a16="http://schemas.microsoft.com/office/drawing/2014/main" id="{EC73B0A4-3535-7A84-79BB-B5EB6A65E8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2971800"/>
              <a:ext cx="9906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>
                  <a:latin typeface="Tahoma" panose="020B0604030504040204" pitchFamily="34" charset="0"/>
                </a:rPr>
                <a:t>front</a:t>
              </a:r>
            </a:p>
          </p:txBody>
        </p:sp>
        <p:sp>
          <p:nvSpPr>
            <p:cNvPr id="18" name="Text Box 31">
              <a:extLst>
                <a:ext uri="{FF2B5EF4-FFF2-40B4-BE49-F238E27FC236}">
                  <a16:creationId xmlns:a16="http://schemas.microsoft.com/office/drawing/2014/main" id="{4CE033D9-6821-11D1-1BAA-E34E258898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4800" y="2514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7030A0"/>
                  </a:solidFill>
                  <a:latin typeface="Tahoma" panose="020B0604030504040204" pitchFamily="34" charset="0"/>
                </a:rPr>
                <a:t>0x8A7</a:t>
              </a:r>
            </a:p>
          </p:txBody>
        </p:sp>
        <p:sp>
          <p:nvSpPr>
            <p:cNvPr id="19" name="Text Box 32">
              <a:extLst>
                <a:ext uri="{FF2B5EF4-FFF2-40B4-BE49-F238E27FC236}">
                  <a16:creationId xmlns:a16="http://schemas.microsoft.com/office/drawing/2014/main" id="{CE78BD46-E37C-13C4-A2D0-BAE7059FE0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9400" y="2514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20" name="Text Box 33">
              <a:extLst>
                <a:ext uri="{FF2B5EF4-FFF2-40B4-BE49-F238E27FC236}">
                  <a16:creationId xmlns:a16="http://schemas.microsoft.com/office/drawing/2014/main" id="{07171DFA-4A48-D5D4-AF9A-CBBD9C4B37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4400" y="32004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21" name="Text Box 34">
              <a:extLst>
                <a:ext uri="{FF2B5EF4-FFF2-40B4-BE49-F238E27FC236}">
                  <a16:creationId xmlns:a16="http://schemas.microsoft.com/office/drawing/2014/main" id="{15AAE2CD-7AC3-F8CE-9151-8754369371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0" y="32004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7030A0"/>
                  </a:solidFill>
                  <a:latin typeface="Tahoma" panose="020B0604030504040204" pitchFamily="34" charset="0"/>
                </a:rPr>
                <a:t>0x8A7</a:t>
              </a:r>
            </a:p>
          </p:txBody>
        </p:sp>
        <p:sp>
          <p:nvSpPr>
            <p:cNvPr id="22" name="Text Box 35">
              <a:extLst>
                <a:ext uri="{FF2B5EF4-FFF2-40B4-BE49-F238E27FC236}">
                  <a16:creationId xmlns:a16="http://schemas.microsoft.com/office/drawing/2014/main" id="{53495159-7C8B-7031-7D42-949FD98C7C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34290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0xF33</a:t>
              </a:r>
            </a:p>
          </p:txBody>
        </p:sp>
        <p:sp>
          <p:nvSpPr>
            <p:cNvPr id="23" name="Text Box 36">
              <a:extLst>
                <a:ext uri="{FF2B5EF4-FFF2-40B4-BE49-F238E27FC236}">
                  <a16:creationId xmlns:a16="http://schemas.microsoft.com/office/drawing/2014/main" id="{9BD83103-5B86-BC62-83CE-988CA8B7C5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8800" y="2514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0xF33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6F955-9B3D-C6C2-FAED-CF74420A0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2">
            <a:extLst>
              <a:ext uri="{FF2B5EF4-FFF2-40B4-BE49-F238E27FC236}">
                <a16:creationId xmlns:a16="http://schemas.microsoft.com/office/drawing/2014/main" id="{D4D9A404-31BD-B631-2F7F-7C109B71C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143000"/>
            <a:ext cx="19589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        </a:t>
            </a:r>
          </a:p>
        </p:txBody>
      </p:sp>
      <p:sp>
        <p:nvSpPr>
          <p:cNvPr id="71684" name="Rectangle 6">
            <a:extLst>
              <a:ext uri="{FF2B5EF4-FFF2-40B4-BE49-F238E27FC236}">
                <a16:creationId xmlns:a16="http://schemas.microsoft.com/office/drawing/2014/main" id="{DCF79559-CD15-D044-F48A-F42CE77A4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0066" y="3810000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71685" name="Rectangle 7">
            <a:extLst>
              <a:ext uri="{FF2B5EF4-FFF2-40B4-BE49-F238E27FC236}">
                <a16:creationId xmlns:a16="http://schemas.microsoft.com/office/drawing/2014/main" id="{2E7550D7-74C1-CF24-617B-EF617BD57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4466" y="3810000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71687" name="Rectangle 9">
            <a:extLst>
              <a:ext uri="{FF2B5EF4-FFF2-40B4-BE49-F238E27FC236}">
                <a16:creationId xmlns:a16="http://schemas.microsoft.com/office/drawing/2014/main" id="{E52F8E96-B2A2-F3B6-7F1D-2455C13C6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8466" y="3810000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71688" name="Rectangle 10">
            <a:extLst>
              <a:ext uri="{FF2B5EF4-FFF2-40B4-BE49-F238E27FC236}">
                <a16:creationId xmlns:a16="http://schemas.microsoft.com/office/drawing/2014/main" id="{72783EE0-13D2-BD1D-AF00-8D7FA8AEF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2866" y="3810000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71690" name="Text Box 12">
            <a:extLst>
              <a:ext uri="{FF2B5EF4-FFF2-40B4-BE49-F238E27FC236}">
                <a16:creationId xmlns:a16="http://schemas.microsoft.com/office/drawing/2014/main" id="{B61B90EA-4958-F021-4BC5-572354841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4666" y="40386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cat</a:t>
            </a:r>
          </a:p>
        </p:txBody>
      </p:sp>
      <p:sp>
        <p:nvSpPr>
          <p:cNvPr id="71691" name="Text Box 13">
            <a:extLst>
              <a:ext uri="{FF2B5EF4-FFF2-40B4-BE49-F238E27FC236}">
                <a16:creationId xmlns:a16="http://schemas.microsoft.com/office/drawing/2014/main" id="{4AEAF6F0-5B1C-667B-CCDA-07744EA459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6266" y="40386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dog</a:t>
            </a:r>
          </a:p>
        </p:txBody>
      </p:sp>
      <p:sp>
        <p:nvSpPr>
          <p:cNvPr id="71692" name="Text Box 16">
            <a:extLst>
              <a:ext uri="{FF2B5EF4-FFF2-40B4-BE49-F238E27FC236}">
                <a16:creationId xmlns:a16="http://schemas.microsoft.com/office/drawing/2014/main" id="{662FF18D-982F-CF6D-661F-55256B14C4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5962" y="404551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null</a:t>
            </a:r>
          </a:p>
        </p:txBody>
      </p:sp>
      <p:sp>
        <p:nvSpPr>
          <p:cNvPr id="71693" name="Text Box 21">
            <a:extLst>
              <a:ext uri="{FF2B5EF4-FFF2-40B4-BE49-F238E27FC236}">
                <a16:creationId xmlns:a16="http://schemas.microsoft.com/office/drawing/2014/main" id="{D26CB622-7B28-B847-270B-F9FC7B21F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7066" y="3962400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front</a:t>
            </a:r>
          </a:p>
        </p:txBody>
      </p:sp>
      <p:sp>
        <p:nvSpPr>
          <p:cNvPr id="71694" name="Text Box 22">
            <a:extLst>
              <a:ext uri="{FF2B5EF4-FFF2-40B4-BE49-F238E27FC236}">
                <a16:creationId xmlns:a16="http://schemas.microsoft.com/office/drawing/2014/main" id="{AC3FC602-53C6-AFD5-5D41-091C5EE786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5666" y="34290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solidFill>
                  <a:srgbClr val="0000CC"/>
                </a:solidFill>
                <a:latin typeface="Tahoma" panose="020B0604030504040204" pitchFamily="34" charset="0"/>
              </a:rPr>
              <a:t>0xF2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D660942-2E6D-BD03-1824-2F7A52326210}"/>
              </a:ext>
            </a:extLst>
          </p:cNvPr>
          <p:cNvGrpSpPr/>
          <p:nvPr/>
        </p:nvGrpSpPr>
        <p:grpSpPr>
          <a:xfrm>
            <a:off x="3793066" y="4114799"/>
            <a:ext cx="1143000" cy="338554"/>
            <a:chOff x="3793066" y="4114799"/>
            <a:chExt cx="1143000" cy="338554"/>
          </a:xfrm>
        </p:grpSpPr>
        <p:sp>
          <p:nvSpPr>
            <p:cNvPr id="71686" name="Line 8">
              <a:extLst>
                <a:ext uri="{FF2B5EF4-FFF2-40B4-BE49-F238E27FC236}">
                  <a16:creationId xmlns:a16="http://schemas.microsoft.com/office/drawing/2014/main" id="{BD0C5261-A981-7918-2C7B-E773B5FDF4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8866" y="4267200"/>
              <a:ext cx="4572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695" name="Text Box 23">
              <a:extLst>
                <a:ext uri="{FF2B5EF4-FFF2-40B4-BE49-F238E27FC236}">
                  <a16:creationId xmlns:a16="http://schemas.microsoft.com/office/drawing/2014/main" id="{234A296F-AECC-E3CE-C4E8-23318DD206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3066" y="4114799"/>
              <a:ext cx="795870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</p:grpSp>
      <p:sp>
        <p:nvSpPr>
          <p:cNvPr id="71696" name="Text Box 24">
            <a:extLst>
              <a:ext uri="{FF2B5EF4-FFF2-40B4-BE49-F238E27FC236}">
                <a16:creationId xmlns:a16="http://schemas.microsoft.com/office/drawing/2014/main" id="{2D3763B2-9B00-E6D3-41A4-029ACE340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7066" y="43434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0xF33</a:t>
            </a:r>
          </a:p>
        </p:txBody>
      </p:sp>
      <p:sp>
        <p:nvSpPr>
          <p:cNvPr id="71697" name="Text Box 25">
            <a:extLst>
              <a:ext uri="{FF2B5EF4-FFF2-40B4-BE49-F238E27FC236}">
                <a16:creationId xmlns:a16="http://schemas.microsoft.com/office/drawing/2014/main" id="{B592A647-CF3F-4B8D-6C9A-16D9C657F7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3466" y="34290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0xF33</a:t>
            </a:r>
          </a:p>
        </p:txBody>
      </p:sp>
      <p:sp>
        <p:nvSpPr>
          <p:cNvPr id="71698" name="Text Box 30">
            <a:extLst>
              <a:ext uri="{FF2B5EF4-FFF2-40B4-BE49-F238E27FC236}">
                <a16:creationId xmlns:a16="http://schemas.microsoft.com/office/drawing/2014/main" id="{24F3BCF2-51E8-0DF1-FCBD-5D5503B488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544" y="1373171"/>
            <a:ext cx="8547533" cy="138499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rgbClr val="7030A0"/>
                </a:solidFill>
                <a:latin typeface="Tahoma" panose="020B0604030504040204" pitchFamily="34" charset="0"/>
              </a:rPr>
              <a:t>Node </a:t>
            </a:r>
            <a:r>
              <a:rPr lang="en-US" altLang="en-US" sz="2800" b="1" dirty="0" err="1">
                <a:solidFill>
                  <a:srgbClr val="7030A0"/>
                </a:solidFill>
                <a:latin typeface="Tahoma" panose="020B0604030504040204" pitchFamily="34" charset="0"/>
              </a:rPr>
              <a:t>newNode</a:t>
            </a:r>
            <a:r>
              <a:rPr lang="en-US" altLang="en-US" sz="2800" b="1" dirty="0">
                <a:solidFill>
                  <a:srgbClr val="7030A0"/>
                </a:solidFill>
                <a:latin typeface="Tahoma" panose="020B0604030504040204" pitchFamily="34" charset="0"/>
              </a:rPr>
              <a:t> = new Node(</a:t>
            </a:r>
            <a:r>
              <a:rPr lang="en-US" altLang="en-US" sz="2800" b="1" dirty="0" err="1">
                <a:solidFill>
                  <a:srgbClr val="7030A0"/>
                </a:solidFill>
                <a:latin typeface="Tahoma" panose="020B0604030504040204" pitchFamily="34" charset="0"/>
              </a:rPr>
              <a:t>front.getValue</a:t>
            </a:r>
            <a:r>
              <a:rPr lang="en-US" altLang="en-US" sz="2800" b="1" dirty="0">
                <a:solidFill>
                  <a:srgbClr val="7030A0"/>
                </a:solidFill>
                <a:latin typeface="Tahoma" panose="020B0604030504040204" pitchFamily="34" charset="0"/>
              </a:rPr>
              <a:t>(),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rgbClr val="7030A0"/>
                </a:solidFill>
                <a:latin typeface="Tahoma" panose="020B0604030504040204" pitchFamily="34" charset="0"/>
              </a:rPr>
              <a:t>                                            </a:t>
            </a:r>
            <a:r>
              <a:rPr lang="en-US" altLang="en-US" sz="1000" b="1" dirty="0">
                <a:solidFill>
                  <a:srgbClr val="7030A0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2800" b="1" dirty="0">
                <a:solidFill>
                  <a:srgbClr val="7030A0"/>
                </a:solidFill>
                <a:latin typeface="Tahoma" panose="020B0604030504040204" pitchFamily="34" charset="0"/>
              </a:rPr>
              <a:t>     </a:t>
            </a:r>
            <a:r>
              <a:rPr lang="en-US" altLang="en-US" sz="2800" b="1" dirty="0" err="1">
                <a:solidFill>
                  <a:srgbClr val="7030A0"/>
                </a:solidFill>
                <a:latin typeface="Tahoma" panose="020B0604030504040204" pitchFamily="34" charset="0"/>
              </a:rPr>
              <a:t>front.getNext</a:t>
            </a:r>
            <a:r>
              <a:rPr lang="en-US" altLang="en-US" sz="2800" b="1" dirty="0">
                <a:solidFill>
                  <a:srgbClr val="7030A0"/>
                </a:solidFill>
                <a:latin typeface="Tahoma" panose="020B0604030504040204" pitchFamily="34" charset="0"/>
              </a:rPr>
              <a:t>());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 err="1">
                <a:solidFill>
                  <a:schemeClr val="accent2"/>
                </a:solidFill>
                <a:latin typeface="Tahoma" panose="020B0604030504040204" pitchFamily="34" charset="0"/>
              </a:rPr>
              <a:t>front.setNext</a:t>
            </a:r>
            <a:r>
              <a:rPr lang="en-US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(</a:t>
            </a:r>
            <a:r>
              <a:rPr lang="en-US" altLang="en-US" sz="2800" b="1" dirty="0" err="1">
                <a:solidFill>
                  <a:schemeClr val="accent2"/>
                </a:solidFill>
                <a:latin typeface="Tahoma" panose="020B0604030504040204" pitchFamily="34" charset="0"/>
              </a:rPr>
              <a:t>newNode</a:t>
            </a:r>
            <a:r>
              <a:rPr lang="en-US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);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DC14E5-3049-9ADC-8FC6-6F629186452F}"/>
              </a:ext>
            </a:extLst>
          </p:cNvPr>
          <p:cNvSpPr/>
          <p:nvPr/>
        </p:nvSpPr>
        <p:spPr>
          <a:xfrm>
            <a:off x="205410" y="268215"/>
            <a:ext cx="8792817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0000CC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Duplicating the First Node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527A29A-0F6D-5B31-7253-721E471A345E}"/>
              </a:ext>
            </a:extLst>
          </p:cNvPr>
          <p:cNvGrpSpPr/>
          <p:nvPr/>
        </p:nvGrpSpPr>
        <p:grpSpPr>
          <a:xfrm>
            <a:off x="3678766" y="4779271"/>
            <a:ext cx="2095500" cy="1543758"/>
            <a:chOff x="3678766" y="4779271"/>
            <a:chExt cx="2095500" cy="1543758"/>
          </a:xfrm>
        </p:grpSpPr>
        <p:sp>
          <p:nvSpPr>
            <p:cNvPr id="24" name="Rectangle 6">
              <a:extLst>
                <a:ext uri="{FF2B5EF4-FFF2-40B4-BE49-F238E27FC236}">
                  <a16:creationId xmlns:a16="http://schemas.microsoft.com/office/drawing/2014/main" id="{3BDEE383-8239-A966-2157-6BAB8C7A1F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8766" y="5484829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25" name="Rectangle 7">
              <a:extLst>
                <a:ext uri="{FF2B5EF4-FFF2-40B4-BE49-F238E27FC236}">
                  <a16:creationId xmlns:a16="http://schemas.microsoft.com/office/drawing/2014/main" id="{0EC7DD45-C1FA-3390-6F35-703EF5BE4A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3166" y="5484829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26" name="Text Box 13">
              <a:extLst>
                <a:ext uri="{FF2B5EF4-FFF2-40B4-BE49-F238E27FC236}">
                  <a16:creationId xmlns:a16="http://schemas.microsoft.com/office/drawing/2014/main" id="{9D5CA764-A810-36C3-D964-22E77381F7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4966" y="5713429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dog</a:t>
              </a:r>
            </a:p>
          </p:txBody>
        </p:sp>
        <p:sp>
          <p:nvSpPr>
            <p:cNvPr id="27" name="Text Box 25">
              <a:extLst>
                <a:ext uri="{FF2B5EF4-FFF2-40B4-BE49-F238E27FC236}">
                  <a16:creationId xmlns:a16="http://schemas.microsoft.com/office/drawing/2014/main" id="{CA4F2345-9E7F-B865-5218-B97492AE50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2166" y="5103829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0x8A7</a:t>
              </a:r>
            </a:p>
          </p:txBody>
        </p:sp>
        <p:sp>
          <p:nvSpPr>
            <p:cNvPr id="28" name="Text Box 22">
              <a:extLst>
                <a:ext uri="{FF2B5EF4-FFF2-40B4-BE49-F238E27FC236}">
                  <a16:creationId xmlns:a16="http://schemas.microsoft.com/office/drawing/2014/main" id="{77C126B1-5224-6170-D1E9-7A9C9E1CFA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3666" y="5769873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30" name="Line 8">
              <a:extLst>
                <a:ext uri="{FF2B5EF4-FFF2-40B4-BE49-F238E27FC236}">
                  <a16:creationId xmlns:a16="http://schemas.microsoft.com/office/drawing/2014/main" id="{A6330039-85AA-62E8-07C9-35FD53CFDD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88466" y="4779271"/>
              <a:ext cx="457200" cy="838201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3DA274F7-4069-BD79-3FF7-D97905EFD63B}"/>
              </a:ext>
            </a:extLst>
          </p:cNvPr>
          <p:cNvSpPr txBox="1"/>
          <p:nvPr/>
        </p:nvSpPr>
        <p:spPr>
          <a:xfrm>
            <a:off x="388543" y="2235122"/>
            <a:ext cx="50639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 err="1">
                <a:solidFill>
                  <a:srgbClr val="7030A0"/>
                </a:solidFill>
                <a:latin typeface="Tahoma" panose="020B0604030504040204" pitchFamily="34" charset="0"/>
              </a:rPr>
              <a:t>front.setNext</a:t>
            </a:r>
            <a:r>
              <a:rPr lang="en-US" altLang="en-US" sz="2800" b="1" dirty="0">
                <a:solidFill>
                  <a:srgbClr val="7030A0"/>
                </a:solidFill>
                <a:latin typeface="Tahoma" panose="020B0604030504040204" pitchFamily="34" charset="0"/>
              </a:rPr>
              <a:t>(</a:t>
            </a:r>
            <a:r>
              <a:rPr lang="en-US" altLang="en-US" sz="2800" b="1" dirty="0" err="1">
                <a:solidFill>
                  <a:srgbClr val="7030A0"/>
                </a:solidFill>
                <a:latin typeface="Tahoma" panose="020B0604030504040204" pitchFamily="34" charset="0"/>
              </a:rPr>
              <a:t>newNode</a:t>
            </a:r>
            <a:r>
              <a:rPr lang="en-US" altLang="en-US" sz="2800" b="1" dirty="0">
                <a:solidFill>
                  <a:srgbClr val="7030A0"/>
                </a:solidFill>
                <a:latin typeface="Tahoma" panose="020B0604030504040204" pitchFamily="34" charset="0"/>
              </a:rPr>
              <a:t>);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26595CE-8C0C-1E86-0DC2-D1C4E04695A3}"/>
              </a:ext>
            </a:extLst>
          </p:cNvPr>
          <p:cNvGrpSpPr/>
          <p:nvPr/>
        </p:nvGrpSpPr>
        <p:grpSpPr>
          <a:xfrm>
            <a:off x="3716866" y="4096383"/>
            <a:ext cx="870374" cy="962996"/>
            <a:chOff x="3716866" y="4096383"/>
            <a:chExt cx="870374" cy="962996"/>
          </a:xfrm>
        </p:grpSpPr>
        <p:sp>
          <p:nvSpPr>
            <p:cNvPr id="36" name="Line 8">
              <a:extLst>
                <a:ext uri="{FF2B5EF4-FFF2-40B4-BE49-F238E27FC236}">
                  <a16:creationId xmlns:a16="http://schemas.microsoft.com/office/drawing/2014/main" id="{F9A8A236-8355-B928-527E-CC64B2E67A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2622" y="4465019"/>
              <a:ext cx="320044" cy="59436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 Box 23">
              <a:extLst>
                <a:ext uri="{FF2B5EF4-FFF2-40B4-BE49-F238E27FC236}">
                  <a16:creationId xmlns:a16="http://schemas.microsoft.com/office/drawing/2014/main" id="{93FD256D-8EAC-72AC-F84B-9ACECF8AD7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6866" y="4096383"/>
              <a:ext cx="870374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0x8A7</a:t>
              </a:r>
            </a:p>
          </p:txBody>
        </p:sp>
      </p:grpSp>
      <p:sp>
        <p:nvSpPr>
          <p:cNvPr id="39" name="Text Box 21">
            <a:extLst>
              <a:ext uri="{FF2B5EF4-FFF2-40B4-BE49-F238E27FC236}">
                <a16:creationId xmlns:a16="http://schemas.microsoft.com/office/drawing/2014/main" id="{528F5C00-ACD0-ED0B-D008-B2DDD9A12D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7680" y="5487630"/>
            <a:ext cx="167470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newNode</a:t>
            </a:r>
            <a:endParaRPr lang="en-US" altLang="en-US" sz="2800" dirty="0">
              <a:latin typeface="Tahoma" panose="020B0604030504040204" pitchFamily="34" charset="0"/>
            </a:endParaRPr>
          </a:p>
        </p:txBody>
      </p:sp>
      <p:sp>
        <p:nvSpPr>
          <p:cNvPr id="40" name="Text Box 24">
            <a:extLst>
              <a:ext uri="{FF2B5EF4-FFF2-40B4-BE49-F238E27FC236}">
                <a16:creationId xmlns:a16="http://schemas.microsoft.com/office/drawing/2014/main" id="{BE134359-ADCE-31E4-A9E6-71BE37B5C5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8472" y="5935679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solidFill>
                  <a:srgbClr val="0000CC"/>
                </a:solidFill>
                <a:latin typeface="Tahoma" panose="020B0604030504040204" pitchFamily="34" charset="0"/>
              </a:rPr>
              <a:t>0x8A7</a:t>
            </a:r>
          </a:p>
        </p:txBody>
      </p:sp>
    </p:spTree>
    <p:extLst>
      <p:ext uri="{BB962C8B-B14F-4D97-AF65-F5344CB8AC3E}">
        <p14:creationId xmlns:p14="http://schemas.microsoft.com/office/powerpoint/2010/main" val="3428928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BFB7C-244A-BBE7-391A-4C23ECDB5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Footer Placeholder 3">
            <a:extLst>
              <a:ext uri="{FF2B5EF4-FFF2-40B4-BE49-F238E27FC236}">
                <a16:creationId xmlns:a16="http://schemas.microsoft.com/office/drawing/2014/main" id="{B16AD0AF-23C7-1DD2-6E77-C73D0076E0B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85D430C8-433A-37CB-2E06-12A86C3E5A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143000"/>
            <a:ext cx="19589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        </a:t>
            </a:r>
          </a:p>
        </p:txBody>
      </p:sp>
      <p:grpSp>
        <p:nvGrpSpPr>
          <p:cNvPr id="2" name="Group 1" descr="front = 0xF33&#10;0xF33 --&gt; dog, 0xF2&#10;0xF2 --&gt; cat, null&#10;&#10;Normal representation:&#10;front --&gt; dog --&gt; cat --&gt; null">
            <a:extLst>
              <a:ext uri="{FF2B5EF4-FFF2-40B4-BE49-F238E27FC236}">
                <a16:creationId xmlns:a16="http://schemas.microsoft.com/office/drawing/2014/main" id="{41AB90D9-9991-463A-948A-E0CDDE8D8BB7}"/>
              </a:ext>
            </a:extLst>
          </p:cNvPr>
          <p:cNvGrpSpPr/>
          <p:nvPr/>
        </p:nvGrpSpPr>
        <p:grpSpPr>
          <a:xfrm>
            <a:off x="1981200" y="1453444"/>
            <a:ext cx="5589496" cy="1250950"/>
            <a:chOff x="1981200" y="2514600"/>
            <a:chExt cx="5589496" cy="1250950"/>
          </a:xfrm>
        </p:grpSpPr>
        <p:sp>
          <p:nvSpPr>
            <p:cNvPr id="71684" name="Rectangle 6">
              <a:extLst>
                <a:ext uri="{FF2B5EF4-FFF2-40B4-BE49-F238E27FC236}">
                  <a16:creationId xmlns:a16="http://schemas.microsoft.com/office/drawing/2014/main" id="{6C800AFA-1B33-38B2-391C-514E2F84C3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2895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71685" name="Rectangle 7">
              <a:extLst>
                <a:ext uri="{FF2B5EF4-FFF2-40B4-BE49-F238E27FC236}">
                  <a16:creationId xmlns:a16="http://schemas.microsoft.com/office/drawing/2014/main" id="{9D47135E-08FF-7A92-387D-DF5B088468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8600" y="2895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71686" name="Line 8">
              <a:extLst>
                <a:ext uri="{FF2B5EF4-FFF2-40B4-BE49-F238E27FC236}">
                  <a16:creationId xmlns:a16="http://schemas.microsoft.com/office/drawing/2014/main" id="{353B4660-4523-508B-238B-E295FA33CF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3000" y="3352800"/>
              <a:ext cx="4572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687" name="Rectangle 9">
              <a:extLst>
                <a:ext uri="{FF2B5EF4-FFF2-40B4-BE49-F238E27FC236}">
                  <a16:creationId xmlns:a16="http://schemas.microsoft.com/office/drawing/2014/main" id="{A4E75810-38EC-1524-3CFA-80EE62BFD5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895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1688" name="Rectangle 10">
              <a:extLst>
                <a:ext uri="{FF2B5EF4-FFF2-40B4-BE49-F238E27FC236}">
                  <a16:creationId xmlns:a16="http://schemas.microsoft.com/office/drawing/2014/main" id="{1ECE3FC8-7A6E-011F-4598-2D27D1F06E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7000" y="2895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71690" name="Text Box 12">
              <a:extLst>
                <a:ext uri="{FF2B5EF4-FFF2-40B4-BE49-F238E27FC236}">
                  <a16:creationId xmlns:a16="http://schemas.microsoft.com/office/drawing/2014/main" id="{73CD986D-1FFE-8FE0-0592-2585F595B5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8800" y="31242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cat</a:t>
              </a:r>
            </a:p>
          </p:txBody>
        </p:sp>
        <p:sp>
          <p:nvSpPr>
            <p:cNvPr id="71691" name="Text Box 13">
              <a:extLst>
                <a:ext uri="{FF2B5EF4-FFF2-40B4-BE49-F238E27FC236}">
                  <a16:creationId xmlns:a16="http://schemas.microsoft.com/office/drawing/2014/main" id="{89B42B60-C1A5-CA96-3343-BFDC0C8CC3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0400" y="31242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dog</a:t>
              </a:r>
            </a:p>
          </p:txBody>
        </p:sp>
        <p:sp>
          <p:nvSpPr>
            <p:cNvPr id="71692" name="Text Box 16">
              <a:extLst>
                <a:ext uri="{FF2B5EF4-FFF2-40B4-BE49-F238E27FC236}">
                  <a16:creationId xmlns:a16="http://schemas.microsoft.com/office/drawing/2014/main" id="{26A048A8-D17D-31DE-F5A9-E619E8708E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0096" y="3131110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71693" name="Text Box 21">
              <a:extLst>
                <a:ext uri="{FF2B5EF4-FFF2-40B4-BE49-F238E27FC236}">
                  <a16:creationId xmlns:a16="http://schemas.microsoft.com/office/drawing/2014/main" id="{D28E43DB-B95B-F027-31B2-9494CAA91D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1200" y="3048000"/>
              <a:ext cx="9906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>
                  <a:latin typeface="Tahoma" panose="020B0604030504040204" pitchFamily="34" charset="0"/>
                </a:rPr>
                <a:t>front</a:t>
              </a:r>
            </a:p>
          </p:txBody>
        </p:sp>
        <p:sp>
          <p:nvSpPr>
            <p:cNvPr id="71694" name="Text Box 22">
              <a:extLst>
                <a:ext uri="{FF2B5EF4-FFF2-40B4-BE49-F238E27FC236}">
                  <a16:creationId xmlns:a16="http://schemas.microsoft.com/office/drawing/2014/main" id="{E47B85BB-53F5-037C-49DB-CC54333C93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2514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71695" name="Text Box 23">
              <a:extLst>
                <a:ext uri="{FF2B5EF4-FFF2-40B4-BE49-F238E27FC236}">
                  <a16:creationId xmlns:a16="http://schemas.microsoft.com/office/drawing/2014/main" id="{6A638064-4FB4-7F69-8A46-298C47B5E5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7200" y="32004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71696" name="Text Box 24">
              <a:extLst>
                <a:ext uri="{FF2B5EF4-FFF2-40B4-BE49-F238E27FC236}">
                  <a16:creationId xmlns:a16="http://schemas.microsoft.com/office/drawing/2014/main" id="{B857CCF5-64D8-F4F7-E0F1-58E4303B9A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1200" y="34290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0xF33</a:t>
              </a:r>
            </a:p>
          </p:txBody>
        </p:sp>
        <p:sp>
          <p:nvSpPr>
            <p:cNvPr id="71697" name="Text Box 25">
              <a:extLst>
                <a:ext uri="{FF2B5EF4-FFF2-40B4-BE49-F238E27FC236}">
                  <a16:creationId xmlns:a16="http://schemas.microsoft.com/office/drawing/2014/main" id="{8B300828-6E1E-1406-3FA0-92B8E78240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600" y="2514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0xF33</a:t>
              </a:r>
            </a:p>
          </p:txBody>
        </p:sp>
      </p:grpSp>
      <p:sp>
        <p:nvSpPr>
          <p:cNvPr id="71698" name="Text Box 30">
            <a:extLst>
              <a:ext uri="{FF2B5EF4-FFF2-40B4-BE49-F238E27FC236}">
                <a16:creationId xmlns:a16="http://schemas.microsoft.com/office/drawing/2014/main" id="{1DE3C2AE-30BE-14DE-2D95-3276EE951D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816" y="3601579"/>
            <a:ext cx="8439367" cy="5232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front = new Node(</a:t>
            </a:r>
            <a:r>
              <a:rPr lang="en-US" altLang="en-US" sz="2800" b="1" dirty="0" err="1">
                <a:solidFill>
                  <a:schemeClr val="accent2"/>
                </a:solidFill>
                <a:latin typeface="Tahoma" panose="020B0604030504040204" pitchFamily="34" charset="0"/>
              </a:rPr>
              <a:t>front.getValue</a:t>
            </a:r>
            <a:r>
              <a:rPr lang="en-US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(), front);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EDD026-40B2-2F22-68A4-8678842FC660}"/>
              </a:ext>
            </a:extLst>
          </p:cNvPr>
          <p:cNvSpPr/>
          <p:nvPr/>
        </p:nvSpPr>
        <p:spPr>
          <a:xfrm>
            <a:off x="205410" y="268215"/>
            <a:ext cx="8792817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C0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This Won’t Work on Lab 2</a:t>
            </a:r>
          </a:p>
        </p:txBody>
      </p:sp>
      <p:grpSp>
        <p:nvGrpSpPr>
          <p:cNvPr id="4" name="Group 3" descr="front = 0xF17&#10;0xF17 --&gt; pig, 0xF33&#10;0xF33 --&gt; dog, 0xF2&#10;0xF2 --&gt; cat, null&#10;&#10;Normal representation:&#10;front --&gt; pig --&gt; dog --&gt; cat --&gt; null">
            <a:extLst>
              <a:ext uri="{FF2B5EF4-FFF2-40B4-BE49-F238E27FC236}">
                <a16:creationId xmlns:a16="http://schemas.microsoft.com/office/drawing/2014/main" id="{DDBD327E-F89F-6B7B-81CD-DC2160CE67C8}"/>
              </a:ext>
            </a:extLst>
          </p:cNvPr>
          <p:cNvGrpSpPr/>
          <p:nvPr/>
        </p:nvGrpSpPr>
        <p:grpSpPr>
          <a:xfrm>
            <a:off x="628650" y="4908244"/>
            <a:ext cx="7810500" cy="1250950"/>
            <a:chOff x="304800" y="2514600"/>
            <a:chExt cx="7810500" cy="1250950"/>
          </a:xfrm>
        </p:grpSpPr>
        <p:sp>
          <p:nvSpPr>
            <p:cNvPr id="5" name="Rectangle 13">
              <a:extLst>
                <a:ext uri="{FF2B5EF4-FFF2-40B4-BE49-F238E27FC236}">
                  <a16:creationId xmlns:a16="http://schemas.microsoft.com/office/drawing/2014/main" id="{92FE989E-82A2-625A-FB7E-83454F1363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5400" y="2895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6" name="Rectangle 14">
              <a:extLst>
                <a:ext uri="{FF2B5EF4-FFF2-40B4-BE49-F238E27FC236}">
                  <a16:creationId xmlns:a16="http://schemas.microsoft.com/office/drawing/2014/main" id="{0F039C06-C38D-8A31-B156-073B6C8582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9800" y="2895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7" name="Line 15">
              <a:extLst>
                <a:ext uri="{FF2B5EF4-FFF2-40B4-BE49-F238E27FC236}">
                  <a16:creationId xmlns:a16="http://schemas.microsoft.com/office/drawing/2014/main" id="{CD6B3481-0662-FA53-8B5F-BE203FC1CC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4200" y="3352800"/>
              <a:ext cx="4572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Rectangle 16">
              <a:extLst>
                <a:ext uri="{FF2B5EF4-FFF2-40B4-BE49-F238E27FC236}">
                  <a16:creationId xmlns:a16="http://schemas.microsoft.com/office/drawing/2014/main" id="{D3CB82AA-C39C-52E9-2D71-EBFC0D94E7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600" y="2895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" name="Rectangle 17">
              <a:extLst>
                <a:ext uri="{FF2B5EF4-FFF2-40B4-BE49-F238E27FC236}">
                  <a16:creationId xmlns:a16="http://schemas.microsoft.com/office/drawing/2014/main" id="{0138A810-2042-4826-4F19-752D1CFE5F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2895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10" name="Line 18">
              <a:extLst>
                <a:ext uri="{FF2B5EF4-FFF2-40B4-BE49-F238E27FC236}">
                  <a16:creationId xmlns:a16="http://schemas.microsoft.com/office/drawing/2014/main" id="{E777E698-84BC-15F7-5AE1-D2375F0F71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6400" y="3352800"/>
              <a:ext cx="4572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Rectangle 19">
              <a:extLst>
                <a:ext uri="{FF2B5EF4-FFF2-40B4-BE49-F238E27FC236}">
                  <a16:creationId xmlns:a16="http://schemas.microsoft.com/office/drawing/2014/main" id="{BB7BDC36-3AF8-C6DD-2FEC-C04FE506B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0" y="2895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" name="Rectangle 20">
              <a:extLst>
                <a:ext uri="{FF2B5EF4-FFF2-40B4-BE49-F238E27FC236}">
                  <a16:creationId xmlns:a16="http://schemas.microsoft.com/office/drawing/2014/main" id="{B1474FA1-73ED-E4D5-29A8-8B0DAA1306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0400" y="2895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13" name="Text Box 22">
              <a:extLst>
                <a:ext uri="{FF2B5EF4-FFF2-40B4-BE49-F238E27FC236}">
                  <a16:creationId xmlns:a16="http://schemas.microsoft.com/office/drawing/2014/main" id="{70958F0F-2C1E-EC73-AAD9-F3842EA8DC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2200" y="31242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cat</a:t>
              </a:r>
            </a:p>
          </p:txBody>
        </p:sp>
        <p:sp>
          <p:nvSpPr>
            <p:cNvPr id="14" name="Text Box 23">
              <a:extLst>
                <a:ext uri="{FF2B5EF4-FFF2-40B4-BE49-F238E27FC236}">
                  <a16:creationId xmlns:a16="http://schemas.microsoft.com/office/drawing/2014/main" id="{6AC093BA-651B-FBD5-5464-AD2EA4D240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3800" y="31242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dog</a:t>
              </a:r>
            </a:p>
          </p:txBody>
        </p:sp>
        <p:sp>
          <p:nvSpPr>
            <p:cNvPr id="15" name="Text Box 24">
              <a:extLst>
                <a:ext uri="{FF2B5EF4-FFF2-40B4-BE49-F238E27FC236}">
                  <a16:creationId xmlns:a16="http://schemas.microsoft.com/office/drawing/2014/main" id="{54EBA769-9C0B-669E-1C7F-C7FCEDB6E7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1600" y="31242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solidFill>
                    <a:srgbClr val="7030A0"/>
                  </a:solidFill>
                  <a:latin typeface="Tahoma" panose="020B0604030504040204" pitchFamily="34" charset="0"/>
                </a:rPr>
                <a:t>dog</a:t>
              </a:r>
            </a:p>
          </p:txBody>
        </p:sp>
        <p:sp>
          <p:nvSpPr>
            <p:cNvPr id="16" name="Text Box 26">
              <a:extLst>
                <a:ext uri="{FF2B5EF4-FFF2-40B4-BE49-F238E27FC236}">
                  <a16:creationId xmlns:a16="http://schemas.microsoft.com/office/drawing/2014/main" id="{389A0B40-37DF-7012-FE67-8276924CC9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24700" y="3124200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17" name="Text Box 30">
              <a:extLst>
                <a:ext uri="{FF2B5EF4-FFF2-40B4-BE49-F238E27FC236}">
                  <a16:creationId xmlns:a16="http://schemas.microsoft.com/office/drawing/2014/main" id="{4D9C204E-5471-49B0-9960-B736D5C0F6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2971800"/>
              <a:ext cx="9906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>
                  <a:latin typeface="Tahoma" panose="020B0604030504040204" pitchFamily="34" charset="0"/>
                </a:rPr>
                <a:t>front</a:t>
              </a:r>
            </a:p>
          </p:txBody>
        </p:sp>
        <p:sp>
          <p:nvSpPr>
            <p:cNvPr id="18" name="Text Box 31">
              <a:extLst>
                <a:ext uri="{FF2B5EF4-FFF2-40B4-BE49-F238E27FC236}">
                  <a16:creationId xmlns:a16="http://schemas.microsoft.com/office/drawing/2014/main" id="{46EEC030-E2E1-1E3E-E0EB-37CCE174FC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4800" y="2514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0xF33</a:t>
              </a:r>
            </a:p>
          </p:txBody>
        </p:sp>
        <p:sp>
          <p:nvSpPr>
            <p:cNvPr id="19" name="Text Box 32">
              <a:extLst>
                <a:ext uri="{FF2B5EF4-FFF2-40B4-BE49-F238E27FC236}">
                  <a16:creationId xmlns:a16="http://schemas.microsoft.com/office/drawing/2014/main" id="{33EC3F7D-E91D-E225-1B90-EF6A6875D4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9400" y="2514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20" name="Text Box 33">
              <a:extLst>
                <a:ext uri="{FF2B5EF4-FFF2-40B4-BE49-F238E27FC236}">
                  <a16:creationId xmlns:a16="http://schemas.microsoft.com/office/drawing/2014/main" id="{B704C0BD-6C86-410A-1EE4-8B730E0157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4400" y="32004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21" name="Text Box 34">
              <a:extLst>
                <a:ext uri="{FF2B5EF4-FFF2-40B4-BE49-F238E27FC236}">
                  <a16:creationId xmlns:a16="http://schemas.microsoft.com/office/drawing/2014/main" id="{A074F9E8-269B-AC39-D096-A89620EAEB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0" y="32004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0xF33</a:t>
              </a:r>
            </a:p>
          </p:txBody>
        </p:sp>
        <p:sp>
          <p:nvSpPr>
            <p:cNvPr id="22" name="Text Box 35">
              <a:extLst>
                <a:ext uri="{FF2B5EF4-FFF2-40B4-BE49-F238E27FC236}">
                  <a16:creationId xmlns:a16="http://schemas.microsoft.com/office/drawing/2014/main" id="{167AFA8D-2513-C82E-A690-DA34941230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34290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7030A0"/>
                  </a:solidFill>
                  <a:latin typeface="Tahoma" panose="020B0604030504040204" pitchFamily="34" charset="0"/>
                </a:rPr>
                <a:t>0x8A7</a:t>
              </a:r>
              <a:endParaRPr lang="en-US" altLang="en-US" sz="1600" b="1" dirty="0">
                <a:solidFill>
                  <a:srgbClr val="0000CC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3" name="Text Box 36">
              <a:extLst>
                <a:ext uri="{FF2B5EF4-FFF2-40B4-BE49-F238E27FC236}">
                  <a16:creationId xmlns:a16="http://schemas.microsoft.com/office/drawing/2014/main" id="{F9994590-78FE-A501-0708-CB7DA81376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8800" y="2514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7030A0"/>
                  </a:solidFill>
                  <a:latin typeface="Tahoma" panose="020B0604030504040204" pitchFamily="34" charset="0"/>
                </a:rPr>
                <a:t>0x8A7</a:t>
              </a:r>
              <a:endParaRPr lang="en-US" altLang="en-US" sz="1600" b="1" dirty="0">
                <a:solidFill>
                  <a:srgbClr val="0000CC"/>
                </a:solidFill>
                <a:latin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40010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2E40AEC-3899-0DB4-3C19-F4F253F6A90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86D87B-1D74-9622-3454-B3A339C0BCAE}"/>
              </a:ext>
            </a:extLst>
          </p:cNvPr>
          <p:cNvSpPr txBox="1"/>
          <p:nvPr/>
        </p:nvSpPr>
        <p:spPr>
          <a:xfrm>
            <a:off x="497840" y="848271"/>
            <a:ext cx="65328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ListNode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z = </a:t>
            </a:r>
            <a:r>
              <a:rPr lang="en-US" sz="2000" b="1" dirty="0">
                <a:solidFill>
                  <a:srgbClr val="941EDF"/>
                </a:solidFill>
                <a:latin typeface="Courier New" panose="02070309020205020404" pitchFamily="49" charset="0"/>
              </a:rPr>
              <a:t>new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ListNode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rgbClr val="00A000"/>
                </a:solidFill>
                <a:latin typeface="Courier New" panose="02070309020205020404" pitchFamily="49" charset="0"/>
              </a:rPr>
              <a:t>"go"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b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</a:t>
            </a:r>
            <a:r>
              <a:rPr lang="en-US" sz="2000" b="1" dirty="0">
                <a:solidFill>
                  <a:srgbClr val="941EDF"/>
                </a:solidFill>
                <a:latin typeface="Courier New" panose="02070309020205020404" pitchFamily="49" charset="0"/>
              </a:rPr>
              <a:t>new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ListNode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rgbClr val="00A000"/>
                </a:solidFill>
                <a:latin typeface="Courier New" panose="02070309020205020404" pitchFamily="49" charset="0"/>
              </a:rPr>
              <a:t>"on"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b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</a:t>
            </a:r>
            <a:r>
              <a:rPr lang="en-US" sz="2000" b="1" dirty="0">
                <a:solidFill>
                  <a:srgbClr val="941EDF"/>
                </a:solidFill>
                <a:latin typeface="Courier New" panose="02070309020205020404" pitchFamily="49" charset="0"/>
              </a:rPr>
              <a:t>new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ListNode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rgbClr val="00A000"/>
                </a:solidFill>
                <a:latin typeface="Courier New" panose="02070309020205020404" pitchFamily="49" charset="0"/>
              </a:rPr>
              <a:t>"at"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b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</a:t>
            </a:r>
            <a:r>
              <a:rPr lang="en-US" sz="2000" b="1" dirty="0">
                <a:solidFill>
                  <a:srgbClr val="941EDF"/>
                </a:solidFill>
                <a:latin typeface="Courier New" panose="02070309020205020404" pitchFamily="49" charset="0"/>
              </a:rPr>
              <a:t>…</a:t>
            </a:r>
          </a:p>
          <a:p>
            <a:endParaRPr lang="en-US" b="1" dirty="0">
              <a:solidFill>
                <a:srgbClr val="941EDF"/>
              </a:solidFill>
              <a:latin typeface="Courier New" panose="02070309020205020404" pitchFamily="49" charset="0"/>
            </a:endParaRPr>
          </a:p>
          <a:p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doubleFirst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(z);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FC7ADD-9864-06F0-7204-292A3884E05D}"/>
              </a:ext>
            </a:extLst>
          </p:cNvPr>
          <p:cNvSpPr txBox="1"/>
          <p:nvPr/>
        </p:nvSpPr>
        <p:spPr>
          <a:xfrm>
            <a:off x="416560" y="3845471"/>
            <a:ext cx="85648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public static void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doubleFirst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ListNode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list) </a:t>
            </a:r>
          </a:p>
          <a:p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</a:p>
          <a:p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list = new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ListNode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theList.getValue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(), list); </a:t>
            </a:r>
          </a:p>
          <a:p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053967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1C764D-6E1C-BDB4-46CF-88AE46B9A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Footer Placeholder 3">
            <a:extLst>
              <a:ext uri="{FF2B5EF4-FFF2-40B4-BE49-F238E27FC236}">
                <a16:creationId xmlns:a16="http://schemas.microsoft.com/office/drawing/2014/main" id="{62B82C2A-4C5D-BD29-2EF3-3705D8BDB3F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grpSp>
        <p:nvGrpSpPr>
          <p:cNvPr id="2" name="Group 1" descr="front = 0xF33&#10;0xF33 --&gt; dog, 0xF2&#10;0xF2 --&gt; cat, null&#10;&#10;Normal representation:&#10;front --&gt; dog --&gt; cat --&gt; null">
            <a:extLst>
              <a:ext uri="{FF2B5EF4-FFF2-40B4-BE49-F238E27FC236}">
                <a16:creationId xmlns:a16="http://schemas.microsoft.com/office/drawing/2014/main" id="{89A2EE0C-9B50-8EC4-77DF-4A40A56DB569}"/>
              </a:ext>
            </a:extLst>
          </p:cNvPr>
          <p:cNvGrpSpPr/>
          <p:nvPr/>
        </p:nvGrpSpPr>
        <p:grpSpPr>
          <a:xfrm>
            <a:off x="1981200" y="1717604"/>
            <a:ext cx="5589496" cy="1250950"/>
            <a:chOff x="1981200" y="2514600"/>
            <a:chExt cx="5589496" cy="1250950"/>
          </a:xfrm>
        </p:grpSpPr>
        <p:sp>
          <p:nvSpPr>
            <p:cNvPr id="71684" name="Rectangle 6">
              <a:extLst>
                <a:ext uri="{FF2B5EF4-FFF2-40B4-BE49-F238E27FC236}">
                  <a16:creationId xmlns:a16="http://schemas.microsoft.com/office/drawing/2014/main" id="{363C4C3A-CFDE-6D42-9408-D34BFF261F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2895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71685" name="Rectangle 7">
              <a:extLst>
                <a:ext uri="{FF2B5EF4-FFF2-40B4-BE49-F238E27FC236}">
                  <a16:creationId xmlns:a16="http://schemas.microsoft.com/office/drawing/2014/main" id="{CBDF158C-4C63-618B-AAF6-73719C98A2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8600" y="2895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71686" name="Line 8">
              <a:extLst>
                <a:ext uri="{FF2B5EF4-FFF2-40B4-BE49-F238E27FC236}">
                  <a16:creationId xmlns:a16="http://schemas.microsoft.com/office/drawing/2014/main" id="{A6EE3A29-3307-FAED-05CC-AF97D848D5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3000" y="3352800"/>
              <a:ext cx="4572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687" name="Rectangle 9">
              <a:extLst>
                <a:ext uri="{FF2B5EF4-FFF2-40B4-BE49-F238E27FC236}">
                  <a16:creationId xmlns:a16="http://schemas.microsoft.com/office/drawing/2014/main" id="{B3206917-BCAF-657A-AA45-6CA2843371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895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1688" name="Rectangle 10">
              <a:extLst>
                <a:ext uri="{FF2B5EF4-FFF2-40B4-BE49-F238E27FC236}">
                  <a16:creationId xmlns:a16="http://schemas.microsoft.com/office/drawing/2014/main" id="{2EC59462-2FB0-E9C7-80D7-448767F53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7000" y="2895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71690" name="Text Box 12">
              <a:extLst>
                <a:ext uri="{FF2B5EF4-FFF2-40B4-BE49-F238E27FC236}">
                  <a16:creationId xmlns:a16="http://schemas.microsoft.com/office/drawing/2014/main" id="{C6AF9BFD-06A8-9112-6451-0A06ADB631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8800" y="31242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cat</a:t>
              </a:r>
            </a:p>
          </p:txBody>
        </p:sp>
        <p:sp>
          <p:nvSpPr>
            <p:cNvPr id="71691" name="Text Box 13">
              <a:extLst>
                <a:ext uri="{FF2B5EF4-FFF2-40B4-BE49-F238E27FC236}">
                  <a16:creationId xmlns:a16="http://schemas.microsoft.com/office/drawing/2014/main" id="{45E72327-6269-30D3-8B13-6D9D1EE20C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0400" y="31242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dog</a:t>
              </a:r>
            </a:p>
          </p:txBody>
        </p:sp>
        <p:sp>
          <p:nvSpPr>
            <p:cNvPr id="71692" name="Text Box 16">
              <a:extLst>
                <a:ext uri="{FF2B5EF4-FFF2-40B4-BE49-F238E27FC236}">
                  <a16:creationId xmlns:a16="http://schemas.microsoft.com/office/drawing/2014/main" id="{DE593044-5634-9498-B13D-16EA2B6C0A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0096" y="3131110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71693" name="Text Box 21">
              <a:extLst>
                <a:ext uri="{FF2B5EF4-FFF2-40B4-BE49-F238E27FC236}">
                  <a16:creationId xmlns:a16="http://schemas.microsoft.com/office/drawing/2014/main" id="{47172DE4-6662-876A-427D-FFD00D0521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1200" y="3048000"/>
              <a:ext cx="9906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>
                  <a:latin typeface="Tahoma" panose="020B0604030504040204" pitchFamily="34" charset="0"/>
                </a:rPr>
                <a:t>front</a:t>
              </a:r>
            </a:p>
          </p:txBody>
        </p:sp>
        <p:sp>
          <p:nvSpPr>
            <p:cNvPr id="71694" name="Text Box 22">
              <a:extLst>
                <a:ext uri="{FF2B5EF4-FFF2-40B4-BE49-F238E27FC236}">
                  <a16:creationId xmlns:a16="http://schemas.microsoft.com/office/drawing/2014/main" id="{A5F1EC11-F59A-A62E-6871-741996393A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2514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71695" name="Text Box 23">
              <a:extLst>
                <a:ext uri="{FF2B5EF4-FFF2-40B4-BE49-F238E27FC236}">
                  <a16:creationId xmlns:a16="http://schemas.microsoft.com/office/drawing/2014/main" id="{D9F372C5-6F4E-2D61-93CD-C91289DE92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7200" y="32004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71696" name="Text Box 24">
              <a:extLst>
                <a:ext uri="{FF2B5EF4-FFF2-40B4-BE49-F238E27FC236}">
                  <a16:creationId xmlns:a16="http://schemas.microsoft.com/office/drawing/2014/main" id="{8D0F6E9B-DDA1-8CAF-0E04-519B76B312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1200" y="34290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0xF33</a:t>
              </a:r>
            </a:p>
          </p:txBody>
        </p:sp>
        <p:sp>
          <p:nvSpPr>
            <p:cNvPr id="71697" name="Text Box 25">
              <a:extLst>
                <a:ext uri="{FF2B5EF4-FFF2-40B4-BE49-F238E27FC236}">
                  <a16:creationId xmlns:a16="http://schemas.microsoft.com/office/drawing/2014/main" id="{1DD1511F-3497-EF86-CA28-69E8821C4E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600" y="2514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0xF33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EA291C6A-BD86-A9D7-1457-BCFB3F93D22B}"/>
              </a:ext>
            </a:extLst>
          </p:cNvPr>
          <p:cNvSpPr/>
          <p:nvPr/>
        </p:nvSpPr>
        <p:spPr>
          <a:xfrm>
            <a:off x="205410" y="268215"/>
            <a:ext cx="8792817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0000CC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Duplicating the LAST Node</a:t>
            </a:r>
          </a:p>
        </p:txBody>
      </p:sp>
      <p:grpSp>
        <p:nvGrpSpPr>
          <p:cNvPr id="4" name="Group 3" descr="front = 0xF17&#10;0xF17 --&gt; pig, 0xF33&#10;0xF33 --&gt; dog, 0xF2&#10;0xF2 --&gt; cat, null&#10;&#10;Normal representation:&#10;front --&gt; pig --&gt; dog --&gt; cat --&gt; null">
            <a:extLst>
              <a:ext uri="{FF2B5EF4-FFF2-40B4-BE49-F238E27FC236}">
                <a16:creationId xmlns:a16="http://schemas.microsoft.com/office/drawing/2014/main" id="{8EA22E96-A299-EE8B-53AF-BF2579BBE74E}"/>
              </a:ext>
            </a:extLst>
          </p:cNvPr>
          <p:cNvGrpSpPr/>
          <p:nvPr/>
        </p:nvGrpSpPr>
        <p:grpSpPr>
          <a:xfrm>
            <a:off x="628650" y="3973524"/>
            <a:ext cx="7810500" cy="1250950"/>
            <a:chOff x="304800" y="2514600"/>
            <a:chExt cx="7810500" cy="1250950"/>
          </a:xfrm>
        </p:grpSpPr>
        <p:sp>
          <p:nvSpPr>
            <p:cNvPr id="5" name="Rectangle 13">
              <a:extLst>
                <a:ext uri="{FF2B5EF4-FFF2-40B4-BE49-F238E27FC236}">
                  <a16:creationId xmlns:a16="http://schemas.microsoft.com/office/drawing/2014/main" id="{3C6D926B-8706-690C-694E-B79BC7BBFE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5400" y="2895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6" name="Rectangle 14">
              <a:extLst>
                <a:ext uri="{FF2B5EF4-FFF2-40B4-BE49-F238E27FC236}">
                  <a16:creationId xmlns:a16="http://schemas.microsoft.com/office/drawing/2014/main" id="{E3B24D1D-9968-8EAC-D21C-C8564E2668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9800" y="2895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7" name="Line 15">
              <a:extLst>
                <a:ext uri="{FF2B5EF4-FFF2-40B4-BE49-F238E27FC236}">
                  <a16:creationId xmlns:a16="http://schemas.microsoft.com/office/drawing/2014/main" id="{2D97880B-FC6B-A78B-5057-95A01BD9E1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4200" y="3352800"/>
              <a:ext cx="4572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Rectangle 16">
              <a:extLst>
                <a:ext uri="{FF2B5EF4-FFF2-40B4-BE49-F238E27FC236}">
                  <a16:creationId xmlns:a16="http://schemas.microsoft.com/office/drawing/2014/main" id="{418E2A84-F50A-B711-8D01-83B1BE7ABA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600" y="2895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" name="Rectangle 17">
              <a:extLst>
                <a:ext uri="{FF2B5EF4-FFF2-40B4-BE49-F238E27FC236}">
                  <a16:creationId xmlns:a16="http://schemas.microsoft.com/office/drawing/2014/main" id="{FD56166B-BEA7-8C9F-8CBD-1A060CCF21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2895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10" name="Line 18">
              <a:extLst>
                <a:ext uri="{FF2B5EF4-FFF2-40B4-BE49-F238E27FC236}">
                  <a16:creationId xmlns:a16="http://schemas.microsoft.com/office/drawing/2014/main" id="{55D335DC-3697-10F9-0F59-2A8BAF58B0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6400" y="3352800"/>
              <a:ext cx="4572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Rectangle 19">
              <a:extLst>
                <a:ext uri="{FF2B5EF4-FFF2-40B4-BE49-F238E27FC236}">
                  <a16:creationId xmlns:a16="http://schemas.microsoft.com/office/drawing/2014/main" id="{93872BFF-D551-0B37-FBC7-892E8DEA61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0" y="2895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" name="Rectangle 20">
              <a:extLst>
                <a:ext uri="{FF2B5EF4-FFF2-40B4-BE49-F238E27FC236}">
                  <a16:creationId xmlns:a16="http://schemas.microsoft.com/office/drawing/2014/main" id="{6C351962-15F2-8419-2042-F4D8AA5FCF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0400" y="2895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13" name="Text Box 22">
              <a:extLst>
                <a:ext uri="{FF2B5EF4-FFF2-40B4-BE49-F238E27FC236}">
                  <a16:creationId xmlns:a16="http://schemas.microsoft.com/office/drawing/2014/main" id="{67073452-2703-7A79-6E25-316464F9B8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2200" y="31242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solidFill>
                    <a:srgbClr val="7030A0"/>
                  </a:solidFill>
                  <a:latin typeface="Tahoma" panose="020B0604030504040204" pitchFamily="34" charset="0"/>
                </a:rPr>
                <a:t>cat</a:t>
              </a:r>
            </a:p>
          </p:txBody>
        </p:sp>
        <p:sp>
          <p:nvSpPr>
            <p:cNvPr id="14" name="Text Box 23">
              <a:extLst>
                <a:ext uri="{FF2B5EF4-FFF2-40B4-BE49-F238E27FC236}">
                  <a16:creationId xmlns:a16="http://schemas.microsoft.com/office/drawing/2014/main" id="{DE57B822-A696-0551-5FCA-2CA7DFE787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3800" y="31242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cat</a:t>
              </a:r>
              <a:endParaRPr lang="en-US" altLang="en-US" sz="2400" b="1" dirty="0">
                <a:solidFill>
                  <a:srgbClr val="7030A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5" name="Text Box 24">
              <a:extLst>
                <a:ext uri="{FF2B5EF4-FFF2-40B4-BE49-F238E27FC236}">
                  <a16:creationId xmlns:a16="http://schemas.microsoft.com/office/drawing/2014/main" id="{DD093179-806D-6CAE-861D-40D662A893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1600" y="31242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dog</a:t>
              </a:r>
            </a:p>
          </p:txBody>
        </p:sp>
        <p:sp>
          <p:nvSpPr>
            <p:cNvPr id="16" name="Text Box 26">
              <a:extLst>
                <a:ext uri="{FF2B5EF4-FFF2-40B4-BE49-F238E27FC236}">
                  <a16:creationId xmlns:a16="http://schemas.microsoft.com/office/drawing/2014/main" id="{93A2744D-04C5-CB8F-CD5A-13EA105886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24700" y="3124200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17" name="Text Box 30">
              <a:extLst>
                <a:ext uri="{FF2B5EF4-FFF2-40B4-BE49-F238E27FC236}">
                  <a16:creationId xmlns:a16="http://schemas.microsoft.com/office/drawing/2014/main" id="{DEAA1B68-4CCF-9AFA-8DD8-2D4E425CDD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2971800"/>
              <a:ext cx="9906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>
                  <a:latin typeface="Tahoma" panose="020B0604030504040204" pitchFamily="34" charset="0"/>
                </a:rPr>
                <a:t>front</a:t>
              </a:r>
            </a:p>
          </p:txBody>
        </p:sp>
        <p:sp>
          <p:nvSpPr>
            <p:cNvPr id="18" name="Text Box 31">
              <a:extLst>
                <a:ext uri="{FF2B5EF4-FFF2-40B4-BE49-F238E27FC236}">
                  <a16:creationId xmlns:a16="http://schemas.microsoft.com/office/drawing/2014/main" id="{E4E4EBE9-6F69-F024-2A99-620CC67A0E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4800" y="2514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  <a:endParaRPr lang="en-US" altLang="en-US" sz="1600" b="1" dirty="0">
                <a:solidFill>
                  <a:srgbClr val="7030A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9" name="Text Box 32">
              <a:extLst>
                <a:ext uri="{FF2B5EF4-FFF2-40B4-BE49-F238E27FC236}">
                  <a16:creationId xmlns:a16="http://schemas.microsoft.com/office/drawing/2014/main" id="{33D6EA77-BBA2-962D-21B1-6071F0AA3E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9400" y="2514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7030A0"/>
                  </a:solidFill>
                  <a:latin typeface="Tahoma" panose="020B0604030504040204" pitchFamily="34" charset="0"/>
                </a:rPr>
                <a:t>0xA3</a:t>
              </a:r>
            </a:p>
          </p:txBody>
        </p:sp>
        <p:sp>
          <p:nvSpPr>
            <p:cNvPr id="20" name="Text Box 33">
              <a:extLst>
                <a:ext uri="{FF2B5EF4-FFF2-40B4-BE49-F238E27FC236}">
                  <a16:creationId xmlns:a16="http://schemas.microsoft.com/office/drawing/2014/main" id="{848E9392-5645-2D09-B05F-4786688E67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4400" y="32004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7030A0"/>
                  </a:solidFill>
                  <a:latin typeface="Tahoma" panose="020B0604030504040204" pitchFamily="34" charset="0"/>
                </a:rPr>
                <a:t>0xA3</a:t>
              </a:r>
            </a:p>
          </p:txBody>
        </p:sp>
        <p:sp>
          <p:nvSpPr>
            <p:cNvPr id="21" name="Text Box 34">
              <a:extLst>
                <a:ext uri="{FF2B5EF4-FFF2-40B4-BE49-F238E27FC236}">
                  <a16:creationId xmlns:a16="http://schemas.microsoft.com/office/drawing/2014/main" id="{0DC7BF8E-7ECD-39F3-A01C-5990251408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0" y="32004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  <a:endParaRPr lang="en-US" altLang="en-US" sz="1600" b="1" dirty="0">
                <a:solidFill>
                  <a:srgbClr val="7030A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2" name="Text Box 35">
              <a:extLst>
                <a:ext uri="{FF2B5EF4-FFF2-40B4-BE49-F238E27FC236}">
                  <a16:creationId xmlns:a16="http://schemas.microsoft.com/office/drawing/2014/main" id="{A4B98D6F-8989-48AE-15AA-245E556A21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34290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0xF33</a:t>
              </a:r>
            </a:p>
          </p:txBody>
        </p:sp>
        <p:sp>
          <p:nvSpPr>
            <p:cNvPr id="23" name="Text Box 36">
              <a:extLst>
                <a:ext uri="{FF2B5EF4-FFF2-40B4-BE49-F238E27FC236}">
                  <a16:creationId xmlns:a16="http://schemas.microsoft.com/office/drawing/2014/main" id="{26F25718-7CE2-B4C2-BE24-0FED3435B9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8800" y="2514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0xF33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42551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1">
            <a:alpha val="4902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B9B503-5585-8929-9364-4C56C1F99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Footer Placeholder 3">
            <a:extLst>
              <a:ext uri="{FF2B5EF4-FFF2-40B4-BE49-F238E27FC236}">
                <a16:creationId xmlns:a16="http://schemas.microsoft.com/office/drawing/2014/main" id="{B7A2A734-A31F-B5EA-7977-4D5409716AD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grpSp>
        <p:nvGrpSpPr>
          <p:cNvPr id="2" name="Group 1" descr="front = 0xF33&#10;0xF33 --&gt; dog, 0xF2&#10;0xF2 --&gt; cat, null&#10;&#10;Normal representation:&#10;front --&gt; dog --&gt; cat --&gt; null">
            <a:extLst>
              <a:ext uri="{FF2B5EF4-FFF2-40B4-BE49-F238E27FC236}">
                <a16:creationId xmlns:a16="http://schemas.microsoft.com/office/drawing/2014/main" id="{97575CCA-C791-4883-EA7D-87BA9E683F22}"/>
              </a:ext>
            </a:extLst>
          </p:cNvPr>
          <p:cNvGrpSpPr/>
          <p:nvPr/>
        </p:nvGrpSpPr>
        <p:grpSpPr>
          <a:xfrm>
            <a:off x="1981200" y="986084"/>
            <a:ext cx="5589496" cy="1250950"/>
            <a:chOff x="1981200" y="2514600"/>
            <a:chExt cx="5589496" cy="1250950"/>
          </a:xfrm>
        </p:grpSpPr>
        <p:sp>
          <p:nvSpPr>
            <p:cNvPr id="71684" name="Rectangle 6">
              <a:extLst>
                <a:ext uri="{FF2B5EF4-FFF2-40B4-BE49-F238E27FC236}">
                  <a16:creationId xmlns:a16="http://schemas.microsoft.com/office/drawing/2014/main" id="{59810C86-57B2-085C-0567-23744C5CA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2895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71685" name="Rectangle 7">
              <a:extLst>
                <a:ext uri="{FF2B5EF4-FFF2-40B4-BE49-F238E27FC236}">
                  <a16:creationId xmlns:a16="http://schemas.microsoft.com/office/drawing/2014/main" id="{AF8BA735-D2EA-010B-F8C6-AC47C1C582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8600" y="2895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71686" name="Line 8">
              <a:extLst>
                <a:ext uri="{FF2B5EF4-FFF2-40B4-BE49-F238E27FC236}">
                  <a16:creationId xmlns:a16="http://schemas.microsoft.com/office/drawing/2014/main" id="{94475928-ECD9-4E55-7C65-470CC4CCB7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3000" y="3352800"/>
              <a:ext cx="4572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687" name="Rectangle 9">
              <a:extLst>
                <a:ext uri="{FF2B5EF4-FFF2-40B4-BE49-F238E27FC236}">
                  <a16:creationId xmlns:a16="http://schemas.microsoft.com/office/drawing/2014/main" id="{9A4004C1-7247-EA04-168F-0FE2EDD458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895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1688" name="Rectangle 10">
              <a:extLst>
                <a:ext uri="{FF2B5EF4-FFF2-40B4-BE49-F238E27FC236}">
                  <a16:creationId xmlns:a16="http://schemas.microsoft.com/office/drawing/2014/main" id="{EBC1DA14-F955-9093-D84C-4C9B176AE3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7000" y="2895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71690" name="Text Box 12">
              <a:extLst>
                <a:ext uri="{FF2B5EF4-FFF2-40B4-BE49-F238E27FC236}">
                  <a16:creationId xmlns:a16="http://schemas.microsoft.com/office/drawing/2014/main" id="{B23305A1-8151-F4A4-1C08-D96FAA2124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8800" y="31242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cat</a:t>
              </a:r>
            </a:p>
          </p:txBody>
        </p:sp>
        <p:sp>
          <p:nvSpPr>
            <p:cNvPr id="71691" name="Text Box 13">
              <a:extLst>
                <a:ext uri="{FF2B5EF4-FFF2-40B4-BE49-F238E27FC236}">
                  <a16:creationId xmlns:a16="http://schemas.microsoft.com/office/drawing/2014/main" id="{D06B9B64-D9BF-0E29-BA7E-0ED594DC10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0400" y="31242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dog</a:t>
              </a:r>
            </a:p>
          </p:txBody>
        </p:sp>
        <p:sp>
          <p:nvSpPr>
            <p:cNvPr id="71692" name="Text Box 16">
              <a:extLst>
                <a:ext uri="{FF2B5EF4-FFF2-40B4-BE49-F238E27FC236}">
                  <a16:creationId xmlns:a16="http://schemas.microsoft.com/office/drawing/2014/main" id="{A93289EE-67EE-0DB9-7E45-5494C1924A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0096" y="3131110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71693" name="Text Box 21">
              <a:extLst>
                <a:ext uri="{FF2B5EF4-FFF2-40B4-BE49-F238E27FC236}">
                  <a16:creationId xmlns:a16="http://schemas.microsoft.com/office/drawing/2014/main" id="{CFBD2ED9-F609-ABB4-B16B-2A038BAA7E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1200" y="3048000"/>
              <a:ext cx="9906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dirty="0">
                  <a:latin typeface="Tahoma" panose="020B0604030504040204" pitchFamily="34" charset="0"/>
                </a:rPr>
                <a:t>list</a:t>
              </a:r>
            </a:p>
          </p:txBody>
        </p:sp>
        <p:sp>
          <p:nvSpPr>
            <p:cNvPr id="71694" name="Text Box 22">
              <a:extLst>
                <a:ext uri="{FF2B5EF4-FFF2-40B4-BE49-F238E27FC236}">
                  <a16:creationId xmlns:a16="http://schemas.microsoft.com/office/drawing/2014/main" id="{621BCBA4-2F83-D4D9-0AF5-7B46FB02F8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2514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71695" name="Text Box 23">
              <a:extLst>
                <a:ext uri="{FF2B5EF4-FFF2-40B4-BE49-F238E27FC236}">
                  <a16:creationId xmlns:a16="http://schemas.microsoft.com/office/drawing/2014/main" id="{226DCE47-5E1F-DA15-E938-B9250D9463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7200" y="32004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71696" name="Text Box 24">
              <a:extLst>
                <a:ext uri="{FF2B5EF4-FFF2-40B4-BE49-F238E27FC236}">
                  <a16:creationId xmlns:a16="http://schemas.microsoft.com/office/drawing/2014/main" id="{9203188B-C0C0-C79B-6B63-94F3EDFD86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1200" y="34290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0xF33</a:t>
              </a:r>
            </a:p>
          </p:txBody>
        </p:sp>
        <p:sp>
          <p:nvSpPr>
            <p:cNvPr id="71697" name="Text Box 25">
              <a:extLst>
                <a:ext uri="{FF2B5EF4-FFF2-40B4-BE49-F238E27FC236}">
                  <a16:creationId xmlns:a16="http://schemas.microsoft.com/office/drawing/2014/main" id="{F04B12C0-C375-FEE9-15F7-5431C5EEB7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600" y="2514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0xF33</a:t>
              </a:r>
            </a:p>
          </p:txBody>
        </p:sp>
      </p:grpSp>
      <p:sp>
        <p:nvSpPr>
          <p:cNvPr id="71698" name="Text Box 30">
            <a:extLst>
              <a:ext uri="{FF2B5EF4-FFF2-40B4-BE49-F238E27FC236}">
                <a16:creationId xmlns:a16="http://schemas.microsoft.com/office/drawing/2014/main" id="{7A23EA8A-35EC-CBD3-2CB4-0FA3DD328A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456" y="2632004"/>
            <a:ext cx="8154887" cy="193899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while(list != null &amp;&amp; </a:t>
            </a:r>
            <a:r>
              <a:rPr lang="en-US" altLang="en-US" sz="2400" b="1" dirty="0" err="1">
                <a:latin typeface="Tahoma" panose="020B0604030504040204" pitchFamily="34" charset="0"/>
              </a:rPr>
              <a:t>list.getNext</a:t>
            </a:r>
            <a:r>
              <a:rPr lang="en-US" altLang="en-US" sz="2400" b="1" dirty="0">
                <a:latin typeface="Tahoma" panose="020B0604030504040204" pitchFamily="34" charset="0"/>
              </a:rPr>
              <a:t>() != null)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     list = </a:t>
            </a:r>
            <a:r>
              <a:rPr lang="en-US" altLang="en-US" sz="2400" b="1" dirty="0" err="1">
                <a:latin typeface="Tahoma" panose="020B0604030504040204" pitchFamily="34" charset="0"/>
              </a:rPr>
              <a:t>list.getNext</a:t>
            </a:r>
            <a:r>
              <a:rPr lang="en-US" altLang="en-US" sz="2400" b="1" dirty="0">
                <a:latin typeface="Tahoma" panose="020B0604030504040204" pitchFamily="34" charset="0"/>
              </a:rPr>
              <a:t>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400" b="1" dirty="0">
                <a:latin typeface="Tahoma" panose="020B0604030504040204" pitchFamily="34" charset="0"/>
              </a:rPr>
              <a:t> add = new </a:t>
            </a:r>
            <a:r>
              <a:rPr lang="en-US" altLang="en-US" sz="24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400" b="1" dirty="0">
                <a:latin typeface="Tahoma" panose="020B0604030504040204" pitchFamily="34" charset="0"/>
              </a:rPr>
              <a:t>(</a:t>
            </a:r>
            <a:r>
              <a:rPr lang="en-US" altLang="en-US" sz="2400" b="1" dirty="0" err="1">
                <a:latin typeface="Tahoma" panose="020B0604030504040204" pitchFamily="34" charset="0"/>
              </a:rPr>
              <a:t>list.getValue</a:t>
            </a:r>
            <a:r>
              <a:rPr lang="en-US" altLang="en-US" sz="2400" b="1" dirty="0">
                <a:latin typeface="Tahoma" panose="020B0604030504040204" pitchFamily="34" charset="0"/>
              </a:rPr>
              <a:t>(), null);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 err="1">
                <a:latin typeface="Tahoma" panose="020B0604030504040204" pitchFamily="34" charset="0"/>
              </a:rPr>
              <a:t>list.setNext</a:t>
            </a:r>
            <a:r>
              <a:rPr lang="en-US" altLang="en-US" sz="2400" b="1" dirty="0">
                <a:latin typeface="Tahoma" panose="020B0604030504040204" pitchFamily="34" charset="0"/>
              </a:rPr>
              <a:t>(add);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3A24E1-D8A1-B5CB-0B3F-4E012FC5DF9E}"/>
              </a:ext>
            </a:extLst>
          </p:cNvPr>
          <p:cNvSpPr/>
          <p:nvPr/>
        </p:nvSpPr>
        <p:spPr>
          <a:xfrm>
            <a:off x="205410" y="75175"/>
            <a:ext cx="8792817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0000CC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Duplicating the LAST Node</a:t>
            </a:r>
          </a:p>
        </p:txBody>
      </p:sp>
      <p:grpSp>
        <p:nvGrpSpPr>
          <p:cNvPr id="24" name="Group 23" descr="front = 0xF17&#10;0xF17 --&gt; pig, 0xF33&#10;0xF33 --&gt; dog, 0xF2&#10;0xF2 --&gt; cat, null&#10;&#10;Normal representation:&#10;front --&gt; pig --&gt; dog --&gt; cat --&gt; null">
            <a:extLst>
              <a:ext uri="{FF2B5EF4-FFF2-40B4-BE49-F238E27FC236}">
                <a16:creationId xmlns:a16="http://schemas.microsoft.com/office/drawing/2014/main" id="{2A664BDA-76C7-4FE7-3ACD-B64BFB415430}"/>
              </a:ext>
            </a:extLst>
          </p:cNvPr>
          <p:cNvGrpSpPr/>
          <p:nvPr/>
        </p:nvGrpSpPr>
        <p:grpSpPr>
          <a:xfrm>
            <a:off x="628650" y="4908244"/>
            <a:ext cx="7810500" cy="1250950"/>
            <a:chOff x="304800" y="2514600"/>
            <a:chExt cx="7810500" cy="1250950"/>
          </a:xfrm>
        </p:grpSpPr>
        <p:sp>
          <p:nvSpPr>
            <p:cNvPr id="25" name="Rectangle 13">
              <a:extLst>
                <a:ext uri="{FF2B5EF4-FFF2-40B4-BE49-F238E27FC236}">
                  <a16:creationId xmlns:a16="http://schemas.microsoft.com/office/drawing/2014/main" id="{C16FC328-98B8-1606-55FB-BE334B6979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5400" y="2895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26" name="Rectangle 14">
              <a:extLst>
                <a:ext uri="{FF2B5EF4-FFF2-40B4-BE49-F238E27FC236}">
                  <a16:creationId xmlns:a16="http://schemas.microsoft.com/office/drawing/2014/main" id="{4AFE59C2-0D43-DD97-0BBF-A84F7B2B00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9800" y="2895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27" name="Line 15">
              <a:extLst>
                <a:ext uri="{FF2B5EF4-FFF2-40B4-BE49-F238E27FC236}">
                  <a16:creationId xmlns:a16="http://schemas.microsoft.com/office/drawing/2014/main" id="{A5690FC1-01C5-B163-59F5-DAFC03EE09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4200" y="3352800"/>
              <a:ext cx="4572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Rectangle 16">
              <a:extLst>
                <a:ext uri="{FF2B5EF4-FFF2-40B4-BE49-F238E27FC236}">
                  <a16:creationId xmlns:a16="http://schemas.microsoft.com/office/drawing/2014/main" id="{C70B3360-9BE8-505A-566B-319F3764A0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600" y="2895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29" name="Rectangle 17">
              <a:extLst>
                <a:ext uri="{FF2B5EF4-FFF2-40B4-BE49-F238E27FC236}">
                  <a16:creationId xmlns:a16="http://schemas.microsoft.com/office/drawing/2014/main" id="{DD34992B-EC87-B5A7-6EB6-7CADC576EE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2895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30" name="Line 18">
              <a:extLst>
                <a:ext uri="{FF2B5EF4-FFF2-40B4-BE49-F238E27FC236}">
                  <a16:creationId xmlns:a16="http://schemas.microsoft.com/office/drawing/2014/main" id="{9729BB94-C4AA-F53C-B026-FA6BC2B1BB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6400" y="3352800"/>
              <a:ext cx="4572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Rectangle 19">
              <a:extLst>
                <a:ext uri="{FF2B5EF4-FFF2-40B4-BE49-F238E27FC236}">
                  <a16:creationId xmlns:a16="http://schemas.microsoft.com/office/drawing/2014/main" id="{0CD49FA6-2C24-4F6A-8E45-E5C50907D7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0" y="2895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2" name="Rectangle 20">
              <a:extLst>
                <a:ext uri="{FF2B5EF4-FFF2-40B4-BE49-F238E27FC236}">
                  <a16:creationId xmlns:a16="http://schemas.microsoft.com/office/drawing/2014/main" id="{DE752E90-861C-C3F3-DA89-C78F2A78A3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0400" y="2895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33" name="Text Box 22">
              <a:extLst>
                <a:ext uri="{FF2B5EF4-FFF2-40B4-BE49-F238E27FC236}">
                  <a16:creationId xmlns:a16="http://schemas.microsoft.com/office/drawing/2014/main" id="{C2DDAFC5-0888-AAE3-2222-572127C34E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2200" y="31242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solidFill>
                    <a:srgbClr val="7030A0"/>
                  </a:solidFill>
                  <a:latin typeface="Tahoma" panose="020B0604030504040204" pitchFamily="34" charset="0"/>
                </a:rPr>
                <a:t>cat</a:t>
              </a:r>
            </a:p>
          </p:txBody>
        </p:sp>
        <p:sp>
          <p:nvSpPr>
            <p:cNvPr id="34" name="Text Box 23">
              <a:extLst>
                <a:ext uri="{FF2B5EF4-FFF2-40B4-BE49-F238E27FC236}">
                  <a16:creationId xmlns:a16="http://schemas.microsoft.com/office/drawing/2014/main" id="{8514321B-A0DB-2FD5-E111-14569EF873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3800" y="31242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cat</a:t>
              </a:r>
              <a:endParaRPr lang="en-US" altLang="en-US" sz="2400" b="1" dirty="0">
                <a:solidFill>
                  <a:srgbClr val="7030A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5" name="Text Box 24">
              <a:extLst>
                <a:ext uri="{FF2B5EF4-FFF2-40B4-BE49-F238E27FC236}">
                  <a16:creationId xmlns:a16="http://schemas.microsoft.com/office/drawing/2014/main" id="{16234330-1ADF-9126-D102-EE3B46ACA6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1600" y="31242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dog</a:t>
              </a:r>
            </a:p>
          </p:txBody>
        </p:sp>
        <p:sp>
          <p:nvSpPr>
            <p:cNvPr id="36" name="Text Box 26">
              <a:extLst>
                <a:ext uri="{FF2B5EF4-FFF2-40B4-BE49-F238E27FC236}">
                  <a16:creationId xmlns:a16="http://schemas.microsoft.com/office/drawing/2014/main" id="{ED5187E5-98BB-D89E-0533-439BB55690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24700" y="3124200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37" name="Text Box 30">
              <a:extLst>
                <a:ext uri="{FF2B5EF4-FFF2-40B4-BE49-F238E27FC236}">
                  <a16:creationId xmlns:a16="http://schemas.microsoft.com/office/drawing/2014/main" id="{D8B83FCB-BE4B-7B62-1BF4-7D0DC65BA4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2971800"/>
              <a:ext cx="9906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>
                  <a:latin typeface="Tahoma" panose="020B0604030504040204" pitchFamily="34" charset="0"/>
                </a:rPr>
                <a:t>front</a:t>
              </a:r>
            </a:p>
          </p:txBody>
        </p:sp>
        <p:sp>
          <p:nvSpPr>
            <p:cNvPr id="38" name="Text Box 31">
              <a:extLst>
                <a:ext uri="{FF2B5EF4-FFF2-40B4-BE49-F238E27FC236}">
                  <a16:creationId xmlns:a16="http://schemas.microsoft.com/office/drawing/2014/main" id="{66FDDFE2-9EAD-DFB4-8DD8-C43614DE5D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4800" y="2514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  <a:endParaRPr lang="en-US" altLang="en-US" sz="1600" b="1" dirty="0">
                <a:solidFill>
                  <a:srgbClr val="7030A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9" name="Text Box 32">
              <a:extLst>
                <a:ext uri="{FF2B5EF4-FFF2-40B4-BE49-F238E27FC236}">
                  <a16:creationId xmlns:a16="http://schemas.microsoft.com/office/drawing/2014/main" id="{2150C475-7A6C-1F17-8E4B-D70AF619EB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9400" y="2514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7030A0"/>
                  </a:solidFill>
                  <a:latin typeface="Tahoma" panose="020B0604030504040204" pitchFamily="34" charset="0"/>
                </a:rPr>
                <a:t>0xA3</a:t>
              </a:r>
            </a:p>
          </p:txBody>
        </p:sp>
        <p:sp>
          <p:nvSpPr>
            <p:cNvPr id="40" name="Text Box 33">
              <a:extLst>
                <a:ext uri="{FF2B5EF4-FFF2-40B4-BE49-F238E27FC236}">
                  <a16:creationId xmlns:a16="http://schemas.microsoft.com/office/drawing/2014/main" id="{B46FB805-F05F-98D2-C9B4-75F21955BF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4400" y="32004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7030A0"/>
                  </a:solidFill>
                  <a:latin typeface="Tahoma" panose="020B0604030504040204" pitchFamily="34" charset="0"/>
                </a:rPr>
                <a:t>0xA3</a:t>
              </a:r>
            </a:p>
          </p:txBody>
        </p:sp>
        <p:sp>
          <p:nvSpPr>
            <p:cNvPr id="41" name="Text Box 34">
              <a:extLst>
                <a:ext uri="{FF2B5EF4-FFF2-40B4-BE49-F238E27FC236}">
                  <a16:creationId xmlns:a16="http://schemas.microsoft.com/office/drawing/2014/main" id="{37697B43-EA4C-9E07-E32D-39541FFCEA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0" y="32004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  <a:endParaRPr lang="en-US" altLang="en-US" sz="1600" b="1" dirty="0">
                <a:solidFill>
                  <a:srgbClr val="7030A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2" name="Text Box 35">
              <a:extLst>
                <a:ext uri="{FF2B5EF4-FFF2-40B4-BE49-F238E27FC236}">
                  <a16:creationId xmlns:a16="http://schemas.microsoft.com/office/drawing/2014/main" id="{F178B444-FAC3-F631-99A9-FF24DF0CBE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34290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0xF33</a:t>
              </a:r>
            </a:p>
          </p:txBody>
        </p:sp>
        <p:sp>
          <p:nvSpPr>
            <p:cNvPr id="43" name="Text Box 36">
              <a:extLst>
                <a:ext uri="{FF2B5EF4-FFF2-40B4-BE49-F238E27FC236}">
                  <a16:creationId xmlns:a16="http://schemas.microsoft.com/office/drawing/2014/main" id="{D3B88BFF-C669-631A-15FE-F692F311BA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8800" y="2514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0xF33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793007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Footer Placeholder 3">
            <a:extLst>
              <a:ext uri="{FF2B5EF4-FFF2-40B4-BE49-F238E27FC236}">
                <a16:creationId xmlns:a16="http://schemas.microsoft.com/office/drawing/2014/main" id="{E41C86EE-B61D-41F4-A561-F926C84A7B0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08547" name="WordArt 2">
            <a:extLst>
              <a:ext uri="{FF2B5EF4-FFF2-40B4-BE49-F238E27FC236}">
                <a16:creationId xmlns:a16="http://schemas.microsoft.com/office/drawing/2014/main" id="{6512A43D-9672-4712-BBC1-BFE4CF11339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1447800"/>
            <a:ext cx="7391400" cy="3581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Doubly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Linked Lists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Footer Placeholder 3">
            <a:extLst>
              <a:ext uri="{FF2B5EF4-FFF2-40B4-BE49-F238E27FC236}">
                <a16:creationId xmlns:a16="http://schemas.microsoft.com/office/drawing/2014/main" id="{BE0654EC-C731-49CD-B395-DD9FD3E980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1EB9AC81-A91F-484D-9C0E-E699FD928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447800"/>
            <a:ext cx="8153400" cy="496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class DoublyNode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private Comparable data;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private DoublyNode next;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private DoublyNode prev;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public DoublyNode(Comparable dat,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			DoublyNode prv, DoublyNode nxt)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   data=dat;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   prev=prv;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   next=nxt;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//other methods not shown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110596" name="WordArt 3">
            <a:extLst>
              <a:ext uri="{FF2B5EF4-FFF2-40B4-BE49-F238E27FC236}">
                <a16:creationId xmlns:a16="http://schemas.microsoft.com/office/drawing/2014/main" id="{CF942BDE-A535-4D88-8A70-15CC6954BB3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90600" y="381000"/>
            <a:ext cx="65532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DoublyNode Class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Footer Placeholder 3">
            <a:extLst>
              <a:ext uri="{FF2B5EF4-FFF2-40B4-BE49-F238E27FC236}">
                <a16:creationId xmlns:a16="http://schemas.microsoft.com/office/drawing/2014/main" id="{140E46CE-1E05-4B81-996B-455FA3F24D1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4D30E94D-A633-438B-929E-C5D03C27F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50812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MS LineDraw" charset="2"/>
            </a:endParaRPr>
          </a:p>
        </p:txBody>
      </p:sp>
      <p:sp>
        <p:nvSpPr>
          <p:cNvPr id="112646" name="WordArt 11">
            <a:extLst>
              <a:ext uri="{FF2B5EF4-FFF2-40B4-BE49-F238E27FC236}">
                <a16:creationId xmlns:a16="http://schemas.microsoft.com/office/drawing/2014/main" id="{278064F2-33BC-4736-9460-FFCDED79B38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762000"/>
            <a:ext cx="75438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A DoublyNode</a:t>
            </a:r>
          </a:p>
        </p:txBody>
      </p:sp>
      <p:sp>
        <p:nvSpPr>
          <p:cNvPr id="112647" name="Text Box 12">
            <a:extLst>
              <a:ext uri="{FF2B5EF4-FFF2-40B4-BE49-F238E27FC236}">
                <a16:creationId xmlns:a16="http://schemas.microsoft.com/office/drawing/2014/main" id="{EB242A70-EE72-4F3B-AC16-2DB8ECE89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513" y="4572000"/>
            <a:ext cx="72263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A doubly node typically has a data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component and a reference to the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next node and the previous node.</a:t>
            </a:r>
          </a:p>
        </p:txBody>
      </p:sp>
      <p:grpSp>
        <p:nvGrpSpPr>
          <p:cNvPr id="8" name="Group 7" descr="A single node with a memory location of 0xF2. It has three parts: a reference to the previous node, the value, and a reference to the next node.&#10;This node stores: null, &quot;B&quot;, null">
            <a:extLst>
              <a:ext uri="{FF2B5EF4-FFF2-40B4-BE49-F238E27FC236}">
                <a16:creationId xmlns:a16="http://schemas.microsoft.com/office/drawing/2014/main" id="{9ECA5102-EB13-A6E1-E565-D407B87907A0}"/>
              </a:ext>
            </a:extLst>
          </p:cNvPr>
          <p:cNvGrpSpPr/>
          <p:nvPr/>
        </p:nvGrpSpPr>
        <p:grpSpPr>
          <a:xfrm>
            <a:off x="3003972" y="2209800"/>
            <a:ext cx="2502600" cy="1239310"/>
            <a:chOff x="3003972" y="2209800"/>
            <a:chExt cx="2502600" cy="123931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73D2F0A-FB9F-26F8-4738-83A02813D2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03972" y="2638272"/>
              <a:ext cx="2487384" cy="810838"/>
            </a:xfrm>
            <a:prstGeom prst="rect">
              <a:avLst/>
            </a:prstGeom>
          </p:spPr>
        </p:pic>
        <p:grpSp>
          <p:nvGrpSpPr>
            <p:cNvPr id="2" name="Group 1" descr="A single node with a memory location of 0xF2. It has three parts: a reference to the previous node, the value, and a reference to the next node.&#10;This node stores: null, &quot;B&quot;, null">
              <a:extLst>
                <a:ext uri="{FF2B5EF4-FFF2-40B4-BE49-F238E27FC236}">
                  <a16:creationId xmlns:a16="http://schemas.microsoft.com/office/drawing/2014/main" id="{3DBA4920-5761-C138-576B-1903AEDDC8FA}"/>
                </a:ext>
              </a:extLst>
            </p:cNvPr>
            <p:cNvGrpSpPr/>
            <p:nvPr/>
          </p:nvGrpSpPr>
          <p:grpSpPr>
            <a:xfrm>
              <a:off x="3068172" y="2209800"/>
              <a:ext cx="2438400" cy="1040652"/>
              <a:chOff x="3068172" y="2209800"/>
              <a:chExt cx="2438400" cy="1040652"/>
            </a:xfrm>
          </p:grpSpPr>
          <p:sp>
            <p:nvSpPr>
              <p:cNvPr id="112645" name="Text Box 10">
                <a:extLst>
                  <a:ext uri="{FF2B5EF4-FFF2-40B4-BE49-F238E27FC236}">
                    <a16:creationId xmlns:a16="http://schemas.microsoft.com/office/drawing/2014/main" id="{D8E7BEC5-2413-4BB8-8D4C-34F6519BDF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86200" y="2209800"/>
                <a:ext cx="9906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1" dirty="0">
                    <a:solidFill>
                      <a:srgbClr val="0000CC"/>
                    </a:solidFill>
                    <a:latin typeface="Tahoma" panose="020B0604030504040204" pitchFamily="34" charset="0"/>
                  </a:rPr>
                  <a:t>0xF2</a:t>
                </a:r>
              </a:p>
            </p:txBody>
          </p:sp>
          <p:sp>
            <p:nvSpPr>
              <p:cNvPr id="112644" name="Text Box 7">
                <a:extLst>
                  <a:ext uri="{FF2B5EF4-FFF2-40B4-BE49-F238E27FC236}">
                    <a16:creationId xmlns:a16="http://schemas.microsoft.com/office/drawing/2014/main" id="{9996665C-99D8-4705-B367-63E59CAC3A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88544" y="2793252"/>
                <a:ext cx="818028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400" b="1" dirty="0">
                    <a:latin typeface="Tahoma" panose="020B0604030504040204" pitchFamily="34" charset="0"/>
                  </a:rPr>
                  <a:t>null</a:t>
                </a:r>
              </a:p>
            </p:txBody>
          </p:sp>
          <p:sp>
            <p:nvSpPr>
              <p:cNvPr id="112648" name="Text Box 15">
                <a:extLst>
                  <a:ext uri="{FF2B5EF4-FFF2-40B4-BE49-F238E27FC236}">
                    <a16:creationId xmlns:a16="http://schemas.microsoft.com/office/drawing/2014/main" id="{FF2F9AC5-8BA6-4349-9429-53C43F6DE6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68172" y="2768600"/>
                <a:ext cx="818028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400" b="1" dirty="0">
                    <a:latin typeface="Tahoma" panose="020B0604030504040204" pitchFamily="34" charset="0"/>
                  </a:rPr>
                  <a:t>null</a:t>
                </a:r>
              </a:p>
            </p:txBody>
          </p:sp>
        </p:grp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Footer Placeholder 3">
            <a:extLst>
              <a:ext uri="{FF2B5EF4-FFF2-40B4-BE49-F238E27FC236}">
                <a16:creationId xmlns:a16="http://schemas.microsoft.com/office/drawing/2014/main" id="{9AB6CD3A-F3B4-4791-928F-13BE7B2D5DA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9D77A4D5-538F-4944-B217-CEB21B6B7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50812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MS LineDraw" charset="2"/>
            </a:endParaRPr>
          </a:p>
        </p:txBody>
      </p:sp>
      <p:sp>
        <p:nvSpPr>
          <p:cNvPr id="114693" name="WordArt 7">
            <a:extLst>
              <a:ext uri="{FF2B5EF4-FFF2-40B4-BE49-F238E27FC236}">
                <a16:creationId xmlns:a16="http://schemas.microsoft.com/office/drawing/2014/main" id="{D8BA58D4-C866-4AC3-8CB1-7E732DC130B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762000"/>
            <a:ext cx="75438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A DoublyNode</a:t>
            </a:r>
          </a:p>
        </p:txBody>
      </p:sp>
      <p:graphicFrame>
        <p:nvGraphicFramePr>
          <p:cNvPr id="229386" name="Group 10">
            <a:extLst>
              <a:ext uri="{FF2B5EF4-FFF2-40B4-BE49-F238E27FC236}">
                <a16:creationId xmlns:a16="http://schemas.microsoft.com/office/drawing/2014/main" id="{F0C0C9C8-5DE9-4FF3-AF27-D99962183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4309540"/>
              </p:ext>
            </p:extLst>
          </p:nvPr>
        </p:nvGraphicFramePr>
        <p:xfrm>
          <a:off x="6002591" y="2819400"/>
          <a:ext cx="2438400" cy="736600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6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9401" name="Group 25">
            <a:extLst>
              <a:ext uri="{FF2B5EF4-FFF2-40B4-BE49-F238E27FC236}">
                <a16:creationId xmlns:a16="http://schemas.microsoft.com/office/drawing/2014/main" id="{0A8DCB6F-F444-479C-B5BF-29225661B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497477"/>
              </p:ext>
            </p:extLst>
          </p:nvPr>
        </p:nvGraphicFramePr>
        <p:xfrm>
          <a:off x="481783" y="2819400"/>
          <a:ext cx="2438400" cy="736600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6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4715" name="Text Box 37">
            <a:extLst>
              <a:ext uri="{FF2B5EF4-FFF2-40B4-BE49-F238E27FC236}">
                <a16:creationId xmlns:a16="http://schemas.microsoft.com/office/drawing/2014/main" id="{6EDD1316-2239-4B45-8047-0D614093C4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513" y="4572000"/>
            <a:ext cx="7500937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Doubly nodes can be used to make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a circular linked list where the front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points at the back and vice versa.</a:t>
            </a:r>
          </a:p>
        </p:txBody>
      </p:sp>
      <p:grpSp>
        <p:nvGrpSpPr>
          <p:cNvPr id="7" name="Group 6" descr="Three double nodes stored at memory locations 0xF2, 0xF3, and 0xF4.&#10;First node stores: 0xF4, &quot;A&quot;, 0xF3&#10;so the 2nd node is after the 1st node and the last node is before it.&#10;Second node: 0xF2, &quot;B&quot;, 0xF4&#10;Third node: 0xF3, &quot;C&quot;, 0xF2&#10;so the 2nd node is before the 3rd node and the first node is after it">
            <a:extLst>
              <a:ext uri="{FF2B5EF4-FFF2-40B4-BE49-F238E27FC236}">
                <a16:creationId xmlns:a16="http://schemas.microsoft.com/office/drawing/2014/main" id="{2BB51D4A-E2C4-DE32-4247-1903170C6BA2}"/>
              </a:ext>
            </a:extLst>
          </p:cNvPr>
          <p:cNvGrpSpPr/>
          <p:nvPr/>
        </p:nvGrpSpPr>
        <p:grpSpPr>
          <a:xfrm>
            <a:off x="481783" y="2362200"/>
            <a:ext cx="8187808" cy="946150"/>
            <a:chOff x="481783" y="2362200"/>
            <a:chExt cx="8187808" cy="946150"/>
          </a:xfrm>
        </p:grpSpPr>
        <p:sp>
          <p:nvSpPr>
            <p:cNvPr id="114692" name="Text Box 6">
              <a:extLst>
                <a:ext uri="{FF2B5EF4-FFF2-40B4-BE49-F238E27FC236}">
                  <a16:creationId xmlns:a16="http://schemas.microsoft.com/office/drawing/2014/main" id="{0F57AB58-A323-48BB-8968-98739F527C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0791" y="23622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0xF4</a:t>
              </a:r>
            </a:p>
          </p:txBody>
        </p:sp>
        <p:sp>
          <p:nvSpPr>
            <p:cNvPr id="114704" name="Text Box 23">
              <a:extLst>
                <a:ext uri="{FF2B5EF4-FFF2-40B4-BE49-F238E27FC236}">
                  <a16:creationId xmlns:a16="http://schemas.microsoft.com/office/drawing/2014/main" id="{D5BD602D-0BF8-4D6E-8C99-46DB40D100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9983" y="23622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114716" name="Text Box 38">
              <a:extLst>
                <a:ext uri="{FF2B5EF4-FFF2-40B4-BE49-F238E27FC236}">
                  <a16:creationId xmlns:a16="http://schemas.microsoft.com/office/drawing/2014/main" id="{B46AE38E-099A-4120-9E7C-D185F73059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02591" y="29718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0xF3</a:t>
              </a:r>
            </a:p>
          </p:txBody>
        </p:sp>
        <p:sp>
          <p:nvSpPr>
            <p:cNvPr id="114717" name="Text Box 39">
              <a:extLst>
                <a:ext uri="{FF2B5EF4-FFF2-40B4-BE49-F238E27FC236}">
                  <a16:creationId xmlns:a16="http://schemas.microsoft.com/office/drawing/2014/main" id="{94E21E80-384A-4B73-9B27-0B9FB2A6B5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78991" y="29718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114718" name="Text Box 40">
              <a:extLst>
                <a:ext uri="{FF2B5EF4-FFF2-40B4-BE49-F238E27FC236}">
                  <a16:creationId xmlns:a16="http://schemas.microsoft.com/office/drawing/2014/main" id="{34ABFBC6-DA01-4077-8990-63FAEBC21D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7344" y="2971800"/>
              <a:ext cx="712839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0xF3</a:t>
              </a:r>
            </a:p>
          </p:txBody>
        </p:sp>
        <p:sp>
          <p:nvSpPr>
            <p:cNvPr id="114719" name="Text Box 41">
              <a:extLst>
                <a:ext uri="{FF2B5EF4-FFF2-40B4-BE49-F238E27FC236}">
                  <a16:creationId xmlns:a16="http://schemas.microsoft.com/office/drawing/2014/main" id="{0C0DA64D-FFA2-4BAA-881D-0DD9447AAB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783" y="29718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0xF4</a:t>
              </a:r>
            </a:p>
          </p:txBody>
        </p:sp>
      </p:grpSp>
      <p:graphicFrame>
        <p:nvGraphicFramePr>
          <p:cNvPr id="3" name="Group 25">
            <a:extLst>
              <a:ext uri="{FF2B5EF4-FFF2-40B4-BE49-F238E27FC236}">
                <a16:creationId xmlns:a16="http://schemas.microsoft.com/office/drawing/2014/main" id="{667ABF50-2FFD-A97D-AC77-78EB3B46AA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096985"/>
              </p:ext>
            </p:extLst>
          </p:nvPr>
        </p:nvGraphicFramePr>
        <p:xfrm>
          <a:off x="3261855" y="2813051"/>
          <a:ext cx="2438400" cy="736600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6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 Box 23">
            <a:extLst>
              <a:ext uri="{FF2B5EF4-FFF2-40B4-BE49-F238E27FC236}">
                <a16:creationId xmlns:a16="http://schemas.microsoft.com/office/drawing/2014/main" id="{7E0AA1F6-9A36-7710-94D4-F1640C111A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0055" y="2355851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solidFill>
                  <a:srgbClr val="0000CC"/>
                </a:solidFill>
                <a:latin typeface="Tahoma" panose="020B0604030504040204" pitchFamily="34" charset="0"/>
              </a:rPr>
              <a:t>0xF3</a:t>
            </a:r>
          </a:p>
        </p:txBody>
      </p:sp>
      <p:sp>
        <p:nvSpPr>
          <p:cNvPr id="5" name="Text Box 40">
            <a:extLst>
              <a:ext uri="{FF2B5EF4-FFF2-40B4-BE49-F238E27FC236}">
                <a16:creationId xmlns:a16="http://schemas.microsoft.com/office/drawing/2014/main" id="{6C30E119-163D-DEDE-6166-83FC74418E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8255" y="2965451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0xF4</a:t>
            </a:r>
          </a:p>
        </p:txBody>
      </p:sp>
      <p:sp>
        <p:nvSpPr>
          <p:cNvPr id="6" name="Text Box 41">
            <a:extLst>
              <a:ext uri="{FF2B5EF4-FFF2-40B4-BE49-F238E27FC236}">
                <a16:creationId xmlns:a16="http://schemas.microsoft.com/office/drawing/2014/main" id="{5E6BE5DC-BF9B-A54C-7E27-EABAD0C24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1855" y="2965451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solidFill>
                  <a:srgbClr val="0000CC"/>
                </a:solidFill>
                <a:latin typeface="Tahoma" panose="020B0604030504040204" pitchFamily="34" charset="0"/>
              </a:rPr>
              <a:t>0xF2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Footer Placeholder 3">
            <a:extLst>
              <a:ext uri="{FF2B5EF4-FFF2-40B4-BE49-F238E27FC236}">
                <a16:creationId xmlns:a16="http://schemas.microsoft.com/office/drawing/2014/main" id="{1F7B54EA-B864-42B3-97CD-95D619EF914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66563" name="WordArt 2">
            <a:extLst>
              <a:ext uri="{FF2B5EF4-FFF2-40B4-BE49-F238E27FC236}">
                <a16:creationId xmlns:a16="http://schemas.microsoft.com/office/drawing/2014/main" id="{EFF04108-5A20-4143-AD6B-BF7AAB0C4F2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81989" y="828675"/>
            <a:ext cx="85344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12700">
                  <a:solidFill>
                    <a:srgbClr val="EAEAEA"/>
                  </a:solidFill>
                  <a:round/>
                  <a:headEnd type="none" w="sm" len="sm"/>
                  <a:tailEnd type="none" w="sm" len="sm"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Java Collections – LinkedList</a:t>
            </a:r>
          </a:p>
        </p:txBody>
      </p:sp>
      <p:sp>
        <p:nvSpPr>
          <p:cNvPr id="66564" name="Text Box 3">
            <a:extLst>
              <a:ext uri="{FF2B5EF4-FFF2-40B4-BE49-F238E27FC236}">
                <a16:creationId xmlns:a16="http://schemas.microsoft.com/office/drawing/2014/main" id="{C7C68E4C-7803-4F2E-995A-59E5BE8F8A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378" y="1514475"/>
            <a:ext cx="8227622" cy="2985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tabLst>
                <a:tab pos="5083175" algn="l"/>
              </a:tabLst>
            </a:pPr>
            <a:r>
              <a:rPr lang="en-US" altLang="en-US" sz="4400" b="1" dirty="0">
                <a:latin typeface="Tahoma" panose="020B0604030504040204" pitchFamily="34" charset="0"/>
              </a:rPr>
              <a:t>	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br>
              <a:rPr lang="en-US" altLang="en-US" sz="4800" b="1" dirty="0">
                <a:solidFill>
                  <a:schemeClr val="accent2"/>
                </a:solidFill>
                <a:latin typeface="Tahoma" panose="020B0604030504040204" pitchFamily="34" charset="0"/>
              </a:rPr>
            </a:br>
            <a:r>
              <a:rPr lang="en-US" altLang="en-US" sz="4800" b="1" dirty="0">
                <a:solidFill>
                  <a:schemeClr val="accent2"/>
                </a:solidFill>
                <a:latin typeface="Tahoma" panose="020B0604030504040204" pitchFamily="34" charset="0"/>
              </a:rPr>
              <a:t>Java’s LinkedList class is a doubly linked list.</a:t>
            </a:r>
          </a:p>
        </p:txBody>
      </p:sp>
    </p:spTree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se143-13wi">
  <a:themeElements>
    <a:clrScheme name="Custom 1">
      <a:dk1>
        <a:sysClr val="windowText" lastClr="000000"/>
      </a:dk1>
      <a:lt1>
        <a:sysClr val="window" lastClr="FFFFFF"/>
      </a:lt1>
      <a:dk2>
        <a:srgbClr val="242852"/>
      </a:dk2>
      <a:lt2>
        <a:srgbClr val="6C7E9C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C:\MSOffice\Templates\Blank Presentation.pot</Template>
  <TotalTime>3062</TotalTime>
  <Words>1806</Words>
  <Application>Microsoft Office PowerPoint</Application>
  <PresentationFormat>On-screen Show (4:3)</PresentationFormat>
  <Paragraphs>502</Paragraphs>
  <Slides>32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45" baseType="lpstr">
      <vt:lpstr>ＭＳ Ｐゴシック</vt:lpstr>
      <vt:lpstr>Andale Mono</vt:lpstr>
      <vt:lpstr>Arial Black</vt:lpstr>
      <vt:lpstr>Courier New</vt:lpstr>
      <vt:lpstr>Impact</vt:lpstr>
      <vt:lpstr>MS LineDraw</vt:lpstr>
      <vt:lpstr>Tahoma</vt:lpstr>
      <vt:lpstr>Times New Roman</vt:lpstr>
      <vt:lpstr>Verdana</vt:lpstr>
      <vt:lpstr>Wingdings</vt:lpstr>
      <vt:lpstr>Wingdings 2</vt:lpstr>
      <vt:lpstr>Blank Presentation</vt:lpstr>
      <vt:lpstr>cse143-13wi</vt:lpstr>
      <vt:lpstr>PowerPoint Presentation</vt:lpstr>
      <vt:lpstr>PowerPoint Presentation</vt:lpstr>
      <vt:lpstr>Typical Linked List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www.apluscompsci.com</Manager>
  <Company>A+ Computer Science</Company>
  <LinksUpToDate>false</LinksUpToDate>
  <SharedDoc>false</SharedDoc>
  <HyperlinkBase>www.apluscompsci.com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linkedlists</dc:title>
  <dc:subject>Linked Lists</dc:subject>
  <dc:creator>A+ Computer Science</dc:creator>
  <cp:keywords>www.apluscompsci.com</cp:keywords>
  <dc:description>Linked Lists_x000d_
©A+ Computer Science_x000d_
www.apluscompsci.com</dc:description>
  <cp:lastModifiedBy>Weldon Jasik</cp:lastModifiedBy>
  <cp:revision>514</cp:revision>
  <cp:lastPrinted>2000-10-05T14:12:58Z</cp:lastPrinted>
  <dcterms:created xsi:type="dcterms:W3CDTF">1995-06-17T23:31:02Z</dcterms:created>
  <dcterms:modified xsi:type="dcterms:W3CDTF">2026-01-08T17:32:36Z</dcterms:modified>
  <cp:category>www.apluscompsci.com</cp:category>
</cp:coreProperties>
</file>
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95" r:id="rId2"/>
    <p:sldId id="395" r:id="rId3"/>
    <p:sldId id="341" r:id="rId4"/>
    <p:sldId id="399" r:id="rId5"/>
    <p:sldId id="400" r:id="rId6"/>
    <p:sldId id="394" r:id="rId7"/>
    <p:sldId id="396" r:id="rId8"/>
    <p:sldId id="439" r:id="rId9"/>
    <p:sldId id="449" r:id="rId10"/>
    <p:sldId id="446" r:id="rId11"/>
    <p:sldId id="441" r:id="rId12"/>
    <p:sldId id="442" r:id="rId13"/>
    <p:sldId id="443" r:id="rId14"/>
    <p:sldId id="447" r:id="rId15"/>
    <p:sldId id="438" r:id="rId16"/>
    <p:sldId id="271" r:id="rId17"/>
    <p:sldId id="416" r:id="rId18"/>
    <p:sldId id="451" r:id="rId19"/>
    <p:sldId id="450" r:id="rId20"/>
    <p:sldId id="452" r:id="rId21"/>
    <p:sldId id="453" r:id="rId22"/>
    <p:sldId id="320" r:id="rId23"/>
    <p:sldId id="279" r:id="rId24"/>
    <p:sldId id="272" r:id="rId25"/>
    <p:sldId id="318" r:id="rId26"/>
    <p:sldId id="322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336633"/>
    <a:srgbClr val="0000FF"/>
    <a:srgbClr val="0000CC"/>
    <a:srgbClr val="330099"/>
    <a:srgbClr val="E7F6EF"/>
    <a:srgbClr val="CBECDE"/>
    <a:srgbClr val="A50021"/>
    <a:srgbClr val="CC3300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4497" autoAdjust="0"/>
  </p:normalViewPr>
  <p:slideViewPr>
    <p:cSldViewPr snapToGrid="0">
      <p:cViewPr varScale="1">
        <p:scale>
          <a:sx n="56" d="100"/>
          <a:sy n="56" d="100"/>
        </p:scale>
        <p:origin x="3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E1C7FE-6D5D-4926-B791-A5A073EB60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57C2E5F-0F77-45B3-BFAD-730BE9C67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339F086-A443-49B0-833A-45202E3A93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E219260-F2BF-4AE8-8775-299BC8A0A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C781927-0204-421F-9C4A-74F74D11B4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E79801D-234D-4184-9EBD-DE0AADE9C6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D4CC514-51AA-4CD9-A097-DAE1FEE36A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3E52E4E-39E9-4C18-843C-450C4F580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994E341-00A5-48BB-9CB8-1F00AF268A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5C2CF8-B73A-44F1-93DE-BE0A4E8C1D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E064823-4023-4638-9026-0D7DC392DD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C4CE4D-3C45-45B7-8887-CB276A127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Generic list algorithms are encouraged to check whether the given list is an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instanceof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this interface before applying an algorithm that would provide poor performance if it were applied to a sequential access list, and to alter their behavior if necessary to guarantee acceptable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000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Generic list algorithms are encouraged to check whether the given list is an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instanceof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this interface before applying an algorithm that would provide poor performance if it were applied to a sequential access list, and to alter their behavior if necessary to guarantee acceptable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6236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6320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 a rule of thumb, a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implementation should implement the </a:t>
            </a:r>
            <a:r>
              <a:rPr lang="en-US" altLang="en-US" dirty="0" err="1">
                <a:solidFill>
                  <a:srgbClr val="353833"/>
                </a:solidFill>
                <a:cs typeface="Arial" panose="020B0604020202020204" pitchFamily="34" charset="0"/>
              </a:rPr>
              <a:t>RandomAccess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interface if, for typical instances of the class, the first loop runs faster than the second loop.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72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64C12463-283F-4524-AEF7-2A54FB51D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BF787BC-D790-4387-8E43-A75B0B18F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835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975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599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FDABFA8-7054-482C-B414-2C98AE53D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84D196A6-787B-487E-8F9B-A62004B9AD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78655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6F0482D5-305C-412C-8F42-1889655C0A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AECAB20-803D-471E-AF6C-99D1832D0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98B11C-A25C-4534-8229-00B83CD3B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17D330DA-D20D-474C-8F99-2EC85443C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67428B6-C1C1-4D2C-AAD4-324D2E87AA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4157CC1A-E369-4007-824C-2E2E1C9C1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C2B01E3-D7D8-462C-86B6-7E79817736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038FB14-7560-4C3B-B9EC-ECE294108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C436ECF-3E6B-4665-ABA7-2794B6014A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4F64F6E-FD33-4346-A98A-105E3019B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6D92DB2B-2155-4F5F-99E7-B18BB761AC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5" name="WordArt 2051">
            <a:extLst>
              <a:ext uri="{FF2B5EF4-FFF2-40B4-BE49-F238E27FC236}">
                <a16:creationId xmlns:a16="http://schemas.microsoft.com/office/drawing/2014/main" id="{7DFF32C8-567A-4276-B358-D3FB81A000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828800"/>
            <a:ext cx="7010400" cy="1371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31F1F338-376B-4554-8E45-7B37034627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WordArt 2">
            <a:extLst>
              <a:ext uri="{FF2B5EF4-FFF2-40B4-BE49-F238E27FC236}">
                <a16:creationId xmlns:a16="http://schemas.microsoft.com/office/drawing/2014/main" id="{1E5E84A7-8A4F-4BE0-921C-730522B0466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Java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ArrayList class implements the RandomAccess interface and extends the AbstractList class, which implements the List interface.&#10;The LinkedList class extends the AbstractSequentialList class, which extends the AbstractList class, which implements the List interfaces.&#10;&#10;Here is a description of the rest of the Java Collections Hierarchy:&#10;Java Collections Hierarchy Relationships Enumerated with Abstract Classes&#10;&#10;Collections&#10;Collection interface extends Iterable Interface and is the root of the collections hierarchy.&#10;List and Set interfaces extend Collection interface&#10;AbstractCollection class implements Collection interface&#10;AbstractList class extends AbstractCollection class and implements List interface&#10;AbstractSet class extends AbstractCollection class and implements Set interface&#10;ArrayList class extends AbstractList class and implements List and RandomAccess interfaces&#10;AbstractSequentialList class extends AbstractList class and implements List interface&#10;LinkedList class extends AbstractSequentialList class and implements List interface&#10;AbstractSet class extends AbstractCollection class and implements Collection interface&#10;HashSet class extends AbstractSet class and implements Set interface&#10;SortedSet interface extends Set interface&#10;TreeSet class extends AbstractSet class and implements SortedSet class&#10;&#10;Maps&#10;Map interface is the root of the map hierarchy&#10;AbstractMap class implements Map interface&#10;HashMap class extends AbstractMap class and implements Map interface&#10;SortedMap interface extends Map&#10;TreeMap class implements SortMap interface">
            <a:extLst>
              <a:ext uri="{FF2B5EF4-FFF2-40B4-BE49-F238E27FC236}">
                <a16:creationId xmlns:a16="http://schemas.microsoft.com/office/drawing/2014/main" id="{40C887D3-5145-4CC1-BA34-C2A4F0ABB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04800"/>
            <a:ext cx="8979294" cy="6400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016884-C718-402D-9919-0F3881BD6143}"/>
              </a:ext>
            </a:extLst>
          </p:cNvPr>
          <p:cNvSpPr txBox="1"/>
          <p:nvPr/>
        </p:nvSpPr>
        <p:spPr>
          <a:xfrm>
            <a:off x="1828800" y="838200"/>
            <a:ext cx="9906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 err="1">
                <a:latin typeface="Trebuchet MS" panose="020B0603020202020204" pitchFamily="34" charset="0"/>
              </a:rPr>
              <a:t>Iterable</a:t>
            </a:r>
            <a:endParaRPr lang="en-US" sz="1800" b="0" dirty="0">
              <a:latin typeface="Trebuchet MS" panose="020B0603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9765AFD-0C3A-4F60-B85F-C17BE870CA14}"/>
              </a:ext>
            </a:extLst>
          </p:cNvPr>
          <p:cNvCxnSpPr/>
          <p:nvPr/>
        </p:nvCxnSpPr>
        <p:spPr bwMode="auto">
          <a:xfrm flipV="1">
            <a:off x="2362200" y="1115199"/>
            <a:ext cx="0" cy="40880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B79148-C696-4DD5-AB6A-E013D52ECCDC}"/>
              </a:ext>
            </a:extLst>
          </p:cNvPr>
          <p:cNvSpPr txBox="1"/>
          <p:nvPr/>
        </p:nvSpPr>
        <p:spPr>
          <a:xfrm>
            <a:off x="990600" y="5562600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0" dirty="0">
                <a:solidFill>
                  <a:srgbClr val="7030A0"/>
                </a:solidFill>
                <a:latin typeface="Trebuchet MS" panose="020B0603020202020204" pitchFamily="34" charset="0"/>
              </a:rPr>
              <a:t>Vector</a:t>
            </a:r>
            <a:endParaRPr lang="en-US" sz="1800" b="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0B6BE0-3854-4AEE-904C-33C8ADC94230}"/>
              </a:ext>
            </a:extLst>
          </p:cNvPr>
          <p:cNvCxnSpPr/>
          <p:nvPr/>
        </p:nvCxnSpPr>
        <p:spPr bwMode="auto">
          <a:xfrm flipV="1">
            <a:off x="1514797" y="5137219"/>
            <a:ext cx="588323" cy="43844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D1CBE4-0783-4B2D-95AC-F39855A8EFC0}"/>
              </a:ext>
            </a:extLst>
          </p:cNvPr>
          <p:cNvSpPr txBox="1"/>
          <p:nvPr/>
        </p:nvSpPr>
        <p:spPr>
          <a:xfrm>
            <a:off x="990600" y="6259286"/>
            <a:ext cx="990600" cy="276999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Trebuchet MS" panose="020B0603020202020204" pitchFamily="34" charset="0"/>
              </a:rPr>
              <a:t>Stack</a:t>
            </a:r>
            <a:endParaRPr lang="en-US" sz="1800" dirty="0">
              <a:solidFill>
                <a:srgbClr val="7030A0"/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AAEDD9-A600-419E-A107-D14A91628D2A}"/>
              </a:ext>
            </a:extLst>
          </p:cNvPr>
          <p:cNvCxnSpPr/>
          <p:nvPr/>
        </p:nvCxnSpPr>
        <p:spPr bwMode="auto">
          <a:xfrm flipH="1">
            <a:off x="336550" y="5701100"/>
            <a:ext cx="65405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7030A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875BB73-D42C-49CA-A520-4FC437C67BED}"/>
              </a:ext>
            </a:extLst>
          </p:cNvPr>
          <p:cNvSpPr/>
          <p:nvPr/>
        </p:nvSpPr>
        <p:spPr bwMode="auto">
          <a:xfrm>
            <a:off x="1460665" y="5854535"/>
            <a:ext cx="88425" cy="391886"/>
          </a:xfrm>
          <a:custGeom>
            <a:avLst/>
            <a:gdLst>
              <a:gd name="connsiteX0" fmla="*/ 0 w 88425"/>
              <a:gd name="connsiteY0" fmla="*/ 391886 h 391886"/>
              <a:gd name="connsiteX1" fmla="*/ 71252 w 88425"/>
              <a:gd name="connsiteY1" fmla="*/ 308759 h 391886"/>
              <a:gd name="connsiteX2" fmla="*/ 83127 w 88425"/>
              <a:gd name="connsiteY2" fmla="*/ 142504 h 391886"/>
              <a:gd name="connsiteX3" fmla="*/ 0 w 88425"/>
              <a:gd name="connsiteY3" fmla="*/ 0 h 39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425" h="391886">
                <a:moveTo>
                  <a:pt x="0" y="391886"/>
                </a:moveTo>
                <a:cubicBezTo>
                  <a:pt x="28699" y="371104"/>
                  <a:pt x="57398" y="350323"/>
                  <a:pt x="71252" y="308759"/>
                </a:cubicBezTo>
                <a:cubicBezTo>
                  <a:pt x="85107" y="267195"/>
                  <a:pt x="95002" y="193964"/>
                  <a:pt x="83127" y="142504"/>
                </a:cubicBezTo>
                <a:cubicBezTo>
                  <a:pt x="71252" y="91044"/>
                  <a:pt x="35626" y="45522"/>
                  <a:pt x="0" y="0"/>
                </a:cubicBezTo>
              </a:path>
            </a:pathLst>
          </a:cu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86E69A3-FCEF-486C-B47F-880C4DE51B13}"/>
              </a:ext>
            </a:extLst>
          </p:cNvPr>
          <p:cNvSpPr/>
          <p:nvPr/>
        </p:nvSpPr>
        <p:spPr bwMode="auto">
          <a:xfrm>
            <a:off x="1514065" y="3213463"/>
            <a:ext cx="1473075" cy="2351314"/>
          </a:xfrm>
          <a:custGeom>
            <a:avLst/>
            <a:gdLst>
              <a:gd name="connsiteX0" fmla="*/ 14289 w 1473075"/>
              <a:gd name="connsiteY0" fmla="*/ 2351314 h 2351314"/>
              <a:gd name="connsiteX1" fmla="*/ 27352 w 1473075"/>
              <a:gd name="connsiteY1" fmla="*/ 2090057 h 2351314"/>
              <a:gd name="connsiteX2" fmla="*/ 262484 w 1473075"/>
              <a:gd name="connsiteY2" fmla="*/ 1867988 h 2351314"/>
              <a:gd name="connsiteX3" fmla="*/ 484552 w 1473075"/>
              <a:gd name="connsiteY3" fmla="*/ 1685108 h 2351314"/>
              <a:gd name="connsiteX4" fmla="*/ 628244 w 1473075"/>
              <a:gd name="connsiteY4" fmla="*/ 1371600 h 2351314"/>
              <a:gd name="connsiteX5" fmla="*/ 1046255 w 1473075"/>
              <a:gd name="connsiteY5" fmla="*/ 1240971 h 2351314"/>
              <a:gd name="connsiteX6" fmla="*/ 1398952 w 1473075"/>
              <a:gd name="connsiteY6" fmla="*/ 1018903 h 2351314"/>
              <a:gd name="connsiteX7" fmla="*/ 1464266 w 1473075"/>
              <a:gd name="connsiteY7" fmla="*/ 535577 h 2351314"/>
              <a:gd name="connsiteX8" fmla="*/ 1268324 w 1473075"/>
              <a:gd name="connsiteY8" fmla="*/ 261257 h 2351314"/>
              <a:gd name="connsiteX9" fmla="*/ 863375 w 1473075"/>
              <a:gd name="connsiteY9" fmla="*/ 0 h 235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73075" h="2351314">
                <a:moveTo>
                  <a:pt x="14289" y="2351314"/>
                </a:moveTo>
                <a:cubicBezTo>
                  <a:pt x="137" y="2260962"/>
                  <a:pt x="-14014" y="2170611"/>
                  <a:pt x="27352" y="2090057"/>
                </a:cubicBezTo>
                <a:cubicBezTo>
                  <a:pt x="68718" y="2009503"/>
                  <a:pt x="186284" y="1935480"/>
                  <a:pt x="262484" y="1867988"/>
                </a:cubicBezTo>
                <a:cubicBezTo>
                  <a:pt x="338684" y="1800496"/>
                  <a:pt x="423592" y="1767839"/>
                  <a:pt x="484552" y="1685108"/>
                </a:cubicBezTo>
                <a:cubicBezTo>
                  <a:pt x="545512" y="1602377"/>
                  <a:pt x="534627" y="1445623"/>
                  <a:pt x="628244" y="1371600"/>
                </a:cubicBezTo>
                <a:cubicBezTo>
                  <a:pt x="721861" y="1297577"/>
                  <a:pt x="917804" y="1299754"/>
                  <a:pt x="1046255" y="1240971"/>
                </a:cubicBezTo>
                <a:cubicBezTo>
                  <a:pt x="1174706" y="1182188"/>
                  <a:pt x="1329284" y="1136469"/>
                  <a:pt x="1398952" y="1018903"/>
                </a:cubicBezTo>
                <a:cubicBezTo>
                  <a:pt x="1468621" y="901337"/>
                  <a:pt x="1486037" y="661851"/>
                  <a:pt x="1464266" y="535577"/>
                </a:cubicBezTo>
                <a:cubicBezTo>
                  <a:pt x="1442495" y="409303"/>
                  <a:pt x="1368472" y="350520"/>
                  <a:pt x="1268324" y="261257"/>
                </a:cubicBezTo>
                <a:cubicBezTo>
                  <a:pt x="1168176" y="171994"/>
                  <a:pt x="1015775" y="85997"/>
                  <a:pt x="863375" y="0"/>
                </a:cubicBezTo>
              </a:path>
            </a:pathLst>
          </a:custGeom>
          <a:noFill/>
          <a:ln w="25400" cap="flat" cmpd="sng" algn="ctr">
            <a:solidFill>
              <a:srgbClr val="7030A0"/>
            </a:solidFill>
            <a:prstDash val="solid"/>
            <a:round/>
            <a:headEnd type="none" w="sm" len="sm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89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B428CE59-B1EF-4161-83B1-AB4483575A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WordArt 2">
            <a:extLst>
              <a:ext uri="{FF2B5EF4-FFF2-40B4-BE49-F238E27FC236}">
                <a16:creationId xmlns:a16="http://schemas.microsoft.com/office/drawing/2014/main" id="{7417F1E4-12D9-452D-8086-9CF8AB63CB9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143000"/>
            <a:ext cx="7086600" cy="4038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LinkedList</a:t>
            </a:r>
          </a:p>
          <a:p>
            <a:pPr algn="ctr"/>
            <a:r>
              <a:rPr lang="en-US" sz="3600" kern="10">
                <a:ln w="25400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E5CBC063-72BF-4055-A15D-B61C35E217B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graphicFrame>
        <p:nvGraphicFramePr>
          <p:cNvPr id="190466" name="Group 2">
            <a:extLst>
              <a:ext uri="{FF2B5EF4-FFF2-40B4-BE49-F238E27FC236}">
                <a16:creationId xmlns:a16="http://schemas.microsoft.com/office/drawing/2014/main" id="{DB66C98B-1371-4721-9256-150C29324102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533400"/>
          <a:ext cx="8077200" cy="4870451"/>
        </p:xfrm>
        <a:graphic>
          <a:graphicData uri="http://schemas.openxmlformats.org/drawingml/2006/table">
            <a:tbl>
              <a:tblPr/>
              <a:tblGrid>
                <a:gridCol w="2720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6375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</a:rPr>
                        <a:t>LinkedList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ahoma" pitchFamily="34" charset="0"/>
                        </a:rPr>
                        <a:t>frequently used methods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330099"/>
                          </a:solidFill>
                          <a:effectLst/>
                          <a:latin typeface="Tahoma" pitchFamily="34" charset="0"/>
                        </a:rPr>
                        <a:t>Use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1F4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adds item x to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set(x,y)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set location x to the value 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get the item at location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size()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returns the # of items in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1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an item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8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clear()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removes all items from the list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19" name="Text Box 30">
            <a:extLst>
              <a:ext uri="{FF2B5EF4-FFF2-40B4-BE49-F238E27FC236}">
                <a16:creationId xmlns:a16="http://schemas.microsoft.com/office/drawing/2014/main" id="{8DFB0C1E-8DB0-4253-82B4-58F415DDA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638800"/>
            <a:ext cx="5257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chemeClr val="accent2"/>
                </a:solidFill>
                <a:latin typeface="Tahoma" panose="020B0604030504040204" pitchFamily="34" charset="0"/>
              </a:rPr>
              <a:t>import  java.util.LinkedList;</a:t>
            </a:r>
            <a:endParaRPr lang="en-US" altLang="en-US" sz="20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784777E7-E6FC-446A-97B4-396AE14B74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6C09FD88-76F9-4F87-97F6-A38459C9C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524000"/>
            <a:ext cx="7620000" cy="430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out.println(list);</a:t>
            </a:r>
            <a:r>
              <a:rPr lang="en-US" altLang="en-US" b="1">
                <a:latin typeface="Tahoma" panose="020B0604030504040204" pitchFamily="34" charset="0"/>
              </a:rPr>
              <a:t>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	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7AD40D80-1599-423A-9737-05BFE1D3C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971800"/>
            <a:ext cx="2362200" cy="132397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[c, d, b, a]</a:t>
            </a:r>
          </a:p>
        </p:txBody>
      </p:sp>
      <p:sp>
        <p:nvSpPr>
          <p:cNvPr id="14341" name="WordArt 4">
            <a:extLst>
              <a:ext uri="{FF2B5EF4-FFF2-40B4-BE49-F238E27FC236}">
                <a16:creationId xmlns:a16="http://schemas.microsoft.com/office/drawing/2014/main" id="{F8F81176-FC67-492C-91DC-82B0805555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62844AAD-8948-4E1E-86C7-F3F82BE53CF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7DA2A9F-9928-48AF-9AD1-8ECB4827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8534400" cy="521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LinkedList&lt;String&gt; list;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 = new LinkedList&lt;String&gt;();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list.add("c");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list.add("b");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list.add("a");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list.add(1, "d");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out.println(list.get(0)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out.println(list.get(1) );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out.println("first " + list.getFirst());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out.println("last " + list.getLast());	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AAA72DA6-CF3A-48C5-8AAB-6ED0DDC1F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2362200"/>
            <a:ext cx="2057400" cy="25415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first c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last a</a:t>
            </a:r>
          </a:p>
        </p:txBody>
      </p:sp>
      <p:sp>
        <p:nvSpPr>
          <p:cNvPr id="16389" name="WordArt 4">
            <a:extLst>
              <a:ext uri="{FF2B5EF4-FFF2-40B4-BE49-F238E27FC236}">
                <a16:creationId xmlns:a16="http://schemas.microsoft.com/office/drawing/2014/main" id="{90A2166D-3D22-4AB5-9F6B-634B0152B2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381000"/>
            <a:ext cx="64008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25400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D69578-9D09-4AA8-B039-1FE15CE9D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846" y="334214"/>
            <a:ext cx="8603763" cy="58015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public interface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RandomAccess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Marker interface used by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 implementations to indicate that they support fast (generally constant time) random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primary purpose of this interface is to allow generic algorithms to alter their behavior to provide good performance when applied to either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or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The best algorithms for manipulating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random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ArrayList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 can produce quadratic behavior when applied to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sequential access lists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 (such as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  <a:cs typeface="Arial" panose="020B0604020202020204" pitchFamily="34" charset="0"/>
              </a:rPr>
              <a:t>LinkedList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cs typeface="Arial" panose="020B060402020202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56622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BDD69578-9D09-4AA8-B039-1FE15CE9DA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2846" y="1095960"/>
            <a:ext cx="8727334" cy="427809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>
                <a:solidFill>
                  <a:srgbClr val="353833"/>
                </a:solidFill>
                <a:latin typeface="Arial Unicode MS"/>
              </a:rPr>
              <a:t>Using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RandomAccess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 to make decisions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</a:b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&lt;T&gt;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binarySearch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</a:t>
            </a:r>
            <a:r>
              <a:rPr lang="en-US" sz="1800" b="1" dirty="0">
                <a:solidFill>
                  <a:srgbClr val="0000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List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&lt;?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extends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Comparable&lt;? </a:t>
            </a:r>
            <a:r>
              <a:rPr lang="en-US" sz="1800" b="1" dirty="0">
                <a:solidFill>
                  <a:srgbClr val="941EDF"/>
                </a:solidFill>
                <a:latin typeface="Courier New" panose="02070309020205020404" pitchFamily="49" charset="0"/>
              </a:rPr>
              <a:t>super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T&gt;&gt; list,</a:t>
            </a:r>
            <a:b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T key)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(list </a:t>
            </a:r>
            <a:r>
              <a:rPr lang="en-US" sz="2000" b="1" dirty="0" err="1">
                <a:solidFill>
                  <a:srgbClr val="941EDF"/>
                </a:solidFill>
                <a:latin typeface="Courier New" panose="02070309020205020404" pitchFamily="49" charset="0"/>
              </a:rPr>
              <a:t>instanceof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RandomAccess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|| 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list.size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()&lt;BINARYSEARCH_THRESHOLD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)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Collections.indexedBinarySearch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(list, key);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 </a:t>
            </a: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else</a:t>
            </a:r>
            <a:b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941EDF"/>
                </a:solidFill>
                <a:latin typeface="Courier New" panose="02070309020205020404" pitchFamily="49" charset="0"/>
              </a:rPr>
              <a:t>    return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Collections.iteratorBinarySearch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(list, key);</a:t>
            </a:r>
            <a:b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373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3376" y="919317"/>
            <a:ext cx="8405272" cy="46320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via indices:</a:t>
            </a:r>
            <a:endParaRPr lang="en-US" altLang="en-US" sz="3600" b="1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for (int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=0, n=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list.size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 &lt; n;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++)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list.get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spcAft>
                <a:spcPts val="1200"/>
              </a:spcAft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366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O(n)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RandomAccess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lists such as </a:t>
            </a:r>
            <a:r>
              <a:rPr kumimoji="0" lang="en-US" altLang="en-US" sz="3600" b="1" i="0" u="none" strike="noStrike" cap="none" normalizeH="0" baseline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ArrayLists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>
              <a:spcBef>
                <a:spcPct val="0"/>
              </a:spcBef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 is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O(n</a:t>
            </a:r>
            <a:r>
              <a:rPr kumimoji="0" lang="en-US" altLang="en-US" sz="3600" b="1" i="0" u="none" strike="noStrike" cap="none" normalizeH="0" baseline="3000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kumimoji="0" lang="en-US" altLang="en-US" sz="3600" b="1" i="0" u="none" strike="noStrike" cap="none" normalizeH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en-US" altLang="en-US" sz="3600" b="1" i="0" u="none" strike="noStrike" cap="none" normalizeH="0" dirty="0" err="1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LinkedLists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09414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688" y="925238"/>
            <a:ext cx="8810624" cy="32347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algn="ctr">
              <a:buNone/>
            </a:pPr>
            <a:r>
              <a:rPr lang="en-US" sz="3600" b="1" dirty="0" err="1">
                <a:solidFill>
                  <a:srgbClr val="FA6400"/>
                </a:solidFill>
                <a:latin typeface="Courier New" panose="02070309020205020404" pitchFamily="49" charset="0"/>
              </a:rPr>
              <a:t>ArrayList</a:t>
            </a:r>
            <a:r>
              <a:rPr lang="en-US" sz="3600" b="1" dirty="0">
                <a:solidFill>
                  <a:srgbClr val="FA6400"/>
                </a:solidFill>
                <a:latin typeface="Courier New" panose="02070309020205020404" pitchFamily="49" charset="0"/>
              </a:rPr>
              <a:t> get() method</a:t>
            </a:r>
          </a:p>
          <a:p>
            <a:pPr marL="0" indent="0">
              <a:buNone/>
            </a:pPr>
            <a:br>
              <a:rPr lang="en-US" sz="36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Objects.checkIndex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(index, size);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it-IT" dirty="0">
                <a:solidFill>
                  <a:srgbClr val="000000"/>
                </a:solidFill>
                <a:latin typeface="Courier New" panose="02070309020205020404" pitchFamily="49" charset="0"/>
              </a:rPr>
              <a:t>(E) elementData[index];</a:t>
            </a:r>
            <a:b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it-IT" sz="3600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69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316" y="-13419"/>
            <a:ext cx="8986684" cy="6694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rgbClr val="FA6400"/>
                </a:solidFill>
                <a:latin typeface="Courier New" panose="02070309020205020404" pitchFamily="49" charset="0"/>
              </a:rPr>
              <a:t>LinkedList get() method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lang="en-US" sz="2400" dirty="0">
                <a:solidFill>
                  <a:srgbClr val="FA64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E get(</a:t>
            </a:r>
            <a:r>
              <a:rPr lang="en-US" sz="2400" b="1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index)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0 || index &gt;= size)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throw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IndexOutOfBoundsException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"Index: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index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+ </a:t>
            </a:r>
            <a:r>
              <a:rPr lang="en-US" sz="2400" dirty="0">
                <a:solidFill>
                  <a:srgbClr val="00CB00"/>
                </a:solidFill>
                <a:latin typeface="Courier New" panose="02070309020205020404" pitchFamily="49" charset="0"/>
              </a:rPr>
              <a:t>", Size: "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 size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);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e = header;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(index &lt; (size &gt;&gt; 1))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&lt;=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e.next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{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(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= size;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&gt; index;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--)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 =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e.previous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  <a:r>
              <a:rPr lang="en-US" sz="2400" dirty="0">
                <a:solidFill>
                  <a:srgbClr val="941EDF"/>
                </a:solidFill>
                <a:latin typeface="Courier New" panose="02070309020205020404" pitchFamily="49" charset="0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e.element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  <a:b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82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9364" y="272621"/>
            <a:ext cx="8405272" cy="5247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b="1" dirty="0">
                <a:solidFill>
                  <a:srgbClr val="FF0000"/>
                </a:solidFill>
                <a:latin typeface="Courier New" panose="02070309020205020404" pitchFamily="49" charset="0"/>
              </a:rPr>
              <a:t>private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dirty="0">
                <a:solidFill>
                  <a:srgbClr val="941EDF"/>
                </a:solidFill>
                <a:latin typeface="Courier New" panose="02070309020205020404" pitchFamily="49" charset="0"/>
              </a:rPr>
              <a:t>static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600" b="1" dirty="0">
                <a:solidFill>
                  <a:srgbClr val="941EDF"/>
                </a:solidFill>
                <a:latin typeface="Courier New" panose="02070309020205020404" pitchFamily="49" charset="0"/>
              </a:rPr>
              <a:t>class</a:t>
            </a:r>
            <a:r>
              <a:rPr lang="en-US" sz="2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Entry&lt;E&gt; 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Entry&lt;E&gt;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Entry(E element,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next,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Entry&lt;E&gt; previous) {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.element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element;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.next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next;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   </a:t>
            </a:r>
            <a:r>
              <a:rPr lang="en-US" sz="2600" dirty="0" err="1">
                <a:solidFill>
                  <a:srgbClr val="941EDF"/>
                </a:solidFill>
                <a:latin typeface="Courier New" panose="02070309020205020404" pitchFamily="49" charset="0"/>
              </a:rPr>
              <a:t>this</a:t>
            </a:r>
            <a:r>
              <a:rPr lang="en-US" sz="2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.previous</a:t>
            </a: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= previous;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  <a:b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</a:br>
            <a:r>
              <a:rPr lang="en-US" sz="2600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CD58A-469C-1AD6-F9DB-98A001647664}"/>
              </a:ext>
            </a:extLst>
          </p:cNvPr>
          <p:cNvSpPr txBox="1"/>
          <p:nvPr/>
        </p:nvSpPr>
        <p:spPr>
          <a:xfrm>
            <a:off x="235974" y="5606898"/>
            <a:ext cx="89080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/>
              <a:t>Note that you don’t interact with a LinkedList’s nodes directly. You have to use the public methods.</a:t>
            </a:r>
          </a:p>
        </p:txBody>
      </p:sp>
    </p:spTree>
    <p:extLst>
      <p:ext uri="{BB962C8B-B14F-4D97-AF65-F5344CB8AC3E}">
        <p14:creationId xmlns:p14="http://schemas.microsoft.com/office/powerpoint/2010/main" val="105500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1304E-233D-4E91-8AC6-B6C904D860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53496" y="1273260"/>
            <a:ext cx="7185151" cy="392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Looping using an iterator: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600" dirty="0">
              <a:solidFill>
                <a:srgbClr val="353833"/>
              </a:solidFill>
              <a:cs typeface="Arial" panose="020B0604020202020204" pitchFamily="34" charset="0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Iterator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=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list.iterator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endParaRPr lang="en-US" altLang="en-US" sz="3600" dirty="0">
              <a:solidFill>
                <a:srgbClr val="330099"/>
              </a:solidFill>
              <a:latin typeface="Arial Unicode MS"/>
            </a:endParaRP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while (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i.hasNext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())  </a:t>
            </a:r>
          </a:p>
          <a:p>
            <a:pPr marL="461963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dirty="0">
                <a:solidFill>
                  <a:srgbClr val="330099"/>
                </a:solidFill>
                <a:latin typeface="Arial Unicode MS"/>
              </a:rPr>
              <a:t>     </a:t>
            </a:r>
            <a:r>
              <a:rPr kumimoji="0" lang="en-US" altLang="en-US" sz="3600" i="0" u="none" strike="noStrike" cap="none" normalizeH="0" baseline="0" dirty="0" err="1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i.next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  <a:latin typeface="Arial Unicode MS"/>
              </a:rPr>
              <a:t>();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30099"/>
                </a:solidFill>
                <a:effectLst/>
              </a:rPr>
              <a:t> </a:t>
            </a: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30099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rgbClr val="3538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altLang="en-US" sz="3600" b="1" dirty="0">
                <a:solidFill>
                  <a:srgbClr val="336633"/>
                </a:solidFill>
                <a:cs typeface="Arial" panose="020B0604020202020204" pitchFamily="34" charset="0"/>
              </a:rPr>
              <a:t>O(n)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ANY list: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rgbClr val="353833"/>
                </a:solidFill>
                <a:effectLst/>
                <a:latin typeface="Arial Unicode M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6775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492B25F-4ACC-4396-8406-F48E8A073AF4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262344766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947268632"/>
                    </a:ext>
                  </a:extLst>
                </a:gridCol>
              </a:tblGrid>
              <a:tr h="61617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</a:t>
                      </a:r>
                      <a:endParaRPr lang="en-US" sz="16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>
                    <a:solidFill>
                      <a:srgbClr val="3366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157584"/>
                  </a:ext>
                </a:extLst>
              </a:tr>
              <a:tr h="124472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dynamic array</a:t>
                      </a:r>
                      <a:b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Uses a doubly linked list</a:t>
                      </a:r>
                      <a:b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 store the elements.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4067080482"/>
                  </a:ext>
                </a:extLst>
              </a:tr>
              <a:tr h="2265449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slow since when any element is removed, all following bits are shifted in memory.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Manipulation is faster because no bit shifting is required in memory.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102102299"/>
                  </a:ext>
                </a:extLst>
              </a:tr>
              <a:tr h="1745263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only act as a list</a:t>
                      </a:r>
                      <a:br>
                        <a:rPr lang="en-US" sz="2400" b="0" u="non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since it only implements List.</a:t>
                      </a:r>
                    </a:p>
                  </a:txBody>
                  <a:tcPr marL="44618" marR="44618" marT="44618" marB="44618" anchor="ctr">
                    <a:solidFill>
                      <a:srgbClr val="CBECDE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u="non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Can act as a list or queue (including a stack) 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because it implements List and Deque interfaces.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999517526"/>
                  </a:ext>
                </a:extLst>
              </a:tr>
              <a:tr h="986384"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kern="1200" dirty="0" err="1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ArrayList</a:t>
                      </a:r>
                      <a:r>
                        <a:rPr lang="en-US" sz="2400" b="1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is better for storing and accessing data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</a:p>
                  </a:txBody>
                  <a:tcPr marL="44618" marR="44618" marT="44618" marB="44618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19050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LinkedList is better for manipulating data</a:t>
                      </a:r>
                      <a:r>
                        <a:rPr lang="en-US" sz="2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44618" marR="44618" marT="44618" marB="44618" anchor="ctr"/>
                </a:tc>
                <a:extLst>
                  <a:ext uri="{0D108BD9-81ED-4DB2-BD59-A6C34878D82A}">
                    <a16:rowId xmlns:a16="http://schemas.microsoft.com/office/drawing/2014/main" val="32549782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146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171E6A50-B66C-443B-9BE0-44005876F6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2227" name="WordArt 2">
            <a:extLst>
              <a:ext uri="{FF2B5EF4-FFF2-40B4-BE49-F238E27FC236}">
                <a16:creationId xmlns:a16="http://schemas.microsoft.com/office/drawing/2014/main" id="{AB7FE620-1FE0-462A-96A8-B130306E18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762000"/>
            <a:ext cx="7696200" cy="434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Comparing Runtimes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of Arrays &amp; Lists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234" y="1514475"/>
            <a:ext cx="5350566" cy="2247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Big-O notation is an assessment of an algorithm’s efficiency.  </a:t>
            </a:r>
            <a:br>
              <a:rPr lang="en-US" altLang="en-US" sz="2800" dirty="0">
                <a:latin typeface="Tahoma" panose="020B0604030504040204" pitchFamily="34" charset="0"/>
              </a:rPr>
            </a:br>
            <a:r>
              <a:rPr lang="en-US" altLang="en-US" sz="2800" dirty="0">
                <a:latin typeface="Tahoma" panose="020B0604030504040204" pitchFamily="34" charset="0"/>
              </a:rPr>
              <a:t>Big-O notation helps gauge the amount of work that is taking place.</a:t>
            </a: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5F9F0DC-5142-3EE9-BC56-F40A94886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557" y="1541522"/>
            <a:ext cx="2501249" cy="4879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Best to worst: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O(1)	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O(log</a:t>
            </a:r>
            <a:r>
              <a:rPr lang="en-US" altLang="en-US" sz="28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800" b="1" dirty="0">
                <a:latin typeface="Tahoma" panose="020B0604030504040204" pitchFamily="34" charset="0"/>
              </a:rPr>
              <a:t>N)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 log</a:t>
            </a:r>
            <a:r>
              <a:rPr lang="en-US" altLang="en-US" sz="28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800" b="1" dirty="0">
                <a:latin typeface="Tahoma" panose="020B0604030504040204" pitchFamily="34" charset="0"/>
              </a:rPr>
              <a:t>N)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2</a:t>
            </a:r>
            <a:r>
              <a:rPr lang="en-US" altLang="en-US" sz="2800" b="1" dirty="0">
                <a:latin typeface="Tahoma" panose="020B0604030504040204" pitchFamily="34" charset="0"/>
              </a:rPr>
              <a:t>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3</a:t>
            </a:r>
            <a:r>
              <a:rPr lang="en-US" altLang="en-US" sz="2800" b="1" dirty="0">
                <a:latin typeface="Tahoma" panose="020B0604030504040204" pitchFamily="34" charset="0"/>
              </a:rPr>
              <a:t>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O(2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N</a:t>
            </a:r>
            <a:r>
              <a:rPr lang="en-US" altLang="en-US" sz="2800" b="1" dirty="0">
                <a:latin typeface="Tahoma" panose="020B0604030504040204" pitchFamily="34" charset="0"/>
              </a:rPr>
              <a:t>)</a:t>
            </a:r>
          </a:p>
          <a:p>
            <a:pPr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O(N!)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48400" y="64008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03" y="692427"/>
            <a:ext cx="8020593" cy="540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en-US" sz="3600" b="1" dirty="0">
                <a:latin typeface="Tahoma" panose="020B0604030504040204" pitchFamily="34" charset="0"/>
              </a:rPr>
              <a:t>O(N</a:t>
            </a:r>
            <a:r>
              <a:rPr lang="en-US" altLang="en-US" sz="3600" b="1" baseline="30000" dirty="0">
                <a:latin typeface="Tahoma" panose="020B0604030504040204" pitchFamily="34" charset="0"/>
              </a:rPr>
              <a:t>2</a:t>
            </a:r>
            <a:r>
              <a:rPr lang="en-US" altLang="en-US" sz="3600" b="1" dirty="0">
                <a:latin typeface="Tahoma" panose="020B0604030504040204" pitchFamily="34" charset="0"/>
              </a:rPr>
              <a:t>), O(N</a:t>
            </a:r>
            <a:r>
              <a:rPr lang="en-US" altLang="en-US" sz="3600" b="1" baseline="30000" dirty="0">
                <a:latin typeface="Tahoma" panose="020B0604030504040204" pitchFamily="34" charset="0"/>
              </a:rPr>
              <a:t>3</a:t>
            </a:r>
            <a:r>
              <a:rPr lang="en-US" altLang="en-US" sz="3600" b="1" dirty="0">
                <a:latin typeface="Tahoma" panose="020B0604030504040204" pitchFamily="34" charset="0"/>
              </a:rPr>
              <a:t>), O(2</a:t>
            </a:r>
            <a:r>
              <a:rPr lang="en-US" altLang="en-US" sz="3600" b="1" baseline="30000" dirty="0">
                <a:latin typeface="Tahoma" panose="020B0604030504040204" pitchFamily="34" charset="0"/>
              </a:rPr>
              <a:t>N</a:t>
            </a:r>
            <a:r>
              <a:rPr lang="en-US" altLang="en-US" sz="3600" b="1" dirty="0">
                <a:latin typeface="Tahoma" panose="020B0604030504040204" pitchFamily="34" charset="0"/>
              </a:rPr>
              <a:t>) and O(N!)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</a:t>
            </a:r>
            <a:endParaRPr lang="en-US" altLang="en-US" sz="4400" dirty="0">
              <a:latin typeface="Tahoma" panose="020B060403050404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800" dirty="0">
              <a:latin typeface="Tahoma" panose="020B060403050404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 =   1.0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6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  =   1.0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9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ptos" panose="020B0004020202020204" pitchFamily="34" charset="0"/>
              </a:rPr>
              <a:t>2</a:t>
            </a:r>
            <a:r>
              <a:rPr lang="en-US" sz="4000" baseline="30000" dirty="0">
                <a:latin typeface="Aptos" panose="020B0004020202020204" pitchFamily="34" charset="0"/>
              </a:rPr>
              <a:t>1000</a:t>
            </a:r>
            <a:r>
              <a:rPr lang="en-US" sz="4000" dirty="0">
                <a:latin typeface="Aptos" panose="020B0004020202020204" pitchFamily="34" charset="0"/>
              </a:rPr>
              <a:t>   ~  1.0715 x 10</a:t>
            </a:r>
            <a:r>
              <a:rPr lang="en-US" sz="4000" baseline="30000" dirty="0">
                <a:latin typeface="Aptos" panose="020B0004020202020204" pitchFamily="34" charset="0"/>
              </a:rPr>
              <a:t>301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1000!  ~  4.024 x 10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2567</a:t>
            </a:r>
          </a:p>
        </p:txBody>
      </p:sp>
    </p:spTree>
    <p:extLst>
      <p:ext uri="{BB962C8B-B14F-4D97-AF65-F5344CB8AC3E}">
        <p14:creationId xmlns:p14="http://schemas.microsoft.com/office/powerpoint/2010/main" val="1805142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Footer Placeholder 3">
            <a:extLst>
              <a:ext uri="{FF2B5EF4-FFF2-40B4-BE49-F238E27FC236}">
                <a16:creationId xmlns:a16="http://schemas.microsoft.com/office/drawing/2014/main" id="{13AFF788-CBD6-490D-B937-3560309DB51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72200" y="6248400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703" y="1682932"/>
            <a:ext cx="8020593" cy="3191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 </a:t>
            </a: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1,000,000</a:t>
            </a: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</a:t>
            </a:r>
            <a:r>
              <a:rPr lang="en-US" sz="40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3</a:t>
            </a:r>
            <a:r>
              <a:rPr lang="en-US" sz="4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 = 1,000,000,000</a:t>
            </a:r>
            <a:endParaRPr lang="en-US" sz="4000" baseline="30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endParaRPr lang="en-US" sz="4000" baseline="30000" dirty="0">
              <a:latin typeface="Aptos" panose="020B0004020202020204" pitchFamily="34" charset="0"/>
            </a:endParaRPr>
          </a:p>
        </p:txBody>
      </p:sp>
      <p:sp>
        <p:nvSpPr>
          <p:cNvPr id="118788" name="WordArt 3">
            <a:extLst>
              <a:ext uri="{FF2B5EF4-FFF2-40B4-BE49-F238E27FC236}">
                <a16:creationId xmlns:a16="http://schemas.microsoft.com/office/drawing/2014/main" id="{714E076A-87AF-49DC-AC79-5C2BA70B231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24000" y="381000"/>
            <a:ext cx="6096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Big-O  Notation</a:t>
            </a:r>
          </a:p>
        </p:txBody>
      </p:sp>
    </p:spTree>
    <p:extLst>
      <p:ext uri="{BB962C8B-B14F-4D97-AF65-F5344CB8AC3E}">
        <p14:creationId xmlns:p14="http://schemas.microsoft.com/office/powerpoint/2010/main" val="2946776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68" y="1447800"/>
            <a:ext cx="8752115" cy="5078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Aptos" panose="020B0004020202020204" pitchFamily="34" charset="0"/>
              </a:rPr>
              <a:t>2</a:t>
            </a:r>
            <a:r>
              <a:rPr lang="en-US" sz="3600" baseline="30000" dirty="0">
                <a:latin typeface="Aptos" panose="020B0004020202020204" pitchFamily="34" charset="0"/>
              </a:rPr>
              <a:t>1000 </a:t>
            </a:r>
            <a:r>
              <a:rPr lang="en-US" sz="3600" dirty="0">
                <a:latin typeface="Aptos" panose="020B0004020202020204" pitchFamily="34" charset="0"/>
              </a:rPr>
              <a:t>= </a:t>
            </a: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10715086071862673209484250490</a:t>
            </a:r>
            <a:b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600018105614048117055336074437503883703510511249361224931983788156958581275946729175531468251871452856923140435984577574698574803934567774824230985421074605062371141877954182153046474983581941267398767559165543946077062914571196477686542167660429831652624386837205668069376 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03F1F-E8B2-6344-EDCE-4A3317DFB2B2}"/>
              </a:ext>
            </a:extLst>
          </p:cNvPr>
          <p:cNvSpPr txBox="1"/>
          <p:nvPr/>
        </p:nvSpPr>
        <p:spPr>
          <a:xfrm>
            <a:off x="2080262" y="331245"/>
            <a:ext cx="53655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latin typeface="Aptos" panose="020B0004020202020204" pitchFamily="34" charset="0"/>
              </a:rPr>
              <a:t>2</a:t>
            </a:r>
            <a:r>
              <a:rPr lang="en-US" sz="4000" baseline="30000" dirty="0">
                <a:latin typeface="Aptos" panose="020B0004020202020204" pitchFamily="34" charset="0"/>
              </a:rPr>
              <a:t>1000</a:t>
            </a:r>
            <a:r>
              <a:rPr lang="en-US" sz="4000" dirty="0">
                <a:latin typeface="Aptos" panose="020B0004020202020204" pitchFamily="34" charset="0"/>
              </a:rPr>
              <a:t>  ~ 1.07 x 10</a:t>
            </a:r>
            <a:r>
              <a:rPr lang="en-US" sz="4000" baseline="30000" dirty="0">
                <a:latin typeface="Aptos" panose="020B0004020202020204" pitchFamily="34" charset="0"/>
              </a:rPr>
              <a:t>301</a:t>
            </a:r>
          </a:p>
        </p:txBody>
      </p:sp>
    </p:spTree>
    <p:extLst>
      <p:ext uri="{BB962C8B-B14F-4D97-AF65-F5344CB8AC3E}">
        <p14:creationId xmlns:p14="http://schemas.microsoft.com/office/powerpoint/2010/main" val="2063879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2">
            <a:extLst>
              <a:ext uri="{FF2B5EF4-FFF2-40B4-BE49-F238E27FC236}">
                <a16:creationId xmlns:a16="http://schemas.microsoft.com/office/drawing/2014/main" id="{910F2859-A980-40DE-ACF8-09B8D6220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2" y="607427"/>
            <a:ext cx="8856618" cy="6556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= 40238726007709377354370243392300398571937486421071463254379991042993851239862902059204420</a:t>
            </a:r>
            <a:b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</a:br>
            <a:r>
              <a:rPr lang="en-US" sz="1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8486969404800479988610197196058631666872994808558901323829669944590997424504087073759918823627727188732519779505950995276120874975462497043601418278094646496291056393887437886487337119181045825783647849977012476632889835955735432513185323958463075557409114262417474349347553428646576611667797396668820291207379143853719588249808126867838374559731746136085379534524221586593201928090878297308431392844403281231558611036976801357304216168747609675871348312025478589320767169132448426236131412508780208000261683151027341827977704784635868170164365024153691398281264810213092761244896359928705114964975419909342221566832572080821333186116811553615836546984046708975602900950537616475847728421889679646244945160765353408198901385442487984959953319101723355556602139450399736280750137837615307127761926849034352625200015888535147331611702103968175921510907788019393178114194545257223865541461062892187960223838971476088506276862967146674697562911234082439208160153780889893964518263243671616762179168909779911903754031274622289988005195444414282012187361745992642956581746628302955570299024324153181617210465832036786906117260158783520751516284225540265170483304226143974286933061690897968482590125458327168226458066526769958652682272807075781391858178889652208164348344825993266043367660176999612831860788386150279465955131156552036093988180612138558600301435694527224206344631797460594682573103790084024432438465657245014402821885252470935190620929023136493273497565513958720559654228749774011413346962715422845862377387538230483865688976461927383814900140767310446640259899490222221765904339901886018566526485061799702356193897017860040811889729918311021171229845901641921068884387121855646124960798722908519296819372388642614839657382291123125024186649353143970137428531926649875337218940694281434118520158014123344828015051399694290153483077644569099073152433278288269864602789864321139083506217095002597389863554277196742822248757586765752344220207573630569498825087968928162753848863396909959826280956121450994871701244516461260379029309120889086942028510640182154399457156805941872748998094254742173582401063677404595741785160829230135358081840096996372524230560855903700624271243416909004153690105933983835777939410970027753472000000000000000000000000000000000000000000000000000000000000000000000000000000000000000000000000000000000000000000000000000000000000000000000000000000000000000000000000000000000000000000000000000000000000000000000000000000000000000000000000000000000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B13C7-970D-532D-00C8-C40C521F86C5}"/>
              </a:ext>
            </a:extLst>
          </p:cNvPr>
          <p:cNvSpPr txBox="1"/>
          <p:nvPr/>
        </p:nvSpPr>
        <p:spPr>
          <a:xfrm>
            <a:off x="2286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1000!  ~  4.02 x 10</a:t>
            </a:r>
            <a:r>
              <a:rPr lang="en-US" sz="3600" baseline="30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</a:rPr>
              <a:t>2567</a:t>
            </a:r>
            <a:endParaRPr lang="en-US" sz="3600" baseline="30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807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WordArt 2">
            <a:extLst>
              <a:ext uri="{FF2B5EF4-FFF2-40B4-BE49-F238E27FC236}">
                <a16:creationId xmlns:a16="http://schemas.microsoft.com/office/drawing/2014/main" id="{831A9488-A952-4BB2-8B4E-3597EF195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95700" y="304800"/>
            <a:ext cx="1447800" cy="381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Arrays</a:t>
            </a:r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B57599FA-AC1D-4C57-9022-45EBBEF37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940996"/>
            <a:ext cx="81534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</p:txBody>
      </p:sp>
      <p:graphicFrame>
        <p:nvGraphicFramePr>
          <p:cNvPr id="88088" name="Group 24">
            <a:extLst>
              <a:ext uri="{FF2B5EF4-FFF2-40B4-BE49-F238E27FC236}">
                <a16:creationId xmlns:a16="http://schemas.microsoft.com/office/drawing/2014/main" id="{9148F77D-69A0-4AE3-920E-0FD4A5BA5279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5883110"/>
          <a:ext cx="5486400" cy="517690"/>
        </p:xfrm>
        <a:graphic>
          <a:graphicData uri="http://schemas.openxmlformats.org/drawingml/2006/table">
            <a:tbl>
              <a:tblPr/>
              <a:tblGrid>
                <a:gridCol w="1096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485" marB="4548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marT="45485" marB="4548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291" name="Text Box 21">
            <a:extLst>
              <a:ext uri="{FF2B5EF4-FFF2-40B4-BE49-F238E27FC236}">
                <a16:creationId xmlns:a16="http://schemas.microsoft.com/office/drawing/2014/main" id="{9E1AC24A-6153-4585-9D31-6A3EDAC81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349710"/>
            <a:ext cx="5392738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  <a:latin typeface="Tahoma" panose="020B0604030504040204" pitchFamily="34" charset="0"/>
              </a:rPr>
              <a:t>An array is a collection of like variables.</a:t>
            </a:r>
            <a:r>
              <a:rPr lang="en-US" altLang="en-US" sz="2000" b="1">
                <a:latin typeface="Tahoma" panose="020B0604030504040204" pitchFamily="34" charset="0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EE937482-27D0-4A7E-A538-D0C6B7CCA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425005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9F2F7E-734D-4D36-9CF6-EB1245A9F79D}"/>
              </a:ext>
            </a:extLst>
          </p:cNvPr>
          <p:cNvCxnSpPr/>
          <p:nvPr/>
        </p:nvCxnSpPr>
        <p:spPr bwMode="auto">
          <a:xfrm flipH="1" flipV="1">
            <a:off x="7162800" y="2044005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Text Box 5">
            <a:extLst>
              <a:ext uri="{FF2B5EF4-FFF2-40B4-BE49-F238E27FC236}">
                <a16:creationId xmlns:a16="http://schemas.microsoft.com/office/drawing/2014/main" id="{CE5BA70A-C047-4AB3-9C0D-CA303D745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47800"/>
            <a:ext cx="8458200" cy="499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traverse all spots	O(N)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O(N) or O(Log</a:t>
            </a:r>
            <a:r>
              <a:rPr lang="en-US" altLang="en-US" sz="2400" b="1" baseline="-25000" dirty="0">
                <a:latin typeface="Tahoma" panose="020B0604030504040204" pitchFamily="34" charset="0"/>
              </a:rPr>
              <a:t>2</a:t>
            </a:r>
            <a:r>
              <a:rPr lang="en-US" altLang="en-US" sz="2400" b="1" dirty="0">
                <a:latin typeface="Tahoma" panose="020B0604030504040204" pitchFamily="34" charset="0"/>
              </a:rPr>
              <a:t>N)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get any item	O(1)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known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O(1)	</a:t>
            </a:r>
          </a:p>
          <a:p>
            <a:pPr eaLnBrk="1" hangingPunct="1">
              <a:spcBef>
                <a:spcPct val="50000"/>
              </a:spcBef>
              <a:buFontTx/>
              <a:buNone/>
              <a:tabLst>
                <a:tab pos="4572000" algn="l"/>
              </a:tabLst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O(N)</a:t>
            </a:r>
            <a:r>
              <a:rPr lang="en-US" altLang="en-US" sz="28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800" b="1" dirty="0" err="1">
                <a:solidFill>
                  <a:srgbClr val="3333CC"/>
                </a:solidFill>
                <a:latin typeface="Tahoma" panose="020B0604030504040204" pitchFamily="34" charset="0"/>
              </a:rPr>
              <a:t>ArrayList</a:t>
            </a:r>
            <a:r>
              <a:rPr lang="en-US" altLang="en-US" sz="2800" b="1" dirty="0">
                <a:solidFill>
                  <a:srgbClr val="3333CC"/>
                </a:solidFill>
                <a:latin typeface="Tahoma" panose="020B0604030504040204" pitchFamily="34" charset="0"/>
              </a:rPr>
              <a:t> is implemented with an array.</a:t>
            </a:r>
            <a:endParaRPr lang="en-US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64517" name="Text Box 7">
            <a:extLst>
              <a:ext uri="{FF2B5EF4-FFF2-40B4-BE49-F238E27FC236}">
                <a16:creationId xmlns:a16="http://schemas.microsoft.com/office/drawing/2014/main" id="{BA515BDA-884F-46BD-95A7-F815F65F88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95600"/>
            <a:ext cx="2133600" cy="138499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Tahoma" panose="020B0604030504040204" pitchFamily="34" charset="0"/>
              </a:rPr>
              <a:t>If sorted, use binary search</a:t>
            </a:r>
          </a:p>
        </p:txBody>
      </p:sp>
      <p:sp>
        <p:nvSpPr>
          <p:cNvPr id="6" name="WordArt 2">
            <a:extLst>
              <a:ext uri="{FF2B5EF4-FFF2-40B4-BE49-F238E27FC236}">
                <a16:creationId xmlns:a16="http://schemas.microsoft.com/office/drawing/2014/main" id="{7BDC5A4D-ADB8-4077-A3B3-544DE8ACBAF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400" y="436047"/>
            <a:ext cx="8229600" cy="7143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</a:t>
            </a:r>
            <a:r>
              <a:rPr lang="en-US" sz="3600" kern="10" dirty="0" err="1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ArrayList</a:t>
            </a:r>
            <a:endParaRPr lang="en-US" sz="3600" kern="10" dirty="0">
              <a:ln w="12700">
                <a:solidFill>
                  <a:srgbClr val="EAEAEA"/>
                </a:solidFill>
                <a:round/>
                <a:headEnd type="none" w="sm" len="sm"/>
                <a:tailEnd type="none" w="sm" len="sm"/>
              </a:ln>
              <a:gradFill rotWithShape="1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79999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FDE6141-FC0E-4433-A464-D7520FC1F7FE}"/>
              </a:ext>
            </a:extLst>
          </p:cNvPr>
          <p:cNvCxnSpPr/>
          <p:nvPr/>
        </p:nvCxnSpPr>
        <p:spPr bwMode="auto">
          <a:xfrm flipH="1" flipV="1">
            <a:off x="7162800" y="2514600"/>
            <a:ext cx="381000" cy="381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5252D4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WordArt 2">
            <a:extLst>
              <a:ext uri="{FF2B5EF4-FFF2-40B4-BE49-F238E27FC236}">
                <a16:creationId xmlns:a16="http://schemas.microsoft.com/office/drawing/2014/main" id="{BD1120AA-DA3E-4937-BCFA-4A060142B3B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46213" y="163606"/>
            <a:ext cx="6019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Single Linked Lists</a:t>
            </a:r>
          </a:p>
        </p:txBody>
      </p:sp>
      <p:sp>
        <p:nvSpPr>
          <p:cNvPr id="56324" name="Text Box 3">
            <a:extLst>
              <a:ext uri="{FF2B5EF4-FFF2-40B4-BE49-F238E27FC236}">
                <a16:creationId xmlns:a16="http://schemas.microsoft.com/office/drawing/2014/main" id="{91F4BB0F-B533-4A41-BC3F-60F75A20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48871"/>
            <a:ext cx="8534400" cy="580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remove current item		O(1)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remove any item			O(N)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latin typeface="Tahoma" panose="020B0604030504040204" pitchFamily="34" charset="0"/>
              </a:rPr>
            </a:br>
            <a:r>
              <a:rPr lang="en-US" altLang="en-US" sz="2400" b="1" dirty="0"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end		O(1) (if tail is stored)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					</a:t>
            </a:r>
            <a:r>
              <a:rPr lang="en-US" alt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O(N) (if no link to tail)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add item at the front		O(1)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400" b="1" dirty="0">
                <a:latin typeface="Tahoma" panose="020B0604030504040204" pitchFamily="34" charset="0"/>
              </a:rPr>
              <a:t>	</a:t>
            </a:r>
          </a:p>
          <a:p>
            <a:pPr eaLnBrk="1" hangingPunct="1">
              <a:lnSpc>
                <a:spcPct val="200000"/>
              </a:lnSpc>
              <a:spcBef>
                <a:spcPct val="5000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a reference to the next node only.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2200" b="1" dirty="0">
                <a:solidFill>
                  <a:srgbClr val="3333CC"/>
                </a:solidFill>
                <a:latin typeface="Tahoma" panose="020B0604030504040204" pitchFamily="34" charset="0"/>
              </a:rPr>
              <a:t>A single linked node has no reference to the previous node.</a:t>
            </a:r>
          </a:p>
        </p:txBody>
      </p:sp>
      <p:sp>
        <p:nvSpPr>
          <p:cNvPr id="27708" name="Rectangle 60">
            <a:extLst>
              <a:ext uri="{FF2B5EF4-FFF2-40B4-BE49-F238E27FC236}">
                <a16:creationId xmlns:a16="http://schemas.microsoft.com/office/drawing/2014/main" id="{28002378-5BF4-43C6-B8BE-B8477E035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9900" y="1828800"/>
            <a:ext cx="1295400" cy="5334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27709" name="Rectangle 61">
            <a:extLst>
              <a:ext uri="{FF2B5EF4-FFF2-40B4-BE49-F238E27FC236}">
                <a16:creationId xmlns:a16="http://schemas.microsoft.com/office/drawing/2014/main" id="{20E17C24-D368-48BB-A34F-64576F396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00" y="1828800"/>
            <a:ext cx="673100" cy="5334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27711" name="Text Box 63">
            <a:extLst>
              <a:ext uri="{FF2B5EF4-FFF2-40B4-BE49-F238E27FC236}">
                <a16:creationId xmlns:a16="http://schemas.microsoft.com/office/drawing/2014/main" id="{2A138D11-BA85-4C28-9910-43FB43E04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1919287"/>
            <a:ext cx="569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000" b="1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3" name="Text Box 15">
            <a:extLst>
              <a:ext uri="{FF2B5EF4-FFF2-40B4-BE49-F238E27FC236}">
                <a16:creationId xmlns:a16="http://schemas.microsoft.com/office/drawing/2014/main" id="{3791537F-B49E-A4F7-979D-2FCA25F18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4472" y="1902764"/>
            <a:ext cx="673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800" b="1" dirty="0">
                <a:latin typeface="Tahoma" panose="020B0604030504040204" pitchFamily="34" charset="0"/>
              </a:rPr>
              <a:t>null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lDoublyLinkedList in PHP - GeeksforGeeks">
            <a:extLst>
              <a:ext uri="{FF2B5EF4-FFF2-40B4-BE49-F238E27FC236}">
                <a16:creationId xmlns:a16="http://schemas.microsoft.com/office/drawing/2014/main" id="{F4F1BC99-B670-272F-A9CE-40932CEC8C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" t="14561" r="9454" b="31141"/>
          <a:stretch>
            <a:fillRect/>
          </a:stretch>
        </p:blipFill>
        <p:spPr bwMode="auto">
          <a:xfrm>
            <a:off x="9647582" y="4674965"/>
            <a:ext cx="8978796" cy="1135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FBAC21-65CD-D305-F191-08A174D9D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152" y="137090"/>
            <a:ext cx="6027876" cy="2477365"/>
          </a:xfrm>
          <a:prstGeom prst="rect">
            <a:avLst/>
          </a:prstGeom>
        </p:spPr>
      </p:pic>
      <p:sp>
        <p:nvSpPr>
          <p:cNvPr id="7" name="WordArt 2">
            <a:extLst>
              <a:ext uri="{FF2B5EF4-FFF2-40B4-BE49-F238E27FC236}">
                <a16:creationId xmlns:a16="http://schemas.microsoft.com/office/drawing/2014/main" id="{E8CF4223-EC93-4AA1-BDDA-B3B744CD30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336275" y="137090"/>
            <a:ext cx="3630304" cy="48765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Double Linked Lists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F847F85-EF15-4560-A925-1D1465D2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23" y="2576219"/>
            <a:ext cx="582764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ts val="2400"/>
              </a:spcBef>
              <a:buFontTx/>
              <a:buNone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traverse all nodes	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search for an item		O(N)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remove any item			O(N)	</a:t>
            </a:r>
            <a:b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</a:b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get any item			O(N)	</a:t>
            </a:r>
            <a:b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</a:b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   location unknown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add item at the end		O(1)	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solidFill>
                  <a:schemeClr val="accent2">
                    <a:lumMod val="75000"/>
                  </a:schemeClr>
                </a:solidFill>
                <a:latin typeface="Tahoma" panose="020B0604030504040204" pitchFamily="34" charset="0"/>
              </a:rPr>
              <a:t>add item at the front		O(1)</a:t>
            </a:r>
            <a:endParaRPr lang="en-US" altLang="en-US" sz="2800" b="1" dirty="0">
              <a:solidFill>
                <a:schemeClr val="accent2">
                  <a:lumMod val="75000"/>
                </a:schemeClr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1F7B54EA-B864-42B3-97CD-95D619EF9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EFF04108-5A20-4143-AD6B-BF7AAB0C4F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81989" y="828675"/>
            <a:ext cx="853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Java Collections – LinkedList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C7C68E4C-7803-4F2E-995A-59E5BE8F8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378" y="1514475"/>
            <a:ext cx="8227622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tabLst>
                <a:tab pos="5083175" algn="l"/>
              </a:tabLst>
            </a:pPr>
            <a:r>
              <a:rPr lang="en-US" altLang="en-US" sz="4400" b="1" dirty="0">
                <a:latin typeface="Tahoma" panose="020B0604030504040204" pitchFamily="34" charset="0"/>
              </a:rPr>
              <a:t>	</a:t>
            </a:r>
          </a:p>
          <a:p>
            <a:pPr algn="ctr" eaLnBrk="1" hangingPunct="1">
              <a:spcBef>
                <a:spcPts val="0"/>
              </a:spcBef>
              <a:buFontTx/>
              <a:buNone/>
            </a:pPr>
            <a:b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</a:br>
            <a:r>
              <a:rPr lang="en-US" altLang="en-US" sz="4800" b="1" dirty="0">
                <a:solidFill>
                  <a:schemeClr val="accent2"/>
                </a:solidFill>
                <a:latin typeface="Tahoma" panose="020B0604030504040204" pitchFamily="34" charset="0"/>
              </a:rPr>
              <a:t>Java’s LinkedList class is a doubly linked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2933</TotalTime>
  <Words>1681</Words>
  <Application>Microsoft Office PowerPoint</Application>
  <PresentationFormat>On-screen Show (4:3)</PresentationFormat>
  <Paragraphs>223</Paragraphs>
  <Slides>26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Arial</vt:lpstr>
      <vt:lpstr>Arial Black</vt:lpstr>
      <vt:lpstr>Arial Unicode MS</vt:lpstr>
      <vt:lpstr>Courier New</vt:lpstr>
      <vt:lpstr>Impact</vt:lpstr>
      <vt:lpstr>Tahoma</vt:lpstr>
      <vt:lpstr>Times New Roman</vt:lpstr>
      <vt:lpstr>Trebuchet MS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499</cp:revision>
  <cp:lastPrinted>2000-10-05T14:12:58Z</cp:lastPrinted>
  <dcterms:created xsi:type="dcterms:W3CDTF">1995-06-17T23:31:02Z</dcterms:created>
  <dcterms:modified xsi:type="dcterms:W3CDTF">2026-01-07T18:24:37Z</dcterms:modified>
  <cp:category>www.apluscompsci.com</cp:category>
</cp:coreProperties>
</file>
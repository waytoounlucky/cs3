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93" r:id="rId2"/>
    <p:sldId id="388" r:id="rId3"/>
    <p:sldId id="311" r:id="rId4"/>
    <p:sldId id="428" r:id="rId5"/>
    <p:sldId id="385" r:id="rId6"/>
    <p:sldId id="384" r:id="rId7"/>
    <p:sldId id="386" r:id="rId8"/>
    <p:sldId id="391" r:id="rId9"/>
    <p:sldId id="437" r:id="rId10"/>
    <p:sldId id="435" r:id="rId11"/>
    <p:sldId id="415" r:id="rId12"/>
    <p:sldId id="411" r:id="rId13"/>
    <p:sldId id="412" r:id="rId14"/>
    <p:sldId id="413" r:id="rId15"/>
    <p:sldId id="302" r:id="rId16"/>
    <p:sldId id="287" r:id="rId17"/>
    <p:sldId id="361" r:id="rId18"/>
    <p:sldId id="407" r:id="rId19"/>
    <p:sldId id="408" r:id="rId20"/>
    <p:sldId id="444" r:id="rId21"/>
    <p:sldId id="380" r:id="rId22"/>
    <p:sldId id="432" r:id="rId23"/>
    <p:sldId id="430" r:id="rId24"/>
    <p:sldId id="433" r:id="rId25"/>
    <p:sldId id="434" r:id="rId2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6633"/>
    <a:srgbClr val="0000FF"/>
    <a:srgbClr val="0000CC"/>
    <a:srgbClr val="330099"/>
    <a:srgbClr val="E7F6EF"/>
    <a:srgbClr val="CBECDE"/>
    <a:srgbClr val="A50021"/>
    <a:srgbClr val="CC3300"/>
    <a:srgbClr val="33669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74497" autoAdjust="0"/>
  </p:normalViewPr>
  <p:slideViewPr>
    <p:cSldViewPr snapToGrid="0">
      <p:cViewPr varScale="1">
        <p:scale>
          <a:sx n="58" d="100"/>
          <a:sy n="58" d="100"/>
        </p:scale>
        <p:origin x="209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980"/>
    </p:cViewPr>
  </p:sorterViewPr>
  <p:notesViewPr>
    <p:cSldViewPr snapToGrid="0">
      <p:cViewPr varScale="1">
        <p:scale>
          <a:sx n="60" d="100"/>
          <a:sy n="60" d="100"/>
        </p:scale>
        <p:origin x="-249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A81C265-B1C2-471B-B18F-DD82EF45B8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079320B-1D61-4E30-ADCA-00847373434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15ECF5B-F8C0-4CF7-8C65-84BA085BDC2E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3A3E004-1F63-40F0-9663-8858D99724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fld id="{432E2B96-9C06-4A8B-9DEE-BF176AD5E0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9E576DC-6DB4-4542-9148-85BEECA101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4833FEA-F53C-4FE8-A51A-3ECBE46CF2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702D8EB7-D755-4600-B528-6FFB7C9ECE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F84C0684-5E9A-4DE3-AA93-16FB5ADC5A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FC505B1-EF2F-4A46-8FA9-AC13D76D32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D829EDC9-D5B1-4579-9744-6F7A44138D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F280ABB-2FAB-4B03-B32D-F23A46D54B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8D4A7B84-F0F5-4398-80D0-ACD132C3CB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3CDC9E2-9BC8-4964-9978-796A6FDFBF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D07AB225-00CD-4A30-8777-8E0B89E955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7AE3A6ED-1353-47D9-8A31-B7C2B66C3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498FB0CC-135C-4CC1-BB4C-9EDE445782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F7FE691D-D430-4B9C-92DF-F06CA6EF07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9A17BA6-F522-4117-81CB-59F40BC45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39417E8C-C55D-40A3-AC02-BE7769F3EA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D1713B39-E74A-43DA-85B1-6D8409C753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FC42A7DA-1C85-4836-B8CD-0AA5CE6EAB4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6D11B2A9-B9A1-4AB0-B379-B5E556E448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D6EFE5B0-2310-49BA-884C-90AA81EF2B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72B08312-5DE5-4023-A5AF-5D95634DD1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F363CB8-54D0-4115-84A7-0EADB1A1C9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9E6E853-74F7-46A3-8276-C0B3E9EA78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8FE93C88-8456-427D-8858-2A7323E49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F76605AF-A518-4F14-B7D1-45CA7B615A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5897559A-88B8-4520-A094-6EB59179F4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D962C533-9C57-48BE-BBA0-8BEF2968D2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4048CB39-79E3-4732-90D4-5C42833666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3187" name="Rectangle 3">
            <a:extLst>
              <a:ext uri="{FF2B5EF4-FFF2-40B4-BE49-F238E27FC236}">
                <a16:creationId xmlns:a16="http://schemas.microsoft.com/office/drawing/2014/main" id="{1E929AE7-C291-4976-84C4-7A1513A765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0E2E3F61-1856-49AB-8EC4-20735987A9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3A38FB7A-781B-4E71-8EF3-21A340B4A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85F5496A-BAC3-4CA7-B8A2-6BA505B7FC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CC72AA4-1A19-41C9-BB35-537C608AEF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Normal representation of original list:</a:t>
            </a:r>
          </a:p>
          <a:p>
            <a:pPr eaLnBrk="1" hangingPunct="1"/>
            <a:r>
              <a:rPr lang="en-US" altLang="en-US" dirty="0"/>
              <a:t>front --&gt; pig --&gt; dog --&gt; cat --&gt; null</a:t>
            </a:r>
          </a:p>
          <a:p>
            <a:pPr eaLnBrk="1" hangingPunct="1"/>
            <a:r>
              <a:rPr lang="en-US" altLang="en-US" dirty="0"/>
              <a:t>current also points to pig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14B7BB3B-E665-42DA-ACE9-DC707B78F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44FB0FA2-0C59-4F96-A775-5357AA380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Normal representation of original list:</a:t>
            </a:r>
          </a:p>
          <a:p>
            <a:pPr eaLnBrk="1" hangingPunct="1"/>
            <a:r>
              <a:rPr lang="en-US" altLang="en-US" dirty="0"/>
              <a:t>front --&gt; pig --&gt; dog --&gt; cat --&gt; null</a:t>
            </a:r>
          </a:p>
          <a:p>
            <a:pPr eaLnBrk="1" hangingPunct="1"/>
            <a:r>
              <a:rPr lang="en-US" altLang="en-US" dirty="0"/>
              <a:t>current and previous also points to pig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7AC1389D-1B22-4FC9-BC8B-EFA6A4ED15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DBA5850B-2CCF-46CF-9B69-23AB33274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current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 eaLnBrk="1" hangingPunct="1"/>
            <a:r>
              <a:rPr lang="en-US" altLang="en-US" dirty="0"/>
              <a:t>current = </a:t>
            </a:r>
            <a:r>
              <a:rPr lang="en-US" altLang="en-US" dirty="0" err="1"/>
              <a:t>current.getNext</a:t>
            </a:r>
            <a:r>
              <a:rPr lang="en-US" altLang="en-US" dirty="0"/>
              <a:t>();</a:t>
            </a:r>
          </a:p>
          <a:p>
            <a:pPr eaLnBrk="1" hangingPunct="1"/>
            <a:r>
              <a:rPr lang="en-US" altLang="en-US" dirty="0"/>
              <a:t>current stores 0xF21, which is the memory location of the "dog" node: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current = 0xF21 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0xF21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previous.setNext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current.getNext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());</a:t>
            </a:r>
            <a:r>
              <a:rPr lang="en-US" altLang="en-US" sz="1000" b="1" dirty="0">
                <a:latin typeface="Courier New" panose="02070309020205020404" pitchFamily="49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1" dirty="0">
                <a:latin typeface="Courier New" panose="02070309020205020404" pitchFamily="49" charset="0"/>
              </a:rPr>
              <a:t>The “pig” node now stores a reference to the “cat” node. Current still stores a reference to the “dog” node that we’re removing.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58E31030-D472-46D3-95F0-ECC0520956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6613620-CE0F-4CEC-AA49-6DDD9ECCB3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US" altLang="en-US" dirty="0"/>
              <a:t>The linked list:</a:t>
            </a: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0xF21</a:t>
            </a:r>
          </a:p>
          <a:p>
            <a:pPr eaLnBrk="1" hangingPunct="1"/>
            <a:r>
              <a:rPr lang="en-US" altLang="en-US" dirty="0"/>
              <a:t>0xF21 --&gt; dog,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After running: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12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12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000" b="1" dirty="0">
              <a:latin typeface="Courier New" panose="02070309020205020404" pitchFamily="49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1000" b="1" dirty="0">
                <a:latin typeface="Courier New" panose="02070309020205020404" pitchFamily="49" charset="0"/>
              </a:rPr>
              <a:t>Since the “pig” node now stores a reference to the “cat” node, now current does, too. So we’ve lost </a:t>
            </a:r>
            <a:r>
              <a:rPr lang="en-US" altLang="en-US" sz="1000" b="1">
                <a:latin typeface="Courier New" panose="02070309020205020404" pitchFamily="49" charset="0"/>
              </a:rPr>
              <a:t>all access to the “dog” node.</a:t>
            </a:r>
            <a:endParaRPr lang="en-US" altLang="en-US" sz="1000" b="1" dirty="0">
              <a:latin typeface="Courier New" panose="02070309020205020404" pitchFamily="49" charset="0"/>
            </a:endParaRPr>
          </a:p>
          <a:p>
            <a:pPr eaLnBrk="1" hangingPunct="1"/>
            <a:r>
              <a:rPr lang="en-US" altLang="en-US" dirty="0"/>
              <a:t>front = previous = 0xF17</a:t>
            </a:r>
          </a:p>
          <a:p>
            <a:pPr eaLnBrk="1" hangingPunct="1"/>
            <a:r>
              <a:rPr lang="en-US" altLang="en-US" dirty="0"/>
              <a:t>0xF17 --&gt; pig, 0xFEA</a:t>
            </a:r>
          </a:p>
          <a:p>
            <a:pPr eaLnBrk="1" hangingPunct="1"/>
            <a:r>
              <a:rPr lang="en-US" altLang="en-US" dirty="0"/>
              <a:t>current = 0xFEA</a:t>
            </a:r>
          </a:p>
          <a:p>
            <a:pPr eaLnBrk="1" hangingPunct="1"/>
            <a:r>
              <a:rPr lang="en-US" altLang="en-US" dirty="0"/>
              <a:t>0xFEA --&gt; cat, null</a:t>
            </a:r>
          </a:p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7304626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F81AEBB1-11F6-4D41-AB55-3666DB342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F2BCDFD0-FF17-4735-BE45-CE6B0C872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EE70D2F4-8005-4666-BC3D-E5522E922C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05F7BEA-553F-44B6-94B8-93DC28CB7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54B1B619-2A55-4AEC-BC24-8FED882FDD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9D098FA6-B2B3-4B76-AB49-B9AC6F75A1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DC9E6D4E-2D2F-41AD-8AE5-16078FFE80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40816827-D5EA-42A0-BFC4-780471838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5187CD12-5497-4DDF-9C98-98A15949EF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E11EB7B8-A0FF-4BCC-B2CD-4019EA172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EBF3316-E646-42D9-8491-E12A9C4048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E673751-D0D4-43BF-9E1A-72989C9732C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9D4E20-2045-446F-8110-A1D77EC4BE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78EFA95-EF3B-4222-A3CA-5E10D92C5BC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580888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B63385-1929-4C1F-A072-F78EEB7386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3D53940-8057-45C2-9093-55DACDCF9F3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5221E9-ABCE-473C-8C79-A8DF224B52F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CBE5D1C3-C3DF-45BD-8F37-37681FF5C2A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145162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D5728C1-44C7-4F0A-89DF-771925D48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D13E40-E81D-4E96-9021-2A0B3C574142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02DCF54-775B-4199-891C-34263C8AF26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A82CD45-B035-427B-88B8-394645F8E13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652971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862C17-16AA-4F13-81AB-C05410E03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D66B823-CA31-4381-B375-435BACEB3E9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B4E660-17D2-40E5-B3BD-BC03864065E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63458B24-48D2-43F1-BC11-4E230F00F90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168294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14294D4-68DB-4E20-9466-9928CD6044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CEEA9B9-4060-44F3-9AD7-4B900F08EF4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EB224B-3A84-4B86-87F2-077C1E787C5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85BF0EF-3CEB-41B1-8AD1-F127147BBB86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835754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7DE7DEE-5D88-4355-BDE6-BBA7ED7B54C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287BB4-C04A-47E1-A1F6-23F2C7A4A1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BE6CE5-F13E-4D24-BA7C-643E41200EC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CD73FFD8-3921-48F3-8003-26A59728B26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250589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3E5B0FDC-0D0A-4406-BEE6-E8698520D5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63FDAF6-65D3-4AE7-B413-A26956CCB68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E82FFA-A343-41F8-A944-CCDE55561D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421D90BC-2638-46DE-9682-9F668B9CD7A2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409702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4B4995-4616-4DE8-AD50-3A73A7367A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52D76-1CB4-4CD5-9C04-7754CA0B17D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CD2388-4565-4435-8190-53E6AAE269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546DBB93-3436-4DC8-AEC3-7C8388C08ECD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95552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0B9C28-A8D0-44D8-B8C9-05BB457440F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8E2729-0597-4F39-A654-EAFB0AEB31E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9B5FFE-6466-4B74-B71A-09E45EE1709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D3E93671-63A0-4C1C-889D-F441D74F36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226000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0B54FB-B5E1-45CF-B97A-22EA9CBC1C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581E3E92-8E25-42AD-8604-44398226F73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02501B-F662-4AD6-943B-F6AA86CA345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2EEEAFE-5003-4CAB-AD93-4945497805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34661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8D8E88-BFE0-4946-B9AE-3090869588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FCD7A5-36D9-4313-850C-87B15B5D368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77F7B4-CAB9-4642-B967-205A05C5494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125898C-59DC-447A-A842-049798986F51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 b="0">
                <a:latin typeface="Tahoma" pitchFamily="34" charset="0"/>
              </a:defRPr>
            </a:lvl1pPr>
          </a:lstStyle>
          <a:p>
            <a:pPr>
              <a:defRPr/>
            </a:pPr>
            <a:endParaRPr lang="en-US" altLang="en-US" b="1">
              <a:latin typeface="+mn-lt"/>
            </a:endParaRPr>
          </a:p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1"/>
          </a:p>
          <a:p>
            <a:pPr>
              <a:defRPr/>
            </a:pPr>
            <a:r>
              <a:rPr lang="en-US" altLang="en-US" b="1"/>
              <a:t>© A+ Computer Science  -  www.apluscompsci.com</a:t>
            </a:r>
          </a:p>
        </p:txBody>
      </p:sp>
    </p:spTree>
    <p:extLst>
      <p:ext uri="{BB962C8B-B14F-4D97-AF65-F5344CB8AC3E}">
        <p14:creationId xmlns:p14="http://schemas.microsoft.com/office/powerpoint/2010/main" val="937003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D8ECE40-9177-464C-A4A0-7C90B8D9EB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75881AF-BAC6-4DB8-A6D2-914CCD1132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D3B868F-2FA4-4A5C-BDEA-D9F6757CE90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eaLnBrk="0" hangingPunct="0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C7E766D-CF08-415B-A339-93DF86FAD9D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EBA80AB3-A713-496F-8928-FDA1A35C4B2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23DCD569-0E93-4D9A-821B-CDE4264A307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800" b="1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  <a:p>
            <a:pPr>
              <a:defRPr/>
            </a:pPr>
            <a:endParaRPr lang="en-US" altLang="en-US" b="0">
              <a:latin typeface="Tahoma" pitchFamily="34" charset="0"/>
            </a:endParaRPr>
          </a:p>
          <a:p>
            <a:pPr>
              <a:defRPr/>
            </a:pPr>
            <a:endParaRPr lang="en-US" altLang="en-US">
              <a:latin typeface="Tahoma" pitchFamily="34" charset="0"/>
            </a:endParaRPr>
          </a:p>
          <a:p>
            <a:pPr>
              <a:defRPr/>
            </a:pPr>
            <a:r>
              <a:rPr lang="en-US" altLang="en-US">
                <a:latin typeface="Tahoma" pitchFamily="34" charset="0"/>
              </a:rPr>
              <a:t>© A+ Computer Science  -  www.apluscompsci.com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328D7BA-8516-4D0A-A215-163672FD06E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ABE6EDA3-9CD3-4DF5-BB13-321154F00C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63492" name="Text Box 4">
            <a:extLst>
              <a:ext uri="{FF2B5EF4-FFF2-40B4-BE49-F238E27FC236}">
                <a16:creationId xmlns:a16="http://schemas.microsoft.com/office/drawing/2014/main" id="{D2340A22-84E5-4AB9-AA45-8FA85F7237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3048000"/>
            <a:ext cx="7045325" cy="2041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linked list is a group of nodes.   </a:t>
            </a:r>
            <a:br>
              <a:rPr lang="en-US" altLang="en-US" b="1">
                <a:latin typeface="Tahoma" panose="020B0604030504040204" pitchFamily="34" charset="0"/>
              </a:rPr>
            </a:br>
            <a:r>
              <a:rPr lang="en-US" altLang="en-US" b="1">
                <a:latin typeface="Tahoma" panose="020B0604030504040204" pitchFamily="34" charset="0"/>
              </a:rPr>
              <a:t>Each node contains a value and 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reference to the next node in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the list.</a:t>
            </a:r>
          </a:p>
        </p:txBody>
      </p:sp>
      <p:sp>
        <p:nvSpPr>
          <p:cNvPr id="24581" name="WordArt 6">
            <a:extLst>
              <a:ext uri="{FF2B5EF4-FFF2-40B4-BE49-F238E27FC236}">
                <a16:creationId xmlns:a16="http://schemas.microsoft.com/office/drawing/2014/main" id="{77530551-8514-44DA-8A9F-7DE0C4C9A58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Footer Placeholder 3">
            <a:extLst>
              <a:ext uri="{FF2B5EF4-FFF2-40B4-BE49-F238E27FC236}">
                <a16:creationId xmlns:a16="http://schemas.microsoft.com/office/drawing/2014/main" id="{88A65B06-EB06-4ACE-B1BA-53CCEAD2BBD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452FD68-A092-40F7-A4D5-799F7E0153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209800"/>
            <a:ext cx="7467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public interface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Comparable </a:t>
            </a:r>
            <a:r>
              <a:rPr lang="en-US" altLang="en-US" sz="28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800" b="1" dirty="0"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>
                <a:solidFill>
                  <a:srgbClr val="0070C0"/>
                </a:solidFill>
                <a:latin typeface="Tahoma" panose="020B0604030504040204" pitchFamily="34" charset="0"/>
              </a:rPr>
              <a:t>Linkable</a:t>
            </a:r>
            <a:r>
              <a:rPr lang="en-US" altLang="en-US" sz="2800" b="1" dirty="0">
                <a:latin typeface="Tahoma" panose="020B0604030504040204" pitchFamily="34" charset="0"/>
              </a:rPr>
              <a:t> </a:t>
            </a:r>
            <a:r>
              <a:rPr lang="en-US" altLang="en-US" sz="2800" b="1" dirty="0" err="1">
                <a:latin typeface="Tahoma" panose="020B0604030504040204" pitchFamily="34" charset="0"/>
              </a:rPr>
              <a:t>getNext</a:t>
            </a:r>
            <a:r>
              <a:rPr lang="en-US" altLang="en-US" sz="2800" b="1" dirty="0"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void </a:t>
            </a:r>
            <a:r>
              <a:rPr lang="en-US" altLang="en-US" sz="2800" b="1" dirty="0" err="1">
                <a:latin typeface="Tahoma" panose="020B0604030504040204" pitchFamily="34" charset="0"/>
              </a:rPr>
              <a:t>setNext</a:t>
            </a:r>
            <a:r>
              <a:rPr lang="en-US" altLang="en-US" sz="2800" b="1" dirty="0">
                <a:latin typeface="Tahoma" panose="020B0604030504040204" pitchFamily="34" charset="0"/>
              </a:rPr>
              <a:t>(Linkable next);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void </a:t>
            </a:r>
            <a:r>
              <a:rPr lang="en-US" altLang="en-US" sz="2800" b="1" dirty="0" err="1">
                <a:latin typeface="Tahoma" panose="020B0604030504040204" pitchFamily="34" charset="0"/>
              </a:rPr>
              <a:t>setValue</a:t>
            </a:r>
            <a:r>
              <a:rPr lang="en-US" altLang="en-US" sz="2800" b="1" dirty="0">
                <a:latin typeface="Tahoma" panose="020B0604030504040204" pitchFamily="34" charset="0"/>
              </a:rPr>
              <a:t>(Comparable value);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0724" name="WordArt 3">
            <a:extLst>
              <a:ext uri="{FF2B5EF4-FFF2-40B4-BE49-F238E27FC236}">
                <a16:creationId xmlns:a16="http://schemas.microsoft.com/office/drawing/2014/main" id="{F183F238-9A8A-49BA-B18F-704942143AC8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4400" y="685800"/>
            <a:ext cx="72390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Linkable Interface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094BE7ED-7E37-4C6C-B2B3-F801E0CE4D9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32771" name="Rectangle 1026">
            <a:extLst>
              <a:ext uri="{FF2B5EF4-FFF2-40B4-BE49-F238E27FC236}">
                <a16:creationId xmlns:a16="http://schemas.microsoft.com/office/drawing/2014/main" id="{2937205B-9519-4A27-9CE2-E3E041C94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153400" cy="4709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public class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implements Linkable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Comparable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(Comparable value,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next)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</a:t>
            </a:r>
            <a:r>
              <a:rPr lang="en-US" altLang="en-US" sz="2000" b="1" dirty="0" err="1">
                <a:latin typeface="Tahoma" panose="020B0604030504040204" pitchFamily="34" charset="0"/>
              </a:rPr>
              <a:t>this.value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= value;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</a:t>
            </a:r>
            <a:r>
              <a:rPr lang="en-US" altLang="en-US" sz="2000" b="1" dirty="0" err="1">
                <a:latin typeface="Tahoma" panose="020B0604030504040204" pitchFamily="34" charset="0"/>
              </a:rPr>
              <a:t>this.next</a:t>
            </a:r>
            <a:r>
              <a:rPr lang="en-US" altLang="en-US" sz="2000" dirty="0">
                <a:latin typeface="Tahoma" panose="020B0604030504040204" pitchFamily="34" charset="0"/>
              </a:rPr>
              <a:t> </a:t>
            </a:r>
            <a:r>
              <a:rPr lang="en-US" altLang="en-US" sz="2000" b="1" dirty="0">
                <a:latin typeface="Tahoma" panose="020B0604030504040204" pitchFamily="34" charset="0"/>
              </a:rPr>
              <a:t>=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Comparable </a:t>
            </a:r>
            <a:r>
              <a:rPr lang="en-US" altLang="en-US" sz="2000" b="1" dirty="0" err="1">
                <a:latin typeface="Tahoma" panose="020B0604030504040204" pitchFamily="34" charset="0"/>
              </a:rPr>
              <a:t>getValue</a:t>
            </a:r>
            <a:r>
              <a:rPr lang="en-US" altLang="en-US" sz="2000" b="1" dirty="0">
                <a:latin typeface="Tahoma" panose="020B0604030504040204" pitchFamily="34" charset="0"/>
              </a:rPr>
              <a:t>()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</a:t>
            </a:r>
            <a:r>
              <a:rPr lang="en-US" altLang="en-US" sz="20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000" b="1" dirty="0">
                <a:latin typeface="Tahoma" panose="020B0604030504040204" pitchFamily="34" charset="0"/>
              </a:rPr>
              <a:t> </a:t>
            </a:r>
            <a:r>
              <a:rPr lang="en-US" altLang="en-US" sz="2000" b="1" dirty="0" err="1">
                <a:latin typeface="Tahoma" panose="020B0604030504040204" pitchFamily="34" charset="0"/>
              </a:rPr>
              <a:t>getNext</a:t>
            </a:r>
            <a:r>
              <a:rPr lang="en-US" altLang="en-US" sz="2000" b="1" dirty="0">
                <a:latin typeface="Tahoma" panose="020B0604030504040204" pitchFamily="34" charset="0"/>
              </a:rPr>
              <a:t>()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void </a:t>
            </a:r>
            <a:r>
              <a:rPr lang="en-US" altLang="en-US" sz="2000" b="1" dirty="0" err="1">
                <a:latin typeface="Tahoma" panose="020B0604030504040204" pitchFamily="34" charset="0"/>
              </a:rPr>
              <a:t>setValue</a:t>
            </a:r>
            <a:r>
              <a:rPr lang="en-US" altLang="en-US" sz="2000" b="1" dirty="0">
                <a:latin typeface="Tahoma" panose="020B0604030504040204" pitchFamily="34" charset="0"/>
              </a:rPr>
              <a:t>(Comparable value)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void </a:t>
            </a:r>
            <a:r>
              <a:rPr lang="en-US" altLang="en-US" sz="2000" b="1" dirty="0" err="1">
                <a:latin typeface="Tahoma" panose="020B0604030504040204" pitchFamily="34" charset="0"/>
              </a:rPr>
              <a:t>setNext</a:t>
            </a:r>
            <a:r>
              <a:rPr lang="en-US" altLang="en-US" sz="2000" b="1" dirty="0">
                <a:latin typeface="Tahoma" panose="020B0604030504040204" pitchFamily="34" charset="0"/>
              </a:rPr>
              <a:t>(Linkable next)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32772" name="WordArt 1027">
            <a:extLst>
              <a:ext uri="{FF2B5EF4-FFF2-40B4-BE49-F238E27FC236}">
                <a16:creationId xmlns:a16="http://schemas.microsoft.com/office/drawing/2014/main" id="{3749889A-C3E8-4B4A-A127-090EAF64D22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423451" y="2644614"/>
            <a:ext cx="35052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The </a:t>
            </a:r>
          </a:p>
          <a:p>
            <a:pPr algn="ctr"/>
            <a:r>
              <a:rPr lang="en-US" sz="3600" kern="10" dirty="0" err="1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ListNode</a:t>
            </a:r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 </a:t>
            </a:r>
          </a:p>
          <a:p>
            <a:pPr algn="ctr"/>
            <a:r>
              <a:rPr lang="en-US" sz="3600" kern="10" dirty="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Footer Placeholder 3">
            <a:extLst>
              <a:ext uri="{FF2B5EF4-FFF2-40B4-BE49-F238E27FC236}">
                <a16:creationId xmlns:a16="http://schemas.microsoft.com/office/drawing/2014/main" id="{84304D99-99E6-4446-B68F-025ECA2EF3D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7587" name="WordArt 2">
            <a:extLst>
              <a:ext uri="{FF2B5EF4-FFF2-40B4-BE49-F238E27FC236}">
                <a16:creationId xmlns:a16="http://schemas.microsoft.com/office/drawing/2014/main" id="{99524BB6-17D0-485F-BA97-3AAC4870C65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Adding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Footer Placeholder 3">
            <a:extLst>
              <a:ext uri="{FF2B5EF4-FFF2-40B4-BE49-F238E27FC236}">
                <a16:creationId xmlns:a16="http://schemas.microsoft.com/office/drawing/2014/main" id="{87D8BBF8-377A-4401-8F7E-419470E6F9D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A44AE894-FF41-472E-B370-52D3BCBB8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sp>
        <p:nvSpPr>
          <p:cNvPr id="69641" name="Text Box 19">
            <a:extLst>
              <a:ext uri="{FF2B5EF4-FFF2-40B4-BE49-F238E27FC236}">
                <a16:creationId xmlns:a16="http://schemas.microsoft.com/office/drawing/2014/main" id="{1E40844E-4D38-4316-8E46-41AD9EFC03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292107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("cat", null);</a:t>
            </a:r>
          </a:p>
        </p:txBody>
      </p:sp>
      <p:grpSp>
        <p:nvGrpSpPr>
          <p:cNvPr id="2" name="Group 1" descr="front = 0xF2&#10;0xF2 --&gt; cat, null&#10;Normal representation:&#10;front --&gt; cat --&gt; null">
            <a:extLst>
              <a:ext uri="{FF2B5EF4-FFF2-40B4-BE49-F238E27FC236}">
                <a16:creationId xmlns:a16="http://schemas.microsoft.com/office/drawing/2014/main" id="{24F219CB-A544-372E-F167-FD6E51CA2BFE}"/>
              </a:ext>
            </a:extLst>
          </p:cNvPr>
          <p:cNvGrpSpPr/>
          <p:nvPr/>
        </p:nvGrpSpPr>
        <p:grpSpPr>
          <a:xfrm>
            <a:off x="4343400" y="2514600"/>
            <a:ext cx="3220572" cy="1327150"/>
            <a:chOff x="4343400" y="2514600"/>
            <a:chExt cx="3220572" cy="1327150"/>
          </a:xfrm>
        </p:grpSpPr>
        <p:sp>
          <p:nvSpPr>
            <p:cNvPr id="69636" name="Rectangle 9">
              <a:extLst>
                <a:ext uri="{FF2B5EF4-FFF2-40B4-BE49-F238E27FC236}">
                  <a16:creationId xmlns:a16="http://schemas.microsoft.com/office/drawing/2014/main" id="{913A88A8-E2B0-4746-9DD9-0C554CAB2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69637" name="Rectangle 10">
              <a:extLst>
                <a:ext uri="{FF2B5EF4-FFF2-40B4-BE49-F238E27FC236}">
                  <a16:creationId xmlns:a16="http://schemas.microsoft.com/office/drawing/2014/main" id="{F33F6D2F-6BC3-494F-9601-E639D3E5AF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69639" name="Text Box 12">
              <a:extLst>
                <a:ext uri="{FF2B5EF4-FFF2-40B4-BE49-F238E27FC236}">
                  <a16:creationId xmlns:a16="http://schemas.microsoft.com/office/drawing/2014/main" id="{3B4124BB-72D2-4FB9-9C78-58F5799CEE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69640" name="Text Box 16">
              <a:extLst>
                <a:ext uri="{FF2B5EF4-FFF2-40B4-BE49-F238E27FC236}">
                  <a16:creationId xmlns:a16="http://schemas.microsoft.com/office/drawing/2014/main" id="{AA8B9557-9714-41E4-9D2E-BDC879790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372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69642" name="Text Box 20">
              <a:extLst>
                <a:ext uri="{FF2B5EF4-FFF2-40B4-BE49-F238E27FC236}">
                  <a16:creationId xmlns:a16="http://schemas.microsoft.com/office/drawing/2014/main" id="{4BD36D29-C325-4C74-98D4-2D522BA335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69643" name="Text Box 21">
              <a:extLst>
                <a:ext uri="{FF2B5EF4-FFF2-40B4-BE49-F238E27FC236}">
                  <a16:creationId xmlns:a16="http://schemas.microsoft.com/office/drawing/2014/main" id="{0079C6D5-51E1-49B8-8A98-79366BD246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3505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69644" name="Text Box 22">
              <a:extLst>
                <a:ext uri="{FF2B5EF4-FFF2-40B4-BE49-F238E27FC236}">
                  <a16:creationId xmlns:a16="http://schemas.microsoft.com/office/drawing/2014/main" id="{CBAECB9A-2C86-48A6-B583-D48D8449C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</p:grpSp>
      <p:sp>
        <p:nvSpPr>
          <p:cNvPr id="69645" name="WordArt 24">
            <a:extLst>
              <a:ext uri="{FF2B5EF4-FFF2-40B4-BE49-F238E27FC236}">
                <a16:creationId xmlns:a16="http://schemas.microsoft.com/office/drawing/2014/main" id="{7558B041-D1BA-4123-A6E4-618F047450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6096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Footer Placeholder 3">
            <a:extLst>
              <a:ext uri="{FF2B5EF4-FFF2-40B4-BE49-F238E27FC236}">
                <a16:creationId xmlns:a16="http://schemas.microsoft.com/office/drawing/2014/main" id="{0EB6099F-AABF-4965-BD3F-F402EDE9989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F40EEE06-FAD0-4188-8F85-84E70E935D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33&#10;0xF33 --&gt; dog, 0xF2&#10;0xF2 --&gt; cat, null&#10;&#10;Normal representation:&#10;front --&gt; dog --&gt; cat --&gt; null">
            <a:extLst>
              <a:ext uri="{FF2B5EF4-FFF2-40B4-BE49-F238E27FC236}">
                <a16:creationId xmlns:a16="http://schemas.microsoft.com/office/drawing/2014/main" id="{9DE390BD-749F-AA78-5C7D-A58FC891EBF5}"/>
              </a:ext>
            </a:extLst>
          </p:cNvPr>
          <p:cNvGrpSpPr/>
          <p:nvPr/>
        </p:nvGrpSpPr>
        <p:grpSpPr>
          <a:xfrm>
            <a:off x="1981200" y="2514600"/>
            <a:ext cx="5589496" cy="1250950"/>
            <a:chOff x="1981200" y="2514600"/>
            <a:chExt cx="5589496" cy="1250950"/>
          </a:xfrm>
        </p:grpSpPr>
        <p:sp>
          <p:nvSpPr>
            <p:cNvPr id="71684" name="Rectangle 6">
              <a:extLst>
                <a:ext uri="{FF2B5EF4-FFF2-40B4-BE49-F238E27FC236}">
                  <a16:creationId xmlns:a16="http://schemas.microsoft.com/office/drawing/2014/main" id="{2BE50758-8F94-49DC-8ED0-1A83A4CE8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42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5" name="Rectangle 7">
              <a:extLst>
                <a:ext uri="{FF2B5EF4-FFF2-40B4-BE49-F238E27FC236}">
                  <a16:creationId xmlns:a16="http://schemas.microsoft.com/office/drawing/2014/main" id="{174B9809-B47D-464D-867F-C6A7119E71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86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86" name="Line 8">
              <a:extLst>
                <a:ext uri="{FF2B5EF4-FFF2-40B4-BE49-F238E27FC236}">
                  <a16:creationId xmlns:a16="http://schemas.microsoft.com/office/drawing/2014/main" id="{ED90A58A-9E6D-4396-A5A9-E6FD6B791A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530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687" name="Rectangle 9">
              <a:extLst>
                <a:ext uri="{FF2B5EF4-FFF2-40B4-BE49-F238E27FC236}">
                  <a16:creationId xmlns:a16="http://schemas.microsoft.com/office/drawing/2014/main" id="{FE41F74F-4827-4E4E-85C7-CFF1E5E5A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1688" name="Rectangle 10">
              <a:extLst>
                <a:ext uri="{FF2B5EF4-FFF2-40B4-BE49-F238E27FC236}">
                  <a16:creationId xmlns:a16="http://schemas.microsoft.com/office/drawing/2014/main" id="{DFD0E51B-9D51-46F0-8E13-130065C9D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77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1690" name="Text Box 12">
              <a:extLst>
                <a:ext uri="{FF2B5EF4-FFF2-40B4-BE49-F238E27FC236}">
                  <a16:creationId xmlns:a16="http://schemas.microsoft.com/office/drawing/2014/main" id="{232BBAAF-6359-49E6-AF66-8E51B42AA9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1691" name="Text Box 13">
              <a:extLst>
                <a:ext uri="{FF2B5EF4-FFF2-40B4-BE49-F238E27FC236}">
                  <a16:creationId xmlns:a16="http://schemas.microsoft.com/office/drawing/2014/main" id="{966892D3-75F4-4410-AB0D-988FDD90CF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1692" name="Text Box 16">
              <a:extLst>
                <a:ext uri="{FF2B5EF4-FFF2-40B4-BE49-F238E27FC236}">
                  <a16:creationId xmlns:a16="http://schemas.microsoft.com/office/drawing/2014/main" id="{92169B3E-D055-409F-9D0D-2DAEC579D3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80096" y="313111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1693" name="Text Box 21">
              <a:extLst>
                <a:ext uri="{FF2B5EF4-FFF2-40B4-BE49-F238E27FC236}">
                  <a16:creationId xmlns:a16="http://schemas.microsoft.com/office/drawing/2014/main" id="{F58DBD64-EE54-4069-9C63-D7C1E85D0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0480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1694" name="Text Box 22">
              <a:extLst>
                <a:ext uri="{FF2B5EF4-FFF2-40B4-BE49-F238E27FC236}">
                  <a16:creationId xmlns:a16="http://schemas.microsoft.com/office/drawing/2014/main" id="{42500536-2DFD-40CD-AE6F-894EDB151E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19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5" name="Text Box 23">
              <a:extLst>
                <a:ext uri="{FF2B5EF4-FFF2-40B4-BE49-F238E27FC236}">
                  <a16:creationId xmlns:a16="http://schemas.microsoft.com/office/drawing/2014/main" id="{48A9B8FF-686E-474D-A0DF-2F5B9AD225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1696" name="Text Box 24">
              <a:extLst>
                <a:ext uri="{FF2B5EF4-FFF2-40B4-BE49-F238E27FC236}">
                  <a16:creationId xmlns:a16="http://schemas.microsoft.com/office/drawing/2014/main" id="{2ABD523D-F3AC-4528-983B-016C52440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12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1697" name="Text Box 25">
              <a:extLst>
                <a:ext uri="{FF2B5EF4-FFF2-40B4-BE49-F238E27FC236}">
                  <a16:creationId xmlns:a16="http://schemas.microsoft.com/office/drawing/2014/main" id="{943FD49A-FC93-4E42-9221-6403E0E11E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</p:grpSp>
      <p:sp>
        <p:nvSpPr>
          <p:cNvPr id="71698" name="Text Box 30">
            <a:extLst>
              <a:ext uri="{FF2B5EF4-FFF2-40B4-BE49-F238E27FC236}">
                <a16:creationId xmlns:a16="http://schemas.microsoft.com/office/drawing/2014/main" id="{B37A3CCE-9FD8-4F41-9D8E-F0F9B9855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83616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("dog", front);</a:t>
            </a:r>
          </a:p>
        </p:txBody>
      </p:sp>
      <p:sp>
        <p:nvSpPr>
          <p:cNvPr id="71699" name="WordArt 31">
            <a:extLst>
              <a:ext uri="{FF2B5EF4-FFF2-40B4-BE49-F238E27FC236}">
                <a16:creationId xmlns:a16="http://schemas.microsoft.com/office/drawing/2014/main" id="{422EE3EB-BADA-4730-A2BF-F9F167AB35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Footer Placeholder 3">
            <a:extLst>
              <a:ext uri="{FF2B5EF4-FFF2-40B4-BE49-F238E27FC236}">
                <a16:creationId xmlns:a16="http://schemas.microsoft.com/office/drawing/2014/main" id="{D4966E99-3043-4723-A101-F1033BD725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E6E5568C-0639-418D-976A-DCF0775C7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143000"/>
            <a:ext cx="1958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Courier New" panose="02070309020205020404" pitchFamily="49" charset="0"/>
              </a:rPr>
              <a:t>             </a:t>
            </a:r>
          </a:p>
        </p:txBody>
      </p:sp>
      <p:grpSp>
        <p:nvGrpSpPr>
          <p:cNvPr id="2" name="Group 1" descr="front = 0xF17&#10;0xF17 --&gt; pig, 0xF33&#10;0xF33 --&gt; dog, 0xF2&#10;0xF2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E4D52452-B3CA-9C01-21B3-F6F3D6F36AE2}"/>
              </a:ext>
            </a:extLst>
          </p:cNvPr>
          <p:cNvGrpSpPr/>
          <p:nvPr/>
        </p:nvGrpSpPr>
        <p:grpSpPr>
          <a:xfrm>
            <a:off x="304800" y="2514600"/>
            <a:ext cx="7810500" cy="1250950"/>
            <a:chOff x="304800" y="2514600"/>
            <a:chExt cx="7810500" cy="1250950"/>
          </a:xfrm>
        </p:grpSpPr>
        <p:sp>
          <p:nvSpPr>
            <p:cNvPr id="73732" name="Rectangle 13">
              <a:extLst>
                <a:ext uri="{FF2B5EF4-FFF2-40B4-BE49-F238E27FC236}">
                  <a16:creationId xmlns:a16="http://schemas.microsoft.com/office/drawing/2014/main" id="{1B24CD4C-3E95-4AF8-8BE4-61A5CA5316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54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3" name="Rectangle 14">
              <a:extLst>
                <a:ext uri="{FF2B5EF4-FFF2-40B4-BE49-F238E27FC236}">
                  <a16:creationId xmlns:a16="http://schemas.microsoft.com/office/drawing/2014/main" id="{2BB03E62-91EA-43BC-8167-7FB9DE32D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98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4" name="Line 15">
              <a:extLst>
                <a:ext uri="{FF2B5EF4-FFF2-40B4-BE49-F238E27FC236}">
                  <a16:creationId xmlns:a16="http://schemas.microsoft.com/office/drawing/2014/main" id="{0BA8D338-883A-4930-A91E-B11993CE6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42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5" name="Rectangle 16">
              <a:extLst>
                <a:ext uri="{FF2B5EF4-FFF2-40B4-BE49-F238E27FC236}">
                  <a16:creationId xmlns:a16="http://schemas.microsoft.com/office/drawing/2014/main" id="{1D374B6A-33A5-4B6F-A5BA-FDF7E8CE1A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6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6" name="Rectangle 17">
              <a:extLst>
                <a:ext uri="{FF2B5EF4-FFF2-40B4-BE49-F238E27FC236}">
                  <a16:creationId xmlns:a16="http://schemas.microsoft.com/office/drawing/2014/main" id="{7BCF5846-3034-4FFE-9B59-E82B6D3B2D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37" name="Line 18">
              <a:extLst>
                <a:ext uri="{FF2B5EF4-FFF2-40B4-BE49-F238E27FC236}">
                  <a16:creationId xmlns:a16="http://schemas.microsoft.com/office/drawing/2014/main" id="{6390ABB3-5B93-4D36-A483-5AF5CF6ADA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86400" y="3352800"/>
              <a:ext cx="4572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738" name="Rectangle 19">
              <a:extLst>
                <a:ext uri="{FF2B5EF4-FFF2-40B4-BE49-F238E27FC236}">
                  <a16:creationId xmlns:a16="http://schemas.microsoft.com/office/drawing/2014/main" id="{980ACEFE-1362-46FD-BDCB-6E211ADA7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2895600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73739" name="Rectangle 20">
              <a:extLst>
                <a:ext uri="{FF2B5EF4-FFF2-40B4-BE49-F238E27FC236}">
                  <a16:creationId xmlns:a16="http://schemas.microsoft.com/office/drawing/2014/main" id="{F5B7DD40-AD8C-40E0-AD11-B440BEBF38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10400" y="28956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73741" name="Text Box 22">
              <a:extLst>
                <a:ext uri="{FF2B5EF4-FFF2-40B4-BE49-F238E27FC236}">
                  <a16:creationId xmlns:a16="http://schemas.microsoft.com/office/drawing/2014/main" id="{C2ABE3C7-5A75-4314-861D-DD57ADD4F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73742" name="Text Box 23">
              <a:extLst>
                <a:ext uri="{FF2B5EF4-FFF2-40B4-BE49-F238E27FC236}">
                  <a16:creationId xmlns:a16="http://schemas.microsoft.com/office/drawing/2014/main" id="{0F2E32B2-D6F3-4689-98C1-718CFA45B7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38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73743" name="Text Box 24">
              <a:extLst>
                <a:ext uri="{FF2B5EF4-FFF2-40B4-BE49-F238E27FC236}">
                  <a16:creationId xmlns:a16="http://schemas.microsoft.com/office/drawing/2014/main" id="{E9CA6B9C-5C28-4099-A778-63E4E4F141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1600" y="31242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73744" name="Text Box 26">
              <a:extLst>
                <a:ext uri="{FF2B5EF4-FFF2-40B4-BE49-F238E27FC236}">
                  <a16:creationId xmlns:a16="http://schemas.microsoft.com/office/drawing/2014/main" id="{55E3B61A-0295-48FE-99B5-C0849C0CC2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4700" y="3124200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73745" name="Text Box 30">
              <a:extLst>
                <a:ext uri="{FF2B5EF4-FFF2-40B4-BE49-F238E27FC236}">
                  <a16:creationId xmlns:a16="http://schemas.microsoft.com/office/drawing/2014/main" id="{92A696E1-F586-4BF4-B830-9BD29C9433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2971800"/>
              <a:ext cx="990600" cy="5191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80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73746" name="Text Box 31">
              <a:extLst>
                <a:ext uri="{FF2B5EF4-FFF2-40B4-BE49-F238E27FC236}">
                  <a16:creationId xmlns:a16="http://schemas.microsoft.com/office/drawing/2014/main" id="{A5E4255F-16EC-48A5-8DE4-AA5643A27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4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3747" name="Text Box 32">
              <a:extLst>
                <a:ext uri="{FF2B5EF4-FFF2-40B4-BE49-F238E27FC236}">
                  <a16:creationId xmlns:a16="http://schemas.microsoft.com/office/drawing/2014/main" id="{3B06477F-1A81-42CD-A617-B0A945775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294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3748" name="Text Box 33">
              <a:extLst>
                <a:ext uri="{FF2B5EF4-FFF2-40B4-BE49-F238E27FC236}">
                  <a16:creationId xmlns:a16="http://schemas.microsoft.com/office/drawing/2014/main" id="{106DC784-7D91-4CEE-AA1C-C4B0C60A0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244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73749" name="Text Box 34">
              <a:extLst>
                <a:ext uri="{FF2B5EF4-FFF2-40B4-BE49-F238E27FC236}">
                  <a16:creationId xmlns:a16="http://schemas.microsoft.com/office/drawing/2014/main" id="{E574D0C5-D65E-442E-8B5B-F3112E35B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0" y="3200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0xF33</a:t>
              </a:r>
            </a:p>
          </p:txBody>
        </p:sp>
        <p:sp>
          <p:nvSpPr>
            <p:cNvPr id="73750" name="Text Box 35">
              <a:extLst>
                <a:ext uri="{FF2B5EF4-FFF2-40B4-BE49-F238E27FC236}">
                  <a16:creationId xmlns:a16="http://schemas.microsoft.com/office/drawing/2014/main" id="{365E84C5-D4CF-46A1-87C7-957E986D55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800" y="3429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73751" name="Text Box 36">
              <a:extLst>
                <a:ext uri="{FF2B5EF4-FFF2-40B4-BE49-F238E27FC236}">
                  <a16:creationId xmlns:a16="http://schemas.microsoft.com/office/drawing/2014/main" id="{05604ACD-9A2F-4103-9885-7CDA07EAF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8800" y="2514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</p:grpSp>
      <p:sp>
        <p:nvSpPr>
          <p:cNvPr id="73752" name="Text Box 40">
            <a:extLst>
              <a:ext uri="{FF2B5EF4-FFF2-40B4-BE49-F238E27FC236}">
                <a16:creationId xmlns:a16="http://schemas.microsoft.com/office/drawing/2014/main" id="{284A82D8-7ADE-4A4B-8C79-C9CB3500B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4572000"/>
            <a:ext cx="6811480" cy="52322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front = new </a:t>
            </a:r>
            <a:r>
              <a:rPr lang="en-US" altLang="en-US" sz="2800" b="1" dirty="0" err="1">
                <a:solidFill>
                  <a:schemeClr val="accent2"/>
                </a:solidFill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solidFill>
                  <a:schemeClr val="accent2"/>
                </a:solidFill>
                <a:latin typeface="Tahoma" panose="020B0604030504040204" pitchFamily="34" charset="0"/>
              </a:rPr>
              <a:t> ("pig", front);</a:t>
            </a:r>
          </a:p>
        </p:txBody>
      </p:sp>
      <p:sp>
        <p:nvSpPr>
          <p:cNvPr id="73753" name="WordArt 42">
            <a:extLst>
              <a:ext uri="{FF2B5EF4-FFF2-40B4-BE49-F238E27FC236}">
                <a16:creationId xmlns:a16="http://schemas.microsoft.com/office/drawing/2014/main" id="{2A3B3D4C-6052-40A0-8CE0-92A0AC8508CC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Footer Placeholder 3">
            <a:extLst>
              <a:ext uri="{FF2B5EF4-FFF2-40B4-BE49-F238E27FC236}">
                <a16:creationId xmlns:a16="http://schemas.microsoft.com/office/drawing/2014/main" id="{7AB9A650-A22A-4117-9055-35BA17B8FEE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EAB38429-946B-4B62-991D-6B02EC805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362200"/>
            <a:ext cx="9167813" cy="3508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ListNode front=null;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ListNode("10", 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ListNode("11",front);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front = new ListNode("12",front);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out.println(front.getNext().getNext().getValue());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ahoma" panose="020B0604030504040204" pitchFamily="34" charset="0"/>
              </a:rPr>
              <a:t>out.println(front.getNext().getValue());</a:t>
            </a:r>
          </a:p>
        </p:txBody>
      </p:sp>
      <p:sp>
        <p:nvSpPr>
          <p:cNvPr id="75780" name="Text Box 4">
            <a:extLst>
              <a:ext uri="{FF2B5EF4-FFF2-40B4-BE49-F238E27FC236}">
                <a16:creationId xmlns:a16="http://schemas.microsoft.com/office/drawing/2014/main" id="{9A047981-433D-4B1F-BC58-B0A596215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5781" name="WordArt 8">
            <a:extLst>
              <a:ext uri="{FF2B5EF4-FFF2-40B4-BE49-F238E27FC236}">
                <a16:creationId xmlns:a16="http://schemas.microsoft.com/office/drawing/2014/main" id="{23D64189-BA8F-4043-8D9C-99898953B0F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5532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add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5A70D92-7679-4A9D-8101-FABEF5945F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601B2B6A-6414-4D49-944E-28BFA2358C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solidFill>
                  <a:schemeClr val="bg1"/>
                </a:solidFill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3F7B9CB-B3AC-4FA3-86E9-D3452EBF05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1863437"/>
            <a:ext cx="1981200" cy="2786063"/>
          </a:xfrm>
          <a:prstGeom prst="rect">
            <a:avLst/>
          </a:prstGeom>
          <a:noFill/>
          <a:ln w="12700">
            <a:solidFill>
              <a:srgbClr val="99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en-US" b="1" u="sng" dirty="0">
                <a:solidFill>
                  <a:srgbClr val="FF0000"/>
                </a:solidFill>
                <a:latin typeface="Tahoma" panose="020B0604030504040204" pitchFamily="34" charset="0"/>
              </a:rPr>
              <a:t>OUTPUT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12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10</a:t>
            </a:r>
            <a:br>
              <a:rPr lang="en-US" altLang="en-US" b="1" dirty="0">
                <a:latin typeface="Tahoma" panose="020B0604030504040204" pitchFamily="34" charset="0"/>
              </a:rPr>
            </a:br>
            <a:r>
              <a:rPr lang="en-US" altLang="en-US" b="1" dirty="0">
                <a:latin typeface="Tahoma" panose="020B0604030504040204" pitchFamily="34" charset="0"/>
              </a:rPr>
              <a:t>11</a:t>
            </a:r>
            <a:br>
              <a:rPr lang="en-US" altLang="en-US" b="1" dirty="0">
                <a:latin typeface="Tahoma" panose="020B0604030504040204" pitchFamily="34" charset="0"/>
              </a:rPr>
            </a:br>
            <a:endParaRPr lang="en-US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Footer Placeholder 3">
            <a:extLst>
              <a:ext uri="{FF2B5EF4-FFF2-40B4-BE49-F238E27FC236}">
                <a16:creationId xmlns:a16="http://schemas.microsoft.com/office/drawing/2014/main" id="{63FA20B5-F552-4FB1-993C-7E7DE991F4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79875" name="WordArt 2">
            <a:extLst>
              <a:ext uri="{FF2B5EF4-FFF2-40B4-BE49-F238E27FC236}">
                <a16:creationId xmlns:a16="http://schemas.microsoft.com/office/drawing/2014/main" id="{3A55F777-190C-49CB-ACB4-DE4F6E2C5C77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Finding A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Footer Placeholder 3">
            <a:extLst>
              <a:ext uri="{FF2B5EF4-FFF2-40B4-BE49-F238E27FC236}">
                <a16:creationId xmlns:a16="http://schemas.microsoft.com/office/drawing/2014/main" id="{B4D89A9A-BF26-42BC-A5E8-EB40BAB4AD3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1923" name="WordArt 2">
            <a:extLst>
              <a:ext uri="{FF2B5EF4-FFF2-40B4-BE49-F238E27FC236}">
                <a16:creationId xmlns:a16="http://schemas.microsoft.com/office/drawing/2014/main" id="{1A44BEB0-B8F6-4171-9BBB-104071BA16F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533400"/>
            <a:ext cx="7162800" cy="8382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>
                    <a:alpha val="72940"/>
                  </a:srgbClr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Finding a Node</a:t>
            </a:r>
          </a:p>
        </p:txBody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0A029B7A-5C95-453F-8318-8FBFB124AC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650" y="1824841"/>
            <a:ext cx="81407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latin typeface="Tahoma" panose="020B0604030504040204" pitchFamily="34" charset="0"/>
              </a:rPr>
              <a:t>boolean</a:t>
            </a:r>
            <a:r>
              <a:rPr lang="en-US" altLang="en-US" sz="2800" b="1" dirty="0">
                <a:latin typeface="Tahoma" panose="020B0604030504040204" pitchFamily="34" charset="0"/>
              </a:rPr>
              <a:t> contains(Comparable key)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ListNode</a:t>
            </a:r>
            <a:r>
              <a:rPr lang="en-US" altLang="en-US" sz="2800" b="1" dirty="0">
                <a:latin typeface="Tahoma" panose="020B0604030504040204" pitchFamily="34" charset="0"/>
              </a:rPr>
              <a:t> list = front;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while ( list != null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  if(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list.getValue</a:t>
            </a:r>
            <a:r>
              <a:rPr lang="en-US" altLang="en-US" sz="2800" b="1" dirty="0">
                <a:latin typeface="Tahoma" panose="020B0604030504040204" pitchFamily="34" charset="0"/>
              </a:rPr>
              <a:t>().equals(key)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     return true;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 list = </a:t>
            </a:r>
            <a:r>
              <a:rPr lang="en-US" altLang="en-US" sz="2800" b="1" dirty="0" err="1">
                <a:latin typeface="Tahoma" panose="020B0604030504040204" pitchFamily="34" charset="0"/>
              </a:rPr>
              <a:t>list.getNext</a:t>
            </a:r>
            <a:r>
              <a:rPr lang="en-US" altLang="en-US" sz="2800" b="1" dirty="0">
                <a:latin typeface="Tahoma" panose="020B0604030504040204" pitchFamily="34" charset="0"/>
              </a:rPr>
              <a:t>();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return false;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Footer Placeholder 3">
            <a:extLst>
              <a:ext uri="{FF2B5EF4-FFF2-40B4-BE49-F238E27FC236}">
                <a16:creationId xmlns:a16="http://schemas.microsoft.com/office/drawing/2014/main" id="{EC923905-0368-4B87-9F67-46DF2E8A29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6019" name="WordArt 2">
            <a:extLst>
              <a:ext uri="{FF2B5EF4-FFF2-40B4-BE49-F238E27FC236}">
                <a16:creationId xmlns:a16="http://schemas.microsoft.com/office/drawing/2014/main" id="{F22F650D-4155-44E9-A054-8FDA638C52B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Nodes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Footer Placeholder 3">
            <a:extLst>
              <a:ext uri="{FF2B5EF4-FFF2-40B4-BE49-F238E27FC236}">
                <a16:creationId xmlns:a16="http://schemas.microsoft.com/office/drawing/2014/main" id="{E03E79F5-A609-4C85-8B14-AE4E42DBF1A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88067" name="WordArt 2">
            <a:extLst>
              <a:ext uri="{FF2B5EF4-FFF2-40B4-BE49-F238E27FC236}">
                <a16:creationId xmlns:a16="http://schemas.microsoft.com/office/drawing/2014/main" id="{82FA84AD-3390-4D3D-A942-5C71D742B20D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09600" y="1219200"/>
            <a:ext cx="7543800" cy="3048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First Node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Footer Placeholder 3">
            <a:extLst>
              <a:ext uri="{FF2B5EF4-FFF2-40B4-BE49-F238E27FC236}">
                <a16:creationId xmlns:a16="http://schemas.microsoft.com/office/drawing/2014/main" id="{CD03B3DC-9CCD-45BA-BFD7-520AE69EF3F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BB859716-5E5C-47CD-9C50-C54EF35C35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1143000"/>
            <a:ext cx="39385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pig is to be removed.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0126" name="WordArt 15">
            <a:extLst>
              <a:ext uri="{FF2B5EF4-FFF2-40B4-BE49-F238E27FC236}">
                <a16:creationId xmlns:a16="http://schemas.microsoft.com/office/drawing/2014/main" id="{6D88AC51-689E-4762-9FD1-AAA90BF1000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sp>
        <p:nvSpPr>
          <p:cNvPr id="90127" name="Text Box 16">
            <a:extLst>
              <a:ext uri="{FF2B5EF4-FFF2-40B4-BE49-F238E27FC236}">
                <a16:creationId xmlns:a16="http://schemas.microsoft.com/office/drawing/2014/main" id="{5322F3DB-F847-4740-8786-3F04030B0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05400"/>
            <a:ext cx="63246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refers to the 1</a:t>
            </a:r>
            <a:r>
              <a:rPr lang="en-US" altLang="en-US" sz="2800" baseline="30000">
                <a:solidFill>
                  <a:schemeClr val="accent2"/>
                </a:solidFill>
                <a:latin typeface="Tahoma" panose="020B0604030504040204" pitchFamily="34" charset="0"/>
              </a:rPr>
              <a:t>st</a:t>
            </a: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 node in the list.</a:t>
            </a:r>
          </a:p>
        </p:txBody>
      </p:sp>
      <p:grpSp>
        <p:nvGrpSpPr>
          <p:cNvPr id="2" name="Group 1" descr="front = 0xB3A&#10;0xB3A --&gt; pig, 0x2CB&#10;0x2CB --&gt; dog, 0xFEA&#10;0xFEA --&gt; cat, null&#10;&#10;Normal representation:&#10;front --&gt; pig --&gt; dog --&gt; cat --&gt; null">
            <a:extLst>
              <a:ext uri="{FF2B5EF4-FFF2-40B4-BE49-F238E27FC236}">
                <a16:creationId xmlns:a16="http://schemas.microsoft.com/office/drawing/2014/main" id="{C4A20493-8F71-9453-DB5A-F458CE1D7AAD}"/>
              </a:ext>
            </a:extLst>
          </p:cNvPr>
          <p:cNvGrpSpPr/>
          <p:nvPr/>
        </p:nvGrpSpPr>
        <p:grpSpPr>
          <a:xfrm>
            <a:off x="396690" y="2608729"/>
            <a:ext cx="8305800" cy="1143000"/>
            <a:chOff x="396690" y="2608729"/>
            <a:chExt cx="8305800" cy="1143000"/>
          </a:xfrm>
        </p:grpSpPr>
        <p:sp>
          <p:nvSpPr>
            <p:cNvPr id="90116" name="Rectangle 3">
              <a:extLst>
                <a:ext uri="{FF2B5EF4-FFF2-40B4-BE49-F238E27FC236}">
                  <a16:creationId xmlns:a16="http://schemas.microsoft.com/office/drawing/2014/main" id="{6C1D11D6-7604-4E07-8581-C28FABD56A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16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7" name="Rectangle 4">
              <a:extLst>
                <a:ext uri="{FF2B5EF4-FFF2-40B4-BE49-F238E27FC236}">
                  <a16:creationId xmlns:a16="http://schemas.microsoft.com/office/drawing/2014/main" id="{455E2DB5-8698-4504-86F9-0C4EC3865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0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8" name="Rectangle 5">
              <a:extLst>
                <a:ext uri="{FF2B5EF4-FFF2-40B4-BE49-F238E27FC236}">
                  <a16:creationId xmlns:a16="http://schemas.microsoft.com/office/drawing/2014/main" id="{08654975-28CA-4AD2-8E25-123ABEC26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4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19" name="Rectangle 6">
              <a:extLst>
                <a:ext uri="{FF2B5EF4-FFF2-40B4-BE49-F238E27FC236}">
                  <a16:creationId xmlns:a16="http://schemas.microsoft.com/office/drawing/2014/main" id="{D2088F77-5557-436C-A12B-4290AF8FD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58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20" name="Rectangle 7">
              <a:extLst>
                <a:ext uri="{FF2B5EF4-FFF2-40B4-BE49-F238E27FC236}">
                  <a16:creationId xmlns:a16="http://schemas.microsoft.com/office/drawing/2014/main" id="{3365ACE2-E822-4110-BC1D-ABFA472830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290" y="2913529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0121" name="Rectangle 8">
              <a:extLst>
                <a:ext uri="{FF2B5EF4-FFF2-40B4-BE49-F238E27FC236}">
                  <a16:creationId xmlns:a16="http://schemas.microsoft.com/office/drawing/2014/main" id="{4E8DDBE7-8F2B-4915-BED0-45AD2D862C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5690" y="2913529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0122" name="Text Box 9">
              <a:extLst>
                <a:ext uri="{FF2B5EF4-FFF2-40B4-BE49-F238E27FC236}">
                  <a16:creationId xmlns:a16="http://schemas.microsoft.com/office/drawing/2014/main" id="{4347A3FF-5004-4720-B465-29CD99CCE6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974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0123" name="Text Box 10">
              <a:extLst>
                <a:ext uri="{FF2B5EF4-FFF2-40B4-BE49-F238E27FC236}">
                  <a16:creationId xmlns:a16="http://schemas.microsoft.com/office/drawing/2014/main" id="{1B1675A1-AB07-4D31-AEAD-EFD017E68D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876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0124" name="Text Box 11">
              <a:extLst>
                <a:ext uri="{FF2B5EF4-FFF2-40B4-BE49-F238E27FC236}">
                  <a16:creationId xmlns:a16="http://schemas.microsoft.com/office/drawing/2014/main" id="{553ED3E5-DD80-46C0-8512-C7196A2554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7890" y="3142129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0125" name="Text Box 13">
              <a:extLst>
                <a:ext uri="{FF2B5EF4-FFF2-40B4-BE49-F238E27FC236}">
                  <a16:creationId xmlns:a16="http://schemas.microsoft.com/office/drawing/2014/main" id="{9A728038-9296-4C42-A473-03BC4FFF09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11890" y="3142129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0128" name="Text Box 18">
              <a:extLst>
                <a:ext uri="{FF2B5EF4-FFF2-40B4-BE49-F238E27FC236}">
                  <a16:creationId xmlns:a16="http://schemas.microsoft.com/office/drawing/2014/main" id="{D834061D-6427-4515-B66F-FDA4CDD7EC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26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90129" name="Line 19">
              <a:extLst>
                <a:ext uri="{FF2B5EF4-FFF2-40B4-BE49-F238E27FC236}">
                  <a16:creationId xmlns:a16="http://schemas.microsoft.com/office/drawing/2014/main" id="{07303EF1-C989-48FD-8C65-FF5939B9BC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4290" y="3370729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0" name="Text Box 23">
              <a:extLst>
                <a:ext uri="{FF2B5EF4-FFF2-40B4-BE49-F238E27FC236}">
                  <a16:creationId xmlns:a16="http://schemas.microsoft.com/office/drawing/2014/main" id="{F73439AC-15B8-4419-BFF9-6B69D407FC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924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0131" name="Text Box 24">
              <a:extLst>
                <a:ext uri="{FF2B5EF4-FFF2-40B4-BE49-F238E27FC236}">
                  <a16:creationId xmlns:a16="http://schemas.microsoft.com/office/drawing/2014/main" id="{C7477C31-CC12-4F19-BD11-8BC7FE9826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8490" y="26087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0132" name="Line 25">
              <a:extLst>
                <a:ext uri="{FF2B5EF4-FFF2-40B4-BE49-F238E27FC236}">
                  <a16:creationId xmlns:a16="http://schemas.microsoft.com/office/drawing/2014/main" id="{19241349-31C6-4EE0-8E6D-237A7AE23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64090" y="3370729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4" name="Text Box 27">
              <a:extLst>
                <a:ext uri="{FF2B5EF4-FFF2-40B4-BE49-F238E27FC236}">
                  <a16:creationId xmlns:a16="http://schemas.microsoft.com/office/drawing/2014/main" id="{E336753F-BBEC-41F5-9101-3A57D64361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090" y="32183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0135" name="Text Box 28">
              <a:extLst>
                <a:ext uri="{FF2B5EF4-FFF2-40B4-BE49-F238E27FC236}">
                  <a16:creationId xmlns:a16="http://schemas.microsoft.com/office/drawing/2014/main" id="{7F931461-72C1-4AA4-8A22-B551D5347A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5890" y="32183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0136" name="Text Box 32">
              <a:extLst>
                <a:ext uri="{FF2B5EF4-FFF2-40B4-BE49-F238E27FC236}">
                  <a16:creationId xmlns:a16="http://schemas.microsoft.com/office/drawing/2014/main" id="{19AD7A20-72D8-4B93-9D63-0CBCB69D02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90" y="2761129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0137" name="Text Box 34">
              <a:extLst>
                <a:ext uri="{FF2B5EF4-FFF2-40B4-BE49-F238E27FC236}">
                  <a16:creationId xmlns:a16="http://schemas.microsoft.com/office/drawing/2014/main" id="{B9F7648E-F72E-4105-AB83-5A4406BC86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690" y="3142129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90138" name="Line 35">
              <a:extLst>
                <a:ext uri="{FF2B5EF4-FFF2-40B4-BE49-F238E27FC236}">
                  <a16:creationId xmlns:a16="http://schemas.microsoft.com/office/drawing/2014/main" id="{E2407369-5FC3-40EE-AD5F-511DE45C41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3490" y="3065929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Footer Placeholder 3">
            <a:extLst>
              <a:ext uri="{FF2B5EF4-FFF2-40B4-BE49-F238E27FC236}">
                <a16:creationId xmlns:a16="http://schemas.microsoft.com/office/drawing/2014/main" id="{9BE25972-ABF2-4859-924A-78ED7FA2BD1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C4AFB20-EED7-4455-80FF-2592816ED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143000"/>
            <a:ext cx="445611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front = front.getNext();</a:t>
            </a:r>
          </a:p>
        </p:txBody>
      </p:sp>
      <p:sp>
        <p:nvSpPr>
          <p:cNvPr id="92164" name="Text Box 4">
            <a:extLst>
              <a:ext uri="{FF2B5EF4-FFF2-40B4-BE49-F238E27FC236}">
                <a16:creationId xmlns:a16="http://schemas.microsoft.com/office/drawing/2014/main" id="{53BEC47D-F119-4EDE-860F-8CB912DC83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05400"/>
            <a:ext cx="449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moves up one node.  </a:t>
            </a:r>
          </a:p>
        </p:txBody>
      </p:sp>
      <p:sp>
        <p:nvSpPr>
          <p:cNvPr id="92186" name="WordArt 32">
            <a:extLst>
              <a:ext uri="{FF2B5EF4-FFF2-40B4-BE49-F238E27FC236}">
                <a16:creationId xmlns:a16="http://schemas.microsoft.com/office/drawing/2014/main" id="{DF347EBE-AB28-49C7-A689-8A793921419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the first node</a:t>
            </a:r>
          </a:p>
        </p:txBody>
      </p:sp>
      <p:grpSp>
        <p:nvGrpSpPr>
          <p:cNvPr id="2" name="Group 1" descr="Before removal:&#10;front = 0xB3A&#10;0xB3A --&gt; pig, 0x2CB&#10;0x2CB --&gt; dog, 0xFEA&#10;0xFEA --&gt; cat, null&#10;&#10;After removal:&#10;front = 0x2CB&#10;0x2CB --&gt; dog, 0xFEA&#10;0xFEA --&gt; cat, null&#10;&#10;Note that the pig node still exists in memory temporarily, but has been marked for removal by the garbage collector.&#10;&#10;Normal representation of original list:&#10;front --&gt; pig --&gt; dog --&gt; cat --&gt; null&#10;&#10;after removal:&#10;front --&gt; dog --&gt; cat --&gt; null">
            <a:extLst>
              <a:ext uri="{FF2B5EF4-FFF2-40B4-BE49-F238E27FC236}">
                <a16:creationId xmlns:a16="http://schemas.microsoft.com/office/drawing/2014/main" id="{0421C70A-28EB-2653-02AD-F5778D354342}"/>
              </a:ext>
            </a:extLst>
          </p:cNvPr>
          <p:cNvGrpSpPr/>
          <p:nvPr/>
        </p:nvGrpSpPr>
        <p:grpSpPr>
          <a:xfrm>
            <a:off x="457200" y="2364432"/>
            <a:ext cx="8305800" cy="1353680"/>
            <a:chOff x="457200" y="2364432"/>
            <a:chExt cx="8305800" cy="1353680"/>
          </a:xfrm>
        </p:grpSpPr>
        <p:sp>
          <p:nvSpPr>
            <p:cNvPr id="204805" name="Rectangle 5">
              <a:extLst>
                <a:ext uri="{FF2B5EF4-FFF2-40B4-BE49-F238E27FC236}">
                  <a16:creationId xmlns:a16="http://schemas.microsoft.com/office/drawing/2014/main" id="{2E1693FC-571D-43EC-AA17-2E979353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204806" name="Rectangle 6">
              <a:extLst>
                <a:ext uri="{FF2B5EF4-FFF2-40B4-BE49-F238E27FC236}">
                  <a16:creationId xmlns:a16="http://schemas.microsoft.com/office/drawing/2014/main" id="{D3E2A0CA-E3FA-4CF1-9134-D9204D982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7" name="Rectangle 7">
              <a:extLst>
                <a:ext uri="{FF2B5EF4-FFF2-40B4-BE49-F238E27FC236}">
                  <a16:creationId xmlns:a16="http://schemas.microsoft.com/office/drawing/2014/main" id="{D4FCF855-4867-4B88-A390-80C778C3FC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8" name="Rectangle 8">
              <a:extLst>
                <a:ext uri="{FF2B5EF4-FFF2-40B4-BE49-F238E27FC236}">
                  <a16:creationId xmlns:a16="http://schemas.microsoft.com/office/drawing/2014/main" id="{32C966C5-CE8C-4AAA-8256-F08862F814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69" name="Rectangle 9">
              <a:extLst>
                <a:ext uri="{FF2B5EF4-FFF2-40B4-BE49-F238E27FC236}">
                  <a16:creationId xmlns:a16="http://schemas.microsoft.com/office/drawing/2014/main" id="{6F4CD220-F95E-4610-80A1-36B3BD357F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879912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2170" name="Rectangle 10">
              <a:extLst>
                <a:ext uri="{FF2B5EF4-FFF2-40B4-BE49-F238E27FC236}">
                  <a16:creationId xmlns:a16="http://schemas.microsoft.com/office/drawing/2014/main" id="{A67142BD-DFA6-4EF5-8902-46DC4177E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879912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2172" name="Text Box 12">
              <a:extLst>
                <a:ext uri="{FF2B5EF4-FFF2-40B4-BE49-F238E27FC236}">
                  <a16:creationId xmlns:a16="http://schemas.microsoft.com/office/drawing/2014/main" id="{6673C810-586B-43F8-94C0-0714927CF7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2173" name="Text Box 13">
              <a:extLst>
                <a:ext uri="{FF2B5EF4-FFF2-40B4-BE49-F238E27FC236}">
                  <a16:creationId xmlns:a16="http://schemas.microsoft.com/office/drawing/2014/main" id="{1BF37935-D657-403B-BEEA-6E5031EE75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204814" name="Text Box 14">
              <a:extLst>
                <a:ext uri="{FF2B5EF4-FFF2-40B4-BE49-F238E27FC236}">
                  <a16:creationId xmlns:a16="http://schemas.microsoft.com/office/drawing/2014/main" id="{FDC65391-1E18-46BB-B25D-57108251A8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108512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2175" name="Text Box 15">
              <a:extLst>
                <a:ext uri="{FF2B5EF4-FFF2-40B4-BE49-F238E27FC236}">
                  <a16:creationId xmlns:a16="http://schemas.microsoft.com/office/drawing/2014/main" id="{FB5E6539-66B2-4D16-AAD4-3829990AD3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364432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2176" name="Text Box 16">
              <a:extLst>
                <a:ext uri="{FF2B5EF4-FFF2-40B4-BE49-F238E27FC236}">
                  <a16:creationId xmlns:a16="http://schemas.microsoft.com/office/drawing/2014/main" id="{26319E84-4123-45EE-BF53-46F5B30BC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3126815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2177" name="Text Box 18">
              <a:extLst>
                <a:ext uri="{FF2B5EF4-FFF2-40B4-BE49-F238E27FC236}">
                  <a16:creationId xmlns:a16="http://schemas.microsoft.com/office/drawing/2014/main" id="{48A40888-301A-49EB-B7E4-E1308C392C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74543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204819" name="Text Box 19">
              <a:extLst>
                <a:ext uri="{FF2B5EF4-FFF2-40B4-BE49-F238E27FC236}">
                  <a16:creationId xmlns:a16="http://schemas.microsoft.com/office/drawing/2014/main" id="{375EAF21-032A-418A-84F6-988744E4F1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0xB3A</a:t>
              </a:r>
            </a:p>
          </p:txBody>
        </p:sp>
        <p:sp>
          <p:nvSpPr>
            <p:cNvPr id="204820" name="Line 20">
              <a:extLst>
                <a:ext uri="{FF2B5EF4-FFF2-40B4-BE49-F238E27FC236}">
                  <a16:creationId xmlns:a16="http://schemas.microsoft.com/office/drawing/2014/main" id="{4D9BA668-B2E8-4EB1-B602-C4E5A143A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79912"/>
              <a:ext cx="3124200" cy="152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0" name="Text Box 23">
              <a:extLst>
                <a:ext uri="{FF2B5EF4-FFF2-40B4-BE49-F238E27FC236}">
                  <a16:creationId xmlns:a16="http://schemas.microsoft.com/office/drawing/2014/main" id="{FF7BAE3A-DFEE-4E0F-807C-B0D418CA7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2181" name="Text Box 24">
              <a:extLst>
                <a:ext uri="{FF2B5EF4-FFF2-40B4-BE49-F238E27FC236}">
                  <a16:creationId xmlns:a16="http://schemas.microsoft.com/office/drawing/2014/main" id="{E166B4C6-85B0-4D41-9898-86DD12B31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5751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204828" name="Line 28">
              <a:extLst>
                <a:ext uri="{FF2B5EF4-FFF2-40B4-BE49-F238E27FC236}">
                  <a16:creationId xmlns:a16="http://schemas.microsoft.com/office/drawing/2014/main" id="{968254E6-1855-4AE5-AB3D-4CE3D0CA29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3337112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29" name="Text Box 29">
              <a:extLst>
                <a:ext uri="{FF2B5EF4-FFF2-40B4-BE49-F238E27FC236}">
                  <a16:creationId xmlns:a16="http://schemas.microsoft.com/office/drawing/2014/main" id="{A295E26D-59A8-4B7E-AE4E-32E70FF31C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31847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0x2CB</a:t>
              </a:r>
            </a:p>
          </p:txBody>
        </p:sp>
        <p:sp>
          <p:nvSpPr>
            <p:cNvPr id="92184" name="Line 30">
              <a:extLst>
                <a:ext uri="{FF2B5EF4-FFF2-40B4-BE49-F238E27FC236}">
                  <a16:creationId xmlns:a16="http://schemas.microsoft.com/office/drawing/2014/main" id="{628BA231-5524-4F15-AB27-469EC8A167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3337112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5" name="Text Box 31">
              <a:extLst>
                <a:ext uri="{FF2B5EF4-FFF2-40B4-BE49-F238E27FC236}">
                  <a16:creationId xmlns:a16="http://schemas.microsoft.com/office/drawing/2014/main" id="{FDE38F4B-B855-41CA-946D-3BCDA5DFFF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318471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204834" name="Line 34">
              <a:extLst>
                <a:ext uri="{FF2B5EF4-FFF2-40B4-BE49-F238E27FC236}">
                  <a16:creationId xmlns:a16="http://schemas.microsoft.com/office/drawing/2014/main" id="{1A079370-0D96-4CD8-8BEA-B34BDE81CB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1600" y="2879912"/>
              <a:ext cx="685800" cy="1524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Footer Placeholder 3">
            <a:extLst>
              <a:ext uri="{FF2B5EF4-FFF2-40B4-BE49-F238E27FC236}">
                <a16:creationId xmlns:a16="http://schemas.microsoft.com/office/drawing/2014/main" id="{39331A35-3EE0-4817-8772-FB0D5124E2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4211" name="WordArt 4">
            <a:extLst>
              <a:ext uri="{FF2B5EF4-FFF2-40B4-BE49-F238E27FC236}">
                <a16:creationId xmlns:a16="http://schemas.microsoft.com/office/drawing/2014/main" id="{BA6FE019-7516-4BF3-984C-D7CE89A1FDD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2362200"/>
            <a:ext cx="7391400" cy="19050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Footer Placeholder 3">
            <a:extLst>
              <a:ext uri="{FF2B5EF4-FFF2-40B4-BE49-F238E27FC236}">
                <a16:creationId xmlns:a16="http://schemas.microsoft.com/office/drawing/2014/main" id="{15A9CA9A-62CD-42C6-BEFB-824D24E0198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2F31B89E-8AC8-4BF1-9C55-1C753604C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990600"/>
            <a:ext cx="4652963" cy="955675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dog is to be removed.</a:t>
            </a:r>
            <a:b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</a:b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 = front;</a:t>
            </a:r>
            <a:r>
              <a:rPr lang="en-US" altLang="en-US" sz="1800" b="1">
                <a:latin typeface="Courier New" panose="02070309020205020404" pitchFamily="49" charset="0"/>
              </a:rPr>
              <a:t>            </a:t>
            </a:r>
          </a:p>
        </p:txBody>
      </p:sp>
      <p:sp>
        <p:nvSpPr>
          <p:cNvPr id="96272" name="WordArt 45">
            <a:extLst>
              <a:ext uri="{FF2B5EF4-FFF2-40B4-BE49-F238E27FC236}">
                <a16:creationId xmlns:a16="http://schemas.microsoft.com/office/drawing/2014/main" id="{2A2A36E9-1B93-4A56-AF00-2B27C7D1090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96273" name="Text Box 46">
            <a:extLst>
              <a:ext uri="{FF2B5EF4-FFF2-40B4-BE49-F238E27FC236}">
                <a16:creationId xmlns:a16="http://schemas.microsoft.com/office/drawing/2014/main" id="{EDEC0036-4F23-47CF-A887-2D29FEEC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81600"/>
            <a:ext cx="8305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 and current store the same memory address.</a:t>
            </a:r>
          </a:p>
        </p:txBody>
      </p:sp>
      <p:grpSp>
        <p:nvGrpSpPr>
          <p:cNvPr id="2" name="Group 1" descr="The linked list:&#10;front = current = 0xF17&#10;0xF17 --&gt; pig, 0xF21&#10;0xF21 --&gt; dog, 0xFEA&#10;0xFEA --&gt; cat, null&#10;&#10;Normal representation of original list:&#10;front --&gt; pig --&gt; dog --&gt; cat --&gt; null&#10;current also points to pig">
            <a:extLst>
              <a:ext uri="{FF2B5EF4-FFF2-40B4-BE49-F238E27FC236}">
                <a16:creationId xmlns:a16="http://schemas.microsoft.com/office/drawing/2014/main" id="{18B0EBA1-5481-F1C2-E3E0-E93D3614A8C2}"/>
              </a:ext>
            </a:extLst>
          </p:cNvPr>
          <p:cNvGrpSpPr/>
          <p:nvPr/>
        </p:nvGrpSpPr>
        <p:grpSpPr>
          <a:xfrm>
            <a:off x="437028" y="2487986"/>
            <a:ext cx="8325972" cy="1555750"/>
            <a:chOff x="437028" y="2487986"/>
            <a:chExt cx="8325972" cy="1555750"/>
          </a:xfrm>
        </p:grpSpPr>
        <p:sp>
          <p:nvSpPr>
            <p:cNvPr id="96260" name="Rectangle 28">
              <a:extLst>
                <a:ext uri="{FF2B5EF4-FFF2-40B4-BE49-F238E27FC236}">
                  <a16:creationId xmlns:a16="http://schemas.microsoft.com/office/drawing/2014/main" id="{49A81338-F336-42FF-9E0C-E0E40CDAFD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420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1" name="Rectangle 29">
              <a:extLst>
                <a:ext uri="{FF2B5EF4-FFF2-40B4-BE49-F238E27FC236}">
                  <a16:creationId xmlns:a16="http://schemas.microsoft.com/office/drawing/2014/main" id="{BA216382-CF75-47EB-90E0-03A77D507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2" name="Rectangle 31">
              <a:extLst>
                <a:ext uri="{FF2B5EF4-FFF2-40B4-BE49-F238E27FC236}">
                  <a16:creationId xmlns:a16="http://schemas.microsoft.com/office/drawing/2014/main" id="{A57D0690-7C06-4680-A83B-64D353F29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18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3" name="Rectangle 32">
              <a:extLst>
                <a:ext uri="{FF2B5EF4-FFF2-40B4-BE49-F238E27FC236}">
                  <a16:creationId xmlns:a16="http://schemas.microsoft.com/office/drawing/2014/main" id="{8A890D96-AA8D-4B21-BFEE-DCFDAA8076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662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4" name="Rectangle 34">
              <a:extLst>
                <a:ext uri="{FF2B5EF4-FFF2-40B4-BE49-F238E27FC236}">
                  <a16:creationId xmlns:a16="http://schemas.microsoft.com/office/drawing/2014/main" id="{9146A60F-A5C2-4B8E-A502-22283BF6B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61628" y="2792786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6265" name="Rectangle 35">
              <a:extLst>
                <a:ext uri="{FF2B5EF4-FFF2-40B4-BE49-F238E27FC236}">
                  <a16:creationId xmlns:a16="http://schemas.microsoft.com/office/drawing/2014/main" id="{E67C96F4-EC98-4534-8B3F-F967E07C1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6028" y="2792786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6266" name="Text Box 37">
              <a:extLst>
                <a:ext uri="{FF2B5EF4-FFF2-40B4-BE49-F238E27FC236}">
                  <a16:creationId xmlns:a16="http://schemas.microsoft.com/office/drawing/2014/main" id="{D83D9166-E88D-403A-833D-1A44FF23EA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378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6267" name="Text Box 38">
              <a:extLst>
                <a:ext uri="{FF2B5EF4-FFF2-40B4-BE49-F238E27FC236}">
                  <a16:creationId xmlns:a16="http://schemas.microsoft.com/office/drawing/2014/main" id="{112B399F-6EE7-4D7B-9D66-B995F27FF4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280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6268" name="Text Box 39">
              <a:extLst>
                <a:ext uri="{FF2B5EF4-FFF2-40B4-BE49-F238E27FC236}">
                  <a16:creationId xmlns:a16="http://schemas.microsoft.com/office/drawing/2014/main" id="{4965E794-0B6B-461B-BC58-32823F194E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8228" y="3021386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6269" name="Text Box 40">
              <a:extLst>
                <a:ext uri="{FF2B5EF4-FFF2-40B4-BE49-F238E27FC236}">
                  <a16:creationId xmlns:a16="http://schemas.microsoft.com/office/drawing/2014/main" id="{AE628866-83D0-48FD-8613-B8948D5E7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2640386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6270" name="Text Box 43">
              <a:extLst>
                <a:ext uri="{FF2B5EF4-FFF2-40B4-BE49-F238E27FC236}">
                  <a16:creationId xmlns:a16="http://schemas.microsoft.com/office/drawing/2014/main" id="{B0F85639-7AFC-4033-98B8-0612998A70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999161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6271" name="Text Box 44">
              <a:extLst>
                <a:ext uri="{FF2B5EF4-FFF2-40B4-BE49-F238E27FC236}">
                  <a16:creationId xmlns:a16="http://schemas.microsoft.com/office/drawing/2014/main" id="{C4972756-505B-41C7-9EC1-8E61D53D4A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326186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96274" name="Text Box 50">
              <a:extLst>
                <a:ext uri="{FF2B5EF4-FFF2-40B4-BE49-F238E27FC236}">
                  <a16:creationId xmlns:a16="http://schemas.microsoft.com/office/drawing/2014/main" id="{97B78F1D-97B4-4553-B75A-0C6BE7BD86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0213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75" name="Text Box 51">
              <a:extLst>
                <a:ext uri="{FF2B5EF4-FFF2-40B4-BE49-F238E27FC236}">
                  <a16:creationId xmlns:a16="http://schemas.microsoft.com/office/drawing/2014/main" id="{DE1B8F7D-B9CF-44B5-9F90-338FB9035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230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76" name="Line 53">
              <a:extLst>
                <a:ext uri="{FF2B5EF4-FFF2-40B4-BE49-F238E27FC236}">
                  <a16:creationId xmlns:a16="http://schemas.microsoft.com/office/drawing/2014/main" id="{790BA45B-F64A-4CB8-8223-A48F419E35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4628" y="3249986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7" name="Line 54">
              <a:extLst>
                <a:ext uri="{FF2B5EF4-FFF2-40B4-BE49-F238E27FC236}">
                  <a16:creationId xmlns:a16="http://schemas.microsoft.com/office/drawing/2014/main" id="{2924DACE-62A1-46D0-8594-53BC24A1B7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828" y="2945186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8" name="Line 55">
              <a:extLst>
                <a:ext uri="{FF2B5EF4-FFF2-40B4-BE49-F238E27FC236}">
                  <a16:creationId xmlns:a16="http://schemas.microsoft.com/office/drawing/2014/main" id="{C6EB8B9F-B633-4116-93B1-5AB5D7C3D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2428" y="3554786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79" name="Text Box 56">
              <a:extLst>
                <a:ext uri="{FF2B5EF4-FFF2-40B4-BE49-F238E27FC236}">
                  <a16:creationId xmlns:a16="http://schemas.microsoft.com/office/drawing/2014/main" id="{A2817ADE-C195-489D-8530-72BD97550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028" y="37071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6280" name="Text Box 57">
              <a:extLst>
                <a:ext uri="{FF2B5EF4-FFF2-40B4-BE49-F238E27FC236}">
                  <a16:creationId xmlns:a16="http://schemas.microsoft.com/office/drawing/2014/main" id="{CBFA1B77-B1A9-4075-9B92-FC8417475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328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6281" name="Text Box 58">
              <a:extLst>
                <a:ext uri="{FF2B5EF4-FFF2-40B4-BE49-F238E27FC236}">
                  <a16:creationId xmlns:a16="http://schemas.microsoft.com/office/drawing/2014/main" id="{29C97A41-5C88-4306-B25D-1E3B2F489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18828" y="24879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6282" name="Line 59">
              <a:extLst>
                <a:ext uri="{FF2B5EF4-FFF2-40B4-BE49-F238E27FC236}">
                  <a16:creationId xmlns:a16="http://schemas.microsoft.com/office/drawing/2014/main" id="{DC210B8E-1D5A-4E1E-8EEE-88DA30BBEE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04428" y="3249986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284" name="Text Box 61">
              <a:extLst>
                <a:ext uri="{FF2B5EF4-FFF2-40B4-BE49-F238E27FC236}">
                  <a16:creationId xmlns:a16="http://schemas.microsoft.com/office/drawing/2014/main" id="{3F46EED8-D26C-4281-8A94-5326AB3A7C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428" y="30975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6285" name="Text Box 62">
              <a:extLst>
                <a:ext uri="{FF2B5EF4-FFF2-40B4-BE49-F238E27FC236}">
                  <a16:creationId xmlns:a16="http://schemas.microsoft.com/office/drawing/2014/main" id="{D19E2ADB-BB22-4BEA-9553-527BC33662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6228" y="3097586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Footer Placeholder 3">
            <a:extLst>
              <a:ext uri="{FF2B5EF4-FFF2-40B4-BE49-F238E27FC236}">
                <a16:creationId xmlns:a16="http://schemas.microsoft.com/office/drawing/2014/main" id="{1B2202E4-ABFD-4FC1-BE8C-2813A848879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5FE8C2E4-ECC0-440E-B528-4D50458E8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143000"/>
            <a:ext cx="3662363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previous = current;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98309" name="Text Box 21">
            <a:extLst>
              <a:ext uri="{FF2B5EF4-FFF2-40B4-BE49-F238E27FC236}">
                <a16:creationId xmlns:a16="http://schemas.microsoft.com/office/drawing/2014/main" id="{B958712F-8E20-4EA3-B7D5-6BB8ADAE8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105400"/>
            <a:ext cx="8001000" cy="958850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front, current, and previous all store the same memory address.</a:t>
            </a:r>
          </a:p>
        </p:txBody>
      </p:sp>
      <p:grpSp>
        <p:nvGrpSpPr>
          <p:cNvPr id="2" name="Group 1" descr="The linked list:&#10;front = current = previous = 0xF17&#10;0xF17 --&gt; pig, 0xF21&#10;0xF21 --&gt; dog, 0xFEA&#10;0xFEA --&gt; cat, null&#10;&#10;Normal representation of original list:&#10;front --&gt; pig --&gt; dog --&gt; cat --&gt; null&#10;current and previous also points to pig">
            <a:extLst>
              <a:ext uri="{FF2B5EF4-FFF2-40B4-BE49-F238E27FC236}">
                <a16:creationId xmlns:a16="http://schemas.microsoft.com/office/drawing/2014/main" id="{B9383D49-C5FA-5AB2-B603-D3EAD3FFDB82}"/>
              </a:ext>
            </a:extLst>
          </p:cNvPr>
          <p:cNvGrpSpPr/>
          <p:nvPr/>
        </p:nvGrpSpPr>
        <p:grpSpPr>
          <a:xfrm>
            <a:off x="457200" y="2225488"/>
            <a:ext cx="8305800" cy="2165350"/>
            <a:chOff x="457200" y="2225488"/>
            <a:chExt cx="8305800" cy="2165350"/>
          </a:xfrm>
        </p:grpSpPr>
        <p:sp>
          <p:nvSpPr>
            <p:cNvPr id="98308" name="Text Box 17">
              <a:extLst>
                <a:ext uri="{FF2B5EF4-FFF2-40B4-BE49-F238E27FC236}">
                  <a16:creationId xmlns:a16="http://schemas.microsoft.com/office/drawing/2014/main" id="{D437C571-F9FF-4D72-A736-7730FF0F45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673288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previous</a:t>
              </a:r>
            </a:p>
          </p:txBody>
        </p:sp>
        <p:sp>
          <p:nvSpPr>
            <p:cNvPr id="98310" name="Rectangle 27">
              <a:extLst>
                <a:ext uri="{FF2B5EF4-FFF2-40B4-BE49-F238E27FC236}">
                  <a16:creationId xmlns:a16="http://schemas.microsoft.com/office/drawing/2014/main" id="{02D50328-E4CB-421F-BD4E-7C41F7831B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1" name="Rectangle 28">
              <a:extLst>
                <a:ext uri="{FF2B5EF4-FFF2-40B4-BE49-F238E27FC236}">
                  <a16:creationId xmlns:a16="http://schemas.microsoft.com/office/drawing/2014/main" id="{8A869A56-FF38-4114-A14C-70E37DA384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6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2" name="Rectangle 29">
              <a:extLst>
                <a:ext uri="{FF2B5EF4-FFF2-40B4-BE49-F238E27FC236}">
                  <a16:creationId xmlns:a16="http://schemas.microsoft.com/office/drawing/2014/main" id="{DFB39C42-CD92-478B-BF90-C5D647155B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3" name="Rectangle 30">
              <a:extLst>
                <a:ext uri="{FF2B5EF4-FFF2-40B4-BE49-F238E27FC236}">
                  <a16:creationId xmlns:a16="http://schemas.microsoft.com/office/drawing/2014/main" id="{783D977F-5B73-4D55-9AE4-51D368476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864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4" name="Rectangle 31">
              <a:extLst>
                <a:ext uri="{FF2B5EF4-FFF2-40B4-BE49-F238E27FC236}">
                  <a16:creationId xmlns:a16="http://schemas.microsoft.com/office/drawing/2014/main" id="{1D950543-4DB8-4D14-B557-F7AC8425CA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0" y="2530288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98315" name="Rectangle 32">
              <a:extLst>
                <a:ext uri="{FF2B5EF4-FFF2-40B4-BE49-F238E27FC236}">
                  <a16:creationId xmlns:a16="http://schemas.microsoft.com/office/drawing/2014/main" id="{61CC2F46-7026-4147-AEBC-9D8666248F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00" y="2530288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98317" name="Text Box 34">
              <a:extLst>
                <a:ext uri="{FF2B5EF4-FFF2-40B4-BE49-F238E27FC236}">
                  <a16:creationId xmlns:a16="http://schemas.microsoft.com/office/drawing/2014/main" id="{F23CC2BB-7740-465D-B2D6-12D95A6697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580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98318" name="Text Box 35">
              <a:extLst>
                <a:ext uri="{FF2B5EF4-FFF2-40B4-BE49-F238E27FC236}">
                  <a16:creationId xmlns:a16="http://schemas.microsoft.com/office/drawing/2014/main" id="{9F849931-418F-496C-8BA0-D2AC16C94A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82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98319" name="Text Box 36">
              <a:extLst>
                <a:ext uri="{FF2B5EF4-FFF2-40B4-BE49-F238E27FC236}">
                  <a16:creationId xmlns:a16="http://schemas.microsoft.com/office/drawing/2014/main" id="{05C8F16F-9134-48D8-B597-9B30536D38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2758888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98320" name="Text Box 37">
              <a:extLst>
                <a:ext uri="{FF2B5EF4-FFF2-40B4-BE49-F238E27FC236}">
                  <a16:creationId xmlns:a16="http://schemas.microsoft.com/office/drawing/2014/main" id="{0B0237EC-A345-4352-948D-1211C192D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377888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98321" name="Text Box 38">
              <a:extLst>
                <a:ext uri="{FF2B5EF4-FFF2-40B4-BE49-F238E27FC236}">
                  <a16:creationId xmlns:a16="http://schemas.microsoft.com/office/drawing/2014/main" id="{FA9C2443-CBC5-4DC8-91CD-1E67301C2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72400" y="2732741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98322" name="Text Box 39">
              <a:extLst>
                <a:ext uri="{FF2B5EF4-FFF2-40B4-BE49-F238E27FC236}">
                  <a16:creationId xmlns:a16="http://schemas.microsoft.com/office/drawing/2014/main" id="{9034811C-3FA7-44B2-A95B-3BADF9D1E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063688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98323" name="Text Box 40">
              <a:extLst>
                <a:ext uri="{FF2B5EF4-FFF2-40B4-BE49-F238E27FC236}">
                  <a16:creationId xmlns:a16="http://schemas.microsoft.com/office/drawing/2014/main" id="{D532C32E-727F-4009-BE15-612CB26EDD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27588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4" name="Text Box 41">
              <a:extLst>
                <a:ext uri="{FF2B5EF4-FFF2-40B4-BE49-F238E27FC236}">
                  <a16:creationId xmlns:a16="http://schemas.microsoft.com/office/drawing/2014/main" id="{7E3EF28B-E932-4032-80AA-D0598D831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32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5" name="Line 44">
              <a:extLst>
                <a:ext uri="{FF2B5EF4-FFF2-40B4-BE49-F238E27FC236}">
                  <a16:creationId xmlns:a16="http://schemas.microsoft.com/office/drawing/2014/main" id="{4AA092B0-F022-4F5B-B852-D11452ED5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24000" y="2682688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6" name="Line 45">
              <a:extLst>
                <a:ext uri="{FF2B5EF4-FFF2-40B4-BE49-F238E27FC236}">
                  <a16:creationId xmlns:a16="http://schemas.microsoft.com/office/drawing/2014/main" id="{E032A5D3-C2F7-414E-A22E-7FF3807CF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2600" y="3292288"/>
              <a:ext cx="5334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27" name="Text Box 46">
              <a:extLst>
                <a:ext uri="{FF2B5EF4-FFF2-40B4-BE49-F238E27FC236}">
                  <a16:creationId xmlns:a16="http://schemas.microsoft.com/office/drawing/2014/main" id="{35D37ED9-5823-4FC1-A638-5FD7D2FEA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34446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28" name="Text Box 47">
              <a:extLst>
                <a:ext uri="{FF2B5EF4-FFF2-40B4-BE49-F238E27FC236}">
                  <a16:creationId xmlns:a16="http://schemas.microsoft.com/office/drawing/2014/main" id="{9DF6C71D-A156-49E4-8D0F-1B54E4CB36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30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8329" name="Text Box 48">
              <a:extLst>
                <a:ext uri="{FF2B5EF4-FFF2-40B4-BE49-F238E27FC236}">
                  <a16:creationId xmlns:a16="http://schemas.microsoft.com/office/drawing/2014/main" id="{26E15FA7-CB4F-4291-99D0-3B0DC4E593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39000" y="22254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98330" name="Text Box 49">
              <a:extLst>
                <a:ext uri="{FF2B5EF4-FFF2-40B4-BE49-F238E27FC236}">
                  <a16:creationId xmlns:a16="http://schemas.microsoft.com/office/drawing/2014/main" id="{D87C6546-D706-4A85-9AE5-EC4702AFEC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" y="40542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98331" name="Line 50">
              <a:extLst>
                <a:ext uri="{FF2B5EF4-FFF2-40B4-BE49-F238E27FC236}">
                  <a16:creationId xmlns:a16="http://schemas.microsoft.com/office/drawing/2014/main" id="{04F41AB0-993F-4BC6-BE04-623E170A4A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000" y="3368488"/>
              <a:ext cx="3810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2" name="Line 52">
              <a:extLst>
                <a:ext uri="{FF2B5EF4-FFF2-40B4-BE49-F238E27FC236}">
                  <a16:creationId xmlns:a16="http://schemas.microsoft.com/office/drawing/2014/main" id="{45A8F184-C09B-4012-941D-D1C31A26A1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2987488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3" name="Text Box 53">
              <a:extLst>
                <a:ext uri="{FF2B5EF4-FFF2-40B4-BE49-F238E27FC236}">
                  <a16:creationId xmlns:a16="http://schemas.microsoft.com/office/drawing/2014/main" id="{E42262B6-C1C0-4612-A1C0-948D6A56F6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28350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98334" name="Line 54">
              <a:extLst>
                <a:ext uri="{FF2B5EF4-FFF2-40B4-BE49-F238E27FC236}">
                  <a16:creationId xmlns:a16="http://schemas.microsoft.com/office/drawing/2014/main" id="{CC24F0F9-EAC8-4EA0-8E3D-544372CBAF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24600" y="2987488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335" name="Text Box 55">
              <a:extLst>
                <a:ext uri="{FF2B5EF4-FFF2-40B4-BE49-F238E27FC236}">
                  <a16:creationId xmlns:a16="http://schemas.microsoft.com/office/drawing/2014/main" id="{2E3DFEDA-D623-483E-BDE2-CDA2F10655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2835088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98336" name="WordArt 56">
            <a:extLst>
              <a:ext uri="{FF2B5EF4-FFF2-40B4-BE49-F238E27FC236}">
                <a16:creationId xmlns:a16="http://schemas.microsoft.com/office/drawing/2014/main" id="{EB931542-79DB-4096-A0D5-69EB2D6E501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Footer Placeholder 3">
            <a:extLst>
              <a:ext uri="{FF2B5EF4-FFF2-40B4-BE49-F238E27FC236}">
                <a16:creationId xmlns:a16="http://schemas.microsoft.com/office/drawing/2014/main" id="{2F4B1B4D-A59F-4722-A7EB-F9042511569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FC13A82C-5FB9-4F4B-8D08-FCEF0B5E8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295400"/>
            <a:ext cx="5094288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>
                <a:solidFill>
                  <a:srgbClr val="FF6600"/>
                </a:solidFill>
                <a:latin typeface="Tahoma" panose="020B0604030504040204" pitchFamily="34" charset="0"/>
              </a:rPr>
              <a:t>current=current.getNext();</a:t>
            </a:r>
            <a:endParaRPr lang="en-US" altLang="en-US" sz="1800" b="1">
              <a:latin typeface="Courier New" panose="02070309020205020404" pitchFamily="49" charset="0"/>
            </a:endParaRPr>
          </a:p>
        </p:txBody>
      </p:sp>
      <p:sp>
        <p:nvSpPr>
          <p:cNvPr id="100357" name="Text Box 5">
            <a:extLst>
              <a:ext uri="{FF2B5EF4-FFF2-40B4-BE49-F238E27FC236}">
                <a16:creationId xmlns:a16="http://schemas.microsoft.com/office/drawing/2014/main" id="{1F85E173-0879-4BE6-B7EF-2C73C60E1B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5334000"/>
            <a:ext cx="56388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current moves forward one node.</a:t>
            </a:r>
          </a:p>
        </p:txBody>
      </p:sp>
      <p:sp>
        <p:nvSpPr>
          <p:cNvPr id="197650" name="Text Box 18">
            <a:extLst>
              <a:ext uri="{FF2B5EF4-FFF2-40B4-BE49-F238E27FC236}">
                <a16:creationId xmlns:a16="http://schemas.microsoft.com/office/drawing/2014/main" id="{DBA361EF-150E-4318-9099-C96BA0EFE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1754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56" name="Line 24">
            <a:extLst>
              <a:ext uri="{FF2B5EF4-FFF2-40B4-BE49-F238E27FC236}">
                <a16:creationId xmlns:a16="http://schemas.microsoft.com/office/drawing/2014/main" id="{DF00086E-5339-4599-904C-6F931978E9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>
            <a:off x="1815352" y="3404067"/>
            <a:ext cx="5334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57" name="Text Box 25">
            <a:extLst>
              <a:ext uri="{FF2B5EF4-FFF2-40B4-BE49-F238E27FC236}">
                <a16:creationId xmlns:a16="http://schemas.microsoft.com/office/drawing/2014/main" id="{271A007F-6EB1-480D-A58E-76D33E572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952" y="35564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97662" name="Text Box 30">
            <a:extLst>
              <a:ext uri="{FF2B5EF4-FFF2-40B4-BE49-F238E27FC236}">
                <a16:creationId xmlns:a16="http://schemas.microsoft.com/office/drawing/2014/main" id="{3F9BA7FB-4AE7-4763-9122-8B77BA731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3632667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7663" name="Line 31">
            <a:extLst>
              <a:ext uri="{FF2B5EF4-FFF2-40B4-BE49-F238E27FC236}">
                <a16:creationId xmlns:a16="http://schemas.microsoft.com/office/drawing/2014/main" id="{9AF086C6-3B71-4551-8B84-F4D6267B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253752" y="3251667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7664" name="Text Box 32">
            <a:extLst>
              <a:ext uri="{FF2B5EF4-FFF2-40B4-BE49-F238E27FC236}">
                <a16:creationId xmlns:a16="http://schemas.microsoft.com/office/drawing/2014/main" id="{9E9C6E9D-3B64-4401-9EB5-972F9570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8352" y="4013667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grpSp>
        <p:nvGrpSpPr>
          <p:cNvPr id="3" name="Group 2" descr="The linked list:&#10;front = current = previous = 0xF17&#10;0xF17 --&gt; pig, 0xF21&#10;0xF21 --&gt; dog, 0xFEA&#10;0xFEA --&gt; cat, null&#10;&#10;After running:&#10;current = current.getNext();&#10;current stores 0xF21, which is the memory location of the &quot;dog&quot; node:&#10;front = previous = 0xF17&#10;current = 0xF21 &#10;0xF17 --&gt; pig, 0xF21&#10;0xF21 --&gt; dog, 0xFEA&#10;0xFEA --&gt; cat, null">
            <a:extLst>
              <a:ext uri="{FF2B5EF4-FFF2-40B4-BE49-F238E27FC236}">
                <a16:creationId xmlns:a16="http://schemas.microsoft.com/office/drawing/2014/main" id="{E36D27BD-87DF-D2EF-D112-D4CDD72E1B32}"/>
              </a:ext>
            </a:extLst>
          </p:cNvPr>
          <p:cNvGrpSpPr/>
          <p:nvPr/>
        </p:nvGrpSpPr>
        <p:grpSpPr>
          <a:xfrm>
            <a:off x="519952" y="2337267"/>
            <a:ext cx="8305800" cy="2165350"/>
            <a:chOff x="519952" y="2337267"/>
            <a:chExt cx="8305800" cy="2165350"/>
          </a:xfrm>
        </p:grpSpPr>
        <p:sp>
          <p:nvSpPr>
            <p:cNvPr id="100356" name="Text Box 3">
              <a:extLst>
                <a:ext uri="{FF2B5EF4-FFF2-40B4-BE49-F238E27FC236}">
                  <a16:creationId xmlns:a16="http://schemas.microsoft.com/office/drawing/2014/main" id="{3983AFAF-A0EB-4C23-8317-B558382E61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3785067"/>
              <a:ext cx="1600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previous</a:t>
              </a:r>
            </a:p>
          </p:txBody>
        </p:sp>
        <p:sp>
          <p:nvSpPr>
            <p:cNvPr id="100358" name="Rectangle 6">
              <a:extLst>
                <a:ext uri="{FF2B5EF4-FFF2-40B4-BE49-F238E27FC236}">
                  <a16:creationId xmlns:a16="http://schemas.microsoft.com/office/drawing/2014/main" id="{493948EE-9CCA-4CBE-8E74-016B777193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9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59" name="Rectangle 7">
              <a:extLst>
                <a:ext uri="{FF2B5EF4-FFF2-40B4-BE49-F238E27FC236}">
                  <a16:creationId xmlns:a16="http://schemas.microsoft.com/office/drawing/2014/main" id="{D79E3DDA-805B-4D34-A31A-D1991AB776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93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0" name="Rectangle 8">
              <a:extLst>
                <a:ext uri="{FF2B5EF4-FFF2-40B4-BE49-F238E27FC236}">
                  <a16:creationId xmlns:a16="http://schemas.microsoft.com/office/drawing/2014/main" id="{819EA5E3-1053-4EAC-8BF3-1DDAB6D3D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47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1" name="Rectangle 9">
              <a:extLst>
                <a:ext uri="{FF2B5EF4-FFF2-40B4-BE49-F238E27FC236}">
                  <a16:creationId xmlns:a16="http://schemas.microsoft.com/office/drawing/2014/main" id="{699CC24C-D220-4EF9-9EF2-32D05FCC3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91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2" name="Rectangle 10">
              <a:extLst>
                <a:ext uri="{FF2B5EF4-FFF2-40B4-BE49-F238E27FC236}">
                  <a16:creationId xmlns:a16="http://schemas.microsoft.com/office/drawing/2014/main" id="{FF99A942-AD27-4015-9ECE-6CFB6BB378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4552" y="2642067"/>
              <a:ext cx="1905000" cy="83820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100363" name="Rectangle 11">
              <a:extLst>
                <a:ext uri="{FF2B5EF4-FFF2-40B4-BE49-F238E27FC236}">
                  <a16:creationId xmlns:a16="http://schemas.microsoft.com/office/drawing/2014/main" id="{EF3B5AA5-FC51-4549-8799-45FD4ECD3F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8952" y="2642067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100365" name="Text Box 13">
              <a:extLst>
                <a:ext uri="{FF2B5EF4-FFF2-40B4-BE49-F238E27FC236}">
                  <a16:creationId xmlns:a16="http://schemas.microsoft.com/office/drawing/2014/main" id="{C825EE01-9A7F-44EA-A288-2AC28AA67A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07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cat</a:t>
              </a:r>
            </a:p>
          </p:txBody>
        </p:sp>
        <p:sp>
          <p:nvSpPr>
            <p:cNvPr id="100366" name="Text Box 14">
              <a:extLst>
                <a:ext uri="{FF2B5EF4-FFF2-40B4-BE49-F238E27FC236}">
                  <a16:creationId xmlns:a16="http://schemas.microsoft.com/office/drawing/2014/main" id="{F1B59A3C-3344-41AF-A721-0D5378FC7C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109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100367" name="Text Box 15">
              <a:extLst>
                <a:ext uri="{FF2B5EF4-FFF2-40B4-BE49-F238E27FC236}">
                  <a16:creationId xmlns:a16="http://schemas.microsoft.com/office/drawing/2014/main" id="{ABD9EB8C-6BD5-46E9-A705-ED6A40644D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1152" y="2851617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pig</a:t>
              </a:r>
            </a:p>
          </p:txBody>
        </p:sp>
        <p:sp>
          <p:nvSpPr>
            <p:cNvPr id="100368" name="Text Box 16">
              <a:extLst>
                <a:ext uri="{FF2B5EF4-FFF2-40B4-BE49-F238E27FC236}">
                  <a16:creationId xmlns:a16="http://schemas.microsoft.com/office/drawing/2014/main" id="{A08C3E4B-9B98-4AE3-89FA-CEA6EACE7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2489667"/>
              <a:ext cx="10668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latin typeface="Tahoma" panose="020B0604030504040204" pitchFamily="34" charset="0"/>
                </a:rPr>
                <a:t>front</a:t>
              </a:r>
            </a:p>
          </p:txBody>
        </p:sp>
        <p:sp>
          <p:nvSpPr>
            <p:cNvPr id="100369" name="Text Box 17">
              <a:extLst>
                <a:ext uri="{FF2B5EF4-FFF2-40B4-BE49-F238E27FC236}">
                  <a16:creationId xmlns:a16="http://schemas.microsoft.com/office/drawing/2014/main" id="{17F32BB4-812E-4AEB-AF22-417EE379BC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5152" y="2851617"/>
              <a:ext cx="990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null</a:t>
              </a:r>
            </a:p>
          </p:txBody>
        </p:sp>
        <p:sp>
          <p:nvSpPr>
            <p:cNvPr id="100371" name="Text Box 19">
              <a:extLst>
                <a:ext uri="{FF2B5EF4-FFF2-40B4-BE49-F238E27FC236}">
                  <a16:creationId xmlns:a16="http://schemas.microsoft.com/office/drawing/2014/main" id="{7815BA8A-85C6-42CF-A90C-5224D826C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28706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2" name="Text Box 20">
              <a:extLst>
                <a:ext uri="{FF2B5EF4-FFF2-40B4-BE49-F238E27FC236}">
                  <a16:creationId xmlns:a16="http://schemas.microsoft.com/office/drawing/2014/main" id="{C310F85F-ADE9-408C-97D5-9591911872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9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3" name="Line 23">
              <a:extLst>
                <a:ext uri="{FF2B5EF4-FFF2-40B4-BE49-F238E27FC236}">
                  <a16:creationId xmlns:a16="http://schemas.microsoft.com/office/drawing/2014/main" id="{D99B5334-6B4D-4BA5-A3B7-8CFFA1AEF3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6752" y="2794467"/>
              <a:ext cx="6858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76" name="Text Box 26">
              <a:extLst>
                <a:ext uri="{FF2B5EF4-FFF2-40B4-BE49-F238E27FC236}">
                  <a16:creationId xmlns:a16="http://schemas.microsoft.com/office/drawing/2014/main" id="{AEA07693-BC04-4A10-8795-DA70C4DCCF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57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100377" name="Text Box 27">
              <a:extLst>
                <a:ext uri="{FF2B5EF4-FFF2-40B4-BE49-F238E27FC236}">
                  <a16:creationId xmlns:a16="http://schemas.microsoft.com/office/drawing/2014/main" id="{55067567-F2B3-49A9-B366-8FB11A2216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1752" y="23372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  <p:sp>
          <p:nvSpPr>
            <p:cNvPr id="100378" name="Text Box 28">
              <a:extLst>
                <a:ext uri="{FF2B5EF4-FFF2-40B4-BE49-F238E27FC236}">
                  <a16:creationId xmlns:a16="http://schemas.microsoft.com/office/drawing/2014/main" id="{619736FD-B7E7-4F62-8B8D-6727D77E64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952" y="4166067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0xF17</a:t>
              </a:r>
            </a:p>
          </p:txBody>
        </p:sp>
        <p:sp>
          <p:nvSpPr>
            <p:cNvPr id="100379" name="Line 29">
              <a:extLst>
                <a:ext uri="{FF2B5EF4-FFF2-40B4-BE49-F238E27FC236}">
                  <a16:creationId xmlns:a16="http://schemas.microsoft.com/office/drawing/2014/main" id="{8CEDFD89-6752-437D-8015-FE3E446DCE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7752" y="3480267"/>
              <a:ext cx="381000" cy="4572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3" name="Line 35">
              <a:extLst>
                <a:ext uri="{FF2B5EF4-FFF2-40B4-BE49-F238E27FC236}">
                  <a16:creationId xmlns:a16="http://schemas.microsoft.com/office/drawing/2014/main" id="{1C99046E-6B8E-4B65-B676-6E6487002D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77552" y="309926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4" name="Text Box 36">
              <a:extLst>
                <a:ext uri="{FF2B5EF4-FFF2-40B4-BE49-F238E27FC236}">
                  <a16:creationId xmlns:a16="http://schemas.microsoft.com/office/drawing/2014/main" id="{91BDD617-74F3-4096-A167-8F542499F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352" y="291194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100385" name="Line 37">
              <a:extLst>
                <a:ext uri="{FF2B5EF4-FFF2-40B4-BE49-F238E27FC236}">
                  <a16:creationId xmlns:a16="http://schemas.microsoft.com/office/drawing/2014/main" id="{31E64EB2-85BF-4EBE-AFFC-9F8F6FBD3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7352" y="3099267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386" name="Text Box 38">
              <a:extLst>
                <a:ext uri="{FF2B5EF4-FFF2-40B4-BE49-F238E27FC236}">
                  <a16:creationId xmlns:a16="http://schemas.microsoft.com/office/drawing/2014/main" id="{F7EA282D-BA52-45DC-9C10-A3188B5847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9152" y="2911942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0387" name="WordArt 39">
            <a:extLst>
              <a:ext uri="{FF2B5EF4-FFF2-40B4-BE49-F238E27FC236}">
                <a16:creationId xmlns:a16="http://schemas.microsoft.com/office/drawing/2014/main" id="{5AF16232-3213-4554-8D08-9E1F9DC66C4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76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xit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" dur="500"/>
                                        <p:tgtEl>
                                          <p:spTgt spid="197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6" dur="500"/>
                                        <p:tgtEl>
                                          <p:spTgt spid="1976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97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97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97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50" grpId="0"/>
      <p:bldP spid="197657" grpId="0"/>
      <p:bldP spid="197662" grpId="0"/>
      <p:bldP spid="19766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previous.setNext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current.getNext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());</a:t>
            </a:r>
            <a:r>
              <a:rPr lang="en-US" altLang="en-US" sz="1800" b="1" dirty="0">
                <a:latin typeface="Courier New" panose="02070309020205020404" pitchFamily="49" charset="0"/>
              </a:rPr>
              <a:t>     </a:t>
            </a: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16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4" name="Rectangle 8">
            <a:extLst>
              <a:ext uri="{FF2B5EF4-FFF2-40B4-BE49-F238E27FC236}">
                <a16:creationId xmlns:a16="http://schemas.microsoft.com/office/drawing/2014/main" id="{ECB37405-F7DA-4DA0-B333-CB98C2CF97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14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8665" name="Rectangle 9">
            <a:extLst>
              <a:ext uri="{FF2B5EF4-FFF2-40B4-BE49-F238E27FC236}">
                <a16:creationId xmlns:a16="http://schemas.microsoft.com/office/drawing/2014/main" id="{09608A9E-4E00-496C-BDD5-BFE3CD011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58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288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688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74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98670" name="Text Box 14">
            <a:extLst>
              <a:ext uri="{FF2B5EF4-FFF2-40B4-BE49-F238E27FC236}">
                <a16:creationId xmlns:a16="http://schemas.microsoft.com/office/drawing/2014/main" id="{5EC4AE52-EB73-48CB-BA88-C94FDCC1CF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76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dog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888" y="28194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8088" y="2805953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26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488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2" name="Text Box 26">
            <a:extLst>
              <a:ext uri="{FF2B5EF4-FFF2-40B4-BE49-F238E27FC236}">
                <a16:creationId xmlns:a16="http://schemas.microsoft.com/office/drawing/2014/main" id="{F6DBF4BC-B9C6-4AF6-B603-DF56AC718A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92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8488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688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4488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6" name="Text Box 30">
            <a:extLst>
              <a:ext uri="{FF2B5EF4-FFF2-40B4-BE49-F238E27FC236}">
                <a16:creationId xmlns:a16="http://schemas.microsoft.com/office/drawing/2014/main" id="{A1A7D995-3E93-479C-9AA0-EB38281A0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581400"/>
            <a:ext cx="1371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current</a:t>
            </a:r>
          </a:p>
        </p:txBody>
      </p:sp>
      <p:sp>
        <p:nvSpPr>
          <p:cNvPr id="198687" name="Line 31">
            <a:extLst>
              <a:ext uri="{FF2B5EF4-FFF2-40B4-BE49-F238E27FC236}">
                <a16:creationId xmlns:a16="http://schemas.microsoft.com/office/drawing/2014/main" id="{C80E4203-7999-454F-A9C3-2069FD64D2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30488" y="3200400"/>
            <a:ext cx="304800" cy="6096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130488" y="3048000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3" name="Line 37">
            <a:extLst>
              <a:ext uri="{FF2B5EF4-FFF2-40B4-BE49-F238E27FC236}">
                <a16:creationId xmlns:a16="http://schemas.microsoft.com/office/drawing/2014/main" id="{ACC2D808-E64E-4B7F-98E8-1DB45A0EA1B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542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4" name="Text Box 38">
            <a:extLst>
              <a:ext uri="{FF2B5EF4-FFF2-40B4-BE49-F238E27FC236}">
                <a16:creationId xmlns:a16="http://schemas.microsoft.com/office/drawing/2014/main" id="{A3D54502-C9D0-47C1-BE5A-B96859F64A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64088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6" name="Text Box 40">
            <a:extLst>
              <a:ext uri="{FF2B5EF4-FFF2-40B4-BE49-F238E27FC236}">
                <a16:creationId xmlns:a16="http://schemas.microsoft.com/office/drawing/2014/main" id="{3C96B072-7177-4B51-BAB5-59B71BDA0B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58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6088" y="28956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sp>
        <p:nvSpPr>
          <p:cNvPr id="198699" name="Text Box 43">
            <a:extLst>
              <a:ext uri="{FF2B5EF4-FFF2-40B4-BE49-F238E27FC236}">
                <a16:creationId xmlns:a16="http://schemas.microsoft.com/office/drawing/2014/main" id="{5234D678-63A7-428B-B17D-9AB49205D9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5088" y="3962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" dur="500"/>
                                        <p:tgtEl>
                                          <p:spTgt spid="19866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" dur="500"/>
                                        <p:tgtEl>
                                          <p:spTgt spid="1986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5" dur="500"/>
                                        <p:tgtEl>
                                          <p:spTgt spid="1986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" dur="500"/>
                                        <p:tgtEl>
                                          <p:spTgt spid="1986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1" dur="500"/>
                                        <p:tgtEl>
                                          <p:spTgt spid="1986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4" presetClass="exit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4" dur="500"/>
                                        <p:tgtEl>
                                          <p:spTgt spid="1986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27" dur="500"/>
                                        <p:tgtEl>
                                          <p:spTgt spid="1986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19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19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4" grpId="0" animBg="1"/>
      <p:bldP spid="198665" grpId="0" animBg="1"/>
      <p:bldP spid="198670" grpId="0"/>
      <p:bldP spid="198682" grpId="0"/>
      <p:bldP spid="198694" grpId="0"/>
      <p:bldP spid="198696" grpId="0"/>
      <p:bldP spid="19869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Footer Placeholder 3">
            <a:extLst>
              <a:ext uri="{FF2B5EF4-FFF2-40B4-BE49-F238E27FC236}">
                <a16:creationId xmlns:a16="http://schemas.microsoft.com/office/drawing/2014/main" id="{8CDB40C5-732C-4C3D-A12C-BC8457D56AD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4017D3AD-27B4-4B5E-9DA8-744F9D83E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066800"/>
            <a:ext cx="7086600" cy="528638"/>
          </a:xfrm>
          <a:prstGeom prst="rect">
            <a:avLst/>
          </a:prstGeom>
          <a:noFill/>
          <a:ln w="9525">
            <a:solidFill>
              <a:srgbClr val="FF66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current = </a:t>
            </a:r>
            <a:r>
              <a:rPr lang="en-US" altLang="en-US" sz="2800" b="1" dirty="0" err="1">
                <a:solidFill>
                  <a:srgbClr val="FF6600"/>
                </a:solidFill>
                <a:latin typeface="Tahoma" panose="020B0604030504040204" pitchFamily="34" charset="0"/>
              </a:rPr>
              <a:t>previous.getNext</a:t>
            </a:r>
            <a:r>
              <a:rPr lang="en-US" altLang="en-US" sz="2800" b="1" dirty="0">
                <a:solidFill>
                  <a:srgbClr val="FF6600"/>
                </a:solidFill>
                <a:latin typeface="Tahoma" panose="020B0604030504040204" pitchFamily="34" charset="0"/>
              </a:rPr>
              <a:t>();</a:t>
            </a:r>
            <a:endParaRPr lang="en-US" altLang="en-US" sz="1800" b="1" dirty="0">
              <a:latin typeface="Courier New" panose="02070309020205020404" pitchFamily="49" charset="0"/>
            </a:endParaRPr>
          </a:p>
        </p:txBody>
      </p:sp>
      <p:sp>
        <p:nvSpPr>
          <p:cNvPr id="102404" name="Text Box 3">
            <a:extLst>
              <a:ext uri="{FF2B5EF4-FFF2-40B4-BE49-F238E27FC236}">
                <a16:creationId xmlns:a16="http://schemas.microsoft.com/office/drawing/2014/main" id="{892C43FB-566B-4262-8519-ECD1FBD2E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3733800"/>
            <a:ext cx="1600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previous</a:t>
            </a:r>
          </a:p>
        </p:txBody>
      </p:sp>
      <p:sp>
        <p:nvSpPr>
          <p:cNvPr id="102405" name="Text Box 5">
            <a:extLst>
              <a:ext uri="{FF2B5EF4-FFF2-40B4-BE49-F238E27FC236}">
                <a16:creationId xmlns:a16="http://schemas.microsoft.com/office/drawing/2014/main" id="{160817D7-B4C3-4DE6-B5DF-3BF64F47B4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5334000"/>
            <a:ext cx="6858000" cy="531813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800">
                <a:solidFill>
                  <a:schemeClr val="accent2"/>
                </a:solidFill>
                <a:latin typeface="Tahoma" panose="020B0604030504040204" pitchFamily="34" charset="0"/>
              </a:rPr>
              <a:t>Found dog.  Removed dog from the list.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42F2A1AB-B0D7-4766-A891-35B8D57D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0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296F1DDE-F92C-4935-ACD0-314A0E6FF7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4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0" name="Rectangle 10">
            <a:extLst>
              <a:ext uri="{FF2B5EF4-FFF2-40B4-BE49-F238E27FC236}">
                <a16:creationId xmlns:a16="http://schemas.microsoft.com/office/drawing/2014/main" id="{9FE93EB5-0FA7-4C4C-9BB0-7F7980A35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7670" y="2590800"/>
            <a:ext cx="1905000" cy="838200"/>
          </a:xfrm>
          <a:prstGeom prst="rect">
            <a:avLst/>
          </a:prstGeom>
          <a:solidFill>
            <a:srgbClr val="CC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ahoma" panose="020B0604030504040204" pitchFamily="34" charset="0"/>
            </a:endParaRPr>
          </a:p>
        </p:txBody>
      </p:sp>
      <p:sp>
        <p:nvSpPr>
          <p:cNvPr id="102411" name="Rectangle 11">
            <a:extLst>
              <a:ext uri="{FF2B5EF4-FFF2-40B4-BE49-F238E27FC236}">
                <a16:creationId xmlns:a16="http://schemas.microsoft.com/office/drawing/2014/main" id="{577C8954-268C-4195-A40A-E9623599B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02070" y="2590800"/>
            <a:ext cx="990600" cy="838200"/>
          </a:xfrm>
          <a:prstGeom prst="rect">
            <a:avLst/>
          </a:prstGeom>
          <a:solidFill>
            <a:srgbClr val="CCFFCC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02413" name="Text Box 13">
            <a:extLst>
              <a:ext uri="{FF2B5EF4-FFF2-40B4-BE49-F238E27FC236}">
                <a16:creationId xmlns:a16="http://schemas.microsoft.com/office/drawing/2014/main" id="{91A281B3-0EAA-44CD-9CE9-DE18B7C9B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38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cat</a:t>
            </a:r>
          </a:p>
        </p:txBody>
      </p:sp>
      <p:sp>
        <p:nvSpPr>
          <p:cNvPr id="102415" name="Text Box 15">
            <a:extLst>
              <a:ext uri="{FF2B5EF4-FFF2-40B4-BE49-F238E27FC236}">
                <a16:creationId xmlns:a16="http://schemas.microsoft.com/office/drawing/2014/main" id="{3E5A93EA-3778-4E12-A801-C2EB0E0E9E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4270" y="27827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pig</a:t>
            </a:r>
          </a:p>
        </p:txBody>
      </p:sp>
      <p:sp>
        <p:nvSpPr>
          <p:cNvPr id="102416" name="Text Box 16">
            <a:extLst>
              <a:ext uri="{FF2B5EF4-FFF2-40B4-BE49-F238E27FC236}">
                <a16:creationId xmlns:a16="http://schemas.microsoft.com/office/drawing/2014/main" id="{B2E3F442-191F-4F31-AD75-185EC9D58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438400"/>
            <a:ext cx="1066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>
                <a:latin typeface="Tahoma" panose="020B0604030504040204" pitchFamily="34" charset="0"/>
              </a:rPr>
              <a:t>front</a:t>
            </a:r>
          </a:p>
        </p:txBody>
      </p:sp>
      <p:sp>
        <p:nvSpPr>
          <p:cNvPr id="102417" name="Text Box 17">
            <a:extLst>
              <a:ext uri="{FF2B5EF4-FFF2-40B4-BE49-F238E27FC236}">
                <a16:creationId xmlns:a16="http://schemas.microsoft.com/office/drawing/2014/main" id="{3647DC8D-7A56-420E-9A07-D5A0671793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8270" y="2782700"/>
            <a:ext cx="990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Tahoma" panose="020B0604030504040204" pitchFamily="34" charset="0"/>
              </a:rPr>
              <a:t>null</a:t>
            </a:r>
          </a:p>
        </p:txBody>
      </p:sp>
      <p:sp>
        <p:nvSpPr>
          <p:cNvPr id="102418" name="Text Box 19">
            <a:extLst>
              <a:ext uri="{FF2B5EF4-FFF2-40B4-BE49-F238E27FC236}">
                <a16:creationId xmlns:a16="http://schemas.microsoft.com/office/drawing/2014/main" id="{AB3A8319-32FD-4719-A887-48F27319A8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28194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19" name="Text Box 20">
            <a:extLst>
              <a:ext uri="{FF2B5EF4-FFF2-40B4-BE49-F238E27FC236}">
                <a16:creationId xmlns:a16="http://schemas.microsoft.com/office/drawing/2014/main" id="{FD52D3C1-969D-4B4D-9CD8-09574FED1B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90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sp>
        <p:nvSpPr>
          <p:cNvPr id="102420" name="Line 23">
            <a:extLst>
              <a:ext uri="{FF2B5EF4-FFF2-40B4-BE49-F238E27FC236}">
                <a16:creationId xmlns:a16="http://schemas.microsoft.com/office/drawing/2014/main" id="{99BF4390-8D0A-47B0-B476-806683380728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9870" y="2743200"/>
            <a:ext cx="6858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422" name="Text Box 27">
            <a:extLst>
              <a:ext uri="{FF2B5EF4-FFF2-40B4-BE49-F238E27FC236}">
                <a16:creationId xmlns:a16="http://schemas.microsoft.com/office/drawing/2014/main" id="{2972F95D-5699-46C7-8F17-97070102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4870" y="22860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23" name="Text Box 28">
            <a:extLst>
              <a:ext uri="{FF2B5EF4-FFF2-40B4-BE49-F238E27FC236}">
                <a16:creationId xmlns:a16="http://schemas.microsoft.com/office/drawing/2014/main" id="{79E3BFAA-5F8C-4D00-993F-4D3E44B5A0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70" y="4114800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0xF17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838BDD4-470D-83B8-859D-01E4482843D6}"/>
              </a:ext>
            </a:extLst>
          </p:cNvPr>
          <p:cNvGrpSpPr/>
          <p:nvPr/>
        </p:nvGrpSpPr>
        <p:grpSpPr>
          <a:xfrm>
            <a:off x="4554070" y="2286000"/>
            <a:ext cx="2057400" cy="1143000"/>
            <a:chOff x="4191000" y="2286000"/>
            <a:chExt cx="2057400" cy="1143000"/>
          </a:xfrm>
        </p:grpSpPr>
        <p:sp>
          <p:nvSpPr>
            <p:cNvPr id="4" name="Rectangle 32">
              <a:extLst>
                <a:ext uri="{FF2B5EF4-FFF2-40B4-BE49-F238E27FC236}">
                  <a16:creationId xmlns:a16="http://schemas.microsoft.com/office/drawing/2014/main" id="{D2E6D062-B426-F566-F361-17F9735BE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9200" y="2590800"/>
              <a:ext cx="990600" cy="838200"/>
            </a:xfrm>
            <a:prstGeom prst="rect">
              <a:avLst/>
            </a:prstGeom>
            <a:solidFill>
              <a:srgbClr val="CCFFCC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000">
                <a:latin typeface="Tahoma" panose="020B0604030504040204" pitchFamily="34" charset="0"/>
              </a:endParaRPr>
            </a:p>
          </p:txBody>
        </p:sp>
        <p:sp>
          <p:nvSpPr>
            <p:cNvPr id="5" name="Text Box 38">
              <a:extLst>
                <a:ext uri="{FF2B5EF4-FFF2-40B4-BE49-F238E27FC236}">
                  <a16:creationId xmlns:a16="http://schemas.microsoft.com/office/drawing/2014/main" id="{D40C13AD-9CC9-9365-DA78-31BF571B4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1000" y="2819400"/>
              <a:ext cx="8382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dog</a:t>
              </a:r>
            </a:p>
          </p:txBody>
        </p:sp>
        <p:sp>
          <p:nvSpPr>
            <p:cNvPr id="6" name="Text Box 57">
              <a:extLst>
                <a:ext uri="{FF2B5EF4-FFF2-40B4-BE49-F238E27FC236}">
                  <a16:creationId xmlns:a16="http://schemas.microsoft.com/office/drawing/2014/main" id="{DA12AEE7-6857-F4F1-EF3D-B8A92B30BD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5800" y="22860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  <p:sp>
          <p:nvSpPr>
            <p:cNvPr id="7" name="Line 59">
              <a:extLst>
                <a:ext uri="{FF2B5EF4-FFF2-40B4-BE49-F238E27FC236}">
                  <a16:creationId xmlns:a16="http://schemas.microsoft.com/office/drawing/2014/main" id="{6E571D2F-CF9E-06D6-E046-63FAD6774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7400" y="3048000"/>
              <a:ext cx="381000" cy="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Box 62">
              <a:extLst>
                <a:ext uri="{FF2B5EF4-FFF2-40B4-BE49-F238E27FC236}">
                  <a16:creationId xmlns:a16="http://schemas.microsoft.com/office/drawing/2014/main" id="{3A3619A4-E1BA-7B56-591C-584070DDDE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28956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0xFEA</a:t>
              </a:r>
            </a:p>
          </p:txBody>
        </p:sp>
      </p:grpSp>
      <p:sp>
        <p:nvSpPr>
          <p:cNvPr id="102424" name="Line 29">
            <a:extLst>
              <a:ext uri="{FF2B5EF4-FFF2-40B4-BE49-F238E27FC236}">
                <a16:creationId xmlns:a16="http://schemas.microsoft.com/office/drawing/2014/main" id="{030BB379-F0E7-4FE1-ACF5-976279C8025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10870" y="3429000"/>
            <a:ext cx="381000" cy="45720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89" name="Line 33">
            <a:extLst>
              <a:ext uri="{FF2B5EF4-FFF2-40B4-BE49-F238E27FC236}">
                <a16:creationId xmlns:a16="http://schemas.microsoft.com/office/drawing/2014/main" id="{1C870A6D-A359-4241-9D1F-F9D5EE636379}"/>
              </a:ext>
            </a:extLst>
          </p:cNvPr>
          <p:cNvSpPr>
            <a:spLocks noChangeShapeType="1"/>
          </p:cNvSpPr>
          <p:nvPr/>
        </p:nvSpPr>
        <p:spPr bwMode="auto">
          <a:xfrm>
            <a:off x="4096870" y="2906796"/>
            <a:ext cx="25146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5" name="Line 39">
            <a:extLst>
              <a:ext uri="{FF2B5EF4-FFF2-40B4-BE49-F238E27FC236}">
                <a16:creationId xmlns:a16="http://schemas.microsoft.com/office/drawing/2014/main" id="{D59A2167-F868-48EF-BAF5-82C3788DD026}"/>
              </a:ext>
            </a:extLst>
          </p:cNvPr>
          <p:cNvSpPr>
            <a:spLocks noChangeShapeType="1"/>
          </p:cNvSpPr>
          <p:nvPr/>
        </p:nvSpPr>
        <p:spPr bwMode="auto">
          <a:xfrm>
            <a:off x="6230470" y="3048000"/>
            <a:ext cx="381000" cy="0"/>
          </a:xfrm>
          <a:prstGeom prst="line">
            <a:avLst/>
          </a:prstGeom>
          <a:noFill/>
          <a:ln w="635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97" name="Text Box 41">
            <a:extLst>
              <a:ext uri="{FF2B5EF4-FFF2-40B4-BE49-F238E27FC236}">
                <a16:creationId xmlns:a16="http://schemas.microsoft.com/office/drawing/2014/main" id="{CACD0597-9556-4E2B-A43B-CBC9EBAEB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49710" y="2843025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0xFEA</a:t>
            </a:r>
          </a:p>
        </p:txBody>
      </p:sp>
      <p:sp>
        <p:nvSpPr>
          <p:cNvPr id="102433" name="WordArt 42">
            <a:extLst>
              <a:ext uri="{FF2B5EF4-FFF2-40B4-BE49-F238E27FC236}">
                <a16:creationId xmlns:a16="http://schemas.microsoft.com/office/drawing/2014/main" id="{BA3C25E1-16ED-492A-A51A-8234EF4FA9E5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438400" y="228600"/>
            <a:ext cx="41148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B73E76-7050-8563-2B3C-724C100221A7}"/>
              </a:ext>
            </a:extLst>
          </p:cNvPr>
          <p:cNvGrpSpPr/>
          <p:nvPr/>
        </p:nvGrpSpPr>
        <p:grpSpPr>
          <a:xfrm>
            <a:off x="5163670" y="3511550"/>
            <a:ext cx="1600200" cy="1098550"/>
            <a:chOff x="2438400" y="3200400"/>
            <a:chExt cx="1600200" cy="1098550"/>
          </a:xfrm>
        </p:grpSpPr>
        <p:sp>
          <p:nvSpPr>
            <p:cNvPr id="198686" name="Text Box 30">
              <a:extLst>
                <a:ext uri="{FF2B5EF4-FFF2-40B4-BE49-F238E27FC236}">
                  <a16:creationId xmlns:a16="http://schemas.microsoft.com/office/drawing/2014/main" id="{A1A7D995-3E93-479C-9AA0-EB38281A0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581400"/>
              <a:ext cx="137160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b="1" dirty="0">
                  <a:latin typeface="Tahoma" panose="020B0604030504040204" pitchFamily="34" charset="0"/>
                </a:rPr>
                <a:t>current</a:t>
              </a:r>
            </a:p>
          </p:txBody>
        </p:sp>
        <p:sp>
          <p:nvSpPr>
            <p:cNvPr id="198687" name="Line 31">
              <a:extLst>
                <a:ext uri="{FF2B5EF4-FFF2-40B4-BE49-F238E27FC236}">
                  <a16:creationId xmlns:a16="http://schemas.microsoft.com/office/drawing/2014/main" id="{C80E4203-7999-454F-A9C3-2069FD64D2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33800" y="3200400"/>
              <a:ext cx="304800" cy="609600"/>
            </a:xfrm>
            <a:prstGeom prst="line">
              <a:avLst/>
            </a:prstGeom>
            <a:noFill/>
            <a:ln w="63500">
              <a:solidFill>
                <a:srgbClr val="FF0000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699" name="Text Box 43">
              <a:extLst>
                <a:ext uri="{FF2B5EF4-FFF2-40B4-BE49-F238E27FC236}">
                  <a16:creationId xmlns:a16="http://schemas.microsoft.com/office/drawing/2014/main" id="{5234D678-63A7-428B-B17D-9AB49205D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9624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0225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Footer Placeholder 3">
            <a:extLst>
              <a:ext uri="{FF2B5EF4-FFF2-40B4-BE49-F238E27FC236}">
                <a16:creationId xmlns:a16="http://schemas.microsoft.com/office/drawing/2014/main" id="{C4D6C365-FB7D-4F5C-BB2B-7B0AD21FE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3F3C90CA-B322-4B55-AB7E-407543CADA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676400"/>
            <a:ext cx="7452361" cy="4463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914400" indent="-45720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371600" indent="-4572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828800" indent="-4572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286000" indent="-4572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CC3300"/>
                </a:solidFill>
                <a:latin typeface="Tahoma" panose="020B0604030504040204" pitchFamily="34" charset="0"/>
              </a:rPr>
              <a:t>Some things you must account for!</a:t>
            </a:r>
            <a:endParaRPr lang="en-US" altLang="en-US" sz="2800" b="1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solidFill>
                <a:srgbClr val="CC3300"/>
              </a:solidFill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r>
              <a:rPr lang="en-US" altLang="en-US" sz="2800" b="1" dirty="0">
                <a:latin typeface="Tahoma" panose="020B0604030504040204" pitchFamily="34" charset="0"/>
              </a:rPr>
              <a:t> What if the linked list is null?</a:t>
            </a:r>
          </a:p>
          <a:p>
            <a:pPr eaLnBrk="1" hangingPunct="1">
              <a:spcBef>
                <a:spcPct val="0"/>
              </a:spcBef>
              <a:buFontTx/>
              <a:buAutoNum type="arabicPeriod"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2.  How do I remove the 1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st</a:t>
            </a:r>
            <a:r>
              <a:rPr lang="en-US" altLang="en-US" sz="2800" b="1" dirty="0">
                <a:latin typeface="Tahoma" panose="020B0604030504040204" pitchFamily="34" charset="0"/>
              </a:rPr>
              <a:t> node?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3.  How do I remove other nodes?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8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4.  Do I remove more than 1 occurrence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800" b="1" dirty="0">
                <a:latin typeface="Tahoma" panose="020B0604030504040204" pitchFamily="34" charset="0"/>
              </a:rPr>
              <a:t>     of the given value or just the 1</a:t>
            </a:r>
            <a:r>
              <a:rPr lang="en-US" altLang="en-US" sz="2800" b="1" baseline="30000" dirty="0">
                <a:latin typeface="Tahoma" panose="020B0604030504040204" pitchFamily="34" charset="0"/>
              </a:rPr>
              <a:t>st</a:t>
            </a:r>
            <a:r>
              <a:rPr lang="en-US" altLang="en-US" sz="2800" b="1" dirty="0">
                <a:latin typeface="Tahoma" panose="020B0604030504040204" pitchFamily="34" charset="0"/>
              </a:rPr>
              <a:t> one?</a:t>
            </a:r>
          </a:p>
        </p:txBody>
      </p:sp>
      <p:sp>
        <p:nvSpPr>
          <p:cNvPr id="104452" name="WordArt 22">
            <a:extLst>
              <a:ext uri="{FF2B5EF4-FFF2-40B4-BE49-F238E27FC236}">
                <a16:creationId xmlns:a16="http://schemas.microsoft.com/office/drawing/2014/main" id="{F182E012-6493-4733-851A-67899551F27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1295400" y="457200"/>
            <a:ext cx="6019800" cy="9906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Removing any node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Footer Placeholder 3">
            <a:extLst>
              <a:ext uri="{FF2B5EF4-FFF2-40B4-BE49-F238E27FC236}">
                <a16:creationId xmlns:a16="http://schemas.microsoft.com/office/drawing/2014/main" id="{E41C86EE-B61D-41F4-A561-F926C84A7B0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08547" name="WordArt 2">
            <a:extLst>
              <a:ext uri="{FF2B5EF4-FFF2-40B4-BE49-F238E27FC236}">
                <a16:creationId xmlns:a16="http://schemas.microsoft.com/office/drawing/2014/main" id="{6512A43D-9672-4712-BBC1-BFE4CF11339E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62000" y="1447800"/>
            <a:ext cx="7391400" cy="3581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Doubly</a:t>
            </a:r>
          </a:p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Linked Lists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Footer Placeholder 3">
            <a:extLst>
              <a:ext uri="{FF2B5EF4-FFF2-40B4-BE49-F238E27FC236}">
                <a16:creationId xmlns:a16="http://schemas.microsoft.com/office/drawing/2014/main" id="{BE0654EC-C731-49CD-B395-DD9FD3E9806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EB9AC81-A91F-484D-9C0E-E699FD9284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447800"/>
            <a:ext cx="8153400" cy="5325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class </a:t>
            </a:r>
            <a:r>
              <a:rPr lang="en-US" altLang="en-US" sz="2000" b="1" dirty="0" err="1">
                <a:latin typeface="Tahoma" panose="020B0604030504040204" pitchFamily="34" charset="0"/>
              </a:rPr>
              <a:t>DoublyLinkedNode</a:t>
            </a: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Comparable data;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</a:t>
            </a:r>
            <a:r>
              <a:rPr lang="en-US" altLang="en-US" sz="2000" b="1" dirty="0" err="1">
                <a:latin typeface="Tahoma" panose="020B0604030504040204" pitchFamily="34" charset="0"/>
              </a:rPr>
              <a:t>DoublyLinkedNode</a:t>
            </a:r>
            <a:r>
              <a:rPr lang="en-US" altLang="en-US" sz="2000" b="1" dirty="0">
                <a:latin typeface="Tahoma" panose="020B0604030504040204" pitchFamily="34" charset="0"/>
              </a:rPr>
              <a:t> next;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private </a:t>
            </a:r>
            <a:r>
              <a:rPr lang="en-US" altLang="en-US" sz="2000" b="1" dirty="0" err="1">
                <a:latin typeface="Tahoma" panose="020B0604030504040204" pitchFamily="34" charset="0"/>
              </a:rPr>
              <a:t>DoublyLinkedNode</a:t>
            </a:r>
            <a:r>
              <a:rPr lang="en-US" altLang="en-US" sz="2000" b="1" dirty="0">
                <a:latin typeface="Tahoma" panose="020B0604030504040204" pitchFamily="34" charset="0"/>
              </a:rPr>
              <a:t> </a:t>
            </a:r>
            <a:r>
              <a:rPr lang="en-US" altLang="en-US" sz="2000" b="1" dirty="0" err="1">
                <a:latin typeface="Tahoma" panose="020B0604030504040204" pitchFamily="34" charset="0"/>
              </a:rPr>
              <a:t>prev</a:t>
            </a:r>
            <a:r>
              <a:rPr lang="en-US" altLang="en-US" sz="2000" b="1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public </a:t>
            </a:r>
            <a:r>
              <a:rPr lang="en-US" altLang="en-US" sz="2000" b="1" dirty="0" err="1">
                <a:latin typeface="Tahoma" panose="020B0604030504040204" pitchFamily="34" charset="0"/>
              </a:rPr>
              <a:t>DoublyLinkedNode</a:t>
            </a:r>
            <a:r>
              <a:rPr lang="en-US" altLang="en-US" sz="2000" b="1" dirty="0">
                <a:latin typeface="Tahoma" panose="020B0604030504040204" pitchFamily="34" charset="0"/>
              </a:rPr>
              <a:t>(Comparable </a:t>
            </a:r>
            <a:r>
              <a:rPr lang="en-US" altLang="en-US" sz="2000" b="1" dirty="0" err="1">
                <a:latin typeface="Tahoma" panose="020B0604030504040204" pitchFamily="34" charset="0"/>
              </a:rPr>
              <a:t>dat</a:t>
            </a:r>
            <a:r>
              <a:rPr lang="en-US" altLang="en-US" sz="2000" b="1" dirty="0">
                <a:latin typeface="Tahoma" panose="020B0604030504040204" pitchFamily="34" charset="0"/>
              </a:rPr>
              <a:t>, </a:t>
            </a:r>
          </a:p>
          <a:p>
            <a:pPr eaLnBrk="1" hangingPunct="1">
              <a:spcBef>
                <a:spcPct val="0"/>
              </a:spcBef>
              <a:buFontTx/>
              <a:buNone/>
              <a:tabLst>
                <a:tab pos="3605213" algn="l"/>
              </a:tabLst>
            </a:pPr>
            <a:r>
              <a:rPr lang="en-US" altLang="en-US" sz="2000" b="1" dirty="0">
                <a:latin typeface="Tahoma" panose="020B0604030504040204" pitchFamily="34" charset="0"/>
              </a:rPr>
              <a:t> 	</a:t>
            </a:r>
            <a:r>
              <a:rPr lang="en-US" altLang="en-US" sz="2000" b="1" dirty="0" err="1">
                <a:latin typeface="Tahoma" panose="020B0604030504040204" pitchFamily="34" charset="0"/>
              </a:rPr>
              <a:t>DoublyLinkedNode</a:t>
            </a:r>
            <a:r>
              <a:rPr lang="en-US" altLang="en-US" sz="2000" b="1" dirty="0">
                <a:latin typeface="Tahoma" panose="020B0604030504040204" pitchFamily="34" charset="0"/>
              </a:rPr>
              <a:t> </a:t>
            </a:r>
            <a:r>
              <a:rPr lang="en-US" altLang="en-US" sz="2000" b="1" dirty="0" err="1">
                <a:latin typeface="Tahoma" panose="020B0604030504040204" pitchFamily="34" charset="0"/>
              </a:rPr>
              <a:t>prv</a:t>
            </a:r>
            <a:r>
              <a:rPr lang="en-US" altLang="en-US" sz="2000" b="1" dirty="0">
                <a:latin typeface="Tahoma" panose="020B0604030504040204" pitchFamily="34" charset="0"/>
              </a:rPr>
              <a:t>,</a:t>
            </a:r>
          </a:p>
          <a:p>
            <a:pPr eaLnBrk="1" hangingPunct="1">
              <a:spcBef>
                <a:spcPct val="0"/>
              </a:spcBef>
              <a:buFontTx/>
              <a:buNone/>
              <a:tabLst>
                <a:tab pos="3605213" algn="l"/>
              </a:tabLst>
            </a:pPr>
            <a:r>
              <a:rPr lang="en-US" altLang="en-US" sz="2000" b="1" dirty="0">
                <a:latin typeface="Tahoma" panose="020B0604030504040204" pitchFamily="34" charset="0"/>
              </a:rPr>
              <a:t>	</a:t>
            </a:r>
            <a:r>
              <a:rPr lang="en-US" altLang="en-US" sz="2000" b="1" dirty="0" err="1">
                <a:latin typeface="Tahoma" panose="020B0604030504040204" pitchFamily="34" charset="0"/>
              </a:rPr>
              <a:t>DoublyLinkedNode</a:t>
            </a:r>
            <a:r>
              <a:rPr lang="en-US" altLang="en-US" sz="2000" b="1" dirty="0">
                <a:latin typeface="Tahoma" panose="020B0604030504040204" pitchFamily="34" charset="0"/>
              </a:rPr>
              <a:t> </a:t>
            </a:r>
            <a:r>
              <a:rPr lang="en-US" altLang="en-US" sz="2000" b="1" dirty="0" err="1">
                <a:latin typeface="Tahoma" panose="020B0604030504040204" pitchFamily="34" charset="0"/>
              </a:rPr>
              <a:t>nxt</a:t>
            </a:r>
            <a:r>
              <a:rPr lang="en-US" altLang="en-US" sz="2000" b="1" dirty="0">
                <a:latin typeface="Tahoma" panose="020B0604030504040204" pitchFamily="34" charset="0"/>
              </a:rPr>
              <a:t>  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{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data = </a:t>
            </a:r>
            <a:r>
              <a:rPr lang="en-US" altLang="en-US" sz="2000" b="1" dirty="0" err="1">
                <a:latin typeface="Tahoma" panose="020B0604030504040204" pitchFamily="34" charset="0"/>
              </a:rPr>
              <a:t>dat</a:t>
            </a:r>
            <a:r>
              <a:rPr lang="en-US" altLang="en-US" sz="2000" b="1" dirty="0">
                <a:latin typeface="Tahoma" panose="020B0604030504040204" pitchFamily="34" charset="0"/>
              </a:rPr>
              <a:t>;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</a:t>
            </a:r>
            <a:r>
              <a:rPr lang="en-US" altLang="en-US" sz="2000" b="1" dirty="0" err="1">
                <a:latin typeface="Tahoma" panose="020B0604030504040204" pitchFamily="34" charset="0"/>
              </a:rPr>
              <a:t>prev</a:t>
            </a:r>
            <a:r>
              <a:rPr lang="en-US" altLang="en-US" sz="2000" b="1" dirty="0">
                <a:latin typeface="Tahoma" panose="020B0604030504040204" pitchFamily="34" charset="0"/>
              </a:rPr>
              <a:t> = </a:t>
            </a:r>
            <a:r>
              <a:rPr lang="en-US" altLang="en-US" sz="2000" b="1" dirty="0" err="1">
                <a:latin typeface="Tahoma" panose="020B0604030504040204" pitchFamily="34" charset="0"/>
              </a:rPr>
              <a:t>prv</a:t>
            </a:r>
            <a:r>
              <a:rPr lang="en-US" altLang="en-US" sz="2000" b="1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   next = </a:t>
            </a:r>
            <a:r>
              <a:rPr lang="en-US" altLang="en-US" sz="2000" b="1" dirty="0" err="1">
                <a:latin typeface="Tahoma" panose="020B0604030504040204" pitchFamily="34" charset="0"/>
              </a:rPr>
              <a:t>nxt</a:t>
            </a:r>
            <a:r>
              <a:rPr lang="en-US" altLang="en-US" sz="2000" b="1" dirty="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}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   //other methods not shown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 dirty="0">
                <a:latin typeface="Tahoma" panose="020B0604030504040204" pitchFamily="34" charset="0"/>
              </a:rPr>
              <a:t>}</a:t>
            </a:r>
          </a:p>
        </p:txBody>
      </p:sp>
      <p:sp>
        <p:nvSpPr>
          <p:cNvPr id="110596" name="WordArt 3">
            <a:extLst>
              <a:ext uri="{FF2B5EF4-FFF2-40B4-BE49-F238E27FC236}">
                <a16:creationId xmlns:a16="http://schemas.microsoft.com/office/drawing/2014/main" id="{CF942BDE-A535-4D88-8A70-15CC6954BB3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90600" y="381000"/>
            <a:ext cx="65532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/>
                  </a:outerShdw>
                </a:effectLst>
                <a:latin typeface="Impact" panose="020B0806030902050204" pitchFamily="34" charset="0"/>
              </a:rPr>
              <a:t>DoublyNode Class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Footer Placeholder 3">
            <a:extLst>
              <a:ext uri="{FF2B5EF4-FFF2-40B4-BE49-F238E27FC236}">
                <a16:creationId xmlns:a16="http://schemas.microsoft.com/office/drawing/2014/main" id="{140E46CE-1E05-4B81-996B-455FA3F24D1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D30E94D-A633-438B-929E-C5D03C27FC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2646" name="WordArt 11">
            <a:extLst>
              <a:ext uri="{FF2B5EF4-FFF2-40B4-BE49-F238E27FC236}">
                <a16:creationId xmlns:a16="http://schemas.microsoft.com/office/drawing/2014/main" id="{278064F2-33BC-4736-9460-FFCDED79B3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sp>
        <p:nvSpPr>
          <p:cNvPr id="112647" name="Text Box 12">
            <a:extLst>
              <a:ext uri="{FF2B5EF4-FFF2-40B4-BE49-F238E27FC236}">
                <a16:creationId xmlns:a16="http://schemas.microsoft.com/office/drawing/2014/main" id="{EB242A70-EE72-4F3B-AC16-2DB8ECE895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226300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doubly node typically has a data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component and a reference to the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next node and the previous node.</a:t>
            </a:r>
          </a:p>
        </p:txBody>
      </p:sp>
      <p:grpSp>
        <p:nvGrpSpPr>
          <p:cNvPr id="8" name="Group 7" descr="A single node with a memory location of 0xF2. It has three parts: a reference to the previous node, the value, and a reference to the next node.&#10;This node stores: null, &quot;B&quot;, null">
            <a:extLst>
              <a:ext uri="{FF2B5EF4-FFF2-40B4-BE49-F238E27FC236}">
                <a16:creationId xmlns:a16="http://schemas.microsoft.com/office/drawing/2014/main" id="{9ECA5102-EB13-A6E1-E565-D407B87907A0}"/>
              </a:ext>
            </a:extLst>
          </p:cNvPr>
          <p:cNvGrpSpPr/>
          <p:nvPr/>
        </p:nvGrpSpPr>
        <p:grpSpPr>
          <a:xfrm>
            <a:off x="3003972" y="2209800"/>
            <a:ext cx="2502600" cy="1239310"/>
            <a:chOff x="3003972" y="2209800"/>
            <a:chExt cx="2502600" cy="123931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73D2F0A-FB9F-26F8-4738-83A02813D2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03972" y="2638272"/>
              <a:ext cx="2487384" cy="810838"/>
            </a:xfrm>
            <a:prstGeom prst="rect">
              <a:avLst/>
            </a:prstGeom>
          </p:spPr>
        </p:pic>
        <p:grpSp>
          <p:nvGrpSpPr>
            <p:cNvPr id="2" name="Group 1" descr="A single node with a memory location of 0xF2. It has three parts: a reference to the previous node, the value, and a reference to the next node.&#10;This node stores: null, &quot;B&quot;, null">
              <a:extLst>
                <a:ext uri="{FF2B5EF4-FFF2-40B4-BE49-F238E27FC236}">
                  <a16:creationId xmlns:a16="http://schemas.microsoft.com/office/drawing/2014/main" id="{3DBA4920-5761-C138-576B-1903AEDDC8FA}"/>
                </a:ext>
              </a:extLst>
            </p:cNvPr>
            <p:cNvGrpSpPr/>
            <p:nvPr/>
          </p:nvGrpSpPr>
          <p:grpSpPr>
            <a:xfrm>
              <a:off x="3068172" y="2209800"/>
              <a:ext cx="2438400" cy="1040652"/>
              <a:chOff x="3068172" y="2209800"/>
              <a:chExt cx="2438400" cy="1040652"/>
            </a:xfrm>
          </p:grpSpPr>
          <p:sp>
            <p:nvSpPr>
              <p:cNvPr id="112645" name="Text Box 10">
                <a:extLst>
                  <a:ext uri="{FF2B5EF4-FFF2-40B4-BE49-F238E27FC236}">
                    <a16:creationId xmlns:a16="http://schemas.microsoft.com/office/drawing/2014/main" id="{D8E7BEC5-2413-4BB8-8D4C-34F6519BDF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86200" y="2209800"/>
                <a:ext cx="990600" cy="3365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1600" b="1" dirty="0">
                    <a:solidFill>
                      <a:srgbClr val="0000CC"/>
                    </a:solidFill>
                    <a:latin typeface="Tahoma" panose="020B0604030504040204" pitchFamily="34" charset="0"/>
                  </a:rPr>
                  <a:t>0xF2</a:t>
                </a:r>
              </a:p>
            </p:txBody>
          </p:sp>
          <p:sp>
            <p:nvSpPr>
              <p:cNvPr id="112644" name="Text Box 7">
                <a:extLst>
                  <a:ext uri="{FF2B5EF4-FFF2-40B4-BE49-F238E27FC236}">
                    <a16:creationId xmlns:a16="http://schemas.microsoft.com/office/drawing/2014/main" id="{9996665C-99D8-4705-B367-63E59CAC3A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8544" y="2793252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  <p:sp>
            <p:nvSpPr>
              <p:cNvPr id="112648" name="Text Box 15">
                <a:extLst>
                  <a:ext uri="{FF2B5EF4-FFF2-40B4-BE49-F238E27FC236}">
                    <a16:creationId xmlns:a16="http://schemas.microsoft.com/office/drawing/2014/main" id="{FF2F9AC5-8BA6-4349-9429-53C43F6DE62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68172" y="2768600"/>
                <a:ext cx="818028" cy="4572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en-US" sz="2400" b="1" dirty="0">
                    <a:latin typeface="Tahoma" panose="020B0604030504040204" pitchFamily="34" charset="0"/>
                  </a:rPr>
                  <a:t>null</a:t>
                </a: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Footer Placeholder 3">
            <a:extLst>
              <a:ext uri="{FF2B5EF4-FFF2-40B4-BE49-F238E27FC236}">
                <a16:creationId xmlns:a16="http://schemas.microsoft.com/office/drawing/2014/main" id="{9AB6CD3A-F3B4-4791-928F-13BE7B2D5DA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800" b="1"/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altLang="en-US" sz="800" b="1">
              <a:latin typeface="Tahoma" panose="020B060403050404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en-US" sz="800" b="1">
                <a:latin typeface="Tahoma" panose="020B0604030504040204" pitchFamily="34" charset="0"/>
              </a:rPr>
              <a:t>© A+ Computer Science  -  www.apluscompsci.com</a:t>
            </a: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9D77A4D5-538F-4944-B217-CEB21B6B7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713" y="150812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2400">
              <a:latin typeface="MS LineDraw" charset="2"/>
            </a:endParaRPr>
          </a:p>
        </p:txBody>
      </p:sp>
      <p:sp>
        <p:nvSpPr>
          <p:cNvPr id="114693" name="WordArt 7">
            <a:extLst>
              <a:ext uri="{FF2B5EF4-FFF2-40B4-BE49-F238E27FC236}">
                <a16:creationId xmlns:a16="http://schemas.microsoft.com/office/drawing/2014/main" id="{D8BA58D4-C866-4AC3-8CB1-7E732DC130B2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38200" y="762000"/>
            <a:ext cx="75438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9525">
                  <a:solidFill>
                    <a:srgbClr val="FFFF00"/>
                  </a:solidFill>
                  <a:round/>
                  <a:headEnd type="none" w="sm" len="sm"/>
                  <a:tailEnd type="none" w="sm" len="sm"/>
                </a:ln>
                <a:solidFill>
                  <a:srgbClr val="0000FF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Impact" panose="020B0806030902050204" pitchFamily="34" charset="0"/>
              </a:rPr>
              <a:t>A DoublyNode</a:t>
            </a:r>
          </a:p>
        </p:txBody>
      </p:sp>
      <p:graphicFrame>
        <p:nvGraphicFramePr>
          <p:cNvPr id="229386" name="Group 10">
            <a:extLst>
              <a:ext uri="{FF2B5EF4-FFF2-40B4-BE49-F238E27FC236}">
                <a16:creationId xmlns:a16="http://schemas.microsoft.com/office/drawing/2014/main" id="{F0C0C9C8-5DE9-4FF3-AF27-D99962183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309540"/>
              </p:ext>
            </p:extLst>
          </p:nvPr>
        </p:nvGraphicFramePr>
        <p:xfrm>
          <a:off x="6002591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9401" name="Group 25">
            <a:extLst>
              <a:ext uri="{FF2B5EF4-FFF2-40B4-BE49-F238E27FC236}">
                <a16:creationId xmlns:a16="http://schemas.microsoft.com/office/drawing/2014/main" id="{0A8DCB6F-F444-479C-B5BF-29225661B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497477"/>
              </p:ext>
            </p:extLst>
          </p:nvPr>
        </p:nvGraphicFramePr>
        <p:xfrm>
          <a:off x="481783" y="2819400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4715" name="Text Box 37">
            <a:extLst>
              <a:ext uri="{FF2B5EF4-FFF2-40B4-BE49-F238E27FC236}">
                <a16:creationId xmlns:a16="http://schemas.microsoft.com/office/drawing/2014/main" id="{6EDD1316-2239-4B45-8047-0D614093C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8513" y="4572000"/>
            <a:ext cx="7500937" cy="1554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Doubly nodes can be used to make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a circular linked list where the front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b="1">
                <a:latin typeface="Tahoma" panose="020B0604030504040204" pitchFamily="34" charset="0"/>
              </a:rPr>
              <a:t>points at the back and vice versa.</a:t>
            </a:r>
          </a:p>
        </p:txBody>
      </p:sp>
      <p:grpSp>
        <p:nvGrpSpPr>
          <p:cNvPr id="7" name="Group 6" descr="Three double nodes stored at memory locations 0xF2, 0xF3, and 0xF4.&#10;First node stores: 0xF4, &quot;A&quot;, 0xF3&#10;so the 2nd node is after the 1st node and the last node is before it.&#10;Second node: 0xF2, &quot;B&quot;, 0xF4&#10;Third node: 0xF3, &quot;C&quot;, 0xF2&#10;so the 2nd node is before the 3rd node and the first node is after it">
            <a:extLst>
              <a:ext uri="{FF2B5EF4-FFF2-40B4-BE49-F238E27FC236}">
                <a16:creationId xmlns:a16="http://schemas.microsoft.com/office/drawing/2014/main" id="{2BB51D4A-E2C4-DE32-4247-1903170C6BA2}"/>
              </a:ext>
            </a:extLst>
          </p:cNvPr>
          <p:cNvGrpSpPr/>
          <p:nvPr/>
        </p:nvGrpSpPr>
        <p:grpSpPr>
          <a:xfrm>
            <a:off x="481783" y="2362200"/>
            <a:ext cx="8187808" cy="946150"/>
            <a:chOff x="481783" y="2362200"/>
            <a:chExt cx="8187808" cy="946150"/>
          </a:xfrm>
        </p:grpSpPr>
        <p:sp>
          <p:nvSpPr>
            <p:cNvPr id="114692" name="Text Box 6">
              <a:extLst>
                <a:ext uri="{FF2B5EF4-FFF2-40B4-BE49-F238E27FC236}">
                  <a16:creationId xmlns:a16="http://schemas.microsoft.com/office/drawing/2014/main" id="{0F57AB58-A323-48BB-8968-98739F527C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0791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  <p:sp>
          <p:nvSpPr>
            <p:cNvPr id="114704" name="Text Box 23">
              <a:extLst>
                <a:ext uri="{FF2B5EF4-FFF2-40B4-BE49-F238E27FC236}">
                  <a16:creationId xmlns:a16="http://schemas.microsoft.com/office/drawing/2014/main" id="{D5BD602D-0BF8-4D6E-8C99-46DB40D100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9983" y="23622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6" name="Text Box 38">
              <a:extLst>
                <a:ext uri="{FF2B5EF4-FFF2-40B4-BE49-F238E27FC236}">
                  <a16:creationId xmlns:a16="http://schemas.microsoft.com/office/drawing/2014/main" id="{B46AE38E-099A-4120-9E7C-D185F73059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025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7" name="Text Box 39">
              <a:extLst>
                <a:ext uri="{FF2B5EF4-FFF2-40B4-BE49-F238E27FC236}">
                  <a16:creationId xmlns:a16="http://schemas.microsoft.com/office/drawing/2014/main" id="{94E21E80-384A-4B73-9B27-0B9FB2A6B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78991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0xF2</a:t>
              </a:r>
            </a:p>
          </p:txBody>
        </p:sp>
        <p:sp>
          <p:nvSpPr>
            <p:cNvPr id="114718" name="Text Box 40">
              <a:extLst>
                <a:ext uri="{FF2B5EF4-FFF2-40B4-BE49-F238E27FC236}">
                  <a16:creationId xmlns:a16="http://schemas.microsoft.com/office/drawing/2014/main" id="{34ABFBC6-DA01-4077-8990-63FAEBC21D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7344" y="2971800"/>
              <a:ext cx="712839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 dirty="0">
                  <a:solidFill>
                    <a:srgbClr val="0000CC"/>
                  </a:solidFill>
                  <a:latin typeface="Tahoma" panose="020B0604030504040204" pitchFamily="34" charset="0"/>
                </a:rPr>
                <a:t>0xF3</a:t>
              </a:r>
            </a:p>
          </p:txBody>
        </p:sp>
        <p:sp>
          <p:nvSpPr>
            <p:cNvPr id="114719" name="Text Box 41">
              <a:extLst>
                <a:ext uri="{FF2B5EF4-FFF2-40B4-BE49-F238E27FC236}">
                  <a16:creationId xmlns:a16="http://schemas.microsoft.com/office/drawing/2014/main" id="{0C0DA64D-FFA2-4BAA-881D-0DD9447AAB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783" y="2971800"/>
              <a:ext cx="9906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1600" b="1">
                  <a:solidFill>
                    <a:srgbClr val="0000CC"/>
                  </a:solidFill>
                  <a:latin typeface="Tahoma" panose="020B0604030504040204" pitchFamily="34" charset="0"/>
                </a:rPr>
                <a:t>0xF4</a:t>
              </a:r>
            </a:p>
          </p:txBody>
        </p:sp>
      </p:grpSp>
      <p:graphicFrame>
        <p:nvGraphicFramePr>
          <p:cNvPr id="3" name="Group 25">
            <a:extLst>
              <a:ext uri="{FF2B5EF4-FFF2-40B4-BE49-F238E27FC236}">
                <a16:creationId xmlns:a16="http://schemas.microsoft.com/office/drawing/2014/main" id="{667ABF50-2FFD-A97D-AC77-78EB3B46AA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096985"/>
              </p:ext>
            </p:extLst>
          </p:nvPr>
        </p:nvGraphicFramePr>
        <p:xfrm>
          <a:off x="3261855" y="2813051"/>
          <a:ext cx="2438400" cy="736600"/>
        </p:xfrm>
        <a:graphic>
          <a:graphicData uri="http://schemas.openxmlformats.org/drawingml/2006/table">
            <a:tbl>
              <a:tblPr/>
              <a:tblGrid>
                <a:gridCol w="81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66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 Box 23">
            <a:extLst>
              <a:ext uri="{FF2B5EF4-FFF2-40B4-BE49-F238E27FC236}">
                <a16:creationId xmlns:a16="http://schemas.microsoft.com/office/drawing/2014/main" id="{7E0AA1F6-9A36-7710-94D4-F1640C111A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0055" y="23558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0xF3</a:t>
            </a:r>
          </a:p>
        </p:txBody>
      </p:sp>
      <p:sp>
        <p:nvSpPr>
          <p:cNvPr id="5" name="Text Box 40">
            <a:extLst>
              <a:ext uri="{FF2B5EF4-FFF2-40B4-BE49-F238E27FC236}">
                <a16:creationId xmlns:a16="http://schemas.microsoft.com/office/drawing/2014/main" id="{6C30E119-163D-DEDE-6166-83FC74418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82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>
                <a:solidFill>
                  <a:srgbClr val="0000CC"/>
                </a:solidFill>
                <a:latin typeface="Tahoma" panose="020B0604030504040204" pitchFamily="34" charset="0"/>
              </a:rPr>
              <a:t>0xF4</a:t>
            </a:r>
          </a:p>
        </p:txBody>
      </p:sp>
      <p:sp>
        <p:nvSpPr>
          <p:cNvPr id="6" name="Text Box 41">
            <a:extLst>
              <a:ext uri="{FF2B5EF4-FFF2-40B4-BE49-F238E27FC236}">
                <a16:creationId xmlns:a16="http://schemas.microsoft.com/office/drawing/2014/main" id="{5E6BE5DC-BF9B-A54C-7E27-EABAD0C24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1855" y="2965451"/>
            <a:ext cx="990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1600" b="1" dirty="0">
                <a:solidFill>
                  <a:srgbClr val="0000CC"/>
                </a:solidFill>
                <a:latin typeface="Tahoma" panose="020B0604030504040204" pitchFamily="34" charset="0"/>
              </a:rPr>
              <a:t>0xF2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C:\MSOffice\Templates\Blank Presentation.pot</Template>
  <TotalTime>2936</TotalTime>
  <Words>1383</Words>
  <Application>Microsoft Office PowerPoint</Application>
  <PresentationFormat>On-screen Show (4:3)</PresentationFormat>
  <Paragraphs>434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Courier New</vt:lpstr>
      <vt:lpstr>Impact</vt:lpstr>
      <vt:lpstr>MS LineDraw</vt:lpstr>
      <vt:lpstr>Tahoma</vt:lpstr>
      <vt:lpstr>Times New Roman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www.apluscompsci.com</Manager>
  <Company>A+ Computer Science</Company>
  <LinksUpToDate>false</LinksUpToDate>
  <SharedDoc>false</SharedDoc>
  <HyperlinkBase>www.apluscompsci.com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linkedlists</dc:title>
  <dc:subject>Linked Lists</dc:subject>
  <dc:creator>A+ Computer Science</dc:creator>
  <cp:keywords>www.apluscompsci.com</cp:keywords>
  <dc:description>Linked Lists_x000d_
©A+ Computer Science_x000d_
www.apluscompsci.com</dc:description>
  <cp:lastModifiedBy>Weldon Jasik</cp:lastModifiedBy>
  <cp:revision>501</cp:revision>
  <cp:lastPrinted>2000-10-05T14:12:58Z</cp:lastPrinted>
  <dcterms:created xsi:type="dcterms:W3CDTF">1995-06-17T23:31:02Z</dcterms:created>
  <dcterms:modified xsi:type="dcterms:W3CDTF">2026-01-07T18:10:34Z</dcterms:modified>
  <cp:category>www.apluscompsci.com</cp:category>
</cp:coreProperties>
</file>
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3"/>
  </p:notesMasterIdLst>
  <p:handoutMasterIdLst>
    <p:handoutMasterId r:id="rId64"/>
  </p:handoutMasterIdLst>
  <p:sldIdLst>
    <p:sldId id="258" r:id="rId2"/>
    <p:sldId id="456" r:id="rId3"/>
    <p:sldId id="457" r:id="rId4"/>
    <p:sldId id="541" r:id="rId5"/>
    <p:sldId id="458" r:id="rId6"/>
    <p:sldId id="460" r:id="rId7"/>
    <p:sldId id="404" r:id="rId8"/>
    <p:sldId id="495" r:id="rId9"/>
    <p:sldId id="496" r:id="rId10"/>
    <p:sldId id="497" r:id="rId11"/>
    <p:sldId id="498" r:id="rId12"/>
    <p:sldId id="501" r:id="rId13"/>
    <p:sldId id="526" r:id="rId14"/>
    <p:sldId id="499" r:id="rId15"/>
    <p:sldId id="488" r:id="rId16"/>
    <p:sldId id="486" r:id="rId17"/>
    <p:sldId id="510" r:id="rId18"/>
    <p:sldId id="445" r:id="rId19"/>
    <p:sldId id="469" r:id="rId20"/>
    <p:sldId id="471" r:id="rId21"/>
    <p:sldId id="508" r:id="rId22"/>
    <p:sldId id="472" r:id="rId23"/>
    <p:sldId id="470" r:id="rId24"/>
    <p:sldId id="509" r:id="rId25"/>
    <p:sldId id="473" r:id="rId26"/>
    <p:sldId id="474" r:id="rId27"/>
    <p:sldId id="475" r:id="rId28"/>
    <p:sldId id="476" r:id="rId29"/>
    <p:sldId id="477" r:id="rId30"/>
    <p:sldId id="528" r:id="rId31"/>
    <p:sldId id="478" r:id="rId32"/>
    <p:sldId id="540" r:id="rId33"/>
    <p:sldId id="529" r:id="rId34"/>
    <p:sldId id="462" r:id="rId35"/>
    <p:sldId id="534" r:id="rId36"/>
    <p:sldId id="532" r:id="rId37"/>
    <p:sldId id="467" r:id="rId38"/>
    <p:sldId id="490" r:id="rId39"/>
    <p:sldId id="504" r:id="rId40"/>
    <p:sldId id="511" r:id="rId41"/>
    <p:sldId id="493" r:id="rId42"/>
    <p:sldId id="300" r:id="rId43"/>
    <p:sldId id="301" r:id="rId44"/>
    <p:sldId id="302" r:id="rId45"/>
    <p:sldId id="515" r:id="rId46"/>
    <p:sldId id="523" r:id="rId47"/>
    <p:sldId id="525" r:id="rId48"/>
    <p:sldId id="516" r:id="rId49"/>
    <p:sldId id="517" r:id="rId50"/>
    <p:sldId id="518" r:id="rId51"/>
    <p:sldId id="524" r:id="rId52"/>
    <p:sldId id="519" r:id="rId53"/>
    <p:sldId id="521" r:id="rId54"/>
    <p:sldId id="522" r:id="rId55"/>
    <p:sldId id="520" r:id="rId56"/>
    <p:sldId id="527" r:id="rId57"/>
    <p:sldId id="537" r:id="rId58"/>
    <p:sldId id="538" r:id="rId59"/>
    <p:sldId id="539" r:id="rId60"/>
    <p:sldId id="535" r:id="rId61"/>
    <p:sldId id="536" r:id="rId62"/>
  </p:sldIdLst>
  <p:sldSz cx="9144000" cy="6858000" type="screen4x3"/>
  <p:notesSz cx="6858000" cy="9296400"/>
  <p:defaultTextStyle>
    <a:defPPr>
      <a:defRPr lang="en-US"/>
    </a:defPPr>
    <a:lvl1pPr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5pPr>
    <a:lvl6pPr marL="2286000" algn="l" defTabSz="914400" rtl="0" eaLnBrk="1" latinLnBrk="0" hangingPunct="1">
      <a:defRPr sz="2400" b="1" kern="1200">
        <a:solidFill>
          <a:schemeClr val="tx1"/>
        </a:solidFill>
        <a:latin typeface="Tahoma" panose="020B0604030504040204" pitchFamily="34" charset="0"/>
        <a:ea typeface="+mn-ea"/>
        <a:cs typeface="+mn-cs"/>
      </a:defRPr>
    </a:lvl6pPr>
    <a:lvl7pPr marL="2743200" algn="l" defTabSz="914400" rtl="0" eaLnBrk="1" latinLnBrk="0" hangingPunct="1">
      <a:defRPr sz="2400" b="1" kern="1200">
        <a:solidFill>
          <a:schemeClr val="tx1"/>
        </a:solidFill>
        <a:latin typeface="Tahoma" panose="020B0604030504040204" pitchFamily="34" charset="0"/>
        <a:ea typeface="+mn-ea"/>
        <a:cs typeface="+mn-cs"/>
      </a:defRPr>
    </a:lvl7pPr>
    <a:lvl8pPr marL="3200400" algn="l" defTabSz="914400" rtl="0" eaLnBrk="1" latinLnBrk="0" hangingPunct="1">
      <a:defRPr sz="2400" b="1" kern="1200">
        <a:solidFill>
          <a:schemeClr val="tx1"/>
        </a:solidFill>
        <a:latin typeface="Tahoma" panose="020B0604030504040204" pitchFamily="34" charset="0"/>
        <a:ea typeface="+mn-ea"/>
        <a:cs typeface="+mn-cs"/>
      </a:defRPr>
    </a:lvl8pPr>
    <a:lvl9pPr marL="3657600" algn="l" defTabSz="914400" rtl="0" eaLnBrk="1" latinLnBrk="0" hangingPunct="1">
      <a:defRPr sz="24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3333CC"/>
    <a:srgbClr val="3333FF"/>
    <a:srgbClr val="660033"/>
    <a:srgbClr val="006666"/>
    <a:srgbClr val="0000CC"/>
    <a:srgbClr val="E1F4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1071" autoAdjust="0"/>
    <p:restoredTop sz="90380" autoAdjust="0"/>
  </p:normalViewPr>
  <p:slideViewPr>
    <p:cSldViewPr>
      <p:cViewPr varScale="1">
        <p:scale>
          <a:sx n="74" d="100"/>
          <a:sy n="74" d="100"/>
        </p:scale>
        <p:origin x="27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2448" y="-96"/>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F7FC307-A649-404B-AB63-FEF4CAB240AB}"/>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200"/>
            </a:lvl1pPr>
          </a:lstStyle>
          <a:p>
            <a:pPr>
              <a:defRPr/>
            </a:pPr>
            <a:endParaRPr lang="en-US"/>
          </a:p>
        </p:txBody>
      </p:sp>
      <p:sp>
        <p:nvSpPr>
          <p:cNvPr id="3075" name="Rectangle 3">
            <a:extLst>
              <a:ext uri="{FF2B5EF4-FFF2-40B4-BE49-F238E27FC236}">
                <a16:creationId xmlns:a16="http://schemas.microsoft.com/office/drawing/2014/main" id="{517D5C31-E3B7-48C4-A3A9-09955A61B91D}"/>
              </a:ext>
            </a:extLst>
          </p:cNvPr>
          <p:cNvSpPr>
            <a:spLocks noGrp="1" noChangeArrowheads="1"/>
          </p:cNvSpPr>
          <p:nvPr>
            <p:ph type="dt" sz="quarter"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a:lvl1pPr>
          </a:lstStyle>
          <a:p>
            <a:pPr>
              <a:defRPr/>
            </a:pPr>
            <a:endParaRPr lang="en-US"/>
          </a:p>
        </p:txBody>
      </p:sp>
      <p:sp>
        <p:nvSpPr>
          <p:cNvPr id="3076" name="Rectangle 4">
            <a:extLst>
              <a:ext uri="{FF2B5EF4-FFF2-40B4-BE49-F238E27FC236}">
                <a16:creationId xmlns:a16="http://schemas.microsoft.com/office/drawing/2014/main" id="{95340B6D-85E6-46E4-A4BE-84172D029A56}"/>
              </a:ext>
            </a:extLst>
          </p:cNvPr>
          <p:cNvSpPr>
            <a:spLocks noGrp="1" noChangeArrowheads="1"/>
          </p:cNvSpPr>
          <p:nvPr>
            <p:ph type="ftr" sz="quarter" idx="2"/>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0" hangingPunct="0">
              <a:defRPr sz="1200"/>
            </a:lvl1pPr>
          </a:lstStyle>
          <a:p>
            <a:pPr>
              <a:defRPr/>
            </a:pPr>
            <a:endParaRPr lang="en-US"/>
          </a:p>
        </p:txBody>
      </p:sp>
      <p:sp>
        <p:nvSpPr>
          <p:cNvPr id="3077" name="Rectangle 5">
            <a:extLst>
              <a:ext uri="{FF2B5EF4-FFF2-40B4-BE49-F238E27FC236}">
                <a16:creationId xmlns:a16="http://schemas.microsoft.com/office/drawing/2014/main" id="{3376802B-0B8F-472A-9C1B-E7D9ED4BD466}"/>
              </a:ext>
            </a:extLst>
          </p:cNvPr>
          <p:cNvSpPr>
            <a:spLocks noGrp="1" noChangeArrowheads="1"/>
          </p:cNvSpPr>
          <p:nvPr>
            <p:ph type="sldNum" sz="quarter" idx="3"/>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a:defRPr sz="1200"/>
            </a:lvl1pPr>
          </a:lstStyle>
          <a:p>
            <a:fld id="{C72A1454-8E80-41A5-B870-296C9C0FC3F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E2E10D3-38A3-48F1-806D-95F735069261}"/>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200"/>
            </a:lvl1pPr>
          </a:lstStyle>
          <a:p>
            <a:pPr>
              <a:defRPr/>
            </a:pPr>
            <a:endParaRPr lang="en-US"/>
          </a:p>
        </p:txBody>
      </p:sp>
      <p:sp>
        <p:nvSpPr>
          <p:cNvPr id="2051" name="Rectangle 3">
            <a:extLst>
              <a:ext uri="{FF2B5EF4-FFF2-40B4-BE49-F238E27FC236}">
                <a16:creationId xmlns:a16="http://schemas.microsoft.com/office/drawing/2014/main" id="{4ED9A8A2-FFDE-4856-AEBF-FA15BFBECDDC}"/>
              </a:ext>
            </a:extLst>
          </p:cNvPr>
          <p:cNvSpPr>
            <a:spLocks noGrp="1" noChangeArrowheads="1"/>
          </p:cNvSpPr>
          <p:nvPr>
            <p:ph type="dt"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a:lvl1pPr>
          </a:lstStyle>
          <a:p>
            <a:pPr>
              <a:defRPr/>
            </a:pPr>
            <a:endParaRPr lang="en-US"/>
          </a:p>
        </p:txBody>
      </p:sp>
      <p:sp>
        <p:nvSpPr>
          <p:cNvPr id="2052" name="Rectangle 4">
            <a:extLst>
              <a:ext uri="{FF2B5EF4-FFF2-40B4-BE49-F238E27FC236}">
                <a16:creationId xmlns:a16="http://schemas.microsoft.com/office/drawing/2014/main" id="{390F226D-D9F4-423C-AC8D-104EBECD27AE}"/>
              </a:ext>
            </a:extLst>
          </p:cNvPr>
          <p:cNvSpPr>
            <a:spLocks noGrp="1" noRot="1" noChangeAspect="1" noChangeArrowheads="1" noTextEdit="1"/>
          </p:cNvSpPr>
          <p:nvPr>
            <p:ph type="sldImg" idx="2"/>
          </p:nvPr>
        </p:nvSpPr>
        <p:spPr bwMode="auto">
          <a:xfrm>
            <a:off x="1106488" y="698500"/>
            <a:ext cx="4645025" cy="348297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7C3AC084-52CA-4BC2-9B19-DE4B84F7937D}"/>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641B070C-5C38-4240-A7E0-FA422193177E}"/>
              </a:ext>
            </a:extLst>
          </p:cNvPr>
          <p:cNvSpPr>
            <a:spLocks noGrp="1" noChangeArrowheads="1"/>
          </p:cNvSpPr>
          <p:nvPr>
            <p:ph type="ftr" sz="quarter" idx="4"/>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0" hangingPunct="0">
              <a:defRPr sz="1200"/>
            </a:lvl1pPr>
          </a:lstStyle>
          <a:p>
            <a:pPr>
              <a:defRPr/>
            </a:pPr>
            <a:endParaRPr lang="en-US"/>
          </a:p>
        </p:txBody>
      </p:sp>
      <p:sp>
        <p:nvSpPr>
          <p:cNvPr id="2055" name="Rectangle 7">
            <a:extLst>
              <a:ext uri="{FF2B5EF4-FFF2-40B4-BE49-F238E27FC236}">
                <a16:creationId xmlns:a16="http://schemas.microsoft.com/office/drawing/2014/main" id="{90AADA96-9AA8-4FA6-8FD4-B458DC51A507}"/>
              </a:ext>
            </a:extLst>
          </p:cNvPr>
          <p:cNvSpPr>
            <a:spLocks noGrp="1" noChangeArrowheads="1"/>
          </p:cNvSpPr>
          <p:nvPr>
            <p:ph type="sldNum" sz="quarter" idx="5"/>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a:defRPr sz="1200"/>
            </a:lvl1pPr>
          </a:lstStyle>
          <a:p>
            <a:fld id="{F382F85F-62A6-4478-82FF-FD9903B0637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cite_note-tenenbaum90-11"/><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cite_note-tenenbaum90-11"/><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651D9E3-0DF9-4F61-A310-BCBE1EC5A83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FD119F-348D-4FE0-88E8-5CFC4EF91FAA}" type="slidenum">
              <a:rPr lang="en-US" altLang="en-US">
                <a:latin typeface="Tahoma" panose="020B0604030504040204" pitchFamily="34" charset="0"/>
              </a:rPr>
              <a:pPr>
                <a:spcBef>
                  <a:spcPct val="0"/>
                </a:spcBef>
              </a:pPr>
              <a:t>1</a:t>
            </a:fld>
            <a:endParaRPr lang="en-US" altLang="en-US">
              <a:latin typeface="Tahoma" panose="020B0604030504040204" pitchFamily="34" charset="0"/>
            </a:endParaRPr>
          </a:p>
        </p:txBody>
      </p:sp>
      <p:sp>
        <p:nvSpPr>
          <p:cNvPr id="5123" name="Rectangle 2">
            <a:extLst>
              <a:ext uri="{FF2B5EF4-FFF2-40B4-BE49-F238E27FC236}">
                <a16:creationId xmlns:a16="http://schemas.microsoft.com/office/drawing/2014/main" id="{499F8B65-1C67-4293-B5B2-1FC6D0B05C87}"/>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1CA02D2F-FF1C-45EE-A804-238297AFF4D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FE809DD0-9827-49BD-8929-A215FC88863D}"/>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74D691A-D318-4FD9-B515-443197DE2535}" type="slidenum">
              <a:rPr lang="en-US" altLang="en-US">
                <a:latin typeface="Tahoma" panose="020B0604030504040204" pitchFamily="34" charset="0"/>
              </a:rPr>
              <a:pPr>
                <a:spcBef>
                  <a:spcPct val="0"/>
                </a:spcBef>
              </a:pPr>
              <a:t>2</a:t>
            </a:fld>
            <a:endParaRPr lang="en-US" altLang="en-US">
              <a:latin typeface="Tahoma" panose="020B0604030504040204" pitchFamily="34" charset="0"/>
            </a:endParaRPr>
          </a:p>
        </p:txBody>
      </p:sp>
      <p:sp>
        <p:nvSpPr>
          <p:cNvPr id="7171" name="Rectangle 2">
            <a:extLst>
              <a:ext uri="{FF2B5EF4-FFF2-40B4-BE49-F238E27FC236}">
                <a16:creationId xmlns:a16="http://schemas.microsoft.com/office/drawing/2014/main" id="{61AE1038-968E-457E-A319-0F62CD3DABBC}"/>
              </a:ext>
            </a:extLst>
          </p:cNvPr>
          <p:cNvSpPr>
            <a:spLocks noGrp="1" noRot="1" noChangeAspect="1" noChangeArrowheads="1" noTextEdit="1"/>
          </p:cNvSpPr>
          <p:nvPr>
            <p:ph type="sldImg"/>
          </p:nvPr>
        </p:nvSpPr>
        <p:spPr>
          <a:xfrm>
            <a:off x="1104900" y="696913"/>
            <a:ext cx="4648200" cy="3486150"/>
          </a:xfrm>
          <a:ln/>
        </p:spPr>
      </p:sp>
      <p:sp>
        <p:nvSpPr>
          <p:cNvPr id="7172" name="Rectangle 3">
            <a:extLst>
              <a:ext uri="{FF2B5EF4-FFF2-40B4-BE49-F238E27FC236}">
                <a16:creationId xmlns:a16="http://schemas.microsoft.com/office/drawing/2014/main" id="{771A4651-CA6F-405A-AF9B-A4835FC7BFFB}"/>
              </a:ext>
            </a:extLst>
          </p:cNvPr>
          <p:cNvSpPr>
            <a:spLocks noGrp="1" noChangeArrowheads="1"/>
          </p:cNvSpPr>
          <p:nvPr>
            <p:ph type="body" idx="1"/>
          </p:nvPr>
        </p:nvSpPr>
        <p:spPr>
          <a:xfrm>
            <a:off x="685800" y="4416425"/>
            <a:ext cx="5486400" cy="4183063"/>
          </a:xfrm>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F2FFEB2-8CAC-47EB-8963-1AF53613AF1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3C877E1-467D-45BF-B6DF-F80E2BAD901F}" type="slidenum">
              <a:rPr lang="en-US" altLang="en-US">
                <a:latin typeface="Tahoma" panose="020B0604030504040204" pitchFamily="34" charset="0"/>
              </a:rPr>
              <a:pPr>
                <a:spcBef>
                  <a:spcPct val="0"/>
                </a:spcBef>
              </a:pPr>
              <a:t>3</a:t>
            </a:fld>
            <a:endParaRPr lang="en-US" altLang="en-US">
              <a:latin typeface="Tahoma" panose="020B0604030504040204" pitchFamily="34" charset="0"/>
            </a:endParaRPr>
          </a:p>
        </p:txBody>
      </p:sp>
      <p:sp>
        <p:nvSpPr>
          <p:cNvPr id="9219" name="Rectangle 2">
            <a:extLst>
              <a:ext uri="{FF2B5EF4-FFF2-40B4-BE49-F238E27FC236}">
                <a16:creationId xmlns:a16="http://schemas.microsoft.com/office/drawing/2014/main" id="{056B63E1-CC5F-4FD8-B5E1-899BAA0B80EB}"/>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3FC8022C-CCD9-4E5C-905B-12A57B6026F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788F5B69-A71C-4BDC-8345-72F1CA943C2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63D32BD-1DE7-47D1-8317-3DE05B260422}" type="slidenum">
              <a:rPr lang="en-US" altLang="en-US">
                <a:latin typeface="Tahoma" panose="020B0604030504040204" pitchFamily="34" charset="0"/>
              </a:rPr>
              <a:pPr>
                <a:spcBef>
                  <a:spcPct val="0"/>
                </a:spcBef>
              </a:pPr>
              <a:t>5</a:t>
            </a:fld>
            <a:endParaRPr lang="en-US" altLang="en-US">
              <a:latin typeface="Tahoma" panose="020B0604030504040204" pitchFamily="34" charset="0"/>
            </a:endParaRPr>
          </a:p>
        </p:txBody>
      </p:sp>
      <p:sp>
        <p:nvSpPr>
          <p:cNvPr id="11267" name="Rectangle 2">
            <a:extLst>
              <a:ext uri="{FF2B5EF4-FFF2-40B4-BE49-F238E27FC236}">
                <a16:creationId xmlns:a16="http://schemas.microsoft.com/office/drawing/2014/main" id="{0324EF1F-E37B-44C1-ABB6-D91E2006C629}"/>
              </a:ext>
            </a:extLst>
          </p:cNvPr>
          <p:cNvSpPr>
            <a:spLocks noGrp="1" noRot="1" noChangeAspect="1" noChangeArrowheads="1" noTextEdit="1"/>
          </p:cNvSpPr>
          <p:nvPr>
            <p:ph type="sldImg"/>
          </p:nvPr>
        </p:nvSpPr>
        <p:spPr>
          <a:xfrm>
            <a:off x="1104900" y="696913"/>
            <a:ext cx="4648200" cy="3486150"/>
          </a:xfrm>
          <a:ln/>
        </p:spPr>
      </p:sp>
      <p:sp>
        <p:nvSpPr>
          <p:cNvPr id="11268" name="Rectangle 3">
            <a:extLst>
              <a:ext uri="{FF2B5EF4-FFF2-40B4-BE49-F238E27FC236}">
                <a16:creationId xmlns:a16="http://schemas.microsoft.com/office/drawing/2014/main" id="{9085BAEC-0084-44E2-8FA0-7D4974F1064A}"/>
              </a:ext>
            </a:extLst>
          </p:cNvPr>
          <p:cNvSpPr>
            <a:spLocks noGrp="1" noChangeArrowheads="1"/>
          </p:cNvSpPr>
          <p:nvPr>
            <p:ph type="body" idx="1"/>
          </p:nvPr>
        </p:nvSpPr>
        <p:spPr>
          <a:xfrm>
            <a:off x="685800" y="4416425"/>
            <a:ext cx="5486400" cy="4183063"/>
          </a:xfrm>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426B1F6B-DD59-4008-8115-D1779FD25EF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B37E793-BE20-4B90-8C03-0E4844990F27}" type="slidenum">
              <a:rPr lang="en-US" altLang="en-US">
                <a:latin typeface="Tahoma" panose="020B0604030504040204" pitchFamily="34" charset="0"/>
              </a:rPr>
              <a:pPr>
                <a:spcBef>
                  <a:spcPct val="0"/>
                </a:spcBef>
              </a:pPr>
              <a:t>6</a:t>
            </a:fld>
            <a:endParaRPr lang="en-US" altLang="en-US">
              <a:latin typeface="Tahoma" panose="020B0604030504040204" pitchFamily="34" charset="0"/>
            </a:endParaRPr>
          </a:p>
        </p:txBody>
      </p:sp>
      <p:sp>
        <p:nvSpPr>
          <p:cNvPr id="13315" name="Rectangle 2">
            <a:extLst>
              <a:ext uri="{FF2B5EF4-FFF2-40B4-BE49-F238E27FC236}">
                <a16:creationId xmlns:a16="http://schemas.microsoft.com/office/drawing/2014/main" id="{204B26EB-4E8D-440A-A418-1EF2CE6EE0A4}"/>
              </a:ext>
            </a:extLst>
          </p:cNvPr>
          <p:cNvSpPr>
            <a:spLocks noGrp="1" noRot="1" noChangeAspect="1" noChangeArrowheads="1" noTextEdit="1"/>
          </p:cNvSpPr>
          <p:nvPr>
            <p:ph type="sldImg"/>
          </p:nvPr>
        </p:nvSpPr>
        <p:spPr>
          <a:xfrm>
            <a:off x="1104900" y="696913"/>
            <a:ext cx="4648200" cy="3486150"/>
          </a:xfrm>
          <a:ln/>
        </p:spPr>
      </p:sp>
      <p:sp>
        <p:nvSpPr>
          <p:cNvPr id="13316" name="Rectangle 3">
            <a:extLst>
              <a:ext uri="{FF2B5EF4-FFF2-40B4-BE49-F238E27FC236}">
                <a16:creationId xmlns:a16="http://schemas.microsoft.com/office/drawing/2014/main" id="{1CD9276F-6684-4D53-98AB-15C8317AF3B2}"/>
              </a:ext>
            </a:extLst>
          </p:cNvPr>
          <p:cNvSpPr>
            <a:spLocks noGrp="1" noChangeArrowheads="1"/>
          </p:cNvSpPr>
          <p:nvPr>
            <p:ph type="body" idx="1"/>
          </p:nvPr>
        </p:nvSpPr>
        <p:spPr>
          <a:xfrm>
            <a:off x="685800" y="4416425"/>
            <a:ext cx="5486400" cy="4183063"/>
          </a:xfrm>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801F9D3-2810-4084-ADF1-AB004B1D3DB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0F79D2-B9EE-4241-BF1F-06D4A283B461}" type="slidenum">
              <a:rPr lang="en-US" altLang="en-US">
                <a:latin typeface="Tahoma" panose="020B0604030504040204" pitchFamily="34" charset="0"/>
              </a:rPr>
              <a:pPr>
                <a:spcBef>
                  <a:spcPct val="0"/>
                </a:spcBef>
              </a:pPr>
              <a:t>7</a:t>
            </a:fld>
            <a:endParaRPr lang="en-US" altLang="en-US">
              <a:latin typeface="Tahoma" panose="020B0604030504040204" pitchFamily="34" charset="0"/>
            </a:endParaRPr>
          </a:p>
        </p:txBody>
      </p:sp>
      <p:sp>
        <p:nvSpPr>
          <p:cNvPr id="15363" name="Rectangle 2">
            <a:extLst>
              <a:ext uri="{FF2B5EF4-FFF2-40B4-BE49-F238E27FC236}">
                <a16:creationId xmlns:a16="http://schemas.microsoft.com/office/drawing/2014/main" id="{7B792158-4AAD-40CC-99AE-3D94F97EA312}"/>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00669327-1126-4B04-8576-288C6CCB3F2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C383420-F9F4-4109-B62C-30014EF40B1D}"/>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22997C-F34F-48A7-82EB-616D4599B1B0}" type="slidenum">
              <a:rPr lang="en-US" altLang="en-US">
                <a:latin typeface="Tahoma" panose="020B0604030504040204" pitchFamily="34" charset="0"/>
              </a:rPr>
              <a:pPr>
                <a:spcBef>
                  <a:spcPct val="0"/>
                </a:spcBef>
              </a:pPr>
              <a:t>8</a:t>
            </a:fld>
            <a:endParaRPr lang="en-US" altLang="en-US">
              <a:latin typeface="Tahoma" panose="020B0604030504040204" pitchFamily="34" charset="0"/>
            </a:endParaRPr>
          </a:p>
        </p:txBody>
      </p:sp>
      <p:sp>
        <p:nvSpPr>
          <p:cNvPr id="17411" name="Rectangle 2">
            <a:extLst>
              <a:ext uri="{FF2B5EF4-FFF2-40B4-BE49-F238E27FC236}">
                <a16:creationId xmlns:a16="http://schemas.microsoft.com/office/drawing/2014/main" id="{4C97980E-5CD2-4D0A-9D85-8B6A866B443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49A5CFEE-C4CD-4BE7-B6A2-CDA2549A87F4}"/>
              </a:ext>
            </a:extLst>
          </p:cNvPr>
          <p:cNvSpPr>
            <a:spLocks noGrp="1" noChangeArrowheads="1"/>
          </p:cNvSpPr>
          <p:nvPr>
            <p:ph type="body" idx="1"/>
          </p:nvPr>
        </p:nvSpPr>
        <p:spPr>
          <a:noFill/>
        </p:spPr>
        <p:txBody>
          <a:bodyPr/>
          <a:lstStyle/>
          <a:p>
            <a:pPr eaLnBrk="1" hangingPunct="1"/>
            <a:r>
              <a:rPr lang="en-US" altLang="en-US" sz="1600"/>
              <a:t>Interfaces cannot be instantiated.</a:t>
            </a:r>
          </a:p>
          <a:p>
            <a:pPr eaLnBrk="1" hangingPunct="1"/>
            <a:r>
              <a:rPr lang="en-US" altLang="en-US" sz="1600">
                <a:latin typeface="Courier New" panose="02070309020205020404" pitchFamily="49" charset="0"/>
              </a:rPr>
              <a:t>Set bad = new Set();</a:t>
            </a:r>
            <a:r>
              <a:rPr lang="en-US" altLang="en-US" sz="1600"/>
              <a:t>		//illegal</a:t>
            </a:r>
          </a:p>
          <a:p>
            <a:pPr eaLnBrk="1" hangingPunct="1"/>
            <a:endParaRPr lang="en-US" altLang="en-US" sz="1600"/>
          </a:p>
          <a:p>
            <a:pPr eaLnBrk="1" hangingPunct="1"/>
            <a:r>
              <a:rPr lang="en-US" altLang="en-US" sz="1600"/>
              <a:t>Set can be used as a reference to one of its children.</a:t>
            </a:r>
          </a:p>
          <a:p>
            <a:pPr eaLnBrk="1" hangingPunct="1"/>
            <a:r>
              <a:rPr lang="en-US" altLang="en-US" sz="1600">
                <a:latin typeface="Courier New" panose="02070309020205020404" pitchFamily="49" charset="0"/>
              </a:rPr>
              <a:t>Set hash = new HashSet();</a:t>
            </a:r>
          </a:p>
          <a:p>
            <a:pPr eaLnBrk="1" hangingPunct="1"/>
            <a:r>
              <a:rPr lang="en-US" altLang="en-US" sz="1600">
                <a:latin typeface="Courier New" panose="02070309020205020404" pitchFamily="49" charset="0"/>
              </a:rPr>
              <a:t>Set tree = new TreeSet();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762B87E-3FB3-410F-A662-6C03771426A3}"/>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1A441D-D8E7-42ED-9A22-B669B04E9A61}" type="slidenum">
              <a:rPr lang="en-US" altLang="en-US">
                <a:latin typeface="Tahoma" panose="020B0604030504040204" pitchFamily="34" charset="0"/>
              </a:rPr>
              <a:pPr>
                <a:spcBef>
                  <a:spcPct val="0"/>
                </a:spcBef>
              </a:pPr>
              <a:t>9</a:t>
            </a:fld>
            <a:endParaRPr lang="en-US" altLang="en-US">
              <a:latin typeface="Tahoma" panose="020B0604030504040204" pitchFamily="34" charset="0"/>
            </a:endParaRPr>
          </a:p>
        </p:txBody>
      </p:sp>
      <p:sp>
        <p:nvSpPr>
          <p:cNvPr id="19459" name="Rectangle 2">
            <a:extLst>
              <a:ext uri="{FF2B5EF4-FFF2-40B4-BE49-F238E27FC236}">
                <a16:creationId xmlns:a16="http://schemas.microsoft.com/office/drawing/2014/main" id="{9ADC97A7-5F24-45B9-A08F-710D4727A19E}"/>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10F04F2-58EC-4D16-9BD8-E1A2AAA8DAD6}"/>
              </a:ext>
            </a:extLst>
          </p:cNvPr>
          <p:cNvSpPr>
            <a:spLocks noGrp="1" noChangeArrowheads="1"/>
          </p:cNvSpPr>
          <p:nvPr>
            <p:ph type="body" idx="1"/>
          </p:nvPr>
        </p:nvSpPr>
        <p:spPr>
          <a:xfrm>
            <a:off x="914400" y="4416425"/>
            <a:ext cx="5334000" cy="4183063"/>
          </a:xfrm>
          <a:noFill/>
        </p:spPr>
        <p:txBody>
          <a:bodyPr/>
          <a:lstStyle/>
          <a:p>
            <a:pPr eaLnBrk="1" hangingPunct="1"/>
            <a:r>
              <a:rPr lang="en-US" altLang="en-US" sz="1600"/>
              <a:t>Interfaces cannot be instantiated.</a:t>
            </a:r>
          </a:p>
          <a:p>
            <a:pPr eaLnBrk="1" hangingPunct="1"/>
            <a:r>
              <a:rPr lang="en-US" altLang="en-US" sz="1600">
                <a:latin typeface="Courier New" panose="02070309020205020404" pitchFamily="49" charset="0"/>
              </a:rPr>
              <a:t>Set&lt;String&gt; bad = new Set&lt;String&gt;();</a:t>
            </a:r>
            <a:r>
              <a:rPr lang="en-US" altLang="en-US" sz="1600"/>
              <a:t>		                                                                 //illegal</a:t>
            </a:r>
          </a:p>
          <a:p>
            <a:pPr eaLnBrk="1" hangingPunct="1"/>
            <a:endParaRPr lang="en-US" altLang="en-US" sz="1600"/>
          </a:p>
          <a:p>
            <a:pPr eaLnBrk="1" hangingPunct="1"/>
            <a:r>
              <a:rPr lang="en-US" altLang="en-US" sz="1600"/>
              <a:t>Set can be used as a reference to one of its children.</a:t>
            </a:r>
          </a:p>
          <a:p>
            <a:pPr eaLnBrk="1" hangingPunct="1"/>
            <a:r>
              <a:rPr lang="en-US" altLang="en-US" sz="1600">
                <a:latin typeface="Courier New" panose="02070309020205020404" pitchFamily="49" charset="0"/>
              </a:rPr>
              <a:t>Set&lt;Byte&gt; hash = new HashSet&lt;Byte&gt;();</a:t>
            </a:r>
          </a:p>
          <a:p>
            <a:pPr eaLnBrk="1" hangingPunct="1"/>
            <a:r>
              <a:rPr lang="en-US" altLang="en-US" sz="1600">
                <a:latin typeface="Courier New" panose="02070309020205020404" pitchFamily="49" charset="0"/>
              </a:rPr>
              <a:t>Set&lt;String&gt; tree = new TreeSet&lt;String&gt;();</a:t>
            </a:r>
          </a:p>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3A960FF-5B4D-4707-A5DD-6A9DA4C7C4F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56C7AE-E471-4B7B-B49A-DC038F826BF7}" type="slidenum">
              <a:rPr lang="en-US" altLang="en-US">
                <a:latin typeface="Tahoma" panose="020B0604030504040204" pitchFamily="34" charset="0"/>
              </a:rPr>
              <a:pPr>
                <a:spcBef>
                  <a:spcPct val="0"/>
                </a:spcBef>
              </a:pPr>
              <a:t>10</a:t>
            </a:fld>
            <a:endParaRPr lang="en-US" altLang="en-US">
              <a:latin typeface="Tahoma" panose="020B0604030504040204" pitchFamily="34" charset="0"/>
            </a:endParaRPr>
          </a:p>
        </p:txBody>
      </p:sp>
      <p:sp>
        <p:nvSpPr>
          <p:cNvPr id="21507" name="Rectangle 2">
            <a:extLst>
              <a:ext uri="{FF2B5EF4-FFF2-40B4-BE49-F238E27FC236}">
                <a16:creationId xmlns:a16="http://schemas.microsoft.com/office/drawing/2014/main" id="{4E8C9FAC-5851-4F4C-A85B-323F0AE29CE2}"/>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711AF56B-9C99-4253-8FCC-7C65933C4DB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0CEEC857-A4EC-470F-BAA3-D9A5F84CB9E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6E1BAA3-57D3-4323-AA64-41C074D08E20}" type="slidenum">
              <a:rPr lang="en-US" altLang="en-US">
                <a:latin typeface="Tahoma" panose="020B0604030504040204" pitchFamily="34" charset="0"/>
              </a:rPr>
              <a:pPr>
                <a:spcBef>
                  <a:spcPct val="0"/>
                </a:spcBef>
              </a:pPr>
              <a:t>11</a:t>
            </a:fld>
            <a:endParaRPr lang="en-US" altLang="en-US">
              <a:latin typeface="Tahoma" panose="020B0604030504040204" pitchFamily="34" charset="0"/>
            </a:endParaRPr>
          </a:p>
        </p:txBody>
      </p:sp>
      <p:sp>
        <p:nvSpPr>
          <p:cNvPr id="23555" name="Rectangle 2">
            <a:extLst>
              <a:ext uri="{FF2B5EF4-FFF2-40B4-BE49-F238E27FC236}">
                <a16:creationId xmlns:a16="http://schemas.microsoft.com/office/drawing/2014/main" id="{3C6DA98A-B85F-4DD3-9983-4221876D7DF4}"/>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D18B85C7-4B8C-49F6-AF65-1ADC00938D0A}"/>
              </a:ext>
            </a:extLst>
          </p:cNvPr>
          <p:cNvSpPr>
            <a:spLocks noGrp="1" noChangeArrowheads="1"/>
          </p:cNvSpPr>
          <p:nvPr>
            <p:ph type="body" idx="1"/>
          </p:nvPr>
        </p:nvSpPr>
        <p:spPr>
          <a:noFill/>
        </p:spPr>
        <p:txBody>
          <a:bodyPr/>
          <a:lstStyle/>
          <a:p>
            <a:pPr eaLnBrk="1" hangingPunct="1"/>
            <a:r>
              <a:rPr lang="en-US" altLang="en-US" sz="1600"/>
              <a:t>Hash tables will be explained in great detail later, but the following overview will be enough for now.</a:t>
            </a:r>
          </a:p>
          <a:p>
            <a:pPr eaLnBrk="1" hangingPunct="1"/>
            <a:r>
              <a:rPr lang="en-US" altLang="en-US" sz="1600"/>
              <a:t>Hash tables typically exist in one of two forms.  </a:t>
            </a:r>
          </a:p>
          <a:p>
            <a:pPr eaLnBrk="1" hangingPunct="1"/>
            <a:r>
              <a:rPr lang="en-US" altLang="en-US" sz="1600"/>
              <a:t>The first form is a giant array.  The drawback with a giant array is that you may have wasted positions in the array where no values are being stored.  The other drawback involves determining how big to make the array and when and how to increase the size of the array if needed.</a:t>
            </a:r>
          </a:p>
          <a:p>
            <a:pPr eaLnBrk="1" hangingPunct="1"/>
            <a:r>
              <a:rPr lang="en-US" altLang="en-US" sz="1600"/>
              <a:t>The second and probably more common form involves an array of a predetermined size where items with the same hash value are chained together.  The drawback with this form is that many values could have the same hash value causing one position in the array to store most of the values.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F3B4616-573F-4391-9B5C-39D43704D748}"/>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CEAE159A-1A04-47C3-81F5-F9BF84F1F321}"/>
              </a:ext>
            </a:extLst>
          </p:cNvPr>
          <p:cNvSpPr>
            <a:spLocks noGrp="1" noChangeArrowheads="1"/>
          </p:cNvSpPr>
          <p:nvPr>
            <p:ph type="body" idx="1"/>
          </p:nvPr>
        </p:nvSpPr>
        <p:spPr>
          <a:noFill/>
        </p:spPr>
        <p:txBody>
          <a:bodyPr/>
          <a:lstStyle/>
          <a:p>
            <a:r>
              <a:rPr lang="en-US" altLang="en-US"/>
              <a:t>In another strategy, called open addressing, all entry records are stored in the bucket array itself. When a new entry has to be inserted, the buckets are examined, starting with the hashed-to slot and proceeding in some </a:t>
            </a:r>
            <a:r>
              <a:rPr lang="en-US" altLang="en-US" i="1"/>
              <a:t>probe sequence</a:t>
            </a:r>
            <a:r>
              <a:rPr lang="en-US" altLang="en-US"/>
              <a:t>, until an unoccupied slot is found. When searching for an entry, the buckets are scanned in the same sequence, until either the target record is found, or an unused array slot is found, which indicates that there is no such key in the table.</a:t>
            </a:r>
            <a:r>
              <a:rPr lang="en-US" altLang="en-US" baseline="30000">
                <a:hlinkClick r:id="rId3" action="ppaction://hlinkfile"/>
              </a:rPr>
              <a:t>[</a:t>
            </a:r>
            <a:endParaRPr lang="en-US" altLang="en-US"/>
          </a:p>
        </p:txBody>
      </p:sp>
      <p:sp>
        <p:nvSpPr>
          <p:cNvPr id="25604" name="Slide Number Placeholder 3">
            <a:extLst>
              <a:ext uri="{FF2B5EF4-FFF2-40B4-BE49-F238E27FC236}">
                <a16:creationId xmlns:a16="http://schemas.microsoft.com/office/drawing/2014/main" id="{F5D8CBE2-765E-4185-91F6-17BE4AEA1409}"/>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646CC3-10B9-4366-82C0-156AC85ECF16}" type="slidenum">
              <a:rPr lang="en-US" altLang="en-US">
                <a:latin typeface="Tahoma" panose="020B0604030504040204" pitchFamily="34" charset="0"/>
              </a:rPr>
              <a:pPr>
                <a:spcBef>
                  <a:spcPct val="0"/>
                </a:spcBef>
              </a:pPr>
              <a:t>12</a:t>
            </a:fld>
            <a:endParaRPr lang="en-US" altLang="en-US">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F3B4616-573F-4391-9B5C-39D43704D748}"/>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CEAE159A-1A04-47C3-81F5-F9BF84F1F321}"/>
              </a:ext>
            </a:extLst>
          </p:cNvPr>
          <p:cNvSpPr>
            <a:spLocks noGrp="1" noChangeArrowheads="1"/>
          </p:cNvSpPr>
          <p:nvPr>
            <p:ph type="body" idx="1"/>
          </p:nvPr>
        </p:nvSpPr>
        <p:spPr>
          <a:noFill/>
        </p:spPr>
        <p:txBody>
          <a:bodyPr/>
          <a:lstStyle/>
          <a:p>
            <a:r>
              <a:rPr lang="en-US" altLang="en-US"/>
              <a:t>In another strategy, called open addressing, all entry records are stored in the bucket array itself. When a new entry has to be inserted, the buckets are examined, starting with the hashed-to slot and proceeding in some </a:t>
            </a:r>
            <a:r>
              <a:rPr lang="en-US" altLang="en-US" i="1"/>
              <a:t>probe sequence</a:t>
            </a:r>
            <a:r>
              <a:rPr lang="en-US" altLang="en-US"/>
              <a:t>, until an unoccupied slot is found. When searching for an entry, the buckets are scanned in the same sequence, until either the target record is found, or an unused array slot is found, which indicates that there is no such key in the table.</a:t>
            </a:r>
            <a:r>
              <a:rPr lang="en-US" altLang="en-US" baseline="30000">
                <a:hlinkClick r:id="rId3" action="ppaction://hlinkfile"/>
              </a:rPr>
              <a:t>[</a:t>
            </a:r>
            <a:endParaRPr lang="en-US" altLang="en-US"/>
          </a:p>
        </p:txBody>
      </p:sp>
      <p:sp>
        <p:nvSpPr>
          <p:cNvPr id="25604" name="Slide Number Placeholder 3">
            <a:extLst>
              <a:ext uri="{FF2B5EF4-FFF2-40B4-BE49-F238E27FC236}">
                <a16:creationId xmlns:a16="http://schemas.microsoft.com/office/drawing/2014/main" id="{F5D8CBE2-765E-4185-91F6-17BE4AEA1409}"/>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646CC3-10B9-4366-82C0-156AC85ECF16}" type="slidenum">
              <a:rPr lang="en-US" altLang="en-US">
                <a:latin typeface="Tahoma" panose="020B0604030504040204" pitchFamily="34" charset="0"/>
              </a:rPr>
              <a:pPr>
                <a:spcBef>
                  <a:spcPct val="0"/>
                </a:spcBef>
              </a:pPr>
              <a:t>13</a:t>
            </a:fld>
            <a:endParaRPr lang="en-US" altLang="en-US">
              <a:latin typeface="Tahoma" panose="020B0604030504040204" pitchFamily="34" charset="0"/>
            </a:endParaRPr>
          </a:p>
        </p:txBody>
      </p:sp>
    </p:spTree>
    <p:extLst>
      <p:ext uri="{BB962C8B-B14F-4D97-AF65-F5344CB8AC3E}">
        <p14:creationId xmlns:p14="http://schemas.microsoft.com/office/powerpoint/2010/main" val="51310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5CDB16C-9DEB-4364-803F-81B28ACBA3D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ACBC7C4-3786-4715-AAE6-F951E9918581}" type="slidenum">
              <a:rPr lang="en-US" altLang="en-US">
                <a:latin typeface="Tahoma" panose="020B0604030504040204" pitchFamily="34" charset="0"/>
              </a:rPr>
              <a:pPr>
                <a:spcBef>
                  <a:spcPct val="0"/>
                </a:spcBef>
              </a:pPr>
              <a:t>14</a:t>
            </a:fld>
            <a:endParaRPr lang="en-US" altLang="en-US">
              <a:latin typeface="Tahoma" panose="020B0604030504040204" pitchFamily="34" charset="0"/>
            </a:endParaRPr>
          </a:p>
        </p:txBody>
      </p:sp>
      <p:sp>
        <p:nvSpPr>
          <p:cNvPr id="32771" name="Rectangle 2">
            <a:extLst>
              <a:ext uri="{FF2B5EF4-FFF2-40B4-BE49-F238E27FC236}">
                <a16:creationId xmlns:a16="http://schemas.microsoft.com/office/drawing/2014/main" id="{68339BA5-CAE1-415A-8C7D-43A3CB8FCEE4}"/>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9923F279-1DB5-4C31-AA7C-D3D44294BCBB}"/>
              </a:ext>
            </a:extLst>
          </p:cNvPr>
          <p:cNvSpPr>
            <a:spLocks noGrp="1" noChangeArrowheads="1"/>
          </p:cNvSpPr>
          <p:nvPr>
            <p:ph type="body" idx="1"/>
          </p:nvPr>
        </p:nvSpPr>
        <p:spPr>
          <a:noFill/>
        </p:spPr>
        <p:txBody>
          <a:bodyPr/>
          <a:lstStyle/>
          <a:p>
            <a:pPr eaLnBrk="1" hangingPunct="1"/>
            <a:r>
              <a:rPr lang="en-US" altLang="en-US" sz="1600"/>
              <a:t>Binary trees will be explained in great detail later, but the following overview will be enough for now.</a:t>
            </a:r>
          </a:p>
          <a:p>
            <a:pPr eaLnBrk="1" hangingPunct="1"/>
            <a:r>
              <a:rPr lang="en-US" altLang="en-US" sz="1600"/>
              <a:t>Binary Trees are organized data structures that compare new values to existing values to determine placement of the new value.</a:t>
            </a:r>
          </a:p>
          <a:p>
            <a:pPr eaLnBrk="1" hangingPunct="1"/>
            <a:r>
              <a:rPr lang="en-US" altLang="en-US" sz="1600"/>
              <a:t>By rule, smaller items go on the left of the tree and larger items go on the right.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319E789-916B-438E-A664-A0499F14AA4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0461A7-B2B6-4C42-B578-2353E8D17D9D}" type="slidenum">
              <a:rPr lang="en-US" altLang="en-US">
                <a:latin typeface="Tahoma" panose="020B0604030504040204" pitchFamily="34" charset="0"/>
              </a:rPr>
              <a:pPr>
                <a:spcBef>
                  <a:spcPct val="0"/>
                </a:spcBef>
              </a:pPr>
              <a:t>15</a:t>
            </a:fld>
            <a:endParaRPr lang="en-US" altLang="en-US">
              <a:latin typeface="Tahoma" panose="020B0604030504040204" pitchFamily="34" charset="0"/>
            </a:endParaRPr>
          </a:p>
        </p:txBody>
      </p:sp>
      <p:sp>
        <p:nvSpPr>
          <p:cNvPr id="34819" name="Rectangle 2">
            <a:extLst>
              <a:ext uri="{FF2B5EF4-FFF2-40B4-BE49-F238E27FC236}">
                <a16:creationId xmlns:a16="http://schemas.microsoft.com/office/drawing/2014/main" id="{38495F38-458D-4155-BF87-81379F1FFBE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1E25E56-9FC0-42A7-AE65-023397753C8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D69989F6-08BC-40E7-956B-45846A6E8D5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2601BD5-7A6B-4D60-8E67-571A1EEE9522}" type="slidenum">
              <a:rPr lang="en-US" altLang="en-US">
                <a:latin typeface="Tahoma" panose="020B0604030504040204" pitchFamily="34" charset="0"/>
              </a:rPr>
              <a:pPr>
                <a:spcBef>
                  <a:spcPct val="0"/>
                </a:spcBef>
              </a:pPr>
              <a:t>16</a:t>
            </a:fld>
            <a:endParaRPr lang="en-US" altLang="en-US">
              <a:latin typeface="Tahoma" panose="020B0604030504040204" pitchFamily="34" charset="0"/>
            </a:endParaRPr>
          </a:p>
        </p:txBody>
      </p:sp>
      <p:sp>
        <p:nvSpPr>
          <p:cNvPr id="36867" name="Rectangle 2">
            <a:extLst>
              <a:ext uri="{FF2B5EF4-FFF2-40B4-BE49-F238E27FC236}">
                <a16:creationId xmlns:a16="http://schemas.microsoft.com/office/drawing/2014/main" id="{61995D2F-7300-4913-88E2-4C3DCEEBFA4F}"/>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402BBDD6-FD9B-4536-8410-6702E8D27DA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B8744346-E90C-4D7A-8B51-68C5C1F3C8C6}"/>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D5D2820-E725-4A2C-B9AC-007C0A049361}" type="slidenum">
              <a:rPr lang="en-US" altLang="en-US">
                <a:latin typeface="Tahoma" panose="020B0604030504040204" pitchFamily="34" charset="0"/>
              </a:rPr>
              <a:pPr>
                <a:spcBef>
                  <a:spcPct val="0"/>
                </a:spcBef>
              </a:pPr>
              <a:t>18</a:t>
            </a:fld>
            <a:endParaRPr lang="en-US" altLang="en-US">
              <a:latin typeface="Tahoma" panose="020B0604030504040204" pitchFamily="34" charset="0"/>
            </a:endParaRPr>
          </a:p>
        </p:txBody>
      </p:sp>
      <p:sp>
        <p:nvSpPr>
          <p:cNvPr id="39939" name="Rectangle 2">
            <a:extLst>
              <a:ext uri="{FF2B5EF4-FFF2-40B4-BE49-F238E27FC236}">
                <a16:creationId xmlns:a16="http://schemas.microsoft.com/office/drawing/2014/main" id="{604684D9-005D-4F35-96E9-C81EDB39DE1E}"/>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5560322-B9FB-4D05-B268-B658CA5AE49A}"/>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add()</a:t>
            </a:r>
            <a:r>
              <a:rPr lang="en-US" altLang="en-US" sz="1600"/>
              <a:t> method for </a:t>
            </a:r>
            <a:r>
              <a:rPr lang="en-US" altLang="en-US" sz="1600">
                <a:latin typeface="Courier New" panose="02070309020205020404" pitchFamily="49" charset="0"/>
              </a:rPr>
              <a:t>HashSet</a:t>
            </a:r>
            <a:r>
              <a:rPr lang="en-US" altLang="en-US" sz="1600"/>
              <a:t> and </a:t>
            </a:r>
            <a:r>
              <a:rPr lang="en-US" altLang="en-US" sz="1600">
                <a:latin typeface="Courier New" panose="02070309020205020404" pitchFamily="49" charset="0"/>
              </a:rPr>
              <a:t>TreeSet</a:t>
            </a:r>
            <a:r>
              <a:rPr lang="en-US" altLang="en-US" sz="1600"/>
              <a:t> is a return method.  The reason </a:t>
            </a:r>
            <a:r>
              <a:rPr lang="en-US" altLang="en-US" sz="1600">
                <a:latin typeface="Courier New" panose="02070309020205020404" pitchFamily="49" charset="0"/>
              </a:rPr>
              <a:t>add()</a:t>
            </a:r>
            <a:r>
              <a:rPr lang="en-US" altLang="en-US" sz="1600"/>
              <a:t> is a boolean return method is due to the fact that an </a:t>
            </a:r>
            <a:r>
              <a:rPr lang="en-US" altLang="en-US" sz="1600">
                <a:latin typeface="Courier New" panose="02070309020205020404" pitchFamily="49" charset="0"/>
              </a:rPr>
              <a:t>add()</a:t>
            </a:r>
            <a:r>
              <a:rPr lang="en-US" altLang="en-US" sz="1600"/>
              <a:t> call may not add anything.</a:t>
            </a:r>
          </a:p>
          <a:p>
            <a:pPr eaLnBrk="1" hangingPunct="1"/>
            <a:r>
              <a:rPr lang="en-US" altLang="en-US" sz="1600"/>
              <a:t>Sets do not store duplicate values so an attempt to add an item that is already present returns false.  Attempting to add an item that is not present will return true.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F643AE61-424D-4AE5-9B50-5C60F58A143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55BA048-F56D-4398-9EEB-01843359383A}" type="slidenum">
              <a:rPr lang="en-US" altLang="en-US">
                <a:latin typeface="Tahoma" panose="020B0604030504040204" pitchFamily="34" charset="0"/>
              </a:rPr>
              <a:pPr>
                <a:spcBef>
                  <a:spcPct val="0"/>
                </a:spcBef>
              </a:pPr>
              <a:t>19</a:t>
            </a:fld>
            <a:endParaRPr lang="en-US" altLang="en-US">
              <a:latin typeface="Tahoma" panose="020B0604030504040204" pitchFamily="34" charset="0"/>
            </a:endParaRPr>
          </a:p>
        </p:txBody>
      </p:sp>
      <p:sp>
        <p:nvSpPr>
          <p:cNvPr id="41987" name="Rectangle 2">
            <a:extLst>
              <a:ext uri="{FF2B5EF4-FFF2-40B4-BE49-F238E27FC236}">
                <a16:creationId xmlns:a16="http://schemas.microsoft.com/office/drawing/2014/main" id="{15B8800B-68F2-40CD-A78E-595EA9CE27F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8B46B44D-81A9-49B1-B3D3-6FE552636B7A}"/>
              </a:ext>
            </a:extLst>
          </p:cNvPr>
          <p:cNvSpPr>
            <a:spLocks noGrp="1" noChangeArrowheads="1"/>
          </p:cNvSpPr>
          <p:nvPr>
            <p:ph type="body" idx="1"/>
          </p:nvPr>
        </p:nvSpPr>
        <p:spPr>
          <a:noFill/>
        </p:spPr>
        <p:txBody>
          <a:bodyPr/>
          <a:lstStyle/>
          <a:p>
            <a:pPr eaLnBrk="1" hangingPunct="1"/>
            <a:r>
              <a:rPr lang="en-US" altLang="en-US" sz="1600"/>
              <a:t>The ordering of items in a </a:t>
            </a:r>
            <a:r>
              <a:rPr lang="en-US" altLang="en-US" sz="1600">
                <a:latin typeface="Courier New" panose="02070309020205020404" pitchFamily="49" charset="0"/>
              </a:rPr>
              <a:t>HashSet</a:t>
            </a:r>
            <a:r>
              <a:rPr lang="en-US" altLang="en-US" sz="1600"/>
              <a:t> is not as predicable as the ordering of items in a </a:t>
            </a:r>
            <a:r>
              <a:rPr lang="en-US" altLang="en-US" sz="1600">
                <a:latin typeface="Courier New" panose="02070309020205020404" pitchFamily="49" charset="0"/>
              </a:rPr>
              <a:t>TreeSet</a:t>
            </a:r>
            <a:r>
              <a:rPr lang="en-US" altLang="en-US" sz="1600"/>
              <a:t>. </a:t>
            </a:r>
            <a:r>
              <a:rPr lang="en-US" altLang="en-US" sz="1600">
                <a:latin typeface="Courier New" panose="02070309020205020404" pitchFamily="49" charset="0"/>
              </a:rPr>
              <a:t>HashSet</a:t>
            </a:r>
            <a:r>
              <a:rPr lang="en-US" altLang="en-US" sz="1600"/>
              <a:t> orders items using a formula based on each item’s </a:t>
            </a:r>
            <a:r>
              <a:rPr lang="en-US" altLang="en-US" sz="1600">
                <a:latin typeface="Courier New" panose="02070309020205020404" pitchFamily="49" charset="0"/>
              </a:rPr>
              <a:t>hashCode</a:t>
            </a:r>
            <a:r>
              <a:rPr lang="en-US" altLang="en-US" sz="1600"/>
              <a:t>() whereas a </a:t>
            </a:r>
            <a:r>
              <a:rPr lang="en-US" altLang="en-US" sz="1600">
                <a:latin typeface="Courier New" panose="02070309020205020404" pitchFamily="49" charset="0"/>
              </a:rPr>
              <a:t>TreeSet</a:t>
            </a:r>
            <a:r>
              <a:rPr lang="en-US" altLang="en-US" sz="1600"/>
              <a:t> orders items using the natural ordering of the type using the item’s </a:t>
            </a:r>
            <a:r>
              <a:rPr lang="en-US" altLang="en-US" sz="1600">
                <a:latin typeface="Courier New" panose="02070309020205020404" pitchFamily="49" charset="0"/>
              </a:rPr>
              <a:t>compareTo()</a:t>
            </a:r>
            <a:r>
              <a:rPr lang="en-US" altLang="en-US" sz="1600"/>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743624B-FE75-4824-BCA6-BC8B3CB8F8EB}"/>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DB17546-0DAE-4BC4-8683-3B6DD9750528}" type="slidenum">
              <a:rPr lang="en-US" altLang="en-US">
                <a:latin typeface="Tahoma" panose="020B0604030504040204" pitchFamily="34" charset="0"/>
              </a:rPr>
              <a:pPr>
                <a:spcBef>
                  <a:spcPct val="0"/>
                </a:spcBef>
              </a:pPr>
              <a:t>20</a:t>
            </a:fld>
            <a:endParaRPr lang="en-US" altLang="en-US">
              <a:latin typeface="Tahoma" panose="020B0604030504040204" pitchFamily="34" charset="0"/>
            </a:endParaRPr>
          </a:p>
        </p:txBody>
      </p:sp>
      <p:sp>
        <p:nvSpPr>
          <p:cNvPr id="44035" name="Rectangle 2">
            <a:extLst>
              <a:ext uri="{FF2B5EF4-FFF2-40B4-BE49-F238E27FC236}">
                <a16:creationId xmlns:a16="http://schemas.microsoft.com/office/drawing/2014/main" id="{31265235-1A6E-4C54-8914-6561A736B24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22F9E6D-C09B-4952-A238-3374B392EAF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BE93E5C-A783-425A-8F5D-E7DF0914C620}"/>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E046EC8-A901-41D1-A7D2-AE3C0E3D9157}" type="slidenum">
              <a:rPr lang="en-US" altLang="en-US">
                <a:latin typeface="Tahoma" panose="020B0604030504040204" pitchFamily="34" charset="0"/>
              </a:rPr>
              <a:pPr>
                <a:spcBef>
                  <a:spcPct val="0"/>
                </a:spcBef>
              </a:pPr>
              <a:t>22</a:t>
            </a:fld>
            <a:endParaRPr lang="en-US" altLang="en-US">
              <a:latin typeface="Tahoma" panose="020B0604030504040204" pitchFamily="34" charset="0"/>
            </a:endParaRPr>
          </a:p>
        </p:txBody>
      </p:sp>
      <p:sp>
        <p:nvSpPr>
          <p:cNvPr id="47107" name="Rectangle 2">
            <a:extLst>
              <a:ext uri="{FF2B5EF4-FFF2-40B4-BE49-F238E27FC236}">
                <a16:creationId xmlns:a16="http://schemas.microsoft.com/office/drawing/2014/main" id="{EC246656-5D8D-4114-9410-87D477904D31}"/>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BA9BD1C-FBF7-4C5A-B1F9-44E4252466E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A612435-1F32-4333-BD7C-14990AC3F40B}"/>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90D689-3777-4C9C-BE62-F00B9954E659}" type="slidenum">
              <a:rPr lang="en-US" altLang="en-US">
                <a:latin typeface="Tahoma" panose="020B0604030504040204" pitchFamily="34" charset="0"/>
              </a:rPr>
              <a:pPr>
                <a:spcBef>
                  <a:spcPct val="0"/>
                </a:spcBef>
              </a:pPr>
              <a:t>23</a:t>
            </a:fld>
            <a:endParaRPr lang="en-US" altLang="en-US">
              <a:latin typeface="Tahoma" panose="020B0604030504040204" pitchFamily="34" charset="0"/>
            </a:endParaRPr>
          </a:p>
        </p:txBody>
      </p:sp>
      <p:sp>
        <p:nvSpPr>
          <p:cNvPr id="49155" name="Rectangle 2">
            <a:extLst>
              <a:ext uri="{FF2B5EF4-FFF2-40B4-BE49-F238E27FC236}">
                <a16:creationId xmlns:a16="http://schemas.microsoft.com/office/drawing/2014/main" id="{CC758DC6-72C4-4675-A659-79B9EFB1B7AE}"/>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1F410D0D-333B-4DC4-95A8-DCF78B0B1EF0}"/>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remove()</a:t>
            </a:r>
            <a:r>
              <a:rPr lang="en-US" altLang="en-US" sz="1600"/>
              <a:t> method will remove a specified item if that item is present.  If the specified item is not present, </a:t>
            </a:r>
            <a:r>
              <a:rPr lang="en-US" altLang="en-US" sz="1600">
                <a:latin typeface="Courier New" panose="02070309020205020404" pitchFamily="49" charset="0"/>
              </a:rPr>
              <a:t>remove()</a:t>
            </a:r>
            <a:r>
              <a:rPr lang="en-US" altLang="en-US" sz="1600"/>
              <a:t> simply does nothing.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114B0469-8DEF-4BCB-AE01-5FE07898341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994FD99-BD2D-4847-B905-AEC6DA9FB6C6}" type="slidenum">
              <a:rPr lang="en-US" altLang="en-US">
                <a:latin typeface="Tahoma" panose="020B0604030504040204" pitchFamily="34" charset="0"/>
              </a:rPr>
              <a:pPr>
                <a:spcBef>
                  <a:spcPct val="0"/>
                </a:spcBef>
              </a:pPr>
              <a:t>24</a:t>
            </a:fld>
            <a:endParaRPr lang="en-US" altLang="en-US">
              <a:latin typeface="Tahoma" panose="020B0604030504040204" pitchFamily="34" charset="0"/>
            </a:endParaRPr>
          </a:p>
        </p:txBody>
      </p:sp>
      <p:sp>
        <p:nvSpPr>
          <p:cNvPr id="51203" name="Rectangle 2">
            <a:extLst>
              <a:ext uri="{FF2B5EF4-FFF2-40B4-BE49-F238E27FC236}">
                <a16:creationId xmlns:a16="http://schemas.microsoft.com/office/drawing/2014/main" id="{3B0D296E-92A7-47AB-A462-EF924D7645DA}"/>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24D17D38-7AAA-43E4-A487-F2AA20F96A4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E124AC98-0315-4146-B9B3-31F5A88281B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3AA26F-0F53-47C6-9277-968410D97637}" type="slidenum">
              <a:rPr lang="en-US" altLang="en-US">
                <a:latin typeface="Tahoma" panose="020B0604030504040204" pitchFamily="34" charset="0"/>
              </a:rPr>
              <a:pPr>
                <a:spcBef>
                  <a:spcPct val="0"/>
                </a:spcBef>
              </a:pPr>
              <a:t>25</a:t>
            </a:fld>
            <a:endParaRPr lang="en-US" altLang="en-US">
              <a:latin typeface="Tahoma" panose="020B0604030504040204" pitchFamily="34" charset="0"/>
            </a:endParaRPr>
          </a:p>
        </p:txBody>
      </p:sp>
      <p:sp>
        <p:nvSpPr>
          <p:cNvPr id="53251" name="Rectangle 2">
            <a:extLst>
              <a:ext uri="{FF2B5EF4-FFF2-40B4-BE49-F238E27FC236}">
                <a16:creationId xmlns:a16="http://schemas.microsoft.com/office/drawing/2014/main" id="{23F09E70-FA76-4294-9AED-FDE6D89A6B26}"/>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07E97C6-7382-4CAD-8D39-2308F54014FC}"/>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add()</a:t>
            </a:r>
            <a:r>
              <a:rPr lang="en-US" altLang="en-US" sz="1600"/>
              <a:t> method for </a:t>
            </a:r>
            <a:r>
              <a:rPr lang="en-US" altLang="en-US" sz="1600">
                <a:latin typeface="Courier New" panose="02070309020205020404" pitchFamily="49" charset="0"/>
              </a:rPr>
              <a:t>HashSet</a:t>
            </a:r>
            <a:r>
              <a:rPr lang="en-US" altLang="en-US" sz="1600"/>
              <a:t> and </a:t>
            </a:r>
            <a:r>
              <a:rPr lang="en-US" altLang="en-US" sz="1600">
                <a:latin typeface="Courier New" panose="02070309020205020404" pitchFamily="49" charset="0"/>
              </a:rPr>
              <a:t>TreeSet</a:t>
            </a:r>
            <a:r>
              <a:rPr lang="en-US" altLang="en-US" sz="1600"/>
              <a:t> is a return method.  The reason </a:t>
            </a:r>
            <a:r>
              <a:rPr lang="en-US" altLang="en-US" sz="1600">
                <a:latin typeface="Courier New" panose="02070309020205020404" pitchFamily="49" charset="0"/>
              </a:rPr>
              <a:t>add()</a:t>
            </a:r>
            <a:r>
              <a:rPr lang="en-US" altLang="en-US" sz="1600"/>
              <a:t> is a boolean return method is due to the fact that an </a:t>
            </a:r>
            <a:r>
              <a:rPr lang="en-US" altLang="en-US" sz="1600">
                <a:latin typeface="Courier New" panose="02070309020205020404" pitchFamily="49" charset="0"/>
              </a:rPr>
              <a:t>add()</a:t>
            </a:r>
            <a:r>
              <a:rPr lang="en-US" altLang="en-US" sz="1600"/>
              <a:t> call may not add anything.</a:t>
            </a:r>
          </a:p>
          <a:p>
            <a:pPr eaLnBrk="1" hangingPunct="1"/>
            <a:r>
              <a:rPr lang="en-US" altLang="en-US" sz="1600"/>
              <a:t>Sets do not store duplicate values so an attempt to add an item that is already present returns false.  Attempting to add an item that is not present will return true.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8EE2B37-0C0A-4159-93FE-7CC050331464}"/>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5C454C-994D-4B4A-8174-7CD688092705}" type="slidenum">
              <a:rPr lang="en-US" altLang="en-US">
                <a:latin typeface="Tahoma" panose="020B0604030504040204" pitchFamily="34" charset="0"/>
              </a:rPr>
              <a:pPr>
                <a:spcBef>
                  <a:spcPct val="0"/>
                </a:spcBef>
              </a:pPr>
              <a:t>26</a:t>
            </a:fld>
            <a:endParaRPr lang="en-US" altLang="en-US">
              <a:latin typeface="Tahoma" panose="020B0604030504040204" pitchFamily="34" charset="0"/>
            </a:endParaRPr>
          </a:p>
        </p:txBody>
      </p:sp>
      <p:sp>
        <p:nvSpPr>
          <p:cNvPr id="55299" name="Rectangle 2">
            <a:extLst>
              <a:ext uri="{FF2B5EF4-FFF2-40B4-BE49-F238E27FC236}">
                <a16:creationId xmlns:a16="http://schemas.microsoft.com/office/drawing/2014/main" id="{3FD2E1A8-68C9-49C0-AD9E-9C70A9F5E5DC}"/>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1FE3FF03-0EA7-446D-B955-C5D34B2653C3}"/>
              </a:ext>
            </a:extLst>
          </p:cNvPr>
          <p:cNvSpPr>
            <a:spLocks noGrp="1" noChangeArrowheads="1"/>
          </p:cNvSpPr>
          <p:nvPr>
            <p:ph type="body" idx="1"/>
          </p:nvPr>
        </p:nvSpPr>
        <p:spPr>
          <a:noFill/>
        </p:spPr>
        <p:txBody>
          <a:bodyPr/>
          <a:lstStyle/>
          <a:p>
            <a:pPr eaLnBrk="1" hangingPunct="1"/>
            <a:r>
              <a:rPr lang="en-US" altLang="en-US" sz="1600"/>
              <a:t>The ordering of items in a </a:t>
            </a:r>
            <a:r>
              <a:rPr lang="en-US" altLang="en-US" sz="1600">
                <a:latin typeface="Courier New" panose="02070309020205020404" pitchFamily="49" charset="0"/>
              </a:rPr>
              <a:t>HashSet</a:t>
            </a:r>
            <a:r>
              <a:rPr lang="en-US" altLang="en-US" sz="1600"/>
              <a:t> is not as predicable as the ordering of items in a </a:t>
            </a:r>
            <a:r>
              <a:rPr lang="en-US" altLang="en-US" sz="1600">
                <a:latin typeface="Courier New" panose="02070309020205020404" pitchFamily="49" charset="0"/>
              </a:rPr>
              <a:t>TreeSet</a:t>
            </a:r>
            <a:r>
              <a:rPr lang="en-US" altLang="en-US" sz="1600"/>
              <a:t>. </a:t>
            </a:r>
            <a:r>
              <a:rPr lang="en-US" altLang="en-US" sz="1600">
                <a:latin typeface="Courier New" panose="02070309020205020404" pitchFamily="49" charset="0"/>
              </a:rPr>
              <a:t>HashSet</a:t>
            </a:r>
            <a:r>
              <a:rPr lang="en-US" altLang="en-US" sz="1600"/>
              <a:t> orders items using a formula based on each item’s </a:t>
            </a:r>
            <a:r>
              <a:rPr lang="en-US" altLang="en-US" sz="1600">
                <a:latin typeface="Courier New" panose="02070309020205020404" pitchFamily="49" charset="0"/>
              </a:rPr>
              <a:t>hashCode</a:t>
            </a:r>
            <a:r>
              <a:rPr lang="en-US" altLang="en-US" sz="1600"/>
              <a:t>() whereas a </a:t>
            </a:r>
            <a:r>
              <a:rPr lang="en-US" altLang="en-US" sz="1600">
                <a:latin typeface="Courier New" panose="02070309020205020404" pitchFamily="49" charset="0"/>
              </a:rPr>
              <a:t>TreeSet</a:t>
            </a:r>
            <a:r>
              <a:rPr lang="en-US" altLang="en-US" sz="1600"/>
              <a:t> orders items using the natural ordering of the type using the item’s </a:t>
            </a:r>
            <a:r>
              <a:rPr lang="en-US" altLang="en-US" sz="1600">
                <a:latin typeface="Courier New" panose="02070309020205020404" pitchFamily="49" charset="0"/>
              </a:rPr>
              <a:t>compareTo()</a:t>
            </a:r>
            <a:r>
              <a:rPr lang="en-US" altLang="en-US" sz="1600"/>
              <a:t>.  </a:t>
            </a:r>
          </a:p>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3B1622BE-4AA6-4481-9F65-EED7D505A5E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1C94F7-4AC7-41CA-B305-214B0FD8821B}" type="slidenum">
              <a:rPr lang="en-US" altLang="en-US">
                <a:latin typeface="Tahoma" panose="020B0604030504040204" pitchFamily="34" charset="0"/>
              </a:rPr>
              <a:pPr>
                <a:spcBef>
                  <a:spcPct val="0"/>
                </a:spcBef>
              </a:pPr>
              <a:t>27</a:t>
            </a:fld>
            <a:endParaRPr lang="en-US" altLang="en-US">
              <a:latin typeface="Tahoma" panose="020B0604030504040204" pitchFamily="34" charset="0"/>
            </a:endParaRPr>
          </a:p>
        </p:txBody>
      </p:sp>
      <p:sp>
        <p:nvSpPr>
          <p:cNvPr id="57347" name="Rectangle 2">
            <a:extLst>
              <a:ext uri="{FF2B5EF4-FFF2-40B4-BE49-F238E27FC236}">
                <a16:creationId xmlns:a16="http://schemas.microsoft.com/office/drawing/2014/main" id="{EF2CF7E7-E2AC-4A77-A99A-DA9CF9CFAB47}"/>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8B09C6FF-25E4-442E-BC40-CED40C264A2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B0CDF802-6D67-40F8-A499-FFE42C31C30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CF02B85-DED0-4D12-8B1D-7F588B879160}" type="slidenum">
              <a:rPr lang="en-US" altLang="en-US">
                <a:latin typeface="Tahoma" panose="020B0604030504040204" pitchFamily="34" charset="0"/>
              </a:rPr>
              <a:pPr>
                <a:spcBef>
                  <a:spcPct val="0"/>
                </a:spcBef>
              </a:pPr>
              <a:t>28</a:t>
            </a:fld>
            <a:endParaRPr lang="en-US" altLang="en-US">
              <a:latin typeface="Tahoma" panose="020B0604030504040204" pitchFamily="34" charset="0"/>
            </a:endParaRPr>
          </a:p>
        </p:txBody>
      </p:sp>
      <p:sp>
        <p:nvSpPr>
          <p:cNvPr id="59395" name="Rectangle 2">
            <a:extLst>
              <a:ext uri="{FF2B5EF4-FFF2-40B4-BE49-F238E27FC236}">
                <a16:creationId xmlns:a16="http://schemas.microsoft.com/office/drawing/2014/main" id="{6BC3550E-C7B4-4701-BD48-3E48D50E0A21}"/>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ED21AB78-9EE7-4160-8D32-BCCA65375CCC}"/>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remove()</a:t>
            </a:r>
            <a:r>
              <a:rPr lang="en-US" altLang="en-US" sz="1600"/>
              <a:t> method will remove a specified item if that item is present.  If the specified item is not present, </a:t>
            </a:r>
            <a:r>
              <a:rPr lang="en-US" altLang="en-US" sz="1600">
                <a:latin typeface="Courier New" panose="02070309020205020404" pitchFamily="49" charset="0"/>
              </a:rPr>
              <a:t>remove()</a:t>
            </a:r>
            <a:r>
              <a:rPr lang="en-US" altLang="en-US" sz="1600"/>
              <a:t> simply does nothing.</a:t>
            </a:r>
          </a:p>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F251FB02-E753-41E2-8659-9DFB5DBAFE0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9E81AD6-86BE-4F0A-9A60-3D326305842D}" type="slidenum">
              <a:rPr lang="en-US" altLang="en-US">
                <a:latin typeface="Tahoma" panose="020B0604030504040204" pitchFamily="34" charset="0"/>
              </a:rPr>
              <a:pPr>
                <a:spcBef>
                  <a:spcPct val="0"/>
                </a:spcBef>
              </a:pPr>
              <a:t>29</a:t>
            </a:fld>
            <a:endParaRPr lang="en-US" altLang="en-US">
              <a:latin typeface="Tahoma" panose="020B0604030504040204" pitchFamily="34" charset="0"/>
            </a:endParaRPr>
          </a:p>
        </p:txBody>
      </p:sp>
      <p:sp>
        <p:nvSpPr>
          <p:cNvPr id="61443" name="Rectangle 2">
            <a:extLst>
              <a:ext uri="{FF2B5EF4-FFF2-40B4-BE49-F238E27FC236}">
                <a16:creationId xmlns:a16="http://schemas.microsoft.com/office/drawing/2014/main" id="{FE39F490-B5F8-4071-9AA9-ED7EE53663ED}"/>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F75F8A72-5C42-45A5-BD76-386AEB5AA61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8A4B2F2-32E5-4D1B-83BC-3CB74D92420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9339C34-3B24-462A-A7F1-0A4A88B1C461}" type="slidenum">
              <a:rPr lang="en-US" altLang="en-US">
                <a:latin typeface="Tahoma" panose="020B0604030504040204" pitchFamily="34" charset="0"/>
              </a:rPr>
              <a:pPr>
                <a:spcBef>
                  <a:spcPct val="0"/>
                </a:spcBef>
              </a:pPr>
              <a:t>31</a:t>
            </a:fld>
            <a:endParaRPr lang="en-US" altLang="en-US">
              <a:latin typeface="Tahoma" panose="020B0604030504040204" pitchFamily="34" charset="0"/>
            </a:endParaRPr>
          </a:p>
        </p:txBody>
      </p:sp>
      <p:sp>
        <p:nvSpPr>
          <p:cNvPr id="65539" name="Rectangle 2">
            <a:extLst>
              <a:ext uri="{FF2B5EF4-FFF2-40B4-BE49-F238E27FC236}">
                <a16:creationId xmlns:a16="http://schemas.microsoft.com/office/drawing/2014/main" id="{DBF7FCF5-964B-4D8E-A17E-B2309D9D831D}"/>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AB37265A-02D6-4D8D-AE9F-DBCA17B10DD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319E789-916B-438E-A664-A0499F14AA4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0461A7-B2B6-4C42-B578-2353E8D17D9D}" type="slidenum">
              <a:rPr lang="en-US" altLang="en-US">
                <a:latin typeface="Tahoma" panose="020B0604030504040204" pitchFamily="34" charset="0"/>
              </a:rPr>
              <a:pPr>
                <a:spcBef>
                  <a:spcPct val="0"/>
                </a:spcBef>
              </a:pPr>
              <a:t>32</a:t>
            </a:fld>
            <a:endParaRPr lang="en-US" altLang="en-US">
              <a:latin typeface="Tahoma" panose="020B0604030504040204" pitchFamily="34" charset="0"/>
            </a:endParaRPr>
          </a:p>
        </p:txBody>
      </p:sp>
      <p:sp>
        <p:nvSpPr>
          <p:cNvPr id="34819" name="Rectangle 2">
            <a:extLst>
              <a:ext uri="{FF2B5EF4-FFF2-40B4-BE49-F238E27FC236}">
                <a16:creationId xmlns:a16="http://schemas.microsoft.com/office/drawing/2014/main" id="{38495F38-458D-4155-BF87-81379F1FFBE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1E25E56-9FC0-42A7-AE65-023397753C8C}"/>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376981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D7D21364-5E6B-43B7-B9B1-E3E9FFB368C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C33D129-89A7-483B-BE14-710BA8F2324F}" type="slidenum">
              <a:rPr lang="en-US" altLang="en-US">
                <a:latin typeface="Tahoma" panose="020B0604030504040204" pitchFamily="34" charset="0"/>
              </a:rPr>
              <a:pPr>
                <a:spcBef>
                  <a:spcPct val="0"/>
                </a:spcBef>
              </a:pPr>
              <a:t>34</a:t>
            </a:fld>
            <a:endParaRPr lang="en-US" altLang="en-US">
              <a:latin typeface="Tahoma" panose="020B0604030504040204" pitchFamily="34" charset="0"/>
            </a:endParaRPr>
          </a:p>
        </p:txBody>
      </p:sp>
      <p:sp>
        <p:nvSpPr>
          <p:cNvPr id="67587" name="Rectangle 2">
            <a:extLst>
              <a:ext uri="{FF2B5EF4-FFF2-40B4-BE49-F238E27FC236}">
                <a16:creationId xmlns:a16="http://schemas.microsoft.com/office/drawing/2014/main" id="{6CCCC0F2-7EEC-4138-B418-27CCE87A0C8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F6E6389-BF8D-48E0-B0E7-1908A9C7C9AB}"/>
              </a:ext>
            </a:extLst>
          </p:cNvPr>
          <p:cNvSpPr>
            <a:spLocks noGrp="1" noChangeArrowheads="1"/>
          </p:cNvSpPr>
          <p:nvPr>
            <p:ph type="body" idx="1"/>
          </p:nvPr>
        </p:nvSpPr>
        <p:spPr>
          <a:noFill/>
        </p:spPr>
        <p:txBody>
          <a:bodyPr/>
          <a:lstStyle/>
          <a:p>
            <a:pPr eaLnBrk="1" hangingPunct="1"/>
            <a:r>
              <a:rPr lang="en-US" altLang="en-US" sz="1600"/>
              <a:t>The new for loop iterates over all of the references in the set.</a:t>
            </a:r>
          </a:p>
          <a:p>
            <a:pPr eaLnBrk="1" hangingPunct="1"/>
            <a:r>
              <a:rPr lang="en-US" altLang="en-US" sz="1600"/>
              <a:t>The new for loop is a little easier to code and a little easier to read than the standard iterator code needed to do the same job.</a:t>
            </a:r>
          </a:p>
          <a:p>
            <a:pPr eaLnBrk="1" hangingPunct="1"/>
            <a:endParaRPr lang="en-US" altLang="en-US" sz="1600"/>
          </a:p>
          <a:p>
            <a:pPr eaLnBrk="1" hangingPunct="1"/>
            <a:r>
              <a:rPr lang="en-US" altLang="en-US" sz="1600"/>
              <a:t>for( double dec : doubleSet )  	//will iterate as long as the set contains values</a:t>
            </a:r>
          </a:p>
          <a:p>
            <a:pPr eaLnBrk="1" hangingPunct="1"/>
            <a:r>
              <a:rPr lang="en-US" altLang="en-US" sz="1600"/>
              <a:t>					//will copy the next value from doubleSet to dec each time the loop iterates</a:t>
            </a:r>
          </a:p>
          <a:p>
            <a:pPr eaLnBrk="1" hangingPunct="1"/>
            <a:r>
              <a:rPr lang="en-US" altLang="en-US" sz="1600"/>
              <a:t>{</a:t>
            </a:r>
          </a:p>
          <a:p>
            <a:pPr eaLnBrk="1" hangingPunct="1"/>
            <a:r>
              <a:rPr lang="en-US" altLang="en-US" sz="1600"/>
              <a:t>   //do something</a:t>
            </a:r>
          </a:p>
          <a:p>
            <a:pPr eaLnBrk="1" hangingPunct="1"/>
            <a:r>
              <a:rPr lang="en-US" altLang="en-US" sz="1600"/>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D7D21364-5E6B-43B7-B9B1-E3E9FFB368C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C33D129-89A7-483B-BE14-710BA8F2324F}" type="slidenum">
              <a:rPr lang="en-US" altLang="en-US">
                <a:latin typeface="Tahoma" panose="020B0604030504040204" pitchFamily="34" charset="0"/>
              </a:rPr>
              <a:pPr>
                <a:spcBef>
                  <a:spcPct val="0"/>
                </a:spcBef>
              </a:pPr>
              <a:t>35</a:t>
            </a:fld>
            <a:endParaRPr lang="en-US" altLang="en-US">
              <a:latin typeface="Tahoma" panose="020B0604030504040204" pitchFamily="34" charset="0"/>
            </a:endParaRPr>
          </a:p>
        </p:txBody>
      </p:sp>
      <p:sp>
        <p:nvSpPr>
          <p:cNvPr id="67587" name="Rectangle 2">
            <a:extLst>
              <a:ext uri="{FF2B5EF4-FFF2-40B4-BE49-F238E27FC236}">
                <a16:creationId xmlns:a16="http://schemas.microsoft.com/office/drawing/2014/main" id="{6CCCC0F2-7EEC-4138-B418-27CCE87A0C8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F6E6389-BF8D-48E0-B0E7-1908A9C7C9AB}"/>
              </a:ext>
            </a:extLst>
          </p:cNvPr>
          <p:cNvSpPr>
            <a:spLocks noGrp="1" noChangeArrowheads="1"/>
          </p:cNvSpPr>
          <p:nvPr>
            <p:ph type="body" idx="1"/>
          </p:nvPr>
        </p:nvSpPr>
        <p:spPr>
          <a:noFill/>
        </p:spPr>
        <p:txBody>
          <a:bodyPr/>
          <a:lstStyle/>
          <a:p>
            <a:pPr eaLnBrk="1" hangingPunct="1"/>
            <a:endParaRPr lang="en-US" altLang="en-US" sz="1600" dirty="0"/>
          </a:p>
        </p:txBody>
      </p:sp>
    </p:spTree>
    <p:extLst>
      <p:ext uri="{BB962C8B-B14F-4D97-AF65-F5344CB8AC3E}">
        <p14:creationId xmlns:p14="http://schemas.microsoft.com/office/powerpoint/2010/main" val="29613047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36</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430578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7CDA0CE-C187-4FDE-822E-B06D11E7BAE2}"/>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FA7A5D-58ED-4C82-9695-598422D617C4}" type="slidenum">
              <a:rPr lang="en-US" altLang="en-US">
                <a:latin typeface="Tahoma" panose="020B0604030504040204" pitchFamily="34" charset="0"/>
              </a:rPr>
              <a:pPr>
                <a:spcBef>
                  <a:spcPct val="0"/>
                </a:spcBef>
              </a:pPr>
              <a:t>37</a:t>
            </a:fld>
            <a:endParaRPr lang="en-US" altLang="en-US">
              <a:latin typeface="Tahoma" panose="020B0604030504040204" pitchFamily="34" charset="0"/>
            </a:endParaRPr>
          </a:p>
        </p:txBody>
      </p:sp>
      <p:sp>
        <p:nvSpPr>
          <p:cNvPr id="69635" name="Rectangle 2">
            <a:extLst>
              <a:ext uri="{FF2B5EF4-FFF2-40B4-BE49-F238E27FC236}">
                <a16:creationId xmlns:a16="http://schemas.microsoft.com/office/drawing/2014/main" id="{D3BA0151-B48E-4226-9453-A25E7538F163}"/>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D486A826-3F0C-468B-B2EA-AF097230C22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5C0CF597-CEAA-49EA-B745-1F196CA8AC3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D7E2C1C-F50A-437F-8C85-82D63175599C}" type="slidenum">
              <a:rPr lang="en-US" altLang="en-US">
                <a:latin typeface="Tahoma" panose="020B0604030504040204" pitchFamily="34" charset="0"/>
              </a:rPr>
              <a:pPr>
                <a:spcBef>
                  <a:spcPct val="0"/>
                </a:spcBef>
              </a:pPr>
              <a:t>38</a:t>
            </a:fld>
            <a:endParaRPr lang="en-US" altLang="en-US">
              <a:latin typeface="Tahoma" panose="020B0604030504040204" pitchFamily="34" charset="0"/>
            </a:endParaRPr>
          </a:p>
        </p:txBody>
      </p:sp>
      <p:sp>
        <p:nvSpPr>
          <p:cNvPr id="71683" name="Rectangle 2">
            <a:extLst>
              <a:ext uri="{FF2B5EF4-FFF2-40B4-BE49-F238E27FC236}">
                <a16:creationId xmlns:a16="http://schemas.microsoft.com/office/drawing/2014/main" id="{0992F597-0171-4FF5-B212-7C565F351B54}"/>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E22113BA-694F-4996-BD45-EF056D535CF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14FFE04C-31A0-4E5F-BF03-FED34F8BDC7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2DFD737-3F3C-443F-9293-16CA2881E9CB}" type="slidenum">
              <a:rPr lang="en-US" altLang="en-US">
                <a:latin typeface="Tahoma" panose="020B0604030504040204" pitchFamily="34" charset="0"/>
              </a:rPr>
              <a:pPr>
                <a:spcBef>
                  <a:spcPct val="0"/>
                </a:spcBef>
              </a:pPr>
              <a:t>41</a:t>
            </a:fld>
            <a:endParaRPr lang="en-US" altLang="en-US">
              <a:latin typeface="Tahoma" panose="020B0604030504040204" pitchFamily="34" charset="0"/>
            </a:endParaRPr>
          </a:p>
        </p:txBody>
      </p:sp>
      <p:sp>
        <p:nvSpPr>
          <p:cNvPr id="79875" name="Rectangle 2">
            <a:extLst>
              <a:ext uri="{FF2B5EF4-FFF2-40B4-BE49-F238E27FC236}">
                <a16:creationId xmlns:a16="http://schemas.microsoft.com/office/drawing/2014/main" id="{DFC99CC0-2306-4CF3-A6D7-4D35793D424B}"/>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4967EAEA-8833-4852-A77E-264C3B123D3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6D51020-ADD3-4B92-941D-7C7BE4AF68A0}"/>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Rectangle 3">
            <a:extLst>
              <a:ext uri="{FF2B5EF4-FFF2-40B4-BE49-F238E27FC236}">
                <a16:creationId xmlns:a16="http://schemas.microsoft.com/office/drawing/2014/main" id="{69FB80F5-4147-4059-BC9E-EEC26635899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ADCF451-0700-4D50-8EAA-7E8FC89403FC}"/>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Rectangle 3">
            <a:extLst>
              <a:ext uri="{FF2B5EF4-FFF2-40B4-BE49-F238E27FC236}">
                <a16:creationId xmlns:a16="http://schemas.microsoft.com/office/drawing/2014/main" id="{8DA4F5C6-077C-498F-854A-AFB1AA0EC23D}"/>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07C72FB-4AEC-4EDB-8D46-F585FE724D0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7" name="Rectangle 3">
            <a:extLst>
              <a:ext uri="{FF2B5EF4-FFF2-40B4-BE49-F238E27FC236}">
                <a16:creationId xmlns:a16="http://schemas.microsoft.com/office/drawing/2014/main" id="{6CFA0B72-1A22-45B1-B358-E48BA2141B72}"/>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57</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5795571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58</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019294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59</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535786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60</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7012037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61</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00426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A9AFF61-A50F-47F5-A5FB-83490E8D2D9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C4C3F56-44B1-4588-B017-6EF5B81F6673}"/>
              </a:ext>
            </a:extLst>
          </p:cNvPr>
          <p:cNvSpPr>
            <a:spLocks noGrp="1" noChangeArrowheads="1"/>
          </p:cNvSpPr>
          <p:nvPr>
            <p:ph type="sldNum" sz="quarter" idx="11"/>
          </p:nvPr>
        </p:nvSpPr>
        <p:spPr>
          <a:ln/>
        </p:spPr>
        <p:txBody>
          <a:bodyPr/>
          <a:lstStyle>
            <a:lvl1pPr>
              <a:defRPr/>
            </a:lvl1pPr>
          </a:lstStyle>
          <a:p>
            <a:fld id="{3E01F129-F869-4A8C-80FB-99D8E6EB90F6}" type="slidenum">
              <a:rPr lang="en-US" altLang="en-US"/>
              <a:pPr/>
              <a:t>‹#›</a:t>
            </a:fld>
            <a:endParaRPr lang="en-US" altLang="en-US"/>
          </a:p>
        </p:txBody>
      </p:sp>
      <p:sp>
        <p:nvSpPr>
          <p:cNvPr id="6" name="Rectangle 7">
            <a:extLst>
              <a:ext uri="{FF2B5EF4-FFF2-40B4-BE49-F238E27FC236}">
                <a16:creationId xmlns:a16="http://schemas.microsoft.com/office/drawing/2014/main" id="{6EFF9FF8-00B8-4659-9804-31E52BA446CE}"/>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95153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70D5511-5A59-4E19-BBE1-5520A3FEE56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32732BB-A3F8-4B10-9C0B-72D4BE57ADCF}"/>
              </a:ext>
            </a:extLst>
          </p:cNvPr>
          <p:cNvSpPr>
            <a:spLocks noGrp="1" noChangeArrowheads="1"/>
          </p:cNvSpPr>
          <p:nvPr>
            <p:ph type="sldNum" sz="quarter" idx="11"/>
          </p:nvPr>
        </p:nvSpPr>
        <p:spPr>
          <a:ln/>
        </p:spPr>
        <p:txBody>
          <a:bodyPr/>
          <a:lstStyle>
            <a:lvl1pPr>
              <a:defRPr/>
            </a:lvl1pPr>
          </a:lstStyle>
          <a:p>
            <a:fld id="{AFE8241A-7A3C-47B9-B5B4-CB77D6B5799E}" type="slidenum">
              <a:rPr lang="en-US" altLang="en-US"/>
              <a:pPr/>
              <a:t>‹#›</a:t>
            </a:fld>
            <a:endParaRPr lang="en-US" altLang="en-US"/>
          </a:p>
        </p:txBody>
      </p:sp>
      <p:sp>
        <p:nvSpPr>
          <p:cNvPr id="6" name="Rectangle 7">
            <a:extLst>
              <a:ext uri="{FF2B5EF4-FFF2-40B4-BE49-F238E27FC236}">
                <a16:creationId xmlns:a16="http://schemas.microsoft.com/office/drawing/2014/main" id="{A6082EBB-AA47-4F14-BA2F-E6D77E68610C}"/>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24903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4BAA2CD-8ED2-4996-8B4D-E4A6765C944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60DDE42-8DB7-468D-979D-F7E9757067D1}"/>
              </a:ext>
            </a:extLst>
          </p:cNvPr>
          <p:cNvSpPr>
            <a:spLocks noGrp="1" noChangeArrowheads="1"/>
          </p:cNvSpPr>
          <p:nvPr>
            <p:ph type="sldNum" sz="quarter" idx="11"/>
          </p:nvPr>
        </p:nvSpPr>
        <p:spPr>
          <a:ln/>
        </p:spPr>
        <p:txBody>
          <a:bodyPr/>
          <a:lstStyle>
            <a:lvl1pPr>
              <a:defRPr/>
            </a:lvl1pPr>
          </a:lstStyle>
          <a:p>
            <a:fld id="{A047BC44-411C-4213-BAE9-29C97F2E8911}" type="slidenum">
              <a:rPr lang="en-US" altLang="en-US"/>
              <a:pPr/>
              <a:t>‹#›</a:t>
            </a:fld>
            <a:endParaRPr lang="en-US" altLang="en-US"/>
          </a:p>
        </p:txBody>
      </p:sp>
      <p:sp>
        <p:nvSpPr>
          <p:cNvPr id="6" name="Rectangle 7">
            <a:extLst>
              <a:ext uri="{FF2B5EF4-FFF2-40B4-BE49-F238E27FC236}">
                <a16:creationId xmlns:a16="http://schemas.microsoft.com/office/drawing/2014/main" id="{EB5BD0A0-833D-4C68-82A3-7C85097E3A41}"/>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662474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06B26D8-A8BE-4758-816D-D3F65F5923F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7723AFE-2FEF-428D-AD84-76705CF90C68}"/>
              </a:ext>
            </a:extLst>
          </p:cNvPr>
          <p:cNvSpPr>
            <a:spLocks noGrp="1" noChangeArrowheads="1"/>
          </p:cNvSpPr>
          <p:nvPr>
            <p:ph type="sldNum" sz="quarter" idx="11"/>
          </p:nvPr>
        </p:nvSpPr>
        <p:spPr>
          <a:ln/>
        </p:spPr>
        <p:txBody>
          <a:bodyPr/>
          <a:lstStyle>
            <a:lvl1pPr>
              <a:defRPr/>
            </a:lvl1pPr>
          </a:lstStyle>
          <a:p>
            <a:fld id="{618AF0A3-19FC-40F2-AE75-B39EE491647E}" type="slidenum">
              <a:rPr lang="en-US" altLang="en-US"/>
              <a:pPr/>
              <a:t>‹#›</a:t>
            </a:fld>
            <a:endParaRPr lang="en-US" altLang="en-US"/>
          </a:p>
        </p:txBody>
      </p:sp>
      <p:sp>
        <p:nvSpPr>
          <p:cNvPr id="7" name="Rectangle 7">
            <a:extLst>
              <a:ext uri="{FF2B5EF4-FFF2-40B4-BE49-F238E27FC236}">
                <a16:creationId xmlns:a16="http://schemas.microsoft.com/office/drawing/2014/main" id="{CC54BA98-F54D-4B61-AD2A-C9AD103020D8}"/>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924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47D2BEE-2932-4B5C-9E3E-5D7D3A44E71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7F00EF12-9379-4E41-8FA5-31BB6EE138AD}"/>
              </a:ext>
            </a:extLst>
          </p:cNvPr>
          <p:cNvSpPr>
            <a:spLocks noGrp="1" noChangeArrowheads="1"/>
          </p:cNvSpPr>
          <p:nvPr>
            <p:ph type="sldNum" sz="quarter" idx="11"/>
          </p:nvPr>
        </p:nvSpPr>
        <p:spPr>
          <a:ln/>
        </p:spPr>
        <p:txBody>
          <a:bodyPr/>
          <a:lstStyle>
            <a:lvl1pPr>
              <a:defRPr/>
            </a:lvl1pPr>
          </a:lstStyle>
          <a:p>
            <a:fld id="{FBFE164B-E6B4-49C6-AE3B-77877165045B}" type="slidenum">
              <a:rPr lang="en-US" altLang="en-US"/>
              <a:pPr/>
              <a:t>‹#›</a:t>
            </a:fld>
            <a:endParaRPr lang="en-US" altLang="en-US"/>
          </a:p>
        </p:txBody>
      </p:sp>
      <p:sp>
        <p:nvSpPr>
          <p:cNvPr id="9" name="Rectangle 7">
            <a:extLst>
              <a:ext uri="{FF2B5EF4-FFF2-40B4-BE49-F238E27FC236}">
                <a16:creationId xmlns:a16="http://schemas.microsoft.com/office/drawing/2014/main" id="{FEFD52C2-2D73-4E1C-A3E6-4180EE011F85}"/>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758290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4B63A64-AA57-4B30-90B0-D52446A945C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D8A474F-BFFF-4A78-B913-F2DBDD59895D}"/>
              </a:ext>
            </a:extLst>
          </p:cNvPr>
          <p:cNvSpPr>
            <a:spLocks noGrp="1" noChangeArrowheads="1"/>
          </p:cNvSpPr>
          <p:nvPr>
            <p:ph type="sldNum" sz="quarter" idx="11"/>
          </p:nvPr>
        </p:nvSpPr>
        <p:spPr>
          <a:ln/>
        </p:spPr>
        <p:txBody>
          <a:bodyPr/>
          <a:lstStyle>
            <a:lvl1pPr>
              <a:defRPr/>
            </a:lvl1pPr>
          </a:lstStyle>
          <a:p>
            <a:fld id="{BE4750C9-D8DF-4F0A-B16E-68E0ABE6CAB0}" type="slidenum">
              <a:rPr lang="en-US" altLang="en-US"/>
              <a:pPr/>
              <a:t>‹#›</a:t>
            </a:fld>
            <a:endParaRPr lang="en-US" altLang="en-US"/>
          </a:p>
        </p:txBody>
      </p:sp>
      <p:sp>
        <p:nvSpPr>
          <p:cNvPr id="5" name="Rectangle 7">
            <a:extLst>
              <a:ext uri="{FF2B5EF4-FFF2-40B4-BE49-F238E27FC236}">
                <a16:creationId xmlns:a16="http://schemas.microsoft.com/office/drawing/2014/main" id="{57CC2767-A052-4431-8394-684C63E23F58}"/>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55739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BFDEC86-42B0-4E5D-A14B-612C0981034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CA285FB8-41C7-4EA9-8B26-4D60D88DAF6A}"/>
              </a:ext>
            </a:extLst>
          </p:cNvPr>
          <p:cNvSpPr>
            <a:spLocks noGrp="1" noChangeArrowheads="1"/>
          </p:cNvSpPr>
          <p:nvPr>
            <p:ph type="sldNum" sz="quarter" idx="11"/>
          </p:nvPr>
        </p:nvSpPr>
        <p:spPr>
          <a:ln/>
        </p:spPr>
        <p:txBody>
          <a:bodyPr/>
          <a:lstStyle>
            <a:lvl1pPr>
              <a:defRPr/>
            </a:lvl1pPr>
          </a:lstStyle>
          <a:p>
            <a:fld id="{0A81DE4F-CC0C-4B73-A62A-A3FE47E603BB}" type="slidenum">
              <a:rPr lang="en-US" altLang="en-US"/>
              <a:pPr/>
              <a:t>‹#›</a:t>
            </a:fld>
            <a:endParaRPr lang="en-US" altLang="en-US"/>
          </a:p>
        </p:txBody>
      </p:sp>
      <p:sp>
        <p:nvSpPr>
          <p:cNvPr id="4" name="Rectangle 7">
            <a:extLst>
              <a:ext uri="{FF2B5EF4-FFF2-40B4-BE49-F238E27FC236}">
                <a16:creationId xmlns:a16="http://schemas.microsoft.com/office/drawing/2014/main" id="{484A2521-77B1-436C-9F52-51665EF298E9}"/>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966225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3430140-DD8E-4D04-BD78-FB664A30ABC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EC92A08-6DCD-46B3-A4DD-DC680E77DCBF}"/>
              </a:ext>
            </a:extLst>
          </p:cNvPr>
          <p:cNvSpPr>
            <a:spLocks noGrp="1" noChangeArrowheads="1"/>
          </p:cNvSpPr>
          <p:nvPr>
            <p:ph type="sldNum" sz="quarter" idx="11"/>
          </p:nvPr>
        </p:nvSpPr>
        <p:spPr>
          <a:ln/>
        </p:spPr>
        <p:txBody>
          <a:bodyPr/>
          <a:lstStyle>
            <a:lvl1pPr>
              <a:defRPr/>
            </a:lvl1pPr>
          </a:lstStyle>
          <a:p>
            <a:fld id="{38AEB2E2-C1D1-4116-8737-D1D9EC599940}" type="slidenum">
              <a:rPr lang="en-US" altLang="en-US"/>
              <a:pPr/>
              <a:t>‹#›</a:t>
            </a:fld>
            <a:endParaRPr lang="en-US" altLang="en-US"/>
          </a:p>
        </p:txBody>
      </p:sp>
      <p:sp>
        <p:nvSpPr>
          <p:cNvPr id="7" name="Rectangle 7">
            <a:extLst>
              <a:ext uri="{FF2B5EF4-FFF2-40B4-BE49-F238E27FC236}">
                <a16:creationId xmlns:a16="http://schemas.microsoft.com/office/drawing/2014/main" id="{56AEFF9B-90E9-49D6-85E8-99C0E713DFD7}"/>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93716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7A21520-9484-4777-A0B2-9EFAF0DC4E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01823F8-07AF-4396-8BA6-9BB9D608C4D3}"/>
              </a:ext>
            </a:extLst>
          </p:cNvPr>
          <p:cNvSpPr>
            <a:spLocks noGrp="1" noChangeArrowheads="1"/>
          </p:cNvSpPr>
          <p:nvPr>
            <p:ph type="sldNum" sz="quarter" idx="11"/>
          </p:nvPr>
        </p:nvSpPr>
        <p:spPr>
          <a:ln/>
        </p:spPr>
        <p:txBody>
          <a:bodyPr/>
          <a:lstStyle>
            <a:lvl1pPr>
              <a:defRPr/>
            </a:lvl1pPr>
          </a:lstStyle>
          <a:p>
            <a:fld id="{70FE4C0C-C782-4683-926D-1ADAE1874FE0}" type="slidenum">
              <a:rPr lang="en-US" altLang="en-US"/>
              <a:pPr/>
              <a:t>‹#›</a:t>
            </a:fld>
            <a:endParaRPr lang="en-US" altLang="en-US"/>
          </a:p>
        </p:txBody>
      </p:sp>
      <p:sp>
        <p:nvSpPr>
          <p:cNvPr id="7" name="Rectangle 7">
            <a:extLst>
              <a:ext uri="{FF2B5EF4-FFF2-40B4-BE49-F238E27FC236}">
                <a16:creationId xmlns:a16="http://schemas.microsoft.com/office/drawing/2014/main" id="{5698862B-B458-4ED8-A317-0C6C97CDA848}"/>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831506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0AF71F-767A-4BFA-918B-D7A9944C745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04583CE-E672-4B43-9242-019DE9B4CEAF}"/>
              </a:ext>
            </a:extLst>
          </p:cNvPr>
          <p:cNvSpPr>
            <a:spLocks noGrp="1" noChangeArrowheads="1"/>
          </p:cNvSpPr>
          <p:nvPr>
            <p:ph type="sldNum" sz="quarter" idx="11"/>
          </p:nvPr>
        </p:nvSpPr>
        <p:spPr>
          <a:ln/>
        </p:spPr>
        <p:txBody>
          <a:bodyPr/>
          <a:lstStyle>
            <a:lvl1pPr>
              <a:defRPr/>
            </a:lvl1pPr>
          </a:lstStyle>
          <a:p>
            <a:fld id="{A3351014-A5A0-4B8D-9187-2FB380B37960}" type="slidenum">
              <a:rPr lang="en-US" altLang="en-US"/>
              <a:pPr/>
              <a:t>‹#›</a:t>
            </a:fld>
            <a:endParaRPr lang="en-US" altLang="en-US"/>
          </a:p>
        </p:txBody>
      </p:sp>
      <p:sp>
        <p:nvSpPr>
          <p:cNvPr id="6" name="Rectangle 7">
            <a:extLst>
              <a:ext uri="{FF2B5EF4-FFF2-40B4-BE49-F238E27FC236}">
                <a16:creationId xmlns:a16="http://schemas.microsoft.com/office/drawing/2014/main" id="{7896BA91-60D1-4D6D-94CA-E578701DF535}"/>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41787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5174F1F-7858-4E5E-9012-E94DC3DCF66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3C79C52-4A7A-46BE-8FE9-C90F942A2BDE}"/>
              </a:ext>
            </a:extLst>
          </p:cNvPr>
          <p:cNvSpPr>
            <a:spLocks noGrp="1" noChangeArrowheads="1"/>
          </p:cNvSpPr>
          <p:nvPr>
            <p:ph type="sldNum" sz="quarter" idx="11"/>
          </p:nvPr>
        </p:nvSpPr>
        <p:spPr>
          <a:ln/>
        </p:spPr>
        <p:txBody>
          <a:bodyPr/>
          <a:lstStyle>
            <a:lvl1pPr>
              <a:defRPr/>
            </a:lvl1pPr>
          </a:lstStyle>
          <a:p>
            <a:fld id="{46B43AA5-5BEA-466B-8A70-8A11A9DD5DCA}" type="slidenum">
              <a:rPr lang="en-US" altLang="en-US"/>
              <a:pPr/>
              <a:t>‹#›</a:t>
            </a:fld>
            <a:endParaRPr lang="en-US" altLang="en-US"/>
          </a:p>
        </p:txBody>
      </p:sp>
      <p:sp>
        <p:nvSpPr>
          <p:cNvPr id="6" name="Rectangle 7">
            <a:extLst>
              <a:ext uri="{FF2B5EF4-FFF2-40B4-BE49-F238E27FC236}">
                <a16:creationId xmlns:a16="http://schemas.microsoft.com/office/drawing/2014/main" id="{6296D0FC-F000-4AEA-8FF0-E84304171757}"/>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55280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B317766-C6AD-41FD-AA2A-4936B91BCCE9}"/>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FB5CABB4-E2BD-44FE-B005-50F523185621}"/>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B0DA113-67C8-45D2-A327-66815534880F}"/>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C69C9C14-0735-415A-8E66-E982F9C8BC7F}"/>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a:defRPr sz="1400" b="0">
                <a:latin typeface="Times New Roman" panose="02020603050405020304" pitchFamily="18" charset="0"/>
              </a:defRPr>
            </a:lvl1pPr>
          </a:lstStyle>
          <a:p>
            <a:fld id="{1F1D3CFC-B0D1-4F6B-8421-98E93FA0A97F}" type="slidenum">
              <a:rPr lang="en-US" altLang="en-US"/>
              <a:pPr/>
              <a:t>‹#›</a:t>
            </a:fld>
            <a:endParaRPr lang="en-US" altLang="en-US"/>
          </a:p>
        </p:txBody>
      </p:sp>
      <p:sp>
        <p:nvSpPr>
          <p:cNvPr id="1031" name="Rectangle 7">
            <a:extLst>
              <a:ext uri="{FF2B5EF4-FFF2-40B4-BE49-F238E27FC236}">
                <a16:creationId xmlns:a16="http://schemas.microsoft.com/office/drawing/2014/main" id="{D794FB3B-38DD-4822-9A08-4AE217B7157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upload.wikimedia.org/wikipedia/commons/7/7d/Hash_table_3_1_1_0_1_0_0_SP.svg"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wiki/File:Hash_table_5_0_1_1_1_1_1_LL.svg" TargetMode="Externa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18908966-76B8-425F-9AC7-C787BBCA9AD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099" name="WordArt 5">
            <a:extLst>
              <a:ext uri="{FF2B5EF4-FFF2-40B4-BE49-F238E27FC236}">
                <a16:creationId xmlns:a16="http://schemas.microsoft.com/office/drawing/2014/main" id="{376FEE3D-5B9A-4F71-935B-2F5991D93A8A}"/>
              </a:ext>
            </a:extLst>
          </p:cNvPr>
          <p:cNvSpPr>
            <a:spLocks noChangeArrowheads="1" noChangeShapeType="1" noTextEdit="1"/>
          </p:cNvSpPr>
          <p:nvPr/>
        </p:nvSpPr>
        <p:spPr bwMode="auto">
          <a:xfrm>
            <a:off x="838200" y="1143000"/>
            <a:ext cx="7467600" cy="2057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Sets</a:t>
            </a:r>
          </a:p>
        </p:txBody>
      </p:sp>
      <p:pic>
        <p:nvPicPr>
          <p:cNvPr id="4100" name="Picture 6">
            <a:extLst>
              <a:ext uri="{FF2B5EF4-FFF2-40B4-BE49-F238E27FC236}">
                <a16:creationId xmlns:a16="http://schemas.microsoft.com/office/drawing/2014/main" id="{C226EB4C-F1F2-4A79-B16B-C96EA796A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953000"/>
            <a:ext cx="1143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8" descr="j0290709[1]">
            <a:extLst>
              <a:ext uri="{FF2B5EF4-FFF2-40B4-BE49-F238E27FC236}">
                <a16:creationId xmlns:a16="http://schemas.microsoft.com/office/drawing/2014/main" id="{26DA6A72-053D-4AB6-A6CE-088F9ABF3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038600"/>
            <a:ext cx="203200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WordArt 10">
            <a:extLst>
              <a:ext uri="{FF2B5EF4-FFF2-40B4-BE49-F238E27FC236}">
                <a16:creationId xmlns:a16="http://schemas.microsoft.com/office/drawing/2014/main" id="{7B3D327A-C09D-4B13-BDFE-6DB1F514D95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F9E4D44B-8610-4B3F-B190-69E5710C875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6147" name="WordArt 2">
            <a:extLst>
              <a:ext uri="{FF2B5EF4-FFF2-40B4-BE49-F238E27FC236}">
                <a16:creationId xmlns:a16="http://schemas.microsoft.com/office/drawing/2014/main" id="{48B870A1-397A-4117-B969-29BE4CC29406}"/>
              </a:ext>
            </a:extLst>
          </p:cNvPr>
          <p:cNvSpPr>
            <a:spLocks noChangeArrowheads="1" noChangeShapeType="1" noTextEdit="1"/>
          </p:cNvSpPr>
          <p:nvPr/>
        </p:nvSpPr>
        <p:spPr bwMode="auto">
          <a:xfrm>
            <a:off x="1066800" y="609600"/>
            <a:ext cx="67056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Interfaces</a:t>
            </a:r>
          </a:p>
        </p:txBody>
      </p:sp>
      <p:sp>
        <p:nvSpPr>
          <p:cNvPr id="6148" name="Text Box 3">
            <a:extLst>
              <a:ext uri="{FF2B5EF4-FFF2-40B4-BE49-F238E27FC236}">
                <a16:creationId xmlns:a16="http://schemas.microsoft.com/office/drawing/2014/main" id="{C2C4F882-79CE-439A-A4CC-3C91D3A8B74D}"/>
              </a:ext>
            </a:extLst>
          </p:cNvPr>
          <p:cNvSpPr txBox="1">
            <a:spLocks noChangeArrowheads="1"/>
          </p:cNvSpPr>
          <p:nvPr/>
        </p:nvSpPr>
        <p:spPr bwMode="auto">
          <a:xfrm>
            <a:off x="1295400" y="1524000"/>
            <a:ext cx="6005513"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dirty="0">
                <a:latin typeface="Tahoma" panose="020B0604030504040204" pitchFamily="34" charset="0"/>
              </a:rPr>
              <a:t>The following are important </a:t>
            </a:r>
          </a:p>
          <a:p>
            <a:pPr eaLnBrk="1" hangingPunct="1">
              <a:spcBef>
                <a:spcPct val="0"/>
              </a:spcBef>
              <a:buFontTx/>
              <a:buNone/>
            </a:pPr>
            <a:r>
              <a:rPr lang="en-US" altLang="en-US" dirty="0">
                <a:latin typeface="Tahoma" panose="020B0604030504040204" pitchFamily="34" charset="0"/>
              </a:rPr>
              <a:t>interfaces included in the </a:t>
            </a:r>
          </a:p>
          <a:p>
            <a:pPr eaLnBrk="1" hangingPunct="1">
              <a:spcBef>
                <a:spcPct val="0"/>
              </a:spcBef>
              <a:buFontTx/>
              <a:buNone/>
            </a:pPr>
            <a:r>
              <a:rPr lang="en-US" altLang="en-US" dirty="0">
                <a:latin typeface="Tahoma" panose="020B0604030504040204" pitchFamily="34" charset="0"/>
              </a:rPr>
              <a:t>Java language ::</a:t>
            </a:r>
          </a:p>
          <a:p>
            <a:pPr eaLnBrk="1" hangingPunct="1">
              <a:spcBef>
                <a:spcPct val="0"/>
              </a:spcBef>
              <a:buFontTx/>
              <a:buNone/>
            </a:pPr>
            <a:endParaRPr lang="en-US" altLang="en-US" dirty="0">
              <a:latin typeface="Tahoma" panose="020B0604030504040204" pitchFamily="34" charset="0"/>
            </a:endParaRPr>
          </a:p>
          <a:p>
            <a:pPr eaLnBrk="1" hangingPunct="1">
              <a:spcBef>
                <a:spcPct val="0"/>
              </a:spcBef>
              <a:buFontTx/>
              <a:buNone/>
            </a:pPr>
            <a:r>
              <a:rPr lang="en-US" altLang="en-US" dirty="0">
                <a:solidFill>
                  <a:schemeClr val="accent2"/>
                </a:solidFill>
                <a:latin typeface="Tahoma" panose="020B0604030504040204" pitchFamily="34" charset="0"/>
              </a:rPr>
              <a:t>Collection</a:t>
            </a:r>
          </a:p>
          <a:p>
            <a:pPr eaLnBrk="1" hangingPunct="1">
              <a:spcBef>
                <a:spcPct val="0"/>
              </a:spcBef>
              <a:buFontTx/>
              <a:buNone/>
            </a:pPr>
            <a:r>
              <a:rPr lang="en-US" altLang="en-US" dirty="0">
                <a:solidFill>
                  <a:schemeClr val="accent2"/>
                </a:solidFill>
                <a:latin typeface="Tahoma" panose="020B0604030504040204" pitchFamily="34" charset="0"/>
              </a:rPr>
              <a:t>Set</a:t>
            </a:r>
          </a:p>
          <a:p>
            <a:pPr eaLnBrk="1" hangingPunct="1">
              <a:spcBef>
                <a:spcPct val="0"/>
              </a:spcBef>
              <a:buFontTx/>
              <a:buNone/>
            </a:pPr>
            <a:r>
              <a:rPr lang="en-US" altLang="en-US" dirty="0">
                <a:solidFill>
                  <a:schemeClr val="accent2"/>
                </a:solidFill>
                <a:latin typeface="Tahoma" panose="020B0604030504040204" pitchFamily="34" charset="0"/>
              </a:rPr>
              <a:t>Map</a:t>
            </a:r>
          </a:p>
          <a:p>
            <a:pPr eaLnBrk="1" hangingPunct="1">
              <a:spcBef>
                <a:spcPct val="0"/>
              </a:spcBef>
              <a:buFontTx/>
              <a:buNone/>
            </a:pPr>
            <a:endParaRPr lang="en-US" altLang="en-US" dirty="0">
              <a:solidFill>
                <a:schemeClr val="accent2"/>
              </a:solidFill>
              <a:latin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CD8BE5C3-E16F-4E8E-93F1-592B68044EEC}"/>
              </a:ext>
            </a:extLst>
          </p:cNvPr>
          <p:cNvSpPr>
            <a:spLocks noGrp="1"/>
          </p:cNvSpPr>
          <p:nvPr>
            <p:ph type="ftr" sz="quarter" idx="12"/>
          </p:nvPr>
        </p:nvSpPr>
        <p:spPr>
          <a:xfrm>
            <a:off x="4495800" y="6283325"/>
            <a:ext cx="2895600" cy="457200"/>
          </a:xfrm>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grpSp>
        <p:nvGrpSpPr>
          <p:cNvPr id="7" name="Group 6" descr="Java Collections Hierarchy Relationships Enumerated&#10;&#10;Collections&#10;Collection interface extends Iterable Interface and is the root of the collections hierarchy.&#10;List and Set interfaces extend Collection interface&#10;ArrayList class implements List and RandomAccess interfaces&#10;LinkedList class implements List interface&#10;HashSet class implements Set interface&#10;SortedSet interface extends Set interface&#10;TreeSet class implements SortedSet class&#10;&#10;Maps&#10;Map interface is the root of the map hierarchy&#10;HashMap class implements Map interface&#10;SortedMap interface extends Map interface&#10;TreeMap class implements SortMap interface">
            <a:extLst>
              <a:ext uri="{FF2B5EF4-FFF2-40B4-BE49-F238E27FC236}">
                <a16:creationId xmlns:a16="http://schemas.microsoft.com/office/drawing/2014/main" id="{6B5151C6-B731-E505-DAD6-51E2605E6EE2}"/>
              </a:ext>
            </a:extLst>
          </p:cNvPr>
          <p:cNvGrpSpPr/>
          <p:nvPr/>
        </p:nvGrpSpPr>
        <p:grpSpPr>
          <a:xfrm>
            <a:off x="-19050" y="0"/>
            <a:ext cx="8955088" cy="7620000"/>
            <a:chOff x="-19050" y="0"/>
            <a:chExt cx="8955088" cy="7620000"/>
          </a:xfrm>
        </p:grpSpPr>
        <p:sp>
          <p:nvSpPr>
            <p:cNvPr id="8195" name="WordArt 2">
              <a:extLst>
                <a:ext uri="{FF2B5EF4-FFF2-40B4-BE49-F238E27FC236}">
                  <a16:creationId xmlns:a16="http://schemas.microsoft.com/office/drawing/2014/main" id="{54C62112-6EB3-4B22-8474-96CEBBECA6D0}"/>
                </a:ext>
              </a:extLst>
            </p:cNvPr>
            <p:cNvSpPr>
              <a:spLocks noChangeArrowheads="1" noChangeShapeType="1" noTextEdit="1"/>
            </p:cNvSpPr>
            <p:nvPr/>
          </p:nvSpPr>
          <p:spPr bwMode="auto">
            <a:xfrm>
              <a:off x="1524000" y="228600"/>
              <a:ext cx="28956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dirty="0">
                  <a:solidFill>
                    <a:srgbClr val="0000FF"/>
                  </a:solidFill>
                  <a:effectLst>
                    <a:outerShdw dist="35921" dir="2700000" algn="ctr" rotWithShape="0">
                      <a:srgbClr val="C0C0C0"/>
                    </a:outerShdw>
                  </a:effectLst>
                  <a:latin typeface="Impact" panose="020B0806030902050204" pitchFamily="34" charset="0"/>
                </a:rPr>
                <a:t>Java Collections</a:t>
              </a:r>
            </a:p>
          </p:txBody>
        </p:sp>
        <p:sp>
          <p:nvSpPr>
            <p:cNvPr id="8196" name="Text Box 3">
              <a:extLst>
                <a:ext uri="{FF2B5EF4-FFF2-40B4-BE49-F238E27FC236}">
                  <a16:creationId xmlns:a16="http://schemas.microsoft.com/office/drawing/2014/main" id="{5A0FFF90-A476-4EA3-849A-BDFE9CA8FA6D}"/>
                </a:ext>
              </a:extLst>
            </p:cNvPr>
            <p:cNvSpPr txBox="1">
              <a:spLocks noChangeArrowheads="1"/>
            </p:cNvSpPr>
            <p:nvPr/>
          </p:nvSpPr>
          <p:spPr bwMode="auto">
            <a:xfrm>
              <a:off x="533400" y="9144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400" b="0"/>
            </a:p>
          </p:txBody>
        </p:sp>
        <p:sp>
          <p:nvSpPr>
            <p:cNvPr id="8197" name="Text Box 4">
              <a:extLst>
                <a:ext uri="{FF2B5EF4-FFF2-40B4-BE49-F238E27FC236}">
                  <a16:creationId xmlns:a16="http://schemas.microsoft.com/office/drawing/2014/main" id="{8CCC0F53-41A1-47DC-8802-89E2EF8E417C}"/>
                </a:ext>
              </a:extLst>
            </p:cNvPr>
            <p:cNvSpPr txBox="1">
              <a:spLocks noChangeArrowheads="1"/>
            </p:cNvSpPr>
            <p:nvPr/>
          </p:nvSpPr>
          <p:spPr bwMode="auto">
            <a:xfrm>
              <a:off x="457200" y="914400"/>
              <a:ext cx="170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latin typeface="Tahoma" panose="020B0604030504040204" pitchFamily="34" charset="0"/>
                </a:rPr>
                <a:t>Collection</a:t>
              </a:r>
            </a:p>
          </p:txBody>
        </p:sp>
        <p:sp>
          <p:nvSpPr>
            <p:cNvPr id="8198" name="Text Box 5">
              <a:extLst>
                <a:ext uri="{FF2B5EF4-FFF2-40B4-BE49-F238E27FC236}">
                  <a16:creationId xmlns:a16="http://schemas.microsoft.com/office/drawing/2014/main" id="{DEA63915-C88C-4877-A2DF-36EA9F8C4591}"/>
                </a:ext>
              </a:extLst>
            </p:cNvPr>
            <p:cNvSpPr txBox="1">
              <a:spLocks noChangeArrowheads="1"/>
            </p:cNvSpPr>
            <p:nvPr/>
          </p:nvSpPr>
          <p:spPr bwMode="auto">
            <a:xfrm>
              <a:off x="5257800" y="152400"/>
              <a:ext cx="830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latin typeface="Tahoma" panose="020B0604030504040204" pitchFamily="34" charset="0"/>
                </a:rPr>
                <a:t>Map</a:t>
              </a:r>
            </a:p>
          </p:txBody>
        </p:sp>
        <p:sp>
          <p:nvSpPr>
            <p:cNvPr id="8199" name="Line 6">
              <a:extLst>
                <a:ext uri="{FF2B5EF4-FFF2-40B4-BE49-F238E27FC236}">
                  <a16:creationId xmlns:a16="http://schemas.microsoft.com/office/drawing/2014/main" id="{22C0044D-F743-4233-B40A-ED7D1277E56C}"/>
                </a:ext>
              </a:extLst>
            </p:cNvPr>
            <p:cNvSpPr>
              <a:spLocks noChangeShapeType="1"/>
            </p:cNvSpPr>
            <p:nvPr/>
          </p:nvSpPr>
          <p:spPr bwMode="auto">
            <a:xfrm flipH="1">
              <a:off x="609600" y="1371600"/>
              <a:ext cx="0" cy="14478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7">
              <a:extLst>
                <a:ext uri="{FF2B5EF4-FFF2-40B4-BE49-F238E27FC236}">
                  <a16:creationId xmlns:a16="http://schemas.microsoft.com/office/drawing/2014/main" id="{2A0F5897-E22E-4F7F-A0E0-3E718F14A123}"/>
                </a:ext>
              </a:extLst>
            </p:cNvPr>
            <p:cNvSpPr>
              <a:spLocks noChangeShapeType="1"/>
            </p:cNvSpPr>
            <p:nvPr/>
          </p:nvSpPr>
          <p:spPr bwMode="auto">
            <a:xfrm>
              <a:off x="1904999" y="1371600"/>
              <a:ext cx="76197" cy="13716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8">
              <a:extLst>
                <a:ext uri="{FF2B5EF4-FFF2-40B4-BE49-F238E27FC236}">
                  <a16:creationId xmlns:a16="http://schemas.microsoft.com/office/drawing/2014/main" id="{AF7BBEAC-094E-4F37-A79D-F1F2360697E7}"/>
                </a:ext>
              </a:extLst>
            </p:cNvPr>
            <p:cNvSpPr>
              <a:spLocks noChangeShapeType="1"/>
            </p:cNvSpPr>
            <p:nvPr/>
          </p:nvSpPr>
          <p:spPr bwMode="auto">
            <a:xfrm>
              <a:off x="2286000" y="3124200"/>
              <a:ext cx="457200" cy="609600"/>
            </a:xfrm>
            <a:prstGeom prst="line">
              <a:avLst/>
            </a:prstGeom>
            <a:noFill/>
            <a:ln w="508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Text Box 9">
              <a:extLst>
                <a:ext uri="{FF2B5EF4-FFF2-40B4-BE49-F238E27FC236}">
                  <a16:creationId xmlns:a16="http://schemas.microsoft.com/office/drawing/2014/main" id="{3E297144-B9F0-4189-A35D-23D30C7EC957}"/>
                </a:ext>
              </a:extLst>
            </p:cNvPr>
            <p:cNvSpPr txBox="1">
              <a:spLocks noChangeArrowheads="1"/>
            </p:cNvSpPr>
            <p:nvPr/>
          </p:nvSpPr>
          <p:spPr bwMode="auto">
            <a:xfrm>
              <a:off x="381000" y="2743200"/>
              <a:ext cx="1947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3333CC"/>
                  </a:solidFill>
                  <a:latin typeface="Tahoma" panose="020B0604030504040204" pitchFamily="34" charset="0"/>
                </a:rPr>
                <a:t>List        Set</a:t>
              </a:r>
            </a:p>
          </p:txBody>
        </p:sp>
        <p:sp>
          <p:nvSpPr>
            <p:cNvPr id="8203" name="Text Box 10">
              <a:extLst>
                <a:ext uri="{FF2B5EF4-FFF2-40B4-BE49-F238E27FC236}">
                  <a16:creationId xmlns:a16="http://schemas.microsoft.com/office/drawing/2014/main" id="{E9F264E0-0C4D-47F0-8850-79A0DC6BEC51}"/>
                </a:ext>
              </a:extLst>
            </p:cNvPr>
            <p:cNvSpPr txBox="1">
              <a:spLocks noChangeArrowheads="1"/>
            </p:cNvSpPr>
            <p:nvPr/>
          </p:nvSpPr>
          <p:spPr bwMode="auto">
            <a:xfrm>
              <a:off x="685802" y="1447800"/>
              <a:ext cx="129539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600" dirty="0">
                  <a:solidFill>
                    <a:srgbClr val="FF0000"/>
                  </a:solidFill>
                  <a:latin typeface="Tahoma" panose="020B0604030504040204" pitchFamily="34" charset="0"/>
                </a:rPr>
                <a:t>Sub-</a:t>
              </a:r>
            </a:p>
            <a:p>
              <a:pPr algn="ctr">
                <a:spcBef>
                  <a:spcPct val="0"/>
                </a:spcBef>
                <a:buFontTx/>
                <a:buNone/>
              </a:pPr>
              <a:r>
                <a:rPr lang="en-US" altLang="en-US" sz="1600" dirty="0">
                  <a:solidFill>
                    <a:srgbClr val="FF0000"/>
                  </a:solidFill>
                  <a:latin typeface="Tahoma" panose="020B0604030504040204" pitchFamily="34" charset="0"/>
                </a:rPr>
                <a:t>interfaces</a:t>
              </a:r>
            </a:p>
            <a:p>
              <a:pPr algn="ctr">
                <a:spcBef>
                  <a:spcPct val="0"/>
                </a:spcBef>
                <a:buFontTx/>
                <a:buNone/>
              </a:pPr>
              <a:r>
                <a:rPr lang="en-US" altLang="en-US" sz="1600" dirty="0">
                  <a:solidFill>
                    <a:srgbClr val="FF0000"/>
                  </a:solidFill>
                  <a:latin typeface="Tahoma" panose="020B0604030504040204" pitchFamily="34" charset="0"/>
                </a:rPr>
                <a:t>extend Collection</a:t>
              </a:r>
            </a:p>
          </p:txBody>
        </p:sp>
        <p:sp>
          <p:nvSpPr>
            <p:cNvPr id="8204" name="Text Box 11">
              <a:extLst>
                <a:ext uri="{FF2B5EF4-FFF2-40B4-BE49-F238E27FC236}">
                  <a16:creationId xmlns:a16="http://schemas.microsoft.com/office/drawing/2014/main" id="{948D3F45-B6C4-4D3A-9073-25AD8F91E86E}"/>
                </a:ext>
              </a:extLst>
            </p:cNvPr>
            <p:cNvSpPr txBox="1">
              <a:spLocks noChangeArrowheads="1"/>
            </p:cNvSpPr>
            <p:nvPr/>
          </p:nvSpPr>
          <p:spPr bwMode="auto">
            <a:xfrm>
              <a:off x="533400" y="34290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8205" name="Line 12">
              <a:extLst>
                <a:ext uri="{FF2B5EF4-FFF2-40B4-BE49-F238E27FC236}">
                  <a16:creationId xmlns:a16="http://schemas.microsoft.com/office/drawing/2014/main" id="{D637C016-01DB-4161-B805-8E56A9B22767}"/>
                </a:ext>
              </a:extLst>
            </p:cNvPr>
            <p:cNvSpPr>
              <a:spLocks noChangeShapeType="1"/>
            </p:cNvSpPr>
            <p:nvPr/>
          </p:nvSpPr>
          <p:spPr bwMode="auto">
            <a:xfrm>
              <a:off x="2209800" y="3200399"/>
              <a:ext cx="325438" cy="2482851"/>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Line 13">
              <a:extLst>
                <a:ext uri="{FF2B5EF4-FFF2-40B4-BE49-F238E27FC236}">
                  <a16:creationId xmlns:a16="http://schemas.microsoft.com/office/drawing/2014/main" id="{82C0EB24-D60C-41E9-B515-EC1EDB76E068}"/>
                </a:ext>
              </a:extLst>
            </p:cNvPr>
            <p:cNvSpPr>
              <a:spLocks noChangeShapeType="1"/>
            </p:cNvSpPr>
            <p:nvPr/>
          </p:nvSpPr>
          <p:spPr bwMode="auto">
            <a:xfrm flipH="1">
              <a:off x="2971800" y="4191000"/>
              <a:ext cx="0" cy="8382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Line 14">
              <a:extLst>
                <a:ext uri="{FF2B5EF4-FFF2-40B4-BE49-F238E27FC236}">
                  <a16:creationId xmlns:a16="http://schemas.microsoft.com/office/drawing/2014/main" id="{326D1C07-B60F-418D-A453-EB1A40E4ED0F}"/>
                </a:ext>
              </a:extLst>
            </p:cNvPr>
            <p:cNvSpPr>
              <a:spLocks noChangeShapeType="1"/>
            </p:cNvSpPr>
            <p:nvPr/>
          </p:nvSpPr>
          <p:spPr bwMode="auto">
            <a:xfrm flipH="1">
              <a:off x="533400" y="3200400"/>
              <a:ext cx="0" cy="13716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Text Box 15">
              <a:extLst>
                <a:ext uri="{FF2B5EF4-FFF2-40B4-BE49-F238E27FC236}">
                  <a16:creationId xmlns:a16="http://schemas.microsoft.com/office/drawing/2014/main" id="{C09650B6-9360-4D72-8252-658E196A070D}"/>
                </a:ext>
              </a:extLst>
            </p:cNvPr>
            <p:cNvSpPr txBox="1">
              <a:spLocks noChangeArrowheads="1"/>
            </p:cNvSpPr>
            <p:nvPr/>
          </p:nvSpPr>
          <p:spPr bwMode="auto">
            <a:xfrm>
              <a:off x="304800" y="4495800"/>
              <a:ext cx="17541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ArrayList</a:t>
              </a:r>
            </a:p>
            <a:p>
              <a:pPr>
                <a:spcBef>
                  <a:spcPct val="0"/>
                </a:spcBef>
                <a:buFontTx/>
                <a:buNone/>
              </a:pPr>
              <a:r>
                <a:rPr lang="en-US" altLang="en-US" sz="2400">
                  <a:latin typeface="Tahoma" panose="020B0604030504040204" pitchFamily="34" charset="0"/>
                </a:rPr>
                <a:t>LinkedList</a:t>
              </a:r>
            </a:p>
            <a:p>
              <a:pPr>
                <a:spcBef>
                  <a:spcPct val="0"/>
                </a:spcBef>
                <a:buFontTx/>
                <a:buNone/>
              </a:pPr>
              <a:r>
                <a:rPr lang="en-US" altLang="en-US" sz="2400">
                  <a:latin typeface="Tahoma" panose="020B0604030504040204" pitchFamily="34" charset="0"/>
                </a:rPr>
                <a:t>Vector</a:t>
              </a:r>
            </a:p>
          </p:txBody>
        </p:sp>
        <p:sp>
          <p:nvSpPr>
            <p:cNvPr id="8209" name="Text Box 16">
              <a:extLst>
                <a:ext uri="{FF2B5EF4-FFF2-40B4-BE49-F238E27FC236}">
                  <a16:creationId xmlns:a16="http://schemas.microsoft.com/office/drawing/2014/main" id="{D35F62A6-3620-44DD-8EBF-C851B9DF12C9}"/>
                </a:ext>
              </a:extLst>
            </p:cNvPr>
            <p:cNvSpPr txBox="1">
              <a:spLocks noChangeArrowheads="1"/>
            </p:cNvSpPr>
            <p:nvPr/>
          </p:nvSpPr>
          <p:spPr bwMode="auto">
            <a:xfrm>
              <a:off x="1896051" y="5670202"/>
              <a:ext cx="14670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Tahoma" panose="020B0604030504040204" pitchFamily="34" charset="0"/>
                </a:rPr>
                <a:t>HashSet</a:t>
              </a:r>
            </a:p>
          </p:txBody>
        </p:sp>
        <p:sp>
          <p:nvSpPr>
            <p:cNvPr id="8210" name="Text Box 17">
              <a:extLst>
                <a:ext uri="{FF2B5EF4-FFF2-40B4-BE49-F238E27FC236}">
                  <a16:creationId xmlns:a16="http://schemas.microsoft.com/office/drawing/2014/main" id="{91C8E021-B939-4BBF-8A41-13CF0E6C4538}"/>
                </a:ext>
              </a:extLst>
            </p:cNvPr>
            <p:cNvSpPr txBox="1">
              <a:spLocks noChangeArrowheads="1"/>
            </p:cNvSpPr>
            <p:nvPr/>
          </p:nvSpPr>
          <p:spPr bwMode="auto">
            <a:xfrm>
              <a:off x="2819400" y="4953000"/>
              <a:ext cx="1366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TreeSet</a:t>
              </a:r>
            </a:p>
          </p:txBody>
        </p:sp>
        <p:sp>
          <p:nvSpPr>
            <p:cNvPr id="8211" name="Text Box 18">
              <a:extLst>
                <a:ext uri="{FF2B5EF4-FFF2-40B4-BE49-F238E27FC236}">
                  <a16:creationId xmlns:a16="http://schemas.microsoft.com/office/drawing/2014/main" id="{E5CECB16-112E-45BD-927E-3BC3D7E1AC3A}"/>
                </a:ext>
              </a:extLst>
            </p:cNvPr>
            <p:cNvSpPr txBox="1">
              <a:spLocks noChangeArrowheads="1"/>
            </p:cNvSpPr>
            <p:nvPr/>
          </p:nvSpPr>
          <p:spPr bwMode="auto">
            <a:xfrm>
              <a:off x="2667000" y="3733800"/>
              <a:ext cx="1700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solidFill>
                    <a:srgbClr val="006600"/>
                  </a:solidFill>
                  <a:latin typeface="Tahoma" panose="020B0604030504040204" pitchFamily="34" charset="0"/>
                </a:rPr>
                <a:t>SortedSet</a:t>
              </a:r>
            </a:p>
          </p:txBody>
        </p:sp>
        <p:sp>
          <p:nvSpPr>
            <p:cNvPr id="8212" name="Text Box 19">
              <a:extLst>
                <a:ext uri="{FF2B5EF4-FFF2-40B4-BE49-F238E27FC236}">
                  <a16:creationId xmlns:a16="http://schemas.microsoft.com/office/drawing/2014/main" id="{3FDF575C-9EEA-4104-BAA3-072D4336B410}"/>
                </a:ext>
              </a:extLst>
            </p:cNvPr>
            <p:cNvSpPr txBox="1">
              <a:spLocks noChangeArrowheads="1"/>
            </p:cNvSpPr>
            <p:nvPr/>
          </p:nvSpPr>
          <p:spPr bwMode="auto">
            <a:xfrm>
              <a:off x="2629585" y="2908011"/>
              <a:ext cx="18662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dirty="0">
                  <a:solidFill>
                    <a:srgbClr val="006600"/>
                  </a:solidFill>
                  <a:latin typeface="Tahoma" panose="020B0604030504040204" pitchFamily="34" charset="0"/>
                </a:rPr>
                <a:t>sub-interface</a:t>
              </a:r>
            </a:p>
          </p:txBody>
        </p:sp>
        <p:sp>
          <p:nvSpPr>
            <p:cNvPr id="8213" name="Text Box 20">
              <a:extLst>
                <a:ext uri="{FF2B5EF4-FFF2-40B4-BE49-F238E27FC236}">
                  <a16:creationId xmlns:a16="http://schemas.microsoft.com/office/drawing/2014/main" id="{B3A53606-32DB-449F-9427-6B0CC9401269}"/>
                </a:ext>
              </a:extLst>
            </p:cNvPr>
            <p:cNvSpPr txBox="1">
              <a:spLocks noChangeArrowheads="1"/>
            </p:cNvSpPr>
            <p:nvPr/>
          </p:nvSpPr>
          <p:spPr bwMode="auto">
            <a:xfrm>
              <a:off x="3048000" y="43434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8214" name="Line 21">
              <a:extLst>
                <a:ext uri="{FF2B5EF4-FFF2-40B4-BE49-F238E27FC236}">
                  <a16:creationId xmlns:a16="http://schemas.microsoft.com/office/drawing/2014/main" id="{23C27720-4D1D-4878-A6CD-A2F3A1068A58}"/>
                </a:ext>
              </a:extLst>
            </p:cNvPr>
            <p:cNvSpPr>
              <a:spLocks noChangeShapeType="1"/>
            </p:cNvSpPr>
            <p:nvPr/>
          </p:nvSpPr>
          <p:spPr bwMode="auto">
            <a:xfrm>
              <a:off x="5943599" y="609600"/>
              <a:ext cx="830255" cy="501998"/>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5" name="Line 22">
              <a:extLst>
                <a:ext uri="{FF2B5EF4-FFF2-40B4-BE49-F238E27FC236}">
                  <a16:creationId xmlns:a16="http://schemas.microsoft.com/office/drawing/2014/main" id="{E1F1EDC3-907D-44FF-9110-4B2B0870F645}"/>
                </a:ext>
              </a:extLst>
            </p:cNvPr>
            <p:cNvSpPr>
              <a:spLocks noChangeShapeType="1"/>
            </p:cNvSpPr>
            <p:nvPr/>
          </p:nvSpPr>
          <p:spPr bwMode="auto">
            <a:xfrm flipH="1">
              <a:off x="5715000" y="609600"/>
              <a:ext cx="0" cy="15240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6" name="Text Box 23">
              <a:extLst>
                <a:ext uri="{FF2B5EF4-FFF2-40B4-BE49-F238E27FC236}">
                  <a16:creationId xmlns:a16="http://schemas.microsoft.com/office/drawing/2014/main" id="{9826FA41-E00F-4FFA-8402-19B25BC325A0}"/>
                </a:ext>
              </a:extLst>
            </p:cNvPr>
            <p:cNvSpPr txBox="1">
              <a:spLocks noChangeArrowheads="1"/>
            </p:cNvSpPr>
            <p:nvPr/>
          </p:nvSpPr>
          <p:spPr bwMode="auto">
            <a:xfrm>
              <a:off x="6477000" y="3352800"/>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err="1">
                  <a:latin typeface="Tahoma" panose="020B0604030504040204" pitchFamily="34" charset="0"/>
                </a:rPr>
                <a:t>TreeMap</a:t>
              </a:r>
              <a:endParaRPr lang="en-US" altLang="en-US" sz="2400" dirty="0">
                <a:latin typeface="Tahoma" panose="020B0604030504040204" pitchFamily="34" charset="0"/>
              </a:endParaRPr>
            </a:p>
          </p:txBody>
        </p:sp>
        <p:sp>
          <p:nvSpPr>
            <p:cNvPr id="8217" name="Text Box 24">
              <a:extLst>
                <a:ext uri="{FF2B5EF4-FFF2-40B4-BE49-F238E27FC236}">
                  <a16:creationId xmlns:a16="http://schemas.microsoft.com/office/drawing/2014/main" id="{10DF96A0-46E7-44F7-B6F8-263C2FD6D627}"/>
                </a:ext>
              </a:extLst>
            </p:cNvPr>
            <p:cNvSpPr txBox="1">
              <a:spLocks noChangeArrowheads="1"/>
            </p:cNvSpPr>
            <p:nvPr/>
          </p:nvSpPr>
          <p:spPr bwMode="auto">
            <a:xfrm>
              <a:off x="6248400" y="1066800"/>
              <a:ext cx="184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err="1">
                  <a:solidFill>
                    <a:srgbClr val="FF0000"/>
                  </a:solidFill>
                  <a:latin typeface="Tahoma" panose="020B0604030504040204" pitchFamily="34" charset="0"/>
                </a:rPr>
                <a:t>SortedMap</a:t>
              </a:r>
              <a:endParaRPr lang="en-US" altLang="en-US" sz="2400" dirty="0">
                <a:solidFill>
                  <a:srgbClr val="FF0000"/>
                </a:solidFill>
                <a:latin typeface="Tahoma" panose="020B0604030504040204" pitchFamily="34" charset="0"/>
              </a:endParaRPr>
            </a:p>
          </p:txBody>
        </p:sp>
        <p:sp>
          <p:nvSpPr>
            <p:cNvPr id="8218" name="Text Box 25">
              <a:extLst>
                <a:ext uri="{FF2B5EF4-FFF2-40B4-BE49-F238E27FC236}">
                  <a16:creationId xmlns:a16="http://schemas.microsoft.com/office/drawing/2014/main" id="{047B06B4-6962-4311-804C-7B17CB954599}"/>
                </a:ext>
              </a:extLst>
            </p:cNvPr>
            <p:cNvSpPr txBox="1">
              <a:spLocks noChangeArrowheads="1"/>
            </p:cNvSpPr>
            <p:nvPr/>
          </p:nvSpPr>
          <p:spPr bwMode="auto">
            <a:xfrm>
              <a:off x="6476999" y="228600"/>
              <a:ext cx="21256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dirty="0">
                  <a:solidFill>
                    <a:srgbClr val="FF0000"/>
                  </a:solidFill>
                  <a:latin typeface="Tahoma" panose="020B0604030504040204" pitchFamily="34" charset="0"/>
                </a:rPr>
                <a:t>Sub-interface</a:t>
              </a:r>
            </a:p>
            <a:p>
              <a:pPr>
                <a:spcBef>
                  <a:spcPct val="0"/>
                </a:spcBef>
                <a:buFontTx/>
                <a:buNone/>
              </a:pPr>
              <a:r>
                <a:rPr lang="en-US" altLang="en-US" sz="1600" dirty="0">
                  <a:solidFill>
                    <a:srgbClr val="FF0000"/>
                  </a:solidFill>
                  <a:latin typeface="Tahoma" panose="020B0604030504040204" pitchFamily="34" charset="0"/>
                </a:rPr>
                <a:t>extends Collection</a:t>
              </a:r>
            </a:p>
          </p:txBody>
        </p:sp>
        <p:sp>
          <p:nvSpPr>
            <p:cNvPr id="8219" name="Text Box 26">
              <a:extLst>
                <a:ext uri="{FF2B5EF4-FFF2-40B4-BE49-F238E27FC236}">
                  <a16:creationId xmlns:a16="http://schemas.microsoft.com/office/drawing/2014/main" id="{61F9FFD4-BC17-4C54-852A-7A1D080A090E}"/>
                </a:ext>
              </a:extLst>
            </p:cNvPr>
            <p:cNvSpPr txBox="1">
              <a:spLocks noChangeArrowheads="1"/>
            </p:cNvSpPr>
            <p:nvPr/>
          </p:nvSpPr>
          <p:spPr bwMode="auto">
            <a:xfrm>
              <a:off x="7239000" y="21336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dirty="0">
                  <a:latin typeface="Tahoma" panose="020B0604030504040204" pitchFamily="34" charset="0"/>
                </a:rPr>
                <a:t>Implementing </a:t>
              </a:r>
            </a:p>
            <a:p>
              <a:pPr>
                <a:spcBef>
                  <a:spcPct val="0"/>
                </a:spcBef>
                <a:buFontTx/>
                <a:buNone/>
              </a:pPr>
              <a:r>
                <a:rPr lang="en-US" altLang="en-US" sz="1600" dirty="0">
                  <a:latin typeface="Tahoma" panose="020B0604030504040204" pitchFamily="34" charset="0"/>
                </a:rPr>
                <a:t>Classes</a:t>
              </a:r>
            </a:p>
          </p:txBody>
        </p:sp>
        <p:sp>
          <p:nvSpPr>
            <p:cNvPr id="8220" name="Text Box 27">
              <a:extLst>
                <a:ext uri="{FF2B5EF4-FFF2-40B4-BE49-F238E27FC236}">
                  <a16:creationId xmlns:a16="http://schemas.microsoft.com/office/drawing/2014/main" id="{3924F03F-B39D-4D0C-87B7-F1E63902F86C}"/>
                </a:ext>
              </a:extLst>
            </p:cNvPr>
            <p:cNvSpPr txBox="1">
              <a:spLocks noChangeArrowheads="1"/>
            </p:cNvSpPr>
            <p:nvPr/>
          </p:nvSpPr>
          <p:spPr bwMode="auto">
            <a:xfrm>
              <a:off x="4114800" y="11430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8221" name="Line 28">
              <a:extLst>
                <a:ext uri="{FF2B5EF4-FFF2-40B4-BE49-F238E27FC236}">
                  <a16:creationId xmlns:a16="http://schemas.microsoft.com/office/drawing/2014/main" id="{7850E23A-C7C8-464E-93AA-86B588D781FD}"/>
                </a:ext>
              </a:extLst>
            </p:cNvPr>
            <p:cNvSpPr>
              <a:spLocks noChangeShapeType="1"/>
            </p:cNvSpPr>
            <p:nvPr/>
          </p:nvSpPr>
          <p:spPr bwMode="auto">
            <a:xfrm flipH="1">
              <a:off x="7162800" y="1524000"/>
              <a:ext cx="0" cy="18288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2" name="Text Box 29">
              <a:extLst>
                <a:ext uri="{FF2B5EF4-FFF2-40B4-BE49-F238E27FC236}">
                  <a16:creationId xmlns:a16="http://schemas.microsoft.com/office/drawing/2014/main" id="{FAF2D4CC-D418-47FE-83EE-435698882D70}"/>
                </a:ext>
              </a:extLst>
            </p:cNvPr>
            <p:cNvSpPr txBox="1">
              <a:spLocks noChangeArrowheads="1"/>
            </p:cNvSpPr>
            <p:nvPr/>
          </p:nvSpPr>
          <p:spPr bwMode="auto">
            <a:xfrm>
              <a:off x="4724400" y="2057400"/>
              <a:ext cx="1787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Tahoma" panose="020B0604030504040204" pitchFamily="34" charset="0"/>
                </a:rPr>
                <a:t>HashMap</a:t>
              </a:r>
            </a:p>
            <a:p>
              <a:pPr>
                <a:spcBef>
                  <a:spcPct val="0"/>
                </a:spcBef>
                <a:buFontTx/>
                <a:buNone/>
              </a:pPr>
              <a:r>
                <a:rPr lang="en-US" altLang="en-US" sz="2400" dirty="0" err="1">
                  <a:latin typeface="Tahoma" panose="020B0604030504040204" pitchFamily="34" charset="0"/>
                </a:rPr>
                <a:t>HashTable</a:t>
              </a:r>
              <a:endParaRPr lang="en-US" altLang="en-US" sz="2400" dirty="0">
                <a:latin typeface="Tahoma" panose="020B0604030504040204" pitchFamily="34" charset="0"/>
              </a:endParaRPr>
            </a:p>
          </p:txBody>
        </p:sp>
        <p:sp>
          <p:nvSpPr>
            <p:cNvPr id="8223" name="Line 30">
              <a:extLst>
                <a:ext uri="{FF2B5EF4-FFF2-40B4-BE49-F238E27FC236}">
                  <a16:creationId xmlns:a16="http://schemas.microsoft.com/office/drawing/2014/main" id="{80EE3BD1-8CD2-4461-876B-F53345A219DB}"/>
                </a:ext>
              </a:extLst>
            </p:cNvPr>
            <p:cNvSpPr>
              <a:spLocks noChangeShapeType="1"/>
            </p:cNvSpPr>
            <p:nvPr/>
          </p:nvSpPr>
          <p:spPr bwMode="auto">
            <a:xfrm>
              <a:off x="3200400" y="1295400"/>
              <a:ext cx="3429000" cy="4191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4" name="Text Box 31">
              <a:extLst>
                <a:ext uri="{FF2B5EF4-FFF2-40B4-BE49-F238E27FC236}">
                  <a16:creationId xmlns:a16="http://schemas.microsoft.com/office/drawing/2014/main" id="{CAB7BDEC-9D4A-4049-8999-5E75F76344B9}"/>
                </a:ext>
              </a:extLst>
            </p:cNvPr>
            <p:cNvSpPr txBox="1">
              <a:spLocks noChangeArrowheads="1"/>
            </p:cNvSpPr>
            <p:nvPr/>
          </p:nvSpPr>
          <p:spPr bwMode="auto">
            <a:xfrm>
              <a:off x="1066800" y="7315200"/>
              <a:ext cx="419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1400">
                <a:latin typeface="Courier New" panose="02070309020205020404" pitchFamily="49" charset="0"/>
              </a:endParaRPr>
            </a:p>
          </p:txBody>
        </p:sp>
        <p:sp>
          <p:nvSpPr>
            <p:cNvPr id="5" name="TextBox 2">
              <a:extLst>
                <a:ext uri="{FF2B5EF4-FFF2-40B4-BE49-F238E27FC236}">
                  <a16:creationId xmlns:a16="http://schemas.microsoft.com/office/drawing/2014/main" id="{2D83C70E-C2FD-35BA-363E-13BD2F7746F1}"/>
                </a:ext>
              </a:extLst>
            </p:cNvPr>
            <p:cNvSpPr txBox="1">
              <a:spLocks noChangeArrowheads="1"/>
            </p:cNvSpPr>
            <p:nvPr/>
          </p:nvSpPr>
          <p:spPr bwMode="auto">
            <a:xfrm>
              <a:off x="-19050" y="0"/>
              <a:ext cx="1463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solidFill>
                    <a:srgbClr val="7030A0"/>
                  </a:solidFill>
                  <a:highlight>
                    <a:srgbClr val="FFFF00"/>
                  </a:highlight>
                  <a:latin typeface="Arial" panose="020B0604020202020204" pitchFamily="34" charset="0"/>
                  <a:cs typeface="Arial" panose="020B0604020202020204" pitchFamily="34" charset="0"/>
                </a:rPr>
                <a:t>Iterable</a:t>
              </a:r>
              <a:endParaRPr lang="en-US" altLang="en-US" sz="2800" dirty="0">
                <a:solidFill>
                  <a:srgbClr val="7030A0"/>
                </a:solidFill>
                <a:highlight>
                  <a:srgbClr val="FFFF00"/>
                </a:highlight>
                <a:latin typeface="Arial" panose="020B0604020202020204" pitchFamily="34" charset="0"/>
                <a:cs typeface="Arial" panose="020B0604020202020204" pitchFamily="34" charset="0"/>
              </a:endParaRPr>
            </a:p>
          </p:txBody>
        </p:sp>
        <p:cxnSp>
          <p:nvCxnSpPr>
            <p:cNvPr id="6" name="Straight Arrow Connector 4">
              <a:extLst>
                <a:ext uri="{FF2B5EF4-FFF2-40B4-BE49-F238E27FC236}">
                  <a16:creationId xmlns:a16="http://schemas.microsoft.com/office/drawing/2014/main" id="{F6155D2C-6851-A811-5D08-DCA387223704}"/>
                </a:ext>
              </a:extLst>
            </p:cNvPr>
            <p:cNvCxnSpPr>
              <a:cxnSpLocks noChangeShapeType="1"/>
              <a:stCxn id="5" idx="2"/>
            </p:cNvCxnSpPr>
            <p:nvPr/>
          </p:nvCxnSpPr>
          <p:spPr bwMode="auto">
            <a:xfrm>
              <a:off x="712788" y="523875"/>
              <a:ext cx="277812" cy="390525"/>
            </a:xfrm>
            <a:prstGeom prst="straightConnector1">
              <a:avLst/>
            </a:prstGeom>
            <a:noFill/>
            <a:ln w="57150" algn="ctr">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Java Collections Hierarchy Relationships Enumerated with Abstract Classes&#10;&#10;Collections&#10;Collection interface extends Iterable Interface and is the root of the collections hierarchy.&#10;List and Set interfaces extend Collection interface&#10;AbstractCollection class implements Collection interface&#10;AbstractList class extends AbstractCollection class and implements List interface&#10;AbstractSet class extends AbstractCollection class and implements Set interface&#10;ArrayList class extends AbstractList class and implements List and RandomAccess interfaces&#10;AbstractSequentialList class extends AbstractList class and implements List interface&#10;LinkedList class extends AbstractSequentialList class and implements List interface&#10;AbstractSet class extends AbstractCollection class and implements Collection interface&#10;HashSet class extends AbstractSet class and implements Set interface&#10;SortedSet interface extends Set interface&#10;TreeSet class extends AbstractSet class and implements SortedSet class&#10;&#10;Maps&#10;Map interface is the root of the map hierarchy&#10;AbstractMap class implements Map interface&#10;HashMap class extends AbstractMap class and implements Map interface&#10;SortedMap interface extends Map&#10;TreeMap class implements SortMap interface&#10;">
            <a:extLst>
              <a:ext uri="{FF2B5EF4-FFF2-40B4-BE49-F238E27FC236}">
                <a16:creationId xmlns:a16="http://schemas.microsoft.com/office/drawing/2014/main" id="{8F124D07-C37A-446B-A3B5-D53D541D7AB7}"/>
              </a:ext>
            </a:extLst>
          </p:cNvPr>
          <p:cNvPicPr>
            <a:picLocks noChangeAspect="1"/>
          </p:cNvPicPr>
          <p:nvPr/>
        </p:nvPicPr>
        <p:blipFill rotWithShape="1">
          <a:blip r:embed="rId2">
            <a:extLst>
              <a:ext uri="{28A0092B-C50C-407E-A947-70E740481C1C}">
                <a14:useLocalDpi xmlns:a14="http://schemas.microsoft.com/office/drawing/2010/main" val="0"/>
              </a:ext>
            </a:extLst>
          </a:blip>
          <a:srcRect l="7929" t="10000" r="19091" b="22222"/>
          <a:stretch/>
        </p:blipFill>
        <p:spPr>
          <a:xfrm>
            <a:off x="76200" y="152400"/>
            <a:ext cx="8915400" cy="6398111"/>
          </a:xfrm>
          <a:prstGeom prst="rect">
            <a:avLst/>
          </a:prstGeom>
        </p:spPr>
      </p:pic>
      <p:sp>
        <p:nvSpPr>
          <p:cNvPr id="3" name="TextBox 2">
            <a:extLst>
              <a:ext uri="{FF2B5EF4-FFF2-40B4-BE49-F238E27FC236}">
                <a16:creationId xmlns:a16="http://schemas.microsoft.com/office/drawing/2014/main" id="{5918C3E0-5D8F-4E87-BFEE-A7B6360ED305}"/>
              </a:ext>
            </a:extLst>
          </p:cNvPr>
          <p:cNvSpPr txBox="1"/>
          <p:nvPr/>
        </p:nvSpPr>
        <p:spPr>
          <a:xfrm>
            <a:off x="1725828" y="652670"/>
            <a:ext cx="1043876" cy="307777"/>
          </a:xfrm>
          <a:prstGeom prst="rect">
            <a:avLst/>
          </a:prstGeom>
          <a:noFill/>
          <a:ln w="19050">
            <a:solidFill>
              <a:schemeClr val="tx1"/>
            </a:solidFill>
          </a:ln>
        </p:spPr>
        <p:txBody>
          <a:bodyPr wrap="none" rtlCol="0">
            <a:spAutoFit/>
          </a:bodyPr>
          <a:lstStyle/>
          <a:p>
            <a:r>
              <a:rPr lang="en-US" sz="1400" b="0" dirty="0" err="1">
                <a:latin typeface="Courier New" panose="02070309020205020404" pitchFamily="49" charset="0"/>
                <a:cs typeface="Courier New" panose="02070309020205020404" pitchFamily="49" charset="0"/>
              </a:rPr>
              <a:t>Iterable</a:t>
            </a:r>
            <a:endParaRPr lang="en-US" sz="1400" b="0" dirty="0">
              <a:latin typeface="Courier New" panose="02070309020205020404" pitchFamily="49" charset="0"/>
              <a:cs typeface="Courier New" panose="02070309020205020404" pitchFamily="49" charset="0"/>
            </a:endParaRPr>
          </a:p>
        </p:txBody>
      </p:sp>
      <p:cxnSp>
        <p:nvCxnSpPr>
          <p:cNvPr id="4" name="Straight Arrow Connector 3">
            <a:extLst>
              <a:ext uri="{FF2B5EF4-FFF2-40B4-BE49-F238E27FC236}">
                <a16:creationId xmlns:a16="http://schemas.microsoft.com/office/drawing/2014/main" id="{5563B4E6-D5CA-4017-9824-ABCBD8B2B3B6}"/>
              </a:ext>
            </a:extLst>
          </p:cNvPr>
          <p:cNvCxnSpPr>
            <a:cxnSpLocks/>
          </p:cNvCxnSpPr>
          <p:nvPr/>
        </p:nvCxnSpPr>
        <p:spPr bwMode="auto">
          <a:xfrm flipV="1">
            <a:off x="2247766" y="960447"/>
            <a:ext cx="0" cy="454223"/>
          </a:xfrm>
          <a:prstGeom prst="straightConnector1">
            <a:avLst/>
          </a:prstGeom>
          <a:solidFill>
            <a:schemeClr val="accent1"/>
          </a:solidFill>
          <a:ln w="127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Arrow Connector 4">
            <a:extLst>
              <a:ext uri="{FF2B5EF4-FFF2-40B4-BE49-F238E27FC236}">
                <a16:creationId xmlns:a16="http://schemas.microsoft.com/office/drawing/2014/main" id="{CB849705-AFFA-C4CA-BAEE-0CF4A0D59E17}"/>
              </a:ext>
            </a:extLst>
          </p:cNvPr>
          <p:cNvCxnSpPr/>
          <p:nvPr/>
        </p:nvCxnSpPr>
        <p:spPr bwMode="auto">
          <a:xfrm flipV="1">
            <a:off x="4953000" y="2667000"/>
            <a:ext cx="381000" cy="1219200"/>
          </a:xfrm>
          <a:prstGeom prst="straightConnector1">
            <a:avLst/>
          </a:prstGeom>
          <a:solidFill>
            <a:schemeClr val="accent1"/>
          </a:solidFill>
          <a:ln w="1905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2908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C78BC4AB-5549-4ADA-B399-630226952B1F}"/>
              </a:ext>
            </a:extLst>
          </p:cNvPr>
          <p:cNvSpPr>
            <a:spLocks noGrp="1"/>
          </p:cNvSpPr>
          <p:nvPr>
            <p:ph type="ftr" sz="quarter" idx="12"/>
          </p:nvPr>
        </p:nvSpPr>
        <p:spPr>
          <a:xfrm>
            <a:off x="6210300" y="6232525"/>
            <a:ext cx="2895600" cy="457200"/>
          </a:xfrm>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10243" name="Text Box 2">
            <a:extLst>
              <a:ext uri="{FF2B5EF4-FFF2-40B4-BE49-F238E27FC236}">
                <a16:creationId xmlns:a16="http://schemas.microsoft.com/office/drawing/2014/main" id="{61C2E6BA-F57B-4A50-9B40-3BF5703C55AF}"/>
              </a:ext>
            </a:extLst>
          </p:cNvPr>
          <p:cNvSpPr txBox="1">
            <a:spLocks noChangeArrowheads="1"/>
          </p:cNvSpPr>
          <p:nvPr/>
        </p:nvSpPr>
        <p:spPr bwMode="auto">
          <a:xfrm>
            <a:off x="381000" y="1752600"/>
            <a:ext cx="8305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latin typeface="Tahoma" panose="020B0604030504040204" pitchFamily="34" charset="0"/>
              </a:rPr>
              <a:t>The Collection interface is the parent of List and Set.  It lists methods such as add(), clear(), remove(), and size() that every Collection must have.</a:t>
            </a:r>
            <a:endParaRPr lang="en-US" altLang="en-US" sz="2400" dirty="0">
              <a:latin typeface="Courier New" panose="02070309020205020404" pitchFamily="49" charset="0"/>
            </a:endParaRPr>
          </a:p>
        </p:txBody>
      </p:sp>
      <p:sp>
        <p:nvSpPr>
          <p:cNvPr id="10244" name="WordArt 3">
            <a:extLst>
              <a:ext uri="{FF2B5EF4-FFF2-40B4-BE49-F238E27FC236}">
                <a16:creationId xmlns:a16="http://schemas.microsoft.com/office/drawing/2014/main" id="{32ACEED4-FB07-452F-B201-BE5C90DF1825}"/>
              </a:ext>
            </a:extLst>
          </p:cNvPr>
          <p:cNvSpPr>
            <a:spLocks noChangeArrowheads="1" noChangeShapeType="1" noTextEdit="1"/>
          </p:cNvSpPr>
          <p:nvPr/>
        </p:nvSpPr>
        <p:spPr bwMode="auto">
          <a:xfrm>
            <a:off x="685800" y="304800"/>
            <a:ext cx="77724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The Collection Interface</a:t>
            </a:r>
          </a:p>
        </p:txBody>
      </p:sp>
      <p:grpSp>
        <p:nvGrpSpPr>
          <p:cNvPr id="2" name="Group 1" descr="The Collection interface is the parent of List and Set.">
            <a:extLst>
              <a:ext uri="{FF2B5EF4-FFF2-40B4-BE49-F238E27FC236}">
                <a16:creationId xmlns:a16="http://schemas.microsoft.com/office/drawing/2014/main" id="{9A102438-6B5F-90D7-9FBD-DE2363B33AC2}"/>
              </a:ext>
            </a:extLst>
          </p:cNvPr>
          <p:cNvGrpSpPr/>
          <p:nvPr/>
        </p:nvGrpSpPr>
        <p:grpSpPr>
          <a:xfrm>
            <a:off x="1905000" y="3565525"/>
            <a:ext cx="5334000" cy="2225675"/>
            <a:chOff x="1828800" y="3962400"/>
            <a:chExt cx="5334000" cy="2225675"/>
          </a:xfrm>
        </p:grpSpPr>
        <p:sp>
          <p:nvSpPr>
            <p:cNvPr id="10245" name="Rectangle 4">
              <a:extLst>
                <a:ext uri="{FF2B5EF4-FFF2-40B4-BE49-F238E27FC236}">
                  <a16:creationId xmlns:a16="http://schemas.microsoft.com/office/drawing/2014/main" id="{14FA860C-8EE4-4A5B-B944-2029EFCBEDBD}"/>
                </a:ext>
              </a:extLst>
            </p:cNvPr>
            <p:cNvSpPr>
              <a:spLocks noChangeArrowheads="1"/>
            </p:cNvSpPr>
            <p:nvPr/>
          </p:nvSpPr>
          <p:spPr bwMode="auto">
            <a:xfrm>
              <a:off x="3200400" y="3962400"/>
              <a:ext cx="2133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a:latin typeface="Tahoma" panose="020B0604030504040204" pitchFamily="34" charset="0"/>
                </a:rPr>
                <a:t>Collection</a:t>
              </a:r>
            </a:p>
          </p:txBody>
        </p:sp>
        <p:sp>
          <p:nvSpPr>
            <p:cNvPr id="10246" name="Line 5">
              <a:extLst>
                <a:ext uri="{FF2B5EF4-FFF2-40B4-BE49-F238E27FC236}">
                  <a16:creationId xmlns:a16="http://schemas.microsoft.com/office/drawing/2014/main" id="{EF6EFC2A-ADC2-44C5-B2F2-7EDBCC4C9134}"/>
                </a:ext>
              </a:extLst>
            </p:cNvPr>
            <p:cNvSpPr>
              <a:spLocks noChangeShapeType="1"/>
            </p:cNvSpPr>
            <p:nvPr/>
          </p:nvSpPr>
          <p:spPr bwMode="auto">
            <a:xfrm rot="10800000" flipH="1">
              <a:off x="2933700" y="4523509"/>
              <a:ext cx="533400" cy="457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6">
              <a:extLst>
                <a:ext uri="{FF2B5EF4-FFF2-40B4-BE49-F238E27FC236}">
                  <a16:creationId xmlns:a16="http://schemas.microsoft.com/office/drawing/2014/main" id="{5FFEFEA9-C676-426D-A3F0-E3F90554AE03}"/>
                </a:ext>
              </a:extLst>
            </p:cNvPr>
            <p:cNvSpPr>
              <a:spLocks noChangeShapeType="1"/>
            </p:cNvSpPr>
            <p:nvPr/>
          </p:nvSpPr>
          <p:spPr bwMode="auto">
            <a:xfrm rot="10800000">
              <a:off x="4970318" y="4495800"/>
              <a:ext cx="381000" cy="457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Rectangle 7">
              <a:extLst>
                <a:ext uri="{FF2B5EF4-FFF2-40B4-BE49-F238E27FC236}">
                  <a16:creationId xmlns:a16="http://schemas.microsoft.com/office/drawing/2014/main" id="{BF5170B6-24B7-4668-B18A-89554A5F205F}"/>
                </a:ext>
              </a:extLst>
            </p:cNvPr>
            <p:cNvSpPr>
              <a:spLocks noChangeArrowheads="1"/>
            </p:cNvSpPr>
            <p:nvPr/>
          </p:nvSpPr>
          <p:spPr bwMode="auto">
            <a:xfrm>
              <a:off x="1828800" y="49530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List</a:t>
              </a:r>
            </a:p>
          </p:txBody>
        </p:sp>
        <p:sp>
          <p:nvSpPr>
            <p:cNvPr id="10249" name="Rectangle 8">
              <a:extLst>
                <a:ext uri="{FF2B5EF4-FFF2-40B4-BE49-F238E27FC236}">
                  <a16:creationId xmlns:a16="http://schemas.microsoft.com/office/drawing/2014/main" id="{95FEBBBF-F68B-4B0E-B575-9A0CC6FBF9F4}"/>
                </a:ext>
              </a:extLst>
            </p:cNvPr>
            <p:cNvSpPr>
              <a:spLocks noChangeArrowheads="1"/>
            </p:cNvSpPr>
            <p:nvPr/>
          </p:nvSpPr>
          <p:spPr bwMode="auto">
            <a:xfrm>
              <a:off x="4800600" y="49530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Set</a:t>
              </a:r>
            </a:p>
          </p:txBody>
        </p:sp>
        <p:sp>
          <p:nvSpPr>
            <p:cNvPr id="10250" name="Text Box 9">
              <a:extLst>
                <a:ext uri="{FF2B5EF4-FFF2-40B4-BE49-F238E27FC236}">
                  <a16:creationId xmlns:a16="http://schemas.microsoft.com/office/drawing/2014/main" id="{FB264332-D466-40AB-B989-CD4744E6116F}"/>
                </a:ext>
              </a:extLst>
            </p:cNvPr>
            <p:cNvSpPr txBox="1">
              <a:spLocks noChangeArrowheads="1"/>
            </p:cNvSpPr>
            <p:nvPr/>
          </p:nvSpPr>
          <p:spPr bwMode="auto">
            <a:xfrm>
              <a:off x="3200400" y="5791200"/>
              <a:ext cx="213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Tahoma" panose="020B0604030504040204" pitchFamily="34" charset="0"/>
                </a:rPr>
                <a:t>others not shown</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B6CFAE39-2E0D-4BE9-9358-94C542ADAB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2291" name="Text Box 2">
            <a:extLst>
              <a:ext uri="{FF2B5EF4-FFF2-40B4-BE49-F238E27FC236}">
                <a16:creationId xmlns:a16="http://schemas.microsoft.com/office/drawing/2014/main" id="{8F3BE02D-4EB7-4BAA-92DC-57CBD244302E}"/>
              </a:ext>
            </a:extLst>
          </p:cNvPr>
          <p:cNvSpPr txBox="1">
            <a:spLocks noChangeArrowheads="1"/>
          </p:cNvSpPr>
          <p:nvPr/>
        </p:nvSpPr>
        <p:spPr bwMode="auto">
          <a:xfrm>
            <a:off x="838200" y="1228808"/>
            <a:ext cx="815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dirty="0">
                <a:latin typeface="Tahoma" panose="020B0604030504040204" pitchFamily="34" charset="0"/>
              </a:rPr>
              <a:t>The Set interface extends the Collection interface.</a:t>
            </a:r>
          </a:p>
        </p:txBody>
      </p:sp>
      <p:sp>
        <p:nvSpPr>
          <p:cNvPr id="12292" name="WordArt 3">
            <a:extLst>
              <a:ext uri="{FF2B5EF4-FFF2-40B4-BE49-F238E27FC236}">
                <a16:creationId xmlns:a16="http://schemas.microsoft.com/office/drawing/2014/main" id="{CAC941BC-C8C7-44C2-93B3-F7378EEB4BDE}"/>
              </a:ext>
            </a:extLst>
          </p:cNvPr>
          <p:cNvSpPr>
            <a:spLocks noChangeArrowheads="1" noChangeShapeType="1" noTextEdit="1"/>
          </p:cNvSpPr>
          <p:nvPr/>
        </p:nvSpPr>
        <p:spPr bwMode="auto">
          <a:xfrm>
            <a:off x="1371600" y="228600"/>
            <a:ext cx="6019800" cy="533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The Set Interface</a:t>
            </a:r>
          </a:p>
        </p:txBody>
      </p:sp>
      <p:grpSp>
        <p:nvGrpSpPr>
          <p:cNvPr id="4" name="Group 3" descr="The Set interface implemented by the AbstractSet class and is the super-interface of the SortedSet interface.&#10;AbstractSet is the superclass of the HashSet and TreeSet classes.&#10;SortedSet is implemented by the TreeSet class.">
            <a:extLst>
              <a:ext uri="{FF2B5EF4-FFF2-40B4-BE49-F238E27FC236}">
                <a16:creationId xmlns:a16="http://schemas.microsoft.com/office/drawing/2014/main" id="{4F3F17FD-F48F-EA89-A3A7-F3D4B001EB34}"/>
              </a:ext>
            </a:extLst>
          </p:cNvPr>
          <p:cNvGrpSpPr/>
          <p:nvPr/>
        </p:nvGrpSpPr>
        <p:grpSpPr>
          <a:xfrm>
            <a:off x="1371600" y="2119527"/>
            <a:ext cx="6743699" cy="3519273"/>
            <a:chOff x="1371600" y="2119527"/>
            <a:chExt cx="6743699" cy="3519273"/>
          </a:xfrm>
        </p:grpSpPr>
        <p:sp>
          <p:nvSpPr>
            <p:cNvPr id="12299" name="Rectangle 10">
              <a:extLst>
                <a:ext uri="{FF2B5EF4-FFF2-40B4-BE49-F238E27FC236}">
                  <a16:creationId xmlns:a16="http://schemas.microsoft.com/office/drawing/2014/main" id="{FF43D782-AECC-4C8D-AEF9-BCF23950D59C}"/>
                </a:ext>
              </a:extLst>
            </p:cNvPr>
            <p:cNvSpPr>
              <a:spLocks noChangeArrowheads="1"/>
            </p:cNvSpPr>
            <p:nvPr/>
          </p:nvSpPr>
          <p:spPr bwMode="auto">
            <a:xfrm>
              <a:off x="4057647" y="50292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TreeSet</a:t>
              </a:r>
            </a:p>
          </p:txBody>
        </p:sp>
        <p:sp>
          <p:nvSpPr>
            <p:cNvPr id="12293" name="Rectangle 4">
              <a:extLst>
                <a:ext uri="{FF2B5EF4-FFF2-40B4-BE49-F238E27FC236}">
                  <a16:creationId xmlns:a16="http://schemas.microsoft.com/office/drawing/2014/main" id="{C5F0FFBF-81EB-4AE7-8390-B8E481CFCAF2}"/>
                </a:ext>
              </a:extLst>
            </p:cNvPr>
            <p:cNvSpPr>
              <a:spLocks noChangeArrowheads="1"/>
            </p:cNvSpPr>
            <p:nvPr/>
          </p:nvSpPr>
          <p:spPr bwMode="auto">
            <a:xfrm>
              <a:off x="2819400" y="3619500"/>
              <a:ext cx="1905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err="1">
                  <a:latin typeface="Tahoma" panose="020B0604030504040204" pitchFamily="34" charset="0"/>
                </a:rPr>
                <a:t>AbstractSet</a:t>
              </a:r>
              <a:endParaRPr lang="en-US" altLang="en-US" sz="2800" b="0" dirty="0">
                <a:latin typeface="Tahoma" panose="020B0604030504040204" pitchFamily="34" charset="0"/>
              </a:endParaRPr>
            </a:p>
          </p:txBody>
        </p:sp>
        <p:grpSp>
          <p:nvGrpSpPr>
            <p:cNvPr id="5" name="Group 4">
              <a:extLst>
                <a:ext uri="{FF2B5EF4-FFF2-40B4-BE49-F238E27FC236}">
                  <a16:creationId xmlns:a16="http://schemas.microsoft.com/office/drawing/2014/main" id="{00962F8C-449B-42BD-B2E2-B84AB224C3F7}"/>
                </a:ext>
              </a:extLst>
            </p:cNvPr>
            <p:cNvGrpSpPr/>
            <p:nvPr/>
          </p:nvGrpSpPr>
          <p:grpSpPr>
            <a:xfrm>
              <a:off x="1371600" y="4229100"/>
              <a:ext cx="1828800" cy="1066800"/>
              <a:chOff x="1295400" y="4038600"/>
              <a:chExt cx="1828800" cy="1066800"/>
            </a:xfrm>
          </p:grpSpPr>
          <p:sp>
            <p:nvSpPr>
              <p:cNvPr id="12294" name="Line 5">
                <a:extLst>
                  <a:ext uri="{FF2B5EF4-FFF2-40B4-BE49-F238E27FC236}">
                    <a16:creationId xmlns:a16="http://schemas.microsoft.com/office/drawing/2014/main" id="{2976367E-1B7B-4130-9326-0C9B0A74D1BA}"/>
                  </a:ext>
                </a:extLst>
              </p:cNvPr>
              <p:cNvSpPr>
                <a:spLocks noChangeShapeType="1"/>
              </p:cNvSpPr>
              <p:nvPr/>
            </p:nvSpPr>
            <p:spPr bwMode="auto">
              <a:xfrm rot="10800000" flipH="1">
                <a:off x="2514600" y="4038600"/>
                <a:ext cx="533400" cy="457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en-US" dirty="0"/>
              </a:p>
            </p:txBody>
          </p:sp>
          <p:sp>
            <p:nvSpPr>
              <p:cNvPr id="12296" name="Rectangle 7">
                <a:extLst>
                  <a:ext uri="{FF2B5EF4-FFF2-40B4-BE49-F238E27FC236}">
                    <a16:creationId xmlns:a16="http://schemas.microsoft.com/office/drawing/2014/main" id="{C463120F-F8AF-4499-9065-7BD13CD05B29}"/>
                  </a:ext>
                </a:extLst>
              </p:cNvPr>
              <p:cNvSpPr>
                <a:spLocks noChangeArrowheads="1"/>
              </p:cNvSpPr>
              <p:nvPr/>
            </p:nvSpPr>
            <p:spPr bwMode="auto">
              <a:xfrm>
                <a:off x="1295400" y="44958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a:latin typeface="Tahoma" panose="020B0604030504040204" pitchFamily="34" charset="0"/>
                  </a:rPr>
                  <a:t>HashSet</a:t>
                </a:r>
              </a:p>
            </p:txBody>
          </p:sp>
        </p:grpSp>
        <p:sp>
          <p:nvSpPr>
            <p:cNvPr id="12295" name="Line 6">
              <a:extLst>
                <a:ext uri="{FF2B5EF4-FFF2-40B4-BE49-F238E27FC236}">
                  <a16:creationId xmlns:a16="http://schemas.microsoft.com/office/drawing/2014/main" id="{28C419C4-45C0-42BD-A3DB-6297781CF51F}"/>
                </a:ext>
              </a:extLst>
            </p:cNvPr>
            <p:cNvSpPr>
              <a:spLocks noChangeShapeType="1"/>
            </p:cNvSpPr>
            <p:nvPr/>
          </p:nvSpPr>
          <p:spPr bwMode="auto">
            <a:xfrm rot="10800000">
              <a:off x="4724398" y="3047997"/>
              <a:ext cx="1028699" cy="719695"/>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Rectangle 8">
              <a:extLst>
                <a:ext uri="{FF2B5EF4-FFF2-40B4-BE49-F238E27FC236}">
                  <a16:creationId xmlns:a16="http://schemas.microsoft.com/office/drawing/2014/main" id="{5FA345AA-BF35-4813-BB3A-0FADA80B82F6}"/>
                </a:ext>
              </a:extLst>
            </p:cNvPr>
            <p:cNvSpPr>
              <a:spLocks noChangeArrowheads="1"/>
            </p:cNvSpPr>
            <p:nvPr/>
          </p:nvSpPr>
          <p:spPr bwMode="auto">
            <a:xfrm>
              <a:off x="5753099" y="3767693"/>
              <a:ext cx="2362200" cy="80636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err="1">
                  <a:latin typeface="Tahoma" panose="020B0604030504040204" pitchFamily="34" charset="0"/>
                </a:rPr>
                <a:t>SortedSet</a:t>
              </a:r>
              <a:endParaRPr lang="en-US" altLang="en-US" sz="2800" b="0" dirty="0">
                <a:latin typeface="Tahoma" panose="020B0604030504040204" pitchFamily="34" charset="0"/>
              </a:endParaRPr>
            </a:p>
            <a:p>
              <a:pPr algn="ctr" eaLnBrk="1" hangingPunct="1">
                <a:spcBef>
                  <a:spcPct val="0"/>
                </a:spcBef>
                <a:buFontTx/>
                <a:buNone/>
              </a:pPr>
              <a:r>
                <a:rPr lang="en-US" altLang="en-US" sz="2400" b="0" i="1" dirty="0">
                  <a:latin typeface="Tahoma" panose="020B0604030504040204" pitchFamily="34" charset="0"/>
                </a:rPr>
                <a:t>interface</a:t>
              </a:r>
              <a:endParaRPr lang="en-US" altLang="en-US" sz="2800" b="0" i="1" dirty="0">
                <a:latin typeface="Tahoma" panose="020B0604030504040204" pitchFamily="34" charset="0"/>
              </a:endParaRPr>
            </a:p>
          </p:txBody>
        </p:sp>
        <p:sp>
          <p:nvSpPr>
            <p:cNvPr id="2" name="Rectangle 4">
              <a:extLst>
                <a:ext uri="{FF2B5EF4-FFF2-40B4-BE49-F238E27FC236}">
                  <a16:creationId xmlns:a16="http://schemas.microsoft.com/office/drawing/2014/main" id="{0C213AC5-D167-DC51-B4AF-DE45BA8DEC57}"/>
                </a:ext>
              </a:extLst>
            </p:cNvPr>
            <p:cNvSpPr>
              <a:spLocks noChangeArrowheads="1"/>
            </p:cNvSpPr>
            <p:nvPr/>
          </p:nvSpPr>
          <p:spPr bwMode="auto">
            <a:xfrm>
              <a:off x="2819399" y="2119527"/>
              <a:ext cx="1904999" cy="92847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a:latin typeface="Tahoma" panose="020B0604030504040204" pitchFamily="34" charset="0"/>
                </a:rPr>
                <a:t>Set</a:t>
              </a:r>
            </a:p>
            <a:p>
              <a:pPr algn="ctr" eaLnBrk="1" hangingPunct="1">
                <a:spcBef>
                  <a:spcPct val="0"/>
                </a:spcBef>
                <a:buFontTx/>
                <a:buNone/>
              </a:pPr>
              <a:r>
                <a:rPr lang="en-US" altLang="en-US" sz="2400" b="0" i="1" dirty="0">
                  <a:latin typeface="Tahoma" panose="020B0604030504040204" pitchFamily="34" charset="0"/>
                </a:rPr>
                <a:t>interface</a:t>
              </a:r>
              <a:endParaRPr lang="en-US" altLang="en-US" sz="2800" b="0" dirty="0">
                <a:latin typeface="Tahoma" panose="020B0604030504040204" pitchFamily="34" charset="0"/>
              </a:endParaRPr>
            </a:p>
          </p:txBody>
        </p:sp>
        <p:sp>
          <p:nvSpPr>
            <p:cNvPr id="3" name="Line 5">
              <a:extLst>
                <a:ext uri="{FF2B5EF4-FFF2-40B4-BE49-F238E27FC236}">
                  <a16:creationId xmlns:a16="http://schemas.microsoft.com/office/drawing/2014/main" id="{B58169CE-D317-7D3E-63D9-009F406C6D4F}"/>
                </a:ext>
              </a:extLst>
            </p:cNvPr>
            <p:cNvSpPr>
              <a:spLocks noChangeShapeType="1"/>
            </p:cNvSpPr>
            <p:nvPr/>
          </p:nvSpPr>
          <p:spPr bwMode="auto">
            <a:xfrm rot="10800000" flipH="1">
              <a:off x="3771901" y="3048000"/>
              <a:ext cx="0" cy="5715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en-US" dirty="0"/>
            </a:p>
          </p:txBody>
        </p:sp>
        <p:sp>
          <p:nvSpPr>
            <p:cNvPr id="7" name="Line 9">
              <a:extLst>
                <a:ext uri="{FF2B5EF4-FFF2-40B4-BE49-F238E27FC236}">
                  <a16:creationId xmlns:a16="http://schemas.microsoft.com/office/drawing/2014/main" id="{6E2CE6C3-8D5F-4D61-91B0-AD0E89A5ADAB}"/>
                </a:ext>
              </a:extLst>
            </p:cNvPr>
            <p:cNvSpPr>
              <a:spLocks noChangeShapeType="1"/>
            </p:cNvSpPr>
            <p:nvPr/>
          </p:nvSpPr>
          <p:spPr bwMode="auto">
            <a:xfrm rot="10800000">
              <a:off x="4286244" y="4229100"/>
              <a:ext cx="438153" cy="8001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9">
              <a:extLst>
                <a:ext uri="{FF2B5EF4-FFF2-40B4-BE49-F238E27FC236}">
                  <a16:creationId xmlns:a16="http://schemas.microsoft.com/office/drawing/2014/main" id="{306A0930-55CF-CD5C-136E-37B044F189BE}"/>
                </a:ext>
              </a:extLst>
            </p:cNvPr>
            <p:cNvSpPr>
              <a:spLocks noChangeShapeType="1"/>
            </p:cNvSpPr>
            <p:nvPr/>
          </p:nvSpPr>
          <p:spPr bwMode="auto">
            <a:xfrm rot="10800000" flipH="1">
              <a:off x="6019800" y="4567792"/>
              <a:ext cx="914399" cy="461408"/>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BC1B88EC-49E6-4092-8938-6D29DD8FEB1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4339" name="WordArt 2050">
            <a:extLst>
              <a:ext uri="{FF2B5EF4-FFF2-40B4-BE49-F238E27FC236}">
                <a16:creationId xmlns:a16="http://schemas.microsoft.com/office/drawing/2014/main" id="{3E8DB039-486E-4DE5-A87A-27D33A6D65AE}"/>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
        <p:nvSpPr>
          <p:cNvPr id="14340" name="Text Box 2051">
            <a:extLst>
              <a:ext uri="{FF2B5EF4-FFF2-40B4-BE49-F238E27FC236}">
                <a16:creationId xmlns:a16="http://schemas.microsoft.com/office/drawing/2014/main" id="{13084CE6-491A-49F0-A981-9E97957801CD}"/>
              </a:ext>
            </a:extLst>
          </p:cNvPr>
          <p:cNvSpPr txBox="1">
            <a:spLocks noChangeArrowheads="1"/>
          </p:cNvSpPr>
          <p:nvPr/>
        </p:nvSpPr>
        <p:spPr bwMode="auto">
          <a:xfrm>
            <a:off x="1143000" y="2667000"/>
            <a:ext cx="6553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dirty="0">
                <a:solidFill>
                  <a:schemeClr val="tx2"/>
                </a:solidFill>
                <a:latin typeface="Tahoma" panose="020B0604030504040204" pitchFamily="34" charset="0"/>
              </a:rPr>
              <a:t>A set is a group of items all of the same type of which none are duplicates.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48D6CBF6-FE3E-4050-9B0D-7BCA6656492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6387" name="WordArt 2">
            <a:extLst>
              <a:ext uri="{FF2B5EF4-FFF2-40B4-BE49-F238E27FC236}">
                <a16:creationId xmlns:a16="http://schemas.microsoft.com/office/drawing/2014/main" id="{723E4013-9ABA-418F-9186-D9DBD67FC76E}"/>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
        <p:nvSpPr>
          <p:cNvPr id="16388" name="Text Box 3">
            <a:extLst>
              <a:ext uri="{FF2B5EF4-FFF2-40B4-BE49-F238E27FC236}">
                <a16:creationId xmlns:a16="http://schemas.microsoft.com/office/drawing/2014/main" id="{AAD5F1C6-15D2-46CC-8FE1-DE3C1F027A61}"/>
              </a:ext>
            </a:extLst>
          </p:cNvPr>
          <p:cNvSpPr txBox="1">
            <a:spLocks noChangeArrowheads="1"/>
          </p:cNvSpPr>
          <p:nvPr/>
        </p:nvSpPr>
        <p:spPr bwMode="auto">
          <a:xfrm>
            <a:off x="533400" y="1905000"/>
            <a:ext cx="8382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dirty="0">
                <a:solidFill>
                  <a:schemeClr val="tx2"/>
                </a:solidFill>
                <a:latin typeface="Tahoma" panose="020B0604030504040204" pitchFamily="34" charset="0"/>
              </a:rPr>
              <a:t>Because Set is an interface, you cannot instantiate it.</a:t>
            </a:r>
          </a:p>
          <a:p>
            <a:pPr eaLnBrk="1" hangingPunct="1">
              <a:spcBef>
                <a:spcPct val="0"/>
              </a:spcBef>
              <a:buFontTx/>
              <a:buNone/>
            </a:pPr>
            <a:endParaRPr lang="en-US" altLang="en-US" dirty="0">
              <a:solidFill>
                <a:schemeClr val="tx2"/>
              </a:solidFill>
              <a:latin typeface="Tahoma" panose="020B0604030504040204" pitchFamily="34" charset="0"/>
            </a:endParaRPr>
          </a:p>
          <a:p>
            <a:pPr eaLnBrk="1" hangingPunct="1">
              <a:spcBef>
                <a:spcPct val="0"/>
              </a:spcBef>
              <a:buFontTx/>
              <a:buNone/>
            </a:pPr>
            <a:r>
              <a:rPr lang="en-US" altLang="en-US" dirty="0">
                <a:solidFill>
                  <a:schemeClr val="tx2"/>
                </a:solidFill>
                <a:latin typeface="Tahoma" panose="020B0604030504040204" pitchFamily="34" charset="0"/>
              </a:rPr>
              <a:t>Set bad = new Set();			</a:t>
            </a:r>
            <a:r>
              <a:rPr lang="en-US" altLang="en-US" dirty="0">
                <a:solidFill>
                  <a:srgbClr val="FF0000"/>
                </a:solidFill>
                <a:latin typeface="Tahoma" panose="020B0604030504040204" pitchFamily="34" charset="0"/>
              </a:rPr>
              <a:t>//illegal</a:t>
            </a:r>
          </a:p>
          <a:p>
            <a:pPr eaLnBrk="1" hangingPunct="1">
              <a:spcBef>
                <a:spcPct val="0"/>
              </a:spcBef>
              <a:buFontTx/>
              <a:buNone/>
            </a:pPr>
            <a:endParaRPr lang="en-US" altLang="en-US" dirty="0">
              <a:solidFill>
                <a:srgbClr val="FF0000"/>
              </a:solidFill>
              <a:latin typeface="Tahoma" panose="020B0604030504040204" pitchFamily="34" charset="0"/>
            </a:endParaRPr>
          </a:p>
          <a:p>
            <a:pPr eaLnBrk="1" hangingPunct="1">
              <a:spcBef>
                <a:spcPct val="0"/>
              </a:spcBef>
              <a:buFontTx/>
              <a:buNone/>
            </a:pPr>
            <a:r>
              <a:rPr lang="en-US" altLang="en-US" dirty="0">
                <a:solidFill>
                  <a:schemeClr val="tx2"/>
                </a:solidFill>
                <a:latin typeface="Tahoma" panose="020B0604030504040204" pitchFamily="34" charset="0"/>
              </a:rPr>
              <a:t>Set </a:t>
            </a:r>
            <a:r>
              <a:rPr lang="en-US" altLang="en-US" dirty="0" err="1">
                <a:solidFill>
                  <a:schemeClr val="tx2"/>
                </a:solidFill>
                <a:latin typeface="Tahoma" panose="020B0604030504040204" pitchFamily="34" charset="0"/>
              </a:rPr>
              <a:t>set</a:t>
            </a:r>
            <a:r>
              <a:rPr lang="en-US" altLang="en-US" dirty="0">
                <a:solidFill>
                  <a:schemeClr val="tx2"/>
                </a:solidFill>
                <a:latin typeface="Tahoma" panose="020B0604030504040204" pitchFamily="34" charset="0"/>
              </a:rPr>
              <a:t> = new HashSet();   	</a:t>
            </a:r>
            <a:r>
              <a:rPr lang="en-US" altLang="en-US" dirty="0">
                <a:solidFill>
                  <a:srgbClr val="008000"/>
                </a:solidFill>
                <a:latin typeface="Tahoma" panose="020B0604030504040204" pitchFamily="34" charset="0"/>
              </a:rPr>
              <a:t>//legal</a:t>
            </a:r>
          </a:p>
          <a:p>
            <a:pPr eaLnBrk="1" hangingPunct="1">
              <a:spcBef>
                <a:spcPct val="0"/>
              </a:spcBef>
              <a:buFontTx/>
              <a:buNone/>
            </a:pPr>
            <a:r>
              <a:rPr lang="en-US" altLang="en-US" dirty="0">
                <a:solidFill>
                  <a:schemeClr val="tx2"/>
                </a:solidFill>
                <a:latin typeface="Tahoma" panose="020B0604030504040204" pitchFamily="34" charset="0"/>
              </a:rPr>
              <a:t>set = new </a:t>
            </a:r>
            <a:r>
              <a:rPr lang="en-US" altLang="en-US" dirty="0" err="1">
                <a:solidFill>
                  <a:schemeClr val="tx2"/>
                </a:solidFill>
                <a:latin typeface="Tahoma" panose="020B0604030504040204" pitchFamily="34" charset="0"/>
              </a:rPr>
              <a:t>TreeSet</a:t>
            </a:r>
            <a:r>
              <a:rPr lang="en-US" altLang="en-US" dirty="0">
                <a:solidFill>
                  <a:schemeClr val="tx2"/>
                </a:solidFill>
                <a:latin typeface="Tahoma" panose="020B0604030504040204" pitchFamily="34" charset="0"/>
              </a:rPr>
              <a:t>();   	</a:t>
            </a:r>
            <a:r>
              <a:rPr lang="en-US" altLang="en-US" dirty="0">
                <a:solidFill>
                  <a:srgbClr val="008000"/>
                </a:solidFill>
                <a:latin typeface="Tahoma" panose="020B0604030504040204" pitchFamily="34" charset="0"/>
              </a:rPr>
              <a:t>//legal</a:t>
            </a:r>
            <a:endParaRPr lang="en-US" altLang="en-US" dirty="0">
              <a:solidFill>
                <a:srgbClr val="3333CC"/>
              </a:solidFill>
              <a:latin typeface="Tahoma" panose="020B0604030504040204" pitchFamily="34" charset="0"/>
            </a:endParaRPr>
          </a:p>
        </p:txBody>
      </p:sp>
      <p:sp>
        <p:nvSpPr>
          <p:cNvPr id="16389" name="Text Box 4">
            <a:extLst>
              <a:ext uri="{FF2B5EF4-FFF2-40B4-BE49-F238E27FC236}">
                <a16:creationId xmlns:a16="http://schemas.microsoft.com/office/drawing/2014/main" id="{58C4EA99-3249-423A-9ABD-16997406B5F8}"/>
              </a:ext>
            </a:extLst>
          </p:cNvPr>
          <p:cNvSpPr txBox="1">
            <a:spLocks noChangeArrowheads="1"/>
          </p:cNvSpPr>
          <p:nvPr/>
        </p:nvSpPr>
        <p:spPr bwMode="auto">
          <a:xfrm>
            <a:off x="609600" y="5791200"/>
            <a:ext cx="7086600" cy="531813"/>
          </a:xfrm>
          <a:prstGeom prst="rect">
            <a:avLst/>
          </a:prstGeom>
          <a:noFill/>
          <a:ln w="12700">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800">
                <a:solidFill>
                  <a:srgbClr val="3333CC"/>
                </a:solidFill>
                <a:latin typeface="Tahoma" panose="020B0604030504040204" pitchFamily="34" charset="0"/>
              </a:rPr>
              <a:t>hash and tree store Object 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3093F180-4130-4C47-980E-F8EC502EB24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8435" name="WordArt 2">
            <a:extLst>
              <a:ext uri="{FF2B5EF4-FFF2-40B4-BE49-F238E27FC236}">
                <a16:creationId xmlns:a16="http://schemas.microsoft.com/office/drawing/2014/main" id="{72C08A73-CF2D-41DA-982D-947067CA6DB2}"/>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
        <p:nvSpPr>
          <p:cNvPr id="18436" name="Text Box 3">
            <a:extLst>
              <a:ext uri="{FF2B5EF4-FFF2-40B4-BE49-F238E27FC236}">
                <a16:creationId xmlns:a16="http://schemas.microsoft.com/office/drawing/2014/main" id="{55B7E057-E890-4F82-A41C-985B9B3CD35C}"/>
              </a:ext>
            </a:extLst>
          </p:cNvPr>
          <p:cNvSpPr txBox="1">
            <a:spLocks noChangeArrowheads="1"/>
          </p:cNvSpPr>
          <p:nvPr/>
        </p:nvSpPr>
        <p:spPr bwMode="auto">
          <a:xfrm>
            <a:off x="228600" y="1981200"/>
            <a:ext cx="87630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dirty="0">
                <a:solidFill>
                  <a:schemeClr val="tx2"/>
                </a:solidFill>
                <a:latin typeface="Tahoma" panose="020B0604030504040204" pitchFamily="34" charset="0"/>
              </a:rPr>
              <a:t>You should always specify which</a:t>
            </a:r>
          </a:p>
          <a:p>
            <a:pPr eaLnBrk="1" hangingPunct="1">
              <a:spcBef>
                <a:spcPct val="0"/>
              </a:spcBef>
              <a:buFontTx/>
              <a:buNone/>
            </a:pPr>
            <a:r>
              <a:rPr lang="en-US" altLang="en-US" dirty="0">
                <a:solidFill>
                  <a:schemeClr val="tx2"/>
                </a:solidFill>
                <a:latin typeface="Tahoma" panose="020B0604030504040204" pitchFamily="34" charset="0"/>
              </a:rPr>
              <a:t>type of reference you want to store in the </a:t>
            </a:r>
            <a:r>
              <a:rPr lang="en-US" altLang="en-US" dirty="0" err="1">
                <a:solidFill>
                  <a:schemeClr val="tx2"/>
                </a:solidFill>
                <a:latin typeface="Tahoma" panose="020B0604030504040204" pitchFamily="34" charset="0"/>
              </a:rPr>
              <a:t>TreeSet</a:t>
            </a:r>
            <a:r>
              <a:rPr lang="en-US" altLang="en-US" dirty="0">
                <a:solidFill>
                  <a:schemeClr val="tx2"/>
                </a:solidFill>
                <a:latin typeface="Tahoma" panose="020B0604030504040204" pitchFamily="34" charset="0"/>
              </a:rPr>
              <a:t> or HashSet.</a:t>
            </a:r>
          </a:p>
          <a:p>
            <a:pPr eaLnBrk="1" hangingPunct="1">
              <a:spcBef>
                <a:spcPct val="0"/>
              </a:spcBef>
              <a:buFontTx/>
              <a:buNone/>
            </a:pPr>
            <a:endParaRPr lang="en-US" altLang="en-US" dirty="0">
              <a:solidFill>
                <a:schemeClr val="tx2"/>
              </a:solidFill>
              <a:latin typeface="Tahoma" panose="020B0604030504040204" pitchFamily="34" charset="0"/>
            </a:endParaRPr>
          </a:p>
          <a:p>
            <a:pPr eaLnBrk="1" hangingPunct="1">
              <a:spcBef>
                <a:spcPct val="0"/>
              </a:spcBef>
              <a:buFontTx/>
              <a:buNone/>
            </a:pPr>
            <a:r>
              <a:rPr lang="en-US" altLang="en-US" sz="2800" dirty="0">
                <a:solidFill>
                  <a:schemeClr val="tx2"/>
                </a:solidFill>
                <a:latin typeface="Tahoma" panose="020B0604030504040204" pitchFamily="34" charset="0"/>
              </a:rPr>
              <a:t>Set&lt;</a:t>
            </a:r>
            <a:r>
              <a:rPr lang="en-US" altLang="en-US" sz="2800" dirty="0">
                <a:solidFill>
                  <a:srgbClr val="009900"/>
                </a:solidFill>
                <a:latin typeface="Tahoma" panose="020B0604030504040204" pitchFamily="34" charset="0"/>
              </a:rPr>
              <a:t>Double</a:t>
            </a:r>
            <a:r>
              <a:rPr lang="en-US" altLang="en-US" sz="2800" dirty="0">
                <a:solidFill>
                  <a:schemeClr val="tx2"/>
                </a:solidFill>
                <a:latin typeface="Tahoma" panose="020B0604030504040204" pitchFamily="34" charset="0"/>
              </a:rPr>
              <a:t>&gt; bytes = new </a:t>
            </a:r>
            <a:r>
              <a:rPr lang="en-US" altLang="en-US" sz="2800" dirty="0" err="1">
                <a:solidFill>
                  <a:schemeClr val="tx2"/>
                </a:solidFill>
                <a:latin typeface="Tahoma" panose="020B0604030504040204" pitchFamily="34" charset="0"/>
              </a:rPr>
              <a:t>TreeSet</a:t>
            </a:r>
            <a:r>
              <a:rPr lang="en-US" altLang="en-US" sz="2800" dirty="0">
                <a:solidFill>
                  <a:schemeClr val="tx2"/>
                </a:solidFill>
                <a:latin typeface="Tahoma" panose="020B0604030504040204" pitchFamily="34" charset="0"/>
              </a:rPr>
              <a:t>&lt;</a:t>
            </a:r>
            <a:r>
              <a:rPr lang="en-US" altLang="en-US" sz="2800" dirty="0">
                <a:solidFill>
                  <a:srgbClr val="009900"/>
                </a:solidFill>
                <a:latin typeface="Tahoma" panose="020B0604030504040204" pitchFamily="34" charset="0"/>
              </a:rPr>
              <a:t>Double</a:t>
            </a:r>
            <a:r>
              <a:rPr lang="en-US" altLang="en-US" sz="2800" dirty="0">
                <a:solidFill>
                  <a:schemeClr val="tx2"/>
                </a:solidFill>
                <a:latin typeface="Tahoma" panose="020B0604030504040204" pitchFamily="34" charset="0"/>
              </a:rPr>
              <a:t>&gt;();</a:t>
            </a:r>
          </a:p>
          <a:p>
            <a:pPr eaLnBrk="1" hangingPunct="1">
              <a:spcBef>
                <a:spcPct val="0"/>
              </a:spcBef>
              <a:buFontTx/>
              <a:buNone/>
            </a:pPr>
            <a:endParaRPr lang="en-US" altLang="en-US" sz="3000" dirty="0">
              <a:solidFill>
                <a:schemeClr val="tx2"/>
              </a:solidFill>
              <a:latin typeface="Tahoma" panose="020B0604030504040204" pitchFamily="34" charset="0"/>
            </a:endParaRPr>
          </a:p>
          <a:p>
            <a:pPr eaLnBrk="1" hangingPunct="1">
              <a:spcBef>
                <a:spcPct val="0"/>
              </a:spcBef>
              <a:buFontTx/>
              <a:buNone/>
            </a:pPr>
            <a:r>
              <a:rPr lang="en-US" altLang="en-US" sz="3000" dirty="0">
                <a:solidFill>
                  <a:schemeClr val="tx2"/>
                </a:solidFill>
                <a:latin typeface="Tahoma" panose="020B0604030504040204" pitchFamily="34" charset="0"/>
              </a:rPr>
              <a:t>Set&lt;</a:t>
            </a:r>
            <a:r>
              <a:rPr lang="en-US" altLang="en-US" sz="3000" dirty="0">
                <a:solidFill>
                  <a:srgbClr val="009900"/>
                </a:solidFill>
                <a:latin typeface="Tahoma" panose="020B0604030504040204" pitchFamily="34" charset="0"/>
              </a:rPr>
              <a:t>String</a:t>
            </a:r>
            <a:r>
              <a:rPr lang="en-US" altLang="en-US" sz="3000" dirty="0">
                <a:solidFill>
                  <a:schemeClr val="tx2"/>
                </a:solidFill>
                <a:latin typeface="Tahoma" panose="020B0604030504040204" pitchFamily="34" charset="0"/>
              </a:rPr>
              <a:t>&gt; its = new HashSet&lt;&gt;();</a:t>
            </a:r>
            <a:endParaRPr lang="en-US" altLang="en-US" sz="3000" dirty="0">
              <a:solidFill>
                <a:srgbClr val="008000"/>
              </a:solidFill>
              <a:latin typeface="Tahoma" panose="020B0604030504040204" pitchFamily="34" charset="0"/>
            </a:endParaRPr>
          </a:p>
          <a:p>
            <a:pPr eaLnBrk="1" hangingPunct="1">
              <a:spcBef>
                <a:spcPct val="0"/>
              </a:spcBef>
              <a:buFontTx/>
              <a:buNone/>
            </a:pPr>
            <a:endParaRPr lang="en-US" altLang="en-US" sz="3000" dirty="0">
              <a:solidFill>
                <a:srgbClr val="3333CC"/>
              </a:solidFill>
              <a:latin typeface="Tahoma" panose="020B0604030504040204" pitchFamily="34" charset="0"/>
            </a:endParaRPr>
          </a:p>
          <a:p>
            <a:pPr eaLnBrk="1" hangingPunct="1">
              <a:spcBef>
                <a:spcPct val="0"/>
              </a:spcBef>
              <a:buFontTx/>
              <a:buNone/>
            </a:pPr>
            <a:endParaRPr lang="en-US" altLang="en-US" dirty="0">
              <a:solidFill>
                <a:srgbClr val="3333CC"/>
              </a:solidFill>
              <a:latin typeface="Tahoma" panose="020B060403050404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803C901F-405A-4670-9B1D-FC0326C83EF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B0935F5B-902D-46FA-979D-CC91C5F372A7}"/>
              </a:ext>
            </a:extLst>
          </p:cNvPr>
          <p:cNvSpPr txBox="1">
            <a:spLocks noChangeArrowheads="1"/>
          </p:cNvSpPr>
          <p:nvPr/>
        </p:nvSpPr>
        <p:spPr bwMode="auto">
          <a:xfrm>
            <a:off x="914400" y="1981200"/>
            <a:ext cx="73914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HashSet – a set ordered by each</a:t>
            </a:r>
          </a:p>
          <a:p>
            <a:pPr eaLnBrk="1" hangingPunct="1">
              <a:spcBef>
                <a:spcPct val="0"/>
              </a:spcBef>
              <a:buFontTx/>
              <a:buNone/>
            </a:pPr>
            <a:r>
              <a:rPr lang="en-US" altLang="en-US">
                <a:latin typeface="Tahoma" panose="020B0604030504040204" pitchFamily="34" charset="0"/>
              </a:rPr>
              <a:t>item’s hashCode that is extremely time efficient.</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TreeSet – a naturally ordered set </a:t>
            </a:r>
            <a:br>
              <a:rPr lang="en-US" altLang="en-US">
                <a:latin typeface="Tahoma" panose="020B0604030504040204" pitchFamily="34" charset="0"/>
              </a:rPr>
            </a:br>
            <a:r>
              <a:rPr lang="en-US" altLang="en-US">
                <a:latin typeface="Tahoma" panose="020B0604030504040204" pitchFamily="34" charset="0"/>
              </a:rPr>
              <a:t>that is very efficient, but not as </a:t>
            </a:r>
            <a:br>
              <a:rPr lang="en-US" altLang="en-US">
                <a:latin typeface="Tahoma" panose="020B0604030504040204" pitchFamily="34" charset="0"/>
              </a:rPr>
            </a:br>
            <a:r>
              <a:rPr lang="en-US" altLang="en-US">
                <a:latin typeface="Tahoma" panose="020B0604030504040204" pitchFamily="34" charset="0"/>
              </a:rPr>
              <a:t>efficient as HashSet.</a:t>
            </a:r>
          </a:p>
        </p:txBody>
      </p:sp>
      <p:sp>
        <p:nvSpPr>
          <p:cNvPr id="20484" name="WordArt 3">
            <a:extLst>
              <a:ext uri="{FF2B5EF4-FFF2-40B4-BE49-F238E27FC236}">
                <a16:creationId xmlns:a16="http://schemas.microsoft.com/office/drawing/2014/main" id="{90F7B972-3E7B-463D-BE01-61B6C3C2B4A7}"/>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0E1F7E2F-0E34-4FB9-9EC5-0D5F1EF78D3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2531" name="WordArt 2">
            <a:extLst>
              <a:ext uri="{FF2B5EF4-FFF2-40B4-BE49-F238E27FC236}">
                <a16:creationId xmlns:a16="http://schemas.microsoft.com/office/drawing/2014/main" id="{04A8040F-BADA-4A58-BB9F-9E0FC3C14481}"/>
              </a:ext>
            </a:extLst>
          </p:cNvPr>
          <p:cNvSpPr>
            <a:spLocks noChangeArrowheads="1" noChangeShapeType="1" noTextEdit="1"/>
          </p:cNvSpPr>
          <p:nvPr/>
        </p:nvSpPr>
        <p:spPr bwMode="auto">
          <a:xfrm>
            <a:off x="1600200" y="304800"/>
            <a:ext cx="51816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2532" name="Text Box 3">
            <a:extLst>
              <a:ext uri="{FF2B5EF4-FFF2-40B4-BE49-F238E27FC236}">
                <a16:creationId xmlns:a16="http://schemas.microsoft.com/office/drawing/2014/main" id="{7C4D269D-7FFF-4EF7-A259-ABD450E117B1}"/>
              </a:ext>
            </a:extLst>
          </p:cNvPr>
          <p:cNvSpPr txBox="1">
            <a:spLocks noChangeArrowheads="1"/>
          </p:cNvSpPr>
          <p:nvPr/>
        </p:nvSpPr>
        <p:spPr bwMode="auto">
          <a:xfrm>
            <a:off x="1143000" y="1905000"/>
            <a:ext cx="7570788"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HashSet and HashMap were both </a:t>
            </a:r>
          </a:p>
          <a:p>
            <a:pPr eaLnBrk="1" hangingPunct="1">
              <a:spcBef>
                <a:spcPct val="0"/>
              </a:spcBef>
              <a:buFontTx/>
              <a:buNone/>
            </a:pPr>
            <a:r>
              <a:rPr lang="en-US" altLang="en-US" sz="2800">
                <a:latin typeface="Tahoma" panose="020B0604030504040204" pitchFamily="34" charset="0"/>
              </a:rPr>
              <a:t>created around hash tables.</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A hash table is essentially a giant array.  </a:t>
            </a:r>
            <a:br>
              <a:rPr lang="en-US" altLang="en-US" sz="2800">
                <a:latin typeface="Tahoma" panose="020B0604030504040204" pitchFamily="34" charset="0"/>
              </a:rPr>
            </a:br>
            <a:r>
              <a:rPr lang="en-US" altLang="en-US" sz="2800">
                <a:latin typeface="Tahoma" panose="020B0604030504040204" pitchFamily="34" charset="0"/>
              </a:rPr>
              <a:t>Each item is inserted into the array </a:t>
            </a:r>
          </a:p>
          <a:p>
            <a:pPr eaLnBrk="1" hangingPunct="1">
              <a:spcBef>
                <a:spcPct val="0"/>
              </a:spcBef>
              <a:buFontTx/>
              <a:buNone/>
            </a:pPr>
            <a:r>
              <a:rPr lang="en-US" altLang="en-US" sz="2800">
                <a:latin typeface="Tahoma" panose="020B0604030504040204" pitchFamily="34" charset="0"/>
              </a:rPr>
              <a:t>according to a hash formula.</a:t>
            </a:r>
          </a:p>
        </p:txBody>
      </p:sp>
      <p:graphicFrame>
        <p:nvGraphicFramePr>
          <p:cNvPr id="333828" name="Group 4">
            <a:extLst>
              <a:ext uri="{FF2B5EF4-FFF2-40B4-BE49-F238E27FC236}">
                <a16:creationId xmlns:a16="http://schemas.microsoft.com/office/drawing/2014/main" id="{8206E1B8-1F55-4A68-9698-E75BEC713203}"/>
              </a:ext>
            </a:extLst>
          </p:cNvPr>
          <p:cNvGraphicFramePr>
            <a:graphicFrameLocks noGrp="1"/>
          </p:cNvGraphicFramePr>
          <p:nvPr/>
        </p:nvGraphicFramePr>
        <p:xfrm>
          <a:off x="914400" y="5334000"/>
          <a:ext cx="7162800" cy="517662"/>
        </p:xfrm>
        <a:graphic>
          <a:graphicData uri="http://schemas.openxmlformats.org/drawingml/2006/table">
            <a:tbl>
              <a:tblPr/>
              <a:tblGrid>
                <a:gridCol w="1431925">
                  <a:extLst>
                    <a:ext uri="{9D8B030D-6E8A-4147-A177-3AD203B41FA5}">
                      <a16:colId xmlns:a16="http://schemas.microsoft.com/office/drawing/2014/main" val="20000"/>
                    </a:ext>
                  </a:extLst>
                </a:gridCol>
                <a:gridCol w="1433513">
                  <a:extLst>
                    <a:ext uri="{9D8B030D-6E8A-4147-A177-3AD203B41FA5}">
                      <a16:colId xmlns:a16="http://schemas.microsoft.com/office/drawing/2014/main" val="20001"/>
                    </a:ext>
                  </a:extLst>
                </a:gridCol>
                <a:gridCol w="1431925">
                  <a:extLst>
                    <a:ext uri="{9D8B030D-6E8A-4147-A177-3AD203B41FA5}">
                      <a16:colId xmlns:a16="http://schemas.microsoft.com/office/drawing/2014/main" val="20002"/>
                    </a:ext>
                  </a:extLst>
                </a:gridCol>
                <a:gridCol w="1433512">
                  <a:extLst>
                    <a:ext uri="{9D8B030D-6E8A-4147-A177-3AD203B41FA5}">
                      <a16:colId xmlns:a16="http://schemas.microsoft.com/office/drawing/2014/main" val="20003"/>
                    </a:ext>
                  </a:extLst>
                </a:gridCol>
                <a:gridCol w="1431925">
                  <a:extLst>
                    <a:ext uri="{9D8B030D-6E8A-4147-A177-3AD203B41FA5}">
                      <a16:colId xmlns:a16="http://schemas.microsoft.com/office/drawing/2014/main" val="20004"/>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2547" name="Text Box 18">
            <a:extLst>
              <a:ext uri="{FF2B5EF4-FFF2-40B4-BE49-F238E27FC236}">
                <a16:creationId xmlns:a16="http://schemas.microsoft.com/office/drawing/2014/main" id="{FA97EFA8-B4BF-423F-8B85-86DF81A25DCB}"/>
              </a:ext>
            </a:extLst>
          </p:cNvPr>
          <p:cNvSpPr txBox="1">
            <a:spLocks noChangeArrowheads="1"/>
          </p:cNvSpPr>
          <p:nvPr/>
        </p:nvSpPr>
        <p:spPr bwMode="auto">
          <a:xfrm>
            <a:off x="1143000" y="4800600"/>
            <a:ext cx="678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b="0">
                <a:latin typeface="Tahoma" panose="020B0604030504040204" pitchFamily="34" charset="0"/>
              </a:rPr>
              <a:t>   0	       1	    2		3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WordArt 2">
            <a:extLst>
              <a:ext uri="{FF2B5EF4-FFF2-40B4-BE49-F238E27FC236}">
                <a16:creationId xmlns:a16="http://schemas.microsoft.com/office/drawing/2014/main" id="{B1E34976-4605-4B80-8E92-D37CC8CFAA76}"/>
              </a:ext>
            </a:extLst>
          </p:cNvPr>
          <p:cNvSpPr>
            <a:spLocks noChangeArrowheads="1" noChangeShapeType="1" noTextEdit="1"/>
          </p:cNvSpPr>
          <p:nvPr/>
        </p:nvSpPr>
        <p:spPr bwMode="auto">
          <a:xfrm>
            <a:off x="1600200" y="304800"/>
            <a:ext cx="5181600" cy="762000"/>
          </a:xfrm>
          <a:prstGeom prst="rect">
            <a:avLst/>
          </a:prstGeom>
        </p:spPr>
        <p:txBody>
          <a:bodyPr wrap="none" fromWordArt="1">
            <a:prstTxWarp prst="textPlain">
              <a:avLst>
                <a:gd name="adj" fmla="val 50204"/>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4579" name="Rectangle 5">
            <a:extLst>
              <a:ext uri="{FF2B5EF4-FFF2-40B4-BE49-F238E27FC236}">
                <a16:creationId xmlns:a16="http://schemas.microsoft.com/office/drawing/2014/main" id="{14BF934E-0653-4B2D-8087-7779DCEC35CA}"/>
              </a:ext>
            </a:extLst>
          </p:cNvPr>
          <p:cNvSpPr>
            <a:spLocks noChangeArrowheads="1"/>
          </p:cNvSpPr>
          <p:nvPr/>
        </p:nvSpPr>
        <p:spPr bwMode="auto">
          <a:xfrm>
            <a:off x="381000" y="131445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hash function calculates an index from the data item's key and use this index to place the data into the array. </a:t>
            </a:r>
          </a:p>
        </p:txBody>
      </p:sp>
      <p:pic>
        <p:nvPicPr>
          <p:cNvPr id="24580" name="Picture 4" descr="&#10;Keys being added:&#10;Columns: keys -&gt; hash function -&gt; buckets&#10;1st key: &quot;John Smith&quot; -&gt; hash function -&gt; 02 &#10;2nd key: &quot;Lisa Smith&quot; -&gt; hash function -&gt; 01&#10;3rd key: &quot;Sandra Dee&quot; -&gt; hash function -&gt; 14&#10;&#10;Hash Table:&#10;00 empty&#10;01 521-8976&#10;02 521-1234&#10;03 empty&#10;...&#10;13 empty&#10;14 521-9655&#10;15 empty">
            <a:hlinkClick r:id="rId3"/>
            <a:extLst>
              <a:ext uri="{FF2B5EF4-FFF2-40B4-BE49-F238E27FC236}">
                <a16:creationId xmlns:a16="http://schemas.microsoft.com/office/drawing/2014/main" id="{C54DCB88-0745-4E99-909B-2CEDD14DA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2514600"/>
            <a:ext cx="521811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WordArt 2">
            <a:extLst>
              <a:ext uri="{FF2B5EF4-FFF2-40B4-BE49-F238E27FC236}">
                <a16:creationId xmlns:a16="http://schemas.microsoft.com/office/drawing/2014/main" id="{B1E34976-4605-4B80-8E92-D37CC8CFAA76}"/>
              </a:ext>
            </a:extLst>
          </p:cNvPr>
          <p:cNvSpPr>
            <a:spLocks noChangeArrowheads="1" noChangeShapeType="1" noTextEdit="1"/>
          </p:cNvSpPr>
          <p:nvPr/>
        </p:nvSpPr>
        <p:spPr bwMode="auto">
          <a:xfrm>
            <a:off x="1600200" y="304800"/>
            <a:ext cx="5181600" cy="762000"/>
          </a:xfrm>
          <a:prstGeom prst="rect">
            <a:avLst/>
          </a:prstGeom>
        </p:spPr>
        <p:txBody>
          <a:bodyPr wrap="none" fromWordArt="1">
            <a:prstTxWarp prst="textPlain">
              <a:avLst>
                <a:gd name="adj" fmla="val 50204"/>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4579" name="Rectangle 5">
            <a:extLst>
              <a:ext uri="{FF2B5EF4-FFF2-40B4-BE49-F238E27FC236}">
                <a16:creationId xmlns:a16="http://schemas.microsoft.com/office/drawing/2014/main" id="{14BF934E-0653-4B2D-8087-7779DCEC35CA}"/>
              </a:ext>
            </a:extLst>
          </p:cNvPr>
          <p:cNvSpPr>
            <a:spLocks noChangeArrowheads="1"/>
          </p:cNvSpPr>
          <p:nvPr/>
        </p:nvSpPr>
        <p:spPr bwMode="auto">
          <a:xfrm>
            <a:off x="685800" y="1905000"/>
            <a:ext cx="81534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The advantage of hash tables is their speed.</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The disadvantage is that you don’t know what order you’ll iterate over the contents.</a:t>
            </a:r>
          </a:p>
        </p:txBody>
      </p:sp>
    </p:spTree>
    <p:extLst>
      <p:ext uri="{BB962C8B-B14F-4D97-AF65-F5344CB8AC3E}">
        <p14:creationId xmlns:p14="http://schemas.microsoft.com/office/powerpoint/2010/main" val="386915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118BAC68-4BA7-4F7C-A6BE-DDBA2E19107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WordArt 2">
            <a:extLst>
              <a:ext uri="{FF2B5EF4-FFF2-40B4-BE49-F238E27FC236}">
                <a16:creationId xmlns:a16="http://schemas.microsoft.com/office/drawing/2014/main" id="{712CB5DF-3117-4985-9427-A139B635C955}"/>
              </a:ext>
            </a:extLst>
          </p:cNvPr>
          <p:cNvSpPr>
            <a:spLocks noChangeArrowheads="1" noChangeShapeType="1" noTextEdit="1"/>
          </p:cNvSpPr>
          <p:nvPr/>
        </p:nvSpPr>
        <p:spPr bwMode="auto">
          <a:xfrm>
            <a:off x="1600200" y="304800"/>
            <a:ext cx="51816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Binary Tree</a:t>
            </a:r>
          </a:p>
        </p:txBody>
      </p:sp>
      <p:sp>
        <p:nvSpPr>
          <p:cNvPr id="31748" name="Text Box 3">
            <a:extLst>
              <a:ext uri="{FF2B5EF4-FFF2-40B4-BE49-F238E27FC236}">
                <a16:creationId xmlns:a16="http://schemas.microsoft.com/office/drawing/2014/main" id="{D0511C70-885D-41F8-B0A3-D6CB5312790C}"/>
              </a:ext>
            </a:extLst>
          </p:cNvPr>
          <p:cNvSpPr txBox="1">
            <a:spLocks noChangeArrowheads="1"/>
          </p:cNvSpPr>
          <p:nvPr/>
        </p:nvSpPr>
        <p:spPr bwMode="auto">
          <a:xfrm>
            <a:off x="1066800" y="1676400"/>
            <a:ext cx="691515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TreeSet and TreeMap were built </a:t>
            </a:r>
          </a:p>
          <a:p>
            <a:pPr eaLnBrk="1" hangingPunct="1">
              <a:spcBef>
                <a:spcPct val="0"/>
              </a:spcBef>
              <a:buFontTx/>
              <a:buNone/>
            </a:pPr>
            <a:r>
              <a:rPr lang="en-US" altLang="en-US" sz="2800">
                <a:latin typeface="Tahoma" panose="020B0604030504040204" pitchFamily="34" charset="0"/>
              </a:rPr>
              <a:t>around binary trees.</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A Binary Tree is a group of nodes that</a:t>
            </a:r>
          </a:p>
          <a:p>
            <a:pPr eaLnBrk="1" hangingPunct="1">
              <a:spcBef>
                <a:spcPct val="0"/>
              </a:spcBef>
              <a:buFontTx/>
              <a:buNone/>
            </a:pPr>
            <a:r>
              <a:rPr lang="en-US" altLang="en-US" sz="2800">
                <a:latin typeface="Tahoma" panose="020B0604030504040204" pitchFamily="34" charset="0"/>
              </a:rPr>
              <a:t>contain left and right references. </a:t>
            </a:r>
          </a:p>
          <a:p>
            <a:pPr eaLnBrk="1" hangingPunct="1">
              <a:spcBef>
                <a:spcPct val="0"/>
              </a:spcBef>
              <a:buFontTx/>
              <a:buNone/>
            </a:pPr>
            <a:r>
              <a:rPr lang="en-US" altLang="en-US" sz="2800">
                <a:latin typeface="Tahoma" panose="020B0604030504040204" pitchFamily="34" charset="0"/>
              </a:rPr>
              <a:t>Each item is inserted into the tree </a:t>
            </a:r>
          </a:p>
          <a:p>
            <a:pPr eaLnBrk="1" hangingPunct="1">
              <a:spcBef>
                <a:spcPct val="0"/>
              </a:spcBef>
              <a:buFontTx/>
              <a:buNone/>
            </a:pPr>
            <a:r>
              <a:rPr lang="en-US" altLang="en-US" sz="2800">
                <a:latin typeface="Tahoma" panose="020B0604030504040204" pitchFamily="34" charset="0"/>
              </a:rPr>
              <a:t>according to its relationship to the</a:t>
            </a:r>
          </a:p>
          <a:p>
            <a:pPr eaLnBrk="1" hangingPunct="1">
              <a:spcBef>
                <a:spcPct val="0"/>
              </a:spcBef>
              <a:buFontTx/>
              <a:buNone/>
            </a:pPr>
            <a:r>
              <a:rPr lang="en-US" altLang="en-US" sz="2800">
                <a:latin typeface="Tahoma" panose="020B0604030504040204" pitchFamily="34" charset="0"/>
              </a:rPr>
              <a:t>other nodes.</a:t>
            </a:r>
          </a:p>
        </p:txBody>
      </p:sp>
      <p:sp>
        <p:nvSpPr>
          <p:cNvPr id="31749" name="Line 4">
            <a:extLst>
              <a:ext uri="{FF2B5EF4-FFF2-40B4-BE49-F238E27FC236}">
                <a16:creationId xmlns:a16="http://schemas.microsoft.com/office/drawing/2014/main" id="{E536B9F0-505B-45D6-9DB3-07440CEDEF99}"/>
              </a:ext>
            </a:extLst>
          </p:cNvPr>
          <p:cNvSpPr>
            <a:spLocks noChangeShapeType="1"/>
          </p:cNvSpPr>
          <p:nvPr/>
        </p:nvSpPr>
        <p:spPr bwMode="auto">
          <a:xfrm>
            <a:off x="7391400" y="54864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0" name="Oval 5">
            <a:extLst>
              <a:ext uri="{FF2B5EF4-FFF2-40B4-BE49-F238E27FC236}">
                <a16:creationId xmlns:a16="http://schemas.microsoft.com/office/drawing/2014/main" id="{4F299F89-2AD3-4D39-9FE2-90D7C6D127A1}"/>
              </a:ext>
            </a:extLst>
          </p:cNvPr>
          <p:cNvSpPr>
            <a:spLocks noChangeArrowheads="1"/>
          </p:cNvSpPr>
          <p:nvPr/>
        </p:nvSpPr>
        <p:spPr bwMode="auto">
          <a:xfrm>
            <a:off x="68580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a:t>
            </a:r>
          </a:p>
        </p:txBody>
      </p:sp>
      <p:sp>
        <p:nvSpPr>
          <p:cNvPr id="31751" name="Oval 6">
            <a:extLst>
              <a:ext uri="{FF2B5EF4-FFF2-40B4-BE49-F238E27FC236}">
                <a16:creationId xmlns:a16="http://schemas.microsoft.com/office/drawing/2014/main" id="{3304B166-E68F-494E-B82E-02D622539895}"/>
              </a:ext>
            </a:extLst>
          </p:cNvPr>
          <p:cNvSpPr>
            <a:spLocks noChangeArrowheads="1"/>
          </p:cNvSpPr>
          <p:nvPr/>
        </p:nvSpPr>
        <p:spPr bwMode="auto">
          <a:xfrm>
            <a:off x="6096000" y="5638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a:t>
            </a:r>
          </a:p>
        </p:txBody>
      </p:sp>
      <p:sp>
        <p:nvSpPr>
          <p:cNvPr id="31752" name="Oval 7">
            <a:extLst>
              <a:ext uri="{FF2B5EF4-FFF2-40B4-BE49-F238E27FC236}">
                <a16:creationId xmlns:a16="http://schemas.microsoft.com/office/drawing/2014/main" id="{2D8DACBB-C245-471B-BC6A-2337AF104682}"/>
              </a:ext>
            </a:extLst>
          </p:cNvPr>
          <p:cNvSpPr>
            <a:spLocks noChangeArrowheads="1"/>
          </p:cNvSpPr>
          <p:nvPr/>
        </p:nvSpPr>
        <p:spPr bwMode="auto">
          <a:xfrm>
            <a:off x="7620000" y="5638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3</a:t>
            </a:r>
          </a:p>
        </p:txBody>
      </p:sp>
      <p:sp>
        <p:nvSpPr>
          <p:cNvPr id="31753" name="Line 8">
            <a:extLst>
              <a:ext uri="{FF2B5EF4-FFF2-40B4-BE49-F238E27FC236}">
                <a16:creationId xmlns:a16="http://schemas.microsoft.com/office/drawing/2014/main" id="{FFE492CF-23A1-4D66-835E-DD38CD1D8556}"/>
              </a:ext>
            </a:extLst>
          </p:cNvPr>
          <p:cNvSpPr>
            <a:spLocks noChangeShapeType="1"/>
          </p:cNvSpPr>
          <p:nvPr/>
        </p:nvSpPr>
        <p:spPr bwMode="auto">
          <a:xfrm flipH="1">
            <a:off x="6553200" y="54864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B78E76C2-8D12-4F0B-A97D-15760BFEDF3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3795" name="WordArt 2">
            <a:extLst>
              <a:ext uri="{FF2B5EF4-FFF2-40B4-BE49-F238E27FC236}">
                <a16:creationId xmlns:a16="http://schemas.microsoft.com/office/drawing/2014/main" id="{A12CD9F7-0AA3-4EA5-9751-B3C5636F8885}"/>
              </a:ext>
            </a:extLst>
          </p:cNvPr>
          <p:cNvSpPr>
            <a:spLocks noChangeArrowheads="1" noChangeShapeType="1" noTextEdit="1"/>
          </p:cNvSpPr>
          <p:nvPr/>
        </p:nvSpPr>
        <p:spPr bwMode="auto">
          <a:xfrm>
            <a:off x="1447800" y="990600"/>
            <a:ext cx="5715000" cy="3810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 </a:t>
            </a:r>
          </a:p>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Methods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A553EC34-0526-477D-B92E-95E86B4E081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318499" name="Group 35">
            <a:extLst>
              <a:ext uri="{FF2B5EF4-FFF2-40B4-BE49-F238E27FC236}">
                <a16:creationId xmlns:a16="http://schemas.microsoft.com/office/drawing/2014/main" id="{36FE49D1-9E06-44EC-8BF6-F8C583E71A85}"/>
              </a:ext>
            </a:extLst>
          </p:cNvPr>
          <p:cNvGraphicFramePr>
            <a:graphicFrameLocks noGrp="1"/>
          </p:cNvGraphicFramePr>
          <p:nvPr>
            <p:extLst>
              <p:ext uri="{D42A27DB-BD31-4B8C-83A1-F6EECF244321}">
                <p14:modId xmlns:p14="http://schemas.microsoft.com/office/powerpoint/2010/main" val="2899171112"/>
              </p:ext>
            </p:extLst>
          </p:nvPr>
        </p:nvGraphicFramePr>
        <p:xfrm>
          <a:off x="609600" y="1066800"/>
          <a:ext cx="8077200" cy="3419474"/>
        </p:xfrm>
        <a:graphic>
          <a:graphicData uri="http://schemas.openxmlformats.org/drawingml/2006/table">
            <a:tbl>
              <a:tblPr/>
              <a:tblGrid>
                <a:gridCol w="1447800">
                  <a:extLst>
                    <a:ext uri="{9D8B030D-6E8A-4147-A177-3AD203B41FA5}">
                      <a16:colId xmlns:a16="http://schemas.microsoft.com/office/drawing/2014/main" val="1536663453"/>
                    </a:ext>
                  </a:extLst>
                </a:gridCol>
                <a:gridCol w="2362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1152272">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Set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methods</a:t>
                      </a:r>
                    </a:p>
                  </a:txBody>
                  <a:tcPr marT="45725" marB="457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6600"/>
                        </a:solidFill>
                        <a:effectLst/>
                        <a:latin typeface="Tahoma"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4572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rgbClr val="330099"/>
                        </a:solidFill>
                        <a:effectLst/>
                        <a:latin typeface="Tahoma" pitchFamily="34" charset="0"/>
                      </a:endParaRPr>
                    </a:p>
                  </a:txBody>
                  <a:tcPr marT="45725" marB="45725"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Name</a:t>
                      </a:r>
                    </a:p>
                  </a:txBody>
                  <a:tcPr marT="45725" marB="45725"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Use</a:t>
                      </a:r>
                    </a:p>
                  </a:txBody>
                  <a:tcPr marT="45725" marB="45725"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5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boolean</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add(obj)</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adds item obj to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81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boolean</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remove(obj)</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removes item obj from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50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void</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clear()</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all items from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int</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size()</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returns the # of items in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1F4FF"/>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AFEE000-AC40-47A1-B89B-208A71BC201D}"/>
              </a:ext>
            </a:extLst>
          </p:cNvPr>
          <p:cNvSpPr>
            <a:spLocks noChangeArrowheads="1"/>
          </p:cNvSpPr>
          <p:nvPr/>
        </p:nvSpPr>
        <p:spPr bwMode="auto">
          <a:xfrm>
            <a:off x="685800" y="1042988"/>
            <a:ext cx="754380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solidFill>
                  <a:srgbClr val="000000"/>
                </a:solidFill>
                <a:latin typeface="Arial" panose="020B0604020202020204" pitchFamily="34" charset="0"/>
                <a:cs typeface="Arial" panose="020B0604020202020204" pitchFamily="34" charset="0"/>
              </a:rPr>
              <a:t>Why does the Set interface not include corollaries to these List methods?</a:t>
            </a:r>
          </a:p>
          <a:p>
            <a:pPr algn="ctr">
              <a:spcBef>
                <a:spcPct val="0"/>
              </a:spcBef>
              <a:buFontTx/>
              <a:buNone/>
            </a:pPr>
            <a:endParaRPr lang="en-US" altLang="en-US" sz="2400">
              <a:solidFill>
                <a:srgbClr val="000000"/>
              </a:solidFill>
              <a:latin typeface="Arial" panose="020B0604020202020204" pitchFamily="34" charset="0"/>
              <a:cs typeface="Arial" panose="020B0604020202020204" pitchFamily="34" charset="0"/>
            </a:endParaRP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get(int index)</a:t>
            </a: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remove(int index)</a:t>
            </a: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add(int index, E element)</a:t>
            </a: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set(int index, E element)</a:t>
            </a:r>
          </a:p>
          <a:p>
            <a:pPr>
              <a:spcBef>
                <a:spcPct val="0"/>
              </a:spcBef>
              <a:buFontTx/>
              <a:buNone/>
            </a:pPr>
            <a:endParaRPr lang="en-US" altLang="en-US" sz="2400">
              <a:solidFill>
                <a:srgbClr val="000000"/>
              </a:solidFill>
              <a:latin typeface="Arial" panose="020B0604020202020204" pitchFamily="34" charset="0"/>
              <a:cs typeface="Arial" panose="020B0604020202020204" pitchFamily="34" charset="0"/>
            </a:endParaRPr>
          </a:p>
          <a:p>
            <a:pPr>
              <a:spcBef>
                <a:spcPct val="0"/>
              </a:spcBef>
              <a:buFontTx/>
              <a:buNone/>
            </a:pP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a:extLst>
              <a:ext uri="{FF2B5EF4-FFF2-40B4-BE49-F238E27FC236}">
                <a16:creationId xmlns:a16="http://schemas.microsoft.com/office/drawing/2014/main" id="{1D386FC4-46D8-47B0-A230-A9BC563E0BB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7891" name="Text Box 4">
            <a:extLst>
              <a:ext uri="{FF2B5EF4-FFF2-40B4-BE49-F238E27FC236}">
                <a16:creationId xmlns:a16="http://schemas.microsoft.com/office/drawing/2014/main" id="{2771B87A-D979-4658-BF35-3F486AEAE96E}"/>
              </a:ext>
            </a:extLst>
          </p:cNvPr>
          <p:cNvSpPr txBox="1">
            <a:spLocks noChangeArrowheads="1"/>
          </p:cNvSpPr>
          <p:nvPr/>
        </p:nvSpPr>
        <p:spPr bwMode="auto">
          <a:xfrm>
            <a:off x="533400" y="1981200"/>
            <a:ext cx="686758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800" dirty="0">
                <a:latin typeface="Tahoma" panose="020B0604030504040204" pitchFamily="34" charset="0"/>
              </a:rPr>
              <a:t>Set&lt;Integer&gt; </a:t>
            </a:r>
            <a:r>
              <a:rPr lang="en-US" altLang="en-US" sz="2800" dirty="0" err="1">
                <a:latin typeface="Tahoma" panose="020B0604030504040204" pitchFamily="34" charset="0"/>
              </a:rPr>
              <a:t>intSet</a:t>
            </a:r>
            <a:r>
              <a:rPr lang="en-US" altLang="en-US" sz="2800" dirty="0">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intSet</a:t>
            </a:r>
            <a:r>
              <a:rPr lang="en-US" altLang="en-US" sz="2800" dirty="0">
                <a:latin typeface="Tahoma" panose="020B0604030504040204" pitchFamily="34" charset="0"/>
              </a:rPr>
              <a:t> = new </a:t>
            </a:r>
            <a:r>
              <a:rPr lang="en-US" altLang="en-US" sz="2800" dirty="0">
                <a:solidFill>
                  <a:schemeClr val="accent1">
                    <a:lumMod val="50000"/>
                  </a:schemeClr>
                </a:solidFill>
                <a:latin typeface="Tahoma" panose="020B0604030504040204" pitchFamily="34" charset="0"/>
              </a:rPr>
              <a:t>HashSet</a:t>
            </a:r>
            <a:r>
              <a:rPr lang="en-US" altLang="en-US" sz="2800" dirty="0">
                <a:latin typeface="Tahoma" panose="020B0604030504040204" pitchFamily="34" charset="0"/>
              </a:rPr>
              <a:t>&lt;Integer&gt;();</a:t>
            </a:r>
          </a:p>
          <a:p>
            <a:pPr eaLnBrk="1" hangingPunct="1">
              <a:spcBef>
                <a:spcPct val="0"/>
              </a:spcBef>
              <a:buFontTx/>
              <a:buNone/>
              <a:defRPr/>
            </a:pPr>
            <a:r>
              <a:rPr lang="en-US" altLang="en-US" sz="2800" dirty="0" err="1">
                <a:latin typeface="Tahoma" panose="020B0604030504040204" pitchFamily="34" charset="0"/>
              </a:rPr>
              <a:t>intSet.add</a:t>
            </a:r>
            <a:r>
              <a:rPr lang="en-US" altLang="en-US" sz="2800" dirty="0">
                <a:latin typeface="Tahoma" panose="020B0604030504040204" pitchFamily="34" charset="0"/>
              </a:rPr>
              <a:t>(45);</a:t>
            </a:r>
          </a:p>
          <a:p>
            <a:pPr eaLnBrk="1" hangingPunct="1">
              <a:spcBef>
                <a:spcPct val="0"/>
              </a:spcBef>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intSet.add</a:t>
            </a:r>
            <a:r>
              <a:rPr lang="en-US" altLang="en-US" sz="2800" dirty="0">
                <a:latin typeface="Tahoma" panose="020B0604030504040204" pitchFamily="34" charset="0"/>
              </a:rPr>
              <a:t>(12));</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intSet.add</a:t>
            </a:r>
            <a:r>
              <a:rPr lang="en-US" altLang="en-US" sz="2800" dirty="0">
                <a:latin typeface="Tahoma" panose="020B0604030504040204" pitchFamily="34" charset="0"/>
              </a:rPr>
              <a:t>(12));</a:t>
            </a:r>
          </a:p>
          <a:p>
            <a:pPr eaLnBrk="1" hangingPunct="1">
              <a:spcBef>
                <a:spcPct val="0"/>
              </a:spcBef>
              <a:buFontTx/>
              <a:buNone/>
              <a:defRPr/>
            </a:pPr>
            <a:r>
              <a:rPr lang="en-US" altLang="en-US" sz="2800" dirty="0" err="1">
                <a:latin typeface="Tahoma" panose="020B0604030504040204" pitchFamily="34" charset="0"/>
              </a:rPr>
              <a:t>intSet.add</a:t>
            </a:r>
            <a:r>
              <a:rPr lang="en-US" altLang="en-US" sz="2800" dirty="0">
                <a:latin typeface="Tahoma" panose="020B0604030504040204" pitchFamily="34" charset="0"/>
              </a:rPr>
              <a:t>(23);</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intSet</a:t>
            </a:r>
            <a:r>
              <a:rPr lang="en-US" altLang="en-US" sz="2800" dirty="0">
                <a:latin typeface="Tahoma" panose="020B0604030504040204" pitchFamily="34" charset="0"/>
              </a:rPr>
              <a:t>);</a:t>
            </a:r>
          </a:p>
        </p:txBody>
      </p:sp>
      <p:sp>
        <p:nvSpPr>
          <p:cNvPr id="38916" name="WordArt 5">
            <a:extLst>
              <a:ext uri="{FF2B5EF4-FFF2-40B4-BE49-F238E27FC236}">
                <a16:creationId xmlns:a16="http://schemas.microsoft.com/office/drawing/2014/main" id="{43968AC2-4CB1-4A64-BA81-1B71B79CFE6A}"/>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HashSet add</a:t>
            </a:r>
          </a:p>
        </p:txBody>
      </p:sp>
      <p:sp>
        <p:nvSpPr>
          <p:cNvPr id="38917" name="Text Box 6">
            <a:extLst>
              <a:ext uri="{FF2B5EF4-FFF2-40B4-BE49-F238E27FC236}">
                <a16:creationId xmlns:a16="http://schemas.microsoft.com/office/drawing/2014/main" id="{07E4C835-193F-4098-A73D-BAB6CFC3B552}"/>
              </a:ext>
            </a:extLst>
          </p:cNvPr>
          <p:cNvSpPr txBox="1">
            <a:spLocks noChangeArrowheads="1"/>
          </p:cNvSpPr>
          <p:nvPr/>
        </p:nvSpPr>
        <p:spPr bwMode="auto">
          <a:xfrm>
            <a:off x="6172200" y="4495800"/>
            <a:ext cx="2667000" cy="206216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a:latin typeface="Tahoma" panose="020B0604030504040204" pitchFamily="34" charset="0"/>
              </a:rPr>
              <a:t>true</a:t>
            </a:r>
          </a:p>
          <a:p>
            <a:pPr>
              <a:spcBef>
                <a:spcPct val="0"/>
              </a:spcBef>
              <a:buFontTx/>
              <a:buNone/>
            </a:pPr>
            <a:r>
              <a:rPr lang="en-US" altLang="en-US">
                <a:latin typeface="Tahoma" panose="020B0604030504040204" pitchFamily="34" charset="0"/>
              </a:rPr>
              <a:t>false</a:t>
            </a:r>
            <a:br>
              <a:rPr lang="en-US" altLang="en-US">
                <a:latin typeface="Tahoma" panose="020B0604030504040204" pitchFamily="34" charset="0"/>
              </a:rPr>
            </a:br>
            <a:r>
              <a:rPr lang="en-US" altLang="en-US">
                <a:latin typeface="Tahoma" panose="020B0604030504040204" pitchFamily="34" charset="0"/>
              </a:rPr>
              <a:t>[45, 23,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a:extLst>
              <a:ext uri="{FF2B5EF4-FFF2-40B4-BE49-F238E27FC236}">
                <a16:creationId xmlns:a16="http://schemas.microsoft.com/office/drawing/2014/main" id="{4D7E2F13-0489-4E7D-8AE1-58F166E49AF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9939" name="Text Box 2">
            <a:extLst>
              <a:ext uri="{FF2B5EF4-FFF2-40B4-BE49-F238E27FC236}">
                <a16:creationId xmlns:a16="http://schemas.microsoft.com/office/drawing/2014/main" id="{BAA4D3D9-6693-4AB1-8D60-311A2F790D46}"/>
              </a:ext>
            </a:extLst>
          </p:cNvPr>
          <p:cNvSpPr txBox="1">
            <a:spLocks noChangeArrowheads="1"/>
          </p:cNvSpPr>
          <p:nvPr/>
        </p:nvSpPr>
        <p:spPr bwMode="auto">
          <a:xfrm>
            <a:off x="533400" y="1981200"/>
            <a:ext cx="676751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800" dirty="0">
                <a:latin typeface="Tahoma" panose="020B0604030504040204" pitchFamily="34" charset="0"/>
              </a:rPr>
              <a:t>Set&lt;String&gt; </a:t>
            </a:r>
            <a:r>
              <a:rPr lang="en-US" altLang="en-US" sz="2800" dirty="0" err="1">
                <a:latin typeface="Tahoma" panose="020B0604030504040204" pitchFamily="34" charset="0"/>
              </a:rPr>
              <a:t>stringSet</a:t>
            </a:r>
            <a:r>
              <a:rPr lang="en-US" altLang="en-US" sz="2800" dirty="0">
                <a:latin typeface="Tahoma" panose="020B0604030504040204" pitchFamily="34" charset="0"/>
              </a:rPr>
              <a:t>;</a:t>
            </a:r>
            <a:br>
              <a:rPr lang="en-US" altLang="en-US" sz="2800" dirty="0">
                <a:latin typeface="Tahoma" panose="020B0604030504040204" pitchFamily="34" charset="0"/>
              </a:rPr>
            </a:br>
            <a:r>
              <a:rPr lang="en-US" altLang="en-US" sz="2800" dirty="0" err="1">
                <a:latin typeface="Tahoma" panose="020B0604030504040204" pitchFamily="34" charset="0"/>
              </a:rPr>
              <a:t>stringSet</a:t>
            </a:r>
            <a:r>
              <a:rPr lang="en-US" altLang="en-US" sz="2800" dirty="0">
                <a:latin typeface="Tahoma" panose="020B0604030504040204" pitchFamily="34" charset="0"/>
              </a:rPr>
              <a:t> = new </a:t>
            </a:r>
            <a:r>
              <a:rPr lang="en-US" altLang="en-US" sz="2800" dirty="0">
                <a:solidFill>
                  <a:schemeClr val="accent1">
                    <a:lumMod val="50000"/>
                  </a:schemeClr>
                </a:solidFill>
                <a:latin typeface="Tahoma" panose="020B0604030504040204" pitchFamily="34" charset="0"/>
              </a:rPr>
              <a:t>HashSet</a:t>
            </a:r>
            <a:r>
              <a:rPr lang="en-US" altLang="en-US" sz="2800" dirty="0">
                <a:latin typeface="Tahoma" panose="020B0604030504040204" pitchFamily="34" charset="0"/>
              </a:rPr>
              <a:t>&lt;String&gt;();</a:t>
            </a:r>
          </a:p>
          <a:p>
            <a:pPr eaLnBrk="1" hangingPunct="1">
              <a:spcBef>
                <a:spcPct val="0"/>
              </a:spcBef>
              <a:buFontTx/>
              <a:buNone/>
              <a:defRPr/>
            </a:pPr>
            <a:r>
              <a:rPr lang="en-US" altLang="en-US" sz="2800" dirty="0" err="1">
                <a:latin typeface="Tahoma" panose="020B0604030504040204" pitchFamily="34" charset="0"/>
              </a:rPr>
              <a:t>stringSet.add</a:t>
            </a:r>
            <a:r>
              <a:rPr lang="en-US" altLang="en-US" sz="2800" dirty="0">
                <a:latin typeface="Tahoma" panose="020B0604030504040204" pitchFamily="34" charset="0"/>
              </a:rPr>
              <a:t>("AB");</a:t>
            </a:r>
          </a:p>
          <a:p>
            <a:pPr eaLnBrk="1" hangingPunct="1">
              <a:spcBef>
                <a:spcPct val="0"/>
              </a:spcBef>
              <a:buFontTx/>
              <a:buNone/>
              <a:defRPr/>
            </a:pPr>
            <a:r>
              <a:rPr lang="en-US" altLang="en-US" sz="2800" dirty="0" err="1">
                <a:latin typeface="Tahoma" panose="020B0604030504040204" pitchFamily="34" charset="0"/>
              </a:rPr>
              <a:t>stringSet.add</a:t>
            </a:r>
            <a:r>
              <a:rPr lang="en-US" altLang="en-US" sz="2800" dirty="0">
                <a:latin typeface="Tahoma" panose="020B0604030504040204" pitchFamily="34" charset="0"/>
              </a:rPr>
              <a:t>("23");</a:t>
            </a:r>
          </a:p>
          <a:p>
            <a:pPr eaLnBrk="1" hangingPunct="1">
              <a:spcBef>
                <a:spcPct val="0"/>
              </a:spcBef>
              <a:buFontTx/>
              <a:buNone/>
              <a:defRPr/>
            </a:pPr>
            <a:r>
              <a:rPr lang="en-US" altLang="en-US" sz="2800" dirty="0" err="1">
                <a:latin typeface="Tahoma" panose="020B0604030504040204" pitchFamily="34" charset="0"/>
              </a:rPr>
              <a:t>stringSet.add</a:t>
            </a:r>
            <a:r>
              <a:rPr lang="en-US" altLang="en-US" sz="2800" dirty="0">
                <a:latin typeface="Tahoma" panose="020B0604030504040204" pitchFamily="34" charset="0"/>
              </a:rPr>
              <a:t>("ab");</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stringSet</a:t>
            </a:r>
            <a:r>
              <a:rPr lang="en-US" altLang="en-US" sz="2800" dirty="0">
                <a:latin typeface="Tahoma" panose="020B0604030504040204" pitchFamily="34" charset="0"/>
              </a:rPr>
              <a:t>);</a:t>
            </a:r>
          </a:p>
        </p:txBody>
      </p:sp>
      <p:sp>
        <p:nvSpPr>
          <p:cNvPr id="40964" name="Text Box 4">
            <a:extLst>
              <a:ext uri="{FF2B5EF4-FFF2-40B4-BE49-F238E27FC236}">
                <a16:creationId xmlns:a16="http://schemas.microsoft.com/office/drawing/2014/main" id="{F7BC2A62-A451-4F82-8EFD-E933BAA8EC19}"/>
              </a:ext>
            </a:extLst>
          </p:cNvPr>
          <p:cNvSpPr txBox="1">
            <a:spLocks noChangeArrowheads="1"/>
          </p:cNvSpPr>
          <p:nvPr/>
        </p:nvSpPr>
        <p:spPr bwMode="auto">
          <a:xfrm>
            <a:off x="6324600" y="3352800"/>
            <a:ext cx="2667000" cy="10795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a:latin typeface="Tahoma" panose="020B0604030504040204" pitchFamily="34" charset="0"/>
              </a:rPr>
              <a:t>[ab, 23, AB]</a:t>
            </a:r>
          </a:p>
        </p:txBody>
      </p:sp>
      <p:sp>
        <p:nvSpPr>
          <p:cNvPr id="40965" name="WordArt 5">
            <a:extLst>
              <a:ext uri="{FF2B5EF4-FFF2-40B4-BE49-F238E27FC236}">
                <a16:creationId xmlns:a16="http://schemas.microsoft.com/office/drawing/2014/main" id="{8D73A03C-0995-4FD4-92FF-2BD28A65A14C}"/>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HashSet add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a:extLst>
              <a:ext uri="{FF2B5EF4-FFF2-40B4-BE49-F238E27FC236}">
                <a16:creationId xmlns:a16="http://schemas.microsoft.com/office/drawing/2014/main" id="{772C1182-5C94-48BE-B018-A7433D4224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3011" name="WordArt 2">
            <a:extLst>
              <a:ext uri="{FF2B5EF4-FFF2-40B4-BE49-F238E27FC236}">
                <a16:creationId xmlns:a16="http://schemas.microsoft.com/office/drawing/2014/main" id="{D723FBB0-DBAA-4F47-A057-F9AF503E973A}"/>
              </a:ext>
            </a:extLst>
          </p:cNvPr>
          <p:cNvSpPr>
            <a:spLocks noChangeArrowheads="1" noChangeShapeType="1" noTextEdit="1"/>
          </p:cNvSpPr>
          <p:nvPr/>
        </p:nvSpPr>
        <p:spPr bwMode="auto">
          <a:xfrm>
            <a:off x="381000" y="685800"/>
            <a:ext cx="7467600" cy="487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hashsetint.java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hashsetstring.java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C040F6-80C2-46C2-AE50-521F0774FE00}"/>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
        <p:nvSpPr>
          <p:cNvPr id="45059" name="Rectangle 2">
            <a:extLst>
              <a:ext uri="{FF2B5EF4-FFF2-40B4-BE49-F238E27FC236}">
                <a16:creationId xmlns:a16="http://schemas.microsoft.com/office/drawing/2014/main" id="{C8BBFFD7-05C6-41A4-B930-274DF351E657}"/>
              </a:ext>
            </a:extLst>
          </p:cNvPr>
          <p:cNvSpPr>
            <a:spLocks noChangeArrowheads="1"/>
          </p:cNvSpPr>
          <p:nvPr/>
        </p:nvSpPr>
        <p:spPr bwMode="auto">
          <a:xfrm>
            <a:off x="228600" y="1720850"/>
            <a:ext cx="8839200"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5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String[] words = </a:t>
            </a:r>
            <a:r>
              <a:rPr lang="en-US" altLang="en-US" sz="2800">
                <a:solidFill>
                  <a:srgbClr val="00CB00"/>
                </a:solidFill>
                <a:latin typeface="Arial" panose="020B0604020202020204" pitchFamily="34" charset="0"/>
                <a:cs typeface="Arial" panose="020B0604020202020204" pitchFamily="34" charset="0"/>
              </a:rPr>
              <a:t>“I am Crazy I am"</a:t>
            </a:r>
            <a:r>
              <a:rPr lang="en-US" altLang="en-US" sz="2800">
                <a:solidFill>
                  <a:srgbClr val="000000"/>
                </a:solidFill>
                <a:latin typeface="Arial" panose="020B0604020202020204" pitchFamily="34" charset="0"/>
                <a:cs typeface="Arial" panose="020B0604020202020204" pitchFamily="34" charset="0"/>
              </a:rPr>
              <a:t>.split(</a:t>
            </a:r>
            <a:r>
              <a:rPr lang="en-US" altLang="en-US" sz="2800">
                <a:solidFill>
                  <a:srgbClr val="00CB00"/>
                </a:solidFill>
                <a:latin typeface="Arial" panose="020B0604020202020204" pitchFamily="34" charset="0"/>
                <a:cs typeface="Arial" panose="020B0604020202020204" pitchFamily="34" charset="0"/>
              </a:rPr>
              <a:t>" "</a:t>
            </a:r>
            <a:r>
              <a:rPr lang="en-US" altLang="en-US" sz="2800">
                <a:solidFill>
                  <a:srgbClr val="000000"/>
                </a:solidFill>
                <a:latin typeface="Arial" panose="020B0604020202020204" pitchFamily="34" charset="0"/>
                <a:cs typeface="Arial" panose="020B0604020202020204" pitchFamily="34" charset="0"/>
              </a:rPr>
              <a:t>); </a:t>
            </a:r>
          </a:p>
          <a:p>
            <a:pPr eaLnBrk="1" hangingPunct="1">
              <a:lnSpc>
                <a:spcPct val="125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List&lt;String&gt; wordList = Arrays.asList(words);</a:t>
            </a:r>
            <a:br>
              <a:rPr lang="en-US" altLang="en-US" sz="2800">
                <a:solidFill>
                  <a:srgbClr val="000000"/>
                </a:solidFill>
                <a:latin typeface="Arial" panose="020B0604020202020204" pitchFamily="34" charset="0"/>
                <a:cs typeface="Arial" panose="020B0604020202020204" pitchFamily="34" charset="0"/>
              </a:rPr>
            </a:br>
            <a:r>
              <a:rPr lang="en-US" altLang="en-US" sz="2800">
                <a:solidFill>
                  <a:srgbClr val="000000"/>
                </a:solidFill>
                <a:latin typeface="Arial" panose="020B0604020202020204" pitchFamily="34" charset="0"/>
                <a:cs typeface="Arial" panose="020B0604020202020204" pitchFamily="34" charset="0"/>
              </a:rPr>
              <a:t>Set&lt;String&gt; set = </a:t>
            </a:r>
            <a:r>
              <a:rPr lang="en-US" altLang="en-US" sz="2800">
                <a:solidFill>
                  <a:srgbClr val="941EDF"/>
                </a:solidFill>
                <a:latin typeface="Arial" panose="020B0604020202020204" pitchFamily="34" charset="0"/>
                <a:cs typeface="Arial" panose="020B0604020202020204" pitchFamily="34" charset="0"/>
              </a:rPr>
              <a:t>new</a:t>
            </a:r>
            <a:r>
              <a:rPr lang="en-US" altLang="en-US" sz="2800">
                <a:solidFill>
                  <a:srgbClr val="000000"/>
                </a:solidFill>
                <a:latin typeface="Arial" panose="020B0604020202020204" pitchFamily="34" charset="0"/>
                <a:cs typeface="Arial" panose="020B0604020202020204" pitchFamily="34" charset="0"/>
              </a:rPr>
              <a:t> TreeSet&lt;String&gt;(wordList);</a:t>
            </a:r>
            <a:br>
              <a:rPr lang="en-US" altLang="en-US" sz="2800">
                <a:solidFill>
                  <a:srgbClr val="000000"/>
                </a:solidFill>
                <a:latin typeface="Arial" panose="020B0604020202020204" pitchFamily="34" charset="0"/>
                <a:cs typeface="Arial" panose="020B0604020202020204" pitchFamily="34" charset="0"/>
              </a:rPr>
            </a:br>
            <a:r>
              <a:rPr lang="en-US" altLang="en-US" sz="2800">
                <a:solidFill>
                  <a:srgbClr val="000000"/>
                </a:solidFill>
                <a:latin typeface="Arial" panose="020B0604020202020204" pitchFamily="34" charset="0"/>
                <a:cs typeface="Arial" panose="020B0604020202020204" pitchFamily="34" charset="0"/>
              </a:rPr>
              <a:t>System.out.println(set);</a:t>
            </a:r>
            <a:endParaRPr lang="en-US" altLang="en-US" sz="2800">
              <a:latin typeface="Arial" panose="020B0604020202020204" pitchFamily="34" charset="0"/>
              <a:cs typeface="Arial" panose="020B0604020202020204" pitchFamily="34" charset="0"/>
            </a:endParaRPr>
          </a:p>
        </p:txBody>
      </p:sp>
      <p:sp>
        <p:nvSpPr>
          <p:cNvPr id="45060" name="WordArt 4">
            <a:extLst>
              <a:ext uri="{FF2B5EF4-FFF2-40B4-BE49-F238E27FC236}">
                <a16:creationId xmlns:a16="http://schemas.microsoft.com/office/drawing/2014/main" id="{BC5F6508-42C8-4C4C-B509-D04CB52A0D06}"/>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Quick Creation of a Set</a:t>
            </a:r>
          </a:p>
        </p:txBody>
      </p:sp>
      <p:sp>
        <p:nvSpPr>
          <p:cNvPr id="45061" name="Text Box 3">
            <a:extLst>
              <a:ext uri="{FF2B5EF4-FFF2-40B4-BE49-F238E27FC236}">
                <a16:creationId xmlns:a16="http://schemas.microsoft.com/office/drawing/2014/main" id="{19B64E00-71A9-4281-8CA9-D3DD3BC38AEB}"/>
              </a:ext>
            </a:extLst>
          </p:cNvPr>
          <p:cNvSpPr txBox="1">
            <a:spLocks noChangeArrowheads="1"/>
          </p:cNvSpPr>
          <p:nvPr/>
        </p:nvSpPr>
        <p:spPr bwMode="auto">
          <a:xfrm>
            <a:off x="3886200" y="4267200"/>
            <a:ext cx="4267200" cy="10160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sz="2800">
                <a:latin typeface="Tahoma" panose="020B0604030504040204" pitchFamily="34" charset="0"/>
              </a:rPr>
              <a:t>[Crazy, I, 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823B6178-0AD0-4A5C-AE49-79CADB43141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6083" name="WordArt 2">
            <a:extLst>
              <a:ext uri="{FF2B5EF4-FFF2-40B4-BE49-F238E27FC236}">
                <a16:creationId xmlns:a16="http://schemas.microsoft.com/office/drawing/2014/main" id="{1E2EA2B0-3947-430A-80CE-C3012A3798BF}"/>
              </a:ext>
            </a:extLst>
          </p:cNvPr>
          <p:cNvSpPr>
            <a:spLocks noChangeArrowheads="1" noChangeShapeType="1" noTextEdit="1"/>
          </p:cNvSpPr>
          <p:nvPr/>
        </p:nvSpPr>
        <p:spPr bwMode="auto">
          <a:xfrm>
            <a:off x="1485900" y="1752600"/>
            <a:ext cx="6172200" cy="2743200"/>
          </a:xfrm>
          <a:prstGeom prst="rect">
            <a:avLst/>
          </a:prstGeom>
        </p:spPr>
        <p:txBody>
          <a:bodyPr wrap="none" fromWordArt="1">
            <a:prstTxWarp prst="textPlain">
              <a:avLst>
                <a:gd name="adj" fmla="val 50000"/>
              </a:avLst>
            </a:prstTxWarp>
          </a:bodyPr>
          <a:lstStyle/>
          <a:p>
            <a:pPr algn="ctr"/>
            <a:r>
              <a:rPr lang="en-US" sz="18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18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SetSplit.java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7BD003E6-3924-4B4B-B5B8-BD802B7ADC3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5059" name="Text Box 2">
            <a:extLst>
              <a:ext uri="{FF2B5EF4-FFF2-40B4-BE49-F238E27FC236}">
                <a16:creationId xmlns:a16="http://schemas.microsoft.com/office/drawing/2014/main" id="{692916C4-3079-485F-A9B3-B0B375A56C8B}"/>
              </a:ext>
            </a:extLst>
          </p:cNvPr>
          <p:cNvSpPr txBox="1">
            <a:spLocks noChangeArrowheads="1"/>
          </p:cNvSpPr>
          <p:nvPr/>
        </p:nvSpPr>
        <p:spPr bwMode="auto">
          <a:xfrm>
            <a:off x="533400" y="1981200"/>
            <a:ext cx="7835900"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800" dirty="0">
                <a:latin typeface="Tahoma" panose="020B0604030504040204" pitchFamily="34" charset="0"/>
              </a:rPr>
              <a:t>Set&lt;Double&gt; </a:t>
            </a:r>
            <a:r>
              <a:rPr lang="en-US" altLang="en-US" sz="2800" dirty="0" err="1">
                <a:latin typeface="Tahoma" panose="020B0604030504040204" pitchFamily="34" charset="0"/>
              </a:rPr>
              <a:t>doubleSet</a:t>
            </a:r>
            <a:r>
              <a:rPr lang="en-US" altLang="en-US" sz="2800" dirty="0">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doubleSet</a:t>
            </a:r>
            <a:r>
              <a:rPr lang="en-US" altLang="en-US" sz="2800" dirty="0">
                <a:latin typeface="Tahoma" panose="020B0604030504040204" pitchFamily="34" charset="0"/>
              </a:rPr>
              <a:t> = new </a:t>
            </a:r>
            <a:r>
              <a:rPr lang="en-US" altLang="en-US" sz="2800" dirty="0">
                <a:solidFill>
                  <a:schemeClr val="accent1">
                    <a:lumMod val="50000"/>
                  </a:schemeClr>
                </a:solidFill>
                <a:latin typeface="Tahoma" panose="020B0604030504040204" pitchFamily="34" charset="0"/>
              </a:rPr>
              <a:t>HashSet</a:t>
            </a:r>
            <a:r>
              <a:rPr lang="en-US" altLang="en-US" sz="2800" dirty="0">
                <a:latin typeface="Tahoma" panose="020B0604030504040204" pitchFamily="34" charset="0"/>
              </a:rPr>
              <a:t>&lt;Double&gt;();</a:t>
            </a:r>
          </a:p>
          <a:p>
            <a:pPr eaLnBrk="1" hangingPunct="1">
              <a:spcBef>
                <a:spcPct val="0"/>
              </a:spcBef>
              <a:buFontTx/>
              <a:buNone/>
              <a:defRPr/>
            </a:pPr>
            <a:r>
              <a:rPr lang="en-US" altLang="en-US" sz="2800" dirty="0" err="1">
                <a:latin typeface="Tahoma" panose="020B0604030504040204" pitchFamily="34" charset="0"/>
              </a:rPr>
              <a:t>doubleSet.add</a:t>
            </a:r>
            <a:r>
              <a:rPr lang="en-US" altLang="en-US" sz="2800" dirty="0">
                <a:latin typeface="Tahoma" panose="020B0604030504040204" pitchFamily="34" charset="0"/>
              </a:rPr>
              <a:t>(2.5);</a:t>
            </a:r>
          </a:p>
          <a:p>
            <a:pPr eaLnBrk="1" hangingPunct="1">
              <a:spcBef>
                <a:spcPct val="0"/>
              </a:spcBef>
              <a:buFontTx/>
              <a:buNone/>
              <a:defRPr/>
            </a:pPr>
            <a:r>
              <a:rPr lang="en-US" altLang="en-US" sz="2800" dirty="0" err="1">
                <a:latin typeface="Tahoma" panose="020B0604030504040204" pitchFamily="34" charset="0"/>
              </a:rPr>
              <a:t>doubleSet.add</a:t>
            </a:r>
            <a:r>
              <a:rPr lang="en-US" altLang="en-US" sz="2800" dirty="0">
                <a:latin typeface="Tahoma" panose="020B0604030504040204" pitchFamily="34" charset="0"/>
              </a:rPr>
              <a:t>(5.8);</a:t>
            </a:r>
          </a:p>
          <a:p>
            <a:pPr eaLnBrk="1" hangingPunct="1">
              <a:spcBef>
                <a:spcPct val="0"/>
              </a:spcBef>
              <a:buFontTx/>
              <a:buNone/>
              <a:defRPr/>
            </a:pPr>
            <a:r>
              <a:rPr lang="en-US" altLang="en-US" sz="2800" dirty="0" err="1">
                <a:latin typeface="Tahoma" panose="020B0604030504040204" pitchFamily="34" charset="0"/>
              </a:rPr>
              <a:t>doubleSet.add</a:t>
            </a:r>
            <a:r>
              <a:rPr lang="en-US" altLang="en-US" sz="2800" dirty="0">
                <a:latin typeface="Tahoma" panose="020B0604030504040204" pitchFamily="34" charset="0"/>
              </a:rPr>
              <a:t>(7.3);</a:t>
            </a:r>
          </a:p>
          <a:p>
            <a:pPr eaLnBrk="1" hangingPunct="1">
              <a:spcBef>
                <a:spcPct val="0"/>
              </a:spcBef>
              <a:buFontTx/>
              <a:buNone/>
              <a:defRPr/>
            </a:pPr>
            <a:r>
              <a:rPr lang="en-US" altLang="en-US" sz="2800" dirty="0" err="1">
                <a:solidFill>
                  <a:srgbClr val="0000CC"/>
                </a:solidFill>
                <a:latin typeface="Tahoma" panose="020B0604030504040204" pitchFamily="34" charset="0"/>
              </a:rPr>
              <a:t>System.out.println</a:t>
            </a:r>
            <a:r>
              <a:rPr lang="en-US" altLang="en-US" sz="2800" dirty="0">
                <a:solidFill>
                  <a:srgbClr val="0000CC"/>
                </a:solidFill>
                <a:latin typeface="Tahoma" panose="020B0604030504040204" pitchFamily="34" charset="0"/>
              </a:rPr>
              <a:t>(</a:t>
            </a:r>
            <a:r>
              <a:rPr lang="en-US" altLang="en-US" sz="2800" dirty="0" err="1">
                <a:solidFill>
                  <a:srgbClr val="0000CC"/>
                </a:solidFill>
                <a:latin typeface="Tahoma" panose="020B0604030504040204" pitchFamily="34" charset="0"/>
              </a:rPr>
              <a:t>doubleSet</a:t>
            </a:r>
            <a:r>
              <a:rPr lang="en-US" altLang="en-US" sz="2800" dirty="0">
                <a:solidFill>
                  <a:srgbClr val="0000CC"/>
                </a:solidFill>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doubleSet.remove</a:t>
            </a:r>
            <a:r>
              <a:rPr lang="en-US" altLang="en-US" sz="2800" dirty="0">
                <a:latin typeface="Tahoma" panose="020B0604030504040204" pitchFamily="34" charset="0"/>
              </a:rPr>
              <a:t>(5.8);</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solidFill>
                  <a:srgbClr val="7030A0"/>
                </a:solidFill>
                <a:latin typeface="Tahoma" panose="020B0604030504040204" pitchFamily="34" charset="0"/>
              </a:rPr>
              <a:t>doubleSet.remove</a:t>
            </a:r>
            <a:r>
              <a:rPr lang="en-US" altLang="en-US" sz="2800" dirty="0">
                <a:solidFill>
                  <a:srgbClr val="7030A0"/>
                </a:solidFill>
                <a:latin typeface="Tahoma" panose="020B0604030504040204" pitchFamily="34" charset="0"/>
              </a:rPr>
              <a:t>(0)</a:t>
            </a:r>
            <a:r>
              <a:rPr lang="en-US" altLang="en-US" sz="2800" dirty="0">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doubleSet</a:t>
            </a:r>
            <a:r>
              <a:rPr lang="en-US" altLang="en-US" sz="2800" dirty="0">
                <a:latin typeface="Tahoma" panose="020B0604030504040204" pitchFamily="34" charset="0"/>
              </a:rPr>
              <a:t>);</a:t>
            </a:r>
          </a:p>
        </p:txBody>
      </p:sp>
      <p:sp>
        <p:nvSpPr>
          <p:cNvPr id="48132" name="Text Box 3">
            <a:extLst>
              <a:ext uri="{FF2B5EF4-FFF2-40B4-BE49-F238E27FC236}">
                <a16:creationId xmlns:a16="http://schemas.microsoft.com/office/drawing/2014/main" id="{0D462A45-7C4B-404F-9733-2D1384172ADF}"/>
              </a:ext>
            </a:extLst>
          </p:cNvPr>
          <p:cNvSpPr txBox="1">
            <a:spLocks noChangeArrowheads="1"/>
          </p:cNvSpPr>
          <p:nvPr/>
        </p:nvSpPr>
        <p:spPr bwMode="auto">
          <a:xfrm>
            <a:off x="6324600" y="3048000"/>
            <a:ext cx="2667000" cy="230822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sz="2800">
                <a:solidFill>
                  <a:srgbClr val="0000CC"/>
                </a:solidFill>
                <a:latin typeface="Tahoma" panose="020B0604030504040204" pitchFamily="34" charset="0"/>
              </a:rPr>
              <a:t>[7.3, 2.5, 5.8]</a:t>
            </a:r>
          </a:p>
          <a:p>
            <a:pPr eaLnBrk="1" hangingPunct="1">
              <a:spcBef>
                <a:spcPct val="0"/>
              </a:spcBef>
              <a:buFontTx/>
              <a:buNone/>
            </a:pPr>
            <a:r>
              <a:rPr lang="en-US" altLang="en-US" sz="2800">
                <a:solidFill>
                  <a:srgbClr val="7030A0"/>
                </a:solidFill>
                <a:latin typeface="Tahoma" panose="020B0604030504040204" pitchFamily="34" charset="0"/>
              </a:rPr>
              <a:t>false</a:t>
            </a:r>
          </a:p>
          <a:p>
            <a:pPr eaLnBrk="1" hangingPunct="1">
              <a:spcBef>
                <a:spcPct val="0"/>
              </a:spcBef>
              <a:buFontTx/>
              <a:buNone/>
            </a:pPr>
            <a:r>
              <a:rPr lang="en-US" altLang="en-US" sz="2800">
                <a:latin typeface="Tahoma" panose="020B0604030504040204" pitchFamily="34" charset="0"/>
              </a:rPr>
              <a:t>[7.3, 2.5]</a:t>
            </a:r>
          </a:p>
          <a:p>
            <a:pPr eaLnBrk="1" hangingPunct="1">
              <a:spcBef>
                <a:spcPct val="0"/>
              </a:spcBef>
              <a:buFontTx/>
              <a:buNone/>
            </a:pPr>
            <a:endParaRPr lang="en-US" altLang="en-US" sz="2800">
              <a:solidFill>
                <a:srgbClr val="7030A0"/>
              </a:solidFill>
              <a:latin typeface="Tahoma" panose="020B0604030504040204" pitchFamily="34" charset="0"/>
            </a:endParaRPr>
          </a:p>
        </p:txBody>
      </p:sp>
      <p:sp>
        <p:nvSpPr>
          <p:cNvPr id="48133" name="WordArt 4">
            <a:extLst>
              <a:ext uri="{FF2B5EF4-FFF2-40B4-BE49-F238E27FC236}">
                <a16:creationId xmlns:a16="http://schemas.microsoft.com/office/drawing/2014/main" id="{E5D809BA-68B1-4FEB-BC7D-9D177BD01B8E}"/>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HashSet remove()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9D8A3FA1-695B-4023-ABDD-8893AB8CE16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WordArt 2">
            <a:extLst>
              <a:ext uri="{FF2B5EF4-FFF2-40B4-BE49-F238E27FC236}">
                <a16:creationId xmlns:a16="http://schemas.microsoft.com/office/drawing/2014/main" id="{C0709FFA-7F5C-40A8-BE29-6E18BE98CD0C}"/>
              </a:ext>
            </a:extLst>
          </p:cNvPr>
          <p:cNvSpPr>
            <a:spLocks noChangeArrowheads="1" noChangeShapeType="1" noTextEdit="1"/>
          </p:cNvSpPr>
          <p:nvPr/>
        </p:nvSpPr>
        <p:spPr bwMode="auto">
          <a:xfrm>
            <a:off x="457200" y="1447800"/>
            <a:ext cx="8229600" cy="3657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hashsetremove.java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2">
            <a:extLst>
              <a:ext uri="{FF2B5EF4-FFF2-40B4-BE49-F238E27FC236}">
                <a16:creationId xmlns:a16="http://schemas.microsoft.com/office/drawing/2014/main" id="{149D2C68-0662-44F1-A920-3DEE3BED2ADB}"/>
              </a:ext>
            </a:extLst>
          </p:cNvPr>
          <p:cNvSpPr txBox="1">
            <a:spLocks noChangeArrowheads="1"/>
          </p:cNvSpPr>
          <p:nvPr/>
        </p:nvSpPr>
        <p:spPr bwMode="auto">
          <a:xfrm>
            <a:off x="533400" y="1524000"/>
            <a:ext cx="657542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Set&lt;Integer&gt; intSet;</a:t>
            </a:r>
          </a:p>
          <a:p>
            <a:pPr eaLnBrk="1" hangingPunct="1">
              <a:spcBef>
                <a:spcPct val="0"/>
              </a:spcBef>
              <a:buFontTx/>
              <a:buNone/>
            </a:pPr>
            <a:r>
              <a:rPr lang="en-US" altLang="en-US" sz="2800">
                <a:latin typeface="Tahoma" panose="020B0604030504040204" pitchFamily="34" charset="0"/>
              </a:rPr>
              <a:t>intSet = new </a:t>
            </a:r>
            <a:r>
              <a:rPr lang="en-US" altLang="en-US" sz="2800">
                <a:solidFill>
                  <a:srgbClr val="3333FF"/>
                </a:solidFill>
                <a:latin typeface="Tahoma" panose="020B0604030504040204" pitchFamily="34" charset="0"/>
              </a:rPr>
              <a:t>TreeSet</a:t>
            </a:r>
            <a:r>
              <a:rPr lang="en-US" altLang="en-US" sz="2800">
                <a:latin typeface="Tahoma" panose="020B0604030504040204" pitchFamily="34" charset="0"/>
              </a:rPr>
              <a:t>&lt;Integer&gt;();</a:t>
            </a:r>
          </a:p>
          <a:p>
            <a:pPr eaLnBrk="1" hangingPunct="1">
              <a:spcBef>
                <a:spcPct val="0"/>
              </a:spcBef>
              <a:buFontTx/>
              <a:buNone/>
            </a:pPr>
            <a:r>
              <a:rPr lang="en-US" altLang="en-US" sz="2800">
                <a:latin typeface="Tahoma" panose="020B0604030504040204" pitchFamily="34" charset="0"/>
              </a:rPr>
              <a:t>System.out.println(intSet.add(45));</a:t>
            </a:r>
          </a:p>
          <a:p>
            <a:pPr eaLnBrk="1" hangingPunct="1">
              <a:spcBef>
                <a:spcPct val="0"/>
              </a:spcBef>
              <a:buFontTx/>
              <a:buNone/>
            </a:pPr>
            <a:r>
              <a:rPr lang="en-US" altLang="en-US" sz="2800">
                <a:latin typeface="Tahoma" panose="020B0604030504040204" pitchFamily="34" charset="0"/>
              </a:rPr>
              <a:t>intSet.add(12);</a:t>
            </a:r>
          </a:p>
          <a:p>
            <a:pPr eaLnBrk="1" hangingPunct="1">
              <a:spcBef>
                <a:spcPct val="0"/>
              </a:spcBef>
              <a:buFontTx/>
              <a:buNone/>
            </a:pPr>
            <a:r>
              <a:rPr lang="en-US" altLang="en-US" sz="2800">
                <a:latin typeface="Tahoma" panose="020B0604030504040204" pitchFamily="34" charset="0"/>
              </a:rPr>
              <a:t>System.out.println(intSet.add(12));</a:t>
            </a:r>
          </a:p>
          <a:p>
            <a:pPr eaLnBrk="1" hangingPunct="1">
              <a:spcBef>
                <a:spcPct val="0"/>
              </a:spcBef>
              <a:buFontTx/>
              <a:buNone/>
            </a:pPr>
            <a:r>
              <a:rPr lang="en-US" altLang="en-US" sz="2800">
                <a:latin typeface="Tahoma" panose="020B0604030504040204" pitchFamily="34" charset="0"/>
              </a:rPr>
              <a:t>intSet.add(23);</a:t>
            </a:r>
          </a:p>
          <a:p>
            <a:pPr eaLnBrk="1" hangingPunct="1">
              <a:spcBef>
                <a:spcPct val="0"/>
              </a:spcBef>
              <a:buFontTx/>
              <a:buNone/>
            </a:pPr>
            <a:r>
              <a:rPr lang="en-US" altLang="en-US" sz="2800">
                <a:latin typeface="Tahoma" panose="020B0604030504040204" pitchFamily="34" charset="0"/>
              </a:rPr>
              <a:t>System.out.println(intSet);</a:t>
            </a:r>
          </a:p>
        </p:txBody>
      </p:sp>
      <p:sp>
        <p:nvSpPr>
          <p:cNvPr id="52228" name="WordArt 3">
            <a:extLst>
              <a:ext uri="{FF2B5EF4-FFF2-40B4-BE49-F238E27FC236}">
                <a16:creationId xmlns:a16="http://schemas.microsoft.com/office/drawing/2014/main" id="{573A181C-33EE-4A57-842D-8C4EF5D49159}"/>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TreeSet add</a:t>
            </a:r>
          </a:p>
        </p:txBody>
      </p:sp>
      <p:sp>
        <p:nvSpPr>
          <p:cNvPr id="52229" name="Text Box 4">
            <a:extLst>
              <a:ext uri="{FF2B5EF4-FFF2-40B4-BE49-F238E27FC236}">
                <a16:creationId xmlns:a16="http://schemas.microsoft.com/office/drawing/2014/main" id="{6158EE32-0448-435A-852B-9C0142E26AD8}"/>
              </a:ext>
            </a:extLst>
          </p:cNvPr>
          <p:cNvSpPr txBox="1">
            <a:spLocks noChangeArrowheads="1"/>
          </p:cNvSpPr>
          <p:nvPr/>
        </p:nvSpPr>
        <p:spPr bwMode="auto">
          <a:xfrm>
            <a:off x="6248400" y="3962400"/>
            <a:ext cx="2667000" cy="206216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dirty="0">
                <a:latin typeface="Tahoma" panose="020B0604030504040204" pitchFamily="34" charset="0"/>
              </a:rPr>
              <a:t>true</a:t>
            </a:r>
            <a:br>
              <a:rPr lang="en-US" altLang="en-US" u="sng" dirty="0">
                <a:solidFill>
                  <a:srgbClr val="FF0000"/>
                </a:solidFill>
                <a:latin typeface="Tahoma" panose="020B0604030504040204" pitchFamily="34" charset="0"/>
              </a:rPr>
            </a:br>
            <a:r>
              <a:rPr lang="en-US" altLang="en-US" dirty="0">
                <a:latin typeface="Tahoma" panose="020B0604030504040204" pitchFamily="34" charset="0"/>
              </a:rPr>
              <a:t>false</a:t>
            </a:r>
            <a:br>
              <a:rPr lang="en-US" altLang="en-US" dirty="0">
                <a:latin typeface="Tahoma" panose="020B0604030504040204" pitchFamily="34" charset="0"/>
              </a:rPr>
            </a:br>
            <a:r>
              <a:rPr lang="en-US" altLang="en-US" dirty="0">
                <a:solidFill>
                  <a:srgbClr val="7030A0"/>
                </a:solidFill>
                <a:latin typeface="Tahoma" panose="020B0604030504040204" pitchFamily="34" charset="0"/>
              </a:rPr>
              <a:t>[12, 23, 45]</a:t>
            </a:r>
          </a:p>
        </p:txBody>
      </p:sp>
      <p:sp>
        <p:nvSpPr>
          <p:cNvPr id="7" name="TextBox 6">
            <a:extLst>
              <a:ext uri="{FF2B5EF4-FFF2-40B4-BE49-F238E27FC236}">
                <a16:creationId xmlns:a16="http://schemas.microsoft.com/office/drawing/2014/main" id="{3BB2D5C3-3187-4253-B156-0C477747BB49}"/>
              </a:ext>
            </a:extLst>
          </p:cNvPr>
          <p:cNvSpPr txBox="1"/>
          <p:nvPr/>
        </p:nvSpPr>
        <p:spPr>
          <a:xfrm>
            <a:off x="152400" y="4876800"/>
            <a:ext cx="5181600" cy="1569660"/>
          </a:xfrm>
          <a:prstGeom prst="rect">
            <a:avLst/>
          </a:prstGeom>
          <a:noFill/>
        </p:spPr>
        <p:txBody>
          <a:bodyPr wrap="square">
            <a:spAutoFit/>
          </a:bodyPr>
          <a:lstStyle/>
          <a:p>
            <a:pPr algn="ctr"/>
            <a:r>
              <a:rPr lang="en-US" altLang="en-US" sz="3200" dirty="0" err="1">
                <a:solidFill>
                  <a:srgbClr val="7030A0"/>
                </a:solidFill>
                <a:latin typeface="Tahoma" panose="020B0604030504040204" pitchFamily="34" charset="0"/>
              </a:rPr>
              <a:t>TreeSets</a:t>
            </a:r>
            <a:r>
              <a:rPr lang="en-US" altLang="en-US" sz="3200" dirty="0">
                <a:solidFill>
                  <a:srgbClr val="7030A0"/>
                </a:solidFill>
                <a:latin typeface="Tahoma" panose="020B0604030504040204" pitchFamily="34" charset="0"/>
              </a:rPr>
              <a:t> behave exactly like </a:t>
            </a:r>
            <a:r>
              <a:rPr lang="en-US" altLang="en-US" sz="3200" dirty="0" err="1">
                <a:solidFill>
                  <a:srgbClr val="7030A0"/>
                </a:solidFill>
                <a:latin typeface="Tahoma" panose="020B0604030504040204" pitchFamily="34" charset="0"/>
              </a:rPr>
              <a:t>HashSets</a:t>
            </a:r>
            <a:r>
              <a:rPr lang="en-US" altLang="en-US" sz="3200" dirty="0">
                <a:solidFill>
                  <a:srgbClr val="7030A0"/>
                </a:solidFill>
                <a:latin typeface="Tahoma" panose="020B0604030504040204" pitchFamily="34" charset="0"/>
              </a:rPr>
              <a:t>, except they are in order:</a:t>
            </a:r>
            <a:endParaRPr lang="en-US" sz="3200" dirty="0"/>
          </a:p>
        </p:txBody>
      </p:sp>
      <p:cxnSp>
        <p:nvCxnSpPr>
          <p:cNvPr id="4" name="Straight Arrow Connector 3">
            <a:extLst>
              <a:ext uri="{FF2B5EF4-FFF2-40B4-BE49-F238E27FC236}">
                <a16:creationId xmlns:a16="http://schemas.microsoft.com/office/drawing/2014/main" id="{2406A507-5EC2-4C07-8B52-7ECDED59B8CD}"/>
              </a:ext>
            </a:extLst>
          </p:cNvPr>
          <p:cNvCxnSpPr/>
          <p:nvPr/>
        </p:nvCxnSpPr>
        <p:spPr bwMode="auto">
          <a:xfrm>
            <a:off x="5029200" y="5715000"/>
            <a:ext cx="1143000" cy="0"/>
          </a:xfrm>
          <a:prstGeom prst="straightConnector1">
            <a:avLst/>
          </a:prstGeom>
          <a:solidFill>
            <a:schemeClr val="accent1"/>
          </a:solidFill>
          <a:ln w="57150" cap="flat" cmpd="sng" algn="ctr">
            <a:solidFill>
              <a:srgbClr val="7030A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2">
            <a:extLst>
              <a:ext uri="{FF2B5EF4-FFF2-40B4-BE49-F238E27FC236}">
                <a16:creationId xmlns:a16="http://schemas.microsoft.com/office/drawing/2014/main" id="{E0E4B13B-A769-4379-83E0-60F93A95F018}"/>
              </a:ext>
            </a:extLst>
          </p:cNvPr>
          <p:cNvSpPr txBox="1">
            <a:spLocks noChangeArrowheads="1"/>
          </p:cNvSpPr>
          <p:nvPr/>
        </p:nvSpPr>
        <p:spPr bwMode="auto">
          <a:xfrm>
            <a:off x="533400" y="1981200"/>
            <a:ext cx="66675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Set&lt;String&gt; stringSet;</a:t>
            </a:r>
          </a:p>
          <a:p>
            <a:pPr eaLnBrk="1" hangingPunct="1">
              <a:spcBef>
                <a:spcPct val="0"/>
              </a:spcBef>
              <a:buFontTx/>
              <a:buNone/>
            </a:pPr>
            <a:r>
              <a:rPr lang="en-US" altLang="en-US" sz="2800">
                <a:latin typeface="Tahoma" panose="020B0604030504040204" pitchFamily="34" charset="0"/>
              </a:rPr>
              <a:t>stringSet = new </a:t>
            </a:r>
            <a:r>
              <a:rPr lang="en-US" altLang="en-US" sz="2800">
                <a:solidFill>
                  <a:srgbClr val="3333FF"/>
                </a:solidFill>
                <a:latin typeface="Tahoma" panose="020B0604030504040204" pitchFamily="34" charset="0"/>
              </a:rPr>
              <a:t>TreeSet</a:t>
            </a:r>
            <a:r>
              <a:rPr lang="en-US" altLang="en-US" sz="2800">
                <a:latin typeface="Tahoma" panose="020B0604030504040204" pitchFamily="34" charset="0"/>
              </a:rPr>
              <a:t>&lt;String&gt;();</a:t>
            </a:r>
          </a:p>
          <a:p>
            <a:pPr eaLnBrk="1" hangingPunct="1">
              <a:spcBef>
                <a:spcPct val="0"/>
              </a:spcBef>
              <a:buFontTx/>
              <a:buNone/>
            </a:pPr>
            <a:r>
              <a:rPr lang="en-US" altLang="en-US" sz="2800">
                <a:latin typeface="Tahoma" panose="020B0604030504040204" pitchFamily="34" charset="0"/>
              </a:rPr>
              <a:t>stringSet.add("AB");</a:t>
            </a:r>
          </a:p>
          <a:p>
            <a:pPr eaLnBrk="1" hangingPunct="1">
              <a:spcBef>
                <a:spcPct val="0"/>
              </a:spcBef>
              <a:buFontTx/>
              <a:buNone/>
            </a:pPr>
            <a:r>
              <a:rPr lang="en-US" altLang="en-US" sz="2800">
                <a:latin typeface="Tahoma" panose="020B0604030504040204" pitchFamily="34" charset="0"/>
              </a:rPr>
              <a:t>stringSet.add("23");</a:t>
            </a:r>
          </a:p>
          <a:p>
            <a:pPr eaLnBrk="1" hangingPunct="1">
              <a:spcBef>
                <a:spcPct val="0"/>
              </a:spcBef>
              <a:buFontTx/>
              <a:buNone/>
            </a:pPr>
            <a:r>
              <a:rPr lang="en-US" altLang="en-US" sz="2800">
                <a:latin typeface="Tahoma" panose="020B0604030504040204" pitchFamily="34" charset="0"/>
              </a:rPr>
              <a:t>stringSet.add("ab");</a:t>
            </a:r>
          </a:p>
          <a:p>
            <a:pPr eaLnBrk="1" hangingPunct="1">
              <a:spcBef>
                <a:spcPct val="0"/>
              </a:spcBef>
              <a:buFontTx/>
              <a:buNone/>
            </a:pPr>
            <a:r>
              <a:rPr lang="en-US" altLang="en-US" sz="2800">
                <a:latin typeface="Tahoma" panose="020B0604030504040204" pitchFamily="34" charset="0"/>
              </a:rPr>
              <a:t>System.out.println(stringSet);</a:t>
            </a:r>
          </a:p>
        </p:txBody>
      </p:sp>
      <p:sp>
        <p:nvSpPr>
          <p:cNvPr id="54276" name="Text Box 3">
            <a:extLst>
              <a:ext uri="{FF2B5EF4-FFF2-40B4-BE49-F238E27FC236}">
                <a16:creationId xmlns:a16="http://schemas.microsoft.com/office/drawing/2014/main" id="{12682586-A2B1-4089-AE91-F04DDD31ADA8}"/>
              </a:ext>
            </a:extLst>
          </p:cNvPr>
          <p:cNvSpPr txBox="1">
            <a:spLocks noChangeArrowheads="1"/>
          </p:cNvSpPr>
          <p:nvPr/>
        </p:nvSpPr>
        <p:spPr bwMode="auto">
          <a:xfrm>
            <a:off x="6324600" y="3352800"/>
            <a:ext cx="2667000" cy="10795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dirty="0">
                <a:solidFill>
                  <a:srgbClr val="7030A0"/>
                </a:solidFill>
                <a:latin typeface="Tahoma" panose="020B0604030504040204" pitchFamily="34" charset="0"/>
              </a:rPr>
              <a:t>[23, AB, ab]</a:t>
            </a:r>
          </a:p>
        </p:txBody>
      </p:sp>
      <p:sp>
        <p:nvSpPr>
          <p:cNvPr id="54277" name="WordArt 4">
            <a:extLst>
              <a:ext uri="{FF2B5EF4-FFF2-40B4-BE49-F238E27FC236}">
                <a16:creationId xmlns:a16="http://schemas.microsoft.com/office/drawing/2014/main" id="{FFB08C12-1CC1-4F21-B5C2-A6A6D0AE0476}"/>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TreeSet add</a:t>
            </a:r>
          </a:p>
        </p:txBody>
      </p:sp>
      <p:sp>
        <p:nvSpPr>
          <p:cNvPr id="6" name="TextBox 5">
            <a:extLst>
              <a:ext uri="{FF2B5EF4-FFF2-40B4-BE49-F238E27FC236}">
                <a16:creationId xmlns:a16="http://schemas.microsoft.com/office/drawing/2014/main" id="{A29BA906-A3CF-420B-B9BC-693DD420C91E}"/>
              </a:ext>
            </a:extLst>
          </p:cNvPr>
          <p:cNvSpPr txBox="1"/>
          <p:nvPr/>
        </p:nvSpPr>
        <p:spPr>
          <a:xfrm>
            <a:off x="4722642" y="5473700"/>
            <a:ext cx="2895600" cy="584775"/>
          </a:xfrm>
          <a:prstGeom prst="rect">
            <a:avLst/>
          </a:prstGeom>
          <a:noFill/>
        </p:spPr>
        <p:txBody>
          <a:bodyPr wrap="square">
            <a:spAutoFit/>
          </a:bodyPr>
          <a:lstStyle/>
          <a:p>
            <a:pPr algn="ctr"/>
            <a:r>
              <a:rPr lang="en-US" altLang="en-US" sz="3200" dirty="0">
                <a:solidFill>
                  <a:srgbClr val="7030A0"/>
                </a:solidFill>
                <a:latin typeface="Tahoma" panose="020B0604030504040204" pitchFamily="34" charset="0"/>
              </a:rPr>
              <a:t>In order!</a:t>
            </a:r>
            <a:endParaRPr lang="en-US" sz="3200" dirty="0"/>
          </a:p>
        </p:txBody>
      </p:sp>
      <p:cxnSp>
        <p:nvCxnSpPr>
          <p:cNvPr id="7" name="Straight Arrow Connector 6">
            <a:extLst>
              <a:ext uri="{FF2B5EF4-FFF2-40B4-BE49-F238E27FC236}">
                <a16:creationId xmlns:a16="http://schemas.microsoft.com/office/drawing/2014/main" id="{56E3C3D6-3D5F-41EB-B252-6B89F2D353BE}"/>
              </a:ext>
            </a:extLst>
          </p:cNvPr>
          <p:cNvCxnSpPr/>
          <p:nvPr/>
        </p:nvCxnSpPr>
        <p:spPr bwMode="auto">
          <a:xfrm flipV="1">
            <a:off x="6324600" y="4507925"/>
            <a:ext cx="685800" cy="965775"/>
          </a:xfrm>
          <a:prstGeom prst="straightConnector1">
            <a:avLst/>
          </a:prstGeom>
          <a:solidFill>
            <a:schemeClr val="accent1"/>
          </a:solidFill>
          <a:ln w="57150" cap="flat" cmpd="sng" algn="ctr">
            <a:solidFill>
              <a:srgbClr val="7030A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D51B0881-5E27-49D2-A105-EEA23C26F70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6323" name="WordArt 2">
            <a:extLst>
              <a:ext uri="{FF2B5EF4-FFF2-40B4-BE49-F238E27FC236}">
                <a16:creationId xmlns:a16="http://schemas.microsoft.com/office/drawing/2014/main" id="{67223531-5582-42A1-9895-62A279B3AA79}"/>
              </a:ext>
            </a:extLst>
          </p:cNvPr>
          <p:cNvSpPr>
            <a:spLocks noChangeArrowheads="1" noChangeShapeType="1" noTextEdit="1"/>
          </p:cNvSpPr>
          <p:nvPr/>
        </p:nvSpPr>
        <p:spPr bwMode="auto">
          <a:xfrm>
            <a:off x="381000" y="685800"/>
            <a:ext cx="7467600" cy="4876800"/>
          </a:xfrm>
          <a:prstGeom prst="rect">
            <a:avLst/>
          </a:prstGeom>
        </p:spPr>
        <p:txBody>
          <a:bodyPr wrap="none" fromWordArt="1">
            <a:prstTxWarp prst="textPlain">
              <a:avLst>
                <a:gd name="adj" fmla="val 50000"/>
              </a:avLst>
            </a:prstTxWarp>
          </a:bodyPr>
          <a:lstStyle/>
          <a:p>
            <a:pPr algn="ctr"/>
            <a:r>
              <a:rPr lang="nn-NO"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nn-NO"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treesetint.java</a:t>
            </a:r>
          </a:p>
          <a:p>
            <a:pPr algn="ctr"/>
            <a:r>
              <a:rPr lang="nn-NO"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treesetstring.java</a:t>
            </a:r>
            <a:endPar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2">
            <a:extLst>
              <a:ext uri="{FF2B5EF4-FFF2-40B4-BE49-F238E27FC236}">
                <a16:creationId xmlns:a16="http://schemas.microsoft.com/office/drawing/2014/main" id="{EDA194D2-F309-4784-908C-461B3D71016B}"/>
              </a:ext>
            </a:extLst>
          </p:cNvPr>
          <p:cNvSpPr txBox="1">
            <a:spLocks noChangeArrowheads="1"/>
          </p:cNvSpPr>
          <p:nvPr/>
        </p:nvSpPr>
        <p:spPr bwMode="auto">
          <a:xfrm>
            <a:off x="533400" y="1981200"/>
            <a:ext cx="7013575"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a:t>
            </a:r>
            <a:r>
              <a:rPr lang="en-US" altLang="en-US" sz="2800" dirty="0" err="1">
                <a:latin typeface="Tahoma" panose="020B0604030504040204" pitchFamily="34" charset="0"/>
              </a:rPr>
              <a:t>doubleSet</a:t>
            </a:r>
            <a:r>
              <a:rPr lang="en-US" altLang="en-US" sz="2800" dirty="0">
                <a:latin typeface="Tahoma" panose="020B0604030504040204" pitchFamily="34" charset="0"/>
              </a:rPr>
              <a:t>;</a:t>
            </a:r>
          </a:p>
          <a:p>
            <a:pPr eaLnBrk="1" hangingPunct="1">
              <a:spcBef>
                <a:spcPct val="0"/>
              </a:spcBef>
              <a:buFontTx/>
              <a:buNone/>
            </a:pPr>
            <a:r>
              <a:rPr lang="en-US" altLang="en-US" sz="2800" dirty="0" err="1">
                <a:latin typeface="Tahoma" panose="020B0604030504040204" pitchFamily="34" charset="0"/>
              </a:rPr>
              <a:t>doubleSet</a:t>
            </a:r>
            <a:r>
              <a:rPr lang="en-US" altLang="en-US" sz="2800" dirty="0">
                <a:latin typeface="Tahoma" panose="020B0604030504040204" pitchFamily="34" charset="0"/>
              </a:rPr>
              <a:t> = new </a:t>
            </a:r>
            <a:r>
              <a:rPr lang="en-US" altLang="en-US" sz="2800" dirty="0" err="1">
                <a:solidFill>
                  <a:srgbClr val="3333FF"/>
                </a:solidFill>
                <a:latin typeface="Tahoma" panose="020B0604030504040204" pitchFamily="34" charset="0"/>
              </a:rPr>
              <a:t>TreeSet</a:t>
            </a:r>
            <a:r>
              <a:rPr lang="en-US" altLang="en-US" sz="2800" dirty="0">
                <a:latin typeface="Tahoma" panose="020B0604030504040204" pitchFamily="34" charset="0"/>
              </a:rPr>
              <a:t>&lt;Double&gt;();</a:t>
            </a:r>
          </a:p>
          <a:p>
            <a:pPr eaLnBrk="1" hangingPunct="1">
              <a:spcBef>
                <a:spcPct val="0"/>
              </a:spcBef>
              <a:buFontTx/>
              <a:buNone/>
            </a:pPr>
            <a:r>
              <a:rPr lang="en-US" altLang="en-US" sz="2800" dirty="0" err="1">
                <a:latin typeface="Tahoma" panose="020B0604030504040204" pitchFamily="34" charset="0"/>
              </a:rPr>
              <a:t>doubleSet.add</a:t>
            </a:r>
            <a:r>
              <a:rPr lang="en-US" altLang="en-US" sz="2800" dirty="0">
                <a:latin typeface="Tahoma" panose="020B0604030504040204" pitchFamily="34" charset="0"/>
              </a:rPr>
              <a:t>(2.5);</a:t>
            </a:r>
          </a:p>
          <a:p>
            <a:pPr eaLnBrk="1" hangingPunct="1">
              <a:spcBef>
                <a:spcPct val="0"/>
              </a:spcBef>
              <a:buFontTx/>
              <a:buNone/>
            </a:pPr>
            <a:r>
              <a:rPr lang="en-US" altLang="en-US" sz="2800" dirty="0" err="1">
                <a:latin typeface="Tahoma" panose="020B0604030504040204" pitchFamily="34" charset="0"/>
              </a:rPr>
              <a:t>doubleSet.add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doubleSet.add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doubleSet</a:t>
            </a:r>
            <a:r>
              <a:rPr lang="en-US" altLang="en-US" sz="2800" dirty="0">
                <a:latin typeface="Tahoma" panose="020B0604030504040204" pitchFamily="34" charset="0"/>
              </a:rPr>
              <a:t>);</a:t>
            </a:r>
          </a:p>
          <a:p>
            <a:pPr eaLnBrk="1" hangingPunct="1">
              <a:spcBef>
                <a:spcPct val="0"/>
              </a:spcBef>
              <a:buFontTx/>
              <a:buNone/>
            </a:pPr>
            <a:r>
              <a:rPr lang="en-US" altLang="en-US" sz="2800" dirty="0" err="1">
                <a:latin typeface="Tahoma" panose="020B0604030504040204" pitchFamily="34" charset="0"/>
              </a:rPr>
              <a:t>doubleSet.remove</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doubleSet.remove</a:t>
            </a:r>
            <a:r>
              <a:rPr lang="en-US" altLang="en-US" sz="2800" dirty="0">
                <a:latin typeface="Tahoma" panose="020B0604030504040204" pitchFamily="34" charset="0"/>
              </a:rPr>
              <a:t>(0.0);</a:t>
            </a:r>
          </a:p>
          <a:p>
            <a:pPr eaLnBrk="1" hangingPunct="1">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doubleSet</a:t>
            </a:r>
            <a:r>
              <a:rPr lang="en-US" altLang="en-US" sz="2800" dirty="0">
                <a:latin typeface="Tahoma" panose="020B0604030504040204" pitchFamily="34" charset="0"/>
              </a:rPr>
              <a:t>);</a:t>
            </a:r>
          </a:p>
        </p:txBody>
      </p:sp>
      <p:sp>
        <p:nvSpPr>
          <p:cNvPr id="58372" name="Text Box 3">
            <a:extLst>
              <a:ext uri="{FF2B5EF4-FFF2-40B4-BE49-F238E27FC236}">
                <a16:creationId xmlns:a16="http://schemas.microsoft.com/office/drawing/2014/main" id="{ED42D945-C182-4260-96AF-43250E03B985}"/>
              </a:ext>
            </a:extLst>
          </p:cNvPr>
          <p:cNvSpPr txBox="1">
            <a:spLocks noChangeArrowheads="1"/>
          </p:cNvSpPr>
          <p:nvPr/>
        </p:nvSpPr>
        <p:spPr bwMode="auto">
          <a:xfrm>
            <a:off x="6324600" y="3352800"/>
            <a:ext cx="2667000" cy="144621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7030A0"/>
                </a:solidFill>
                <a:latin typeface="Tahoma" panose="020B0604030504040204" pitchFamily="34" charset="0"/>
              </a:rPr>
              <a:t>[2.5, 5.8, 7.3]</a:t>
            </a:r>
          </a:p>
          <a:p>
            <a:pPr eaLnBrk="1" hangingPunct="1">
              <a:spcBef>
                <a:spcPct val="0"/>
              </a:spcBef>
              <a:buFontTx/>
              <a:buNone/>
            </a:pPr>
            <a:r>
              <a:rPr lang="en-US" altLang="en-US" sz="2800" dirty="0">
                <a:solidFill>
                  <a:srgbClr val="7030A0"/>
                </a:solidFill>
                <a:latin typeface="Tahoma" panose="020B0604030504040204" pitchFamily="34" charset="0"/>
              </a:rPr>
              <a:t>[2.5, 7.3]</a:t>
            </a:r>
          </a:p>
        </p:txBody>
      </p:sp>
      <p:sp>
        <p:nvSpPr>
          <p:cNvPr id="58373" name="WordArt 4">
            <a:extLst>
              <a:ext uri="{FF2B5EF4-FFF2-40B4-BE49-F238E27FC236}">
                <a16:creationId xmlns:a16="http://schemas.microsoft.com/office/drawing/2014/main" id="{9F1C0011-FC42-45FC-B9AC-79DA96E3E39A}"/>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TreeSet remove()</a:t>
            </a:r>
          </a:p>
        </p:txBody>
      </p:sp>
      <p:sp>
        <p:nvSpPr>
          <p:cNvPr id="6" name="TextBox 5">
            <a:extLst>
              <a:ext uri="{FF2B5EF4-FFF2-40B4-BE49-F238E27FC236}">
                <a16:creationId xmlns:a16="http://schemas.microsoft.com/office/drawing/2014/main" id="{3A7B44CA-6902-4CE9-BDDB-47758C44F75A}"/>
              </a:ext>
            </a:extLst>
          </p:cNvPr>
          <p:cNvSpPr txBox="1"/>
          <p:nvPr/>
        </p:nvSpPr>
        <p:spPr>
          <a:xfrm>
            <a:off x="6135688" y="5905120"/>
            <a:ext cx="2895600" cy="584775"/>
          </a:xfrm>
          <a:prstGeom prst="rect">
            <a:avLst/>
          </a:prstGeom>
          <a:noFill/>
        </p:spPr>
        <p:txBody>
          <a:bodyPr wrap="square">
            <a:spAutoFit/>
          </a:bodyPr>
          <a:lstStyle/>
          <a:p>
            <a:pPr algn="ctr"/>
            <a:r>
              <a:rPr lang="en-US" altLang="en-US" sz="3200" dirty="0">
                <a:solidFill>
                  <a:srgbClr val="7030A0"/>
                </a:solidFill>
                <a:latin typeface="Tahoma" panose="020B0604030504040204" pitchFamily="34" charset="0"/>
              </a:rPr>
              <a:t>In order!</a:t>
            </a:r>
            <a:endParaRPr lang="en-US" sz="3200" dirty="0"/>
          </a:p>
        </p:txBody>
      </p:sp>
      <p:cxnSp>
        <p:nvCxnSpPr>
          <p:cNvPr id="7" name="Straight Arrow Connector 6">
            <a:extLst>
              <a:ext uri="{FF2B5EF4-FFF2-40B4-BE49-F238E27FC236}">
                <a16:creationId xmlns:a16="http://schemas.microsoft.com/office/drawing/2014/main" id="{6E87DD93-465E-4BE0-88AE-011535FCCCB9}"/>
              </a:ext>
            </a:extLst>
          </p:cNvPr>
          <p:cNvCxnSpPr/>
          <p:nvPr/>
        </p:nvCxnSpPr>
        <p:spPr bwMode="auto">
          <a:xfrm flipH="1" flipV="1">
            <a:off x="7545558" y="4912450"/>
            <a:ext cx="74442" cy="1004163"/>
          </a:xfrm>
          <a:prstGeom prst="straightConnector1">
            <a:avLst/>
          </a:prstGeom>
          <a:solidFill>
            <a:schemeClr val="accent1"/>
          </a:solidFill>
          <a:ln w="57150" cap="flat" cmpd="sng" algn="ctr">
            <a:solidFill>
              <a:srgbClr val="7030A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D0CC1BAE-50CB-49EF-B496-E9BE90CA94F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0419" name="WordArt 2">
            <a:extLst>
              <a:ext uri="{FF2B5EF4-FFF2-40B4-BE49-F238E27FC236}">
                <a16:creationId xmlns:a16="http://schemas.microsoft.com/office/drawing/2014/main" id="{AE306BF5-E16B-4B29-AC4A-DA074D8123D5}"/>
              </a:ext>
            </a:extLst>
          </p:cNvPr>
          <p:cNvSpPr>
            <a:spLocks noChangeArrowheads="1" noChangeShapeType="1" noTextEdit="1"/>
          </p:cNvSpPr>
          <p:nvPr/>
        </p:nvSpPr>
        <p:spPr bwMode="auto">
          <a:xfrm>
            <a:off x="457200" y="1447800"/>
            <a:ext cx="8229600" cy="3657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treesetremove.java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0B6F5-E0CC-4F0D-A8F1-2B4C80F26A77}"/>
              </a:ext>
            </a:extLst>
          </p:cNvPr>
          <p:cNvSpPr txBox="1"/>
          <p:nvPr/>
        </p:nvSpPr>
        <p:spPr>
          <a:xfrm>
            <a:off x="1524000" y="228600"/>
            <a:ext cx="5979522" cy="923330"/>
          </a:xfrm>
          <a:prstGeom prst="rect">
            <a:avLst/>
          </a:prstGeom>
          <a:noFill/>
        </p:spPr>
        <p:txBody>
          <a:bodyPr wrap="none" rtlCol="0">
            <a:spAutoFit/>
          </a:bodyPr>
          <a:lstStyle/>
          <a:p>
            <a:r>
              <a:rPr lang="en-US" sz="5400" dirty="0">
                <a:solidFill>
                  <a:srgbClr val="C00000"/>
                </a:solidFill>
              </a:rPr>
              <a:t>Sets aren’t Lists!</a:t>
            </a:r>
          </a:p>
        </p:txBody>
      </p:sp>
      <p:sp>
        <p:nvSpPr>
          <p:cNvPr id="4" name="TextBox 3">
            <a:extLst>
              <a:ext uri="{FF2B5EF4-FFF2-40B4-BE49-F238E27FC236}">
                <a16:creationId xmlns:a16="http://schemas.microsoft.com/office/drawing/2014/main" id="{FBB0C718-7B9C-4BBE-BBA8-54E8E6ED274D}"/>
              </a:ext>
            </a:extLst>
          </p:cNvPr>
          <p:cNvSpPr txBox="1"/>
          <p:nvPr/>
        </p:nvSpPr>
        <p:spPr>
          <a:xfrm>
            <a:off x="533400" y="1752600"/>
            <a:ext cx="7620000" cy="4154984"/>
          </a:xfrm>
          <a:prstGeom prst="rect">
            <a:avLst/>
          </a:prstGeom>
          <a:noFill/>
        </p:spPr>
        <p:txBody>
          <a:bodyPr wrap="square" rtlCol="0">
            <a:spAutoFit/>
          </a:bodyPr>
          <a:lstStyle/>
          <a:p>
            <a:pPr algn="ctr"/>
            <a:r>
              <a:rPr lang="en-US" sz="3200" dirty="0"/>
              <a:t>List methods Sets don’t have:</a:t>
            </a:r>
          </a:p>
          <a:p>
            <a:endParaRPr lang="en-US" sz="3200" dirty="0"/>
          </a:p>
          <a:p>
            <a:pPr marL="0" marR="0" algn="ctr">
              <a:spcBef>
                <a:spcPts val="0"/>
              </a:spcBef>
              <a:spcAft>
                <a:spcPts val="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get(i)</a:t>
            </a:r>
          </a:p>
          <a:p>
            <a:pPr marL="0" marR="0" algn="ctr">
              <a:spcBef>
                <a:spcPts val="0"/>
              </a:spcBef>
              <a:spcAft>
                <a:spcPts val="0"/>
              </a:spcAft>
            </a:pPr>
            <a:r>
              <a:rPr lang="en-US" sz="4000" dirty="0" err="1">
                <a:effectLst/>
                <a:latin typeface="Calibri" panose="020F0502020204030204" pitchFamily="34" charset="0"/>
                <a:ea typeface="Calibri" panose="020F0502020204030204" pitchFamily="34" charset="0"/>
                <a:cs typeface="Times New Roman" panose="02020603050405020304" pitchFamily="18" charset="0"/>
              </a:rPr>
              <a:t>indexOf</a:t>
            </a:r>
            <a:r>
              <a:rPr lang="en-US" sz="4000" dirty="0">
                <a:effectLst/>
                <a:latin typeface="Calibri" panose="020F0502020204030204" pitchFamily="34" charset="0"/>
                <a:ea typeface="Calibri" panose="020F0502020204030204" pitchFamily="34" charset="0"/>
                <a:cs typeface="Times New Roman" panose="02020603050405020304" pitchFamily="18" charset="0"/>
              </a:rPr>
              <a:t>(E)</a:t>
            </a:r>
          </a:p>
          <a:p>
            <a:pPr marL="0" marR="0" algn="ctr">
              <a:spcBef>
                <a:spcPts val="0"/>
              </a:spcBef>
              <a:spcAft>
                <a:spcPts val="0"/>
              </a:spcAft>
            </a:pPr>
            <a:r>
              <a:rPr lang="en-US" sz="4000" dirty="0" err="1">
                <a:effectLst/>
                <a:latin typeface="Calibri" panose="020F0502020204030204" pitchFamily="34" charset="0"/>
                <a:ea typeface="Calibri" panose="020F0502020204030204" pitchFamily="34" charset="0"/>
                <a:cs typeface="Times New Roman" panose="02020603050405020304" pitchFamily="18" charset="0"/>
              </a:rPr>
              <a:t>listIterator</a:t>
            </a:r>
            <a:r>
              <a:rPr lang="en-US" sz="40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gn="ctr">
              <a:spcBef>
                <a:spcPts val="0"/>
              </a:spcBef>
              <a:spcAft>
                <a:spcPts val="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remove(i)</a:t>
            </a:r>
          </a:p>
          <a:p>
            <a:pPr marL="0" marR="0" algn="ctr">
              <a:spcBef>
                <a:spcPts val="0"/>
              </a:spcBef>
              <a:spcAft>
                <a:spcPts val="0"/>
              </a:spcAft>
            </a:pPr>
            <a:r>
              <a:rPr lang="en-US" sz="4000" dirty="0">
                <a:latin typeface="Calibri" panose="020F0502020204030204" pitchFamily="34" charset="0"/>
                <a:ea typeface="Calibri" panose="020F0502020204030204" pitchFamily="34" charset="0"/>
                <a:cs typeface="Times New Roman" panose="02020603050405020304" pitchFamily="18" charset="0"/>
              </a:rPr>
              <a:t>set(i, 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4423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4EA117CD-D0F5-4112-BF94-23D060CD4FE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4515" name="WordArt 2">
            <a:extLst>
              <a:ext uri="{FF2B5EF4-FFF2-40B4-BE49-F238E27FC236}">
                <a16:creationId xmlns:a16="http://schemas.microsoft.com/office/drawing/2014/main" id="{AC90C68E-8FDC-4AB1-9173-FEBDFCE5B6BD}"/>
              </a:ext>
            </a:extLst>
          </p:cNvPr>
          <p:cNvSpPr>
            <a:spLocks noChangeArrowheads="1" noChangeShapeType="1" noTextEdit="1"/>
          </p:cNvSpPr>
          <p:nvPr/>
        </p:nvSpPr>
        <p:spPr bwMode="auto">
          <a:xfrm>
            <a:off x="0" y="685800"/>
            <a:ext cx="8610600" cy="495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setoutput.java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B78E76C2-8D12-4F0B-A97D-15760BFEDF3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6C8CDB91-E706-B545-DCF0-EDBA8075CD64}"/>
              </a:ext>
            </a:extLst>
          </p:cNvPr>
          <p:cNvSpPr txBox="1"/>
          <p:nvPr/>
        </p:nvSpPr>
        <p:spPr>
          <a:xfrm>
            <a:off x="2286000" y="838200"/>
            <a:ext cx="4814139" cy="4365682"/>
          </a:xfrm>
          <a:prstGeom prst="rect">
            <a:avLst/>
          </a:prstGeom>
          <a:noFill/>
        </p:spPr>
        <p:txBody>
          <a:bodyPr wrap="none" rtlCol="0">
            <a:spAutoFit/>
          </a:bodyPr>
          <a:lstStyle/>
          <a:p>
            <a:pPr algn="ctr">
              <a:lnSpc>
                <a:spcPct val="120000"/>
              </a:lnSpc>
            </a:pPr>
            <a:r>
              <a:rPr lang="en-US" sz="8000" dirty="0">
                <a:solidFill>
                  <a:srgbClr val="3333CC"/>
                </a:solidFill>
              </a:rPr>
              <a:t>Iterating</a:t>
            </a:r>
          </a:p>
          <a:p>
            <a:pPr algn="ctr">
              <a:lnSpc>
                <a:spcPct val="120000"/>
              </a:lnSpc>
            </a:pPr>
            <a:r>
              <a:rPr lang="en-US" sz="8000" dirty="0">
                <a:solidFill>
                  <a:srgbClr val="3333CC"/>
                </a:solidFill>
              </a:rPr>
              <a:t>over </a:t>
            </a:r>
          </a:p>
          <a:p>
            <a:pPr algn="ctr">
              <a:lnSpc>
                <a:spcPct val="120000"/>
              </a:lnSpc>
            </a:pPr>
            <a:r>
              <a:rPr lang="en-US" sz="8000" dirty="0">
                <a:solidFill>
                  <a:srgbClr val="3333CC"/>
                </a:solidFill>
              </a:rPr>
              <a:t>Sets</a:t>
            </a:r>
          </a:p>
        </p:txBody>
      </p:sp>
    </p:spTree>
    <p:extLst>
      <p:ext uri="{BB962C8B-B14F-4D97-AF65-F5344CB8AC3E}">
        <p14:creationId xmlns:p14="http://schemas.microsoft.com/office/powerpoint/2010/main" val="986249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0B6F5-E0CC-4F0D-A8F1-2B4C80F26A77}"/>
              </a:ext>
            </a:extLst>
          </p:cNvPr>
          <p:cNvSpPr txBox="1"/>
          <p:nvPr/>
        </p:nvSpPr>
        <p:spPr>
          <a:xfrm>
            <a:off x="1524000" y="228600"/>
            <a:ext cx="5979522" cy="923330"/>
          </a:xfrm>
          <a:prstGeom prst="rect">
            <a:avLst/>
          </a:prstGeom>
          <a:noFill/>
        </p:spPr>
        <p:txBody>
          <a:bodyPr wrap="none" rtlCol="0">
            <a:spAutoFit/>
          </a:bodyPr>
          <a:lstStyle/>
          <a:p>
            <a:r>
              <a:rPr lang="en-US" sz="5400" dirty="0">
                <a:solidFill>
                  <a:srgbClr val="C00000"/>
                </a:solidFill>
              </a:rPr>
              <a:t>Sets aren’t Lists!</a:t>
            </a:r>
          </a:p>
        </p:txBody>
      </p:sp>
      <p:sp>
        <p:nvSpPr>
          <p:cNvPr id="4" name="TextBox 3">
            <a:extLst>
              <a:ext uri="{FF2B5EF4-FFF2-40B4-BE49-F238E27FC236}">
                <a16:creationId xmlns:a16="http://schemas.microsoft.com/office/drawing/2014/main" id="{FBB0C718-7B9C-4BBE-BBA8-54E8E6ED274D}"/>
              </a:ext>
            </a:extLst>
          </p:cNvPr>
          <p:cNvSpPr txBox="1"/>
          <p:nvPr/>
        </p:nvSpPr>
        <p:spPr>
          <a:xfrm>
            <a:off x="533400" y="1752600"/>
            <a:ext cx="8153400" cy="2554545"/>
          </a:xfrm>
          <a:prstGeom prst="rect">
            <a:avLst/>
          </a:prstGeom>
          <a:noFill/>
        </p:spPr>
        <p:txBody>
          <a:bodyPr wrap="square" rtlCol="0">
            <a:spAutoFit/>
          </a:bodyPr>
          <a:lstStyle/>
          <a:p>
            <a:r>
              <a:rPr lang="en-US" sz="3200" dirty="0"/>
              <a:t>This means you can’t iterate over a Set via the indices (since there are none!):</a:t>
            </a:r>
          </a:p>
          <a:p>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for (int i=0; i&lt;</a:t>
            </a:r>
            <a:r>
              <a:rPr lang="en-US" sz="3200" dirty="0" err="1">
                <a:solidFill>
                  <a:srgbClr val="C00000"/>
                </a:solidFill>
                <a:latin typeface="Consolas" panose="020B0609020204030204" pitchFamily="49" charset="0"/>
                <a:ea typeface="Calibri" panose="020F0502020204030204" pitchFamily="34" charset="0"/>
                <a:cs typeface="Times New Roman" panose="02020603050405020304" pitchFamily="18" charset="0"/>
              </a:rPr>
              <a:t>set.size</a:t>
            </a:r>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 i++)</a:t>
            </a:r>
          </a:p>
          <a:p>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  </a:t>
            </a:r>
            <a:r>
              <a:rPr lang="en-US" sz="3200" dirty="0" err="1">
                <a:solidFill>
                  <a:srgbClr val="C00000"/>
                </a:solidFill>
                <a:latin typeface="Consolas" panose="020B0609020204030204" pitchFamily="49" charset="0"/>
                <a:ea typeface="Calibri" panose="020F0502020204030204" pitchFamily="34" charset="0"/>
                <a:cs typeface="Times New Roman" panose="02020603050405020304" pitchFamily="18" charset="0"/>
              </a:rPr>
              <a:t>out.print</a:t>
            </a:r>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a:t>
            </a:r>
            <a:r>
              <a:rPr lang="en-US" sz="3200" dirty="0" err="1">
                <a:solidFill>
                  <a:srgbClr val="C00000"/>
                </a:solidFill>
                <a:latin typeface="Consolas" panose="020B0609020204030204" pitchFamily="49" charset="0"/>
                <a:ea typeface="Calibri" panose="020F0502020204030204" pitchFamily="34" charset="0"/>
                <a:cs typeface="Times New Roman" panose="02020603050405020304" pitchFamily="18" charset="0"/>
              </a:rPr>
              <a:t>set.get</a:t>
            </a:r>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(i) + "");</a:t>
            </a:r>
            <a:endParaRPr lang="en-US" sz="4000" dirty="0">
              <a:solidFill>
                <a:srgbClr val="C00000"/>
              </a:solidFill>
              <a:effectLst/>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4805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2">
            <a:extLst>
              <a:ext uri="{FF2B5EF4-FFF2-40B4-BE49-F238E27FC236}">
                <a16:creationId xmlns:a16="http://schemas.microsoft.com/office/drawing/2014/main" id="{2EC2720E-CF29-4AC2-A5FC-9CF5E1858479}"/>
              </a:ext>
            </a:extLst>
          </p:cNvPr>
          <p:cNvSpPr txBox="1">
            <a:spLocks noChangeArrowheads="1"/>
          </p:cNvSpPr>
          <p:nvPr/>
        </p:nvSpPr>
        <p:spPr bwMode="auto">
          <a:xfrm>
            <a:off x="457200" y="1600200"/>
            <a:ext cx="8458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solidFill>
                  <a:srgbClr val="3333FF"/>
                </a:solidFill>
                <a:latin typeface="Tahoma" panose="020B0604030504040204" pitchFamily="34" charset="0"/>
              </a:rPr>
              <a:t>TreeSet</a:t>
            </a:r>
            <a:r>
              <a:rPr lang="en-US" altLang="en-US" sz="2800" dirty="0">
                <a:latin typeface="Tahoma" panose="020B0604030504040204" pitchFamily="34" charset="0"/>
              </a:rPr>
              <a:t>&lt;Double&gt;();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solidFill>
                  <a:srgbClr val="006666"/>
                </a:solidFill>
                <a:latin typeface="Tahoma" panose="020B0604030504040204" pitchFamily="34" charset="0"/>
              </a:rPr>
              <a:t>for(double num : set)</a:t>
            </a:r>
          </a:p>
          <a:p>
            <a:pPr eaLnBrk="1" hangingPunct="1">
              <a:spcBef>
                <a:spcPct val="0"/>
              </a:spcBef>
              <a:buFontTx/>
              <a:buNone/>
            </a:pPr>
            <a:r>
              <a:rPr lang="en-US" altLang="en-US" sz="2800" dirty="0">
                <a:solidFill>
                  <a:srgbClr val="006666"/>
                </a:solidFill>
                <a:latin typeface="Tahoma" panose="020B0604030504040204" pitchFamily="34" charset="0"/>
              </a:rPr>
              <a:t>{</a:t>
            </a:r>
          </a:p>
          <a:p>
            <a:pPr eaLnBrk="1" hangingPunct="1">
              <a:spcBef>
                <a:spcPct val="0"/>
              </a:spcBef>
              <a:buFontTx/>
              <a:buNone/>
            </a:pPr>
            <a:r>
              <a:rPr lang="en-US" altLang="en-US" sz="2800" dirty="0">
                <a:solidFill>
                  <a:srgbClr val="006666"/>
                </a:solidFill>
                <a:latin typeface="Tahoma" panose="020B0604030504040204" pitchFamily="34" charset="0"/>
              </a:rPr>
              <a:t>   </a:t>
            </a:r>
            <a:r>
              <a:rPr lang="en-US" altLang="en-US" sz="2800" dirty="0" err="1">
                <a:solidFill>
                  <a:srgbClr val="006666"/>
                </a:solidFill>
                <a:latin typeface="Tahoma" panose="020B0604030504040204" pitchFamily="34" charset="0"/>
              </a:rPr>
              <a:t>System.out.println</a:t>
            </a:r>
            <a:r>
              <a:rPr lang="en-US" altLang="en-US" sz="2800" dirty="0">
                <a:solidFill>
                  <a:srgbClr val="006666"/>
                </a:solidFill>
                <a:latin typeface="Tahoma" panose="020B0604030504040204" pitchFamily="34" charset="0"/>
              </a:rPr>
              <a:t>(num);</a:t>
            </a:r>
          </a:p>
          <a:p>
            <a:pPr eaLnBrk="1" hangingPunct="1">
              <a:spcBef>
                <a:spcPct val="0"/>
              </a:spcBef>
              <a:buFontTx/>
              <a:buNone/>
            </a:pPr>
            <a:r>
              <a:rPr lang="en-US" altLang="en-US" sz="2800" dirty="0">
                <a:solidFill>
                  <a:srgbClr val="006666"/>
                </a:solidFill>
                <a:latin typeface="Tahoma" panose="020B0604030504040204" pitchFamily="34" charset="0"/>
              </a:rPr>
              <a:t>}</a:t>
            </a:r>
            <a:r>
              <a:rPr lang="en-US" altLang="en-US" sz="2400" dirty="0">
                <a:solidFill>
                  <a:srgbClr val="006666"/>
                </a:solidFill>
                <a:latin typeface="Tahoma" panose="020B0604030504040204" pitchFamily="34" charset="0"/>
              </a:rPr>
              <a:t>	</a:t>
            </a:r>
          </a:p>
        </p:txBody>
      </p:sp>
      <p:sp>
        <p:nvSpPr>
          <p:cNvPr id="66564" name="WordArt 4">
            <a:extLst>
              <a:ext uri="{FF2B5EF4-FFF2-40B4-BE49-F238E27FC236}">
                <a16:creationId xmlns:a16="http://schemas.microsoft.com/office/drawing/2014/main" id="{5A880FD3-D42B-4F6A-938D-8F3696393F1D}"/>
              </a:ext>
            </a:extLst>
          </p:cNvPr>
          <p:cNvSpPr>
            <a:spLocks noChangeArrowheads="1" noChangeShapeType="1" noTextEdit="1"/>
          </p:cNvSpPr>
          <p:nvPr/>
        </p:nvSpPr>
        <p:spPr bwMode="auto">
          <a:xfrm>
            <a:off x="1143000" y="304800"/>
            <a:ext cx="6781800" cy="10668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Looping thru a Set</a:t>
            </a:r>
          </a:p>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Using a for-each loop</a:t>
            </a:r>
          </a:p>
        </p:txBody>
      </p:sp>
      <p:sp>
        <p:nvSpPr>
          <p:cNvPr id="66565" name="Text Box 5">
            <a:extLst>
              <a:ext uri="{FF2B5EF4-FFF2-40B4-BE49-F238E27FC236}">
                <a16:creationId xmlns:a16="http://schemas.microsoft.com/office/drawing/2014/main" id="{9A9AD787-E4D5-4C5B-97DE-36DA20FD239F}"/>
              </a:ext>
            </a:extLst>
          </p:cNvPr>
          <p:cNvSpPr txBox="1">
            <a:spLocks noChangeArrowheads="1"/>
          </p:cNvSpPr>
          <p:nvPr/>
        </p:nvSpPr>
        <p:spPr bwMode="auto">
          <a:xfrm>
            <a:off x="6584950" y="3733800"/>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2">
            <a:extLst>
              <a:ext uri="{FF2B5EF4-FFF2-40B4-BE49-F238E27FC236}">
                <a16:creationId xmlns:a16="http://schemas.microsoft.com/office/drawing/2014/main" id="{2EC2720E-CF29-4AC2-A5FC-9CF5E1858479}"/>
              </a:ext>
            </a:extLst>
          </p:cNvPr>
          <p:cNvSpPr txBox="1">
            <a:spLocks noChangeArrowheads="1"/>
          </p:cNvSpPr>
          <p:nvPr/>
        </p:nvSpPr>
        <p:spPr bwMode="auto">
          <a:xfrm>
            <a:off x="457200" y="1600200"/>
            <a:ext cx="803275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00" dirty="0">
                <a:latin typeface="Tahoma" panose="020B0604030504040204" pitchFamily="34" charset="0"/>
              </a:rPr>
              <a:t>Set&lt;Double&gt; set = new </a:t>
            </a:r>
            <a:r>
              <a:rPr lang="en-US" altLang="en-US" sz="2600" dirty="0" err="1">
                <a:latin typeface="Tahoma" panose="020B0604030504040204" pitchFamily="34" charset="0"/>
              </a:rPr>
              <a:t>TreeSet</a:t>
            </a:r>
            <a:r>
              <a:rPr lang="en-US" altLang="en-US" sz="2600" dirty="0">
                <a:latin typeface="Tahoma" panose="020B0604030504040204" pitchFamily="34" charset="0"/>
              </a:rPr>
              <a:t>&lt;&gt;();</a:t>
            </a:r>
          </a:p>
          <a:p>
            <a:pPr eaLnBrk="1" hangingPunct="1">
              <a:spcBef>
                <a:spcPct val="0"/>
              </a:spcBef>
              <a:buFontTx/>
              <a:buNone/>
            </a:pPr>
            <a:r>
              <a:rPr lang="en-US" altLang="en-US" sz="2600" dirty="0" err="1">
                <a:latin typeface="Tahoma" panose="020B0604030504040204" pitchFamily="34" charset="0"/>
              </a:rPr>
              <a:t>set.add</a:t>
            </a:r>
            <a:r>
              <a:rPr lang="en-US" altLang="en-US" sz="2600" dirty="0">
                <a:latin typeface="Tahoma" panose="020B0604030504040204" pitchFamily="34" charset="0"/>
              </a:rPr>
              <a:t>(5.8);</a:t>
            </a:r>
          </a:p>
          <a:p>
            <a:pPr eaLnBrk="1" hangingPunct="1">
              <a:spcBef>
                <a:spcPct val="0"/>
              </a:spcBef>
              <a:buFontTx/>
              <a:buNone/>
            </a:pPr>
            <a:r>
              <a:rPr lang="en-US" altLang="en-US" sz="2600" dirty="0" err="1">
                <a:latin typeface="Tahoma" panose="020B0604030504040204" pitchFamily="34" charset="0"/>
              </a:rPr>
              <a:t>set.add</a:t>
            </a:r>
            <a:r>
              <a:rPr lang="en-US" altLang="en-US" sz="2600" dirty="0">
                <a:latin typeface="Tahoma" panose="020B0604030504040204" pitchFamily="34" charset="0"/>
              </a:rPr>
              <a:t>(7.3);</a:t>
            </a:r>
          </a:p>
          <a:p>
            <a:pPr eaLnBrk="1" hangingPunct="1">
              <a:spcBef>
                <a:spcPct val="0"/>
              </a:spcBef>
              <a:buFontTx/>
              <a:buNone/>
            </a:pPr>
            <a:r>
              <a:rPr lang="en-US" altLang="en-US" sz="2600" dirty="0" err="1">
                <a:latin typeface="Tahoma" panose="020B0604030504040204" pitchFamily="34" charset="0"/>
              </a:rPr>
              <a:t>set.add</a:t>
            </a:r>
            <a:r>
              <a:rPr lang="en-US" altLang="en-US" sz="2600" dirty="0">
                <a:latin typeface="Tahoma" panose="020B0604030504040204" pitchFamily="34" charset="0"/>
              </a:rPr>
              <a:t>(2.5);</a:t>
            </a:r>
          </a:p>
          <a:p>
            <a:pPr eaLnBrk="1" hangingPunct="1">
              <a:spcBef>
                <a:spcPct val="0"/>
              </a:spcBef>
              <a:buFontTx/>
              <a:buNone/>
            </a:pPr>
            <a:endParaRPr lang="en-US" altLang="en-US" sz="2600" dirty="0">
              <a:latin typeface="Tahoma" panose="020B0604030504040204" pitchFamily="34" charset="0"/>
            </a:endParaRPr>
          </a:p>
          <a:p>
            <a:pPr eaLnBrk="1" hangingPunct="1">
              <a:spcBef>
                <a:spcPct val="0"/>
              </a:spcBef>
              <a:buFontTx/>
              <a:buNone/>
            </a:pPr>
            <a:r>
              <a:rPr lang="en-US" altLang="en-US" sz="2600" dirty="0">
                <a:latin typeface="Tahoma" panose="020B0604030504040204" pitchFamily="34" charset="0"/>
              </a:rPr>
              <a:t>Iterator&lt;Double&gt; it = </a:t>
            </a:r>
            <a:r>
              <a:rPr lang="en-US" altLang="en-US" sz="2600" dirty="0" err="1">
                <a:latin typeface="Tahoma" panose="020B0604030504040204" pitchFamily="34" charset="0"/>
              </a:rPr>
              <a:t>set.iterator</a:t>
            </a: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while(</a:t>
            </a:r>
            <a:r>
              <a:rPr lang="en-US" altLang="en-US" sz="2600" dirty="0" err="1">
                <a:solidFill>
                  <a:srgbClr val="7030A0"/>
                </a:solidFill>
                <a:latin typeface="Tahoma" panose="020B0604030504040204" pitchFamily="34" charset="0"/>
              </a:rPr>
              <a:t>it.hasNext</a:t>
            </a:r>
            <a:r>
              <a:rPr lang="en-US" altLang="en-US" sz="2600" dirty="0">
                <a:solidFill>
                  <a:srgbClr val="7030A0"/>
                </a:solidFill>
                <a:latin typeface="Tahoma" panose="020B0604030504040204" pitchFamily="34" charset="0"/>
              </a:rPr>
              <a:t>()</a:t>
            </a: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    </a:t>
            </a:r>
            <a:r>
              <a:rPr lang="en-US" altLang="en-US" sz="2600" dirty="0">
                <a:solidFill>
                  <a:srgbClr val="7030A0"/>
                </a:solidFill>
                <a:latin typeface="Tahoma" panose="020B0604030504040204" pitchFamily="34" charset="0"/>
              </a:rPr>
              <a:t>double num = </a:t>
            </a:r>
            <a:r>
              <a:rPr lang="en-US" altLang="en-US" sz="2600" dirty="0" err="1">
                <a:solidFill>
                  <a:srgbClr val="7030A0"/>
                </a:solidFill>
                <a:latin typeface="Tahoma" panose="020B0604030504040204" pitchFamily="34" charset="0"/>
              </a:rPr>
              <a:t>it.next</a:t>
            </a:r>
            <a:r>
              <a:rPr lang="en-US" altLang="en-US" sz="2600" dirty="0">
                <a:solidFill>
                  <a:srgbClr val="7030A0"/>
                </a:solidFill>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    </a:t>
            </a:r>
            <a:r>
              <a:rPr lang="en-US" altLang="en-US" sz="2600" dirty="0" err="1">
                <a:latin typeface="Tahoma" panose="020B0604030504040204" pitchFamily="34" charset="0"/>
              </a:rPr>
              <a:t>out.println</a:t>
            </a:r>
            <a:r>
              <a:rPr lang="en-US" altLang="en-US" sz="2600" dirty="0">
                <a:latin typeface="Tahoma" panose="020B0604030504040204" pitchFamily="34" charset="0"/>
              </a:rPr>
              <a:t>(</a:t>
            </a:r>
            <a:r>
              <a:rPr lang="en-US" altLang="en-US" sz="2600" dirty="0">
                <a:solidFill>
                  <a:srgbClr val="7030A0"/>
                </a:solidFill>
                <a:latin typeface="Tahoma" panose="020B0604030504040204" pitchFamily="34" charset="0"/>
              </a:rPr>
              <a:t>num</a:t>
            </a: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	</a:t>
            </a:r>
            <a:r>
              <a:rPr lang="en-US" altLang="en-US" sz="2600" dirty="0">
                <a:solidFill>
                  <a:srgbClr val="006666"/>
                </a:solidFill>
                <a:latin typeface="Tahoma" panose="020B0604030504040204" pitchFamily="34" charset="0"/>
              </a:rPr>
              <a:t>	</a:t>
            </a:r>
          </a:p>
        </p:txBody>
      </p:sp>
      <p:sp>
        <p:nvSpPr>
          <p:cNvPr id="66564" name="WordArt 4">
            <a:extLst>
              <a:ext uri="{FF2B5EF4-FFF2-40B4-BE49-F238E27FC236}">
                <a16:creationId xmlns:a16="http://schemas.microsoft.com/office/drawing/2014/main" id="{5A880FD3-D42B-4F6A-938D-8F3696393F1D}"/>
              </a:ext>
            </a:extLst>
          </p:cNvPr>
          <p:cNvSpPr>
            <a:spLocks noChangeArrowheads="1" noChangeShapeType="1" noTextEdit="1"/>
          </p:cNvSpPr>
          <p:nvPr/>
        </p:nvSpPr>
        <p:spPr bwMode="auto">
          <a:xfrm>
            <a:off x="1143000" y="304800"/>
            <a:ext cx="6781800" cy="10668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Looping thru a Set</a:t>
            </a:r>
          </a:p>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Using an iterator</a:t>
            </a:r>
          </a:p>
        </p:txBody>
      </p:sp>
      <p:sp>
        <p:nvSpPr>
          <p:cNvPr id="66565" name="Text Box 5">
            <a:extLst>
              <a:ext uri="{FF2B5EF4-FFF2-40B4-BE49-F238E27FC236}">
                <a16:creationId xmlns:a16="http://schemas.microsoft.com/office/drawing/2014/main" id="{9A9AD787-E4D5-4C5B-97DE-36DA20FD239F}"/>
              </a:ext>
            </a:extLst>
          </p:cNvPr>
          <p:cNvSpPr txBox="1">
            <a:spLocks noChangeArrowheads="1"/>
          </p:cNvSpPr>
          <p:nvPr/>
        </p:nvSpPr>
        <p:spPr bwMode="auto">
          <a:xfrm>
            <a:off x="6584950" y="4321175"/>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Tree>
    <p:extLst>
      <p:ext uri="{BB962C8B-B14F-4D97-AF65-F5344CB8AC3E}">
        <p14:creationId xmlns:p14="http://schemas.microsoft.com/office/powerpoint/2010/main" val="4240037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359223" y="1905000"/>
            <a:ext cx="794657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latin typeface="Tahoma" panose="020B0604030504040204" pitchFamily="34" charset="0"/>
              </a:rPr>
              <a:t>TreeSet</a:t>
            </a:r>
            <a:r>
              <a:rPr lang="en-US" altLang="en-US" sz="2800" dirty="0">
                <a:latin typeface="Tahoma" panose="020B0604030504040204" pitchFamily="34" charset="0"/>
              </a:rPr>
              <a:t>&lt;&gt;();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err="1">
                <a:latin typeface="Tahoma" panose="020B0604030504040204" pitchFamily="34" charset="0"/>
              </a:rPr>
              <a:t>set.forEach</a:t>
            </a:r>
            <a:r>
              <a:rPr lang="en-US" altLang="en-US" sz="2800" dirty="0">
                <a:latin typeface="Tahoma" panose="020B0604030504040204" pitchFamily="34" charset="0"/>
              </a:rPr>
              <a:t>( </a:t>
            </a:r>
          </a:p>
          <a:p>
            <a:pPr eaLnBrk="1" hangingPunct="1">
              <a:spcBef>
                <a:spcPct val="0"/>
              </a:spcBef>
              <a:buFontTx/>
              <a:buNone/>
            </a:pPr>
            <a:r>
              <a:rPr lang="en-US" altLang="en-US" sz="2800" dirty="0">
                <a:latin typeface="Tahoma" panose="020B0604030504040204" pitchFamily="34" charset="0"/>
              </a:rPr>
              <a:t>   </a:t>
            </a:r>
            <a:r>
              <a:rPr lang="en-US" altLang="en-US" sz="2800" dirty="0">
                <a:solidFill>
                  <a:srgbClr val="7030A0"/>
                </a:solidFill>
                <a:latin typeface="Tahoma" panose="020B0604030504040204" pitchFamily="34" charset="0"/>
              </a:rPr>
              <a:t>num</a:t>
            </a:r>
            <a:r>
              <a:rPr lang="en-US" altLang="en-US" sz="2800" dirty="0">
                <a:latin typeface="Tahoma" panose="020B0604030504040204" pitchFamily="34" charset="0"/>
              </a:rPr>
              <a:t> -&gt;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num</a:t>
            </a:r>
            <a:r>
              <a:rPr lang="en-US" altLang="en-US" sz="2800" dirty="0">
                <a:latin typeface="Tahoma" panose="020B0604030504040204" pitchFamily="34" charset="0"/>
              </a:rPr>
              <a:t>)</a:t>
            </a:r>
          </a:p>
          <a:p>
            <a:pPr eaLnBrk="1" hangingPunct="1">
              <a:spcBef>
                <a:spcPct val="0"/>
              </a:spcBef>
              <a:buFontTx/>
              <a:buNone/>
            </a:pPr>
            <a:r>
              <a:rPr lang="en-US" altLang="en-US" sz="2800" dirty="0">
                <a:latin typeface="Tahoma" panose="020B0604030504040204" pitchFamily="34" charset="0"/>
              </a:rPr>
              <a:t>);</a:t>
            </a:r>
          </a:p>
          <a:p>
            <a:pPr eaLnBrk="1" hangingPunct="1">
              <a:spcBef>
                <a:spcPct val="0"/>
              </a:spcBef>
              <a:buFontTx/>
              <a:buNone/>
            </a:pPr>
            <a:endParaRPr lang="en-US" altLang="en-US" sz="2800" dirty="0">
              <a:latin typeface="Tahoma" panose="020B0604030504040204" pitchFamily="34" charset="0"/>
            </a:endParaRPr>
          </a:p>
          <a:p>
            <a:pPr algn="ctr" eaLnBrk="1" hangingPunct="1">
              <a:spcBef>
                <a:spcPct val="0"/>
              </a:spcBef>
              <a:buFontTx/>
              <a:buNone/>
            </a:pPr>
            <a:r>
              <a:rPr lang="en-US" altLang="en-US" sz="2800" dirty="0">
                <a:solidFill>
                  <a:srgbClr val="00B050"/>
                </a:solidFill>
                <a:latin typeface="Tahoma" panose="020B0604030504040204" pitchFamily="34" charset="0"/>
              </a:rPr>
              <a:t>Uses the Set’s iterator,  so same order as the normal for-each loop.</a:t>
            </a:r>
          </a:p>
        </p:txBody>
      </p:sp>
      <p:sp>
        <p:nvSpPr>
          <p:cNvPr id="2" name="Text Box 5">
            <a:extLst>
              <a:ext uri="{FF2B5EF4-FFF2-40B4-BE49-F238E27FC236}">
                <a16:creationId xmlns:a16="http://schemas.microsoft.com/office/drawing/2014/main" id="{D208D7FE-4855-04A9-3A49-396E8A4E53AD}"/>
              </a:ext>
            </a:extLst>
          </p:cNvPr>
          <p:cNvSpPr txBox="1">
            <a:spLocks noChangeArrowheads="1"/>
          </p:cNvSpPr>
          <p:nvPr/>
        </p:nvSpPr>
        <p:spPr bwMode="auto">
          <a:xfrm>
            <a:off x="6705600" y="3384421"/>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
        <p:nvSpPr>
          <p:cNvPr id="3" name="TextBox 2">
            <a:extLst>
              <a:ext uri="{FF2B5EF4-FFF2-40B4-BE49-F238E27FC236}">
                <a16:creationId xmlns:a16="http://schemas.microsoft.com/office/drawing/2014/main" id="{75B3CB37-EA2C-E55B-D427-1D35F943CBC1}"/>
              </a:ext>
            </a:extLst>
          </p:cNvPr>
          <p:cNvSpPr txBox="1"/>
          <p:nvPr/>
        </p:nvSpPr>
        <p:spPr>
          <a:xfrm>
            <a:off x="676542" y="276890"/>
            <a:ext cx="7790915" cy="1323439"/>
          </a:xfrm>
          <a:prstGeom prst="rect">
            <a:avLst/>
          </a:prstGeom>
          <a:noFill/>
        </p:spPr>
        <p:txBody>
          <a:bodyPr wrap="none" rtlCol="0">
            <a:spAutoFit/>
          </a:bodyPr>
          <a:lstStyle/>
          <a:p>
            <a:pPr algn="ct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0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Collection</a:t>
            </a: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0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a:p>
            <a:pPr algn="ct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and </a:t>
            </a:r>
            <a:r>
              <a:rPr lang="en-US" sz="40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Lambda Expressions</a:t>
            </a:r>
          </a:p>
        </p:txBody>
      </p:sp>
    </p:spTree>
    <p:extLst>
      <p:ext uri="{BB962C8B-B14F-4D97-AF65-F5344CB8AC3E}">
        <p14:creationId xmlns:p14="http://schemas.microsoft.com/office/powerpoint/2010/main" val="307087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6003B885-E09B-451C-91F4-523C6863470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8611" name="WordArt 2">
            <a:extLst>
              <a:ext uri="{FF2B5EF4-FFF2-40B4-BE49-F238E27FC236}">
                <a16:creationId xmlns:a16="http://schemas.microsoft.com/office/drawing/2014/main" id="{E6BEF19B-8E9F-444C-83AF-B05278A88FFB}"/>
              </a:ext>
            </a:extLst>
          </p:cNvPr>
          <p:cNvSpPr>
            <a:spLocks noChangeArrowheads="1" noChangeShapeType="1" noTextEdit="1"/>
          </p:cNvSpPr>
          <p:nvPr/>
        </p:nvSpPr>
        <p:spPr bwMode="auto">
          <a:xfrm>
            <a:off x="-228600" y="685800"/>
            <a:ext cx="8915400" cy="480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setoutputnew.java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setsplit.java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7963582C-C5AD-40EE-9592-7BDC7121CFE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WordArt 2">
            <a:extLst>
              <a:ext uri="{FF2B5EF4-FFF2-40B4-BE49-F238E27FC236}">
                <a16:creationId xmlns:a16="http://schemas.microsoft.com/office/drawing/2014/main" id="{F342E57B-8B3F-479D-B668-61210927A0C9}"/>
              </a:ext>
            </a:extLst>
          </p:cNvPr>
          <p:cNvSpPr>
            <a:spLocks noChangeArrowheads="1" noChangeShapeType="1" noTextEdit="1"/>
          </p:cNvSpPr>
          <p:nvPr/>
        </p:nvSpPr>
        <p:spPr bwMode="auto">
          <a:xfrm>
            <a:off x="762000" y="2362200"/>
            <a:ext cx="7391400" cy="1905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BigO</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0FADB6-B48C-4AA8-AF85-5AC331286BA2}"/>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graphicFrame>
        <p:nvGraphicFramePr>
          <p:cNvPr id="3" name="Group 56">
            <a:extLst>
              <a:ext uri="{FF2B5EF4-FFF2-40B4-BE49-F238E27FC236}">
                <a16:creationId xmlns:a16="http://schemas.microsoft.com/office/drawing/2014/main" id="{3DAB9A29-787E-4003-A1A7-F6A0642D70CA}"/>
              </a:ext>
            </a:extLst>
          </p:cNvPr>
          <p:cNvGraphicFramePr>
            <a:graphicFrameLocks noGrp="1"/>
          </p:cNvGraphicFramePr>
          <p:nvPr/>
        </p:nvGraphicFramePr>
        <p:xfrm>
          <a:off x="609600" y="768350"/>
          <a:ext cx="8077200" cy="4870451"/>
        </p:xfrm>
        <a:graphic>
          <a:graphicData uri="http://schemas.openxmlformats.org/drawingml/2006/table">
            <a:tbl>
              <a:tblPr/>
              <a:tblGrid>
                <a:gridCol w="3505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14763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Big-O</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notations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Notation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constant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logarithmic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 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quadratic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r>
                        <a:rPr kumimoji="0" lang="en-US" sz="2000" b="1" i="0" u="none" strike="noStrike" cap="none" normalizeH="0" baseline="30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3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exponential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O(2</a:t>
                      </a:r>
                      <a:r>
                        <a:rPr kumimoji="0" lang="en-US" sz="2000" b="1" i="0" u="none" strike="noStrike" cap="none" normalizeH="0" baseline="30000" dirty="0">
                          <a:ln>
                            <a:noFill/>
                          </a:ln>
                          <a:solidFill>
                            <a:schemeClr val="accent2"/>
                          </a:solidFill>
                          <a:effectLst/>
                          <a:latin typeface="Tahoma" pitchFamily="34" charset="0"/>
                        </a:rPr>
                        <a:t>n</a:t>
                      </a:r>
                      <a:r>
                        <a:rPr kumimoji="0" lang="en-US" sz="2000" b="1" i="0" u="none" strike="noStrike" cap="none" normalizeH="0" baseline="0" dirty="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F0312-49BC-4D43-AC51-D51962A77118}"/>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pic>
        <p:nvPicPr>
          <p:cNvPr id="80899" name="Picture 4" descr="hash table showing collision in which keys &quot;John Smith&quot; and &quot;Sandra Dee&quot; both map to spot 152 in the hash table. Both are added to the list stored at that spot.">
            <a:hlinkClick r:id="rId2"/>
            <a:extLst>
              <a:ext uri="{FF2B5EF4-FFF2-40B4-BE49-F238E27FC236}">
                <a16:creationId xmlns:a16="http://schemas.microsoft.com/office/drawing/2014/main" id="{2F972046-312C-4FAC-A4E7-BAB04C039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90" y="1600200"/>
            <a:ext cx="4313819"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Rectangle 2">
            <a:extLst>
              <a:ext uri="{FF2B5EF4-FFF2-40B4-BE49-F238E27FC236}">
                <a16:creationId xmlns:a16="http://schemas.microsoft.com/office/drawing/2014/main" id="{B339D66B-7319-4A26-B1D5-67A698542296}"/>
              </a:ext>
            </a:extLst>
          </p:cNvPr>
          <p:cNvSpPr>
            <a:spLocks noChangeArrowheads="1"/>
          </p:cNvSpPr>
          <p:nvPr/>
        </p:nvSpPr>
        <p:spPr bwMode="auto">
          <a:xfrm>
            <a:off x="1181099" y="835967"/>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latin typeface="Tahoma" panose="020B0604030504040204" pitchFamily="34" charset="0"/>
              </a:rPr>
              <a:t>Hash Table</a:t>
            </a:r>
          </a:p>
        </p:txBody>
      </p:sp>
      <p:pic>
        <p:nvPicPr>
          <p:cNvPr id="1028" name="Picture 4" descr="5, left child is 2, right child is 17&#10;2, left child is -4, right child is 3&#10;-4, leaf&#10;3 leaf&#10;17, left child is 9, right child is 21&#10;9, leaf&#10;21, left child is 19, right child is 25&#10;19, leaf&#10;25, leaf">
            <a:extLst>
              <a:ext uri="{FF2B5EF4-FFF2-40B4-BE49-F238E27FC236}">
                <a16:creationId xmlns:a16="http://schemas.microsoft.com/office/drawing/2014/main" id="{8215D8BE-B0B4-8965-D325-FF4725A287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6161" y="1905000"/>
            <a:ext cx="4167839" cy="29051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0682EF3-FB1D-2D26-3138-DFA4273EC2E9}"/>
              </a:ext>
            </a:extLst>
          </p:cNvPr>
          <p:cNvSpPr>
            <a:spLocks noChangeArrowheads="1"/>
          </p:cNvSpPr>
          <p:nvPr/>
        </p:nvSpPr>
        <p:spPr bwMode="auto">
          <a:xfrm>
            <a:off x="4800600" y="835968"/>
            <a:ext cx="3733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latin typeface="Tahoma" panose="020B0604030504040204" pitchFamily="34" charset="0"/>
              </a:rPr>
              <a:t>Binary Search Tree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Text Box 2">
            <a:extLst>
              <a:ext uri="{FF2B5EF4-FFF2-40B4-BE49-F238E27FC236}">
                <a16:creationId xmlns:a16="http://schemas.microsoft.com/office/drawing/2014/main" id="{15E4884A-B96F-4DDE-BFC7-60C75A7AA02C}"/>
              </a:ext>
            </a:extLst>
          </p:cNvPr>
          <p:cNvSpPr txBox="1">
            <a:spLocks noChangeArrowheads="1"/>
          </p:cNvSpPr>
          <p:nvPr/>
        </p:nvSpPr>
        <p:spPr bwMode="auto">
          <a:xfrm>
            <a:off x="914400" y="1295400"/>
            <a:ext cx="769620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tabLst>
                <a:tab pos="3367088" algn="ctr"/>
                <a:tab pos="5430838" algn="ctr"/>
              </a:tabLst>
            </a:pPr>
            <a:r>
              <a:rPr lang="en-US" altLang="en-US" sz="2400" dirty="0">
                <a:latin typeface="Tahoma" panose="020B0604030504040204" pitchFamily="34" charset="0"/>
              </a:rPr>
              <a:t>        	Tree Set         	Hash Set</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add</a:t>
            </a:r>
            <a:r>
              <a:rPr lang="en-US" altLang="en-US" sz="2400" dirty="0">
                <a:latin typeface="Tahoma" panose="020B0604030504040204" pitchFamily="34" charset="0"/>
              </a:rPr>
              <a:t>      	O(Log</a:t>
            </a:r>
            <a:r>
              <a:rPr lang="en-US" altLang="en-US" sz="2400" baseline="-25000" dirty="0">
                <a:latin typeface="Tahoma" panose="020B0604030504040204" pitchFamily="34" charset="0"/>
              </a:rPr>
              <a:t>2</a:t>
            </a:r>
            <a:r>
              <a:rPr lang="en-US" altLang="en-US" sz="2400" dirty="0">
                <a:latin typeface="Tahoma" panose="020B0604030504040204" pitchFamily="34" charset="0"/>
              </a:rPr>
              <a:t>N)	O(1)</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remove</a:t>
            </a:r>
            <a:r>
              <a:rPr lang="en-US" altLang="en-US" sz="2400" dirty="0">
                <a:latin typeface="Tahoma" panose="020B0604030504040204" pitchFamily="34" charset="0"/>
              </a:rPr>
              <a:t>      	O(Log</a:t>
            </a:r>
            <a:r>
              <a:rPr lang="en-US" altLang="en-US" sz="2400" baseline="-25000" dirty="0">
                <a:latin typeface="Tahoma" panose="020B0604030504040204" pitchFamily="34" charset="0"/>
              </a:rPr>
              <a:t>2</a:t>
            </a:r>
            <a:r>
              <a:rPr lang="en-US" altLang="en-US" sz="2400" dirty="0">
                <a:latin typeface="Tahoma" panose="020B0604030504040204" pitchFamily="34" charset="0"/>
              </a:rPr>
              <a:t>N)	O(1)</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contains</a:t>
            </a:r>
            <a:r>
              <a:rPr lang="en-US" altLang="en-US" sz="2800" dirty="0">
                <a:latin typeface="Tahoma" panose="020B0604030504040204" pitchFamily="34" charset="0"/>
              </a:rPr>
              <a:t>    	</a:t>
            </a:r>
            <a:r>
              <a:rPr lang="en-US" altLang="en-US" sz="2400" dirty="0">
                <a:latin typeface="Tahoma" panose="020B0604030504040204" pitchFamily="34" charset="0"/>
              </a:rPr>
              <a:t>O(Log</a:t>
            </a:r>
            <a:r>
              <a:rPr lang="en-US" altLang="en-US" sz="2400" baseline="-25000" dirty="0">
                <a:latin typeface="Tahoma" panose="020B0604030504040204" pitchFamily="34" charset="0"/>
              </a:rPr>
              <a:t>2</a:t>
            </a:r>
            <a:r>
              <a:rPr lang="en-US" altLang="en-US" sz="2400" dirty="0">
                <a:latin typeface="Tahoma" panose="020B0604030504040204" pitchFamily="34" charset="0"/>
              </a:rPr>
              <a:t>N)</a:t>
            </a:r>
            <a:r>
              <a:rPr lang="en-US" altLang="en-US" sz="2800" dirty="0">
                <a:latin typeface="Tahoma" panose="020B0604030504040204" pitchFamily="34" charset="0"/>
              </a:rPr>
              <a:t>	</a:t>
            </a:r>
            <a:r>
              <a:rPr lang="en-US" altLang="en-US" sz="2400" dirty="0">
                <a:latin typeface="Tahoma" panose="020B0604030504040204" pitchFamily="34" charset="0"/>
              </a:rPr>
              <a:t>O(1)</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size</a:t>
            </a:r>
            <a:r>
              <a:rPr lang="en-US" altLang="en-US" sz="2800" dirty="0">
                <a:latin typeface="Tahoma" panose="020B0604030504040204" pitchFamily="34" charset="0"/>
              </a:rPr>
              <a:t>	</a:t>
            </a:r>
            <a:r>
              <a:rPr lang="en-US" altLang="en-US" sz="2400" dirty="0">
                <a:latin typeface="Tahoma" panose="020B0604030504040204" pitchFamily="34" charset="0"/>
              </a:rPr>
              <a:t>O(1)</a:t>
            </a:r>
            <a:r>
              <a:rPr lang="en-US" altLang="en-US" sz="2800" b="0" dirty="0">
                <a:latin typeface="Tahoma" panose="020B0604030504040204" pitchFamily="34" charset="0"/>
              </a:rPr>
              <a:t> </a:t>
            </a:r>
            <a:r>
              <a:rPr lang="en-US" altLang="en-US" sz="2800" dirty="0">
                <a:latin typeface="Tahoma" panose="020B0604030504040204" pitchFamily="34" charset="0"/>
              </a:rPr>
              <a:t>	</a:t>
            </a:r>
            <a:r>
              <a:rPr lang="en-US" altLang="en-US" sz="2400" dirty="0">
                <a:latin typeface="Tahoma" panose="020B0604030504040204" pitchFamily="34" charset="0"/>
              </a:rPr>
              <a:t>O(1)</a:t>
            </a:r>
          </a:p>
          <a:p>
            <a:pPr eaLnBrk="1" hangingPunct="1">
              <a:spcBef>
                <a:spcPts val="1800"/>
              </a:spcBef>
              <a:buFontTx/>
              <a:buNone/>
              <a:tabLst>
                <a:tab pos="3367088" algn="ctr"/>
                <a:tab pos="5430838" algn="ctr"/>
              </a:tabLst>
            </a:pPr>
            <a:r>
              <a:rPr lang="en-US" altLang="en-US" sz="1800" dirty="0">
                <a:latin typeface="Tahoma" panose="020B0604030504040204" pitchFamily="34" charset="0"/>
              </a:rPr>
              <a:t>iterate over set</a:t>
            </a:r>
            <a:r>
              <a:rPr lang="en-US" altLang="en-US" sz="2400" dirty="0">
                <a:latin typeface="Tahoma" panose="020B0604030504040204" pitchFamily="34" charset="0"/>
              </a:rPr>
              <a:t>	O(n)	O(n)</a:t>
            </a:r>
          </a:p>
          <a:p>
            <a:pPr eaLnBrk="1" hangingPunct="1">
              <a:spcBef>
                <a:spcPts val="2400"/>
              </a:spcBef>
              <a:buFontTx/>
              <a:buNone/>
            </a:pPr>
            <a:r>
              <a:rPr lang="en-US" altLang="en-US" sz="2000" dirty="0" err="1">
                <a:solidFill>
                  <a:schemeClr val="accent2"/>
                </a:solidFill>
                <a:latin typeface="Tahoma" panose="020B0604030504040204" pitchFamily="34" charset="0"/>
              </a:rPr>
              <a:t>TreeSets</a:t>
            </a:r>
            <a:r>
              <a:rPr lang="en-US" altLang="en-US" sz="2000" dirty="0">
                <a:solidFill>
                  <a:schemeClr val="accent2"/>
                </a:solidFill>
                <a:latin typeface="Tahoma" panose="020B0604030504040204" pitchFamily="34" charset="0"/>
              </a:rPr>
              <a:t> are implemented with balanced binary trees</a:t>
            </a:r>
            <a:br>
              <a:rPr lang="en-US" altLang="en-US" sz="2000" dirty="0">
                <a:solidFill>
                  <a:schemeClr val="accent2"/>
                </a:solidFill>
                <a:latin typeface="Tahoma" panose="020B0604030504040204" pitchFamily="34" charset="0"/>
              </a:rPr>
            </a:br>
            <a:r>
              <a:rPr lang="en-US" altLang="en-US" sz="2000" dirty="0">
                <a:solidFill>
                  <a:schemeClr val="accent2"/>
                </a:solidFill>
                <a:latin typeface="Tahoma" panose="020B0604030504040204" pitchFamily="34" charset="0"/>
              </a:rPr>
              <a:t>( red/black trees ).</a:t>
            </a:r>
          </a:p>
          <a:p>
            <a:pPr eaLnBrk="1" hangingPunct="1">
              <a:spcBef>
                <a:spcPct val="50000"/>
              </a:spcBef>
              <a:buFontTx/>
              <a:buNone/>
            </a:pPr>
            <a:r>
              <a:rPr lang="en-US" altLang="en-US" sz="2000" dirty="0" err="1">
                <a:solidFill>
                  <a:schemeClr val="accent2"/>
                </a:solidFill>
                <a:latin typeface="Tahoma" panose="020B0604030504040204" pitchFamily="34" charset="0"/>
              </a:rPr>
              <a:t>HashSets</a:t>
            </a:r>
            <a:r>
              <a:rPr lang="en-US" altLang="en-US" sz="2000" dirty="0">
                <a:solidFill>
                  <a:schemeClr val="accent2"/>
                </a:solidFill>
                <a:latin typeface="Tahoma" panose="020B0604030504040204" pitchFamily="34" charset="0"/>
              </a:rPr>
              <a:t> are implemented with</a:t>
            </a:r>
            <a:r>
              <a:rPr lang="en-US" altLang="en-US" sz="2000" b="0" dirty="0">
                <a:solidFill>
                  <a:schemeClr val="accent2"/>
                </a:solidFill>
                <a:latin typeface="Tahoma" panose="020B0604030504040204" pitchFamily="34" charset="0"/>
              </a:rPr>
              <a:t> </a:t>
            </a:r>
            <a:r>
              <a:rPr lang="en-US" altLang="en-US" sz="2000" dirty="0">
                <a:solidFill>
                  <a:schemeClr val="accent2"/>
                </a:solidFill>
                <a:latin typeface="Tahoma" panose="020B0604030504040204" pitchFamily="34" charset="0"/>
              </a:rPr>
              <a:t>hash tables.</a:t>
            </a:r>
          </a:p>
        </p:txBody>
      </p:sp>
      <p:sp>
        <p:nvSpPr>
          <p:cNvPr id="2" name="TextBox 1">
            <a:extLst>
              <a:ext uri="{FF2B5EF4-FFF2-40B4-BE49-F238E27FC236}">
                <a16:creationId xmlns:a16="http://schemas.microsoft.com/office/drawing/2014/main" id="{810DCDB1-7C30-9B0B-94D1-3FDFF87FCC8C}"/>
              </a:ext>
            </a:extLst>
          </p:cNvPr>
          <p:cNvSpPr txBox="1"/>
          <p:nvPr/>
        </p:nvSpPr>
        <p:spPr>
          <a:xfrm>
            <a:off x="3048000" y="228600"/>
            <a:ext cx="2553904" cy="707886"/>
          </a:xfrm>
          <a:prstGeom prst="rect">
            <a:avLst/>
          </a:prstGeom>
          <a:noFill/>
        </p:spPr>
        <p:txBody>
          <a:bodyPr wrap="none" rtlCol="0">
            <a:spAutoFit/>
          </a:bodyPr>
          <a:lstStyle/>
          <a:p>
            <a:r>
              <a:rPr lang="en-US" sz="4000" dirty="0">
                <a:solidFill>
                  <a:srgbClr val="3333CC"/>
                </a:solidFill>
              </a:rPr>
              <a:t>Set Big 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1C092B22-B8A8-41B6-A7BE-DA41C96A1247}"/>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2707" name="WordArt 2">
            <a:extLst>
              <a:ext uri="{FF2B5EF4-FFF2-40B4-BE49-F238E27FC236}">
                <a16:creationId xmlns:a16="http://schemas.microsoft.com/office/drawing/2014/main" id="{E3AC088A-9240-4982-A82F-3381463C6C30}"/>
              </a:ext>
            </a:extLst>
          </p:cNvPr>
          <p:cNvSpPr>
            <a:spLocks noChangeArrowheads="1" noChangeShapeType="1" noTextEdit="1"/>
          </p:cNvSpPr>
          <p:nvPr/>
        </p:nvSpPr>
        <p:spPr bwMode="auto">
          <a:xfrm>
            <a:off x="1447800" y="4572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2708" name="WordArt 3">
            <a:extLst>
              <a:ext uri="{FF2B5EF4-FFF2-40B4-BE49-F238E27FC236}">
                <a16:creationId xmlns:a16="http://schemas.microsoft.com/office/drawing/2014/main" id="{9A25EF30-FBA6-4229-868D-8BF78F3E6DC2}"/>
              </a:ext>
            </a:extLst>
          </p:cNvPr>
          <p:cNvSpPr>
            <a:spLocks noChangeArrowheads="1" noChangeShapeType="1" noTextEdit="1"/>
          </p:cNvSpPr>
          <p:nvPr/>
        </p:nvSpPr>
        <p:spPr bwMode="auto">
          <a:xfrm>
            <a:off x="990600" y="1066800"/>
            <a:ext cx="7162800" cy="2286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Now it is time for </a:t>
            </a:r>
          </a:p>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another round of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669117E2-921B-44E0-BCEF-BF629B559AF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4755" name="Rectangle 2">
            <a:extLst>
              <a:ext uri="{FF2B5EF4-FFF2-40B4-BE49-F238E27FC236}">
                <a16:creationId xmlns:a16="http://schemas.microsoft.com/office/drawing/2014/main" id="{C47C2A07-A5AF-40B5-B012-4B02D8C28FB1}"/>
              </a:ext>
            </a:extLst>
          </p:cNvPr>
          <p:cNvSpPr>
            <a:spLocks noChangeArrowheads="1"/>
          </p:cNvSpPr>
          <p:nvPr/>
        </p:nvSpPr>
        <p:spPr bwMode="auto">
          <a:xfrm>
            <a:off x="1524000" y="1600200"/>
            <a:ext cx="5584862" cy="2678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list.size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Set s = new HashSet();</a:t>
            </a:r>
          </a:p>
          <a:p>
            <a:pPr>
              <a:spcBef>
                <a:spcPct val="0"/>
              </a:spcBef>
              <a:buFontTx/>
              <a:buNone/>
            </a:pPr>
            <a:r>
              <a:rPr lang="en-US" altLang="en-US" sz="3600" b="1" dirty="0">
                <a:latin typeface="Tahoma" panose="020B0604030504040204" pitchFamily="34" charset="0"/>
              </a:rPr>
              <a:t>for(int i=0; i&lt;n;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s.add</a:t>
            </a:r>
            <a:r>
              <a:rPr lang="en-US" altLang="en-US" sz="3600" b="1" dirty="0">
                <a:latin typeface="Tahoma" panose="020B0604030504040204" pitchFamily="34" charset="0"/>
              </a:rPr>
              <a:t>(</a:t>
            </a:r>
            <a:r>
              <a:rPr lang="en-US" altLang="en-US" sz="3600" b="1" dirty="0" err="1">
                <a:latin typeface="Tahoma" panose="020B0604030504040204" pitchFamily="34" charset="0"/>
              </a:rPr>
              <a:t>list.get</a:t>
            </a:r>
            <a:r>
              <a:rPr lang="en-US" altLang="en-US" sz="3600" b="1" dirty="0">
                <a:latin typeface="Tahoma" panose="020B0604030504040204" pitchFamily="34" charset="0"/>
              </a:rPr>
              <a:t>(i));</a:t>
            </a:r>
          </a:p>
          <a:p>
            <a:pPr>
              <a:spcBef>
                <a:spcPct val="0"/>
              </a:spcBef>
              <a:buFontTx/>
              <a:buNone/>
            </a:pPr>
            <a:endParaRPr lang="en-US" altLang="en-US" sz="2400" dirty="0">
              <a:latin typeface="Arial" panose="020B0604020202020204" pitchFamily="34" charset="0"/>
            </a:endParaRPr>
          </a:p>
        </p:txBody>
      </p:sp>
      <p:sp>
        <p:nvSpPr>
          <p:cNvPr id="74756" name="WordArt 3">
            <a:extLst>
              <a:ext uri="{FF2B5EF4-FFF2-40B4-BE49-F238E27FC236}">
                <a16:creationId xmlns:a16="http://schemas.microsoft.com/office/drawing/2014/main" id="{0B01014B-9BAE-4E8A-B63A-256E049FDA7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4757" name="Rectangle 5">
            <a:extLst>
              <a:ext uri="{FF2B5EF4-FFF2-40B4-BE49-F238E27FC236}">
                <a16:creationId xmlns:a16="http://schemas.microsoft.com/office/drawing/2014/main" id="{0EAA3CE6-2FC0-46E9-A9B4-3F15975BF41A}"/>
              </a:ext>
            </a:extLst>
          </p:cNvPr>
          <p:cNvSpPr>
            <a:spLocks noChangeArrowheads="1"/>
          </p:cNvSpPr>
          <p:nvPr/>
        </p:nvSpPr>
        <p:spPr bwMode="auto">
          <a:xfrm>
            <a:off x="533400" y="4191000"/>
            <a:ext cx="8229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b="1" dirty="0">
                <a:solidFill>
                  <a:srgbClr val="3333CC"/>
                </a:solidFill>
                <a:latin typeface="Tahoma" panose="020B0604030504040204" pitchFamily="34" charset="0"/>
              </a:rPr>
              <a:t>Big O Notation – O(N)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work needed to add each element</a:t>
            </a:r>
          </a:p>
          <a:p>
            <a:pPr eaLnBrk="1" hangingPunct="1">
              <a:spcBef>
                <a:spcPct val="0"/>
              </a:spcBef>
              <a:buFontTx/>
              <a:buNone/>
            </a:pPr>
            <a:r>
              <a:rPr lang="en-US" altLang="en-US" sz="2800" b="1" dirty="0">
                <a:latin typeface="Tahoma" panose="020B0604030504040204" pitchFamily="34" charset="0"/>
              </a:rPr>
              <a:t>of ray to s would be N*1.  Ray has N items</a:t>
            </a:r>
          </a:p>
          <a:p>
            <a:pPr eaLnBrk="1" hangingPunct="1">
              <a:spcBef>
                <a:spcPct val="0"/>
              </a:spcBef>
              <a:buFontTx/>
              <a:buNone/>
            </a:pPr>
            <a:r>
              <a:rPr lang="en-US" altLang="en-US" sz="2800" b="1" dirty="0">
                <a:latin typeface="Tahoma" panose="020B0604030504040204" pitchFamily="34" charset="0"/>
              </a:rPr>
              <a:t>and add() for HashSet has an O(1) </a:t>
            </a:r>
            <a:r>
              <a:rPr lang="en-US" altLang="en-US" sz="2800" b="1" dirty="0" err="1">
                <a:latin typeface="Tahoma" panose="020B0604030504040204" pitchFamily="34" charset="0"/>
              </a:rPr>
              <a:t>bigO</a:t>
            </a:r>
            <a:r>
              <a:rPr lang="en-US" altLang="en-US" sz="2800" b="1" dirty="0">
                <a:latin typeface="Tahoma" panose="020B0604030504040204" pitchFamily="34" charset="0"/>
              </a:rPr>
              <a:t>.</a:t>
            </a:r>
            <a:r>
              <a:rPr lang="en-US" altLang="en-US" sz="2800" dirty="0">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3C1A1E86-8840-4451-B387-C26A88BD793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6803" name="Rectangle 2">
            <a:extLst>
              <a:ext uri="{FF2B5EF4-FFF2-40B4-BE49-F238E27FC236}">
                <a16:creationId xmlns:a16="http://schemas.microsoft.com/office/drawing/2014/main" id="{A80724FD-FE0D-4C97-9193-4022A8C4C2A6}"/>
              </a:ext>
            </a:extLst>
          </p:cNvPr>
          <p:cNvSpPr>
            <a:spLocks noChangeArrowheads="1"/>
          </p:cNvSpPr>
          <p:nvPr/>
        </p:nvSpPr>
        <p:spPr bwMode="auto">
          <a:xfrm>
            <a:off x="1524000" y="1600200"/>
            <a:ext cx="540226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list.size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Set s = new </a:t>
            </a:r>
            <a:r>
              <a:rPr lang="en-US" altLang="en-US" sz="3600" b="1" dirty="0" err="1">
                <a:latin typeface="Tahoma" panose="020B0604030504040204" pitchFamily="34" charset="0"/>
              </a:rPr>
              <a:t>TreeSet</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for(int i=0; i&lt;n;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s.add</a:t>
            </a:r>
            <a:r>
              <a:rPr lang="en-US" altLang="en-US" sz="3600" b="1" dirty="0">
                <a:latin typeface="Tahoma" panose="020B0604030504040204" pitchFamily="34" charset="0"/>
              </a:rPr>
              <a:t>(</a:t>
            </a:r>
            <a:r>
              <a:rPr lang="en-US" altLang="en-US" sz="3600" b="1" dirty="0" err="1">
                <a:latin typeface="Tahoma" panose="020B0604030504040204" pitchFamily="34" charset="0"/>
              </a:rPr>
              <a:t>list.get</a:t>
            </a:r>
            <a:r>
              <a:rPr lang="en-US" altLang="en-US" sz="3600" b="1" dirty="0">
                <a:latin typeface="Tahoma" panose="020B0604030504040204" pitchFamily="34" charset="0"/>
              </a:rPr>
              <a:t>(i));</a:t>
            </a:r>
          </a:p>
          <a:p>
            <a:pPr>
              <a:spcBef>
                <a:spcPct val="0"/>
              </a:spcBef>
              <a:buFontTx/>
              <a:buNone/>
            </a:pPr>
            <a:endParaRPr lang="en-US" altLang="en-US" sz="2400" dirty="0">
              <a:latin typeface="Arial" panose="020B0604020202020204" pitchFamily="34" charset="0"/>
            </a:endParaRPr>
          </a:p>
        </p:txBody>
      </p:sp>
      <p:sp>
        <p:nvSpPr>
          <p:cNvPr id="76804" name="WordArt 3">
            <a:extLst>
              <a:ext uri="{FF2B5EF4-FFF2-40B4-BE49-F238E27FC236}">
                <a16:creationId xmlns:a16="http://schemas.microsoft.com/office/drawing/2014/main" id="{DD0E220F-5020-4E13-ABF6-7DAED8F6A390}"/>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6805" name="Rectangle 5">
            <a:extLst>
              <a:ext uri="{FF2B5EF4-FFF2-40B4-BE49-F238E27FC236}">
                <a16:creationId xmlns:a16="http://schemas.microsoft.com/office/drawing/2014/main" id="{5534E1BA-C50C-4198-87BD-7024D1D55998}"/>
              </a:ext>
            </a:extLst>
          </p:cNvPr>
          <p:cNvSpPr>
            <a:spLocks noChangeArrowheads="1"/>
          </p:cNvSpPr>
          <p:nvPr/>
        </p:nvSpPr>
        <p:spPr bwMode="auto">
          <a:xfrm>
            <a:off x="533400" y="4191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 O Notation – N*Log</a:t>
            </a:r>
            <a:r>
              <a:rPr lang="en-US" altLang="en-US" sz="2800" b="1" baseline="-25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work needed to add each element</a:t>
            </a:r>
          </a:p>
          <a:p>
            <a:pPr eaLnBrk="1" hangingPunct="1">
              <a:spcBef>
                <a:spcPct val="0"/>
              </a:spcBef>
              <a:buFontTx/>
              <a:buNone/>
            </a:pPr>
            <a:r>
              <a:rPr lang="en-US" altLang="en-US" sz="2800" b="1" dirty="0">
                <a:latin typeface="Tahoma" panose="020B0604030504040204" pitchFamily="34" charset="0"/>
              </a:rPr>
              <a:t>of ray to s would be N *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N.  Ray has N items and add() for </a:t>
            </a:r>
            <a:r>
              <a:rPr lang="en-US" altLang="en-US" sz="2800" b="1" dirty="0" err="1">
                <a:latin typeface="Tahoma" panose="020B0604030504040204" pitchFamily="34" charset="0"/>
              </a:rPr>
              <a:t>TreeSet</a:t>
            </a:r>
            <a:r>
              <a:rPr lang="en-US" altLang="en-US" sz="2800" b="1" dirty="0">
                <a:latin typeface="Tahoma" panose="020B0604030504040204" pitchFamily="34" charset="0"/>
              </a:rPr>
              <a:t> has a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 </a:t>
            </a:r>
            <a:r>
              <a:rPr lang="en-US" altLang="en-US" sz="2800" b="1" dirty="0" err="1">
                <a:latin typeface="Tahoma" panose="020B0604030504040204" pitchFamily="34" charset="0"/>
              </a:rPr>
              <a:t>bigO</a:t>
            </a:r>
            <a:r>
              <a:rPr lang="en-US" altLang="en-US" sz="2800" b="1" dirty="0">
                <a:latin typeface="Tahoma" panose="020B0604030504040204" pitchFamily="34" charset="0"/>
              </a:rPr>
              <a:t>.</a:t>
            </a:r>
            <a:r>
              <a:rPr lang="en-US" altLang="en-US" sz="2800" dirty="0">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additive="base">
                                        <p:cTn id="7" dur="500" fill="hold"/>
                                        <p:tgtEl>
                                          <p:spTgt spid="76805"/>
                                        </p:tgtEl>
                                        <p:attrNameLst>
                                          <p:attrName>ppt_x</p:attrName>
                                        </p:attrNameLst>
                                      </p:cBhvr>
                                      <p:tavLst>
                                        <p:tav tm="0">
                                          <p:val>
                                            <p:strVal val="#ppt_x"/>
                                          </p:val>
                                        </p:tav>
                                        <p:tav tm="100000">
                                          <p:val>
                                            <p:strVal val="#ppt_x"/>
                                          </p:val>
                                        </p:tav>
                                      </p:tavLst>
                                    </p:anim>
                                    <p:anim calcmode="lin" valueType="num">
                                      <p:cBhvr additive="base">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00"/>
            <a:ext cx="7772400" cy="1470025"/>
          </a:xfrm>
        </p:spPr>
        <p:txBody>
          <a:bodyPr/>
          <a:lstStyle/>
          <a:p>
            <a:r>
              <a:rPr lang="en-US" sz="8000" dirty="0"/>
              <a:t>Set Theory</a:t>
            </a:r>
          </a:p>
        </p:txBody>
      </p:sp>
      <p:sp>
        <p:nvSpPr>
          <p:cNvPr id="4" name="Footer Placeholder 3">
            <a:extLst>
              <a:ext uri="{FF2B5EF4-FFF2-40B4-BE49-F238E27FC236}">
                <a16:creationId xmlns:a16="http://schemas.microsoft.com/office/drawing/2014/main" id="{FFE3332D-24B1-4CA7-85EE-1E5BFB91B752}"/>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1919776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060" name="Ink 1">
                <a:extLst>
                  <a:ext uri="{FF2B5EF4-FFF2-40B4-BE49-F238E27FC236}">
                    <a16:creationId xmlns:a16="http://schemas.microsoft.com/office/drawing/2014/main" id="{0FE7029D-86B4-4324-A5AB-BFD62F0C9728}"/>
                  </a:ext>
                </a:extLst>
              </p14:cNvPr>
              <p14:cNvContentPartPr>
                <a14:cpLocks xmlns:a14="http://schemas.microsoft.com/office/drawing/2010/main" noRot="1" noChangeAspect="1" noEditPoints="1" noChangeArrowheads="1" noChangeShapeType="1"/>
              </p14:cNvContentPartPr>
              <p14:nvPr/>
            </p14:nvContentPartPr>
            <p14:xfrm>
              <a:off x="2130425" y="690563"/>
              <a:ext cx="33338" cy="12700"/>
            </p14:xfrm>
          </p:contentPart>
        </mc:Choice>
        <mc:Fallback xmlns="">
          <p:pic>
            <p:nvPicPr>
              <p:cNvPr id="2060" name="Ink 1">
                <a:extLst>
                  <a:ext uri="{FF2B5EF4-FFF2-40B4-BE49-F238E27FC236}">
                    <a16:creationId xmlns:a16="http://schemas.microsoft.com/office/drawing/2014/main" id="{0FE7029D-86B4-4324-A5AB-BFD62F0C9728}"/>
                  </a:ext>
                </a:extLst>
              </p:cNvPr>
              <p:cNvPicPr>
                <a:picLocks noRot="1" noChangeAspect="1" noEditPoints="1" noChangeArrowheads="1" noChangeShapeType="1"/>
              </p:cNvPicPr>
              <p:nvPr/>
            </p:nvPicPr>
            <p:blipFill>
              <a:blip r:embed="rId3"/>
              <a:stretch>
                <a:fillRect/>
              </a:stretch>
            </p:blipFill>
            <p:spPr>
              <a:xfrm>
                <a:off x="0" y="0"/>
                <a:ext cx="0" cy="0"/>
              </a:xfrm>
              <a:prstGeom prst="rect">
                <a:avLst/>
              </a:prstGeom>
            </p:spPr>
          </p:pic>
        </mc:Fallback>
      </mc:AlternateContent>
      <p:sp>
        <p:nvSpPr>
          <p:cNvPr id="13" name="Rectangle 13">
            <a:extLst>
              <a:ext uri="{FF2B5EF4-FFF2-40B4-BE49-F238E27FC236}">
                <a16:creationId xmlns:a16="http://schemas.microsoft.com/office/drawing/2014/main" id="{6AAAD057-4E26-4DEB-B9E2-08BE10A8F29A}"/>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3B264EB-E88A-4624-BF83-437E399B8A26}"/>
                  </a:ext>
                </a:extLst>
              </p:cNvPr>
              <p:cNvSpPr txBox="1"/>
              <p:nvPr/>
            </p:nvSpPr>
            <p:spPr>
              <a:xfrm>
                <a:off x="228600" y="1905000"/>
                <a:ext cx="8839200" cy="4339650"/>
              </a:xfrm>
              <a:prstGeom prst="rect">
                <a:avLst/>
              </a:prstGeom>
              <a:noFill/>
            </p:spPr>
            <p:txBody>
              <a:bodyPr wrap="square" rtlCol="0">
                <a:spAutoFit/>
              </a:bodyPr>
              <a:lstStyle/>
              <a:p>
                <a:pPr>
                  <a:tabLst>
                    <a:tab pos="2570163" algn="r"/>
                    <a:tab pos="2854325" algn="l"/>
                  </a:tabLst>
                </a:pPr>
                <a:r>
                  <a:rPr lang="en-US" sz="2800" b="1" dirty="0"/>
                  <a:t> 	Union:	</a:t>
                </a:r>
                <a14:m>
                  <m:oMath xmlns:m="http://schemas.openxmlformats.org/officeDocument/2006/math">
                    <m:r>
                      <a:rPr lang="en-US" sz="4000" b="1" i="0" smtClean="0">
                        <a:latin typeface="Cambria Math" panose="02040503050406030204" pitchFamily="18" charset="0"/>
                      </a:rPr>
                      <m:t>𝐀</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a14:m>
                <a:endParaRPr lang="en-US" sz="4000" dirty="0"/>
              </a:p>
              <a:p>
                <a:pPr>
                  <a:tabLst>
                    <a:tab pos="2570163" algn="r"/>
                    <a:tab pos="2854325" algn="l"/>
                  </a:tabLst>
                </a:pPr>
                <a:r>
                  <a:rPr lang="en-US" sz="2800" b="1" dirty="0"/>
                  <a:t> 	Intersection:</a:t>
                </a:r>
                <a:r>
                  <a:rPr lang="en-US" sz="4000" dirty="0"/>
                  <a:t>	</a:t>
                </a:r>
                <a14:m>
                  <m:oMath xmlns:m="http://schemas.openxmlformats.org/officeDocument/2006/math">
                    <m:r>
                      <a:rPr lang="en-US" sz="4000" b="1" i="0" smtClean="0">
                        <a:latin typeface="Cambria Math" panose="02040503050406030204" pitchFamily="18" charset="0"/>
                        <a:ea typeface="Cambria Math" panose="02040503050406030204" pitchFamily="18" charset="0"/>
                      </a:rPr>
                      <m:t>𝐀</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d>
                      <m:dPr>
                        <m:begChr m:val="{"/>
                        <m:endChr m:val="}"/>
                        <m:ctrlPr>
                          <a:rPr lang="en-US" sz="4000" b="1" i="1" smtClean="0">
                            <a:latin typeface="Cambria Math" panose="02040503050406030204" pitchFamily="18" charset="0"/>
                            <a:ea typeface="Cambria Math" panose="02040503050406030204" pitchFamily="18" charset="0"/>
                          </a:rPr>
                        </m:ctrlPr>
                      </m:dPr>
                      <m:e>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e>
                    </m:d>
                  </m:oMath>
                </a14:m>
                <a:endParaRPr lang="en-US" sz="4000" b="1" dirty="0">
                  <a:ea typeface="Cambria Math" panose="02040503050406030204" pitchFamily="18" charset="0"/>
                </a:endParaRPr>
              </a:p>
              <a:p>
                <a:pPr>
                  <a:tabLst>
                    <a:tab pos="2570163" algn="r"/>
                    <a:tab pos="2854325" algn="l"/>
                  </a:tabLst>
                </a:pPr>
                <a:r>
                  <a:rPr lang="en-US" sz="4000" b="1" dirty="0">
                    <a:ea typeface="Cambria Math" panose="02040503050406030204" pitchFamily="18" charset="0"/>
                  </a:rPr>
                  <a:t> 	</a:t>
                </a:r>
                <a:r>
                  <a:rPr lang="en-US" sz="3200" b="1" dirty="0">
                    <a:ea typeface="Cambria Math" panose="02040503050406030204" pitchFamily="18" charset="0"/>
                  </a:rPr>
                  <a:t>A – B:</a:t>
                </a:r>
                <a:r>
                  <a:rPr lang="en-US" sz="4000" b="1" dirty="0">
                    <a:ea typeface="Cambria Math" panose="02040503050406030204" pitchFamily="18" charset="0"/>
                  </a:rPr>
                  <a:t>	</a:t>
                </a:r>
                <a14:m>
                  <m:oMath xmlns:m="http://schemas.openxmlformats.org/officeDocument/2006/math">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 −</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oMath>
                </a14:m>
                <a:endParaRPr lang="en-US" sz="4000" b="1" dirty="0">
                  <a:ea typeface="Cambria Math" panose="02040503050406030204" pitchFamily="18" charset="0"/>
                </a:endParaRPr>
              </a:p>
              <a:p>
                <a:pPr>
                  <a:tabLst>
                    <a:tab pos="2570163" algn="r"/>
                    <a:tab pos="2854325" algn="l"/>
                  </a:tabLst>
                </a:pPr>
                <a:r>
                  <a:rPr lang="en-US" sz="4000" dirty="0">
                    <a:ea typeface="Cambria Math" panose="02040503050406030204" pitchFamily="18" charset="0"/>
                  </a:rPr>
                  <a:t> 	</a:t>
                </a:r>
                <a:r>
                  <a:rPr lang="en-US" sz="3200" dirty="0">
                    <a:ea typeface="Cambria Math" panose="02040503050406030204" pitchFamily="18" charset="0"/>
                  </a:rPr>
                  <a:t>B – A:</a:t>
                </a:r>
                <a:r>
                  <a:rPr lang="en-US" sz="4000" dirty="0">
                    <a:ea typeface="Cambria Math" panose="02040503050406030204" pitchFamily="18" charset="0"/>
                  </a:rPr>
                  <a:t>	</a:t>
                </a:r>
                <a14:m>
                  <m:oMath xmlns:m="http://schemas.openxmlformats.org/officeDocument/2006/math">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a14:m>
                <a:endParaRPr lang="en-US" sz="4000" b="1" dirty="0">
                  <a:ea typeface="Cambria Math" panose="02040503050406030204" pitchFamily="18" charset="0"/>
                </a:endParaRPr>
              </a:p>
              <a:p>
                <a:pPr>
                  <a:tabLst>
                    <a:tab pos="2570163" algn="r"/>
                  </a:tabLst>
                </a:pPr>
                <a:endParaRPr lang="en-US" sz="4000" b="1" dirty="0">
                  <a:ea typeface="Cambria Math" panose="02040503050406030204" pitchFamily="18" charset="0"/>
                </a:endParaRPr>
              </a:p>
              <a:p>
                <a:pPr>
                  <a:tabLst>
                    <a:tab pos="2570163" algn="r"/>
                    <a:tab pos="2854325" algn="l"/>
                  </a:tabLst>
                </a:pPr>
                <a:r>
                  <a:rPr lang="en-US" sz="3600" b="1" dirty="0">
                    <a:ea typeface="Cambria Math" panose="02040503050406030204" pitchFamily="18" charset="0"/>
                  </a:rPr>
                  <a:t>Symmetric </a:t>
                </a:r>
                <a:br>
                  <a:rPr lang="en-US" sz="3600" b="1" dirty="0">
                    <a:ea typeface="Cambria Math" panose="02040503050406030204" pitchFamily="18" charset="0"/>
                  </a:rPr>
                </a:br>
                <a:r>
                  <a:rPr lang="en-US" sz="3600" b="1" dirty="0">
                    <a:ea typeface="Cambria Math" panose="02040503050406030204" pitchFamily="18" charset="0"/>
                  </a:rPr>
                  <a:t> 	</a:t>
                </a:r>
                <a:r>
                  <a:rPr lang="en-US" sz="3600" dirty="0">
                    <a:ea typeface="Cambria Math" panose="02040503050406030204" pitchFamily="18" charset="0"/>
                  </a:rPr>
                  <a:t>difference:</a:t>
                </a:r>
                <a:r>
                  <a:rPr lang="en-US" sz="4000" dirty="0">
                    <a:ea typeface="Cambria Math" panose="02040503050406030204" pitchFamily="18" charset="0"/>
                  </a:rPr>
                  <a:t>	</a:t>
                </a:r>
                <a14:m>
                  <m:oMath xmlns:m="http://schemas.openxmlformats.org/officeDocument/2006/math">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 ∆ </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a14:m>
                <a:endParaRPr lang="en-US" sz="4000" b="1" dirty="0">
                  <a:ea typeface="Cambria Math" panose="02040503050406030204" pitchFamily="18" charset="0"/>
                </a:endParaRPr>
              </a:p>
            </p:txBody>
          </p:sp>
        </mc:Choice>
        <mc:Fallback xmlns="">
          <p:sp>
            <p:nvSpPr>
              <p:cNvPr id="19" name="TextBox 18">
                <a:extLst>
                  <a:ext uri="{FF2B5EF4-FFF2-40B4-BE49-F238E27FC236}">
                    <a16:creationId xmlns:a16="http://schemas.microsoft.com/office/drawing/2014/main" id="{A3B264EB-E88A-4624-BF83-437E399B8A26}"/>
                  </a:ext>
                </a:extLst>
              </p:cNvPr>
              <p:cNvSpPr txBox="1">
                <a:spLocks noRot="1" noChangeAspect="1" noMove="1" noResize="1" noEditPoints="1" noAdjustHandles="1" noChangeArrowheads="1" noChangeShapeType="1" noTextEdit="1"/>
              </p:cNvSpPr>
              <p:nvPr/>
            </p:nvSpPr>
            <p:spPr>
              <a:xfrm>
                <a:off x="228600" y="1905000"/>
                <a:ext cx="8839200" cy="4339650"/>
              </a:xfrm>
              <a:prstGeom prst="rect">
                <a:avLst/>
              </a:prstGeom>
              <a:blipFill>
                <a:blip r:embed="rId4"/>
                <a:stretch>
                  <a:fillRect l="-2138" b="-3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2C950D-92A8-468F-873D-4067654A8732}"/>
                  </a:ext>
                </a:extLst>
              </p:cNvPr>
              <p:cNvSpPr txBox="1"/>
              <p:nvPr/>
            </p:nvSpPr>
            <p:spPr>
              <a:xfrm>
                <a:off x="523876" y="336620"/>
                <a:ext cx="3971924" cy="707886"/>
              </a:xfrm>
              <a:prstGeom prst="rect">
                <a:avLst/>
              </a:prstGeom>
              <a:noFill/>
            </p:spPr>
            <p:txBody>
              <a:bodyPr wrap="square" rtlCol="0">
                <a:spAutoFit/>
              </a:bodyPr>
              <a:lstStyle/>
              <a:p>
                <a:pPr>
                  <a:tabLst>
                    <a:tab pos="2570163" algn="r"/>
                    <a:tab pos="2743200" algn="l"/>
                  </a:tabLst>
                </a:pPr>
                <a14:m>
                  <m:oMathPara xmlns:m="http://schemas.openxmlformats.org/officeDocument/2006/math">
                    <m:oMathParaPr>
                      <m:jc m:val="left"/>
                    </m:oMathParaPr>
                    <m:oMath xmlns:m="http://schemas.openxmlformats.org/officeDocument/2006/math">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r>
                        <a:rPr lang="en-US" sz="4000" b="1" i="1" smtClean="0">
                          <a:latin typeface="Cambria Math" panose="02040503050406030204" pitchFamily="18" charset="0"/>
                          <a:ea typeface="Cambria Math" panose="02040503050406030204" pitchFamily="18" charset="0"/>
                        </a:rPr>
                        <m:t>}</m:t>
                      </m:r>
                    </m:oMath>
                  </m:oMathPara>
                </a14:m>
                <a:endParaRPr lang="en-US" sz="4000" dirty="0"/>
              </a:p>
            </p:txBody>
          </p:sp>
        </mc:Choice>
        <mc:Fallback xmlns="">
          <p:sp>
            <p:nvSpPr>
              <p:cNvPr id="22" name="TextBox 21">
                <a:extLst>
                  <a:ext uri="{FF2B5EF4-FFF2-40B4-BE49-F238E27FC236}">
                    <a16:creationId xmlns:a16="http://schemas.microsoft.com/office/drawing/2014/main" id="{F82C950D-92A8-468F-873D-4067654A8732}"/>
                  </a:ext>
                </a:extLst>
              </p:cNvPr>
              <p:cNvSpPr txBox="1">
                <a:spLocks noRot="1" noChangeAspect="1" noMove="1" noResize="1" noEditPoints="1" noAdjustHandles="1" noChangeArrowheads="1" noChangeShapeType="1" noTextEdit="1"/>
              </p:cNvSpPr>
              <p:nvPr/>
            </p:nvSpPr>
            <p:spPr>
              <a:xfrm>
                <a:off x="523876" y="336620"/>
                <a:ext cx="3971924"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7665ADD-D852-460B-B3E5-1A00B4E2BE69}"/>
                  </a:ext>
                </a:extLst>
              </p:cNvPr>
              <p:cNvSpPr txBox="1"/>
              <p:nvPr/>
            </p:nvSpPr>
            <p:spPr>
              <a:xfrm>
                <a:off x="4791076" y="336620"/>
                <a:ext cx="3971924" cy="707886"/>
              </a:xfrm>
              <a:prstGeom prst="rect">
                <a:avLst/>
              </a:prstGeom>
              <a:noFill/>
            </p:spPr>
            <p:txBody>
              <a:bodyPr wrap="square" rtlCol="0">
                <a:spAutoFit/>
              </a:bodyPr>
              <a:lstStyle/>
              <a:p>
                <a:pPr>
                  <a:tabLst>
                    <a:tab pos="2570163" algn="r"/>
                    <a:tab pos="2743200" algn="l"/>
                  </a:tabLst>
                </a:pPr>
                <a14:m>
                  <m:oMathPara xmlns:m="http://schemas.openxmlformats.org/officeDocument/2006/math">
                    <m:oMathParaPr>
                      <m:jc m:val="left"/>
                    </m:oMathParaPr>
                    <m:oMath xmlns:m="http://schemas.openxmlformats.org/officeDocument/2006/math">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m:oMathPara>
                </a14:m>
                <a:endParaRPr lang="en-US" sz="4000" dirty="0"/>
              </a:p>
            </p:txBody>
          </p:sp>
        </mc:Choice>
        <mc:Fallback xmlns="">
          <p:sp>
            <p:nvSpPr>
              <p:cNvPr id="23" name="TextBox 22">
                <a:extLst>
                  <a:ext uri="{FF2B5EF4-FFF2-40B4-BE49-F238E27FC236}">
                    <a16:creationId xmlns:a16="http://schemas.microsoft.com/office/drawing/2014/main" id="{57665ADD-D852-460B-B3E5-1A00B4E2BE69}"/>
                  </a:ext>
                </a:extLst>
              </p:cNvPr>
              <p:cNvSpPr txBox="1">
                <a:spLocks noRot="1" noChangeAspect="1" noMove="1" noResize="1" noEditPoints="1" noAdjustHandles="1" noChangeArrowheads="1" noChangeShapeType="1" noTextEdit="1"/>
              </p:cNvSpPr>
              <p:nvPr/>
            </p:nvSpPr>
            <p:spPr>
              <a:xfrm>
                <a:off x="4791076" y="336620"/>
                <a:ext cx="3971924" cy="70788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25034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609600"/>
            <a:ext cx="7772400" cy="1470025"/>
          </a:xfrm>
        </p:spPr>
        <p:txBody>
          <a:bodyPr/>
          <a:lstStyle/>
          <a:p>
            <a:r>
              <a:rPr lang="en-US" sz="8000" dirty="0"/>
              <a:t>Set methods</a:t>
            </a:r>
          </a:p>
        </p:txBody>
      </p:sp>
      <p:sp>
        <p:nvSpPr>
          <p:cNvPr id="3" name="Subtitle 2">
            <a:extLst>
              <a:ext uri="{FF2B5EF4-FFF2-40B4-BE49-F238E27FC236}">
                <a16:creationId xmlns:a16="http://schemas.microsoft.com/office/drawing/2014/main" id="{99184375-F145-47F2-9422-FF562CCACF1B}"/>
              </a:ext>
            </a:extLst>
          </p:cNvPr>
          <p:cNvSpPr>
            <a:spLocks noGrp="1"/>
          </p:cNvSpPr>
          <p:nvPr>
            <p:ph type="subTitle" idx="1"/>
          </p:nvPr>
        </p:nvSpPr>
        <p:spPr>
          <a:xfrm>
            <a:off x="1371600" y="2895600"/>
            <a:ext cx="6400800" cy="1752600"/>
          </a:xfrm>
        </p:spPr>
        <p:txBody>
          <a:bodyPr/>
          <a:lstStyle/>
          <a:p>
            <a:r>
              <a:rPr lang="en-US" sz="4000" b="1" kern="1200" dirty="0" err="1">
                <a:latin typeface="Tahoma" panose="020B0604030504040204" pitchFamily="34" charset="0"/>
              </a:rPr>
              <a:t>addAll</a:t>
            </a:r>
            <a:endParaRPr lang="en-US" sz="4000" b="1" kern="1200" dirty="0">
              <a:latin typeface="Tahoma" panose="020B0604030504040204" pitchFamily="34" charset="0"/>
            </a:endParaRPr>
          </a:p>
          <a:p>
            <a:r>
              <a:rPr lang="en-US" sz="4000" b="1" kern="1200" dirty="0" err="1">
                <a:latin typeface="Tahoma" panose="020B0604030504040204" pitchFamily="34" charset="0"/>
              </a:rPr>
              <a:t>removeAll</a:t>
            </a:r>
            <a:endParaRPr lang="en-US" sz="4000" b="1" kern="1200" dirty="0">
              <a:latin typeface="Tahoma" panose="020B0604030504040204" pitchFamily="34" charset="0"/>
            </a:endParaRPr>
          </a:p>
          <a:p>
            <a:r>
              <a:rPr lang="en-US" sz="4000" b="1" kern="1200" dirty="0" err="1">
                <a:latin typeface="Tahoma" panose="020B0604030504040204" pitchFamily="34" charset="0"/>
              </a:rPr>
              <a:t>retainAll</a:t>
            </a:r>
            <a:endParaRPr lang="en-US" sz="4000" b="1" kern="1200" dirty="0">
              <a:latin typeface="Tahoma" panose="020B0604030504040204" pitchFamily="34" charset="0"/>
            </a:endParaRPr>
          </a:p>
        </p:txBody>
      </p:sp>
      <p:sp>
        <p:nvSpPr>
          <p:cNvPr id="4" name="Footer Placeholder 3">
            <a:extLst>
              <a:ext uri="{FF2B5EF4-FFF2-40B4-BE49-F238E27FC236}">
                <a16:creationId xmlns:a16="http://schemas.microsoft.com/office/drawing/2014/main" id="{FFE3332D-24B1-4CA7-85EE-1E5BFB91B752}"/>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598753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Union</a:t>
            </a:r>
          </a:p>
        </p:txBody>
      </p:sp>
      <p:sp>
        <p:nvSpPr>
          <p:cNvPr id="6" name="TextBox 5">
            <a:extLst>
              <a:ext uri="{FF2B5EF4-FFF2-40B4-BE49-F238E27FC236}">
                <a16:creationId xmlns:a16="http://schemas.microsoft.com/office/drawing/2014/main" id="{CFBEFCAA-F242-4EC0-9D4D-A87317D5061F}"/>
              </a:ext>
            </a:extLst>
          </p:cNvPr>
          <p:cNvSpPr txBox="1"/>
          <p:nvPr/>
        </p:nvSpPr>
        <p:spPr>
          <a:xfrm>
            <a:off x="3176912" y="5271821"/>
            <a:ext cx="3018775" cy="954107"/>
          </a:xfrm>
          <a:prstGeom prst="rect">
            <a:avLst/>
          </a:prstGeom>
          <a:noFill/>
        </p:spPr>
        <p:txBody>
          <a:bodyPr wrap="none" rtlCol="0">
            <a:spAutoFit/>
          </a:bodyPr>
          <a:lstStyle/>
          <a:p>
            <a:r>
              <a:rPr lang="en-US" sz="2800" dirty="0" err="1"/>
              <a:t>union.addAll</a:t>
            </a:r>
            <a:r>
              <a:rPr lang="en-US" sz="2800" dirty="0"/>
              <a:t>(A)</a:t>
            </a:r>
          </a:p>
          <a:p>
            <a:r>
              <a:rPr lang="en-US" sz="2800" dirty="0" err="1"/>
              <a:t>union.addAll</a:t>
            </a:r>
            <a:r>
              <a:rPr lang="en-US" sz="2800" dirty="0"/>
              <a:t>(B)</a:t>
            </a:r>
          </a:p>
        </p:txBody>
      </p:sp>
      <p:grpSp>
        <p:nvGrpSpPr>
          <p:cNvPr id="9" name="Group 8" descr="Venn Diagram of A and B with all regions of A and B shaded.">
            <a:extLst>
              <a:ext uri="{FF2B5EF4-FFF2-40B4-BE49-F238E27FC236}">
                <a16:creationId xmlns:a16="http://schemas.microsoft.com/office/drawing/2014/main" id="{C4E299B2-F10F-4ED8-BBA1-D81E69D8647D}"/>
              </a:ext>
            </a:extLst>
          </p:cNvPr>
          <p:cNvGrpSpPr/>
          <p:nvPr/>
        </p:nvGrpSpPr>
        <p:grpSpPr>
          <a:xfrm>
            <a:off x="2133600" y="1219200"/>
            <a:ext cx="5105400" cy="3729851"/>
            <a:chOff x="2651316" y="1338075"/>
            <a:chExt cx="5105400" cy="3729851"/>
          </a:xfrm>
        </p:grpSpPr>
        <p:pic>
          <p:nvPicPr>
            <p:cNvPr id="5" name="Picture 4" descr="Diagram, venn diagram&#10;&#10;Description automatically generated">
              <a:extLst>
                <a:ext uri="{FF2B5EF4-FFF2-40B4-BE49-F238E27FC236}">
                  <a16:creationId xmlns:a16="http://schemas.microsoft.com/office/drawing/2014/main" id="{684B90DF-850C-45FF-84C4-48E21DF43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1316" y="1338075"/>
              <a:ext cx="5105400" cy="3729851"/>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810000" y="2433558"/>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998672" y="2433558"/>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43069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Intersection</a:t>
            </a:r>
          </a:p>
        </p:txBody>
      </p:sp>
      <p:sp>
        <p:nvSpPr>
          <p:cNvPr id="6" name="TextBox 5">
            <a:extLst>
              <a:ext uri="{FF2B5EF4-FFF2-40B4-BE49-F238E27FC236}">
                <a16:creationId xmlns:a16="http://schemas.microsoft.com/office/drawing/2014/main" id="{CFBEFCAA-F242-4EC0-9D4D-A87317D5061F}"/>
              </a:ext>
            </a:extLst>
          </p:cNvPr>
          <p:cNvSpPr txBox="1"/>
          <p:nvPr/>
        </p:nvSpPr>
        <p:spPr>
          <a:xfrm>
            <a:off x="2505143" y="5294188"/>
            <a:ext cx="4554452" cy="954107"/>
          </a:xfrm>
          <a:prstGeom prst="rect">
            <a:avLst/>
          </a:prstGeom>
          <a:noFill/>
        </p:spPr>
        <p:txBody>
          <a:bodyPr wrap="none" rtlCol="0">
            <a:spAutoFit/>
          </a:bodyPr>
          <a:lstStyle/>
          <a:p>
            <a:pPr algn="ctr"/>
            <a:r>
              <a:rPr lang="en-US" sz="2800" dirty="0" err="1"/>
              <a:t>intersection.addAll</a:t>
            </a:r>
            <a:r>
              <a:rPr lang="en-US" sz="2800" dirty="0"/>
              <a:t>(A)</a:t>
            </a:r>
          </a:p>
          <a:p>
            <a:pPr algn="ctr"/>
            <a:r>
              <a:rPr lang="en-US" sz="2800" dirty="0" err="1"/>
              <a:t>intersection.retainAll</a:t>
            </a:r>
            <a:r>
              <a:rPr lang="en-US" sz="2800" dirty="0"/>
              <a:t>(B)</a:t>
            </a:r>
          </a:p>
        </p:txBody>
      </p:sp>
      <p:pic>
        <p:nvPicPr>
          <p:cNvPr id="4" name="Picture 3" descr="Venn Diagram of A and B with only the overlapping region shaded.">
            <a:extLst>
              <a:ext uri="{FF2B5EF4-FFF2-40B4-BE49-F238E27FC236}">
                <a16:creationId xmlns:a16="http://schemas.microsoft.com/office/drawing/2014/main" id="{7AD68544-5B04-4EC8-9AF4-532E49EF2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003" y="1407819"/>
            <a:ext cx="4746592" cy="3467717"/>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spTree>
    <p:extLst>
      <p:ext uri="{BB962C8B-B14F-4D97-AF65-F5344CB8AC3E}">
        <p14:creationId xmlns:p14="http://schemas.microsoft.com/office/powerpoint/2010/main" val="156287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A minus B</a:t>
            </a:r>
          </a:p>
        </p:txBody>
      </p:sp>
      <p:sp>
        <p:nvSpPr>
          <p:cNvPr id="6" name="TextBox 5">
            <a:extLst>
              <a:ext uri="{FF2B5EF4-FFF2-40B4-BE49-F238E27FC236}">
                <a16:creationId xmlns:a16="http://schemas.microsoft.com/office/drawing/2014/main" id="{CFBEFCAA-F242-4EC0-9D4D-A87317D5061F}"/>
              </a:ext>
            </a:extLst>
          </p:cNvPr>
          <p:cNvSpPr txBox="1"/>
          <p:nvPr/>
        </p:nvSpPr>
        <p:spPr>
          <a:xfrm>
            <a:off x="3176912" y="5271821"/>
            <a:ext cx="3299301" cy="954107"/>
          </a:xfrm>
          <a:prstGeom prst="rect">
            <a:avLst/>
          </a:prstGeom>
          <a:noFill/>
        </p:spPr>
        <p:txBody>
          <a:bodyPr wrap="none" rtlCol="0">
            <a:spAutoFit/>
          </a:bodyPr>
          <a:lstStyle/>
          <a:p>
            <a:r>
              <a:rPr lang="en-US" sz="2800" dirty="0" err="1"/>
              <a:t>diff.addAll</a:t>
            </a:r>
            <a:r>
              <a:rPr lang="en-US" sz="2800" dirty="0"/>
              <a:t>(A)</a:t>
            </a:r>
          </a:p>
          <a:p>
            <a:r>
              <a:rPr lang="en-US" sz="2800" dirty="0" err="1"/>
              <a:t>diff.removeAll</a:t>
            </a:r>
            <a:r>
              <a:rPr lang="en-US" sz="2800" dirty="0"/>
              <a:t>(B)</a:t>
            </a:r>
          </a:p>
        </p:txBody>
      </p:sp>
      <p:grpSp>
        <p:nvGrpSpPr>
          <p:cNvPr id="3" name="Group 2" descr="Venn Diagram of A and B with only the part of region A that's not part of B shaded.">
            <a:extLst>
              <a:ext uri="{FF2B5EF4-FFF2-40B4-BE49-F238E27FC236}">
                <a16:creationId xmlns:a16="http://schemas.microsoft.com/office/drawing/2014/main" id="{1D2EF06B-54D7-F16B-B552-C5EC89C4876C}"/>
              </a:ext>
            </a:extLst>
          </p:cNvPr>
          <p:cNvGrpSpPr/>
          <p:nvPr/>
        </p:nvGrpSpPr>
        <p:grpSpPr>
          <a:xfrm>
            <a:off x="2438400" y="1371600"/>
            <a:ext cx="4603586" cy="3363241"/>
            <a:chOff x="2438400" y="1371600"/>
            <a:chExt cx="4603586" cy="3363241"/>
          </a:xfrm>
        </p:grpSpPr>
        <p:pic>
          <p:nvPicPr>
            <p:cNvPr id="4" name="Picture 3" descr="Venn Diagram of A and B with only the part of region A that's not part of B shaded.">
              <a:extLst>
                <a:ext uri="{FF2B5EF4-FFF2-40B4-BE49-F238E27FC236}">
                  <a16:creationId xmlns:a16="http://schemas.microsoft.com/office/drawing/2014/main" id="{3795042F-BCF2-4E5A-BBA4-0D82710A9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371600"/>
              <a:ext cx="4603586" cy="3363241"/>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363948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B minus A</a:t>
            </a:r>
          </a:p>
        </p:txBody>
      </p:sp>
      <p:sp>
        <p:nvSpPr>
          <p:cNvPr id="6" name="TextBox 5">
            <a:extLst>
              <a:ext uri="{FF2B5EF4-FFF2-40B4-BE49-F238E27FC236}">
                <a16:creationId xmlns:a16="http://schemas.microsoft.com/office/drawing/2014/main" id="{CFBEFCAA-F242-4EC0-9D4D-A87317D5061F}"/>
              </a:ext>
            </a:extLst>
          </p:cNvPr>
          <p:cNvSpPr txBox="1"/>
          <p:nvPr/>
        </p:nvSpPr>
        <p:spPr>
          <a:xfrm>
            <a:off x="3176912" y="5271821"/>
            <a:ext cx="3297698" cy="954107"/>
          </a:xfrm>
          <a:prstGeom prst="rect">
            <a:avLst/>
          </a:prstGeom>
          <a:noFill/>
        </p:spPr>
        <p:txBody>
          <a:bodyPr wrap="none" rtlCol="0">
            <a:spAutoFit/>
          </a:bodyPr>
          <a:lstStyle/>
          <a:p>
            <a:r>
              <a:rPr lang="en-US" sz="2800" dirty="0" err="1"/>
              <a:t>diff.addAll</a:t>
            </a:r>
            <a:r>
              <a:rPr lang="en-US" sz="2800" dirty="0"/>
              <a:t>(B)</a:t>
            </a:r>
          </a:p>
          <a:p>
            <a:r>
              <a:rPr lang="en-US" sz="2800" dirty="0" err="1"/>
              <a:t>diff.removeAll</a:t>
            </a:r>
            <a:r>
              <a:rPr lang="en-US" sz="2800" dirty="0"/>
              <a:t>(A)</a:t>
            </a:r>
          </a:p>
        </p:txBody>
      </p:sp>
      <p:grpSp>
        <p:nvGrpSpPr>
          <p:cNvPr id="3" name="Group 2" descr="Venn Diagram of A and B with only the part of region B that's not part of A shaded.">
            <a:extLst>
              <a:ext uri="{FF2B5EF4-FFF2-40B4-BE49-F238E27FC236}">
                <a16:creationId xmlns:a16="http://schemas.microsoft.com/office/drawing/2014/main" id="{AE26B6E0-B924-9A81-405F-1A32BA74FA90}"/>
              </a:ext>
            </a:extLst>
          </p:cNvPr>
          <p:cNvGrpSpPr/>
          <p:nvPr/>
        </p:nvGrpSpPr>
        <p:grpSpPr>
          <a:xfrm>
            <a:off x="2438400" y="1447800"/>
            <a:ext cx="4605983" cy="3364992"/>
            <a:chOff x="2438400" y="1447800"/>
            <a:chExt cx="4605983" cy="3364992"/>
          </a:xfrm>
        </p:grpSpPr>
        <p:pic>
          <p:nvPicPr>
            <p:cNvPr id="5" name="Picture 4" descr="Diagram, venn diagram&#10;&#10;Description automatically generated">
              <a:extLst>
                <a:ext uri="{FF2B5EF4-FFF2-40B4-BE49-F238E27FC236}">
                  <a16:creationId xmlns:a16="http://schemas.microsoft.com/office/drawing/2014/main" id="{1B13CE3F-DAB5-4DDE-B4D3-A6BD7654A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447800"/>
              <a:ext cx="4605983" cy="3364992"/>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137044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3843480" y="5334000"/>
            <a:ext cx="2098651" cy="523220"/>
          </a:xfrm>
          <a:prstGeom prst="rect">
            <a:avLst/>
          </a:prstGeom>
          <a:noFill/>
        </p:spPr>
        <p:txBody>
          <a:bodyPr wrap="none" rtlCol="0">
            <a:spAutoFit/>
          </a:bodyPr>
          <a:lstStyle/>
          <a:p>
            <a:r>
              <a:rPr lang="en-US" sz="2800" dirty="0"/>
              <a:t>Two ways!</a:t>
            </a:r>
          </a:p>
        </p:txBody>
      </p:sp>
      <p:grpSp>
        <p:nvGrpSpPr>
          <p:cNvPr id="3" name="Group 2" descr="Venn Diagram of A and B with A and B shaded except what they have in common.">
            <a:extLst>
              <a:ext uri="{FF2B5EF4-FFF2-40B4-BE49-F238E27FC236}">
                <a16:creationId xmlns:a16="http://schemas.microsoft.com/office/drawing/2014/main" id="{72F92110-0474-7552-284A-D0D5D4274FCD}"/>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3765172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2591413" y="5334000"/>
            <a:ext cx="4251485" cy="1200329"/>
          </a:xfrm>
          <a:prstGeom prst="rect">
            <a:avLst/>
          </a:prstGeom>
          <a:noFill/>
        </p:spPr>
        <p:txBody>
          <a:bodyPr wrap="none" rtlCol="0">
            <a:spAutoFit/>
          </a:bodyPr>
          <a:lstStyle/>
          <a:p>
            <a:pPr algn="ctr"/>
            <a:r>
              <a:rPr lang="en-US" dirty="0"/>
              <a:t>diff = new set</a:t>
            </a:r>
          </a:p>
          <a:p>
            <a:pPr algn="ctr"/>
            <a:r>
              <a:rPr lang="en-US" dirty="0" err="1"/>
              <a:t>diff.addAll</a:t>
            </a:r>
            <a:r>
              <a:rPr lang="en-US" dirty="0"/>
              <a:t>(</a:t>
            </a:r>
            <a:r>
              <a:rPr lang="en-US" dirty="0" err="1">
                <a:solidFill>
                  <a:srgbClr val="0000CC"/>
                </a:solidFill>
              </a:rPr>
              <a:t>aMinusB</a:t>
            </a:r>
            <a:r>
              <a:rPr lang="en-US" dirty="0">
                <a:solidFill>
                  <a:srgbClr val="0000CC"/>
                </a:solidFill>
              </a:rPr>
              <a:t>(A, B)</a:t>
            </a:r>
            <a:r>
              <a:rPr lang="en-US" dirty="0"/>
              <a:t>)</a:t>
            </a:r>
          </a:p>
          <a:p>
            <a:pPr algn="ctr"/>
            <a:r>
              <a:rPr lang="en-US" dirty="0" err="1"/>
              <a:t>diff.addAll</a:t>
            </a:r>
            <a:r>
              <a:rPr lang="en-US" dirty="0"/>
              <a:t>(</a:t>
            </a:r>
            <a:r>
              <a:rPr lang="en-US" dirty="0" err="1">
                <a:solidFill>
                  <a:srgbClr val="006600"/>
                </a:solidFill>
              </a:rPr>
              <a:t>bMinusA</a:t>
            </a:r>
            <a:r>
              <a:rPr lang="en-US" dirty="0">
                <a:solidFill>
                  <a:srgbClr val="006600"/>
                </a:solidFill>
              </a:rPr>
              <a:t>(A, B))</a:t>
            </a:r>
            <a:endParaRPr lang="en-US" sz="2800" dirty="0">
              <a:solidFill>
                <a:srgbClr val="006600"/>
              </a:solidFill>
            </a:endParaRPr>
          </a:p>
        </p:txBody>
      </p:sp>
      <p:grpSp>
        <p:nvGrpSpPr>
          <p:cNvPr id="3" name="Group 2" descr="Venn Diagram of A and B with A and B shaded except what they have in common.">
            <a:extLst>
              <a:ext uri="{FF2B5EF4-FFF2-40B4-BE49-F238E27FC236}">
                <a16:creationId xmlns:a16="http://schemas.microsoft.com/office/drawing/2014/main" id="{C1BE326D-974A-C498-45C5-B89C9297A4D0}"/>
              </a:ext>
            </a:extLst>
          </p:cNvPr>
          <p:cNvGrpSpPr/>
          <p:nvPr/>
        </p:nvGrpSpPr>
        <p:grpSpPr>
          <a:xfrm>
            <a:off x="2160205" y="1371600"/>
            <a:ext cx="5052188" cy="3690976"/>
            <a:chOff x="2160205" y="1371600"/>
            <a:chExt cx="5052188" cy="3690976"/>
          </a:xfrm>
        </p:grpSpPr>
        <p:pic>
          <p:nvPicPr>
            <p:cNvPr id="4" name="Picture 3">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290224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596076" y="5334000"/>
            <a:ext cx="8180445" cy="523220"/>
          </a:xfrm>
          <a:prstGeom prst="rect">
            <a:avLst/>
          </a:prstGeom>
          <a:noFill/>
        </p:spPr>
        <p:txBody>
          <a:bodyPr wrap="none" rtlCol="0">
            <a:spAutoFit/>
          </a:bodyPr>
          <a:lstStyle/>
          <a:p>
            <a:pPr algn="ctr"/>
            <a:r>
              <a:rPr lang="en-US" sz="2800" dirty="0"/>
              <a:t>diff = </a:t>
            </a:r>
            <a:r>
              <a:rPr lang="en-US" sz="2800" dirty="0">
                <a:solidFill>
                  <a:srgbClr val="660033"/>
                </a:solidFill>
              </a:rPr>
              <a:t>union(</a:t>
            </a:r>
            <a:r>
              <a:rPr lang="en-US" sz="2800" dirty="0" err="1">
                <a:solidFill>
                  <a:srgbClr val="0000CC"/>
                </a:solidFill>
              </a:rPr>
              <a:t>aMinusB</a:t>
            </a:r>
            <a:r>
              <a:rPr lang="en-US" sz="2800" dirty="0">
                <a:solidFill>
                  <a:srgbClr val="0000CC"/>
                </a:solidFill>
              </a:rPr>
              <a:t>(A, B), </a:t>
            </a:r>
            <a:r>
              <a:rPr lang="en-US" sz="2800" dirty="0" err="1">
                <a:solidFill>
                  <a:srgbClr val="006600"/>
                </a:solidFill>
              </a:rPr>
              <a:t>bMinusA</a:t>
            </a:r>
            <a:r>
              <a:rPr lang="en-US" sz="2800" dirty="0">
                <a:solidFill>
                  <a:srgbClr val="006600"/>
                </a:solidFill>
              </a:rPr>
              <a:t>(A, B)</a:t>
            </a:r>
            <a:r>
              <a:rPr lang="en-US" sz="2800" dirty="0">
                <a:solidFill>
                  <a:srgbClr val="660033"/>
                </a:solidFill>
              </a:rPr>
              <a:t>)</a:t>
            </a:r>
          </a:p>
        </p:txBody>
      </p:sp>
      <p:grpSp>
        <p:nvGrpSpPr>
          <p:cNvPr id="3" name="Group 2" descr="Venn Diagram of A and B with A and B shaded except what they have in common.">
            <a:extLst>
              <a:ext uri="{FF2B5EF4-FFF2-40B4-BE49-F238E27FC236}">
                <a16:creationId xmlns:a16="http://schemas.microsoft.com/office/drawing/2014/main" id="{8FE2D6AF-6053-94CB-EFF5-3EA31F90C401}"/>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383076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1828384" y="5334000"/>
            <a:ext cx="5777544" cy="954107"/>
          </a:xfrm>
          <a:prstGeom prst="rect">
            <a:avLst/>
          </a:prstGeom>
          <a:noFill/>
        </p:spPr>
        <p:txBody>
          <a:bodyPr wrap="none" rtlCol="0">
            <a:spAutoFit/>
          </a:bodyPr>
          <a:lstStyle/>
          <a:p>
            <a:pPr algn="ctr"/>
            <a:r>
              <a:rPr lang="en-US" sz="2800" dirty="0"/>
              <a:t>diff = </a:t>
            </a:r>
            <a:r>
              <a:rPr lang="en-US" sz="2800" dirty="0">
                <a:solidFill>
                  <a:srgbClr val="660033"/>
                </a:solidFill>
              </a:rPr>
              <a:t>union(A, B)</a:t>
            </a:r>
          </a:p>
          <a:p>
            <a:pPr algn="ctr"/>
            <a:r>
              <a:rPr lang="en-US" sz="2800" dirty="0" err="1"/>
              <a:t>diff.remove</a:t>
            </a:r>
            <a:r>
              <a:rPr lang="en-US" sz="2800" dirty="0"/>
              <a:t>(</a:t>
            </a:r>
            <a:r>
              <a:rPr lang="en-US" sz="2800" dirty="0">
                <a:solidFill>
                  <a:schemeClr val="accent1">
                    <a:lumMod val="75000"/>
                  </a:schemeClr>
                </a:solidFill>
              </a:rPr>
              <a:t>intersection(A, B)</a:t>
            </a:r>
            <a:r>
              <a:rPr lang="en-US" sz="2800" dirty="0"/>
              <a:t>)</a:t>
            </a:r>
          </a:p>
        </p:txBody>
      </p:sp>
      <p:grpSp>
        <p:nvGrpSpPr>
          <p:cNvPr id="3" name="Group 2" descr="Venn Diagram of A and B with A and B shaded except what they have in common.">
            <a:extLst>
              <a:ext uri="{FF2B5EF4-FFF2-40B4-BE49-F238E27FC236}">
                <a16:creationId xmlns:a16="http://schemas.microsoft.com/office/drawing/2014/main" id="{95FB5C51-363A-CB56-EAC6-84E48CFF09A6}"/>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245402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304800" y="5467643"/>
            <a:ext cx="8839200" cy="523220"/>
          </a:xfrm>
          <a:prstGeom prst="rect">
            <a:avLst/>
          </a:prstGeom>
          <a:noFill/>
        </p:spPr>
        <p:txBody>
          <a:bodyPr wrap="square" rtlCol="0">
            <a:spAutoFit/>
          </a:bodyPr>
          <a:lstStyle/>
          <a:p>
            <a:pPr algn="ctr"/>
            <a:r>
              <a:rPr lang="en-US" sz="2800" dirty="0"/>
              <a:t>diff = </a:t>
            </a:r>
            <a:r>
              <a:rPr lang="en-US" sz="2800" dirty="0" err="1">
                <a:solidFill>
                  <a:srgbClr val="0000CC"/>
                </a:solidFill>
              </a:rPr>
              <a:t>aMinusB</a:t>
            </a:r>
            <a:r>
              <a:rPr lang="en-US" sz="2800" dirty="0">
                <a:solidFill>
                  <a:srgbClr val="0000CC"/>
                </a:solidFill>
              </a:rPr>
              <a:t>(</a:t>
            </a:r>
            <a:r>
              <a:rPr lang="en-US" sz="2800" dirty="0">
                <a:solidFill>
                  <a:srgbClr val="660033"/>
                </a:solidFill>
              </a:rPr>
              <a:t>union(A, B)</a:t>
            </a:r>
            <a:r>
              <a:rPr lang="en-US" sz="2800" dirty="0"/>
              <a:t>, </a:t>
            </a:r>
            <a:r>
              <a:rPr lang="en-US" sz="2800" dirty="0">
                <a:solidFill>
                  <a:schemeClr val="accent1">
                    <a:lumMod val="75000"/>
                  </a:schemeClr>
                </a:solidFill>
              </a:rPr>
              <a:t>intersection(A, B)</a:t>
            </a:r>
            <a:r>
              <a:rPr lang="en-US" sz="2800" dirty="0">
                <a:solidFill>
                  <a:srgbClr val="3333FF"/>
                </a:solidFill>
              </a:rPr>
              <a:t>)</a:t>
            </a:r>
          </a:p>
        </p:txBody>
      </p:sp>
      <p:grpSp>
        <p:nvGrpSpPr>
          <p:cNvPr id="3" name="Group 2" descr="Venn Diagram of A and B with A and B shaded except what they have in common.">
            <a:extLst>
              <a:ext uri="{FF2B5EF4-FFF2-40B4-BE49-F238E27FC236}">
                <a16:creationId xmlns:a16="http://schemas.microsoft.com/office/drawing/2014/main" id="{94810AB4-0345-83D1-0B1D-8F6742BC53CD}"/>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25147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419100" y="1752600"/>
            <a:ext cx="83057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buNone/>
            </a:pPr>
            <a:r>
              <a:rPr lang="en-US" b="0" i="0" dirty="0">
                <a:solidFill>
                  <a:srgbClr val="000000"/>
                </a:solidFill>
                <a:effectLst/>
                <a:latin typeface="Raleway" pitchFamily="2" charset="0"/>
              </a:rPr>
              <a:t>Parallel streams allow us to execute the stream in multiple threads, and in such situations, the execution order is undefined. Java only requires all threads to finish before any terminal operation, such as </a:t>
            </a:r>
            <a:r>
              <a:rPr lang="en-US" b="0" i="1" dirty="0" err="1">
                <a:solidFill>
                  <a:srgbClr val="000000"/>
                </a:solidFill>
                <a:effectLst/>
                <a:latin typeface="Raleway" pitchFamily="2" charset="0"/>
              </a:rPr>
              <a:t>Collectors.toList</a:t>
            </a:r>
            <a:r>
              <a:rPr lang="en-US" b="0" i="1" dirty="0">
                <a:solidFill>
                  <a:srgbClr val="000000"/>
                </a:solidFill>
                <a:effectLst/>
                <a:latin typeface="Raleway" pitchFamily="2" charset="0"/>
              </a:rPr>
              <a:t>()</a:t>
            </a:r>
            <a:r>
              <a:rPr lang="en-US" b="0" i="0" dirty="0">
                <a:solidFill>
                  <a:srgbClr val="000000"/>
                </a:solidFill>
                <a:effectLst/>
                <a:latin typeface="Raleway" pitchFamily="2" charset="0"/>
              </a:rPr>
              <a:t>, is called.</a:t>
            </a:r>
          </a:p>
        </p:txBody>
      </p:sp>
      <p:sp>
        <p:nvSpPr>
          <p:cNvPr id="2" name="TextBox 1">
            <a:extLst>
              <a:ext uri="{FF2B5EF4-FFF2-40B4-BE49-F238E27FC236}">
                <a16:creationId xmlns:a16="http://schemas.microsoft.com/office/drawing/2014/main" id="{9E60DEC2-C14D-E0D7-C4BC-C7392054FE37}"/>
              </a:ext>
            </a:extLst>
          </p:cNvPr>
          <p:cNvSpPr txBox="1"/>
          <p:nvPr/>
        </p:nvSpPr>
        <p:spPr>
          <a:xfrm>
            <a:off x="659711" y="38100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Tree>
    <p:extLst>
      <p:ext uri="{BB962C8B-B14F-4D97-AF65-F5344CB8AC3E}">
        <p14:creationId xmlns:p14="http://schemas.microsoft.com/office/powerpoint/2010/main" val="18603539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60DEC2-C14D-E0D7-C4BC-C7392054FE37}"/>
              </a:ext>
            </a:extLst>
          </p:cNvPr>
          <p:cNvSpPr txBox="1"/>
          <p:nvPr/>
        </p:nvSpPr>
        <p:spPr>
          <a:xfrm>
            <a:off x="685800" y="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
        <p:nvSpPr>
          <p:cNvPr id="3" name="Rectangle 1">
            <a:extLst>
              <a:ext uri="{FF2B5EF4-FFF2-40B4-BE49-F238E27FC236}">
                <a16:creationId xmlns:a16="http://schemas.microsoft.com/office/drawing/2014/main" id="{F0D9BBFF-1046-1D3D-F8AA-12FAEEEB011E}"/>
              </a:ext>
            </a:extLst>
          </p:cNvPr>
          <p:cNvSpPr>
            <a:spLocks noChangeArrowheads="1"/>
          </p:cNvSpPr>
          <p:nvPr/>
        </p:nvSpPr>
        <p:spPr bwMode="auto">
          <a:xfrm>
            <a:off x="190500" y="1143000"/>
            <a:ext cx="8763000" cy="517064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Raleway" pitchFamily="2" charset="0"/>
              </a:rPr>
              <a:t>Calling </a:t>
            </a:r>
            <a:r>
              <a:rPr kumimoji="0" lang="en-US" altLang="en-US" sz="2200" i="0" u="none" strike="noStrike" cap="none" normalizeH="0" baseline="0" dirty="0">
                <a:ln>
                  <a:noFill/>
                </a:ln>
                <a:solidFill>
                  <a:srgbClr val="000000"/>
                </a:solidFill>
                <a:effectLst/>
                <a:latin typeface="Raleway" pitchFamily="2" charset="0"/>
              </a:rPr>
              <a:t>add</a:t>
            </a:r>
            <a:r>
              <a:rPr kumimoji="0" lang="en-US" altLang="en-US" sz="2200" b="0" i="0" u="none" strike="noStrike" cap="none" normalizeH="0" baseline="0" dirty="0">
                <a:ln>
                  <a:noFill/>
                </a:ln>
                <a:solidFill>
                  <a:srgbClr val="000000"/>
                </a:solidFill>
                <a:effectLst/>
                <a:latin typeface="Raleway" pitchFamily="2" charset="0"/>
              </a:rPr>
              <a:t> or </a:t>
            </a:r>
            <a:r>
              <a:rPr kumimoji="0" lang="en-US" altLang="en-US" sz="2200" i="0" u="none" strike="noStrike" cap="none" normalizeH="0" baseline="0" dirty="0">
                <a:ln>
                  <a:noFill/>
                </a:ln>
                <a:solidFill>
                  <a:srgbClr val="000000"/>
                </a:solidFill>
                <a:effectLst/>
                <a:latin typeface="Raleway" pitchFamily="2" charset="0"/>
              </a:rPr>
              <a:t>remove</a:t>
            </a:r>
            <a:r>
              <a:rPr kumimoji="0" lang="en-US" altLang="en-US" sz="2200" b="0" i="0" u="none" strike="noStrike" cap="none" normalizeH="0" baseline="0" dirty="0">
                <a:ln>
                  <a:noFill/>
                </a:ln>
                <a:solidFill>
                  <a:srgbClr val="000000"/>
                </a:solidFill>
                <a:effectLst/>
                <a:latin typeface="Raleway" pitchFamily="2" charset="0"/>
              </a:rPr>
              <a:t> while </a:t>
            </a:r>
            <a:r>
              <a:rPr lang="en-US" altLang="en-US" sz="2200" b="0" dirty="0">
                <a:solidFill>
                  <a:srgbClr val="000000"/>
                </a:solidFill>
                <a:latin typeface="Raleway" pitchFamily="2" charset="0"/>
              </a:rPr>
              <a:t>iterating using the Stream </a:t>
            </a:r>
            <a:r>
              <a:rPr lang="en-US" altLang="en-US" sz="2200" b="0" dirty="0" err="1">
                <a:solidFill>
                  <a:srgbClr val="000000"/>
                </a:solidFill>
                <a:latin typeface="Raleway" pitchFamily="2" charset="0"/>
              </a:rPr>
              <a:t>forEach</a:t>
            </a:r>
            <a:r>
              <a:rPr lang="en-US" altLang="en-US" sz="2200" b="0" dirty="0">
                <a:solidFill>
                  <a:srgbClr val="000000"/>
                </a:solidFill>
                <a:latin typeface="Raleway" pitchFamily="2" charset="0"/>
              </a:rPr>
              <a:t> will lead to a </a:t>
            </a:r>
            <a:r>
              <a:rPr lang="en-US" altLang="en-US" sz="2200" b="0" dirty="0" err="1">
                <a:solidFill>
                  <a:srgbClr val="000000"/>
                </a:solidFill>
                <a:latin typeface="Raleway" pitchFamily="2" charset="0"/>
              </a:rPr>
              <a:t>ComodificationException</a:t>
            </a:r>
            <a:r>
              <a:rPr lang="en-US" altLang="en-US" sz="2200" b="0" dirty="0">
                <a:solidFill>
                  <a:srgbClr val="000000"/>
                </a:solidFill>
                <a:latin typeface="Raleway" pitchFamily="2" charset="0"/>
              </a:rPr>
              <a:t> being thrown: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a:p>
            <a:pPr lvl="1"/>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Consumer&lt;String&gt;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removeElement</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 s -&gt; {   </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System.out.println</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(s + </a:t>
            </a:r>
            <a:r>
              <a:rPr kumimoji="0" lang="en-US" altLang="en-US" sz="2200" i="0" u="none" strike="noStrike" cap="none" normalizeH="0" baseline="0" dirty="0">
                <a:ln>
                  <a:noFill/>
                </a:ln>
                <a:solidFill>
                  <a:srgbClr val="4E9359"/>
                </a:solidFill>
                <a:effectLst/>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list.size</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a:ln>
                  <a:noFill/>
                </a:ln>
                <a:solidFill>
                  <a:srgbClr val="63B175"/>
                </a:solidFill>
                <a:effectLst/>
                <a:latin typeface="Consolas" panose="020B0609020204030204" pitchFamily="49" charset="0"/>
                <a:ea typeface="Source Code Pro" panose="020B0509030403020204" pitchFamily="49" charset="0"/>
                <a:cs typeface="Courier New" panose="02070309020205020404" pitchFamily="49" charset="0"/>
              </a:rPr>
              <a:t>if</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(s != </a:t>
            </a:r>
            <a:r>
              <a:rPr kumimoji="0" lang="en-US" altLang="en-US" sz="2200" i="0" u="none" strike="noStrike" cap="none" normalizeH="0" baseline="0" dirty="0">
                <a:ln>
                  <a:noFill/>
                </a:ln>
                <a:solidFill>
                  <a:srgbClr val="78A960"/>
                </a:solidFill>
                <a:effectLst/>
                <a:latin typeface="Consolas" panose="020B0609020204030204" pitchFamily="49" charset="0"/>
                <a:ea typeface="Source Code Pro" panose="020B0509030403020204" pitchFamily="49" charset="0"/>
                <a:cs typeface="Courier New" panose="02070309020205020404" pitchFamily="49" charset="0"/>
              </a:rPr>
              <a:t>null</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&amp;&amp;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s.equals</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r>
              <a:rPr kumimoji="0" lang="en-US" altLang="en-US" sz="2200" i="0" u="none" strike="noStrike" cap="none" normalizeH="0" baseline="0" dirty="0">
                <a:ln>
                  <a:noFill/>
                </a:ln>
                <a:solidFill>
                  <a:srgbClr val="4E9359"/>
                </a:solidFill>
                <a:effectLst/>
                <a:latin typeface="Consolas" panose="020B0609020204030204" pitchFamily="49" charset="0"/>
                <a:ea typeface="Source Code Pro" panose="020B0509030403020204" pitchFamily="49" charset="0"/>
                <a:cs typeface="Courier New" panose="02070309020205020404" pitchFamily="49" charset="0"/>
              </a:rPr>
              <a:t>"A"</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 </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list.remove</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r>
              <a:rPr kumimoji="0" lang="en-US" altLang="en-US" sz="2200" i="0" u="none" strike="noStrike" cap="none" normalizeH="0" baseline="0" dirty="0">
                <a:ln>
                  <a:noFill/>
                </a:ln>
                <a:solidFill>
                  <a:srgbClr val="4E9359"/>
                </a:solidFill>
                <a:effectLst/>
                <a:latin typeface="Consolas" panose="020B0609020204030204" pitchFamily="49" charset="0"/>
                <a:ea typeface="Source Code Pro" panose="020B0509030403020204" pitchFamily="49" charset="0"/>
                <a:cs typeface="Courier New" panose="02070309020205020404" pitchFamily="49" charset="0"/>
              </a:rPr>
              <a:t>“A"</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a:t>
            </a:r>
          </a:p>
          <a:p>
            <a:pPr lvl="1"/>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endParaRPr kumimoji="0" lang="en-US" altLang="en-US" sz="2200" i="0" u="none" strike="noStrike" cap="none" normalizeH="0" baseline="0" dirty="0">
              <a:ln>
                <a:noFill/>
              </a:ln>
              <a:solidFill>
                <a:schemeClr val="tx1"/>
              </a:solidFill>
              <a:effectLst/>
              <a:latin typeface="Consolas" panose="020B0609020204030204" pitchFamily="49" charset="0"/>
              <a:ea typeface="Source Code Pro" panose="020B0509030403020204" pitchFamily="49" charset="0"/>
            </a:endParaRPr>
          </a:p>
          <a:p>
            <a:pPr lvl="1"/>
            <a:endParaRPr lang="en-US" altLang="en-US" sz="2200" dirty="0">
              <a:solidFill>
                <a:srgbClr val="000000"/>
              </a:solidFill>
              <a:latin typeface="Consolas" panose="020B0609020204030204" pitchFamily="49" charset="0"/>
              <a:cs typeface="Courier New" panose="02070309020205020404" pitchFamily="49" charset="0"/>
            </a:endParaRPr>
          </a:p>
          <a:p>
            <a:pPr lvl="1"/>
            <a:r>
              <a:rPr lang="en-US" altLang="en-US" sz="2200" dirty="0" err="1">
                <a:solidFill>
                  <a:srgbClr val="000000"/>
                </a:solidFill>
                <a:latin typeface="Consolas" panose="020B0609020204030204" pitchFamily="49" charset="0"/>
                <a:ea typeface="Source Code Pro" panose="020B0509030403020204" pitchFamily="49" charset="0"/>
                <a:cs typeface="Courier New" panose="02070309020205020404" pitchFamily="49" charset="0"/>
              </a:rPr>
              <a:t>list.stream</a:t>
            </a:r>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a:t>
            </a:r>
            <a:r>
              <a:rPr lang="en-US" altLang="en-US" sz="2200" dirty="0" err="1">
                <a:solidFill>
                  <a:srgbClr val="000000"/>
                </a:solidFill>
                <a:latin typeface="Consolas" panose="020B0609020204030204" pitchFamily="49" charset="0"/>
                <a:ea typeface="Source Code Pro" panose="020B0509030403020204" pitchFamily="49" charset="0"/>
                <a:cs typeface="Courier New" panose="02070309020205020404" pitchFamily="49" charset="0"/>
              </a:rPr>
              <a:t>forEach</a:t>
            </a:r>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a:t>
            </a:r>
            <a:r>
              <a:rPr lang="en-US" altLang="en-US" sz="2200" dirty="0" err="1">
                <a:solidFill>
                  <a:srgbClr val="000000"/>
                </a:solidFill>
                <a:latin typeface="Consolas" panose="020B0609020204030204" pitchFamily="49" charset="0"/>
                <a:ea typeface="Source Code Pro" panose="020B0509030403020204" pitchFamily="49" charset="0"/>
                <a:cs typeface="Courier New" panose="02070309020205020404" pitchFamily="49" charset="0"/>
              </a:rPr>
              <a:t>removeElement</a:t>
            </a:r>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Raleway"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200" b="0" dirty="0">
                <a:solidFill>
                  <a:srgbClr val="000000"/>
                </a:solidFill>
                <a:latin typeface="Raleway" pitchFamily="2" charset="0"/>
              </a:rPr>
              <a:t>Just like it would if you used the Collection </a:t>
            </a:r>
            <a:r>
              <a:rPr lang="en-US" altLang="en-US" sz="2200" b="0" dirty="0" err="1">
                <a:solidFill>
                  <a:srgbClr val="000000"/>
                </a:solidFill>
                <a:latin typeface="Raleway" pitchFamily="2" charset="0"/>
              </a:rPr>
              <a:t>forEach</a:t>
            </a:r>
            <a:r>
              <a:rPr lang="en-US" altLang="en-US" sz="2200" b="0" dirty="0">
                <a:solidFill>
                  <a:srgbClr val="000000"/>
                </a:solidFill>
                <a:latin typeface="Raleway" pitchFamily="2" charset="0"/>
              </a:rPr>
              <a:t> method</a:t>
            </a:r>
            <a:r>
              <a:rPr kumimoji="0" lang="en-US" altLang="en-US" sz="2200" b="0" i="0" u="none" strike="noStrike" cap="none" normalizeH="0" baseline="0" dirty="0">
                <a:ln>
                  <a:noFill/>
                </a:ln>
                <a:solidFill>
                  <a:srgbClr val="000000"/>
                </a:solidFill>
                <a:effectLst/>
                <a:latin typeface="Raleway" pitchFamily="2" charset="0"/>
              </a:rPr>
              <a:t>:</a:t>
            </a:r>
            <a:endParaRPr kumimoji="0" lang="en-US" altLang="en-US" sz="22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a:p>
            <a:pPr marL="457200" marR="0" lvl="0" algn="l" defTabSz="914400" rtl="0" eaLnBrk="0" fontAlgn="base" latinLnBrk="0" hangingPunct="0">
              <a:lnSpc>
                <a:spcPct val="100000"/>
              </a:lnSpc>
              <a:spcBef>
                <a:spcPct val="0"/>
              </a:spcBef>
              <a:spcAft>
                <a:spcPct val="0"/>
              </a:spcAft>
              <a:buClrTx/>
              <a:buSzTx/>
              <a:buFontTx/>
              <a:buNone/>
              <a:tabLst/>
            </a:pPr>
            <a:r>
              <a:rPr lang="en-US" altLang="en-US" sz="2200" dirty="0" err="1">
                <a:solidFill>
                  <a:srgbClr val="000000"/>
                </a:solidFill>
                <a:latin typeface="Consolas" panose="020B0609020204030204" pitchFamily="49" charset="0"/>
                <a:cs typeface="Courier New" panose="02070309020205020404" pitchFamily="49" charset="0"/>
              </a:rPr>
              <a:t>list.forEach</a:t>
            </a:r>
            <a:r>
              <a:rPr lang="en-US" altLang="en-US" sz="2200" dirty="0">
                <a:solidFill>
                  <a:srgbClr val="000000"/>
                </a:solidFill>
                <a:latin typeface="Consolas" panose="020B0609020204030204" pitchFamily="49" charset="0"/>
                <a:cs typeface="Courier New" panose="02070309020205020404" pitchFamily="49" charset="0"/>
              </a:rPr>
              <a:t>(</a:t>
            </a:r>
            <a:r>
              <a:rPr lang="en-US" altLang="en-US" sz="2200" dirty="0" err="1">
                <a:solidFill>
                  <a:srgbClr val="000000"/>
                </a:solidFill>
                <a:latin typeface="Consolas" panose="020B0609020204030204" pitchFamily="49" charset="0"/>
                <a:cs typeface="Courier New" panose="02070309020205020404" pitchFamily="49" charset="0"/>
              </a:rPr>
              <a:t>removeElement</a:t>
            </a:r>
            <a:r>
              <a:rPr lang="en-US" altLang="en-US" sz="2200" dirty="0">
                <a:solidFill>
                  <a:srgbClr val="000000"/>
                </a:solidFill>
                <a:latin typeface="Consolas" panose="020B0609020204030204" pitchFamily="49" charset="0"/>
                <a:cs typeface="Courier New" panose="02070309020205020404" pitchFamily="49" charset="0"/>
              </a:rPr>
              <a:t>);</a:t>
            </a:r>
          </a:p>
        </p:txBody>
      </p:sp>
    </p:spTree>
    <p:extLst>
      <p:ext uri="{BB962C8B-B14F-4D97-AF65-F5344CB8AC3E}">
        <p14:creationId xmlns:p14="http://schemas.microsoft.com/office/powerpoint/2010/main" val="958292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60DEC2-C14D-E0D7-C4BC-C7392054FE37}"/>
              </a:ext>
            </a:extLst>
          </p:cNvPr>
          <p:cNvSpPr txBox="1"/>
          <p:nvPr/>
        </p:nvSpPr>
        <p:spPr>
          <a:xfrm>
            <a:off x="659711" y="38100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
        <p:nvSpPr>
          <p:cNvPr id="3" name="Rectangle 1">
            <a:extLst>
              <a:ext uri="{FF2B5EF4-FFF2-40B4-BE49-F238E27FC236}">
                <a16:creationId xmlns:a16="http://schemas.microsoft.com/office/drawing/2014/main" id="{F0D9BBFF-1046-1D3D-F8AA-12FAEEEB011E}"/>
              </a:ext>
            </a:extLst>
          </p:cNvPr>
          <p:cNvSpPr>
            <a:spLocks noChangeArrowheads="1"/>
          </p:cNvSpPr>
          <p:nvPr/>
        </p:nvSpPr>
        <p:spPr bwMode="auto">
          <a:xfrm>
            <a:off x="539405" y="1752600"/>
            <a:ext cx="8065189" cy="29238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aleway" pitchFamily="2" charset="0"/>
              </a:rPr>
              <a:t>If you’re using the Collection </a:t>
            </a:r>
            <a:r>
              <a:rPr kumimoji="0" lang="en-US" altLang="en-US" b="0" i="0" u="none" strike="noStrike" cap="none" normalizeH="0" baseline="0" dirty="0" err="1">
                <a:ln>
                  <a:noFill/>
                </a:ln>
                <a:solidFill>
                  <a:srgbClr val="000000"/>
                </a:solidFill>
                <a:effectLst/>
                <a:latin typeface="Raleway" pitchFamily="2" charset="0"/>
              </a:rPr>
              <a:t>forEach</a:t>
            </a:r>
            <a:r>
              <a:rPr kumimoji="0" lang="en-US" altLang="en-US" b="0" i="0" u="none" strike="noStrike" cap="none" normalizeH="0" baseline="0" dirty="0">
                <a:ln>
                  <a:noFill/>
                </a:ln>
                <a:solidFill>
                  <a:srgbClr val="000000"/>
                </a:solidFill>
                <a:effectLst/>
                <a:latin typeface="Raleway" pitchFamily="2" charset="0"/>
              </a:rPr>
              <a:t> method, i</a:t>
            </a:r>
            <a:r>
              <a:rPr lang="en-US" altLang="en-US" b="0" dirty="0">
                <a:solidFill>
                  <a:srgbClr val="000000"/>
                </a:solidFill>
                <a:latin typeface="Raleway" pitchFamily="2" charset="0"/>
              </a:rPr>
              <a:t>t’s okay to</a:t>
            </a:r>
            <a:r>
              <a:rPr kumimoji="0" lang="en-US" altLang="en-US" b="0" i="0" u="none" strike="noStrike" cap="none" normalizeH="0" baseline="0" dirty="0">
                <a:ln>
                  <a:noFill/>
                </a:ln>
                <a:solidFill>
                  <a:srgbClr val="000000"/>
                </a:solidFill>
                <a:effectLst/>
                <a:latin typeface="Raleway" pitchFamily="2" charset="0"/>
              </a:rPr>
              <a:t> modify elements while iterating, for instance by calling the list </a:t>
            </a:r>
            <a:r>
              <a:rPr kumimoji="0" lang="en-US" altLang="en-US" i="0" u="none" strike="noStrike" cap="none" normalizeH="0" baseline="0" dirty="0">
                <a:ln>
                  <a:noFill/>
                </a:ln>
                <a:solidFill>
                  <a:srgbClr val="000000"/>
                </a:solidFill>
                <a:effectLst/>
                <a:latin typeface="Raleway" pitchFamily="2" charset="0"/>
              </a:rPr>
              <a:t>set</a:t>
            </a:r>
            <a:r>
              <a:rPr kumimoji="0" lang="en-US" altLang="en-US" b="0" i="0" u="none" strike="noStrike" cap="none" normalizeH="0" baseline="0" dirty="0">
                <a:ln>
                  <a:noFill/>
                </a:ln>
                <a:solidFill>
                  <a:srgbClr val="000000"/>
                </a:solidFill>
                <a:effectLst/>
                <a:latin typeface="Raleway" pitchFamily="2" charset="0"/>
              </a:rPr>
              <a:t> method.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0" dirty="0">
              <a:solidFill>
                <a:srgbClr val="000000"/>
              </a:solidFill>
              <a:latin typeface="Raleway"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b="0" i="0" dirty="0">
                <a:solidFill>
                  <a:srgbClr val="000000"/>
                </a:solidFill>
                <a:effectLst/>
                <a:latin typeface="Raleway" pitchFamily="2" charset="0"/>
              </a:rPr>
              <a:t>However, Java requires an operation on a stream to be non-interfering. This means that elements shouldn’t be modified during the execution of the stream pipeline.</a:t>
            </a:r>
            <a:endParaRPr lang="en-US" altLang="en-US" sz="1600" b="0" dirty="0">
              <a:solidFill>
                <a:srgbClr val="000000"/>
              </a:solidFill>
              <a:latin typeface="Source Code Pro" panose="020B050903040302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p:txBody>
      </p:sp>
    </p:spTree>
    <p:extLst>
      <p:ext uri="{BB962C8B-B14F-4D97-AF65-F5344CB8AC3E}">
        <p14:creationId xmlns:p14="http://schemas.microsoft.com/office/powerpoint/2010/main" val="32770720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228600" y="1600200"/>
            <a:ext cx="883919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latin typeface="Tahoma" panose="020B0604030504040204" pitchFamily="34" charset="0"/>
              </a:rPr>
              <a:t>TreeSet</a:t>
            </a:r>
            <a:r>
              <a:rPr lang="en-US" altLang="en-US" sz="2800" dirty="0">
                <a:latin typeface="Tahoma" panose="020B0604030504040204" pitchFamily="34" charset="0"/>
              </a:rPr>
              <a:t>&lt;&gt;();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None/>
            </a:pPr>
            <a:r>
              <a:rPr lang="en-US" altLang="en-US" sz="2800" dirty="0" err="1">
                <a:latin typeface="Tahoma" panose="020B0604030504040204" pitchFamily="34" charset="0"/>
              </a:rPr>
              <a:t>set.</a:t>
            </a:r>
            <a:r>
              <a:rPr lang="en-US" altLang="en-US" sz="2800" dirty="0" err="1">
                <a:solidFill>
                  <a:srgbClr val="3333FF"/>
                </a:solidFill>
                <a:latin typeface="Tahoma" panose="020B0604030504040204" pitchFamily="34" charset="0"/>
              </a:rPr>
              <a:t>stream</a:t>
            </a:r>
            <a:r>
              <a:rPr lang="en-US" altLang="en-US" sz="2800" dirty="0">
                <a:solidFill>
                  <a:srgbClr val="3333FF"/>
                </a:solidFill>
                <a:latin typeface="Tahoma" panose="020B0604030504040204" pitchFamily="34" charset="0"/>
              </a:rPr>
              <a:t>().</a:t>
            </a:r>
            <a:r>
              <a:rPr lang="en-US" altLang="en-US" sz="2800" dirty="0" err="1">
                <a:latin typeface="Tahoma" panose="020B0604030504040204" pitchFamily="34" charset="0"/>
              </a:rPr>
              <a:t>forEach</a:t>
            </a:r>
            <a:r>
              <a:rPr lang="en-US" altLang="en-US" sz="2800" dirty="0">
                <a:latin typeface="Tahoma" panose="020B0604030504040204" pitchFamily="34" charset="0"/>
              </a:rPr>
              <a:t>( </a:t>
            </a:r>
          </a:p>
          <a:p>
            <a:pPr eaLnBrk="1" hangingPunct="1">
              <a:spcBef>
                <a:spcPct val="0"/>
              </a:spcBef>
              <a:buFontTx/>
              <a:buNone/>
            </a:pPr>
            <a:r>
              <a:rPr lang="en-US" altLang="en-US" sz="2800" dirty="0">
                <a:latin typeface="Tahoma" panose="020B0604030504040204" pitchFamily="34" charset="0"/>
              </a:rPr>
              <a:t>   num -&gt; </a:t>
            </a:r>
            <a:r>
              <a:rPr lang="en-US" altLang="en-US" sz="2800" dirty="0" err="1">
                <a:latin typeface="Tahoma" panose="020B0604030504040204" pitchFamily="34" charset="0"/>
              </a:rPr>
              <a:t>out.println</a:t>
            </a:r>
            <a:r>
              <a:rPr lang="en-US" altLang="en-US" sz="2800" dirty="0">
                <a:latin typeface="Tahoma" panose="020B0604030504040204" pitchFamily="34" charset="0"/>
              </a:rPr>
              <a:t>(num)</a:t>
            </a:r>
          </a:p>
          <a:p>
            <a:pPr eaLnBrk="1" hangingPunct="1">
              <a:spcBef>
                <a:spcPct val="0"/>
              </a:spcBef>
              <a:buFontTx/>
              <a:buNone/>
            </a:pPr>
            <a:r>
              <a:rPr lang="en-US" altLang="en-US" sz="2800" dirty="0">
                <a:latin typeface="Tahoma" panose="020B0604030504040204" pitchFamily="34" charset="0"/>
              </a:rPr>
              <a:t>);</a:t>
            </a:r>
          </a:p>
          <a:p>
            <a:pPr eaLnBrk="1" hangingPunct="1">
              <a:spcBef>
                <a:spcPct val="0"/>
              </a:spcBef>
              <a:buFontTx/>
              <a:buNone/>
            </a:pPr>
            <a:endParaRPr lang="en-US" altLang="en-US" sz="2800" dirty="0">
              <a:latin typeface="Tahoma" panose="020B0604030504040204" pitchFamily="34" charset="0"/>
            </a:endParaRPr>
          </a:p>
          <a:p>
            <a:pPr algn="ctr" eaLnBrk="1" hangingPunct="1">
              <a:spcBef>
                <a:spcPct val="0"/>
              </a:spcBef>
              <a:buNone/>
            </a:pPr>
            <a:r>
              <a:rPr lang="en-US" altLang="en-US" sz="2400" dirty="0">
                <a:solidFill>
                  <a:srgbClr val="00B050"/>
                </a:solidFill>
                <a:latin typeface="Tahoma" panose="020B0604030504040204" pitchFamily="34" charset="0"/>
              </a:rPr>
              <a:t>Creates a Stream. Calls its </a:t>
            </a:r>
            <a:r>
              <a:rPr lang="en-US" altLang="en-US" sz="2400" dirty="0" err="1">
                <a:solidFill>
                  <a:srgbClr val="00B050"/>
                </a:solidFill>
                <a:latin typeface="Tahoma" panose="020B0604030504040204" pitchFamily="34" charset="0"/>
              </a:rPr>
              <a:t>forEach</a:t>
            </a:r>
            <a:r>
              <a:rPr lang="en-US" altLang="en-US" sz="2400" dirty="0">
                <a:solidFill>
                  <a:srgbClr val="00B050"/>
                </a:solidFill>
                <a:latin typeface="Tahoma" panose="020B0604030504040204" pitchFamily="34" charset="0"/>
              </a:rPr>
              <a:t> method. Doesn’t follow encounter order. Better for parallelism.</a:t>
            </a:r>
            <a:endParaRPr lang="en-US" altLang="en-US" sz="2400" dirty="0">
              <a:latin typeface="Tahoma" panose="020B0604030504040204" pitchFamily="34" charset="0"/>
            </a:endParaRPr>
          </a:p>
        </p:txBody>
      </p:sp>
      <p:sp>
        <p:nvSpPr>
          <p:cNvPr id="3" name="Text Box 5">
            <a:extLst>
              <a:ext uri="{FF2B5EF4-FFF2-40B4-BE49-F238E27FC236}">
                <a16:creationId xmlns:a16="http://schemas.microsoft.com/office/drawing/2014/main" id="{EE2E9C0B-01E8-9B29-FA46-02A356B9FA45}"/>
              </a:ext>
            </a:extLst>
          </p:cNvPr>
          <p:cNvSpPr txBox="1">
            <a:spLocks noChangeArrowheads="1"/>
          </p:cNvSpPr>
          <p:nvPr/>
        </p:nvSpPr>
        <p:spPr bwMode="auto">
          <a:xfrm>
            <a:off x="6705600" y="3200400"/>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
        <p:nvSpPr>
          <p:cNvPr id="2" name="TextBox 1">
            <a:extLst>
              <a:ext uri="{FF2B5EF4-FFF2-40B4-BE49-F238E27FC236}">
                <a16:creationId xmlns:a16="http://schemas.microsoft.com/office/drawing/2014/main" id="{9E60DEC2-C14D-E0D7-C4BC-C7392054FE37}"/>
              </a:ext>
            </a:extLst>
          </p:cNvPr>
          <p:cNvSpPr txBox="1"/>
          <p:nvPr/>
        </p:nvSpPr>
        <p:spPr>
          <a:xfrm>
            <a:off x="659711" y="38100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Tree>
    <p:extLst>
      <p:ext uri="{BB962C8B-B14F-4D97-AF65-F5344CB8AC3E}">
        <p14:creationId xmlns:p14="http://schemas.microsoft.com/office/powerpoint/2010/main" val="15445523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228600" y="1524000"/>
            <a:ext cx="876299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latin typeface="Tahoma" panose="020B0604030504040204" pitchFamily="34" charset="0"/>
              </a:rPr>
              <a:t>TreeSet</a:t>
            </a:r>
            <a:r>
              <a:rPr lang="en-US" altLang="en-US" sz="2800" dirty="0">
                <a:latin typeface="Tahoma" panose="020B0604030504040204" pitchFamily="34" charset="0"/>
              </a:rPr>
              <a:t>&lt;&gt;();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None/>
            </a:pPr>
            <a:r>
              <a:rPr lang="en-US" altLang="en-US" sz="2800" dirty="0" err="1">
                <a:latin typeface="Tahoma" panose="020B0604030504040204" pitchFamily="34" charset="0"/>
              </a:rPr>
              <a:t>set.stream</a:t>
            </a:r>
            <a:r>
              <a:rPr lang="en-US" altLang="en-US" sz="2800" dirty="0">
                <a:latin typeface="Tahoma" panose="020B0604030504040204" pitchFamily="34" charset="0"/>
              </a:rPr>
              <a:t>().</a:t>
            </a:r>
            <a:r>
              <a:rPr lang="en-US" altLang="en-US" sz="2800" dirty="0" err="1">
                <a:solidFill>
                  <a:srgbClr val="3333CC"/>
                </a:solidFill>
                <a:latin typeface="Tahoma" panose="020B0604030504040204" pitchFamily="34" charset="0"/>
              </a:rPr>
              <a:t>forEachOrdered</a:t>
            </a:r>
            <a:r>
              <a:rPr lang="en-US" altLang="en-US" sz="2800" dirty="0">
                <a:latin typeface="Tahoma" panose="020B0604030504040204" pitchFamily="34" charset="0"/>
              </a:rPr>
              <a:t>( </a:t>
            </a:r>
          </a:p>
          <a:p>
            <a:pPr eaLnBrk="1" hangingPunct="1">
              <a:spcBef>
                <a:spcPct val="0"/>
              </a:spcBef>
              <a:buFontTx/>
              <a:buNone/>
            </a:pPr>
            <a:r>
              <a:rPr lang="en-US" altLang="en-US" sz="2800" dirty="0">
                <a:latin typeface="Tahoma" panose="020B0604030504040204" pitchFamily="34" charset="0"/>
              </a:rPr>
              <a:t>   num -&gt; </a:t>
            </a:r>
            <a:r>
              <a:rPr lang="en-US" altLang="en-US" sz="2800" dirty="0" err="1">
                <a:latin typeface="Tahoma" panose="020B0604030504040204" pitchFamily="34" charset="0"/>
              </a:rPr>
              <a:t>out.println</a:t>
            </a:r>
            <a:r>
              <a:rPr lang="en-US" altLang="en-US" sz="2800" dirty="0">
                <a:latin typeface="Tahoma" panose="020B0604030504040204" pitchFamily="34" charset="0"/>
              </a:rPr>
              <a:t>(num)</a:t>
            </a:r>
          </a:p>
          <a:p>
            <a:pPr eaLnBrk="1" hangingPunct="1">
              <a:spcBef>
                <a:spcPct val="0"/>
              </a:spcBef>
              <a:buFontTx/>
              <a:buNone/>
            </a:pPr>
            <a:r>
              <a:rPr lang="en-US" altLang="en-US" sz="2800" dirty="0">
                <a:latin typeface="Tahoma" panose="020B0604030504040204" pitchFamily="34" charset="0"/>
              </a:rPr>
              <a:t>);</a:t>
            </a:r>
          </a:p>
          <a:p>
            <a:pPr eaLnBrk="1" hangingPunct="1">
              <a:spcBef>
                <a:spcPct val="0"/>
              </a:spcBef>
              <a:buFontTx/>
              <a:buNone/>
            </a:pPr>
            <a:endParaRPr lang="en-US" altLang="en-US" sz="2800" dirty="0">
              <a:latin typeface="Tahoma" panose="020B0604030504040204" pitchFamily="34" charset="0"/>
            </a:endParaRPr>
          </a:p>
          <a:p>
            <a:pPr algn="ctr" eaLnBrk="1" hangingPunct="1">
              <a:spcBef>
                <a:spcPct val="0"/>
              </a:spcBef>
              <a:buNone/>
            </a:pPr>
            <a:r>
              <a:rPr lang="en-US" altLang="en-US" sz="2800" dirty="0">
                <a:solidFill>
                  <a:srgbClr val="00B050"/>
                </a:solidFill>
                <a:latin typeface="Tahoma" panose="020B0604030504040204" pitchFamily="34" charset="0"/>
              </a:rPr>
              <a:t>Follows the encounter order of the Stream, which is natural order in this case.</a:t>
            </a:r>
            <a:endParaRPr lang="en-US" altLang="en-US" sz="2800" dirty="0">
              <a:latin typeface="Tahoma" panose="020B0604030504040204" pitchFamily="34" charset="0"/>
            </a:endParaRPr>
          </a:p>
        </p:txBody>
      </p:sp>
      <p:sp>
        <p:nvSpPr>
          <p:cNvPr id="2" name="Text Box 5">
            <a:extLst>
              <a:ext uri="{FF2B5EF4-FFF2-40B4-BE49-F238E27FC236}">
                <a16:creationId xmlns:a16="http://schemas.microsoft.com/office/drawing/2014/main" id="{7FAAB28B-FE5F-F46C-6201-42CC167BC4D9}"/>
              </a:ext>
            </a:extLst>
          </p:cNvPr>
          <p:cNvSpPr txBox="1">
            <a:spLocks noChangeArrowheads="1"/>
          </p:cNvSpPr>
          <p:nvPr/>
        </p:nvSpPr>
        <p:spPr bwMode="auto">
          <a:xfrm>
            <a:off x="6858000" y="3124874"/>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
        <p:nvSpPr>
          <p:cNvPr id="3" name="TextBox 2">
            <a:extLst>
              <a:ext uri="{FF2B5EF4-FFF2-40B4-BE49-F238E27FC236}">
                <a16:creationId xmlns:a16="http://schemas.microsoft.com/office/drawing/2014/main" id="{C186CADE-D3BE-F335-1C6B-76A24B370F9C}"/>
              </a:ext>
            </a:extLst>
          </p:cNvPr>
          <p:cNvSpPr txBox="1"/>
          <p:nvPr/>
        </p:nvSpPr>
        <p:spPr>
          <a:xfrm>
            <a:off x="228600" y="342077"/>
            <a:ext cx="8847294" cy="707886"/>
          </a:xfrm>
          <a:prstGeom prst="rect">
            <a:avLst/>
          </a:prstGeom>
          <a:noFill/>
        </p:spPr>
        <p:txBody>
          <a:bodyPr wrap="none" rtlCol="0">
            <a:spAutoFit/>
          </a:bodyPr>
          <a:lstStyle/>
          <a:p>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Stream </a:t>
            </a:r>
            <a:r>
              <a:rPr lang="en-US" sz="4000" kern="10" dirty="0" err="1">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forEachOrdered</a:t>
            </a: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Tree>
    <p:extLst>
      <p:ext uri="{BB962C8B-B14F-4D97-AF65-F5344CB8AC3E}">
        <p14:creationId xmlns:p14="http://schemas.microsoft.com/office/powerpoint/2010/main" val="327547884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3528</TotalTime>
  <Words>3496</Words>
  <Application>Microsoft Office PowerPoint</Application>
  <PresentationFormat>On-screen Show (4:3)</PresentationFormat>
  <Paragraphs>634</Paragraphs>
  <Slides>61</Slides>
  <Notes>42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Arial</vt:lpstr>
      <vt:lpstr>Arial Black</vt:lpstr>
      <vt:lpstr>Calibri</vt:lpstr>
      <vt:lpstr>Cambria Math</vt:lpstr>
      <vt:lpstr>Consolas</vt:lpstr>
      <vt:lpstr>Courier New</vt:lpstr>
      <vt:lpstr>Impact</vt:lpstr>
      <vt:lpstr>Raleway</vt:lpstr>
      <vt:lpstr>Source Code Pro</vt:lpstr>
      <vt:lpstr>Tahoma</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 Theory</vt:lpstr>
      <vt:lpstr>PowerPoint Presentation</vt:lpstr>
      <vt:lpstr>Set methods</vt:lpstr>
      <vt:lpstr>Union</vt:lpstr>
      <vt:lpstr>Intersection</vt:lpstr>
      <vt:lpstr>A minus B</vt:lpstr>
      <vt:lpstr>B minus A</vt:lpstr>
      <vt:lpstr>Symmetric Difference</vt:lpstr>
      <vt:lpstr>Symmetric Difference</vt:lpstr>
      <vt:lpstr>Symmetric Difference</vt:lpstr>
      <vt:lpstr>Symmetric Difference</vt:lpstr>
      <vt:lpstr>Symmetric Difference</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sets</dc:title>
  <dc:subject>Sets</dc:subject>
  <dc:creator>A+ Computer Science</dc:creator>
  <cp:keywords>www.apluscompsci.com</cp:keywords>
  <dc:description>Sets_x000d_
©A+ Computer Science_x000d_
www.apluscompsci.com</dc:description>
  <cp:lastModifiedBy>Weldon Jasik</cp:lastModifiedBy>
  <cp:revision>459</cp:revision>
  <cp:lastPrinted>2000-05-16T18:55:37Z</cp:lastPrinted>
  <dcterms:created xsi:type="dcterms:W3CDTF">1997-11-19T18:53:48Z</dcterms:created>
  <dcterms:modified xsi:type="dcterms:W3CDTF">2024-10-08T16:00:41Z</dcterms:modified>
  <cp:category>www.apluscompsci.com</cp:category>
</cp:coreProperties>
</file>
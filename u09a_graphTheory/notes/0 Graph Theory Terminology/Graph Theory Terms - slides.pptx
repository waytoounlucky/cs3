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29"/>
  </p:notesMasterIdLst>
  <p:sldIdLst>
    <p:sldId id="589" r:id="rId2"/>
    <p:sldId id="665" r:id="rId3"/>
    <p:sldId id="666" r:id="rId4"/>
    <p:sldId id="701" r:id="rId5"/>
    <p:sldId id="667" r:id="rId6"/>
    <p:sldId id="668" r:id="rId7"/>
    <p:sldId id="697" r:id="rId8"/>
    <p:sldId id="301" r:id="rId9"/>
    <p:sldId id="284" r:id="rId10"/>
    <p:sldId id="303" r:id="rId11"/>
    <p:sldId id="704" r:id="rId12"/>
    <p:sldId id="673" r:id="rId13"/>
    <p:sldId id="694" r:id="rId14"/>
    <p:sldId id="708" r:id="rId15"/>
    <p:sldId id="677" r:id="rId16"/>
    <p:sldId id="689" r:id="rId17"/>
    <p:sldId id="700" r:id="rId18"/>
    <p:sldId id="699" r:id="rId19"/>
    <p:sldId id="698" r:id="rId20"/>
    <p:sldId id="693" r:id="rId21"/>
    <p:sldId id="682" r:id="rId22"/>
    <p:sldId id="709" r:id="rId23"/>
    <p:sldId id="687" r:id="rId24"/>
    <p:sldId id="705" r:id="rId25"/>
    <p:sldId id="706" r:id="rId26"/>
    <p:sldId id="676" r:id="rId27"/>
    <p:sldId id="702" r:id="rId28"/>
  </p:sldIdLst>
  <p:sldSz cx="9144000" cy="6858000" type="screen4x3"/>
  <p:notesSz cx="9296400" cy="7010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08" userDrawn="1">
          <p15:clr>
            <a:srgbClr val="A4A3A4"/>
          </p15:clr>
        </p15:guide>
        <p15:guide id="2" pos="292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D5CB9"/>
    <a:srgbClr val="0066FF"/>
    <a:srgbClr val="008000"/>
    <a:srgbClr val="990033"/>
    <a:srgbClr val="EAECF0"/>
    <a:srgbClr val="2C5C80"/>
    <a:srgbClr val="FF7F7F"/>
    <a:srgbClr val="FAFBC1"/>
    <a:srgbClr val="FFFFEB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265" autoAdjust="0"/>
    <p:restoredTop sz="86469" autoAdjust="0"/>
  </p:normalViewPr>
  <p:slideViewPr>
    <p:cSldViewPr snapToGrid="0" snapToObjects="1">
      <p:cViewPr varScale="1">
        <p:scale>
          <a:sx n="51" d="100"/>
          <a:sy n="51" d="100"/>
        </p:scale>
        <p:origin x="53" y="422"/>
      </p:cViewPr>
      <p:guideLst>
        <p:guide orient="horz" pos="2160"/>
        <p:guide pos="2880"/>
      </p:guideLst>
    </p:cSldViewPr>
  </p:slideViewPr>
  <p:outlineViewPr>
    <p:cViewPr>
      <p:scale>
        <a:sx n="66" d="100"/>
        <a:sy n="66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>
        <p:scale>
          <a:sx n="66" d="100"/>
          <a:sy n="66" d="100"/>
        </p:scale>
        <p:origin x="-1386" y="-72"/>
      </p:cViewPr>
      <p:guideLst>
        <p:guide orient="horz" pos="2208"/>
        <p:guide pos="292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0A3A56D3-CCF0-49D4-B894-F71230D540D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4029282" cy="350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8E12CEF7-9947-45A0-A360-28F020756A0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5267119" y="0"/>
            <a:ext cx="4029282" cy="350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DE4CE83E-661C-4C48-ACEA-D16F33CF261F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95600" y="525463"/>
            <a:ext cx="3505200" cy="26289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5CBC30EA-0CA5-4ABA-9C83-EAEF8D419AE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39942" y="3330419"/>
            <a:ext cx="6816518" cy="3154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6" name="Rectangle 6">
            <a:extLst>
              <a:ext uri="{FF2B5EF4-FFF2-40B4-BE49-F238E27FC236}">
                <a16:creationId xmlns:a16="http://schemas.microsoft.com/office/drawing/2014/main" id="{87E512ED-C3DC-47F6-9110-DB8B5805BA1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6659641"/>
            <a:ext cx="4029282" cy="3507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>
            <a:extLst>
              <a:ext uri="{FF2B5EF4-FFF2-40B4-BE49-F238E27FC236}">
                <a16:creationId xmlns:a16="http://schemas.microsoft.com/office/drawing/2014/main" id="{4E41A777-3887-4F22-A37D-EFBF494372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67119" y="6659641"/>
            <a:ext cx="4029282" cy="3507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62804723-5E0A-4B8F-BB8E-4A9C77F6315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F3E624E7-8C29-4118-8A64-602C4ED59A8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5650" indent="-2905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3638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363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550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527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099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671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243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109388A-D003-4731-944E-91E11F7C51B4}" type="slidenum">
              <a:rPr lang="en-US" altLang="en-US" smtClean="0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883F7EAD-C1B4-47F5-AD3A-83D4457DE7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ADCE907C-FCDB-4F3E-8CB1-5393D6A13E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>
            <a:extLst>
              <a:ext uri="{FF2B5EF4-FFF2-40B4-BE49-F238E27FC236}">
                <a16:creationId xmlns:a16="http://schemas.microsoft.com/office/drawing/2014/main" id="{D84EF23F-42A0-43AA-B3EE-F96C1EEC62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5650" indent="-2905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3638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363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550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527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099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671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243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761CB46-38A3-4949-8FC2-E64B4CEC7EE8}" type="slidenum">
              <a:rPr lang="en-US" altLang="en-US" smtClean="0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95D70ADD-79A9-4238-A966-8E88320F9C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1AAEDC63-65C5-486B-A707-2A457E44C5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E7756A29-C85A-4564-8F3B-4755182F293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5650" indent="-2905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3638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363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550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527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099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671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243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AAA84FB-1136-45A8-B5E7-B558EEAD291B}" type="slidenum">
              <a:rPr lang="en-US" altLang="en-US" smtClean="0"/>
              <a:pPr>
                <a:spcBef>
                  <a:spcPct val="0"/>
                </a:spcBef>
              </a:pPr>
              <a:t>3</a:t>
            </a:fld>
            <a:endParaRPr lang="en-US" altLang="en-US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91403F32-60CD-434C-A5A8-825FB2B344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2BE259F3-B574-4D0F-8612-1EAB3BEDFA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F3E624E7-8C29-4118-8A64-602C4ED59A8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5650" indent="-2905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3638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363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550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527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099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671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243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109388A-D003-4731-944E-91E11F7C51B4}" type="slidenum">
              <a:rPr lang="en-US" altLang="en-US" smtClean="0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883F7EAD-C1B4-47F5-AD3A-83D4457DE7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ADCE907C-FCDB-4F3E-8CB1-5393D6A13E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4802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FD5C0523-BC9A-4330-B5F0-D257259305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5650" indent="-2905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3638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363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550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527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099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671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243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679EAA8-8781-4B03-9602-AE54125BF06C}" type="slidenum">
              <a:rPr lang="en-US" altLang="en-US" smtClean="0"/>
              <a:pPr>
                <a:spcBef>
                  <a:spcPct val="0"/>
                </a:spcBef>
              </a:pPr>
              <a:t>5</a:t>
            </a:fld>
            <a:endParaRPr lang="en-US" altLang="en-US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769BD531-0B47-4D83-BB19-1A086FFD50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E05AF2C9-87B0-4245-ABE7-3A3C462FC1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2168EA49-7CD3-4F10-A461-8047E0CB21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5650" indent="-2905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3638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363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550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527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099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671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243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084B301-B1B0-45AF-9530-EDB061678FAB}" type="slidenum">
              <a:rPr lang="en-US" altLang="en-US" smtClean="0"/>
              <a:pPr>
                <a:spcBef>
                  <a:spcPct val="0"/>
                </a:spcBef>
              </a:pPr>
              <a:t>6</a:t>
            </a:fld>
            <a:endParaRPr lang="en-US" altLang="en-US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EA5E95EE-84AB-4869-B2F2-7C0C37712B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EE8167BD-DD46-447A-B925-6413465BB6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2168EA49-7CD3-4F10-A461-8047E0CB21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5650" indent="-2905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3638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363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550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527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099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671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243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084B301-B1B0-45AF-9530-EDB061678FAB}" type="slidenum">
              <a:rPr lang="en-US" altLang="en-US" smtClean="0"/>
              <a:pPr>
                <a:spcBef>
                  <a:spcPct val="0"/>
                </a:spcBef>
              </a:pPr>
              <a:t>7</a:t>
            </a:fld>
            <a:endParaRPr lang="en-US" altLang="en-US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EA5E95EE-84AB-4869-B2F2-7C0C37712B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EE8167BD-DD46-447A-B925-6413465BB6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884508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that the matrix is always symmetric for an undirected 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2804723-5E0A-4B8F-BB8E-4A9C77F63159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444434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A8FB91A2-DF17-42EE-899A-0D2E08318B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5650" indent="-2905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3638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363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550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527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099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671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243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0E9DCE5-23D2-4147-ABBD-7442DDB225B4}" type="slidenum">
              <a:rPr lang="en-US" altLang="en-US" smtClean="0"/>
              <a:pPr>
                <a:spcBef>
                  <a:spcPct val="0"/>
                </a:spcBef>
              </a:pPr>
              <a:t>12</a:t>
            </a:fld>
            <a:endParaRPr lang="en-US" altLang="en-US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21F27E37-99A4-4E91-9D31-7C7661696D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A6D40A98-F81A-4592-90CB-450A32B2E7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FD5C0523-BC9A-4330-B5F0-D257259305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5650" indent="-2905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3638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363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550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527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099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671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243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679EAA8-8781-4B03-9602-AE54125BF06C}" type="slidenum">
              <a:rPr lang="en-US" altLang="en-US" smtClean="0"/>
              <a:pPr>
                <a:spcBef>
                  <a:spcPct val="0"/>
                </a:spcBef>
              </a:pPr>
              <a:t>13</a:t>
            </a:fld>
            <a:endParaRPr lang="en-US" altLang="en-US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769BD531-0B47-4D83-BB19-1A086FFD50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E05AF2C9-87B0-4245-ABE7-3A3C462FC1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68584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FD5C0523-BC9A-4330-B5F0-D257259305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5650" indent="-2905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3638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363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550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527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099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671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243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679EAA8-8781-4B03-9602-AE54125BF06C}" type="slidenum">
              <a:rPr lang="en-US" altLang="en-US" smtClean="0"/>
              <a:pPr>
                <a:spcBef>
                  <a:spcPct val="0"/>
                </a:spcBef>
              </a:pPr>
              <a:t>14</a:t>
            </a:fld>
            <a:endParaRPr lang="en-US" altLang="en-US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769BD531-0B47-4D83-BB19-1A086FFD50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E05AF2C9-87B0-4245-ABE7-3A3C462FC1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34302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2804723-5E0A-4B8F-BB8E-4A9C77F63159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86608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cycle/circular graph is a cycle. I.e. it contains one cycle, and that cycle traverses all of the vertices.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2804723-5E0A-4B8F-BB8E-4A9C77F63159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84355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cycle/circular graph is a cycle. I.e. it contains one cycle, and that cycle traverses all of the vertices.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2804723-5E0A-4B8F-BB8E-4A9C77F63159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189122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cycle/circular graph is a cycle. I.e. it contains one cycle, and that cycle traverses all of the vertices.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2804723-5E0A-4B8F-BB8E-4A9C77F63159}" type="slidenum">
              <a:rPr lang="en-US" altLang="en-US" smtClean="0"/>
              <a:pPr>
                <a:defRPr/>
              </a:pPr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56938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20592198-DDAE-4809-BDC8-A30D5D87FE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5650" indent="-2905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3638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363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550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527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099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671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243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90940BB-AD1B-4E7A-B500-4E2F10EBBF9A}" type="slidenum">
              <a:rPr lang="en-US" altLang="en-US" smtClean="0"/>
              <a:pPr>
                <a:spcBef>
                  <a:spcPct val="0"/>
                </a:spcBef>
              </a:pPr>
              <a:t>26</a:t>
            </a:fld>
            <a:endParaRPr lang="en-US" altLang="en-US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37D77245-550A-4837-8BF3-4569C9D991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4D6683EF-DA40-4BC6-AA03-99E7AB6518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20592198-DDAE-4809-BDC8-A30D5D87FE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5650" indent="-2905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3638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363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550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527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099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671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243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90940BB-AD1B-4E7A-B500-4E2F10EBBF9A}" type="slidenum">
              <a:rPr lang="en-US" altLang="en-US" smtClean="0"/>
              <a:pPr>
                <a:spcBef>
                  <a:spcPct val="0"/>
                </a:spcBef>
              </a:pPr>
              <a:t>27</a:t>
            </a:fld>
            <a:endParaRPr lang="en-US" altLang="en-US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37D77245-550A-4837-8BF3-4569C9D991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4D6683EF-DA40-4BC6-AA03-99E7AB6518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1460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bg>
      <p:bgPr>
        <a:gradFill rotWithShape="0">
          <a:gsLst>
            <a:gs pos="0">
              <a:srgbClr val="03D4A8"/>
            </a:gs>
            <a:gs pos="25000">
              <a:srgbClr val="21D6E0"/>
            </a:gs>
            <a:gs pos="75000">
              <a:srgbClr val="0087E6"/>
            </a:gs>
            <a:gs pos="100000">
              <a:srgbClr val="005CB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113EA9-178C-4489-922E-F6FAF50276B9}"/>
              </a:ext>
            </a:extLst>
          </p:cNvPr>
          <p:cNvSpPr/>
          <p:nvPr userDrawn="1"/>
        </p:nvSpPr>
        <p:spPr>
          <a:xfrm>
            <a:off x="496133" y="300335"/>
            <a:ext cx="1313181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44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cs typeface="+mn-cs"/>
              </a:rPr>
              <a:t>Java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C2D8BB-CC46-422B-B9B7-695C3725ACE4}"/>
              </a:ext>
            </a:extLst>
          </p:cNvPr>
          <p:cNvSpPr/>
          <p:nvPr userDrawn="1"/>
        </p:nvSpPr>
        <p:spPr>
          <a:xfrm>
            <a:off x="478188" y="1224260"/>
            <a:ext cx="424430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cs typeface="+mn-cs"/>
              </a:rPr>
              <a:t>Object Oriented Programming</a:t>
            </a:r>
          </a:p>
        </p:txBody>
      </p:sp>
    </p:spTree>
    <p:extLst>
      <p:ext uri="{BB962C8B-B14F-4D97-AF65-F5344CB8AC3E}">
        <p14:creationId xmlns:p14="http://schemas.microsoft.com/office/powerpoint/2010/main" val="7546078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04071-794B-4701-A7DC-39C50A89B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24AC8-73D2-4AAD-9193-481E7E4AA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67884-52FD-48CD-AAE8-C43F57EE6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Lab 01-</a:t>
            </a:r>
            <a:fld id="{FE1F91A5-696C-4070-9C3C-613CEAE4D6B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2979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9973BA-09F2-4966-A1FD-F70770969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F9F1F5-98A9-445C-BF66-7172C843D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9603D7-1EAD-46DE-A6BE-DCAED6DB5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Lab 01-</a:t>
            </a:r>
            <a:fld id="{F030EF13-7497-4CFD-9EB1-248DA4F8547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6253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91630F-A09D-4EE7-93A3-A2B2B4818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5C01B6-64E4-4D59-8C09-A4B6D24DA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7A19DD-0B36-4DA9-8BBE-65C6E5D65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Lab 01-</a:t>
            </a:r>
            <a:fld id="{128F8CC0-22B8-4BB4-BD05-2FA2C3E73A1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6317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4AA27-7E15-9B2D-7DFA-AC2ED93EF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A5AB66-8111-B439-1113-CC0BD4DF80FF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DF1A16-3B58-FBB5-8F89-2D03B43A0B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2E915A-1BC2-D59A-745B-DD6799F0C4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EC0A84-250E-3E19-9BA2-565EA0A16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B98C81-B7EB-56B3-DA7F-F08DC00DD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D0A101E0-D20B-4DFA-B124-96412FF2857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2034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5">
            <a:extLst>
              <a:ext uri="{FF2B5EF4-FFF2-40B4-BE49-F238E27FC236}">
                <a16:creationId xmlns:a16="http://schemas.microsoft.com/office/drawing/2014/main" id="{97A36CA0-EC99-448B-ABF9-AC948CD337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73163" y="4572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26">
            <a:extLst>
              <a:ext uri="{FF2B5EF4-FFF2-40B4-BE49-F238E27FC236}">
                <a16:creationId xmlns:a16="http://schemas.microsoft.com/office/drawing/2014/main" id="{6C5CB5D8-089D-4CA0-B8E5-BD0FEBD01E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73163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075" name="Rectangle 27">
            <a:extLst>
              <a:ext uri="{FF2B5EF4-FFF2-40B4-BE49-F238E27FC236}">
                <a16:creationId xmlns:a16="http://schemas.microsoft.com/office/drawing/2014/main" id="{353BC887-0D79-4553-B463-99B0C75FD13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73163" y="6265863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50000"/>
              </a:spcBef>
              <a:defRPr sz="14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76" name="Rectangle 28">
            <a:extLst>
              <a:ext uri="{FF2B5EF4-FFF2-40B4-BE49-F238E27FC236}">
                <a16:creationId xmlns:a16="http://schemas.microsoft.com/office/drawing/2014/main" id="{E4C00373-27A8-46C3-B716-4FE131D0CF0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814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spcBef>
                <a:spcPct val="50000"/>
              </a:spcBef>
              <a:defRPr sz="14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77" name="Rectangle 29">
            <a:extLst>
              <a:ext uri="{FF2B5EF4-FFF2-40B4-BE49-F238E27FC236}">
                <a16:creationId xmlns:a16="http://schemas.microsoft.com/office/drawing/2014/main" id="{8F7AD570-5738-409B-9275-31BBF813129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4897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50000"/>
              </a:spcBef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en-US"/>
              <a:t>Lab 01</a:t>
            </a:r>
            <a:fld id="{99B86487-F13D-4A55-9790-54C5D963159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1031" name="Picture 31" descr="javaVert">
            <a:extLst>
              <a:ext uri="{FF2B5EF4-FFF2-40B4-BE49-F238E27FC236}">
                <a16:creationId xmlns:a16="http://schemas.microsoft.com/office/drawing/2014/main" id="{FD7EF5FD-22D5-4013-80B0-299ED91C5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572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2" r:id="rId1"/>
    <p:sldLayoutId id="2147483883" r:id="rId2"/>
    <p:sldLayoutId id="2147483884" r:id="rId3"/>
    <p:sldLayoutId id="2147483885" r:id="rId4"/>
    <p:sldLayoutId id="2147483886" r:id="rId5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Monotype Sorts"/>
        <a:buChar char="l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6146954-1A4C-4AC3-9AE7-9FE20AFEB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9329" y="193187"/>
            <a:ext cx="5821251" cy="1143000"/>
          </a:xfrm>
        </p:spPr>
        <p:txBody>
          <a:bodyPr/>
          <a:lstStyle/>
          <a:p>
            <a:r>
              <a:rPr lang="en-US" sz="6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cs typeface="+mn-cs"/>
              </a:rPr>
              <a:t>Graph Theory</a:t>
            </a:r>
            <a:endParaRPr lang="en-US" sz="6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551223-A6A1-6379-98CB-CC6CB6E4368D}"/>
              </a:ext>
            </a:extLst>
          </p:cNvPr>
          <p:cNvSpPr txBox="1"/>
          <p:nvPr/>
        </p:nvSpPr>
        <p:spPr>
          <a:xfrm>
            <a:off x="1247670" y="4526280"/>
            <a:ext cx="744050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4000" dirty="0">
                <a:latin typeface="Consolas" panose="020B0609020204030204" pitchFamily="49" charset="0"/>
              </a:rPr>
              <a:t>V = {A, B, C, D, E, F}</a:t>
            </a:r>
          </a:p>
          <a:p>
            <a:r>
              <a:rPr lang="en-US" altLang="en-US" sz="4000" dirty="0">
                <a:latin typeface="Consolas" panose="020B0609020204030204" pitchFamily="49" charset="0"/>
              </a:rPr>
              <a:t>E = {(A,B), (B,C), (B,D),</a:t>
            </a:r>
            <a:br>
              <a:rPr lang="en-US" altLang="en-US" sz="4000" dirty="0">
                <a:latin typeface="Consolas" panose="020B0609020204030204" pitchFamily="49" charset="0"/>
              </a:rPr>
            </a:br>
            <a:r>
              <a:rPr lang="en-US" altLang="en-US" sz="4000" dirty="0">
                <a:latin typeface="Consolas" panose="020B0609020204030204" pitchFamily="49" charset="0"/>
              </a:rPr>
              <a:t>     (C,E), (D,E), (E,F)}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819C93-CF6C-0382-EB23-3977CD93BD95}"/>
              </a:ext>
            </a:extLst>
          </p:cNvPr>
          <p:cNvSpPr txBox="1"/>
          <p:nvPr/>
        </p:nvSpPr>
        <p:spPr>
          <a:xfrm>
            <a:off x="1360964" y="1653961"/>
            <a:ext cx="744050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4000" dirty="0">
                <a:latin typeface="Lucida Sans" panose="020B0602030504020204" pitchFamily="34" charset="0"/>
                <a:cs typeface="Times New Roman" panose="02020603050405020304" pitchFamily="18" charset="0"/>
              </a:rPr>
              <a:t>A </a:t>
            </a:r>
            <a:r>
              <a:rPr lang="en-US" altLang="en-US" sz="4000" b="1" i="1" dirty="0">
                <a:latin typeface="Lucida Sans" panose="020B0602030504020204" pitchFamily="34" charset="0"/>
                <a:cs typeface="Times New Roman" panose="02020603050405020304" pitchFamily="18" charset="0"/>
              </a:rPr>
              <a:t>graph</a:t>
            </a:r>
            <a:r>
              <a:rPr lang="en-US" altLang="en-US" sz="4000" dirty="0">
                <a:latin typeface="Lucida Sans" panose="020B0602030504020204" pitchFamily="34" charset="0"/>
                <a:cs typeface="Times New Roman" panose="02020603050405020304" pitchFamily="18" charset="0"/>
              </a:rPr>
              <a:t> is a set of </a:t>
            </a:r>
            <a:r>
              <a:rPr lang="en-US" altLang="en-US" sz="4000" b="1" dirty="0">
                <a:latin typeface="Lucida Sans" panose="020B0602030504020204" pitchFamily="34" charset="0"/>
                <a:cs typeface="Times New Roman" panose="02020603050405020304" pitchFamily="18" charset="0"/>
              </a:rPr>
              <a:t>nodes</a:t>
            </a:r>
            <a:r>
              <a:rPr lang="en-US" altLang="en-US" sz="4000" dirty="0">
                <a:latin typeface="Lucida Sans" panose="020B0602030504020204" pitchFamily="34" charset="0"/>
                <a:cs typeface="Times New Roman" panose="02020603050405020304" pitchFamily="18" charset="0"/>
              </a:rPr>
              <a:t> (a.k.a. </a:t>
            </a:r>
            <a:r>
              <a:rPr lang="en-US" altLang="en-US" sz="4000" b="1" dirty="0">
                <a:latin typeface="Lucida Sans" panose="020B0602030504020204" pitchFamily="34" charset="0"/>
                <a:cs typeface="Times New Roman" panose="02020603050405020304" pitchFamily="18" charset="0"/>
              </a:rPr>
              <a:t>vertices</a:t>
            </a:r>
            <a:r>
              <a:rPr lang="en-US" altLang="en-US" sz="4000" dirty="0">
                <a:latin typeface="Lucida Sans" panose="020B0602030504020204" pitchFamily="34" charset="0"/>
                <a:cs typeface="Times New Roman" panose="02020603050405020304" pitchFamily="18" charset="0"/>
              </a:rPr>
              <a:t>) where some pairs are connected by </a:t>
            </a:r>
            <a:r>
              <a:rPr lang="en-US" altLang="en-US" sz="4000" b="1" dirty="0">
                <a:latin typeface="Lucida Sans" panose="020B0602030504020204" pitchFamily="34" charset="0"/>
                <a:cs typeface="Times New Roman" panose="02020603050405020304" pitchFamily="18" charset="0"/>
              </a:rPr>
              <a:t>links</a:t>
            </a:r>
            <a:r>
              <a:rPr lang="en-US" altLang="en-US" sz="4000" dirty="0">
                <a:latin typeface="Lucida Sans" panose="020B0602030504020204" pitchFamily="34" charset="0"/>
                <a:cs typeface="Times New Roman" panose="02020603050405020304" pitchFamily="18" charset="0"/>
              </a:rPr>
              <a:t> (a.k.a. </a:t>
            </a:r>
            <a:r>
              <a:rPr lang="en-US" altLang="en-US" sz="4000" b="1" dirty="0">
                <a:latin typeface="Lucida Sans" panose="020B0602030504020204" pitchFamily="34" charset="0"/>
                <a:cs typeface="Times New Roman" panose="02020603050405020304" pitchFamily="18" charset="0"/>
              </a:rPr>
              <a:t>edges</a:t>
            </a:r>
            <a:r>
              <a:rPr lang="en-US" altLang="en-US" sz="4000" dirty="0">
                <a:latin typeface="Lucida Sans" panose="020B0602030504020204" pitchFamily="34" charset="0"/>
                <a:cs typeface="Times New Roman" panose="02020603050405020304" pitchFamily="18" charset="0"/>
              </a:rPr>
              <a:t>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>
            <a:extLst>
              <a:ext uri="{FF2B5EF4-FFF2-40B4-BE49-F238E27FC236}">
                <a16:creationId xmlns:a16="http://schemas.microsoft.com/office/drawing/2014/main" id="{43740D95-5C2E-4E03-B0D8-24E4E49CDF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350"/>
            <a:ext cx="8488363" cy="1143000"/>
          </a:xfrm>
        </p:spPr>
        <p:txBody>
          <a:bodyPr/>
          <a:lstStyle/>
          <a:p>
            <a:pPr algn="ctr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Undirected Graph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92" name="Rectangle 6">
            <a:extLst>
              <a:ext uri="{FF2B5EF4-FFF2-40B4-BE49-F238E27FC236}">
                <a16:creationId xmlns:a16="http://schemas.microsoft.com/office/drawing/2014/main" id="{BCD9759D-990E-46A7-9503-5B94AA5740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438703"/>
            <a:ext cx="73914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Monotype Sorts"/>
              <a:buChar char="l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dirty="0">
                <a:latin typeface="Abadi" panose="020B0604020104020204" pitchFamily="34" charset="0"/>
                <a:cs typeface="Aldhabi" panose="020F0502020204030204" pitchFamily="2" charset="-78"/>
              </a:rPr>
              <a:t>In an </a:t>
            </a:r>
            <a:r>
              <a:rPr kumimoji="0" lang="en-US" altLang="en-US" b="1" dirty="0">
                <a:latin typeface="Abadi" panose="020B0604020104020204" pitchFamily="34" charset="0"/>
                <a:cs typeface="Aldhabi" panose="020F0502020204030204" pitchFamily="2" charset="-78"/>
              </a:rPr>
              <a:t>undirected graph</a:t>
            </a:r>
            <a:r>
              <a:rPr kumimoji="0" lang="en-US" altLang="en-US" dirty="0">
                <a:latin typeface="Abadi" panose="020B0604020104020204" pitchFamily="34" charset="0"/>
                <a:cs typeface="Aldhabi" panose="020F0502020204030204" pitchFamily="2" charset="-78"/>
              </a:rPr>
              <a:t>, each </a:t>
            </a:r>
            <a:r>
              <a:rPr lang="en-US" b="0" i="0" dirty="0">
                <a:solidFill>
                  <a:srgbClr val="202122"/>
                </a:solidFill>
                <a:effectLst/>
                <a:latin typeface="Abadi" panose="020B0604020104020204" pitchFamily="34" charset="0"/>
                <a:cs typeface="Aldhabi" panose="020F0502020204030204" pitchFamily="2" charset="-78"/>
              </a:rPr>
              <a:t>edge </a:t>
            </a:r>
            <a:br>
              <a:rPr lang="en-US" b="0" i="0" dirty="0">
                <a:solidFill>
                  <a:srgbClr val="202122"/>
                </a:solidFill>
                <a:effectLst/>
                <a:latin typeface="Abadi" panose="020B0604020104020204" pitchFamily="34" charset="0"/>
                <a:cs typeface="Aldhabi" panose="020F0502020204030204" pitchFamily="2" charset="-78"/>
              </a:rPr>
            </a:br>
            <a:r>
              <a:rPr lang="en-US" b="0" i="0" dirty="0">
                <a:solidFill>
                  <a:srgbClr val="202122"/>
                </a:solidFill>
                <a:effectLst/>
                <a:latin typeface="Abadi" panose="020B0604020104020204" pitchFamily="34" charset="0"/>
                <a:cs typeface="Aldhabi" panose="020F0502020204030204" pitchFamily="2" charset="-78"/>
              </a:rPr>
              <a:t>links two vertices symmetrically</a:t>
            </a:r>
            <a:r>
              <a:rPr kumimoji="0" lang="en-US" altLang="en-US" dirty="0">
                <a:latin typeface="Abadi" panose="020B0604020104020204" pitchFamily="34" charset="0"/>
                <a:cs typeface="Aldhabi" panose="020F0502020204030204" pitchFamily="2" charset="-78"/>
              </a:rPr>
              <a:t>. </a:t>
            </a:r>
          </a:p>
          <a:p>
            <a:pPr algn="ctr" eaLnBrk="1" hangingPunct="1">
              <a:spcBef>
                <a:spcPct val="0"/>
              </a:spcBef>
              <a:buClrTx/>
              <a:buSzTx/>
              <a:buNone/>
            </a:pPr>
            <a:r>
              <a:rPr kumimoji="0" lang="en-US" altLang="en-US" sz="3200" dirty="0">
                <a:latin typeface="Abadi" panose="020B0604020104020204" pitchFamily="34" charset="0"/>
                <a:cs typeface="Aldhabi" panose="020F0502020204030204" pitchFamily="2" charset="-78"/>
              </a:rPr>
              <a:t>(i.e. every edge is bi-directional)</a:t>
            </a:r>
            <a:endParaRPr lang="en-US" sz="3200" dirty="0"/>
          </a:p>
        </p:txBody>
      </p:sp>
      <p:pic>
        <p:nvPicPr>
          <p:cNvPr id="12293" name="Picture 3" descr="An undirected graph.&#10;Edges:&#10;{(A,B), (B,C), (B,D), (C,E), (D,E), (E,F)}&#10;Adjacency list&#10;A : B&#10;B : A, C, D&#10;C : B, E&#10;D : B, E&#10;E : C, D, F&#10;F : E&#10;">
            <a:extLst>
              <a:ext uri="{FF2B5EF4-FFF2-40B4-BE49-F238E27FC236}">
                <a16:creationId xmlns:a16="http://schemas.microsoft.com/office/drawing/2014/main" id="{D625C29B-4E6F-4416-BA62-CBE4B3F168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9350" y="3665210"/>
            <a:ext cx="4305300" cy="268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>
            <a:extLst>
              <a:ext uri="{FF2B5EF4-FFF2-40B4-BE49-F238E27FC236}">
                <a16:creationId xmlns:a16="http://schemas.microsoft.com/office/drawing/2014/main" id="{03071706-63E5-4EF3-91F0-83A5985B6A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350"/>
            <a:ext cx="8488363" cy="1143000"/>
          </a:xfrm>
        </p:spPr>
        <p:txBody>
          <a:bodyPr/>
          <a:lstStyle/>
          <a:p>
            <a:pPr algn="ctr"/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Directed Graph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94B03FA6-B3B4-9F1A-9D0D-E13D4EE829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8400" y="1430661"/>
            <a:ext cx="739140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Monotype Sorts"/>
              <a:buChar char="l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dirty="0">
                <a:latin typeface="Abadi" panose="020B0604020104020204" pitchFamily="34" charset="0"/>
                <a:cs typeface="Aldhabi" panose="020F0502020204030204" pitchFamily="2" charset="-78"/>
              </a:rPr>
              <a:t>In a </a:t>
            </a:r>
            <a:r>
              <a:rPr kumimoji="0" lang="en-US" altLang="en-US" b="1" dirty="0">
                <a:latin typeface="Abadi" panose="020B0604020104020204" pitchFamily="34" charset="0"/>
                <a:cs typeface="Aldhabi" panose="020F0502020204030204" pitchFamily="2" charset="-78"/>
              </a:rPr>
              <a:t>directed graph</a:t>
            </a:r>
            <a:r>
              <a:rPr kumimoji="0" lang="en-US" altLang="en-US" dirty="0">
                <a:latin typeface="Abadi" panose="020B0604020104020204" pitchFamily="34" charset="0"/>
                <a:cs typeface="Aldhabi" panose="020F0502020204030204" pitchFamily="2" charset="-78"/>
              </a:rPr>
              <a:t>, each </a:t>
            </a:r>
            <a:r>
              <a:rPr lang="en-US" b="0" i="0" dirty="0">
                <a:solidFill>
                  <a:srgbClr val="202122"/>
                </a:solidFill>
                <a:effectLst/>
                <a:latin typeface="Abadi" panose="020B0604020104020204" pitchFamily="34" charset="0"/>
                <a:cs typeface="Aldhabi" panose="020F0502020204030204" pitchFamily="2" charset="-78"/>
              </a:rPr>
              <a:t>edge </a:t>
            </a:r>
            <a:br>
              <a:rPr lang="en-US" b="0" i="0" dirty="0">
                <a:solidFill>
                  <a:srgbClr val="202122"/>
                </a:solidFill>
                <a:effectLst/>
                <a:latin typeface="Abadi" panose="020B0604020104020204" pitchFamily="34" charset="0"/>
                <a:cs typeface="Aldhabi" panose="020F0502020204030204" pitchFamily="2" charset="-78"/>
              </a:rPr>
            </a:br>
            <a:r>
              <a:rPr lang="en-US" b="0" i="0" dirty="0">
                <a:solidFill>
                  <a:srgbClr val="202122"/>
                </a:solidFill>
                <a:effectLst/>
                <a:latin typeface="Abadi" panose="020B0604020104020204" pitchFamily="34" charset="0"/>
                <a:cs typeface="Aldhabi" panose="020F0502020204030204" pitchFamily="2" charset="-78"/>
              </a:rPr>
              <a:t>links two vertices asymmetrically</a:t>
            </a:r>
            <a:r>
              <a:rPr kumimoji="0" lang="en-US" altLang="en-US" dirty="0">
                <a:latin typeface="Abadi" panose="020B0604020104020204" pitchFamily="34" charset="0"/>
                <a:cs typeface="Aldhabi" panose="020F0502020204030204" pitchFamily="2" charset="-78"/>
              </a:rPr>
              <a:t>. </a:t>
            </a:r>
          </a:p>
        </p:txBody>
      </p:sp>
      <p:pic>
        <p:nvPicPr>
          <p:cNvPr id="16388" name="Picture 2" descr="A directed graph.&#10;Edges:&#10;{(A,B), (B,C), (C,E), (D,B), (E, D), (E,F)}Adjacency list&#10;A : B&#10;B : C&#10;C : E&#10;D : B&#10;E : D, F&#10;F : none&#10;">
            <a:extLst>
              <a:ext uri="{FF2B5EF4-FFF2-40B4-BE49-F238E27FC236}">
                <a16:creationId xmlns:a16="http://schemas.microsoft.com/office/drawing/2014/main" id="{50599D1D-F190-412C-B478-16466C84D9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1113" y="2908300"/>
            <a:ext cx="4286250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6146954-1A4C-4AC3-9AE7-9FE20AFEB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9329" y="193187"/>
            <a:ext cx="5821251" cy="1143000"/>
          </a:xfrm>
        </p:spPr>
        <p:txBody>
          <a:bodyPr/>
          <a:lstStyle/>
          <a:p>
            <a:pPr algn="ctr"/>
            <a:r>
              <a:rPr lang="en-US" sz="6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cs typeface="+mn-cs"/>
              </a:rPr>
              <a:t>Edges list</a:t>
            </a:r>
            <a:endParaRPr lang="en-US" sz="6600" dirty="0"/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C4B6C3FD-E8C4-4BE9-A416-44A3967FA23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308630" y="1700531"/>
            <a:ext cx="7178357" cy="2678430"/>
          </a:xfrm>
        </p:spPr>
        <p:txBody>
          <a:bodyPr/>
          <a:lstStyle/>
          <a:p>
            <a:pPr marL="0" indent="0">
              <a:spcBef>
                <a:spcPct val="50000"/>
              </a:spcBef>
              <a:buSzPct val="100000"/>
              <a:buFont typeface="Monotype Sorts"/>
              <a:buNone/>
            </a:pPr>
            <a:r>
              <a:rPr lang="en-US" altLang="en-US" sz="4000" b="1" dirty="0">
                <a:latin typeface="Lucida Sans" panose="020B0602030504020204" pitchFamily="34" charset="0"/>
                <a:cs typeface="Times New Roman" panose="02020603050405020304" pitchFamily="18" charset="0"/>
              </a:rPr>
              <a:t>The type of graph must be specified since the same lists of vertices is used for directed and undirected.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551223-A6A1-6379-98CB-CC6CB6E4368D}"/>
              </a:ext>
            </a:extLst>
          </p:cNvPr>
          <p:cNvSpPr txBox="1"/>
          <p:nvPr/>
        </p:nvSpPr>
        <p:spPr>
          <a:xfrm>
            <a:off x="1308630" y="4603901"/>
            <a:ext cx="744050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4000" dirty="0">
                <a:latin typeface="Consolas" panose="020B0609020204030204" pitchFamily="49" charset="0"/>
              </a:rPr>
              <a:t>V = {A, B, C, D, E, F}</a:t>
            </a:r>
          </a:p>
          <a:p>
            <a:r>
              <a:rPr lang="en-US" altLang="en-US" sz="4000" dirty="0">
                <a:latin typeface="Consolas" panose="020B0609020204030204" pitchFamily="49" charset="0"/>
              </a:rPr>
              <a:t>E = {(A,B), (B,C), (C,E),</a:t>
            </a:r>
            <a:br>
              <a:rPr lang="en-US" altLang="en-US" sz="4000" dirty="0">
                <a:latin typeface="Consolas" panose="020B0609020204030204" pitchFamily="49" charset="0"/>
              </a:rPr>
            </a:br>
            <a:r>
              <a:rPr lang="en-US" altLang="en-US" sz="4000" dirty="0">
                <a:latin typeface="Consolas" panose="020B0609020204030204" pitchFamily="49" charset="0"/>
              </a:rPr>
              <a:t>     (D,B), (E,D), (E,F)}</a:t>
            </a:r>
          </a:p>
        </p:txBody>
      </p:sp>
    </p:spTree>
    <p:extLst>
      <p:ext uri="{BB962C8B-B14F-4D97-AF65-F5344CB8AC3E}">
        <p14:creationId xmlns:p14="http://schemas.microsoft.com/office/powerpoint/2010/main" val="2027511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>
            <a:extLst>
              <a:ext uri="{FF2B5EF4-FFF2-40B4-BE49-F238E27FC236}">
                <a16:creationId xmlns:a16="http://schemas.microsoft.com/office/drawing/2014/main" id="{9FB342F6-413F-4F08-8C67-213AF7166F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3014" y="304198"/>
            <a:ext cx="8488363" cy="1143000"/>
          </a:xfrm>
        </p:spPr>
        <p:txBody>
          <a:bodyPr/>
          <a:lstStyle/>
          <a:p>
            <a:pPr algn="ctr"/>
            <a:r>
              <a:rPr lang="en-US" altLang="en-US" b="1" dirty="0">
                <a:latin typeface="Abadi" panose="020B0604020104020204" pitchFamily="34" charset="0"/>
                <a:cs typeface="Times New Roman" panose="02020603050405020304" pitchFamily="18" charset="0"/>
              </a:rPr>
              <a:t>Adjacency Matrix for a</a:t>
            </a:r>
            <a:br>
              <a:rPr lang="en-US" altLang="en-US" b="1" dirty="0">
                <a:latin typeface="Abadi" panose="020B0604020104020204" pitchFamily="34" charset="0"/>
                <a:cs typeface="Times New Roman" panose="02020603050405020304" pitchFamily="18" charset="0"/>
              </a:rPr>
            </a:br>
            <a:r>
              <a:rPr lang="en-US" altLang="en-US" b="1" dirty="0">
                <a:latin typeface="Abadi" panose="020B0604020104020204" pitchFamily="34" charset="0"/>
                <a:cs typeface="Times New Roman" panose="02020603050405020304" pitchFamily="18" charset="0"/>
              </a:rPr>
              <a:t>Directed Graph</a:t>
            </a:r>
            <a:endParaRPr lang="en-US" altLang="en-US" dirty="0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50E6B5C8-E77E-7C3C-1729-3AC6542D49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7281" y="1593214"/>
            <a:ext cx="739140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Monotype Sorts"/>
              <a:buChar char="l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dirty="0">
                <a:latin typeface="Abadi" panose="020B0604020104020204" pitchFamily="34" charset="0"/>
              </a:rPr>
              <a:t>The row labels are the sources, and </a:t>
            </a:r>
            <a:br>
              <a:rPr kumimoji="0" lang="en-US" altLang="en-US" dirty="0">
                <a:latin typeface="Abadi" panose="020B0604020104020204" pitchFamily="34" charset="0"/>
              </a:rPr>
            </a:br>
            <a:r>
              <a:rPr kumimoji="0" lang="en-US" altLang="en-US" dirty="0">
                <a:latin typeface="Abadi" panose="020B0604020104020204" pitchFamily="34" charset="0"/>
              </a:rPr>
              <a:t>the column headers are the destinations.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415B824-E4D0-4022-AECE-0731941106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4725617"/>
              </p:ext>
            </p:extLst>
          </p:nvPr>
        </p:nvGraphicFramePr>
        <p:xfrm>
          <a:off x="809413" y="2963333"/>
          <a:ext cx="4267200" cy="3480435"/>
        </p:xfrm>
        <a:graphic>
          <a:graphicData uri="http://schemas.openxmlformats.org/drawingml/2006/table">
            <a:tbl>
              <a:tblPr firstRow="1"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1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1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1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C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1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1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1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F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1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1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1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C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1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1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1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F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8436" name="Picture 2" descr="An undirected graph.&#10;Edges:&#10;{(A,B), (B,C), (B,D), (C,E), (D,E), (E,F)}Adjacency list&#10;A : B&#10;B : A, C, D&#10;C : B, E&#10;D : B, E&#10;E : C, D, F&#10;F : E&#10;">
            <a:extLst>
              <a:ext uri="{FF2B5EF4-FFF2-40B4-BE49-F238E27FC236}">
                <a16:creationId xmlns:a16="http://schemas.microsoft.com/office/drawing/2014/main" id="{3F8B650F-2F78-4FC6-907B-8008E82698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6814" y="3347509"/>
            <a:ext cx="3484563" cy="216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>
            <a:extLst>
              <a:ext uri="{FF2B5EF4-FFF2-40B4-BE49-F238E27FC236}">
                <a16:creationId xmlns:a16="http://schemas.microsoft.com/office/drawing/2014/main" id="{C23492E9-9033-41E5-986C-EA39402730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488363" cy="1143000"/>
          </a:xfrm>
        </p:spPr>
        <p:txBody>
          <a:bodyPr/>
          <a:lstStyle/>
          <a:p>
            <a:pPr algn="ctr"/>
            <a:r>
              <a:rPr lang="en-US" altLang="en-US" sz="4000" b="1" dirty="0">
                <a:latin typeface="Abadi" panose="020B0604020104020204" pitchFamily="34" charset="0"/>
                <a:cs typeface="Times New Roman" panose="02020603050405020304" pitchFamily="18" charset="0"/>
              </a:rPr>
              <a:t>Adjacency Matrix for </a:t>
            </a:r>
            <a:br>
              <a:rPr lang="en-US" altLang="en-US" sz="4000" b="1" dirty="0">
                <a:latin typeface="Abadi" panose="020B0604020104020204" pitchFamily="34" charset="0"/>
                <a:cs typeface="Times New Roman" panose="02020603050405020304" pitchFamily="18" charset="0"/>
              </a:rPr>
            </a:br>
            <a:r>
              <a:rPr lang="en-US" altLang="en-US" sz="4000" b="1" dirty="0">
                <a:latin typeface="Abadi" panose="020B0604020104020204" pitchFamily="34" charset="0"/>
                <a:cs typeface="Times New Roman" panose="02020603050405020304" pitchFamily="18" charset="0"/>
              </a:rPr>
              <a:t>an Undirected Graph</a:t>
            </a:r>
            <a:endParaRPr lang="en-US" altLang="en-US" sz="4000" dirty="0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FBEFAC4-22A1-4ABF-998F-CC9FB54FD6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1219893"/>
              </p:ext>
            </p:extLst>
          </p:nvPr>
        </p:nvGraphicFramePr>
        <p:xfrm>
          <a:off x="864024" y="1933257"/>
          <a:ext cx="4267200" cy="3480435"/>
        </p:xfrm>
        <a:graphic>
          <a:graphicData uri="http://schemas.openxmlformats.org/drawingml/2006/table">
            <a:tbl>
              <a:tblPr firstRow="1"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1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1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1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C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1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1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1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F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1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1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1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C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1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1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1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F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4341" name="Picture 3" descr="An undirected graph.&#10;Edges:&#10;{(A,B), (B,C), (B,D), (C,E), (D,E), (E,F)}&#10;Adjacency list&#10;A : B&#10;B : A, C, D&#10;C : B, E&#10;D : B, E&#10;E : C, D, F&#10;F : E&#10;">
            <a:extLst>
              <a:ext uri="{FF2B5EF4-FFF2-40B4-BE49-F238E27FC236}">
                <a16:creationId xmlns:a16="http://schemas.microsoft.com/office/drawing/2014/main" id="{4D753D09-FF53-4ABD-AF39-A63F2D6A52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5826" y="2493377"/>
            <a:ext cx="3484563" cy="2173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>
            <a:extLst>
              <a:ext uri="{FF2B5EF4-FFF2-40B4-BE49-F238E27FC236}">
                <a16:creationId xmlns:a16="http://schemas.microsoft.com/office/drawing/2014/main" id="{C23492E9-9033-41E5-986C-EA39402730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488363" cy="1143000"/>
          </a:xfrm>
        </p:spPr>
        <p:txBody>
          <a:bodyPr/>
          <a:lstStyle/>
          <a:p>
            <a:pPr algn="ctr"/>
            <a:r>
              <a:rPr lang="en-US" altLang="en-US" b="1" dirty="0">
                <a:latin typeface="Abadi" panose="020B0604020104020204" pitchFamily="34" charset="0"/>
                <a:cs typeface="Times New Roman" panose="02020603050405020304" pitchFamily="18" charset="0"/>
              </a:rPr>
              <a:t>Adjacency Matrix for </a:t>
            </a:r>
            <a:br>
              <a:rPr lang="en-US" altLang="en-US" b="1" dirty="0">
                <a:latin typeface="Abadi" panose="020B0604020104020204" pitchFamily="34" charset="0"/>
                <a:cs typeface="Times New Roman" panose="02020603050405020304" pitchFamily="18" charset="0"/>
              </a:rPr>
            </a:br>
            <a:r>
              <a:rPr lang="en-US" altLang="en-US" b="1" dirty="0">
                <a:latin typeface="Abadi" panose="020B0604020104020204" pitchFamily="34" charset="0"/>
                <a:cs typeface="Times New Roman" panose="02020603050405020304" pitchFamily="18" charset="0"/>
              </a:rPr>
              <a:t>an Undirected Graph</a:t>
            </a:r>
            <a:endParaRPr lang="en-US" altLang="en-US" dirty="0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62B20E7C-7490-2A0A-78E4-E7F3A96381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0828" y="1563687"/>
            <a:ext cx="73914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Monotype Sorts"/>
              <a:buChar char="l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3600" dirty="0">
                <a:solidFill>
                  <a:srgbClr val="2C5C80"/>
                </a:solidFill>
                <a:latin typeface="Abadi" panose="020B0604020104020204" pitchFamily="34" charset="0"/>
              </a:rPr>
              <a:t>An undirected graph’s matrix will be symmetric about the major diagonal.</a:t>
            </a:r>
          </a:p>
        </p:txBody>
      </p:sp>
      <p:pic>
        <p:nvPicPr>
          <p:cNvPr id="14341" name="Picture 3" descr="An undirected graph.&#10;Edges:&#10;{(A,B), (B,C), (B,D), (C,E), (D,E), (E,F)}&#10;Adjacency list&#10;A : B&#10;B : A, C, D&#10;C : B, E&#10;D : B, E&#10;E : C, D, F&#10;F : E&#10;">
            <a:extLst>
              <a:ext uri="{FF2B5EF4-FFF2-40B4-BE49-F238E27FC236}">
                <a16:creationId xmlns:a16="http://schemas.microsoft.com/office/drawing/2014/main" id="{4D753D09-FF53-4ABD-AF39-A63F2D6A52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568324"/>
            <a:ext cx="3484563" cy="2173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FBEFAC4-22A1-4ABF-998F-CC9FB54FD6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4939549"/>
              </p:ext>
            </p:extLst>
          </p:nvPr>
        </p:nvGraphicFramePr>
        <p:xfrm>
          <a:off x="4388169" y="3039846"/>
          <a:ext cx="4267200" cy="3480435"/>
        </p:xfrm>
        <a:graphic>
          <a:graphicData uri="http://schemas.openxmlformats.org/drawingml/2006/table">
            <a:tbl>
              <a:tblPr firstRow="1"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1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1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1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C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1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1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1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F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1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1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1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C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1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1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1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F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2543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60" name="Rectangle 72">
            <a:extLst>
              <a:ext uri="{FF2B5EF4-FFF2-40B4-BE49-F238E27FC236}">
                <a16:creationId xmlns:a16="http://schemas.microsoft.com/office/drawing/2014/main" id="{CC0F3F12-7D07-B536-9C8E-520CB77B1E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50938" y="214313"/>
            <a:ext cx="7793037" cy="1246187"/>
          </a:xfrm>
        </p:spPr>
        <p:txBody>
          <a:bodyPr/>
          <a:lstStyle/>
          <a:p>
            <a:r>
              <a:rPr lang="en-US" altLang="en-US" sz="4000" dirty="0"/>
              <a:t>Adjacency Matrix Representation</a:t>
            </a:r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0E9411F3-521C-C824-2AB6-38D5D686D20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066800" y="1737905"/>
            <a:ext cx="7274312" cy="609600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>
                <a:solidFill>
                  <a:srgbClr val="237AC1"/>
                </a:solidFill>
              </a:rPr>
              <a:t>Example: Undirected Graph G (V, E)</a:t>
            </a:r>
          </a:p>
        </p:txBody>
      </p:sp>
      <p:grpSp>
        <p:nvGrpSpPr>
          <p:cNvPr id="2" name="Group 1" descr="Undirected graph:&#10;Vertices = {u, v, w}&#10;Edges = {(u,v), (v,w), (u,w)&#10;Adjacency list:&#10;u connects to v, w&#10;v connects to u, w&#10;w connects to u, v">
            <a:extLst>
              <a:ext uri="{FF2B5EF4-FFF2-40B4-BE49-F238E27FC236}">
                <a16:creationId xmlns:a16="http://schemas.microsoft.com/office/drawing/2014/main" id="{D46F5C5D-1656-6EFF-87E9-7BDC87DF30B6}"/>
              </a:ext>
            </a:extLst>
          </p:cNvPr>
          <p:cNvGrpSpPr/>
          <p:nvPr/>
        </p:nvGrpSpPr>
        <p:grpSpPr>
          <a:xfrm>
            <a:off x="1268450" y="3249650"/>
            <a:ext cx="2741613" cy="2264811"/>
            <a:chOff x="1752600" y="3124200"/>
            <a:chExt cx="1752600" cy="1447800"/>
          </a:xfrm>
        </p:grpSpPr>
        <p:sp>
          <p:nvSpPr>
            <p:cNvPr id="63564" name="Oval 76">
              <a:extLst>
                <a:ext uri="{FF2B5EF4-FFF2-40B4-BE49-F238E27FC236}">
                  <a16:creationId xmlns:a16="http://schemas.microsoft.com/office/drawing/2014/main" id="{F0D31671-6DD8-4E0F-6FC3-39084293F3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8400" y="3124200"/>
              <a:ext cx="381000" cy="3810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3600"/>
                <a:t>u</a:t>
              </a:r>
            </a:p>
          </p:txBody>
        </p:sp>
        <p:sp>
          <p:nvSpPr>
            <p:cNvPr id="63565" name="Oval 77">
              <a:extLst>
                <a:ext uri="{FF2B5EF4-FFF2-40B4-BE49-F238E27FC236}">
                  <a16:creationId xmlns:a16="http://schemas.microsoft.com/office/drawing/2014/main" id="{7167EC96-76DE-F170-32E0-E43BD38000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2600" y="4191000"/>
              <a:ext cx="381000" cy="3810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3600"/>
                <a:t>v</a:t>
              </a:r>
            </a:p>
          </p:txBody>
        </p:sp>
        <p:sp>
          <p:nvSpPr>
            <p:cNvPr id="63566" name="Oval 78">
              <a:extLst>
                <a:ext uri="{FF2B5EF4-FFF2-40B4-BE49-F238E27FC236}">
                  <a16:creationId xmlns:a16="http://schemas.microsoft.com/office/drawing/2014/main" id="{C2326F7A-A220-26D6-1361-90367C1691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4200" y="4191000"/>
              <a:ext cx="381000" cy="3810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3600" dirty="0"/>
                <a:t>w</a:t>
              </a:r>
            </a:p>
          </p:txBody>
        </p:sp>
        <p:sp>
          <p:nvSpPr>
            <p:cNvPr id="63567" name="Line 79">
              <a:extLst>
                <a:ext uri="{FF2B5EF4-FFF2-40B4-BE49-F238E27FC236}">
                  <a16:creationId xmlns:a16="http://schemas.microsoft.com/office/drawing/2014/main" id="{77CEA9F1-BF22-6746-02AB-DE44C12C12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3600" y="4343400"/>
              <a:ext cx="9906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600"/>
            </a:p>
          </p:txBody>
        </p:sp>
        <p:sp>
          <p:nvSpPr>
            <p:cNvPr id="63568" name="Line 80">
              <a:extLst>
                <a:ext uri="{FF2B5EF4-FFF2-40B4-BE49-F238E27FC236}">
                  <a16:creationId xmlns:a16="http://schemas.microsoft.com/office/drawing/2014/main" id="{DC40311B-03F3-6706-9060-49B9BE359A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57457" y="3455794"/>
              <a:ext cx="489845" cy="7565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600"/>
            </a:p>
          </p:txBody>
        </p:sp>
        <p:sp>
          <p:nvSpPr>
            <p:cNvPr id="63569" name="Line 81">
              <a:extLst>
                <a:ext uri="{FF2B5EF4-FFF2-40B4-BE49-F238E27FC236}">
                  <a16:creationId xmlns:a16="http://schemas.microsoft.com/office/drawing/2014/main" id="{456C17EA-46B1-B5A1-F18C-ABBDF9F471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47894" y="3490942"/>
              <a:ext cx="473833" cy="75659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600"/>
            </a:p>
          </p:txBody>
        </p:sp>
      </p:grpSp>
      <p:graphicFrame>
        <p:nvGraphicFramePr>
          <p:cNvPr id="63563" name="Group 75">
            <a:extLst>
              <a:ext uri="{FF2B5EF4-FFF2-40B4-BE49-F238E27FC236}">
                <a16:creationId xmlns:a16="http://schemas.microsoft.com/office/drawing/2014/main" id="{FBB803EF-B854-6B6E-41E9-1E1D3593CE85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145088" y="2959100"/>
          <a:ext cx="3572192" cy="3033966"/>
        </p:xfrm>
        <a:graphic>
          <a:graphicData uri="http://schemas.openxmlformats.org/drawingml/2006/table">
            <a:tbl>
              <a:tblPr firstRow="1"/>
              <a:tblGrid>
                <a:gridCol w="693630">
                  <a:extLst>
                    <a:ext uri="{9D8B030D-6E8A-4147-A177-3AD203B41FA5}">
                      <a16:colId xmlns:a16="http://schemas.microsoft.com/office/drawing/2014/main" val="786565958"/>
                    </a:ext>
                  </a:extLst>
                </a:gridCol>
                <a:gridCol w="946600">
                  <a:extLst>
                    <a:ext uri="{9D8B030D-6E8A-4147-A177-3AD203B41FA5}">
                      <a16:colId xmlns:a16="http://schemas.microsoft.com/office/drawing/2014/main" val="3313857573"/>
                    </a:ext>
                  </a:extLst>
                </a:gridCol>
                <a:gridCol w="948640">
                  <a:extLst>
                    <a:ext uri="{9D8B030D-6E8A-4147-A177-3AD203B41FA5}">
                      <a16:colId xmlns:a16="http://schemas.microsoft.com/office/drawing/2014/main" val="516218188"/>
                    </a:ext>
                  </a:extLst>
                </a:gridCol>
                <a:gridCol w="983322">
                  <a:extLst>
                    <a:ext uri="{9D8B030D-6E8A-4147-A177-3AD203B41FA5}">
                      <a16:colId xmlns:a16="http://schemas.microsoft.com/office/drawing/2014/main" val="2950054208"/>
                    </a:ext>
                  </a:extLst>
                </a:gridCol>
              </a:tblGrid>
              <a:tr h="66588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4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117509" marR="117509" marT="58755" marB="5875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v</a:t>
                      </a:r>
                      <a:endParaRPr kumimoji="0" lang="en-US" altLang="en-US" sz="3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117509" marR="117509" marT="58755" marB="58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u</a:t>
                      </a:r>
                      <a:endParaRPr kumimoji="0" lang="en-US" altLang="en-US" sz="3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117509" marR="117509" marT="58755" marB="58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w</a:t>
                      </a:r>
                      <a:endParaRPr kumimoji="0" lang="en-US" altLang="en-US" sz="3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117509" marR="117509" marT="58755" marB="58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5505327"/>
                  </a:ext>
                </a:extLst>
              </a:tr>
              <a:tr h="728312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v</a:t>
                      </a:r>
                      <a:endParaRPr kumimoji="0" lang="en-US" altLang="en-US" sz="3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117509" marR="117509" marT="58755" marB="5875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marL="117509" marR="117509" marT="58755" marB="58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marL="117509" marR="117509" marT="58755" marB="58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marL="117509" marR="117509" marT="58755" marB="58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9129795"/>
                  </a:ext>
                </a:extLst>
              </a:tr>
              <a:tr h="728312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u</a:t>
                      </a:r>
                      <a:endParaRPr kumimoji="0" lang="en-US" altLang="en-US" sz="3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117509" marR="117509" marT="58755" marB="5875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marL="117509" marR="117509" marT="58755" marB="58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marL="117509" marR="117509" marT="58755" marB="58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marL="117509" marR="117509" marT="58755" marB="58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9363009"/>
                  </a:ext>
                </a:extLst>
              </a:tr>
              <a:tr h="728312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w</a:t>
                      </a:r>
                      <a:endParaRPr kumimoji="0" lang="en-US" altLang="en-US" sz="3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117509" marR="117509" marT="58755" marB="5875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marL="117509" marR="117509" marT="58755" marB="58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marL="117509" marR="117509" marT="58755" marB="58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marL="117509" marR="117509" marT="58755" marB="58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2367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87692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7662BC6A-76B4-AEDB-F768-209F6C40D0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2158" y="200646"/>
            <a:ext cx="7793037" cy="1462087"/>
          </a:xfrm>
        </p:spPr>
        <p:txBody>
          <a:bodyPr/>
          <a:lstStyle/>
          <a:p>
            <a:pPr algn="ctr"/>
            <a:r>
              <a:rPr lang="en-US" altLang="en-US" sz="4000" dirty="0"/>
              <a:t>Adjacency List Representation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576BE7C9-FF58-FDE6-8D99-05D02CE6D62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72158" y="1611139"/>
            <a:ext cx="7351712" cy="877887"/>
          </a:xfrm>
        </p:spPr>
        <p:txBody>
          <a:bodyPr/>
          <a:lstStyle/>
          <a:p>
            <a:pPr algn="just">
              <a:buFont typeface="Wingdings" panose="05000000000000000000" pitchFamily="2" charset="2"/>
              <a:buNone/>
            </a:pPr>
            <a:r>
              <a:rPr lang="en-US" altLang="en-US" sz="2800" dirty="0"/>
              <a:t>	Each node (vertex) has a list of which nodes (vertex) it is adjacent.</a:t>
            </a:r>
          </a:p>
        </p:txBody>
      </p:sp>
      <p:grpSp>
        <p:nvGrpSpPr>
          <p:cNvPr id="2" name="Group 1" descr="Undirected graph:&#10;Vertices = {u, v, w}&#10;Edges = {(u,v), (v,w), (u,w)&#10;Adjacency list:&#10;u connects to v, w&#10;v connects to u, w&#10;w connects to u, v">
            <a:extLst>
              <a:ext uri="{FF2B5EF4-FFF2-40B4-BE49-F238E27FC236}">
                <a16:creationId xmlns:a16="http://schemas.microsoft.com/office/drawing/2014/main" id="{61E0DA18-A896-CAF9-8BA2-6C753E1BB198}"/>
              </a:ext>
            </a:extLst>
          </p:cNvPr>
          <p:cNvGrpSpPr/>
          <p:nvPr/>
        </p:nvGrpSpPr>
        <p:grpSpPr>
          <a:xfrm>
            <a:off x="970448" y="3361289"/>
            <a:ext cx="2741613" cy="2264811"/>
            <a:chOff x="1752600" y="3124200"/>
            <a:chExt cx="1752600" cy="1447800"/>
          </a:xfrm>
        </p:grpSpPr>
        <p:sp>
          <p:nvSpPr>
            <p:cNvPr id="3" name="Oval 76">
              <a:extLst>
                <a:ext uri="{FF2B5EF4-FFF2-40B4-BE49-F238E27FC236}">
                  <a16:creationId xmlns:a16="http://schemas.microsoft.com/office/drawing/2014/main" id="{A281BB77-EEB9-A3AD-1A1C-281C9E73E5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8400" y="3124200"/>
              <a:ext cx="381000" cy="3810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3600"/>
                <a:t>u</a:t>
              </a:r>
            </a:p>
          </p:txBody>
        </p:sp>
        <p:sp>
          <p:nvSpPr>
            <p:cNvPr id="4" name="Oval 77">
              <a:extLst>
                <a:ext uri="{FF2B5EF4-FFF2-40B4-BE49-F238E27FC236}">
                  <a16:creationId xmlns:a16="http://schemas.microsoft.com/office/drawing/2014/main" id="{7BCB21C2-463E-8621-664E-045B712637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2600" y="4191000"/>
              <a:ext cx="381000" cy="3810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3600"/>
                <a:t>v</a:t>
              </a:r>
            </a:p>
          </p:txBody>
        </p:sp>
        <p:sp>
          <p:nvSpPr>
            <p:cNvPr id="5" name="Oval 78">
              <a:extLst>
                <a:ext uri="{FF2B5EF4-FFF2-40B4-BE49-F238E27FC236}">
                  <a16:creationId xmlns:a16="http://schemas.microsoft.com/office/drawing/2014/main" id="{36163AF5-A659-0E5F-BF62-E71ED80C87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4200" y="4191000"/>
              <a:ext cx="381000" cy="3810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3600" dirty="0"/>
                <a:t>w</a:t>
              </a:r>
            </a:p>
          </p:txBody>
        </p:sp>
        <p:sp>
          <p:nvSpPr>
            <p:cNvPr id="6" name="Line 79">
              <a:extLst>
                <a:ext uri="{FF2B5EF4-FFF2-40B4-BE49-F238E27FC236}">
                  <a16:creationId xmlns:a16="http://schemas.microsoft.com/office/drawing/2014/main" id="{A4E857E2-4385-EF62-A1D2-3E3B5E4145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3600" y="4343400"/>
              <a:ext cx="9906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600"/>
            </a:p>
          </p:txBody>
        </p:sp>
        <p:sp>
          <p:nvSpPr>
            <p:cNvPr id="7" name="Line 80">
              <a:extLst>
                <a:ext uri="{FF2B5EF4-FFF2-40B4-BE49-F238E27FC236}">
                  <a16:creationId xmlns:a16="http://schemas.microsoft.com/office/drawing/2014/main" id="{067B4242-E05D-240F-6E4C-499A8E96BF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57457" y="3455794"/>
              <a:ext cx="489845" cy="7565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600"/>
            </a:p>
          </p:txBody>
        </p:sp>
        <p:sp>
          <p:nvSpPr>
            <p:cNvPr id="8" name="Line 81">
              <a:extLst>
                <a:ext uri="{FF2B5EF4-FFF2-40B4-BE49-F238E27FC236}">
                  <a16:creationId xmlns:a16="http://schemas.microsoft.com/office/drawing/2014/main" id="{03F5A133-6526-8997-48A3-5315F8FC59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47894" y="3490942"/>
              <a:ext cx="473833" cy="75659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600"/>
            </a:p>
          </p:txBody>
        </p:sp>
      </p:grpSp>
      <p:graphicFrame>
        <p:nvGraphicFramePr>
          <p:cNvPr id="38948" name="Group 36">
            <a:extLst>
              <a:ext uri="{FF2B5EF4-FFF2-40B4-BE49-F238E27FC236}">
                <a16:creationId xmlns:a16="http://schemas.microsoft.com/office/drawing/2014/main" id="{ADE96BCC-A8D7-F877-E80F-AE809C5C596F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4343400" y="3276600"/>
          <a:ext cx="4114800" cy="2349500"/>
        </p:xfrm>
        <a:graphic>
          <a:graphicData uri="http://schemas.openxmlformats.org/drawingml/2006/table">
            <a:tbl>
              <a:tblPr firstRow="1"/>
              <a:tblGrid>
                <a:gridCol w="1165302">
                  <a:extLst>
                    <a:ext uri="{9D8B030D-6E8A-4147-A177-3AD203B41FA5}">
                      <a16:colId xmlns:a16="http://schemas.microsoft.com/office/drawing/2014/main" val="1639822813"/>
                    </a:ext>
                  </a:extLst>
                </a:gridCol>
                <a:gridCol w="2949498">
                  <a:extLst>
                    <a:ext uri="{9D8B030D-6E8A-4147-A177-3AD203B41FA5}">
                      <a16:colId xmlns:a16="http://schemas.microsoft.com/office/drawing/2014/main" val="796191183"/>
                    </a:ext>
                  </a:extLst>
                </a:gridCol>
              </a:tblGrid>
              <a:tr h="6381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node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Adjacency List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889925"/>
                  </a:ext>
                </a:extLst>
              </a:tr>
              <a:tr h="571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u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v , 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1588810"/>
                  </a:ext>
                </a:extLst>
              </a:tr>
              <a:tr h="5683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v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w, u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3029709"/>
                  </a:ext>
                </a:extLst>
              </a:tr>
              <a:tr h="571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w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u , v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9371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77908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CE5DFA9F-17B6-54F1-45DE-4BE549B04E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dirty="0"/>
              <a:t>Adjacency Matrix Representation</a:t>
            </a: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5C4CB663-6FAB-CFEA-4A75-63D4625995E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259086" y="1732735"/>
            <a:ext cx="6705600" cy="609600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>
                <a:solidFill>
                  <a:srgbClr val="237AC1"/>
                </a:solidFill>
              </a:rPr>
              <a:t>Example: directed Graph G (V, E)</a:t>
            </a:r>
          </a:p>
        </p:txBody>
      </p:sp>
      <p:grpSp>
        <p:nvGrpSpPr>
          <p:cNvPr id="9" name="Group 8" descr="Directed graph:&#10;Vertices = {u, v, w}&#10;Edges = {(u,w), (v,u), (v,w), (w,v)} &#10;Adjacency list:&#10;u connects to w&#10;v connects to u and w&#10;w connects to v">
            <a:extLst>
              <a:ext uri="{FF2B5EF4-FFF2-40B4-BE49-F238E27FC236}">
                <a16:creationId xmlns:a16="http://schemas.microsoft.com/office/drawing/2014/main" id="{9CC4CC02-9156-B89C-5E15-549788BE3F35}"/>
              </a:ext>
            </a:extLst>
          </p:cNvPr>
          <p:cNvGrpSpPr/>
          <p:nvPr/>
        </p:nvGrpSpPr>
        <p:grpSpPr>
          <a:xfrm>
            <a:off x="1150938" y="2912663"/>
            <a:ext cx="2741613" cy="2264811"/>
            <a:chOff x="1011974" y="2101076"/>
            <a:chExt cx="2741613" cy="2264811"/>
          </a:xfrm>
        </p:grpSpPr>
        <p:sp>
          <p:nvSpPr>
            <p:cNvPr id="10" name="Oval 76">
              <a:extLst>
                <a:ext uri="{FF2B5EF4-FFF2-40B4-BE49-F238E27FC236}">
                  <a16:creationId xmlns:a16="http://schemas.microsoft.com/office/drawing/2014/main" id="{EC0D4406-5B1B-74A9-F7DF-BC1900C259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4779" y="2101076"/>
              <a:ext cx="596003" cy="596003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3600"/>
                <a:t>u</a:t>
              </a:r>
            </a:p>
          </p:txBody>
        </p:sp>
        <p:sp>
          <p:nvSpPr>
            <p:cNvPr id="11" name="Oval 77">
              <a:extLst>
                <a:ext uri="{FF2B5EF4-FFF2-40B4-BE49-F238E27FC236}">
                  <a16:creationId xmlns:a16="http://schemas.microsoft.com/office/drawing/2014/main" id="{1339627D-9FE9-DABD-264A-C5A955EA06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1974" y="3769884"/>
              <a:ext cx="596003" cy="596003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3600"/>
                <a:t>v</a:t>
              </a:r>
            </a:p>
          </p:txBody>
        </p:sp>
        <p:sp>
          <p:nvSpPr>
            <p:cNvPr id="12" name="Oval 78">
              <a:extLst>
                <a:ext uri="{FF2B5EF4-FFF2-40B4-BE49-F238E27FC236}">
                  <a16:creationId xmlns:a16="http://schemas.microsoft.com/office/drawing/2014/main" id="{11519C63-C550-008F-D6D0-332E5CA77F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7584" y="3769884"/>
              <a:ext cx="596003" cy="596003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3600" dirty="0"/>
                <a:t>w</a:t>
              </a:r>
            </a:p>
          </p:txBody>
        </p:sp>
        <p:sp>
          <p:nvSpPr>
            <p:cNvPr id="13" name="Line 79">
              <a:extLst>
                <a:ext uri="{FF2B5EF4-FFF2-40B4-BE49-F238E27FC236}">
                  <a16:creationId xmlns:a16="http://schemas.microsoft.com/office/drawing/2014/main" id="{08F0613E-E59D-AAEC-E9B3-A6C18C11A2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7977" y="4008285"/>
              <a:ext cx="154960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lg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600"/>
            </a:p>
          </p:txBody>
        </p:sp>
        <p:sp>
          <p:nvSpPr>
            <p:cNvPr id="14" name="Line 80">
              <a:extLst>
                <a:ext uri="{FF2B5EF4-FFF2-40B4-BE49-F238E27FC236}">
                  <a16:creationId xmlns:a16="http://schemas.microsoft.com/office/drawing/2014/main" id="{76B2458C-05BD-50CC-3F29-ACBC1A27CB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3884" y="2619792"/>
              <a:ext cx="766270" cy="11835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lg" len="lg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600"/>
            </a:p>
          </p:txBody>
        </p:sp>
        <p:sp>
          <p:nvSpPr>
            <p:cNvPr id="15" name="Line 81">
              <a:extLst>
                <a:ext uri="{FF2B5EF4-FFF2-40B4-BE49-F238E27FC236}">
                  <a16:creationId xmlns:a16="http://schemas.microsoft.com/office/drawing/2014/main" id="{9F3F6363-41EE-C0B5-6820-D3B2BE0E52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73906" y="2674775"/>
              <a:ext cx="741223" cy="11835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lg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600"/>
            </a:p>
          </p:txBody>
        </p:sp>
        <p:sp>
          <p:nvSpPr>
            <p:cNvPr id="16" name="Line 79">
              <a:extLst>
                <a:ext uri="{FF2B5EF4-FFF2-40B4-BE49-F238E27FC236}">
                  <a16:creationId xmlns:a16="http://schemas.microsoft.com/office/drawing/2014/main" id="{33A9F1E5-334C-E888-6DF4-75D56AF0AD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26565" y="4127232"/>
              <a:ext cx="154960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lg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600"/>
            </a:p>
          </p:txBody>
        </p:sp>
      </p:grpSp>
      <p:graphicFrame>
        <p:nvGraphicFramePr>
          <p:cNvPr id="67588" name="Group 4">
            <a:extLst>
              <a:ext uri="{FF2B5EF4-FFF2-40B4-BE49-F238E27FC236}">
                <a16:creationId xmlns:a16="http://schemas.microsoft.com/office/drawing/2014/main" id="{4A87E2F5-DF72-7F65-9239-5683BE5323CA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145087" y="2959100"/>
          <a:ext cx="3446266" cy="2952800"/>
        </p:xfrm>
        <a:graphic>
          <a:graphicData uri="http://schemas.openxmlformats.org/drawingml/2006/table">
            <a:tbl>
              <a:tblPr firstRow="1"/>
              <a:tblGrid>
                <a:gridCol w="669178">
                  <a:extLst>
                    <a:ext uri="{9D8B030D-6E8A-4147-A177-3AD203B41FA5}">
                      <a16:colId xmlns:a16="http://schemas.microsoft.com/office/drawing/2014/main" val="2225065435"/>
                    </a:ext>
                  </a:extLst>
                </a:gridCol>
                <a:gridCol w="913231">
                  <a:extLst>
                    <a:ext uri="{9D8B030D-6E8A-4147-A177-3AD203B41FA5}">
                      <a16:colId xmlns:a16="http://schemas.microsoft.com/office/drawing/2014/main" val="2471064601"/>
                    </a:ext>
                  </a:extLst>
                </a:gridCol>
                <a:gridCol w="915199">
                  <a:extLst>
                    <a:ext uri="{9D8B030D-6E8A-4147-A177-3AD203B41FA5}">
                      <a16:colId xmlns:a16="http://schemas.microsoft.com/office/drawing/2014/main" val="839284778"/>
                    </a:ext>
                  </a:extLst>
                </a:gridCol>
                <a:gridCol w="948658">
                  <a:extLst>
                    <a:ext uri="{9D8B030D-6E8A-4147-A177-3AD203B41FA5}">
                      <a16:colId xmlns:a16="http://schemas.microsoft.com/office/drawing/2014/main" val="4260457229"/>
                    </a:ext>
                  </a:extLst>
                </a:gridCol>
              </a:tblGrid>
              <a:tr h="64241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4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113367" marR="113367" marT="56683" marB="5668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v</a:t>
                      </a:r>
                      <a:endParaRPr kumimoji="0" lang="en-US" altLang="en-US" sz="36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113367" marR="113367" marT="56683" marB="566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u</a:t>
                      </a:r>
                      <a:endParaRPr kumimoji="0" lang="en-US" altLang="en-US" sz="36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113367" marR="113367" marT="56683" marB="566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w</a:t>
                      </a:r>
                      <a:endParaRPr kumimoji="0" lang="en-US" altLang="en-US" sz="36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113367" marR="113367" marT="56683" marB="566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1631584"/>
                  </a:ext>
                </a:extLst>
              </a:tr>
              <a:tr h="7026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v</a:t>
                      </a:r>
                      <a:endParaRPr kumimoji="0" lang="en-US" altLang="en-US" sz="36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113367" marR="113367" marT="56683" marB="5668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marL="113367" marR="113367" marT="56683" marB="566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marL="113367" marR="113367" marT="56683" marB="566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marL="113367" marR="113367" marT="56683" marB="566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5797848"/>
                  </a:ext>
                </a:extLst>
              </a:tr>
              <a:tr h="7026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u</a:t>
                      </a:r>
                      <a:endParaRPr kumimoji="0" lang="en-US" altLang="en-US" sz="36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113367" marR="113367" marT="56683" marB="5668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marL="113367" marR="113367" marT="56683" marB="566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marL="113367" marR="113367" marT="56683" marB="566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marL="113367" marR="113367" marT="56683" marB="566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9636155"/>
                  </a:ext>
                </a:extLst>
              </a:tr>
              <a:tr h="7026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w</a:t>
                      </a:r>
                      <a:endParaRPr kumimoji="0" lang="en-US" altLang="en-US" sz="36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113367" marR="113367" marT="56683" marB="5668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marL="113367" marR="113367" marT="56683" marB="566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marL="113367" marR="113367" marT="56683" marB="566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marL="113367" marR="113367" marT="56683" marB="566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83889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93167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7662BC6A-76B4-AEDB-F768-209F6C40D0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2157" y="174626"/>
            <a:ext cx="7793037" cy="1462087"/>
          </a:xfrm>
        </p:spPr>
        <p:txBody>
          <a:bodyPr/>
          <a:lstStyle/>
          <a:p>
            <a:pPr algn="ctr"/>
            <a:r>
              <a:rPr lang="en-US" altLang="en-US" sz="4000" dirty="0"/>
              <a:t>Adjacency List Representation</a:t>
            </a:r>
          </a:p>
        </p:txBody>
      </p:sp>
      <p:grpSp>
        <p:nvGrpSpPr>
          <p:cNvPr id="17" name="Group 16" descr="Directed graph:&#10;Vertices = {u, v, w}&#10;Edges = {(u,w), (v,u), (v,w), (w,v)} &#10;Adjacency list:&#10;u connects to w&#10;v connects to u and w&#10;w connects to v">
            <a:extLst>
              <a:ext uri="{FF2B5EF4-FFF2-40B4-BE49-F238E27FC236}">
                <a16:creationId xmlns:a16="http://schemas.microsoft.com/office/drawing/2014/main" id="{2B5E21A9-89B6-9DF3-B3F1-1C77062D8F6A}"/>
              </a:ext>
            </a:extLst>
          </p:cNvPr>
          <p:cNvGrpSpPr/>
          <p:nvPr/>
        </p:nvGrpSpPr>
        <p:grpSpPr>
          <a:xfrm>
            <a:off x="1123484" y="1978415"/>
            <a:ext cx="2741613" cy="2264811"/>
            <a:chOff x="1011974" y="2101076"/>
            <a:chExt cx="2741613" cy="2264811"/>
          </a:xfrm>
        </p:grpSpPr>
        <p:sp>
          <p:nvSpPr>
            <p:cNvPr id="10" name="Oval 76">
              <a:extLst>
                <a:ext uri="{FF2B5EF4-FFF2-40B4-BE49-F238E27FC236}">
                  <a16:creationId xmlns:a16="http://schemas.microsoft.com/office/drawing/2014/main" id="{BDBD84CA-DACA-923C-D2A6-4F72DF11E2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4779" y="2101076"/>
              <a:ext cx="596003" cy="596003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3600"/>
                <a:t>u</a:t>
              </a:r>
            </a:p>
          </p:txBody>
        </p:sp>
        <p:sp>
          <p:nvSpPr>
            <p:cNvPr id="11" name="Oval 77">
              <a:extLst>
                <a:ext uri="{FF2B5EF4-FFF2-40B4-BE49-F238E27FC236}">
                  <a16:creationId xmlns:a16="http://schemas.microsoft.com/office/drawing/2014/main" id="{BA2E3F55-2C93-261D-F456-CF35C9B79A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1974" y="3769884"/>
              <a:ext cx="596003" cy="596003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3600"/>
                <a:t>v</a:t>
              </a:r>
            </a:p>
          </p:txBody>
        </p:sp>
        <p:sp>
          <p:nvSpPr>
            <p:cNvPr id="12" name="Oval 78">
              <a:extLst>
                <a:ext uri="{FF2B5EF4-FFF2-40B4-BE49-F238E27FC236}">
                  <a16:creationId xmlns:a16="http://schemas.microsoft.com/office/drawing/2014/main" id="{2FF0317E-C8C3-0B7F-62B1-ED6B4079F2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7584" y="3769884"/>
              <a:ext cx="596003" cy="596003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3600" dirty="0"/>
                <a:t>w</a:t>
              </a:r>
            </a:p>
          </p:txBody>
        </p:sp>
        <p:sp>
          <p:nvSpPr>
            <p:cNvPr id="13" name="Line 79">
              <a:extLst>
                <a:ext uri="{FF2B5EF4-FFF2-40B4-BE49-F238E27FC236}">
                  <a16:creationId xmlns:a16="http://schemas.microsoft.com/office/drawing/2014/main" id="{A953BEFB-CF87-1397-E1CB-5BC7FD87D0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7977" y="4008285"/>
              <a:ext cx="154960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lg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600"/>
            </a:p>
          </p:txBody>
        </p:sp>
        <p:sp>
          <p:nvSpPr>
            <p:cNvPr id="14" name="Line 80">
              <a:extLst>
                <a:ext uri="{FF2B5EF4-FFF2-40B4-BE49-F238E27FC236}">
                  <a16:creationId xmlns:a16="http://schemas.microsoft.com/office/drawing/2014/main" id="{6D3B5294-789A-C17F-C8FC-2F51194457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3884" y="2619792"/>
              <a:ext cx="766270" cy="11835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lg" len="lg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600"/>
            </a:p>
          </p:txBody>
        </p:sp>
        <p:sp>
          <p:nvSpPr>
            <p:cNvPr id="15" name="Line 81">
              <a:extLst>
                <a:ext uri="{FF2B5EF4-FFF2-40B4-BE49-F238E27FC236}">
                  <a16:creationId xmlns:a16="http://schemas.microsoft.com/office/drawing/2014/main" id="{DF318A06-2BF0-2BDA-908A-5F9A3B4D81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73906" y="2674775"/>
              <a:ext cx="741223" cy="11835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lg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600"/>
            </a:p>
          </p:txBody>
        </p:sp>
        <p:sp>
          <p:nvSpPr>
            <p:cNvPr id="16" name="Line 79">
              <a:extLst>
                <a:ext uri="{FF2B5EF4-FFF2-40B4-BE49-F238E27FC236}">
                  <a16:creationId xmlns:a16="http://schemas.microsoft.com/office/drawing/2014/main" id="{1E18CEAF-8378-1738-1DB9-E0460ED0E1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26565" y="4127232"/>
              <a:ext cx="154960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lg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600"/>
            </a:p>
          </p:txBody>
        </p:sp>
      </p:grpSp>
      <p:graphicFrame>
        <p:nvGraphicFramePr>
          <p:cNvPr id="38948" name="Group 36">
            <a:extLst>
              <a:ext uri="{FF2B5EF4-FFF2-40B4-BE49-F238E27FC236}">
                <a16:creationId xmlns:a16="http://schemas.microsoft.com/office/drawing/2014/main" id="{ADE96BCC-A8D7-F877-E80F-AE809C5C596F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4454910" y="1882701"/>
          <a:ext cx="4114800" cy="2349500"/>
        </p:xfrm>
        <a:graphic>
          <a:graphicData uri="http://schemas.openxmlformats.org/drawingml/2006/table">
            <a:tbl>
              <a:tblPr firstRow="1"/>
              <a:tblGrid>
                <a:gridCol w="1064941">
                  <a:extLst>
                    <a:ext uri="{9D8B030D-6E8A-4147-A177-3AD203B41FA5}">
                      <a16:colId xmlns:a16="http://schemas.microsoft.com/office/drawing/2014/main" val="1639822813"/>
                    </a:ext>
                  </a:extLst>
                </a:gridCol>
                <a:gridCol w="3049859">
                  <a:extLst>
                    <a:ext uri="{9D8B030D-6E8A-4147-A177-3AD203B41FA5}">
                      <a16:colId xmlns:a16="http://schemas.microsoft.com/office/drawing/2014/main" val="796191183"/>
                    </a:ext>
                  </a:extLst>
                </a:gridCol>
              </a:tblGrid>
              <a:tr h="6381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node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Adjacency List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889925"/>
                  </a:ext>
                </a:extLst>
              </a:tr>
              <a:tr h="571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u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1588810"/>
                  </a:ext>
                </a:extLst>
              </a:tr>
              <a:tr h="5683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v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u, 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3029709"/>
                  </a:ext>
                </a:extLst>
              </a:tr>
              <a:tr h="571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w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v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9371223"/>
                  </a:ext>
                </a:extLst>
              </a:tr>
            </a:tbl>
          </a:graphicData>
        </a:graphic>
      </p:graphicFrame>
      <p:sp>
        <p:nvSpPr>
          <p:cNvPr id="38915" name="Rectangle 3">
            <a:extLst>
              <a:ext uri="{FF2B5EF4-FFF2-40B4-BE49-F238E27FC236}">
                <a16:creationId xmlns:a16="http://schemas.microsoft.com/office/drawing/2014/main" id="{576BE7C9-FF58-FDE6-8D99-05D02CE6D62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018805" y="4852325"/>
            <a:ext cx="7351712" cy="877887"/>
          </a:xfrm>
        </p:spPr>
        <p:txBody>
          <a:bodyPr/>
          <a:lstStyle/>
          <a:p>
            <a:pPr marL="0" indent="0" algn="just">
              <a:buFont typeface="Wingdings" panose="05000000000000000000" pitchFamily="2" charset="2"/>
              <a:buNone/>
            </a:pPr>
            <a:r>
              <a:rPr lang="en-US" altLang="en-US" sz="2800" dirty="0"/>
              <a:t>Note that here (</a:t>
            </a:r>
            <a:r>
              <a:rPr lang="en-US" altLang="en-US" sz="2800" dirty="0" err="1"/>
              <a:t>v,w</a:t>
            </a:r>
            <a:r>
              <a:rPr lang="en-US" altLang="en-US" sz="2800" dirty="0"/>
              <a:t>) and (</a:t>
            </a:r>
            <a:r>
              <a:rPr lang="en-US" altLang="en-US" sz="2800" dirty="0" err="1"/>
              <a:t>w,v</a:t>
            </a:r>
            <a:r>
              <a:rPr lang="en-US" altLang="en-US" sz="2800" dirty="0"/>
              <a:t>) are considered separate edges, while in an undirected graph they would be considered two ways to write the same edge </a:t>
            </a:r>
            <a:r>
              <a:rPr lang="en-US" altLang="en-US" sz="2800" u="sng" dirty="0"/>
              <a:t>and wouldn’t both be listed.</a:t>
            </a: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9141333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">
            <a:extLst>
              <a:ext uri="{FF2B5EF4-FFF2-40B4-BE49-F238E27FC236}">
                <a16:creationId xmlns:a16="http://schemas.microsoft.com/office/drawing/2014/main" id="{04CC0DD7-EC72-4318-B200-88EEC7DFF8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350"/>
            <a:ext cx="8488363" cy="1143000"/>
          </a:xfrm>
        </p:spPr>
        <p:txBody>
          <a:bodyPr/>
          <a:lstStyle/>
          <a:p>
            <a:pPr algn="ctr"/>
            <a:r>
              <a:rPr lang="en-US" altLang="en-US" b="1" dirty="0">
                <a:latin typeface="Abadi" panose="020B0604020104020204" pitchFamily="34" charset="0"/>
                <a:cs typeface="Times New Roman" panose="02020603050405020304" pitchFamily="18" charset="0"/>
              </a:rPr>
              <a:t>Weighted Graph</a:t>
            </a:r>
            <a:endParaRPr lang="en-US" altLang="en-US" dirty="0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2772" name="Rectangle 7">
            <a:extLst>
              <a:ext uri="{FF2B5EF4-FFF2-40B4-BE49-F238E27FC236}">
                <a16:creationId xmlns:a16="http://schemas.microsoft.com/office/drawing/2014/main" id="{19D92B2F-FA0C-4D0B-8D45-CF2E6A2459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7734" y="1357418"/>
            <a:ext cx="739140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Monotype Sorts"/>
              <a:buChar char="l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dirty="0">
                <a:latin typeface="Abadi" panose="020B0604020104020204" pitchFamily="34" charset="0"/>
              </a:rPr>
              <a:t>A weighted graph associates a value (weight) with every </a:t>
            </a:r>
            <a:r>
              <a:rPr kumimoji="0" lang="en-US" altLang="en-US" u="sng" dirty="0">
                <a:latin typeface="Abadi" panose="020B0604020104020204" pitchFamily="34" charset="0"/>
              </a:rPr>
              <a:t>edge</a:t>
            </a:r>
            <a:r>
              <a:rPr kumimoji="0" lang="en-US" altLang="en-US" dirty="0">
                <a:latin typeface="Abadi" panose="020B0604020104020204" pitchFamily="34" charset="0"/>
              </a:rPr>
              <a:t> in the graph.</a:t>
            </a:r>
          </a:p>
        </p:txBody>
      </p:sp>
      <p:pic>
        <p:nvPicPr>
          <p:cNvPr id="2050" name="Picture 2" descr="A weighted, directed graph:&#10;Edges:&#10;{(A,B,8.7),(A,F,3.8),(B,C,1.3),(B,E,7.5),(C,D,2.1),(D,E,1.9),(E,B,5.8),(E,C,-5.0),(E,D,3.1),(F,A,8.0),(F,E,12.0)}&#10;Adjacency list:&#10;A : B (8.7), F (3.8)&#10;B : C (1.3), E (7.5)&#10;C : D (2.1)&#10;D : E (1.9)&#10;E : B (5.8), C (-5.0), D (3.1)&#10;F : A (8.0)">
            <a:extLst>
              <a:ext uri="{FF2B5EF4-FFF2-40B4-BE49-F238E27FC236}">
                <a16:creationId xmlns:a16="http://schemas.microsoft.com/office/drawing/2014/main" id="{1156F688-016E-40E1-BFA5-EFB52E4E6D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4360" y="2832901"/>
            <a:ext cx="5796279" cy="3962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>
            <a:extLst>
              <a:ext uri="{FF2B5EF4-FFF2-40B4-BE49-F238E27FC236}">
                <a16:creationId xmlns:a16="http://schemas.microsoft.com/office/drawing/2014/main" id="{9FB342F6-413F-4F08-8C67-213AF7166F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-152400"/>
            <a:ext cx="8488363" cy="1143000"/>
          </a:xfrm>
        </p:spPr>
        <p:txBody>
          <a:bodyPr/>
          <a:lstStyle/>
          <a:p>
            <a:pPr algn="ctr"/>
            <a:r>
              <a:rPr lang="en-US" altLang="en-US" sz="3600" b="1" dirty="0">
                <a:latin typeface="Abadi" panose="020B0604020104020204" pitchFamily="34" charset="0"/>
                <a:cs typeface="Times New Roman" panose="02020603050405020304" pitchFamily="18" charset="0"/>
              </a:rPr>
              <a:t>Adjacency Matrix for a Weighted Graph</a:t>
            </a:r>
            <a:endParaRPr lang="en-US" altLang="en-US" sz="3600" dirty="0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2" descr="A weighted, directed graph:&#10;Edges:&#10;{(A,B,8.7),(A,F,3.8),(B,C,1.3),(B,E,7.5),(C,D,2.1),(D,E,1.9),(E,B,5.8),(E,C,-5.0),(E,D,3.1),(F,A,8.0),(F,E,12.0)}&#10;Adjacency list:&#10;A : B (8.7), F (3.8)&#10;B : C (1.3), E (7.5)&#10;C : D (2.1)&#10;D : E (1.9)&#10;E : B (5.8), C (-5.0), D (3.1)&#10;F : A (8.0)">
            <a:extLst>
              <a:ext uri="{FF2B5EF4-FFF2-40B4-BE49-F238E27FC236}">
                <a16:creationId xmlns:a16="http://schemas.microsoft.com/office/drawing/2014/main" id="{0BB0CF8C-BC6D-4EC2-BB87-3436677820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854995"/>
            <a:ext cx="5214887" cy="3564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02A837B-CE03-4B31-A89E-4E2349C141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1204667"/>
              </p:ext>
            </p:extLst>
          </p:nvPr>
        </p:nvGraphicFramePr>
        <p:xfrm>
          <a:off x="3922398" y="3312012"/>
          <a:ext cx="5214888" cy="3545990"/>
        </p:xfrm>
        <a:graphic>
          <a:graphicData uri="http://schemas.openxmlformats.org/drawingml/2006/table">
            <a:tbl>
              <a:tblPr firstRow="1"/>
              <a:tblGrid>
                <a:gridCol w="7449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49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49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49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49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49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49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65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1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1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1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1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1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1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65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1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8.7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3.8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65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1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1.3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7.5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65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1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2.1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65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1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1.9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65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1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5.8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-5.0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3.1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65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1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8.0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12.0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5788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A weighted, directed graph:&#10;Edges:&#10;{(A,B,8.7),(A,F,3.8),(B,C,1.3),(B,E,7.5),(C,D,2.1),(D,E,1.9),(E,B,5.8),(E,C,-5.0),(E,D,3.1),(F,A,8.0),(F,E,12.0)}&#10;Adjacency list:&#10;A : B (8.7), F (3.8)&#10;B : C (1.3), E (7.5)&#10;C : D (2.1)&#10;D : E (1.9)&#10;E : B (5.8), C (-5.0), D (3.1)&#10;F : A (8.0)">
            <a:extLst>
              <a:ext uri="{FF2B5EF4-FFF2-40B4-BE49-F238E27FC236}">
                <a16:creationId xmlns:a16="http://schemas.microsoft.com/office/drawing/2014/main" id="{0BB0CF8C-BC6D-4EC2-BB87-3436677820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331" y="267624"/>
            <a:ext cx="5214887" cy="3564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435" name="Rectangle 2">
            <a:extLst>
              <a:ext uri="{FF2B5EF4-FFF2-40B4-BE49-F238E27FC236}">
                <a16:creationId xmlns:a16="http://schemas.microsoft.com/office/drawing/2014/main" id="{9FB342F6-413F-4F08-8C67-213AF7166F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70436" y="113435"/>
            <a:ext cx="4373563" cy="1143000"/>
          </a:xfrm>
        </p:spPr>
        <p:txBody>
          <a:bodyPr/>
          <a:lstStyle/>
          <a:p>
            <a:pPr algn="ctr"/>
            <a:r>
              <a:rPr lang="en-US" altLang="en-US" sz="3600" b="1" dirty="0">
                <a:latin typeface="Abadi" panose="020B0604020104020204" pitchFamily="34" charset="0"/>
                <a:cs typeface="Times New Roman" panose="02020603050405020304" pitchFamily="18" charset="0"/>
              </a:rPr>
              <a:t>Adjacency List for a Weighted Graph</a:t>
            </a:r>
            <a:endParaRPr lang="en-US" altLang="en-US" sz="3600" dirty="0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Group 36">
            <a:extLst>
              <a:ext uri="{FF2B5EF4-FFF2-40B4-BE49-F238E27FC236}">
                <a16:creationId xmlns:a16="http://schemas.microsoft.com/office/drawing/2014/main" id="{8F8DBB47-6051-6963-8C2E-41E91A676E8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87891219"/>
              </p:ext>
            </p:extLst>
          </p:nvPr>
        </p:nvGraphicFramePr>
        <p:xfrm>
          <a:off x="4075768" y="2781849"/>
          <a:ext cx="5068231" cy="4064000"/>
        </p:xfrm>
        <a:graphic>
          <a:graphicData uri="http://schemas.openxmlformats.org/drawingml/2006/table">
            <a:tbl>
              <a:tblPr firstRow="1"/>
              <a:tblGrid>
                <a:gridCol w="1311696">
                  <a:extLst>
                    <a:ext uri="{9D8B030D-6E8A-4147-A177-3AD203B41FA5}">
                      <a16:colId xmlns:a16="http://schemas.microsoft.com/office/drawing/2014/main" val="1639822813"/>
                    </a:ext>
                  </a:extLst>
                </a:gridCol>
                <a:gridCol w="3756535">
                  <a:extLst>
                    <a:ext uri="{9D8B030D-6E8A-4147-A177-3AD203B41FA5}">
                      <a16:colId xmlns:a16="http://schemas.microsoft.com/office/drawing/2014/main" val="796191183"/>
                    </a:ext>
                  </a:extLst>
                </a:gridCol>
              </a:tblGrid>
              <a:tr h="6381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node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Adjacency List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889925"/>
                  </a:ext>
                </a:extLst>
              </a:tr>
              <a:tr h="571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B(8.7), F(3.8)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1588810"/>
                  </a:ext>
                </a:extLst>
              </a:tr>
              <a:tr h="5683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C(1.3), E(7.5)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3029709"/>
                  </a:ext>
                </a:extLst>
              </a:tr>
              <a:tr h="571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D(2.1)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937122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E(1.9)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048885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B(5.8), C(-5.0), D(3.1)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9165087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A(8.0), E(12.0)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22543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23439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AD906-B001-E87F-F9B8-79A747432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28600"/>
            <a:ext cx="8001000" cy="1086971"/>
          </a:xfrm>
        </p:spPr>
        <p:txBody>
          <a:bodyPr/>
          <a:lstStyle/>
          <a:p>
            <a:pPr algn="ctr"/>
            <a:r>
              <a:rPr lang="en-US" dirty="0"/>
              <a:t>Simple vs Non-simple Graphs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A3D846-829A-09B7-33A1-4C1219323773}"/>
              </a:ext>
            </a:extLst>
          </p:cNvPr>
          <p:cNvSpPr/>
          <p:nvPr/>
        </p:nvSpPr>
        <p:spPr>
          <a:xfrm>
            <a:off x="838200" y="1636129"/>
            <a:ext cx="78486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A </a:t>
            </a:r>
            <a:r>
              <a:rPr lang="en-US" sz="3200" b="1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simple graph</a:t>
            </a:r>
            <a:r>
              <a:rPr lang="en-US" sz="3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has no loops or </a:t>
            </a:r>
            <a:br>
              <a:rPr lang="en-US" sz="3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n-US" sz="3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multiple edges between nodes</a:t>
            </a:r>
            <a:endParaRPr lang="en-US" sz="3200" dirty="0"/>
          </a:p>
        </p:txBody>
      </p:sp>
      <p:pic>
        <p:nvPicPr>
          <p:cNvPr id="3" name="Picture 2" descr="SimpleGraph: This image shows an undirected graph with four vertices arranged as a rectangle, with edges connecting all pairs. No two nodes have more than one edge connecting them or loops connecting back to themselves. ">
            <a:extLst>
              <a:ext uri="{FF2B5EF4-FFF2-40B4-BE49-F238E27FC236}">
                <a16:creationId xmlns:a16="http://schemas.microsoft.com/office/drawing/2014/main" id="{76FF09C4-59FD-3DC1-C17D-4E5BD8B68D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45" t="42030" r="10541" b="23202"/>
          <a:stretch/>
        </p:blipFill>
        <p:spPr bwMode="auto">
          <a:xfrm>
            <a:off x="1310640" y="3307079"/>
            <a:ext cx="3153808" cy="2743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2" descr="This graph represents a multigraph (a.k.a. non-simple), as it includes multiple edges between a pair of vertices and because it has a loop. Either would have made it non-simple.">
            <a:extLst>
              <a:ext uri="{FF2B5EF4-FFF2-40B4-BE49-F238E27FC236}">
                <a16:creationId xmlns:a16="http://schemas.microsoft.com/office/drawing/2014/main" id="{EADFBF2C-AC03-494A-A62F-4506648A5A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01" t="42030" r="50948" b="23202"/>
          <a:stretch/>
        </p:blipFill>
        <p:spPr bwMode="auto">
          <a:xfrm>
            <a:off x="5082540" y="3271762"/>
            <a:ext cx="3749706" cy="27381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6169E67-8591-7992-6566-23078A5871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66283" y="-1260012"/>
            <a:ext cx="7772400" cy="1143000"/>
          </a:xfrm>
        </p:spPr>
        <p:txBody>
          <a:bodyPr/>
          <a:lstStyle/>
          <a:p>
            <a:r>
              <a:rPr lang="en-US" dirty="0"/>
              <a:t>Simple undirected graphs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F98179-362F-4165-8D9A-85D1CBE5C024}"/>
              </a:ext>
            </a:extLst>
          </p:cNvPr>
          <p:cNvSpPr/>
          <p:nvPr/>
        </p:nvSpPr>
        <p:spPr>
          <a:xfrm>
            <a:off x="825122" y="200514"/>
            <a:ext cx="813317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A </a:t>
            </a:r>
            <a:r>
              <a:rPr lang="en-US" sz="3200" b="1" dirty="0">
                <a:solidFill>
                  <a:srgbClr val="7030A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simple</a:t>
            </a:r>
            <a:r>
              <a:rPr lang="en-US" sz="3200" b="1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rgbClr val="7030A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undirected</a:t>
            </a:r>
            <a:r>
              <a:rPr lang="en-US" sz="3200" b="1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rgbClr val="7030A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graph</a:t>
            </a:r>
            <a:r>
              <a:rPr lang="en-US" sz="3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never has multiple links between a pair of vertices.</a:t>
            </a:r>
          </a:p>
          <a:p>
            <a:r>
              <a:rPr lang="en-US" sz="3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Nor does it have loops.</a:t>
            </a:r>
            <a:endParaRPr lang="en-US" sz="3200" dirty="0"/>
          </a:p>
        </p:txBody>
      </p:sp>
      <p:grpSp>
        <p:nvGrpSpPr>
          <p:cNvPr id="31" name="Group 30" descr="A simple undirected graph:&#10;Edges:&#10;{(5,11), (11,2), (11,7), (11,9), (7,8), (8,9), (8,3), (3,10)}">
            <a:extLst>
              <a:ext uri="{FF2B5EF4-FFF2-40B4-BE49-F238E27FC236}">
                <a16:creationId xmlns:a16="http://schemas.microsoft.com/office/drawing/2014/main" id="{D24143F3-05D2-B3D3-F46E-1CD6E50F729B}"/>
              </a:ext>
            </a:extLst>
          </p:cNvPr>
          <p:cNvGrpSpPr/>
          <p:nvPr/>
        </p:nvGrpSpPr>
        <p:grpSpPr>
          <a:xfrm>
            <a:off x="2002760" y="1896274"/>
            <a:ext cx="5228653" cy="4203972"/>
            <a:chOff x="2067339" y="1765689"/>
            <a:chExt cx="5228653" cy="4203972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CF0D250E-36B3-0901-A214-86F77CCD8098}"/>
                </a:ext>
              </a:extLst>
            </p:cNvPr>
            <p:cNvSpPr/>
            <p:nvPr/>
          </p:nvSpPr>
          <p:spPr bwMode="auto">
            <a:xfrm>
              <a:off x="2067339" y="1769165"/>
              <a:ext cx="815009" cy="815009"/>
            </a:xfrm>
            <a:prstGeom prst="ellipse">
              <a:avLst/>
            </a:prstGeom>
            <a:solidFill>
              <a:schemeClr val="bg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5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05A00DC-99A9-FE84-8649-95A8B4881D44}"/>
                </a:ext>
              </a:extLst>
            </p:cNvPr>
            <p:cNvSpPr/>
            <p:nvPr/>
          </p:nvSpPr>
          <p:spPr bwMode="auto">
            <a:xfrm>
              <a:off x="4209558" y="1767427"/>
              <a:ext cx="815009" cy="815009"/>
            </a:xfrm>
            <a:prstGeom prst="ellipse">
              <a:avLst/>
            </a:prstGeom>
            <a:solidFill>
              <a:schemeClr val="bg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7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7F42D8A-5CD7-21B7-C1F5-1FF240FA229A}"/>
                </a:ext>
              </a:extLst>
            </p:cNvPr>
            <p:cNvSpPr/>
            <p:nvPr/>
          </p:nvSpPr>
          <p:spPr bwMode="auto">
            <a:xfrm>
              <a:off x="6461106" y="1765689"/>
              <a:ext cx="815009" cy="815009"/>
            </a:xfrm>
            <a:prstGeom prst="ellipse">
              <a:avLst/>
            </a:prstGeom>
            <a:solidFill>
              <a:schemeClr val="bg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3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2EE3F24-07B7-67DA-17E5-161B34F233FB}"/>
                </a:ext>
              </a:extLst>
            </p:cNvPr>
            <p:cNvSpPr/>
            <p:nvPr/>
          </p:nvSpPr>
          <p:spPr bwMode="auto">
            <a:xfrm>
              <a:off x="2067339" y="3450219"/>
              <a:ext cx="815009" cy="815009"/>
            </a:xfrm>
            <a:prstGeom prst="ellipse">
              <a:avLst/>
            </a:prstGeom>
            <a:solidFill>
              <a:schemeClr val="bg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11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10E303E-05E5-ABFC-873B-8659645421FF}"/>
                </a:ext>
              </a:extLst>
            </p:cNvPr>
            <p:cNvSpPr/>
            <p:nvPr/>
          </p:nvSpPr>
          <p:spPr bwMode="auto">
            <a:xfrm>
              <a:off x="2067339" y="5131273"/>
              <a:ext cx="815009" cy="815009"/>
            </a:xfrm>
            <a:prstGeom prst="ellipse">
              <a:avLst/>
            </a:prstGeom>
            <a:solidFill>
              <a:schemeClr val="bg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2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A9957FD-B03B-68BC-C364-75BF87D05AF3}"/>
                </a:ext>
              </a:extLst>
            </p:cNvPr>
            <p:cNvSpPr/>
            <p:nvPr/>
          </p:nvSpPr>
          <p:spPr bwMode="auto">
            <a:xfrm>
              <a:off x="4219496" y="3450617"/>
              <a:ext cx="815009" cy="815009"/>
            </a:xfrm>
            <a:prstGeom prst="ellipse">
              <a:avLst/>
            </a:prstGeom>
            <a:solidFill>
              <a:schemeClr val="bg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8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77416E7-BEEC-A3B3-B406-8370ACE8B32B}"/>
                </a:ext>
              </a:extLst>
            </p:cNvPr>
            <p:cNvSpPr/>
            <p:nvPr/>
          </p:nvSpPr>
          <p:spPr bwMode="auto">
            <a:xfrm>
              <a:off x="4219100" y="5154652"/>
              <a:ext cx="815009" cy="815009"/>
            </a:xfrm>
            <a:prstGeom prst="ellipse">
              <a:avLst/>
            </a:prstGeom>
            <a:solidFill>
              <a:schemeClr val="bg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9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687EE45-66BA-E847-913A-A5ABD1DF5324}"/>
                </a:ext>
              </a:extLst>
            </p:cNvPr>
            <p:cNvSpPr/>
            <p:nvPr/>
          </p:nvSpPr>
          <p:spPr bwMode="auto">
            <a:xfrm>
              <a:off x="6480983" y="5154651"/>
              <a:ext cx="815009" cy="815009"/>
            </a:xfrm>
            <a:prstGeom prst="ellipse">
              <a:avLst/>
            </a:prstGeom>
            <a:solidFill>
              <a:schemeClr val="bg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10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01C7321-C1EE-1F5D-F241-33FA66775D4A}"/>
                </a:ext>
              </a:extLst>
            </p:cNvPr>
            <p:cNvCxnSpPr>
              <a:stCxn id="2" idx="4"/>
              <a:endCxn id="7" idx="0"/>
            </p:cNvCxnSpPr>
            <p:nvPr/>
          </p:nvCxnSpPr>
          <p:spPr bwMode="auto">
            <a:xfrm>
              <a:off x="2474844" y="2584174"/>
              <a:ext cx="0" cy="866045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838C2EA-0933-D534-5EF4-E6BF331FEBD7}"/>
                </a:ext>
              </a:extLst>
            </p:cNvPr>
            <p:cNvCxnSpPr>
              <a:stCxn id="5" idx="3"/>
              <a:endCxn id="7" idx="7"/>
            </p:cNvCxnSpPr>
            <p:nvPr/>
          </p:nvCxnSpPr>
          <p:spPr bwMode="auto">
            <a:xfrm flipH="1">
              <a:off x="2762993" y="2463081"/>
              <a:ext cx="1565920" cy="110649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EEEFF4C-DF52-7514-25E5-32FF23D799A1}"/>
                </a:ext>
              </a:extLst>
            </p:cNvPr>
            <p:cNvCxnSpPr>
              <a:cxnSpLocks/>
              <a:stCxn id="5" idx="4"/>
              <a:endCxn id="9" idx="0"/>
            </p:cNvCxnSpPr>
            <p:nvPr/>
          </p:nvCxnSpPr>
          <p:spPr bwMode="auto">
            <a:xfrm>
              <a:off x="4617063" y="2582436"/>
              <a:ext cx="9938" cy="86818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D35BAF8-A174-BFB4-1C3D-824922173C0E}"/>
                </a:ext>
              </a:extLst>
            </p:cNvPr>
            <p:cNvCxnSpPr>
              <a:stCxn id="7" idx="4"/>
              <a:endCxn id="8" idx="0"/>
            </p:cNvCxnSpPr>
            <p:nvPr/>
          </p:nvCxnSpPr>
          <p:spPr bwMode="auto">
            <a:xfrm>
              <a:off x="2474844" y="4265228"/>
              <a:ext cx="0" cy="866045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C6B2309-C976-5701-4806-FCFFC051E24F}"/>
                </a:ext>
              </a:extLst>
            </p:cNvPr>
            <p:cNvCxnSpPr>
              <a:stCxn id="7" idx="5"/>
              <a:endCxn id="10" idx="1"/>
            </p:cNvCxnSpPr>
            <p:nvPr/>
          </p:nvCxnSpPr>
          <p:spPr bwMode="auto">
            <a:xfrm>
              <a:off x="2762993" y="4145873"/>
              <a:ext cx="1575462" cy="1128134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C980631-7DDF-D81C-D9CE-FA50C04F720F}"/>
                </a:ext>
              </a:extLst>
            </p:cNvPr>
            <p:cNvCxnSpPr>
              <a:endCxn id="10" idx="0"/>
            </p:cNvCxnSpPr>
            <p:nvPr/>
          </p:nvCxnSpPr>
          <p:spPr bwMode="auto">
            <a:xfrm>
              <a:off x="4617062" y="4273800"/>
              <a:ext cx="9543" cy="88085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AE1CE91-5701-F638-0933-EF64F580C78F}"/>
                </a:ext>
              </a:extLst>
            </p:cNvPr>
            <p:cNvCxnSpPr>
              <a:stCxn id="6" idx="3"/>
              <a:endCxn id="9" idx="7"/>
            </p:cNvCxnSpPr>
            <p:nvPr/>
          </p:nvCxnSpPr>
          <p:spPr bwMode="auto">
            <a:xfrm flipH="1">
              <a:off x="4915150" y="2461343"/>
              <a:ext cx="1665311" cy="1108629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9A20C33-3FEF-E13D-C334-3A7714A9F077}"/>
                </a:ext>
              </a:extLst>
            </p:cNvPr>
            <p:cNvCxnSpPr>
              <a:stCxn id="6" idx="4"/>
              <a:endCxn id="11" idx="0"/>
            </p:cNvCxnSpPr>
            <p:nvPr/>
          </p:nvCxnSpPr>
          <p:spPr bwMode="auto">
            <a:xfrm>
              <a:off x="6868611" y="2580698"/>
              <a:ext cx="19877" cy="257395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C54400A-03B8-BA27-9E8F-F8C97DF855F2}"/>
                </a:ext>
              </a:extLst>
            </p:cNvPr>
            <p:cNvCxnSpPr>
              <a:cxnSpLocks/>
              <a:stCxn id="7" idx="5"/>
              <a:endCxn id="11" idx="1"/>
            </p:cNvCxnSpPr>
            <p:nvPr/>
          </p:nvCxnSpPr>
          <p:spPr bwMode="auto">
            <a:xfrm>
              <a:off x="2762993" y="4145873"/>
              <a:ext cx="3837345" cy="1128133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044AA281-4D31-F6A4-68A8-EE47712BE046}"/>
              </a:ext>
            </a:extLst>
          </p:cNvPr>
          <p:cNvSpPr/>
          <p:nvPr/>
        </p:nvSpPr>
        <p:spPr>
          <a:xfrm>
            <a:off x="2239601" y="6226346"/>
            <a:ext cx="655651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Note that this is an </a:t>
            </a:r>
            <a:r>
              <a:rPr lang="en-US" sz="2800" b="1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unweighted graph.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828048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0BB99436-4891-ACDB-B190-30B1D23173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76010" y="-1297084"/>
            <a:ext cx="7772400" cy="1143000"/>
          </a:xfrm>
        </p:spPr>
        <p:txBody>
          <a:bodyPr/>
          <a:lstStyle/>
          <a:p>
            <a:r>
              <a:rPr lang="en-US" dirty="0"/>
              <a:t>Non-simple undirected graphs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F98179-362F-4165-8D9A-85D1CBE5C024}"/>
              </a:ext>
            </a:extLst>
          </p:cNvPr>
          <p:cNvSpPr/>
          <p:nvPr/>
        </p:nvSpPr>
        <p:spPr>
          <a:xfrm>
            <a:off x="825122" y="200514"/>
            <a:ext cx="813317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A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non-simple undirected</a:t>
            </a:r>
            <a:r>
              <a:rPr lang="en-US" sz="2800" b="1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graph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never has multiple links between a pair of vertices.</a:t>
            </a:r>
          </a:p>
          <a:p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Nor does it have loops. </a:t>
            </a:r>
            <a:endParaRPr lang="en-US" sz="2800" dirty="0"/>
          </a:p>
        </p:txBody>
      </p:sp>
      <p:grpSp>
        <p:nvGrpSpPr>
          <p:cNvPr id="4" name="Group 3" descr="A non-simple undirected graph:&#10;Edges:&#10;{(5,11), (11,11), (11,2), (11,7), (11,9), (7,8), (8,9), (8,3), (3,10), (3,10)}&#10;Notice that (11,11) is a loop and edge (3,10) appears twice.">
            <a:extLst>
              <a:ext uri="{FF2B5EF4-FFF2-40B4-BE49-F238E27FC236}">
                <a16:creationId xmlns:a16="http://schemas.microsoft.com/office/drawing/2014/main" id="{6AEEB695-3A6E-E1B5-D020-96ABA0F9A929}"/>
              </a:ext>
            </a:extLst>
          </p:cNvPr>
          <p:cNvGrpSpPr/>
          <p:nvPr/>
        </p:nvGrpSpPr>
        <p:grpSpPr>
          <a:xfrm>
            <a:off x="1557391" y="1664743"/>
            <a:ext cx="5783749" cy="4203972"/>
            <a:chOff x="1557391" y="1664743"/>
            <a:chExt cx="5783749" cy="4203972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8CA5A26-F4F7-726E-4324-900ECA700DBD}"/>
                </a:ext>
              </a:extLst>
            </p:cNvPr>
            <p:cNvGrpSpPr/>
            <p:nvPr/>
          </p:nvGrpSpPr>
          <p:grpSpPr>
            <a:xfrm>
              <a:off x="2112487" y="1664743"/>
              <a:ext cx="5228653" cy="4203972"/>
              <a:chOff x="2112487" y="1664743"/>
              <a:chExt cx="5228653" cy="4203972"/>
            </a:xfrm>
          </p:grpSpPr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CF0D250E-36B3-0901-A214-86F77CCD8098}"/>
                  </a:ext>
                </a:extLst>
              </p:cNvPr>
              <p:cNvSpPr/>
              <p:nvPr/>
            </p:nvSpPr>
            <p:spPr bwMode="auto">
              <a:xfrm>
                <a:off x="2112487" y="1668219"/>
                <a:ext cx="815009" cy="815009"/>
              </a:xfrm>
              <a:prstGeom prst="ellipse">
                <a:avLst/>
              </a:prstGeom>
              <a:solidFill>
                <a:schemeClr val="bg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5</a:t>
                </a:r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205A00DC-99A9-FE84-8649-95A8B4881D44}"/>
                  </a:ext>
                </a:extLst>
              </p:cNvPr>
              <p:cNvSpPr/>
              <p:nvPr/>
            </p:nvSpPr>
            <p:spPr bwMode="auto">
              <a:xfrm>
                <a:off x="4254706" y="1666481"/>
                <a:ext cx="815009" cy="815009"/>
              </a:xfrm>
              <a:prstGeom prst="ellipse">
                <a:avLst/>
              </a:prstGeom>
              <a:solidFill>
                <a:schemeClr val="bg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7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7F42D8A-5CD7-21B7-C1F5-1FF240FA229A}"/>
                  </a:ext>
                </a:extLst>
              </p:cNvPr>
              <p:cNvSpPr/>
              <p:nvPr/>
            </p:nvSpPr>
            <p:spPr bwMode="auto">
              <a:xfrm>
                <a:off x="6506254" y="1664743"/>
                <a:ext cx="815009" cy="815009"/>
              </a:xfrm>
              <a:prstGeom prst="ellipse">
                <a:avLst/>
              </a:prstGeom>
              <a:solidFill>
                <a:schemeClr val="bg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3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B2EE3F24-07B7-67DA-17E5-161B34F233FB}"/>
                  </a:ext>
                </a:extLst>
              </p:cNvPr>
              <p:cNvSpPr/>
              <p:nvPr/>
            </p:nvSpPr>
            <p:spPr bwMode="auto">
              <a:xfrm>
                <a:off x="2112487" y="3349273"/>
                <a:ext cx="815009" cy="815009"/>
              </a:xfrm>
              <a:prstGeom prst="ellipse">
                <a:avLst/>
              </a:prstGeom>
              <a:solidFill>
                <a:schemeClr val="bg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11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D10E303E-05E5-ABFC-873B-8659645421FF}"/>
                  </a:ext>
                </a:extLst>
              </p:cNvPr>
              <p:cNvSpPr/>
              <p:nvPr/>
            </p:nvSpPr>
            <p:spPr bwMode="auto">
              <a:xfrm>
                <a:off x="2112487" y="5030327"/>
                <a:ext cx="815009" cy="815009"/>
              </a:xfrm>
              <a:prstGeom prst="ellipse">
                <a:avLst/>
              </a:prstGeom>
              <a:solidFill>
                <a:schemeClr val="bg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2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AA9957FD-B03B-68BC-C364-75BF87D05AF3}"/>
                  </a:ext>
                </a:extLst>
              </p:cNvPr>
              <p:cNvSpPr/>
              <p:nvPr/>
            </p:nvSpPr>
            <p:spPr bwMode="auto">
              <a:xfrm>
                <a:off x="4264644" y="3349671"/>
                <a:ext cx="815009" cy="815009"/>
              </a:xfrm>
              <a:prstGeom prst="ellipse">
                <a:avLst/>
              </a:prstGeom>
              <a:solidFill>
                <a:schemeClr val="bg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8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477416E7-BEEC-A3B3-B406-8370ACE8B32B}"/>
                  </a:ext>
                </a:extLst>
              </p:cNvPr>
              <p:cNvSpPr/>
              <p:nvPr/>
            </p:nvSpPr>
            <p:spPr bwMode="auto">
              <a:xfrm>
                <a:off x="4264248" y="5053706"/>
                <a:ext cx="815009" cy="815009"/>
              </a:xfrm>
              <a:prstGeom prst="ellipse">
                <a:avLst/>
              </a:prstGeom>
              <a:solidFill>
                <a:schemeClr val="bg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9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6687EE45-66BA-E847-913A-A5ABD1DF5324}"/>
                  </a:ext>
                </a:extLst>
              </p:cNvPr>
              <p:cNvSpPr/>
              <p:nvPr/>
            </p:nvSpPr>
            <p:spPr bwMode="auto">
              <a:xfrm>
                <a:off x="6526131" y="5053705"/>
                <a:ext cx="815009" cy="815009"/>
              </a:xfrm>
              <a:prstGeom prst="ellipse">
                <a:avLst/>
              </a:prstGeom>
              <a:solidFill>
                <a:schemeClr val="bg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10</a:t>
                </a:r>
              </a:p>
            </p:txBody>
          </p: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501C7321-C1EE-1F5D-F241-33FA66775D4A}"/>
                  </a:ext>
                </a:extLst>
              </p:cNvPr>
              <p:cNvCxnSpPr>
                <a:stCxn id="2" idx="4"/>
                <a:endCxn id="7" idx="0"/>
              </p:cNvCxnSpPr>
              <p:nvPr/>
            </p:nvCxnSpPr>
            <p:spPr bwMode="auto">
              <a:xfrm>
                <a:off x="2519992" y="2483228"/>
                <a:ext cx="0" cy="866045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E838C2EA-0933-D534-5EF4-E6BF331FEBD7}"/>
                  </a:ext>
                </a:extLst>
              </p:cNvPr>
              <p:cNvCxnSpPr>
                <a:stCxn id="5" idx="3"/>
                <a:endCxn id="7" idx="7"/>
              </p:cNvCxnSpPr>
              <p:nvPr/>
            </p:nvCxnSpPr>
            <p:spPr bwMode="auto">
              <a:xfrm flipH="1">
                <a:off x="2808141" y="2362135"/>
                <a:ext cx="1565920" cy="1106493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8EEEFF4C-DF52-7514-25E5-32FF23D799A1}"/>
                  </a:ext>
                </a:extLst>
              </p:cNvPr>
              <p:cNvCxnSpPr>
                <a:cxnSpLocks/>
                <a:stCxn id="5" idx="4"/>
                <a:endCxn id="9" idx="0"/>
              </p:cNvCxnSpPr>
              <p:nvPr/>
            </p:nvCxnSpPr>
            <p:spPr bwMode="auto">
              <a:xfrm>
                <a:off x="4662211" y="2481490"/>
                <a:ext cx="9938" cy="868181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BD35BAF8-A174-BFB4-1C3D-824922173C0E}"/>
                  </a:ext>
                </a:extLst>
              </p:cNvPr>
              <p:cNvCxnSpPr>
                <a:stCxn id="7" idx="4"/>
                <a:endCxn id="8" idx="0"/>
              </p:cNvCxnSpPr>
              <p:nvPr/>
            </p:nvCxnSpPr>
            <p:spPr bwMode="auto">
              <a:xfrm>
                <a:off x="2519992" y="4164282"/>
                <a:ext cx="0" cy="866045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CC6B2309-C976-5701-4806-FCFFC051E24F}"/>
                  </a:ext>
                </a:extLst>
              </p:cNvPr>
              <p:cNvCxnSpPr>
                <a:stCxn id="7" idx="5"/>
                <a:endCxn id="10" idx="1"/>
              </p:cNvCxnSpPr>
              <p:nvPr/>
            </p:nvCxnSpPr>
            <p:spPr bwMode="auto">
              <a:xfrm>
                <a:off x="2808141" y="4044927"/>
                <a:ext cx="1575462" cy="1128134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AC980631-7DDF-D81C-D9CE-FA50C04F720F}"/>
                  </a:ext>
                </a:extLst>
              </p:cNvPr>
              <p:cNvCxnSpPr>
                <a:endCxn id="10" idx="0"/>
              </p:cNvCxnSpPr>
              <p:nvPr/>
            </p:nvCxnSpPr>
            <p:spPr bwMode="auto">
              <a:xfrm>
                <a:off x="4662210" y="4172854"/>
                <a:ext cx="9543" cy="880852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AAE1CE91-5701-F638-0933-EF64F580C78F}"/>
                  </a:ext>
                </a:extLst>
              </p:cNvPr>
              <p:cNvCxnSpPr>
                <a:stCxn id="6" idx="3"/>
                <a:endCxn id="9" idx="7"/>
              </p:cNvCxnSpPr>
              <p:nvPr/>
            </p:nvCxnSpPr>
            <p:spPr bwMode="auto">
              <a:xfrm flipH="1">
                <a:off x="4960298" y="2360397"/>
                <a:ext cx="1665311" cy="1108629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39A20C33-3FEF-E13D-C334-3A7714A9F077}"/>
                  </a:ext>
                </a:extLst>
              </p:cNvPr>
              <p:cNvCxnSpPr>
                <a:stCxn id="6" idx="4"/>
                <a:endCxn id="11" idx="0"/>
              </p:cNvCxnSpPr>
              <p:nvPr/>
            </p:nvCxnSpPr>
            <p:spPr bwMode="auto">
              <a:xfrm>
                <a:off x="6913759" y="2479752"/>
                <a:ext cx="19877" cy="2573953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0C54400A-03B8-BA27-9E8F-F8C97DF855F2}"/>
                  </a:ext>
                </a:extLst>
              </p:cNvPr>
              <p:cNvCxnSpPr>
                <a:stCxn id="7" idx="5"/>
                <a:endCxn id="11" idx="1"/>
              </p:cNvCxnSpPr>
              <p:nvPr/>
            </p:nvCxnSpPr>
            <p:spPr bwMode="auto">
              <a:xfrm>
                <a:off x="2808141" y="4044927"/>
                <a:ext cx="3837345" cy="1128133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62A5514A-34AF-AA0F-3169-C6ADA4645EEA}"/>
                  </a:ext>
                </a:extLst>
              </p:cNvPr>
              <p:cNvSpPr/>
              <p:nvPr/>
            </p:nvSpPr>
            <p:spPr bwMode="auto">
              <a:xfrm>
                <a:off x="6987209" y="2484783"/>
                <a:ext cx="89526" cy="2568922"/>
              </a:xfrm>
              <a:custGeom>
                <a:avLst/>
                <a:gdLst>
                  <a:gd name="connsiteX0" fmla="*/ 0 w 89526"/>
                  <a:gd name="connsiteY0" fmla="*/ 0 h 2604052"/>
                  <a:gd name="connsiteX1" fmla="*/ 49695 w 89526"/>
                  <a:gd name="connsiteY1" fmla="*/ 457200 h 2604052"/>
                  <a:gd name="connsiteX2" fmla="*/ 89452 w 89526"/>
                  <a:gd name="connsiteY2" fmla="*/ 1321904 h 2604052"/>
                  <a:gd name="connsiteX3" fmla="*/ 39756 w 89526"/>
                  <a:gd name="connsiteY3" fmla="*/ 2196547 h 2604052"/>
                  <a:gd name="connsiteX4" fmla="*/ 0 w 89526"/>
                  <a:gd name="connsiteY4" fmla="*/ 2604052 h 260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526" h="2604052">
                    <a:moveTo>
                      <a:pt x="0" y="0"/>
                    </a:moveTo>
                    <a:cubicBezTo>
                      <a:pt x="17393" y="118441"/>
                      <a:pt x="34786" y="236883"/>
                      <a:pt x="49695" y="457200"/>
                    </a:cubicBezTo>
                    <a:cubicBezTo>
                      <a:pt x="64604" y="677517"/>
                      <a:pt x="91108" y="1032013"/>
                      <a:pt x="89452" y="1321904"/>
                    </a:cubicBezTo>
                    <a:cubicBezTo>
                      <a:pt x="87796" y="1611795"/>
                      <a:pt x="54665" y="1982856"/>
                      <a:pt x="39756" y="2196547"/>
                    </a:cubicBezTo>
                    <a:cubicBezTo>
                      <a:pt x="24847" y="2410238"/>
                      <a:pt x="12423" y="2507145"/>
                      <a:pt x="0" y="2604052"/>
                    </a:cubicBezTo>
                  </a:path>
                </a:pathLst>
              </a:custGeom>
              <a:noFill/>
              <a:ln w="1905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endParaRPr>
              </a:p>
            </p:txBody>
          </p:sp>
        </p:grp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3697EE1-83D9-16B1-0ACE-88C2869915E0}"/>
                </a:ext>
              </a:extLst>
            </p:cNvPr>
            <p:cNvSpPr/>
            <p:nvPr/>
          </p:nvSpPr>
          <p:spPr bwMode="auto">
            <a:xfrm rot="796684">
              <a:off x="1557391" y="3152184"/>
              <a:ext cx="725540" cy="473993"/>
            </a:xfrm>
            <a:custGeom>
              <a:avLst/>
              <a:gdLst>
                <a:gd name="connsiteX0" fmla="*/ 520731 w 520731"/>
                <a:gd name="connsiteY0" fmla="*/ 229217 h 582839"/>
                <a:gd name="connsiteX1" fmla="*/ 461096 w 520731"/>
                <a:gd name="connsiteY1" fmla="*/ 80130 h 582839"/>
                <a:gd name="connsiteX2" fmla="*/ 252374 w 520731"/>
                <a:gd name="connsiteY2" fmla="*/ 617 h 582839"/>
                <a:gd name="connsiteX3" fmla="*/ 53592 w 520731"/>
                <a:gd name="connsiteY3" fmla="*/ 119886 h 582839"/>
                <a:gd name="connsiteX4" fmla="*/ 3896 w 520731"/>
                <a:gd name="connsiteY4" fmla="*/ 358425 h 582839"/>
                <a:gd name="connsiteX5" fmla="*/ 133105 w 520731"/>
                <a:gd name="connsiteY5" fmla="*/ 557208 h 582839"/>
                <a:gd name="connsiteX6" fmla="*/ 361705 w 520731"/>
                <a:gd name="connsiteY6" fmla="*/ 577086 h 582839"/>
                <a:gd name="connsiteX7" fmla="*/ 441218 w 520731"/>
                <a:gd name="connsiteY7" fmla="*/ 527391 h 582839"/>
                <a:gd name="connsiteX8" fmla="*/ 451157 w 520731"/>
                <a:gd name="connsiteY8" fmla="*/ 527391 h 582839"/>
                <a:gd name="connsiteX9" fmla="*/ 451157 w 520731"/>
                <a:gd name="connsiteY9" fmla="*/ 527391 h 58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20731" h="582839">
                  <a:moveTo>
                    <a:pt x="520731" y="229217"/>
                  </a:moveTo>
                  <a:cubicBezTo>
                    <a:pt x="513276" y="173723"/>
                    <a:pt x="505822" y="118230"/>
                    <a:pt x="461096" y="80130"/>
                  </a:cubicBezTo>
                  <a:cubicBezTo>
                    <a:pt x="416370" y="42030"/>
                    <a:pt x="320291" y="-6009"/>
                    <a:pt x="252374" y="617"/>
                  </a:cubicBezTo>
                  <a:cubicBezTo>
                    <a:pt x="184457" y="7243"/>
                    <a:pt x="95005" y="60251"/>
                    <a:pt x="53592" y="119886"/>
                  </a:cubicBezTo>
                  <a:cubicBezTo>
                    <a:pt x="12179" y="179521"/>
                    <a:pt x="-9356" y="285538"/>
                    <a:pt x="3896" y="358425"/>
                  </a:cubicBezTo>
                  <a:cubicBezTo>
                    <a:pt x="17148" y="431312"/>
                    <a:pt x="73470" y="520765"/>
                    <a:pt x="133105" y="557208"/>
                  </a:cubicBezTo>
                  <a:cubicBezTo>
                    <a:pt x="192740" y="593651"/>
                    <a:pt x="310353" y="582056"/>
                    <a:pt x="361705" y="577086"/>
                  </a:cubicBezTo>
                  <a:cubicBezTo>
                    <a:pt x="413057" y="572117"/>
                    <a:pt x="441218" y="527391"/>
                    <a:pt x="441218" y="527391"/>
                  </a:cubicBezTo>
                  <a:cubicBezTo>
                    <a:pt x="456127" y="519109"/>
                    <a:pt x="451157" y="527391"/>
                    <a:pt x="451157" y="527391"/>
                  </a:cubicBezTo>
                  <a:lnTo>
                    <a:pt x="451157" y="527391"/>
                  </a:lnTo>
                </a:path>
              </a:pathLst>
            </a:custGeom>
            <a:noFill/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044AA281-4D31-F6A4-68A8-EE47712BE046}"/>
              </a:ext>
            </a:extLst>
          </p:cNvPr>
          <p:cNvSpPr/>
          <p:nvPr/>
        </p:nvSpPr>
        <p:spPr>
          <a:xfrm>
            <a:off x="1682041" y="6046958"/>
            <a:ext cx="655651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Note that this is an </a:t>
            </a:r>
            <a:r>
              <a:rPr lang="en-US" sz="2800" b="1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unweighted graph.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476866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7BA3270-D9A0-78D3-3AF7-A6BA81184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78803" y="-1324804"/>
            <a:ext cx="7772400" cy="1143000"/>
          </a:xfrm>
        </p:spPr>
        <p:txBody>
          <a:bodyPr/>
          <a:lstStyle/>
          <a:p>
            <a:r>
              <a:rPr lang="en-US" dirty="0"/>
              <a:t>Simple directed graphs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F98179-362F-4165-8D9A-85D1CBE5C024}"/>
              </a:ext>
            </a:extLst>
          </p:cNvPr>
          <p:cNvSpPr/>
          <p:nvPr/>
        </p:nvSpPr>
        <p:spPr>
          <a:xfrm>
            <a:off x="1355035" y="231254"/>
            <a:ext cx="78486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A </a:t>
            </a:r>
            <a:r>
              <a:rPr lang="en-US" sz="2800" b="1" dirty="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simple</a:t>
            </a:r>
            <a:r>
              <a:rPr lang="en-US" sz="2800" b="1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800" b="1" u="sng" dirty="0">
                <a:solidFill>
                  <a:srgbClr val="008000"/>
                </a:solidFill>
                <a:latin typeface="Arial" panose="020B0604020202020204" pitchFamily="34" charset="0"/>
              </a:rPr>
              <a:t>directed</a:t>
            </a:r>
            <a:r>
              <a:rPr lang="en-US" sz="2800" b="1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008000"/>
                </a:solidFill>
                <a:latin typeface="Arial" panose="020B0604020202020204" pitchFamily="34" charset="0"/>
              </a:rPr>
              <a:t>graph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has no multiple arrows </a:t>
            </a:r>
            <a:r>
              <a:rPr lang="en-US" sz="2800" u="sng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with same source and target nodes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lang="en-US" sz="2800" dirty="0"/>
          </a:p>
        </p:txBody>
      </p:sp>
      <p:grpSp>
        <p:nvGrpSpPr>
          <p:cNvPr id="2" name="Group 1" descr="A simple directed graph:&#10;Edges:&#10;{(5,11), (11,2), (11,7), (11,9), (7,8), (8,9), (8,3), (3,10)}">
            <a:extLst>
              <a:ext uri="{FF2B5EF4-FFF2-40B4-BE49-F238E27FC236}">
                <a16:creationId xmlns:a16="http://schemas.microsoft.com/office/drawing/2014/main" id="{30EEA521-3B18-2ED9-4BC8-85BC89CFE29A}"/>
              </a:ext>
            </a:extLst>
          </p:cNvPr>
          <p:cNvGrpSpPr/>
          <p:nvPr/>
        </p:nvGrpSpPr>
        <p:grpSpPr>
          <a:xfrm>
            <a:off x="1937174" y="1448043"/>
            <a:ext cx="5498924" cy="4419600"/>
            <a:chOff x="1937174" y="1448043"/>
            <a:chExt cx="5498924" cy="4419600"/>
          </a:xfrm>
        </p:grpSpPr>
        <p:pic>
          <p:nvPicPr>
            <p:cNvPr id="10242" name="Picture 2">
              <a:extLst>
                <a:ext uri="{FF2B5EF4-FFF2-40B4-BE49-F238E27FC236}">
                  <a16:creationId xmlns:a16="http://schemas.microsoft.com/office/drawing/2014/main" id="{89578853-F977-4648-B583-D71A0E43EC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37174" y="1448043"/>
              <a:ext cx="5498924" cy="4419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8474E6C-8065-4897-9DD7-CF314FC1EAD8}"/>
                </a:ext>
              </a:extLst>
            </p:cNvPr>
            <p:cNvSpPr/>
            <p:nvPr/>
          </p:nvSpPr>
          <p:spPr bwMode="auto">
            <a:xfrm>
              <a:off x="6980922" y="2352386"/>
              <a:ext cx="253855" cy="2530699"/>
            </a:xfrm>
            <a:custGeom>
              <a:avLst/>
              <a:gdLst>
                <a:gd name="connsiteX0" fmla="*/ 51515 w 253855"/>
                <a:gd name="connsiteY0" fmla="*/ 2530699 h 2530699"/>
                <a:gd name="connsiteX1" fmla="*/ 141667 w 253855"/>
                <a:gd name="connsiteY1" fmla="*/ 2279561 h 2530699"/>
                <a:gd name="connsiteX2" fmla="*/ 231819 w 253855"/>
                <a:gd name="connsiteY2" fmla="*/ 1539025 h 2530699"/>
                <a:gd name="connsiteX3" fmla="*/ 251138 w 253855"/>
                <a:gd name="connsiteY3" fmla="*/ 991673 h 2530699"/>
                <a:gd name="connsiteX4" fmla="*/ 186743 w 253855"/>
                <a:gd name="connsiteY4" fmla="*/ 476518 h 2530699"/>
                <a:gd name="connsiteX5" fmla="*/ 0 w 253855"/>
                <a:gd name="connsiteY5" fmla="*/ 0 h 2530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3855" h="2530699">
                  <a:moveTo>
                    <a:pt x="51515" y="2530699"/>
                  </a:moveTo>
                  <a:cubicBezTo>
                    <a:pt x="81565" y="2487769"/>
                    <a:pt x="111616" y="2444840"/>
                    <a:pt x="141667" y="2279561"/>
                  </a:cubicBezTo>
                  <a:cubicBezTo>
                    <a:pt x="171718" y="2114282"/>
                    <a:pt x="213574" y="1753673"/>
                    <a:pt x="231819" y="1539025"/>
                  </a:cubicBezTo>
                  <a:cubicBezTo>
                    <a:pt x="250064" y="1324377"/>
                    <a:pt x="258651" y="1168757"/>
                    <a:pt x="251138" y="991673"/>
                  </a:cubicBezTo>
                  <a:cubicBezTo>
                    <a:pt x="243625" y="814589"/>
                    <a:pt x="228599" y="641797"/>
                    <a:pt x="186743" y="476518"/>
                  </a:cubicBezTo>
                  <a:cubicBezTo>
                    <a:pt x="144887" y="311239"/>
                    <a:pt x="72443" y="155619"/>
                    <a:pt x="0" y="0"/>
                  </a:cubicBezTo>
                </a:path>
              </a:pathLst>
            </a:custGeom>
            <a:noFill/>
            <a:ln w="381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Times New Roman" pitchFamily="18" charset="0"/>
              </a:endParaRP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0709BF73-6175-2CC1-2A3C-99FCD22CD1B7}"/>
              </a:ext>
            </a:extLst>
          </p:cNvPr>
          <p:cNvSpPr/>
          <p:nvPr/>
        </p:nvSpPr>
        <p:spPr>
          <a:xfrm>
            <a:off x="1613452" y="5868715"/>
            <a:ext cx="655651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Note that this is an </a:t>
            </a:r>
            <a:r>
              <a:rPr lang="en-US" sz="2800" b="1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unweighted graph.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821160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3206153-19CE-DD8C-63A3-3D11DCC5D2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85800" y="-1332185"/>
            <a:ext cx="7772400" cy="1143000"/>
          </a:xfrm>
        </p:spPr>
        <p:txBody>
          <a:bodyPr/>
          <a:lstStyle/>
          <a:p>
            <a:r>
              <a:rPr lang="en-US" dirty="0"/>
              <a:t>Non-simple directed graphs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F98179-362F-4165-8D9A-85D1CBE5C024}"/>
              </a:ext>
            </a:extLst>
          </p:cNvPr>
          <p:cNvSpPr/>
          <p:nvPr/>
        </p:nvSpPr>
        <p:spPr>
          <a:xfrm>
            <a:off x="1295400" y="274785"/>
            <a:ext cx="78486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A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non-simple</a:t>
            </a:r>
            <a:r>
              <a:rPr lang="en-US" sz="2800" b="1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800" b="1" u="sng" dirty="0">
                <a:solidFill>
                  <a:srgbClr val="C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directed</a:t>
            </a:r>
            <a:r>
              <a:rPr lang="en-US" sz="2800" b="1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</a:rPr>
              <a:t>graph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has multiple arrows with same source and target nodes.</a:t>
            </a:r>
            <a:endParaRPr lang="en-US" sz="2800" dirty="0"/>
          </a:p>
        </p:txBody>
      </p:sp>
      <p:grpSp>
        <p:nvGrpSpPr>
          <p:cNvPr id="6" name="Group 5" descr="A non-simple directed graph:&#10;Edges:&#10;{(5,11), (11,2), (11,9), (7,11), (7,8), (8,9), (3,8), (3,10), (3,10)}&#10;Notice that edge (3,10) appears twice.">
            <a:extLst>
              <a:ext uri="{FF2B5EF4-FFF2-40B4-BE49-F238E27FC236}">
                <a16:creationId xmlns:a16="http://schemas.microsoft.com/office/drawing/2014/main" id="{9BAC3EEB-8AF5-4050-F6B1-37E95A5C0E7C}"/>
              </a:ext>
            </a:extLst>
          </p:cNvPr>
          <p:cNvGrpSpPr/>
          <p:nvPr/>
        </p:nvGrpSpPr>
        <p:grpSpPr>
          <a:xfrm>
            <a:off x="1937174" y="1449115"/>
            <a:ext cx="5498924" cy="4419600"/>
            <a:chOff x="1937174" y="1548507"/>
            <a:chExt cx="5498924" cy="4419600"/>
          </a:xfrm>
        </p:grpSpPr>
        <p:pic>
          <p:nvPicPr>
            <p:cNvPr id="10242" name="Picture 2">
              <a:extLst>
                <a:ext uri="{FF2B5EF4-FFF2-40B4-BE49-F238E27FC236}">
                  <a16:creationId xmlns:a16="http://schemas.microsoft.com/office/drawing/2014/main" id="{89578853-F977-4648-B583-D71A0E43EC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37174" y="1548507"/>
              <a:ext cx="5498924" cy="4419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8474E6C-8065-4897-9DD7-CF314FC1EAD8}"/>
                </a:ext>
              </a:extLst>
            </p:cNvPr>
            <p:cNvSpPr/>
            <p:nvPr/>
          </p:nvSpPr>
          <p:spPr bwMode="auto">
            <a:xfrm flipV="1">
              <a:off x="7041881" y="2355573"/>
              <a:ext cx="253855" cy="2638293"/>
            </a:xfrm>
            <a:custGeom>
              <a:avLst/>
              <a:gdLst>
                <a:gd name="connsiteX0" fmla="*/ 51515 w 253855"/>
                <a:gd name="connsiteY0" fmla="*/ 2530699 h 2530699"/>
                <a:gd name="connsiteX1" fmla="*/ 141667 w 253855"/>
                <a:gd name="connsiteY1" fmla="*/ 2279561 h 2530699"/>
                <a:gd name="connsiteX2" fmla="*/ 231819 w 253855"/>
                <a:gd name="connsiteY2" fmla="*/ 1539025 h 2530699"/>
                <a:gd name="connsiteX3" fmla="*/ 251138 w 253855"/>
                <a:gd name="connsiteY3" fmla="*/ 991673 h 2530699"/>
                <a:gd name="connsiteX4" fmla="*/ 186743 w 253855"/>
                <a:gd name="connsiteY4" fmla="*/ 476518 h 2530699"/>
                <a:gd name="connsiteX5" fmla="*/ 0 w 253855"/>
                <a:gd name="connsiteY5" fmla="*/ 0 h 2530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3855" h="2530699">
                  <a:moveTo>
                    <a:pt x="51515" y="2530699"/>
                  </a:moveTo>
                  <a:cubicBezTo>
                    <a:pt x="81565" y="2487769"/>
                    <a:pt x="111616" y="2444840"/>
                    <a:pt x="141667" y="2279561"/>
                  </a:cubicBezTo>
                  <a:cubicBezTo>
                    <a:pt x="171718" y="2114282"/>
                    <a:pt x="213574" y="1753673"/>
                    <a:pt x="231819" y="1539025"/>
                  </a:cubicBezTo>
                  <a:cubicBezTo>
                    <a:pt x="250064" y="1324377"/>
                    <a:pt x="258651" y="1168757"/>
                    <a:pt x="251138" y="991673"/>
                  </a:cubicBezTo>
                  <a:cubicBezTo>
                    <a:pt x="243625" y="814589"/>
                    <a:pt x="228599" y="641797"/>
                    <a:pt x="186743" y="476518"/>
                  </a:cubicBezTo>
                  <a:cubicBezTo>
                    <a:pt x="144887" y="311239"/>
                    <a:pt x="72443" y="155619"/>
                    <a:pt x="0" y="0"/>
                  </a:cubicBezTo>
                </a:path>
              </a:pathLst>
            </a:custGeom>
            <a:noFill/>
            <a:ln w="381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87F0055A-1BFF-AD4D-591F-CA0DC05B5665}"/>
              </a:ext>
            </a:extLst>
          </p:cNvPr>
          <p:cNvSpPr/>
          <p:nvPr/>
        </p:nvSpPr>
        <p:spPr>
          <a:xfrm>
            <a:off x="1613452" y="5868715"/>
            <a:ext cx="655651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Note that this is an </a:t>
            </a:r>
            <a:r>
              <a:rPr lang="en-US" sz="2800" b="1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unweighted graph.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9229243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3922115-7ED9-3828-9C75-9E931266DCE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83643" y="147249"/>
            <a:ext cx="8560357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gency FB" panose="020B0503020202020204" pitchFamily="34" charset="0"/>
                <a:ea typeface="STHupo" panose="02010800040101010101" pitchFamily="2" charset="-122"/>
                <a:cs typeface="Arial" panose="020B0604020202020204" pitchFamily="34" charset="0"/>
              </a:rPr>
              <a:t>Connected/Disconnected Graphs &amp; Components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7E3967-380C-AB1A-9937-D6552AEE23CD}"/>
              </a:ext>
            </a:extLst>
          </p:cNvPr>
          <p:cNvSpPr txBox="1"/>
          <p:nvPr/>
        </p:nvSpPr>
        <p:spPr>
          <a:xfrm>
            <a:off x="1025912" y="1002348"/>
            <a:ext cx="788948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Abadi" panose="020B0604020104020204" pitchFamily="34" charset="0"/>
                <a:ea typeface="STHupo" panose="02010800040101010101" pitchFamily="2" charset="-122"/>
              </a:rPr>
              <a:t>A graph is connected if there is a </a:t>
            </a:r>
            <a:br>
              <a:rPr lang="en-US" sz="3600" dirty="0">
                <a:latin typeface="Abadi" panose="020B0604020104020204" pitchFamily="34" charset="0"/>
                <a:ea typeface="STHupo" panose="02010800040101010101" pitchFamily="2" charset="-122"/>
              </a:rPr>
            </a:br>
            <a:r>
              <a:rPr lang="en-US" sz="3600" dirty="0">
                <a:latin typeface="Abadi" panose="020B0604020104020204" pitchFamily="34" charset="0"/>
                <a:ea typeface="STHupo" panose="02010800040101010101" pitchFamily="2" charset="-122"/>
              </a:rPr>
              <a:t>path between any two vertices. In a disconnected graph the various connected pieces of a are called components of the graph.</a:t>
            </a:r>
          </a:p>
        </p:txBody>
      </p:sp>
      <p:pic>
        <p:nvPicPr>
          <p:cNvPr id="1026" name="Picture 2" descr="See the source image">
            <a:extLst>
              <a:ext uri="{FF2B5EF4-FFF2-40B4-BE49-F238E27FC236}">
                <a16:creationId xmlns:a16="http://schemas.microsoft.com/office/drawing/2014/main" id="{89AB2FCB-E8C4-47BD-8B74-8414457BA7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7" t="49115" r="50873" b="11111"/>
          <a:stretch/>
        </p:blipFill>
        <p:spPr bwMode="auto">
          <a:xfrm>
            <a:off x="834407" y="3865092"/>
            <a:ext cx="3882559" cy="2727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AF0789C-FD6C-412E-8F3D-83487D0C2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8001000" y="5562600"/>
            <a:ext cx="914400" cy="609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pic>
        <p:nvPicPr>
          <p:cNvPr id="5" name="Picture 2" descr="See the source image">
            <a:extLst>
              <a:ext uri="{FF2B5EF4-FFF2-40B4-BE49-F238E27FC236}">
                <a16:creationId xmlns:a16="http://schemas.microsoft.com/office/drawing/2014/main" id="{AE964768-8933-521B-3124-26FAB02453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43" t="49115" r="11016" b="15203"/>
          <a:stretch/>
        </p:blipFill>
        <p:spPr bwMode="auto">
          <a:xfrm>
            <a:off x="5820937" y="4061174"/>
            <a:ext cx="3094462" cy="2447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6135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4088EA4-E047-98D7-7604-76ACDA973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85800" y="-1305576"/>
            <a:ext cx="7772400" cy="1143000"/>
          </a:xfrm>
        </p:spPr>
        <p:txBody>
          <a:bodyPr/>
          <a:lstStyle/>
          <a:p>
            <a:r>
              <a:rPr lang="en-US" dirty="0"/>
              <a:t>Practice classifying a graph</a:t>
            </a: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1139994B-73D7-4AB7-8E13-C60036ACF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4501" y="171027"/>
            <a:ext cx="7696200" cy="52322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2F5496"/>
                </a:solidFill>
                <a:effectLst/>
                <a:latin typeface="Comic Sans MS" panose="030F0702030302020204" pitchFamily="66" charset="0"/>
              </a:rPr>
              <a:t>Classify the graph: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8A19E84F-4EC8-675D-1CC7-C6A50B526E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981" y="865274"/>
            <a:ext cx="7952728" cy="52322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lang="en-US" altLang="en-US" sz="2800" b="1" dirty="0">
                <a:solidFill>
                  <a:srgbClr val="2F5496"/>
                </a:solidFill>
                <a:latin typeface="Comic Sans MS" panose="030F0702030302020204" pitchFamily="66" charset="0"/>
              </a:rPr>
              <a:t> </a:t>
            </a:r>
            <a:r>
              <a:rPr lang="en-US" altLang="en-US" sz="1800" b="1" dirty="0">
                <a:solidFill>
                  <a:srgbClr val="2F5496"/>
                </a:solidFill>
                <a:latin typeface="Comic Sans MS" panose="030F0702030302020204" pitchFamily="66" charset="0"/>
              </a:rPr>
              <a:t>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2F5496"/>
                </a:solidFill>
                <a:effectLst/>
                <a:latin typeface="Comic Sans MS" panose="030F0702030302020204" pitchFamily="66" charset="0"/>
              </a:rPr>
              <a:t> simple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2F5496"/>
                </a:solidFill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2F5496"/>
                </a:solidFill>
                <a:effectLst/>
                <a:latin typeface="Comic Sans MS" panose="030F0702030302020204" pitchFamily="66" charset="0"/>
              </a:rPr>
              <a:t> </a:t>
            </a:r>
            <a:r>
              <a:rPr lang="en-US" altLang="en-US" sz="2800" b="1" dirty="0">
                <a:solidFill>
                  <a:srgbClr val="2F5496"/>
                </a:solidFill>
                <a:latin typeface="Comic Sans MS" panose="030F0702030302020204" pitchFamily="66" charset="0"/>
              </a:rPr>
              <a:t> </a:t>
            </a:r>
            <a:r>
              <a:rPr lang="en-US" altLang="en-US" sz="2000" b="1" dirty="0">
                <a:solidFill>
                  <a:srgbClr val="2F5496"/>
                </a:solidFill>
                <a:latin typeface="Comic Sans MS" panose="030F0702030302020204" pitchFamily="66" charset="0"/>
              </a:rPr>
              <a:t> </a:t>
            </a:r>
            <a:r>
              <a:rPr lang="en-US" altLang="en-US" sz="2800" b="1" dirty="0">
                <a:solidFill>
                  <a:srgbClr val="2F5496"/>
                </a:solidFill>
                <a:latin typeface="Comic Sans MS" panose="030F0702030302020204" pitchFamily="66" charset="0"/>
              </a:rPr>
              <a:t>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2F5496"/>
                </a:solidFill>
                <a:effectLst/>
                <a:latin typeface="Comic Sans MS" panose="030F0702030302020204" pitchFamily="66" charset="0"/>
              </a:rPr>
              <a:t>directed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2F5496"/>
                </a:solidFill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2F5496"/>
                </a:solidFill>
                <a:effectLst/>
                <a:latin typeface="Comic Sans MS" panose="030F0702030302020204" pitchFamily="66" charset="0"/>
              </a:rPr>
              <a:t>   weighted    cyclic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04FA207E-63F9-E167-46E8-3455AAF99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9679" y="1388494"/>
            <a:ext cx="8155944" cy="52322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2F5496"/>
                </a:solidFill>
                <a:effectLst/>
                <a:latin typeface="Comic Sans MS" panose="030F0702030302020204" pitchFamily="66" charset="0"/>
              </a:rPr>
              <a:t>non-simple  undirected  unweighted  acyclic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1AA239-0D6D-6416-5807-5C314D49C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879679" y="1463040"/>
            <a:ext cx="1951574" cy="44867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837482-473B-A1CC-17F6-A80605F55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2891771" y="902547"/>
            <a:ext cx="1951574" cy="44867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6DC26E-C89F-92BA-EBF8-2D6454C386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120609" y="1463040"/>
            <a:ext cx="1951574" cy="44867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078E9A-E8EC-8A92-7C64-65CD032398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7192426" y="1449489"/>
            <a:ext cx="1951574" cy="44867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5E4413-28CC-34C7-2ABE-91D22D3D7D0F}"/>
              </a:ext>
            </a:extLst>
          </p:cNvPr>
          <p:cNvSpPr txBox="1"/>
          <p:nvPr/>
        </p:nvSpPr>
        <p:spPr>
          <a:xfrm>
            <a:off x="6623573" y="2001379"/>
            <a:ext cx="2412050" cy="1313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2F5496"/>
                </a:solidFill>
                <a:effectLst/>
                <a:latin typeface="Comic Sans MS" panose="030F0702030302020204" pitchFamily="66" charset="0"/>
              </a:rPr>
              <a:t>connected</a:t>
            </a:r>
          </a:p>
          <a:p>
            <a:pPr>
              <a:lnSpc>
                <a:spcPct val="150000"/>
              </a:lnSpc>
            </a:pPr>
            <a:r>
              <a:rPr lang="en-US" altLang="en-US" sz="2800" b="1" dirty="0">
                <a:solidFill>
                  <a:srgbClr val="2F5496"/>
                </a:solidFill>
                <a:latin typeface="Comic Sans MS" panose="030F0702030302020204" pitchFamily="66" charset="0"/>
              </a:rPr>
              <a:t>disconnected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rgbClr val="2F5496"/>
              </a:solidFill>
              <a:effectLst/>
              <a:latin typeface="Comic Sans MS" panose="030F0702030302020204" pitchFamily="66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553935D-D88C-9A8F-EA62-E407EF6BD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6623573" y="2192007"/>
            <a:ext cx="1951574" cy="44867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grpSp>
        <p:nvGrpSpPr>
          <p:cNvPr id="15" name="Group 14" descr="This image depicts an undirected (a.k.a. bidirectional), weighted graph where nodes represent characters and edges represent distances between them (in meters). &#10;Edges:&#10;{(SpongeBob, Patrick, 2m), (SpongeBob, Gary, 1m), (SpongeBob, Mr. Krabs, 12m), (Patrick, Gary, 4m), (Patrick, Karen, 43m), (Karen, Gary, 55m), (Karen, Plankton, 3m), (Plankton, Gary, 5m), (Mr. Krabs, Fish 1, 23m)}&#10;Nodes: all above plus Fish 2 which is not connected to others.&#10;&#10;Verbal description:&#10;- SpongeBob is connected to:&#10;  - Patrick (2 meters)&#10;  - Gary (1 meter)&#10;  - Mr. Krabs (12 meters)&#10;&#10;- Patrick is connected to:&#10;  - SpongeBob (2 meters)&#10;  - Karen (43 meters)&#10;  - Gary (4 meters)&#10;&#10;- Gary is connected to:&#10;  - SpongeBob (1 meter)&#10;  - Patrick (4 meters)&#10;  - Karen (55 meters)&#10;  - Plankton (5 meters)&#10;&#10;- Mr. Krabs is connected to:&#10;  - SpongeBob (12 meters)&#10;  - Fish 1 (23 meters)&#10;&#10;- Fish 1 is connected to:&#10;  - Mr. Krabs (23 meters)&#10;&#10;- Karen is connected to:&#10;  - Patrick (43 meters)&#10;  - Plankton (3 meters)&#10;  - Gary (55 meters)&#10;&#10;- Plankton is connected to:&#10;  - Karen (3 meters)&#10;  - Gary (5 meters)&#10;&#10;- Fish 2 is not connected to any other node.">
            <a:extLst>
              <a:ext uri="{FF2B5EF4-FFF2-40B4-BE49-F238E27FC236}">
                <a16:creationId xmlns:a16="http://schemas.microsoft.com/office/drawing/2014/main" id="{32DD52F1-CDDF-2D02-BE5A-1AEC6F229BD7}"/>
              </a:ext>
            </a:extLst>
          </p:cNvPr>
          <p:cNvGrpSpPr/>
          <p:nvPr/>
        </p:nvGrpSpPr>
        <p:grpSpPr>
          <a:xfrm>
            <a:off x="685800" y="2228590"/>
            <a:ext cx="5513554" cy="4612683"/>
            <a:chOff x="685800" y="2228590"/>
            <a:chExt cx="5513554" cy="4612683"/>
          </a:xfrm>
        </p:grpSpPr>
        <p:pic>
          <p:nvPicPr>
            <p:cNvPr id="2050" name="Picture 2" descr="This image depicts an undirected (a.k.a. bidirectional), weighted graph where nodes represent characters and edges represent distances between them (in meters). &#10;Edges:&#10;{(SpongeBob, Patrick, 2m), (SpongeBob, Gary, 1m), (SpongeBob, Mr. Krabs, 12m), (Patrick, Gary, 4m), (Patrick, Karen, 43m), (Karen, Gary, 55m), (Karen, Plankton, 3m), (Mr. Krabs, Fish 1, 23m)}&#10;Nodes: all above plus Fish 2 which is not connected to others.&#10;&#10;Verbal description:&#10;- SpongeBob is connected to:&#10;  - Patrick (2 meters)&#10;  - Gary (1 meter)&#10;  - Mr. Krabs (12 meters)&#10;&#10;- Patrick is connected to:&#10;  - SpongeBob (2 meters)&#10;  - Karen (43 meters)&#10;  - Gary (4 meters)&#10;&#10;- Gary is connected to:&#10;  - SpongeBob (1 meter)&#10;  - Patrick (4 meters)&#10;  - Karen (55 meters)&#10;&#10;- Mr. Krabs is connected to:&#10;  - SpongeBob (12 meters)&#10;  - Fish 1 (23 meters)&#10;&#10;- Fish 1 is connected to:&#10;  - Mr. Krabs (23 meters)&#10;&#10;- Karen is connected to:&#10;  - Patrick (43 meters)&#10;  - Plankton (3 meters)&#10;  - Gary (55 meters)&#10;&#10;- Plankton is connected to:&#10;  - Karen (3 meters)&#10;&#10;- Fish 2 is not connected to any other node.">
              <a:extLst>
                <a:ext uri="{FF2B5EF4-FFF2-40B4-BE49-F238E27FC236}">
                  <a16:creationId xmlns:a16="http://schemas.microsoft.com/office/drawing/2014/main" id="{DEBE3A29-AAB7-4A23-BDDA-DC865CD2CF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303" r="5588" b="2919"/>
            <a:stretch>
              <a:fillRect/>
            </a:stretch>
          </p:blipFill>
          <p:spPr bwMode="auto">
            <a:xfrm>
              <a:off x="685800" y="2228590"/>
              <a:ext cx="5513554" cy="46126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A418EAC-527F-C1FD-6D86-31BED14506C4}"/>
                </a:ext>
              </a:extLst>
            </p:cNvPr>
            <p:cNvSpPr/>
            <p:nvPr/>
          </p:nvSpPr>
          <p:spPr bwMode="auto">
            <a:xfrm>
              <a:off x="2568251" y="3989907"/>
              <a:ext cx="2254622" cy="1140893"/>
            </a:xfrm>
            <a:custGeom>
              <a:avLst/>
              <a:gdLst>
                <a:gd name="connsiteX0" fmla="*/ 0 w 2776653"/>
                <a:gd name="connsiteY0" fmla="*/ 0 h 1405053"/>
                <a:gd name="connsiteX1" fmla="*/ 334536 w 2776653"/>
                <a:gd name="connsiteY1" fmla="*/ 167268 h 1405053"/>
                <a:gd name="connsiteX2" fmla="*/ 1025912 w 2776653"/>
                <a:gd name="connsiteY2" fmla="*/ 412595 h 1405053"/>
                <a:gd name="connsiteX3" fmla="*/ 1973766 w 2776653"/>
                <a:gd name="connsiteY3" fmla="*/ 758283 h 1405053"/>
                <a:gd name="connsiteX4" fmla="*/ 2442117 w 2776653"/>
                <a:gd name="connsiteY4" fmla="*/ 1148575 h 1405053"/>
                <a:gd name="connsiteX5" fmla="*/ 2776653 w 2776653"/>
                <a:gd name="connsiteY5" fmla="*/ 1405053 h 1405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76653" h="1405053">
                  <a:moveTo>
                    <a:pt x="0" y="0"/>
                  </a:moveTo>
                  <a:cubicBezTo>
                    <a:pt x="81775" y="49251"/>
                    <a:pt x="163551" y="98502"/>
                    <a:pt x="334536" y="167268"/>
                  </a:cubicBezTo>
                  <a:cubicBezTo>
                    <a:pt x="505521" y="236034"/>
                    <a:pt x="1025912" y="412595"/>
                    <a:pt x="1025912" y="412595"/>
                  </a:cubicBezTo>
                  <a:cubicBezTo>
                    <a:pt x="1299117" y="511097"/>
                    <a:pt x="1737732" y="635620"/>
                    <a:pt x="1973766" y="758283"/>
                  </a:cubicBezTo>
                  <a:cubicBezTo>
                    <a:pt x="2209800" y="880946"/>
                    <a:pt x="2308303" y="1040780"/>
                    <a:pt x="2442117" y="1148575"/>
                  </a:cubicBezTo>
                  <a:cubicBezTo>
                    <a:pt x="2575931" y="1256370"/>
                    <a:pt x="2676292" y="1330711"/>
                    <a:pt x="2776653" y="1405053"/>
                  </a:cubicBezTo>
                </a:path>
              </a:pathLst>
            </a:cu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3ED9DBA7-FA49-9287-4865-8BE5DBF95D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27643" y="4438217"/>
              <a:ext cx="244357" cy="20363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85679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4088EA4-E047-98D7-7604-76ACDA973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85800" y="-1305576"/>
            <a:ext cx="7772400" cy="1143000"/>
          </a:xfrm>
        </p:spPr>
        <p:txBody>
          <a:bodyPr/>
          <a:lstStyle/>
          <a:p>
            <a:r>
              <a:rPr lang="en-US" dirty="0"/>
              <a:t>Practice classifying a graph</a:t>
            </a: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1139994B-73D7-4AB7-8E13-C60036ACF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8745" y="289932"/>
            <a:ext cx="7935323" cy="138499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2F5496"/>
                </a:solidFill>
                <a:effectLst/>
                <a:latin typeface="Comic Sans MS" panose="030F0702030302020204" pitchFamily="66" charset="0"/>
              </a:rPr>
              <a:t>If Fish 2 was removed, it would be a s</a:t>
            </a:r>
            <a:r>
              <a:rPr lang="en-US" altLang="en-US" sz="2800" b="1" dirty="0">
                <a:solidFill>
                  <a:srgbClr val="2F5496"/>
                </a:solidFill>
                <a:latin typeface="Comic Sans MS" panose="030F0702030302020204" pitchFamily="66" charset="0"/>
              </a:rPr>
              <a:t>imple connected graph, which is the type of graph we’ll typically study.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6" name="Group 15" descr="This image depicts an undirected (a.k.a. bidirectional), weighted graph where nodes represent characters and edges represent distances between them (in meters). &#10;Edges:&#10;{(SpongeBob, Patrick, 2m), (SpongeBob, Gary, 1m), (SpongeBob, Mr. Krabs, 12m), (Patrick, Gary, 4m), (Patrick, Karen, 43m), (Karen, Gary, 55m), (Karen, Plankton, 3m), (Plankton, Gary, 5m), (Mr. Krabs, Fish 1, 23m)}&#10;&#10;Verbal description:&#10;- SpongeBob is connected to:&#10;  - Patrick (2 meters)&#10;  - Gary (1 meter)&#10;  - Mr. Krabs (12 meters)&#10;&#10;- Patrick is connected to:&#10;  - SpongeBob (2 meters)&#10;  - Karen (43 meters)&#10;  - Gary (4 meters)&#10;&#10;- Gary is connected to:&#10;  - SpongeBob (1 meter)&#10;  - Patrick (4 meters)&#10;  - Karen (55 meters)&#10;  - Plankton (5 meters)&#10;&#10;- Mr. Krabs is connected to:&#10;  - SpongeBob (12 meters)&#10;  - Fish 1 (23 meters)&#10;&#10;- Fish 1 is connected to:&#10;  - Mr. Krabs (23 meters)&#10;&#10;- Karen is connected to:&#10;  - Patrick (43 meters)&#10;  - Plankton (3 meters)&#10;  - Gary (55 meters)&#10;&#10;- Plankton is connected to:&#10;  - Karen (3 meters)&#10;  - Gary (5 meters)">
            <a:extLst>
              <a:ext uri="{FF2B5EF4-FFF2-40B4-BE49-F238E27FC236}">
                <a16:creationId xmlns:a16="http://schemas.microsoft.com/office/drawing/2014/main" id="{DC7A1B28-9B86-45D6-32DC-4BA5F37D84CE}"/>
              </a:ext>
            </a:extLst>
          </p:cNvPr>
          <p:cNvGrpSpPr/>
          <p:nvPr/>
        </p:nvGrpSpPr>
        <p:grpSpPr>
          <a:xfrm>
            <a:off x="1346039" y="2023710"/>
            <a:ext cx="6953123" cy="4544358"/>
            <a:chOff x="1346039" y="2023710"/>
            <a:chExt cx="6953123" cy="4544358"/>
          </a:xfrm>
        </p:grpSpPr>
        <p:pic>
          <p:nvPicPr>
            <p:cNvPr id="2050" name="Picture 2" descr="This image depicts an undirected (a.k.a. bidirectional), weighted graph where nodes represent characters and edges represent distances between them (in meters). &#10;Edges:&#10;{(SpongeBob, Patrick, 2m), (SpongeBob, Gary, 1m), (SpongeBob, Mr. Krabs, 12m), (Patrick, Gary, 4m), (Patrick, Karen, 43m), (Karen, Gary, 55m), (Karen, Plankton, 3m), (Plankton, Gary, 5m), (Mr. Krabs, Fish 1, 23m)}&#10;&#10;Verbal description:&#10;- SpongeBob is connected to:&#10;  - Patrick (2 meters)&#10;  - Gary (1 meter)&#10;  - Mr. Krabs (12 meters)&#10;&#10;- Patrick is connected to:&#10;  - SpongeBob (2 meters)&#10;  - Karen (43 meters)&#10;  - Gary (4 meters)&#10;&#10;- Gary is connected to:&#10;  - SpongeBob (1 meter)&#10;  - Patrick (4 meters)&#10;  - Karen (55 meters)&#10;  - Plankton (5 meters)&#10;&#10;- Mr. Krabs is connected to:&#10;  - SpongeBob (12 meters)&#10;  - Fish 1 (23 meters)&#10;&#10;- Fish 1 is connected to:&#10;  - Mr. Krabs (23 meters)&#10;&#10;- Karen is connected to:&#10;  - Patrick (43 meters)&#10;  - Plankton (3 meters)&#10;  - Gary (55 meters)&#10;&#10;- Plankton is connected to:&#10;  - Karen (3 meters)&#10;  - Gary (5 meters)">
              <a:extLst>
                <a:ext uri="{FF2B5EF4-FFF2-40B4-BE49-F238E27FC236}">
                  <a16:creationId xmlns:a16="http://schemas.microsoft.com/office/drawing/2014/main" id="{DEBE3A29-AAB7-4A23-BDDA-DC865CD2CF8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303" r="5588" b="24159"/>
            <a:stretch/>
          </p:blipFill>
          <p:spPr bwMode="auto">
            <a:xfrm>
              <a:off x="1346039" y="2023710"/>
              <a:ext cx="6953123" cy="45443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A7984DF4-F2CF-F1FD-7EE2-FAC2CAD70D67}"/>
                </a:ext>
              </a:extLst>
            </p:cNvPr>
            <p:cNvSpPr/>
            <p:nvPr/>
          </p:nvSpPr>
          <p:spPr bwMode="auto">
            <a:xfrm>
              <a:off x="3746810" y="4248615"/>
              <a:ext cx="2776653" cy="1405053"/>
            </a:xfrm>
            <a:custGeom>
              <a:avLst/>
              <a:gdLst>
                <a:gd name="connsiteX0" fmla="*/ 0 w 2776653"/>
                <a:gd name="connsiteY0" fmla="*/ 0 h 1405053"/>
                <a:gd name="connsiteX1" fmla="*/ 334536 w 2776653"/>
                <a:gd name="connsiteY1" fmla="*/ 167268 h 1405053"/>
                <a:gd name="connsiteX2" fmla="*/ 1025912 w 2776653"/>
                <a:gd name="connsiteY2" fmla="*/ 412595 h 1405053"/>
                <a:gd name="connsiteX3" fmla="*/ 1973766 w 2776653"/>
                <a:gd name="connsiteY3" fmla="*/ 758283 h 1405053"/>
                <a:gd name="connsiteX4" fmla="*/ 2442117 w 2776653"/>
                <a:gd name="connsiteY4" fmla="*/ 1148575 h 1405053"/>
                <a:gd name="connsiteX5" fmla="*/ 2776653 w 2776653"/>
                <a:gd name="connsiteY5" fmla="*/ 1405053 h 1405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76653" h="1405053">
                  <a:moveTo>
                    <a:pt x="0" y="0"/>
                  </a:moveTo>
                  <a:cubicBezTo>
                    <a:pt x="81775" y="49251"/>
                    <a:pt x="163551" y="98502"/>
                    <a:pt x="334536" y="167268"/>
                  </a:cubicBezTo>
                  <a:cubicBezTo>
                    <a:pt x="505521" y="236034"/>
                    <a:pt x="1025912" y="412595"/>
                    <a:pt x="1025912" y="412595"/>
                  </a:cubicBezTo>
                  <a:cubicBezTo>
                    <a:pt x="1299117" y="511097"/>
                    <a:pt x="1737732" y="635620"/>
                    <a:pt x="1973766" y="758283"/>
                  </a:cubicBezTo>
                  <a:cubicBezTo>
                    <a:pt x="2209800" y="880946"/>
                    <a:pt x="2308303" y="1040780"/>
                    <a:pt x="2442117" y="1148575"/>
                  </a:cubicBezTo>
                  <a:cubicBezTo>
                    <a:pt x="2575931" y="1256370"/>
                    <a:pt x="2676292" y="1330711"/>
                    <a:pt x="2776653" y="1405053"/>
                  </a:cubicBezTo>
                </a:path>
              </a:pathLst>
            </a:cu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8E205C3D-1818-D4D8-1F0A-0D5DC49969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07728" y="4798741"/>
              <a:ext cx="300935" cy="2507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832624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91A75D7-86A5-ADE5-6FA6-FEB6CBA4A1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85800" y="-1337582"/>
            <a:ext cx="7772400" cy="1143000"/>
          </a:xfrm>
        </p:spPr>
        <p:txBody>
          <a:bodyPr/>
          <a:lstStyle/>
          <a:p>
            <a:r>
              <a:rPr lang="en-US" sz="4000" dirty="0"/>
              <a:t>Cyclic Graphs and Cycle Graphs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0E8E12-E4D6-40D2-BB74-F40D65063E0D}"/>
              </a:ext>
            </a:extLst>
          </p:cNvPr>
          <p:cNvSpPr/>
          <p:nvPr/>
        </p:nvSpPr>
        <p:spPr>
          <a:xfrm>
            <a:off x="995679" y="204692"/>
            <a:ext cx="756877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240" marR="0" algn="ctr">
              <a:spcBef>
                <a:spcPts val="0"/>
              </a:spcBef>
              <a:spcAft>
                <a:spcPts val="0"/>
              </a:spcAft>
            </a:pPr>
            <a:r>
              <a:rPr lang="en-US" sz="3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A </a:t>
            </a:r>
            <a:r>
              <a:rPr lang="en-US" sz="3200" b="1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cyclic graph</a:t>
            </a:r>
            <a:r>
              <a:rPr lang="en-US" sz="3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3200" u="sng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contains</a:t>
            </a:r>
            <a:r>
              <a:rPr lang="en-US" sz="3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a cycle.</a:t>
            </a:r>
            <a:endParaRPr lang="en-US" sz="4000" dirty="0">
              <a:ea typeface="Times New Roman" panose="02020603050405020304" pitchFamily="18" charset="0"/>
            </a:endParaRPr>
          </a:p>
        </p:txBody>
      </p:sp>
      <p:pic>
        <p:nvPicPr>
          <p:cNvPr id="4098" name="Picture 2" descr="An undirected graph:&#10;Adjacency list:&#10;a : f&#10;b : c, e, h&#10;c : b, d, f&#10;d : c, e&#10;e : b, d&#10;f : a, g&#10;g : f&#10;h : b&#10;The graph is cyclic because the walk bcde is a cycle.">
            <a:extLst>
              <a:ext uri="{FF2B5EF4-FFF2-40B4-BE49-F238E27FC236}">
                <a16:creationId xmlns:a16="http://schemas.microsoft.com/office/drawing/2014/main" id="{BAA4C94D-8255-46E7-ADD5-4A5F7CAA80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504" y="907017"/>
            <a:ext cx="4284068" cy="2838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 descr="A directed graph:&#10;A : B&#10;B : C&#10;C : D&#10;D : E, F&#10;E : B&#10;F : none&#10;The graph is cyclic because of cycle BCDE.">
            <a:extLst>
              <a:ext uri="{FF2B5EF4-FFF2-40B4-BE49-F238E27FC236}">
                <a16:creationId xmlns:a16="http://schemas.microsoft.com/office/drawing/2014/main" id="{6D1CB03D-4821-024A-CD97-ED22EE9AB891}"/>
              </a:ext>
            </a:extLst>
          </p:cNvPr>
          <p:cNvGrpSpPr/>
          <p:nvPr/>
        </p:nvGrpSpPr>
        <p:grpSpPr>
          <a:xfrm>
            <a:off x="4504809" y="1281999"/>
            <a:ext cx="4532473" cy="2454885"/>
            <a:chOff x="3505200" y="3681212"/>
            <a:chExt cx="5346168" cy="2895600"/>
          </a:xfrm>
        </p:grpSpPr>
        <p:pic>
          <p:nvPicPr>
            <p:cNvPr id="3076" name="Picture 4">
              <a:extLst>
                <a:ext uri="{FF2B5EF4-FFF2-40B4-BE49-F238E27FC236}">
                  <a16:creationId xmlns:a16="http://schemas.microsoft.com/office/drawing/2014/main" id="{F5AF548D-38A9-47BF-A81C-9BE9864F52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05200" y="3681212"/>
              <a:ext cx="5346168" cy="2895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429C7A68-210E-44AC-8773-53FEC4D85A7C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5841644" y="4256468"/>
              <a:ext cx="514080" cy="582766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7F7F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78232D2-5D89-4796-8243-7F2F2C34295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832242" y="4301544"/>
              <a:ext cx="478196" cy="537690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7F7F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7E34F410-3B84-438B-B4FF-7C8822A56BEB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6815138" y="5310188"/>
              <a:ext cx="478631" cy="561975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7F7F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C00015C9-381C-4CB7-8DCE-EFF40C2A22C5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5841644" y="5310188"/>
              <a:ext cx="496356" cy="561975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7F7F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4CD014F5-2F22-4851-C77F-9ABF609ADC1C}"/>
              </a:ext>
            </a:extLst>
          </p:cNvPr>
          <p:cNvSpPr/>
          <p:nvPr/>
        </p:nvSpPr>
        <p:spPr>
          <a:xfrm>
            <a:off x="978744" y="3854435"/>
            <a:ext cx="789153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240" marR="0">
              <a:spcBef>
                <a:spcPts val="0"/>
              </a:spcBef>
              <a:spcAft>
                <a:spcPts val="0"/>
              </a:spcAft>
            </a:pPr>
            <a:r>
              <a:rPr lang="en-US" sz="3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A </a:t>
            </a:r>
            <a:r>
              <a:rPr lang="en-US" sz="3200" b="1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circular graph </a:t>
            </a:r>
            <a:r>
              <a:rPr lang="en-US" sz="3200" u="sng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is</a:t>
            </a:r>
            <a:r>
              <a:rPr lang="en-US" sz="3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a cycle.</a:t>
            </a:r>
            <a:endParaRPr lang="en-US" sz="4000" dirty="0">
              <a:ea typeface="Times New Roman" panose="02020603050405020304" pitchFamily="18" charset="0"/>
            </a:endParaRPr>
          </a:p>
        </p:txBody>
      </p:sp>
      <p:pic>
        <p:nvPicPr>
          <p:cNvPr id="5" name="Picture 2" descr="A cycle/circular graph is a cycle. I.e. it contains one cycle, and that cycle traverses all of the vertices.&#10;Three examples are shown.&#10;Graph 1 contains three nodes and is drawn as a triangle:&#10;A : B&#10;B : C&#10;C : A&#10;Cycle ABCA traverses all nodes, so it's a cycle graph.&#10;Graph 2 is composed of four nodes and is drawn as a square. You can start at any node and traverse all of them, ending up back at your starting node, so it's also a cycle graph.&#10;The third graph contains five node and is drawn as a pentagon. It's also a cycle graph.">
            <a:extLst>
              <a:ext uri="{FF2B5EF4-FFF2-40B4-BE49-F238E27FC236}">
                <a16:creationId xmlns:a16="http://schemas.microsoft.com/office/drawing/2014/main" id="{34202338-936E-2FB7-636B-106F87560F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625"/>
          <a:stretch/>
        </p:blipFill>
        <p:spPr bwMode="auto">
          <a:xfrm>
            <a:off x="978744" y="4556760"/>
            <a:ext cx="7696200" cy="2410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2288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91A75D7-86A5-ADE5-6FA6-FEB6CBA4A1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85800" y="-1337582"/>
            <a:ext cx="7772400" cy="1143000"/>
          </a:xfrm>
        </p:spPr>
        <p:txBody>
          <a:bodyPr/>
          <a:lstStyle/>
          <a:p>
            <a:r>
              <a:rPr lang="en-US" sz="4000" dirty="0"/>
              <a:t>Cyclic Graphs and Cycle Graphs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0E8E12-E4D6-40D2-BB74-F40D65063E0D}"/>
              </a:ext>
            </a:extLst>
          </p:cNvPr>
          <p:cNvSpPr/>
          <p:nvPr/>
        </p:nvSpPr>
        <p:spPr>
          <a:xfrm>
            <a:off x="995679" y="204692"/>
            <a:ext cx="756877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240" marR="0" algn="ctr">
              <a:spcBef>
                <a:spcPts val="0"/>
              </a:spcBef>
              <a:spcAft>
                <a:spcPts val="0"/>
              </a:spcAft>
            </a:pPr>
            <a:r>
              <a:rPr lang="en-US" sz="3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An </a:t>
            </a:r>
            <a:r>
              <a:rPr lang="en-US" sz="3200" b="1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acyclic graph</a:t>
            </a:r>
            <a:r>
              <a:rPr lang="en-US" sz="3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3200" u="sng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contains</a:t>
            </a:r>
            <a:r>
              <a:rPr lang="en-US" sz="3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no cycles.</a:t>
            </a:r>
            <a:endParaRPr lang="en-US" sz="4000" dirty="0">
              <a:ea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D014F5-2F22-4851-C77F-9ABF609ADC1C}"/>
              </a:ext>
            </a:extLst>
          </p:cNvPr>
          <p:cNvSpPr/>
          <p:nvPr/>
        </p:nvSpPr>
        <p:spPr>
          <a:xfrm>
            <a:off x="834299" y="5776145"/>
            <a:ext cx="789153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240" marR="0" algn="ctr">
              <a:spcBef>
                <a:spcPts val="0"/>
              </a:spcBef>
              <a:spcAft>
                <a:spcPts val="0"/>
              </a:spcAft>
            </a:pPr>
            <a:r>
              <a:rPr lang="en-US" sz="36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It’s also known as a </a:t>
            </a:r>
            <a:r>
              <a:rPr lang="en-US" sz="3600" b="1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tree</a:t>
            </a:r>
            <a:r>
              <a:rPr lang="en-US" sz="36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lang="en-US" sz="4400" dirty="0">
              <a:ea typeface="Times New Roman" panose="02020603050405020304" pitchFamily="18" charset="0"/>
            </a:endParaRPr>
          </a:p>
        </p:txBody>
      </p:sp>
      <p:pic>
        <p:nvPicPr>
          <p:cNvPr id="1026" name="Picture 2" descr="An undirected acyclic graph.&#10;Edges:&#10;{(1,4), (4,2), (4,3), (4,5), (5,7)}">
            <a:extLst>
              <a:ext uri="{FF2B5EF4-FFF2-40B4-BE49-F238E27FC236}">
                <a16:creationId xmlns:a16="http://schemas.microsoft.com/office/drawing/2014/main" id="{9ACD4A65-0713-4D80-CE46-B40673C599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0915" y="1188741"/>
            <a:ext cx="3640177" cy="4246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56426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91A75D7-86A5-ADE5-6FA6-FEB6CBA4A1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85800" y="-1337582"/>
            <a:ext cx="7772400" cy="1143000"/>
          </a:xfrm>
        </p:spPr>
        <p:txBody>
          <a:bodyPr/>
          <a:lstStyle/>
          <a:p>
            <a:r>
              <a:rPr lang="en-US" sz="4000" dirty="0"/>
              <a:t>Cyclic Graphs and Cycle Graphs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0E8E12-E4D6-40D2-BB74-F40D65063E0D}"/>
              </a:ext>
            </a:extLst>
          </p:cNvPr>
          <p:cNvSpPr/>
          <p:nvPr/>
        </p:nvSpPr>
        <p:spPr>
          <a:xfrm>
            <a:off x="889429" y="433706"/>
            <a:ext cx="77724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240" marR="0" algn="ctr"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Directed</a:t>
            </a:r>
            <a:r>
              <a:rPr lang="en-US" sz="3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acyclic graphs (DAGs)</a:t>
            </a:r>
            <a:r>
              <a:rPr lang="en-US" sz="3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br>
              <a:rPr lang="en-US" sz="3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n-US" sz="32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have numerous scientific and computational applications</a:t>
            </a:r>
            <a:r>
              <a:rPr lang="en-US" sz="3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lang="en-US" sz="4000" dirty="0">
              <a:ea typeface="Times New Roman" panose="02020603050405020304" pitchFamily="18" charset="0"/>
            </a:endParaRPr>
          </a:p>
        </p:txBody>
      </p:sp>
      <p:pic>
        <p:nvPicPr>
          <p:cNvPr id="2050" name="Picture 2" descr="A Directed Acyclic Graph (DAG).&#10;Edges:&#10;{(1,2), (1,3), (2,4), (2,5)}">
            <a:extLst>
              <a:ext uri="{FF2B5EF4-FFF2-40B4-BE49-F238E27FC236}">
                <a16:creationId xmlns:a16="http://schemas.microsoft.com/office/drawing/2014/main" id="{49B04352-864A-D69B-F802-DECF4C0E67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2270" y="2562131"/>
            <a:ext cx="4779459" cy="3413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79238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>
            <a:extLst>
              <a:ext uri="{FF2B5EF4-FFF2-40B4-BE49-F238E27FC236}">
                <a16:creationId xmlns:a16="http://schemas.microsoft.com/office/drawing/2014/main" id="{6F94ABCA-7BF8-4877-B1A1-1265DE58A6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350"/>
            <a:ext cx="8488363" cy="984250"/>
          </a:xfrm>
        </p:spPr>
        <p:txBody>
          <a:bodyPr/>
          <a:lstStyle/>
          <a:p>
            <a:pPr algn="ctr"/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Graph</a:t>
            </a:r>
            <a:endParaRPr lang="en-US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820" name="Rectangle 7">
            <a:extLst>
              <a:ext uri="{FF2B5EF4-FFF2-40B4-BE49-F238E27FC236}">
                <a16:creationId xmlns:a16="http://schemas.microsoft.com/office/drawing/2014/main" id="{139C87A0-4CFD-4B9D-911B-09418F9BA8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067" y="990600"/>
            <a:ext cx="8141546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Monotype Sorts"/>
              <a:buChar char="l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dirty="0"/>
              <a:t>A </a:t>
            </a:r>
            <a:r>
              <a:rPr lang="en-US" altLang="en-US" sz="2800" b="1" dirty="0"/>
              <a:t>simple undirected graph </a:t>
            </a:r>
            <a:r>
              <a:rPr lang="en-US" altLang="en-US" sz="2800" dirty="0"/>
              <a:t>in which every pair of distinct vertices is connected by a unique edge.</a:t>
            </a:r>
          </a:p>
        </p:txBody>
      </p:sp>
      <p:pic>
        <p:nvPicPr>
          <p:cNvPr id="34821" name="Picture 4" descr="K2 is composed of two nodes connected to each other via one edge.&#10;K3 is composed of three nodes connected to each other via three edges.&#10;K4 is composed of four nodes connected to each other via six edges.&#10;K5 is composed of five nodes connected to each other via ten edges.&#10;K6 is composed of six nodes connected to each other via fifteen edges.&#10;K7 is composed of seven nodes connected to each other via twenty-one edges.&#10;&#10;">
            <a:extLst>
              <a:ext uri="{FF2B5EF4-FFF2-40B4-BE49-F238E27FC236}">
                <a16:creationId xmlns:a16="http://schemas.microsoft.com/office/drawing/2014/main" id="{FB8D5924-69EE-41BB-B483-19445C2739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286000"/>
            <a:ext cx="5867400" cy="451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>
            <a:extLst>
              <a:ext uri="{FF2B5EF4-FFF2-40B4-BE49-F238E27FC236}">
                <a16:creationId xmlns:a16="http://schemas.microsoft.com/office/drawing/2014/main" id="{6F94ABCA-7BF8-4877-B1A1-1265DE58A6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5637" y="-1228090"/>
            <a:ext cx="8488363" cy="984250"/>
          </a:xfrm>
        </p:spPr>
        <p:txBody>
          <a:bodyPr/>
          <a:lstStyle/>
          <a:p>
            <a:pPr algn="ctr"/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K5 through K12</a:t>
            </a:r>
            <a:endParaRPr lang="en-US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Complete graphs K5 through K12 are shown with their number of edges:&#10;K5 has 10 edges&#10;K6 has 15 edges&#10;K7 has 21 edges&#10;K8 has 28 edges&#10;K9 has 36 edges&#10;K10 has 45 edges&#10;K11 has 55 edges&#10;K12 has 66 edges&#10;">
            <a:extLst>
              <a:ext uri="{FF2B5EF4-FFF2-40B4-BE49-F238E27FC236}">
                <a16:creationId xmlns:a16="http://schemas.microsoft.com/office/drawing/2014/main" id="{4466A5CA-E09C-9EEC-9DF1-5CA1883D02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42" t="33292" r="1768" b="1503"/>
          <a:stretch/>
        </p:blipFill>
        <p:spPr>
          <a:xfrm>
            <a:off x="0" y="0"/>
            <a:ext cx="9144000" cy="551589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3D7D68A-D568-A0B4-5D9C-4C41D2EB7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5515895"/>
            <a:ext cx="9144000" cy="1342105"/>
          </a:xfrm>
          <a:prstGeom prst="rect">
            <a:avLst/>
          </a:prstGeom>
          <a:solidFill>
            <a:srgbClr val="EAECF0"/>
          </a:solidFill>
          <a:ln w="9525" cap="flat" cmpd="sng" algn="ctr">
            <a:solidFill>
              <a:srgbClr val="EAEC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8258500"/>
      </p:ext>
    </p:extLst>
  </p:cSld>
  <p:clrMapOvr>
    <a:masterClrMapping/>
  </p:clrMapOvr>
</p:sld>
</file>

<file path=ppt/theme/theme1.xml><?xml version="1.0" encoding="utf-8"?>
<a:theme xmlns:a="http://schemas.openxmlformats.org/drawingml/2006/main" name="Dads Tie">
  <a:themeElements>
    <a:clrScheme name="Dads Tie 2">
      <a:dk1>
        <a:srgbClr val="000000"/>
      </a:dk1>
      <a:lt1>
        <a:srgbClr val="FFFFFF"/>
      </a:lt1>
      <a:dk2>
        <a:srgbClr val="003366"/>
      </a:dk2>
      <a:lt2>
        <a:srgbClr val="5490A8"/>
      </a:lt2>
      <a:accent1>
        <a:srgbClr val="0099CC"/>
      </a:accent1>
      <a:accent2>
        <a:srgbClr val="3366CC"/>
      </a:accent2>
      <a:accent3>
        <a:srgbClr val="FFFFFF"/>
      </a:accent3>
      <a:accent4>
        <a:srgbClr val="000000"/>
      </a:accent4>
      <a:accent5>
        <a:srgbClr val="AACAE2"/>
      </a:accent5>
      <a:accent6>
        <a:srgbClr val="2D5CB9"/>
      </a:accent6>
      <a:hlink>
        <a:srgbClr val="99CCFF"/>
      </a:hlink>
      <a:folHlink>
        <a:srgbClr val="E1E1B7"/>
      </a:folHlink>
    </a:clrScheme>
    <a:fontScheme name="Dads Ti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ads Tie 1">
        <a:dk1>
          <a:srgbClr val="5490A8"/>
        </a:dk1>
        <a:lt1>
          <a:srgbClr val="DDDDDD"/>
        </a:lt1>
        <a:dk2>
          <a:srgbClr val="00172E"/>
        </a:dk2>
        <a:lt2>
          <a:srgbClr val="CCECFF"/>
        </a:lt2>
        <a:accent1>
          <a:srgbClr val="0099CC"/>
        </a:accent1>
        <a:accent2>
          <a:srgbClr val="3366CC"/>
        </a:accent2>
        <a:accent3>
          <a:srgbClr val="AAABAD"/>
        </a:accent3>
        <a:accent4>
          <a:srgbClr val="BDBDBD"/>
        </a:accent4>
        <a:accent5>
          <a:srgbClr val="AACAE2"/>
        </a:accent5>
        <a:accent6>
          <a:srgbClr val="2D5CB9"/>
        </a:accent6>
        <a:hlink>
          <a:srgbClr val="99CCFF"/>
        </a:hlink>
        <a:folHlink>
          <a:srgbClr val="E1E1B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ds Tie 2">
        <a:dk1>
          <a:srgbClr val="000000"/>
        </a:dk1>
        <a:lt1>
          <a:srgbClr val="FFFFFF"/>
        </a:lt1>
        <a:dk2>
          <a:srgbClr val="003366"/>
        </a:dk2>
        <a:lt2>
          <a:srgbClr val="5490A8"/>
        </a:lt2>
        <a:accent1>
          <a:srgbClr val="0099CC"/>
        </a:accent1>
        <a:accent2>
          <a:srgbClr val="3366CC"/>
        </a:accent2>
        <a:accent3>
          <a:srgbClr val="FFFFFF"/>
        </a:accent3>
        <a:accent4>
          <a:srgbClr val="000000"/>
        </a:accent4>
        <a:accent5>
          <a:srgbClr val="AACAE2"/>
        </a:accent5>
        <a:accent6>
          <a:srgbClr val="2D5CB9"/>
        </a:accent6>
        <a:hlink>
          <a:srgbClr val="99CCFF"/>
        </a:hlink>
        <a:folHlink>
          <a:srgbClr val="E1E1B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ds Tie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ds Tie 4">
        <a:dk1>
          <a:srgbClr val="000000"/>
        </a:dk1>
        <a:lt1>
          <a:srgbClr val="FFFFFF"/>
        </a:lt1>
        <a:dk2>
          <a:srgbClr val="666633"/>
        </a:dk2>
        <a:lt2>
          <a:srgbClr val="908A6C"/>
        </a:lt2>
        <a:accent1>
          <a:srgbClr val="808000"/>
        </a:accent1>
        <a:accent2>
          <a:srgbClr val="996633"/>
        </a:accent2>
        <a:accent3>
          <a:srgbClr val="FFFFFF"/>
        </a:accent3>
        <a:accent4>
          <a:srgbClr val="000000"/>
        </a:accent4>
        <a:accent5>
          <a:srgbClr val="C0C0AA"/>
        </a:accent5>
        <a:accent6>
          <a:srgbClr val="8A5C2D"/>
        </a:accent6>
        <a:hlink>
          <a:srgbClr val="CCCC00"/>
        </a:hlink>
        <a:folHlink>
          <a:srgbClr val="D6DE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ds Tie 5">
        <a:dk1>
          <a:srgbClr val="000000"/>
        </a:dk1>
        <a:lt1>
          <a:srgbClr val="FFFFFF"/>
        </a:lt1>
        <a:dk2>
          <a:srgbClr val="181848"/>
        </a:dk2>
        <a:lt2>
          <a:srgbClr val="656F97"/>
        </a:lt2>
        <a:accent1>
          <a:srgbClr val="6666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B8B8FF"/>
        </a:accent5>
        <a:accent6>
          <a:srgbClr val="2D2D8A"/>
        </a:accent6>
        <a:hlink>
          <a:srgbClr val="9A9ABC"/>
        </a:hlink>
        <a:folHlink>
          <a:srgbClr val="D2B6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ds Tie 6">
        <a:dk1>
          <a:srgbClr val="CC0066"/>
        </a:dk1>
        <a:lt1>
          <a:srgbClr val="FFFFFF"/>
        </a:lt1>
        <a:dk2>
          <a:srgbClr val="000000"/>
        </a:dk2>
        <a:lt2>
          <a:srgbClr val="CC0099"/>
        </a:lt2>
        <a:accent1>
          <a:srgbClr val="FF9900"/>
        </a:accent1>
        <a:accent2>
          <a:srgbClr val="CC6600"/>
        </a:accent2>
        <a:accent3>
          <a:srgbClr val="AAAAAA"/>
        </a:accent3>
        <a:accent4>
          <a:srgbClr val="DADADA"/>
        </a:accent4>
        <a:accent5>
          <a:srgbClr val="FFCAAA"/>
        </a:accent5>
        <a:accent6>
          <a:srgbClr val="B95C00"/>
        </a:accent6>
        <a:hlink>
          <a:srgbClr val="009900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Designs\Dads Tie.pot</Template>
  <TotalTime>10966</TotalTime>
  <Words>1103</Words>
  <Application>Microsoft Office PowerPoint</Application>
  <PresentationFormat>On-screen Show (4:3)</PresentationFormat>
  <Paragraphs>372</Paragraphs>
  <Slides>27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9" baseType="lpstr">
      <vt:lpstr>Abadi</vt:lpstr>
      <vt:lpstr>Agency FB</vt:lpstr>
      <vt:lpstr>Arial</vt:lpstr>
      <vt:lpstr>Comic Sans MS</vt:lpstr>
      <vt:lpstr>Consolas</vt:lpstr>
      <vt:lpstr>Lucida Sans</vt:lpstr>
      <vt:lpstr>Monotype Sorts</vt:lpstr>
      <vt:lpstr>Source Sans Pro SemiBold</vt:lpstr>
      <vt:lpstr>Tahoma</vt:lpstr>
      <vt:lpstr>Times New Roman</vt:lpstr>
      <vt:lpstr>Wingdings</vt:lpstr>
      <vt:lpstr>Dads Tie</vt:lpstr>
      <vt:lpstr>Graph Theory</vt:lpstr>
      <vt:lpstr>Undirected Graph</vt:lpstr>
      <vt:lpstr>Directed Graph</vt:lpstr>
      <vt:lpstr>Edges list</vt:lpstr>
      <vt:lpstr>Adjacency Matrix for a Directed Graph</vt:lpstr>
      <vt:lpstr>Adjacency Matrix for  an Undirected Graph</vt:lpstr>
      <vt:lpstr>Adjacency Matrix for  an Undirected Graph</vt:lpstr>
      <vt:lpstr>Adjacency Matrix Representation</vt:lpstr>
      <vt:lpstr>Adjacency List Representation</vt:lpstr>
      <vt:lpstr>Adjacency Matrix Representation</vt:lpstr>
      <vt:lpstr>Adjacency List Representation</vt:lpstr>
      <vt:lpstr>Weighted Graph</vt:lpstr>
      <vt:lpstr>Adjacency Matrix for a Weighted Graph</vt:lpstr>
      <vt:lpstr>Adjacency List for a Weighted Graph</vt:lpstr>
      <vt:lpstr>Simple vs Non-simple Graphs</vt:lpstr>
      <vt:lpstr>Simple undirected graphs</vt:lpstr>
      <vt:lpstr>Non-simple undirected graphs</vt:lpstr>
      <vt:lpstr>Simple directed graphs</vt:lpstr>
      <vt:lpstr>Non-simple directed graphs</vt:lpstr>
      <vt:lpstr>Connected/Disconnected Graphs &amp; Components</vt:lpstr>
      <vt:lpstr>Practice classifying a graph</vt:lpstr>
      <vt:lpstr>Practice classifying a graph</vt:lpstr>
      <vt:lpstr>Cyclic Graphs and Cycle Graphs</vt:lpstr>
      <vt:lpstr>Cyclic Graphs and Cycle Graphs</vt:lpstr>
      <vt:lpstr>Cyclic Graphs and Cycle Graphs</vt:lpstr>
      <vt:lpstr>Complete Graph</vt:lpstr>
      <vt:lpstr>K5 through K12</vt:lpstr>
    </vt:vector>
  </TitlesOfParts>
  <Company>Skylight Publishing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Methods</dc:title>
  <dc:subject>Chapter 7</dc:subject>
  <dc:creator>Maria Litvin and Gary Litvin</dc:creator>
  <cp:lastModifiedBy>Weldon Jasik</cp:lastModifiedBy>
  <cp:revision>709</cp:revision>
  <cp:lastPrinted>2021-05-14T18:26:42Z</cp:lastPrinted>
  <dcterms:created xsi:type="dcterms:W3CDTF">2002-08-16T13:24:03Z</dcterms:created>
  <dcterms:modified xsi:type="dcterms:W3CDTF">2026-03-23T14:50:59Z</dcterms:modified>
</cp:coreProperties>
</file>
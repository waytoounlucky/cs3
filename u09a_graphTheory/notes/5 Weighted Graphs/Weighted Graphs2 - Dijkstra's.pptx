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71" r:id="rId2"/>
    <p:sldId id="472" r:id="rId3"/>
    <p:sldId id="482" r:id="rId4"/>
    <p:sldId id="484" r:id="rId5"/>
    <p:sldId id="483" r:id="rId6"/>
    <p:sldId id="478" r:id="rId7"/>
    <p:sldId id="486" r:id="rId8"/>
    <p:sldId id="485" r:id="rId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DDDDDD"/>
    <a:srgbClr val="FFFF00"/>
    <a:srgbClr val="000000"/>
    <a:srgbClr val="080808"/>
    <a:srgbClr val="6600FF"/>
    <a:srgbClr val="339933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034" autoAdjust="0"/>
    <p:restoredTop sz="94434" autoAdjust="0"/>
  </p:normalViewPr>
  <p:slideViewPr>
    <p:cSldViewPr>
      <p:cViewPr varScale="1">
        <p:scale>
          <a:sx n="82" d="100"/>
          <a:sy n="82" d="100"/>
        </p:scale>
        <p:origin x="82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84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649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369" y="0"/>
            <a:ext cx="3037031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4"/>
            <a:ext cx="3038649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369" y="8831264"/>
            <a:ext cx="3037031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0B646F-B864-4D71-A90E-092F55CAC0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00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402080" y="8839200"/>
            <a:ext cx="560832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altLang="en-US" sz="1200"/>
              <a:t>©A+ Computer Science     www.apluscompsci.com                 </a:t>
            </a:r>
            <a:fld id="{D26D3D48-BBAB-4193-80D2-B97096DED1B1}" type="slidenum">
              <a:rPr lang="en-US" altLang="en-US" sz="1200" smtClean="0"/>
              <a:pPr algn="r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21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414463" y="1162050"/>
            <a:ext cx="4183062" cy="31369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848" y="4473576"/>
            <a:ext cx="5608320" cy="3660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05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414463" y="1162050"/>
            <a:ext cx="4183062" cy="31369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848" y="4473576"/>
            <a:ext cx="5608320" cy="3660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978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FB379-042E-40BE-9C67-1B7225777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5754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EFAEF-4D99-4E66-8734-B71BDEEBDB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0378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79080-4F13-4370-86FF-3097046E19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3316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A4142-7706-4336-9C12-09645CED0E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9946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6B3B-F323-46FA-A3E3-4DEDD6FF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6118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8AAAC-2815-40A8-A720-344CE37E1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9828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A8241-143A-4DC6-9147-009C856181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82625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751A2-B547-45C6-9ADD-38B809020A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545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49E2E-9DC0-4DD4-9CE3-395F547C3B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7351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8B9EC-3E49-4CB8-9744-C3521FDA34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552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F90BC-29D7-4BC4-B1DF-9E5B449975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171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329431-32F2-461A-AE36-63CE00C66E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WordArt 3"/>
          <p:cNvSpPr>
            <a:spLocks noChangeArrowheads="1" noChangeShapeType="1" noTextEdit="1"/>
          </p:cNvSpPr>
          <p:nvPr/>
        </p:nvSpPr>
        <p:spPr bwMode="auto">
          <a:xfrm>
            <a:off x="1524000" y="13716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Weighted Shortest Path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295400" y="3124200"/>
            <a:ext cx="6553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800" dirty="0">
                <a:solidFill>
                  <a:srgbClr val="FF0000"/>
                </a:solidFill>
                <a:latin typeface="Tahoma" panose="020B0604030504040204" pitchFamily="34" charset="0"/>
              </a:rPr>
              <a:t>Dijkstra’s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Weighted Shortest Path</a:t>
            </a:r>
          </a:p>
        </p:txBody>
      </p:sp>
      <p:pic>
        <p:nvPicPr>
          <p:cNvPr id="4403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78009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Box 3"/>
          <p:cNvSpPr txBox="1">
            <a:spLocks noChangeArrowheads="1"/>
          </p:cNvSpPr>
          <p:nvPr/>
        </p:nvSpPr>
        <p:spPr bwMode="auto">
          <a:xfrm>
            <a:off x="3124200" y="15240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4037" name="TextBox 8"/>
          <p:cNvSpPr txBox="1">
            <a:spLocks noChangeArrowheads="1"/>
          </p:cNvSpPr>
          <p:nvPr/>
        </p:nvSpPr>
        <p:spPr bwMode="auto">
          <a:xfrm>
            <a:off x="3390900" y="42672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4038" name="TextBox 10"/>
          <p:cNvSpPr txBox="1">
            <a:spLocks noChangeArrowheads="1"/>
          </p:cNvSpPr>
          <p:nvPr/>
        </p:nvSpPr>
        <p:spPr bwMode="auto">
          <a:xfrm>
            <a:off x="3106738" y="2517775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44039" name="TextBox 11"/>
          <p:cNvSpPr txBox="1">
            <a:spLocks noChangeArrowheads="1"/>
          </p:cNvSpPr>
          <p:nvPr/>
        </p:nvSpPr>
        <p:spPr bwMode="auto">
          <a:xfrm>
            <a:off x="5829300" y="403225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44040" name="TextBox 13"/>
          <p:cNvSpPr txBox="1">
            <a:spLocks noChangeArrowheads="1"/>
          </p:cNvSpPr>
          <p:nvPr/>
        </p:nvSpPr>
        <p:spPr bwMode="auto">
          <a:xfrm>
            <a:off x="5299075" y="2100263"/>
            <a:ext cx="53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085975" y="1293813"/>
            <a:ext cx="533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66570" name="TextBox 15"/>
          <p:cNvSpPr txBox="1">
            <a:spLocks noChangeArrowheads="1"/>
          </p:cNvSpPr>
          <p:nvPr/>
        </p:nvSpPr>
        <p:spPr bwMode="auto">
          <a:xfrm>
            <a:off x="4225925" y="1325563"/>
            <a:ext cx="53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66571" name="TextBox 16"/>
          <p:cNvSpPr txBox="1">
            <a:spLocks noChangeArrowheads="1"/>
          </p:cNvSpPr>
          <p:nvPr/>
        </p:nvSpPr>
        <p:spPr bwMode="auto">
          <a:xfrm>
            <a:off x="2573338" y="28448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66572" name="TextBox 17"/>
          <p:cNvSpPr txBox="1">
            <a:spLocks noChangeArrowheads="1"/>
          </p:cNvSpPr>
          <p:nvPr/>
        </p:nvSpPr>
        <p:spPr bwMode="auto">
          <a:xfrm>
            <a:off x="6057900" y="2287588"/>
            <a:ext cx="53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66573" name="TextBox 18"/>
          <p:cNvSpPr txBox="1">
            <a:spLocks noChangeArrowheads="1"/>
          </p:cNvSpPr>
          <p:nvPr/>
        </p:nvSpPr>
        <p:spPr bwMode="auto">
          <a:xfrm>
            <a:off x="4610100" y="368935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44046" name="TextBox 6"/>
          <p:cNvSpPr txBox="1">
            <a:spLocks noChangeArrowheads="1"/>
          </p:cNvSpPr>
          <p:nvPr/>
        </p:nvSpPr>
        <p:spPr bwMode="auto">
          <a:xfrm>
            <a:off x="246063" y="4972050"/>
            <a:ext cx="14303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PQ: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Tahoma" panose="020B0604030504040204" pitchFamily="34" charset="0"/>
              </a:rPr>
              <a:t>curr</a:t>
            </a:r>
            <a:r>
              <a:rPr lang="en-US" altLang="en-US" sz="2400" dirty="0">
                <a:latin typeface="Tahoma" panose="020B060403050404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visited: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00125" y="4972050"/>
            <a:ext cx="1352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{V0, 0}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2054225" y="1293813"/>
            <a:ext cx="533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66577" name="Oval 21"/>
          <p:cNvSpPr>
            <a:spLocks noChangeArrowheads="1"/>
          </p:cNvSpPr>
          <p:nvPr/>
        </p:nvSpPr>
        <p:spPr bwMode="auto">
          <a:xfrm>
            <a:off x="1676400" y="1757363"/>
            <a:ext cx="1236663" cy="9906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V0</a:t>
            </a:r>
          </a:p>
        </p:txBody>
      </p:sp>
      <p:sp>
        <p:nvSpPr>
          <p:cNvPr id="66578" name="Oval 21"/>
          <p:cNvSpPr>
            <a:spLocks noChangeArrowheads="1"/>
          </p:cNvSpPr>
          <p:nvPr/>
        </p:nvSpPr>
        <p:spPr bwMode="auto">
          <a:xfrm>
            <a:off x="3859213" y="1754188"/>
            <a:ext cx="1236662" cy="9906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V1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479550" y="5346700"/>
            <a:ext cx="102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V0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487488" y="5710238"/>
            <a:ext cx="1028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V0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267200" y="1271588"/>
            <a:ext cx="533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96767" y="4964907"/>
            <a:ext cx="1295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{V1,2}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89075" y="5343525"/>
            <a:ext cx="835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V1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035175" y="5695950"/>
            <a:ext cx="835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V1</a:t>
            </a:r>
          </a:p>
        </p:txBody>
      </p:sp>
      <p:sp>
        <p:nvSpPr>
          <p:cNvPr id="26" name="Oval 21"/>
          <p:cNvSpPr>
            <a:spLocks noChangeArrowheads="1"/>
          </p:cNvSpPr>
          <p:nvPr/>
        </p:nvSpPr>
        <p:spPr bwMode="auto">
          <a:xfrm>
            <a:off x="2352675" y="3300413"/>
            <a:ext cx="1236663" cy="9906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V2</a:t>
            </a:r>
          </a:p>
        </p:txBody>
      </p:sp>
      <p:sp>
        <p:nvSpPr>
          <p:cNvPr id="28" name="Oval 21"/>
          <p:cNvSpPr>
            <a:spLocks noChangeArrowheads="1"/>
          </p:cNvSpPr>
          <p:nvPr/>
        </p:nvSpPr>
        <p:spPr bwMode="auto">
          <a:xfrm>
            <a:off x="4298950" y="4179888"/>
            <a:ext cx="1236663" cy="9906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V3</a:t>
            </a:r>
          </a:p>
        </p:txBody>
      </p:sp>
      <p:sp>
        <p:nvSpPr>
          <p:cNvPr id="29" name="Oval 21"/>
          <p:cNvSpPr>
            <a:spLocks noChangeArrowheads="1"/>
          </p:cNvSpPr>
          <p:nvPr/>
        </p:nvSpPr>
        <p:spPr bwMode="auto">
          <a:xfrm>
            <a:off x="5672138" y="2724150"/>
            <a:ext cx="1236662" cy="9906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V4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655888" y="2865438"/>
            <a:ext cx="5159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98977" y="4971256"/>
            <a:ext cx="1430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{V2, 3}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130925" y="2316163"/>
            <a:ext cx="617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352675" y="4957763"/>
            <a:ext cx="165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{V4, 8}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995858" y="4966796"/>
            <a:ext cx="1704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{V4, 8}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462088" y="5357813"/>
            <a:ext cx="1119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579688" y="5695950"/>
            <a:ext cx="1370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V2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648200" y="3675063"/>
            <a:ext cx="6651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998977" y="4968081"/>
            <a:ext cx="2481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{V3, 5}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352675" y="4986338"/>
            <a:ext cx="176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{V4, 8}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462088" y="5349875"/>
            <a:ext cx="1409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V3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128963" y="5703888"/>
            <a:ext cx="1257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V3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096000" y="2319338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998977" y="4964906"/>
            <a:ext cx="1971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{V4, 6}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1474788" y="5362575"/>
            <a:ext cx="1257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V4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684588" y="5727700"/>
            <a:ext cx="1114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V4</a:t>
            </a:r>
          </a:p>
        </p:txBody>
      </p:sp>
      <p:sp>
        <p:nvSpPr>
          <p:cNvPr id="66560" name="TextBox 66559"/>
          <p:cNvSpPr txBox="1">
            <a:spLocks noChangeArrowheads="1"/>
          </p:cNvSpPr>
          <p:nvPr/>
        </p:nvSpPr>
        <p:spPr bwMode="auto">
          <a:xfrm>
            <a:off x="6591300" y="5060950"/>
            <a:ext cx="2247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800">
                <a:solidFill>
                  <a:srgbClr val="FF0000"/>
                </a:solidFill>
                <a:latin typeface="Tahoma" panose="020B0604030504040204" pitchFamily="34" charset="0"/>
              </a:rPr>
              <a:t>STOP</a:t>
            </a:r>
          </a:p>
        </p:txBody>
      </p:sp>
      <p:sp>
        <p:nvSpPr>
          <p:cNvPr id="47" name="Line 55"/>
          <p:cNvSpPr>
            <a:spLocks noChangeShapeType="1"/>
          </p:cNvSpPr>
          <p:nvPr/>
        </p:nvSpPr>
        <p:spPr bwMode="auto">
          <a:xfrm flipH="1" flipV="1">
            <a:off x="6858000" y="3876675"/>
            <a:ext cx="582613" cy="110172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6570" grpId="0"/>
      <p:bldP spid="66571" grpId="0"/>
      <p:bldP spid="66572" grpId="0"/>
      <p:bldP spid="66573" grpId="0"/>
      <p:bldP spid="8" grpId="0"/>
      <p:bldP spid="8" grpId="1"/>
      <p:bldP spid="21" grpId="0"/>
      <p:bldP spid="66577" grpId="0" animBg="1"/>
      <p:bldP spid="66578" grpId="0" animBg="1"/>
      <p:bldP spid="2" grpId="0"/>
      <p:bldP spid="2" grpId="1"/>
      <p:bldP spid="20" grpId="0"/>
      <p:bldP spid="3" grpId="0"/>
      <p:bldP spid="4" grpId="0"/>
      <p:bldP spid="4" grpId="1"/>
      <p:bldP spid="5" grpId="0"/>
      <p:bldP spid="5" grpId="1"/>
      <p:bldP spid="24" grpId="0"/>
      <p:bldP spid="26" grpId="0" animBg="1"/>
      <p:bldP spid="28" grpId="0" animBg="1"/>
      <p:bldP spid="29" grpId="0" animBg="1"/>
      <p:bldP spid="6" grpId="0"/>
      <p:bldP spid="7" grpId="0"/>
      <p:bldP spid="7" grpId="1"/>
      <p:bldP spid="9" grpId="0"/>
      <p:bldP spid="9" grpId="1"/>
      <p:bldP spid="10" grpId="0"/>
      <p:bldP spid="10" grpId="1"/>
      <p:bldP spid="10" grpId="2"/>
      <p:bldP spid="11" grpId="0"/>
      <p:bldP spid="11" grpId="1"/>
      <p:bldP spid="12" grpId="0"/>
      <p:bldP spid="12" grpId="1"/>
      <p:bldP spid="13" grpId="0"/>
      <p:bldP spid="14" grpId="0"/>
      <p:bldP spid="16" grpId="0"/>
      <p:bldP spid="16" grpId="1"/>
      <p:bldP spid="17" grpId="0"/>
      <p:bldP spid="18" grpId="0"/>
      <p:bldP spid="18" grpId="1"/>
      <p:bldP spid="19" grpId="0"/>
      <p:bldP spid="22" grpId="0"/>
      <p:bldP spid="23" grpId="0"/>
      <p:bldP spid="23" grpId="1"/>
      <p:bldP spid="30" grpId="0"/>
      <p:bldP spid="31" grpId="0"/>
      <p:bldP spid="66560" grpId="0"/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Dijkstra Round Two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52400" y="990600"/>
            <a:ext cx="883920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Dijkstra: Algorithm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For each vertex, keep track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 Cost: The cost of the cheapest path we’ve          	       found to this vertex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 Previous: The previous vertex on the 			       cheapest path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  Done: A bit telling us whether we have found 	       the shortest path to this vertex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Dijkstra Round Two</a:t>
            </a:r>
          </a:p>
        </p:txBody>
      </p:sp>
      <p:sp>
        <p:nvSpPr>
          <p:cNvPr id="46083" name="Oval 9"/>
          <p:cNvSpPr>
            <a:spLocks noChangeArrowheads="1"/>
          </p:cNvSpPr>
          <p:nvPr/>
        </p:nvSpPr>
        <p:spPr bwMode="auto">
          <a:xfrm>
            <a:off x="914400" y="3124200"/>
            <a:ext cx="990600" cy="1066800"/>
          </a:xfrm>
          <a:prstGeom prst="ellipse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V0</a:t>
            </a:r>
          </a:p>
        </p:txBody>
      </p:sp>
      <p:sp>
        <p:nvSpPr>
          <p:cNvPr id="46084" name="Oval 10"/>
          <p:cNvSpPr>
            <a:spLocks noChangeArrowheads="1"/>
          </p:cNvSpPr>
          <p:nvPr/>
        </p:nvSpPr>
        <p:spPr bwMode="auto">
          <a:xfrm>
            <a:off x="914400" y="1295400"/>
            <a:ext cx="990600" cy="1066800"/>
          </a:xfrm>
          <a:prstGeom prst="ellipse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V1</a:t>
            </a:r>
          </a:p>
        </p:txBody>
      </p:sp>
      <p:cxnSp>
        <p:nvCxnSpPr>
          <p:cNvPr id="46085" name="Straight Connector 23"/>
          <p:cNvCxnSpPr>
            <a:cxnSpLocks noChangeShapeType="1"/>
          </p:cNvCxnSpPr>
          <p:nvPr/>
        </p:nvCxnSpPr>
        <p:spPr bwMode="auto">
          <a:xfrm>
            <a:off x="381000" y="4800600"/>
            <a:ext cx="86106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86" name="Straight Connector 25"/>
          <p:cNvCxnSpPr>
            <a:cxnSpLocks noChangeShapeType="1"/>
          </p:cNvCxnSpPr>
          <p:nvPr/>
        </p:nvCxnSpPr>
        <p:spPr bwMode="auto">
          <a:xfrm>
            <a:off x="1905000" y="4191000"/>
            <a:ext cx="0" cy="24384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7" name="TextBox 26"/>
          <p:cNvSpPr txBox="1">
            <a:spLocks noChangeArrowheads="1"/>
          </p:cNvSpPr>
          <p:nvPr/>
        </p:nvSpPr>
        <p:spPr bwMode="auto">
          <a:xfrm>
            <a:off x="368300" y="49530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Cost</a:t>
            </a:r>
          </a:p>
        </p:txBody>
      </p:sp>
      <p:sp>
        <p:nvSpPr>
          <p:cNvPr id="46088" name="TextBox 29"/>
          <p:cNvSpPr txBox="1">
            <a:spLocks noChangeArrowheads="1"/>
          </p:cNvSpPr>
          <p:nvPr/>
        </p:nvSpPr>
        <p:spPr bwMode="auto">
          <a:xfrm>
            <a:off x="368300" y="5557838"/>
            <a:ext cx="1601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46089" name="TextBox 30"/>
          <p:cNvSpPr txBox="1">
            <a:spLocks noChangeArrowheads="1"/>
          </p:cNvSpPr>
          <p:nvPr/>
        </p:nvSpPr>
        <p:spPr bwMode="auto">
          <a:xfrm>
            <a:off x="398463" y="6172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Done</a:t>
            </a:r>
          </a:p>
        </p:txBody>
      </p:sp>
      <p:sp>
        <p:nvSpPr>
          <p:cNvPr id="46090" name="TextBox 31"/>
          <p:cNvSpPr txBox="1">
            <a:spLocks noChangeArrowheads="1"/>
          </p:cNvSpPr>
          <p:nvPr/>
        </p:nvSpPr>
        <p:spPr bwMode="auto">
          <a:xfrm>
            <a:off x="2103438" y="4267200"/>
            <a:ext cx="6888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V0       V1       V2       V3       V4       V5  </a:t>
            </a:r>
          </a:p>
        </p:txBody>
      </p:sp>
      <p:sp>
        <p:nvSpPr>
          <p:cNvPr id="46091" name="TextBox 27"/>
          <p:cNvSpPr txBox="1">
            <a:spLocks noChangeArrowheads="1"/>
          </p:cNvSpPr>
          <p:nvPr/>
        </p:nvSpPr>
        <p:spPr bwMode="auto">
          <a:xfrm>
            <a:off x="2332038" y="6210300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3355975" y="6210300"/>
            <a:ext cx="5635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4443413" y="6219825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453063" y="6210300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6497638" y="6210300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7570788" y="6211888"/>
            <a:ext cx="5619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F</a:t>
            </a:r>
          </a:p>
        </p:txBody>
      </p:sp>
      <p:sp>
        <p:nvSpPr>
          <p:cNvPr id="46097" name="TextBox 38"/>
          <p:cNvSpPr txBox="1">
            <a:spLocks noChangeArrowheads="1"/>
          </p:cNvSpPr>
          <p:nvPr/>
        </p:nvSpPr>
        <p:spPr bwMode="auto">
          <a:xfrm>
            <a:off x="2332038" y="4856163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322638" y="4897438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4375150" y="4870450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5365750" y="4870450"/>
            <a:ext cx="5635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6443663" y="4870450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408863" y="4856163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∞</a:t>
            </a:r>
          </a:p>
        </p:txBody>
      </p:sp>
      <p:sp>
        <p:nvSpPr>
          <p:cNvPr id="46103" name="Oval 44"/>
          <p:cNvSpPr>
            <a:spLocks noChangeArrowheads="1"/>
          </p:cNvSpPr>
          <p:nvPr/>
        </p:nvSpPr>
        <p:spPr bwMode="auto">
          <a:xfrm>
            <a:off x="3502025" y="1285875"/>
            <a:ext cx="990600" cy="1066800"/>
          </a:xfrm>
          <a:prstGeom prst="ellipse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V2</a:t>
            </a:r>
          </a:p>
        </p:txBody>
      </p:sp>
      <p:sp>
        <p:nvSpPr>
          <p:cNvPr id="46104" name="Oval 45"/>
          <p:cNvSpPr>
            <a:spLocks noChangeArrowheads="1"/>
          </p:cNvSpPr>
          <p:nvPr/>
        </p:nvSpPr>
        <p:spPr bwMode="auto">
          <a:xfrm>
            <a:off x="5826125" y="1285875"/>
            <a:ext cx="990600" cy="1066800"/>
          </a:xfrm>
          <a:prstGeom prst="ellipse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V4</a:t>
            </a:r>
          </a:p>
        </p:txBody>
      </p:sp>
      <p:sp>
        <p:nvSpPr>
          <p:cNvPr id="46105" name="Oval 46"/>
          <p:cNvSpPr>
            <a:spLocks noChangeArrowheads="1"/>
          </p:cNvSpPr>
          <p:nvPr/>
        </p:nvSpPr>
        <p:spPr bwMode="auto">
          <a:xfrm>
            <a:off x="3494088" y="3159125"/>
            <a:ext cx="990600" cy="1066800"/>
          </a:xfrm>
          <a:prstGeom prst="ellipse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V3</a:t>
            </a:r>
          </a:p>
        </p:txBody>
      </p:sp>
      <p:sp>
        <p:nvSpPr>
          <p:cNvPr id="46106" name="Oval 47"/>
          <p:cNvSpPr>
            <a:spLocks noChangeArrowheads="1"/>
          </p:cNvSpPr>
          <p:nvPr/>
        </p:nvSpPr>
        <p:spPr bwMode="auto">
          <a:xfrm>
            <a:off x="5838825" y="3173413"/>
            <a:ext cx="990600" cy="1066800"/>
          </a:xfrm>
          <a:prstGeom prst="ellipse">
            <a:avLst/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V5</a:t>
            </a:r>
          </a:p>
        </p:txBody>
      </p:sp>
      <p:cxnSp>
        <p:nvCxnSpPr>
          <p:cNvPr id="46107" name="Straight Connector 43007"/>
          <p:cNvCxnSpPr>
            <a:cxnSpLocks noChangeShapeType="1"/>
            <a:stCxn id="46084" idx="6"/>
            <a:endCxn id="46103" idx="2"/>
          </p:cNvCxnSpPr>
          <p:nvPr/>
        </p:nvCxnSpPr>
        <p:spPr bwMode="auto">
          <a:xfrm flipV="1">
            <a:off x="1905000" y="1819275"/>
            <a:ext cx="1597025" cy="95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8" name="Straight Connector 43012"/>
          <p:cNvCxnSpPr>
            <a:cxnSpLocks noChangeShapeType="1"/>
            <a:stCxn id="46084" idx="4"/>
            <a:endCxn id="46083" idx="0"/>
          </p:cNvCxnSpPr>
          <p:nvPr/>
        </p:nvCxnSpPr>
        <p:spPr bwMode="auto">
          <a:xfrm>
            <a:off x="1409700" y="2362200"/>
            <a:ext cx="0" cy="7620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9" name="Straight Connector 43014"/>
          <p:cNvCxnSpPr>
            <a:cxnSpLocks noChangeShapeType="1"/>
            <a:stCxn id="46083" idx="6"/>
            <a:endCxn id="46105" idx="2"/>
          </p:cNvCxnSpPr>
          <p:nvPr/>
        </p:nvCxnSpPr>
        <p:spPr bwMode="auto">
          <a:xfrm>
            <a:off x="1905000" y="3657600"/>
            <a:ext cx="1589088" cy="349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0" name="Straight Connector 43016"/>
          <p:cNvCxnSpPr>
            <a:cxnSpLocks noChangeShapeType="1"/>
            <a:stCxn id="46103" idx="4"/>
            <a:endCxn id="46105" idx="0"/>
          </p:cNvCxnSpPr>
          <p:nvPr/>
        </p:nvCxnSpPr>
        <p:spPr bwMode="auto">
          <a:xfrm flipH="1">
            <a:off x="3989388" y="2352675"/>
            <a:ext cx="7937" cy="80645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1" name="Straight Connector 43018"/>
          <p:cNvCxnSpPr>
            <a:cxnSpLocks noChangeShapeType="1"/>
            <a:stCxn id="46103" idx="6"/>
            <a:endCxn id="46104" idx="2"/>
          </p:cNvCxnSpPr>
          <p:nvPr/>
        </p:nvCxnSpPr>
        <p:spPr bwMode="auto">
          <a:xfrm>
            <a:off x="4492625" y="1819275"/>
            <a:ext cx="13335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2" name="Straight Connector 43020"/>
          <p:cNvCxnSpPr>
            <a:cxnSpLocks noChangeShapeType="1"/>
            <a:stCxn id="46105" idx="6"/>
            <a:endCxn id="46106" idx="2"/>
          </p:cNvCxnSpPr>
          <p:nvPr/>
        </p:nvCxnSpPr>
        <p:spPr bwMode="auto">
          <a:xfrm>
            <a:off x="4484688" y="3692525"/>
            <a:ext cx="1354137" cy="142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3" name="Straight Connector 43022"/>
          <p:cNvCxnSpPr>
            <a:cxnSpLocks noChangeShapeType="1"/>
            <a:stCxn id="46104" idx="4"/>
            <a:endCxn id="46106" idx="0"/>
          </p:cNvCxnSpPr>
          <p:nvPr/>
        </p:nvCxnSpPr>
        <p:spPr bwMode="auto">
          <a:xfrm>
            <a:off x="6321425" y="2352675"/>
            <a:ext cx="12700" cy="8207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4" name="Straight Connector 43024"/>
          <p:cNvCxnSpPr>
            <a:cxnSpLocks noChangeShapeType="1"/>
            <a:stCxn id="46083" idx="7"/>
            <a:endCxn id="46103" idx="3"/>
          </p:cNvCxnSpPr>
          <p:nvPr/>
        </p:nvCxnSpPr>
        <p:spPr bwMode="auto">
          <a:xfrm flipV="1">
            <a:off x="1760538" y="2195513"/>
            <a:ext cx="1887537" cy="1084262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5" name="Straight Connector 43026"/>
          <p:cNvCxnSpPr>
            <a:cxnSpLocks noChangeShapeType="1"/>
            <a:stCxn id="46103" idx="5"/>
            <a:endCxn id="46106" idx="1"/>
          </p:cNvCxnSpPr>
          <p:nvPr/>
        </p:nvCxnSpPr>
        <p:spPr bwMode="auto">
          <a:xfrm>
            <a:off x="4348163" y="2195513"/>
            <a:ext cx="1635125" cy="11334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16" name="TextBox 43027"/>
          <p:cNvSpPr txBox="1">
            <a:spLocks noChangeArrowheads="1"/>
          </p:cNvSpPr>
          <p:nvPr/>
        </p:nvSpPr>
        <p:spPr bwMode="auto">
          <a:xfrm>
            <a:off x="4895850" y="1260475"/>
            <a:ext cx="696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6117" name="TextBox 68"/>
          <p:cNvSpPr txBox="1">
            <a:spLocks noChangeArrowheads="1"/>
          </p:cNvSpPr>
          <p:nvPr/>
        </p:nvSpPr>
        <p:spPr bwMode="auto">
          <a:xfrm>
            <a:off x="6465888" y="2525713"/>
            <a:ext cx="69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6118" name="TextBox 69"/>
          <p:cNvSpPr txBox="1">
            <a:spLocks noChangeArrowheads="1"/>
          </p:cNvSpPr>
          <p:nvPr/>
        </p:nvSpPr>
        <p:spPr bwMode="auto">
          <a:xfrm>
            <a:off x="2324100" y="2293938"/>
            <a:ext cx="69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6119" name="TextBox 70"/>
          <p:cNvSpPr txBox="1">
            <a:spLocks noChangeArrowheads="1"/>
          </p:cNvSpPr>
          <p:nvPr/>
        </p:nvSpPr>
        <p:spPr bwMode="auto">
          <a:xfrm>
            <a:off x="4035425" y="2525713"/>
            <a:ext cx="695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6120" name="TextBox 71"/>
          <p:cNvSpPr txBox="1">
            <a:spLocks noChangeArrowheads="1"/>
          </p:cNvSpPr>
          <p:nvPr/>
        </p:nvSpPr>
        <p:spPr bwMode="auto">
          <a:xfrm>
            <a:off x="5006975" y="2284413"/>
            <a:ext cx="69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46121" name="TextBox 72"/>
          <p:cNvSpPr txBox="1">
            <a:spLocks noChangeArrowheads="1"/>
          </p:cNvSpPr>
          <p:nvPr/>
        </p:nvSpPr>
        <p:spPr bwMode="auto">
          <a:xfrm>
            <a:off x="2468563" y="3624263"/>
            <a:ext cx="69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46122" name="TextBox 73"/>
          <p:cNvSpPr txBox="1">
            <a:spLocks noChangeArrowheads="1"/>
          </p:cNvSpPr>
          <p:nvPr/>
        </p:nvSpPr>
        <p:spPr bwMode="auto">
          <a:xfrm>
            <a:off x="4835525" y="3670300"/>
            <a:ext cx="696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6123" name="TextBox 74"/>
          <p:cNvSpPr txBox="1">
            <a:spLocks noChangeArrowheads="1"/>
          </p:cNvSpPr>
          <p:nvPr/>
        </p:nvSpPr>
        <p:spPr bwMode="auto">
          <a:xfrm>
            <a:off x="2378075" y="1341438"/>
            <a:ext cx="69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46124" name="TextBox 75"/>
          <p:cNvSpPr txBox="1">
            <a:spLocks noChangeArrowheads="1"/>
          </p:cNvSpPr>
          <p:nvPr/>
        </p:nvSpPr>
        <p:spPr bwMode="auto">
          <a:xfrm>
            <a:off x="949325" y="2436813"/>
            <a:ext cx="696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46125" name="TextBox 43028"/>
          <p:cNvSpPr txBox="1">
            <a:spLocks noChangeArrowheads="1"/>
          </p:cNvSpPr>
          <p:nvPr/>
        </p:nvSpPr>
        <p:spPr bwMode="auto">
          <a:xfrm>
            <a:off x="19050" y="3987800"/>
            <a:ext cx="1296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source</a:t>
            </a:r>
          </a:p>
        </p:txBody>
      </p:sp>
      <p:sp>
        <p:nvSpPr>
          <p:cNvPr id="46126" name="Rectangle 43030"/>
          <p:cNvSpPr>
            <a:spLocks noChangeArrowheads="1"/>
          </p:cNvSpPr>
          <p:nvPr/>
        </p:nvSpPr>
        <p:spPr bwMode="auto">
          <a:xfrm>
            <a:off x="82550" y="2614613"/>
            <a:ext cx="809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curr</a:t>
            </a:r>
          </a:p>
        </p:txBody>
      </p:sp>
      <p:sp>
        <p:nvSpPr>
          <p:cNvPr id="80" name="Line 55"/>
          <p:cNvSpPr>
            <a:spLocks noChangeShapeType="1"/>
          </p:cNvSpPr>
          <p:nvPr/>
        </p:nvSpPr>
        <p:spPr bwMode="auto">
          <a:xfrm>
            <a:off x="374650" y="3122613"/>
            <a:ext cx="503238" cy="36195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3397250" y="5513388"/>
            <a:ext cx="563563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4405313" y="5497513"/>
            <a:ext cx="5619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5426075" y="5484813"/>
            <a:ext cx="5635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3379788" y="4905375"/>
            <a:ext cx="563562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4402138" y="4905375"/>
            <a:ext cx="5619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5453063" y="4932363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87" name="Line 55"/>
          <p:cNvSpPr>
            <a:spLocks noChangeShapeType="1"/>
          </p:cNvSpPr>
          <p:nvPr/>
        </p:nvSpPr>
        <p:spPr bwMode="auto">
          <a:xfrm>
            <a:off x="927100" y="2882900"/>
            <a:ext cx="2332038" cy="5461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5430838" y="6219825"/>
            <a:ext cx="5635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43033" name="TextBox 43032"/>
          <p:cNvSpPr txBox="1">
            <a:spLocks noChangeArrowheads="1"/>
          </p:cNvSpPr>
          <p:nvPr/>
        </p:nvSpPr>
        <p:spPr bwMode="auto">
          <a:xfrm>
            <a:off x="7508875" y="5484813"/>
            <a:ext cx="280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7523163" y="4897438"/>
            <a:ext cx="280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93" name="Line 55"/>
          <p:cNvSpPr>
            <a:spLocks noChangeShapeType="1"/>
          </p:cNvSpPr>
          <p:nvPr/>
        </p:nvSpPr>
        <p:spPr bwMode="auto">
          <a:xfrm flipV="1">
            <a:off x="985838" y="2055813"/>
            <a:ext cx="2286000" cy="865187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4" name="TextBox 43033"/>
          <p:cNvSpPr txBox="1">
            <a:spLocks noChangeArrowheads="1"/>
          </p:cNvSpPr>
          <p:nvPr/>
        </p:nvSpPr>
        <p:spPr bwMode="auto">
          <a:xfrm>
            <a:off x="6503988" y="488315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6497638" y="5456238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auto">
          <a:xfrm>
            <a:off x="4452938" y="6210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97" name="Line 55"/>
          <p:cNvSpPr>
            <a:spLocks noChangeShapeType="1"/>
          </p:cNvSpPr>
          <p:nvPr/>
        </p:nvSpPr>
        <p:spPr bwMode="auto">
          <a:xfrm flipV="1">
            <a:off x="404813" y="2195513"/>
            <a:ext cx="508000" cy="531812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5" name="TextBox 43034"/>
          <p:cNvSpPr txBox="1">
            <a:spLocks noChangeArrowheads="1"/>
          </p:cNvSpPr>
          <p:nvPr/>
        </p:nvSpPr>
        <p:spPr bwMode="auto">
          <a:xfrm>
            <a:off x="3335338" y="6224588"/>
            <a:ext cx="2349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99" name="Line 55"/>
          <p:cNvSpPr>
            <a:spLocks noChangeShapeType="1"/>
          </p:cNvSpPr>
          <p:nvPr/>
        </p:nvSpPr>
        <p:spPr bwMode="auto">
          <a:xfrm>
            <a:off x="909638" y="2879725"/>
            <a:ext cx="4794250" cy="5461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6" name="TextBox 43035"/>
          <p:cNvSpPr txBox="1">
            <a:spLocks noChangeArrowheads="1"/>
          </p:cNvSpPr>
          <p:nvPr/>
        </p:nvSpPr>
        <p:spPr bwMode="auto">
          <a:xfrm>
            <a:off x="6483350" y="6203950"/>
            <a:ext cx="282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 flipH="1">
            <a:off x="7553325" y="6210300"/>
            <a:ext cx="192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102" name="Line 55"/>
          <p:cNvSpPr>
            <a:spLocks noChangeShapeType="1"/>
          </p:cNvSpPr>
          <p:nvPr/>
        </p:nvSpPr>
        <p:spPr bwMode="auto">
          <a:xfrm flipV="1">
            <a:off x="985838" y="2251075"/>
            <a:ext cx="4840287" cy="582613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4" grpId="0"/>
      <p:bldP spid="80" grpId="0" animBg="1"/>
      <p:bldP spid="81" grpId="0"/>
      <p:bldP spid="82" grpId="0"/>
      <p:bldP spid="83" grpId="0"/>
      <p:bldP spid="84" grpId="0"/>
      <p:bldP spid="85" grpId="0"/>
      <p:bldP spid="86" grpId="0"/>
      <p:bldP spid="87" grpId="0" animBg="1"/>
      <p:bldP spid="87" grpId="1" animBg="1"/>
      <p:bldP spid="89" grpId="0"/>
      <p:bldP spid="43033" grpId="0"/>
      <p:bldP spid="92" grpId="0"/>
      <p:bldP spid="93" grpId="0" animBg="1"/>
      <p:bldP spid="93" grpId="1" animBg="1"/>
      <p:bldP spid="43034" grpId="0"/>
      <p:bldP spid="95" grpId="0"/>
      <p:bldP spid="96" grpId="0"/>
      <p:bldP spid="97" grpId="0" animBg="1"/>
      <p:bldP spid="97" grpId="1" animBg="1"/>
      <p:bldP spid="43035" grpId="0"/>
      <p:bldP spid="99" grpId="0" animBg="1"/>
      <p:bldP spid="99" grpId="1" animBg="1"/>
      <p:bldP spid="43036" grpId="0"/>
      <p:bldP spid="101" grpId="0"/>
      <p:bldP spid="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 O</a:t>
            </a:r>
          </a:p>
        </p:txBody>
      </p:sp>
      <p:sp>
        <p:nvSpPr>
          <p:cNvPr id="43011" name="Text 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400" y="990600"/>
            <a:ext cx="8839200" cy="5139869"/>
          </a:xfrm>
          <a:prstGeom prst="rect">
            <a:avLst/>
          </a:prstGeom>
          <a:blipFill rotWithShape="0">
            <a:blip r:embed="rId2"/>
            <a:stretch>
              <a:fillRect l="-2069" t="-1542" r="-966" b="-166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1314450"/>
            <a:ext cx="909637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Dijkstra’s Algorithm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248400" y="3429000"/>
            <a:ext cx="463550" cy="533400"/>
          </a:xfrm>
          <a:prstGeom prst="ellipse">
            <a:avLst/>
          </a:prstGeom>
          <a:solidFill>
            <a:srgbClr val="FFFF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80808"/>
              </a:solidFill>
              <a:latin typeface="Tahoma" panose="020B0604030504040204" pitchFamily="34" charset="0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 flipV="1">
            <a:off x="5857875" y="2493963"/>
            <a:ext cx="152400" cy="122237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DDDDDD"/>
              </a:solidFill>
              <a:latin typeface="Tahoma" panose="020B0604030504040204" pitchFamily="34" charset="0"/>
            </a:endParaRP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flipH="1" flipV="1">
            <a:off x="2749550" y="2303463"/>
            <a:ext cx="3108325" cy="2508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28600" y="5503863"/>
            <a:ext cx="7620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(1,130 mi) from Oklahoma City to Las Vegas and (442.3 mi) from Houston to Oklahoma City 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0" y="2428875"/>
            <a:ext cx="2286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Dijkstra’s only considers distance from source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-6350" y="2416175"/>
            <a:ext cx="21621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We should consider the distance from the target too!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6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6" grpId="0" animBg="1"/>
      <p:bldP spid="16" grpId="0"/>
      <p:bldP spid="23" grpId="0"/>
      <p:bldP spid="23" grpId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WordArt 3"/>
          <p:cNvSpPr>
            <a:spLocks noChangeArrowheads="1" noChangeShapeType="1" noTextEdit="1"/>
          </p:cNvSpPr>
          <p:nvPr/>
        </p:nvSpPr>
        <p:spPr bwMode="auto">
          <a:xfrm>
            <a:off x="1524000" y="152400"/>
            <a:ext cx="5486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Weighted Shortest Path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52400" y="990600"/>
            <a:ext cx="8839200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Tahoma" panose="020B0604030504040204" pitchFamily="34" charset="0"/>
              </a:rPr>
              <a:t>Dijkstra: Algorithm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Dijkstra(</a:t>
            </a:r>
            <a:r>
              <a:rPr lang="en-US" altLang="en-US" sz="2000" dirty="0">
                <a:latin typeface="Consolas" panose="020B0609020204030204" pitchFamily="49" charset="0"/>
              </a:rPr>
              <a:t>S, G</a:t>
            </a:r>
            <a:r>
              <a:rPr lang="en-US" altLang="en-US" sz="2000" dirty="0">
                <a:latin typeface="Tahoma" panose="020B0604030504040204" pitchFamily="34" charset="0"/>
              </a:rPr>
              <a:t>):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Initialize: </a:t>
            </a:r>
            <a:r>
              <a:rPr lang="en-US" altLang="en-US" sz="2000" dirty="0" err="1">
                <a:latin typeface="Tahoma" panose="020B0604030504040204" pitchFamily="34" charset="0"/>
              </a:rPr>
              <a:t>PriorityQueue</a:t>
            </a:r>
            <a:r>
              <a:rPr lang="en-US" altLang="en-US" sz="2000" dirty="0">
                <a:latin typeface="Tahoma" panose="020B0604030504040204" pitchFamily="34" charset="0"/>
              </a:rPr>
              <a:t> (PQ), visited </a:t>
            </a:r>
            <a:r>
              <a:rPr lang="en-US" altLang="en-US" sz="2000" dirty="0" err="1">
                <a:latin typeface="Tahoma" panose="020B0604030504040204" pitchFamily="34" charset="0"/>
              </a:rPr>
              <a:t>HashSet</a:t>
            </a:r>
            <a:r>
              <a:rPr lang="en-US" altLang="en-US" sz="2000" dirty="0">
                <a:latin typeface="Tahoma" panose="020B0604030504040204" pitchFamily="34" charset="0"/>
              </a:rPr>
              <a:t>, parent 		</a:t>
            </a:r>
            <a:r>
              <a:rPr lang="en-US" altLang="en-US" sz="2000" dirty="0" err="1">
                <a:latin typeface="Tahoma" panose="020B0604030504040204" pitchFamily="34" charset="0"/>
              </a:rPr>
              <a:t>HashMap</a:t>
            </a:r>
            <a:r>
              <a:rPr lang="en-US" altLang="en-US" sz="2000" dirty="0">
                <a:latin typeface="Tahoma" panose="020B0604030504040204" pitchFamily="34" charset="0"/>
              </a:rPr>
              <a:t>, and distances to infinity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Add (S, 0) onto the </a:t>
            </a:r>
            <a:r>
              <a:rPr lang="en-US" altLang="en-US" sz="2000" dirty="0" err="1">
                <a:latin typeface="Tahoma" panose="020B0604030504040204" pitchFamily="34" charset="0"/>
              </a:rPr>
              <a:t>PriorityQueue</a:t>
            </a: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while PQ is not empty: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  dequeue highest priority node from queue and make </a:t>
            </a:r>
            <a:r>
              <a:rPr lang="en-US" altLang="en-US" sz="2000" dirty="0">
                <a:latin typeface="Consolas" panose="020B0609020204030204" pitchFamily="49" charset="0"/>
              </a:rPr>
              <a:t>current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  if(</a:t>
            </a:r>
            <a:r>
              <a:rPr lang="en-US" altLang="en-US" sz="2000" dirty="0">
                <a:latin typeface="Consolas" panose="020B0609020204030204" pitchFamily="49" charset="0"/>
              </a:rPr>
              <a:t>current</a:t>
            </a:r>
            <a:r>
              <a:rPr lang="en-US" altLang="en-US" sz="2000" dirty="0">
                <a:latin typeface="Tahoma" panose="020B0604030504040204" pitchFamily="34" charset="0"/>
              </a:rPr>
              <a:t> is not visited)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  add </a:t>
            </a:r>
            <a:r>
              <a:rPr lang="en-US" altLang="en-US" sz="2000" dirty="0">
                <a:latin typeface="Consolas" panose="020B0609020204030204" pitchFamily="49" charset="0"/>
              </a:rPr>
              <a:t>current</a:t>
            </a:r>
            <a:r>
              <a:rPr lang="en-US" altLang="en-US" sz="2000" dirty="0">
                <a:latin typeface="Tahoma" panose="020B0604030504040204" pitchFamily="34" charset="0"/>
              </a:rPr>
              <a:t> to the visited set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  if(</a:t>
            </a:r>
            <a:r>
              <a:rPr lang="en-US" altLang="en-US" sz="2000" dirty="0">
                <a:latin typeface="Consolas" panose="020B0609020204030204" pitchFamily="49" charset="0"/>
              </a:rPr>
              <a:t>current == G</a:t>
            </a:r>
            <a:r>
              <a:rPr lang="en-US" altLang="en-US" sz="2000" dirty="0">
                <a:latin typeface="Tahoma" panose="020B0604030504040204" pitchFamily="34" charset="0"/>
              </a:rPr>
              <a:t>) return parent map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              for each of </a:t>
            </a:r>
            <a:r>
              <a:rPr lang="en-US" altLang="en-US" sz="2000" dirty="0">
                <a:latin typeface="Consolas" panose="020B0609020204030204" pitchFamily="49" charset="0"/>
              </a:rPr>
              <a:t>current</a:t>
            </a:r>
            <a:r>
              <a:rPr lang="en-US" altLang="en-US" sz="2000" dirty="0">
                <a:latin typeface="Tahoma" panose="020B0604030504040204" pitchFamily="34" charset="0"/>
              </a:rPr>
              <a:t>’s neighbors, n, not in visited set: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      if(path through </a:t>
            </a:r>
            <a:r>
              <a:rPr lang="en-US" altLang="en-US" sz="2000" dirty="0">
                <a:latin typeface="Consolas" panose="020B0609020204030204" pitchFamily="49" charset="0"/>
              </a:rPr>
              <a:t>current</a:t>
            </a:r>
            <a:r>
              <a:rPr lang="en-US" altLang="en-US" sz="2000" dirty="0">
                <a:latin typeface="Tahoma" panose="020B0604030504040204" pitchFamily="34" charset="0"/>
              </a:rPr>
              <a:t> to n is shorter)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           update n’s distance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           update </a:t>
            </a:r>
            <a:r>
              <a:rPr lang="en-US" altLang="en-US" sz="2000" dirty="0">
                <a:latin typeface="Consolas" panose="020B0609020204030204" pitchFamily="49" charset="0"/>
              </a:rPr>
              <a:t>current</a:t>
            </a:r>
            <a:r>
              <a:rPr lang="en-US" altLang="en-US" sz="2000" dirty="0">
                <a:latin typeface="Tahoma" panose="020B0604030504040204" pitchFamily="34" charset="0"/>
              </a:rPr>
              <a:t> as n’s parent in parent map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	           enqueue (n, distance) into the PQ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// if we made it here then there’s no path</a:t>
            </a:r>
          </a:p>
        </p:txBody>
      </p:sp>
    </p:spTree>
    <p:extLst>
      <p:ext uri="{BB962C8B-B14F-4D97-AF65-F5344CB8AC3E}">
        <p14:creationId xmlns:p14="http://schemas.microsoft.com/office/powerpoint/2010/main" val="366790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207332"/>
            <a:ext cx="8915400" cy="6574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77725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Dijkstra’s Algorithm</a:t>
            </a:r>
            <a:r>
              <a:rPr kumimoji="0" lang="en-US" altLang="en-US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finding the shortest path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the node at which we are starting be called the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Let the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of node 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be the distance from the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node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Dijkstra’s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will assign some initial distance values and will try to improve them step by step.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1" indent="-342900">
              <a:spcAft>
                <a:spcPts val="600"/>
              </a:spcAft>
              <a:buFontTx/>
              <a:buAutoNum type="arabicPeriod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to every node a tentative distance value: set it to zero for our initial node and to infinity for all other nodes.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the initial node as current. Mark all other nodes unvisited. Create a set of all the unvisited nodes called the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unvisited 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the current node, consider all of its unvisited neighbors and calculate their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tentative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distances. Compare the newly calculated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tentative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distance to the current assigned value and assign the smaller one. For example, if the current node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marked with a distance of 6, and the edge connecting it with a neighbor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has length 2, then the distance to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(through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will be 6 + 2 = 8. If B was previously marked with a distance greater than 8 then change it to 8. Otherwise, keep the current value.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we are done considering all of the neighbors of the current node, mark the current node as visited and remove it from the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unvisited 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 visited node will never be checked again.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destination node has been marked visited (when planning a route between two specific nodes) or if the smallest tentative distance among the nodes in the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unvisited 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is infinity (when planning a complete traversal; occurs when there is no connection between the initial node and remaining unvisited nodes), then stop. The algorithm has finished.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Otherwise, select the unvisited node that is marked with the smallest tentative distance, set it as the new “current node”, and go back to step </a:t>
            </a:r>
          </a:p>
        </p:txBody>
      </p:sp>
    </p:spTree>
    <p:extLst>
      <p:ext uri="{BB962C8B-B14F-4D97-AF65-F5344CB8AC3E}">
        <p14:creationId xmlns:p14="http://schemas.microsoft.com/office/powerpoint/2010/main" val="338573713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4271</TotalTime>
  <Words>744</Words>
  <Application>Microsoft Office PowerPoint</Application>
  <PresentationFormat>On-screen Show (4:3)</PresentationFormat>
  <Paragraphs>135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Consolas</vt:lpstr>
      <vt:lpstr>Impact</vt:lpstr>
      <vt:lpstr>Tahoma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subject>Recursion</dc:subject>
  <dc:creator>A+ Computer Science</dc:creator>
  <cp:keywords>www.apluscompsci.com</cp:keywords>
  <dc:description>Recursion_x000d_
©A+ Computer Science_x000d_
www.apluscompsci.com</dc:description>
  <cp:lastModifiedBy>Weldon Jasik</cp:lastModifiedBy>
  <cp:revision>493</cp:revision>
  <cp:lastPrinted>2018-03-06T14:03:40Z</cp:lastPrinted>
  <dcterms:created xsi:type="dcterms:W3CDTF">1995-06-17T23:31:02Z</dcterms:created>
  <dcterms:modified xsi:type="dcterms:W3CDTF">2024-04-17T15:19:59Z</dcterms:modified>
  <cp:category>www.apluscomspci.com</cp:category>
</cp:coreProperties>
</file>
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27"/>
  </p:notesMasterIdLst>
  <p:sldIdLst>
    <p:sldId id="682" r:id="rId2"/>
    <p:sldId id="709" r:id="rId3"/>
    <p:sldId id="695" r:id="rId4"/>
    <p:sldId id="710" r:id="rId5"/>
    <p:sldId id="683" r:id="rId6"/>
    <p:sldId id="712" r:id="rId7"/>
    <p:sldId id="684" r:id="rId8"/>
    <p:sldId id="685" r:id="rId9"/>
    <p:sldId id="678" r:id="rId10"/>
    <p:sldId id="692" r:id="rId11"/>
    <p:sldId id="690" r:id="rId12"/>
    <p:sldId id="687" r:id="rId13"/>
    <p:sldId id="705" r:id="rId14"/>
    <p:sldId id="706" r:id="rId15"/>
    <p:sldId id="669" r:id="rId16"/>
    <p:sldId id="696" r:id="rId17"/>
    <p:sldId id="670" r:id="rId18"/>
    <p:sldId id="671" r:id="rId19"/>
    <p:sldId id="672" r:id="rId20"/>
    <p:sldId id="674" r:id="rId21"/>
    <p:sldId id="713" r:id="rId22"/>
    <p:sldId id="703" r:id="rId23"/>
    <p:sldId id="675" r:id="rId24"/>
    <p:sldId id="714" r:id="rId25"/>
    <p:sldId id="691" r:id="rId26"/>
  </p:sldIdLst>
  <p:sldSz cx="9144000" cy="6858000" type="screen4x3"/>
  <p:notesSz cx="9296400" cy="7010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08" userDrawn="1">
          <p15:clr>
            <a:srgbClr val="A4A3A4"/>
          </p15:clr>
        </p15:guide>
        <p15:guide id="2" pos="292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D5CB9"/>
    <a:srgbClr val="0066FF"/>
    <a:srgbClr val="008000"/>
    <a:srgbClr val="990033"/>
    <a:srgbClr val="EAECF0"/>
    <a:srgbClr val="2C5C80"/>
    <a:srgbClr val="FF7F7F"/>
    <a:srgbClr val="FAFBC1"/>
    <a:srgbClr val="FFFFEB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86469" autoAdjust="0"/>
  </p:normalViewPr>
  <p:slideViewPr>
    <p:cSldViewPr snapToGrid="0" snapToObjects="1">
      <p:cViewPr varScale="1">
        <p:scale>
          <a:sx n="69" d="100"/>
          <a:sy n="69" d="100"/>
        </p:scale>
        <p:origin x="1094" y="58"/>
      </p:cViewPr>
      <p:guideLst>
        <p:guide orient="horz" pos="2160"/>
        <p:guide pos="2880"/>
      </p:guideLst>
    </p:cSldViewPr>
  </p:slideViewPr>
  <p:outlineViewPr>
    <p:cViewPr>
      <p:scale>
        <a:sx n="66" d="100"/>
        <a:sy n="66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>
        <p:scale>
          <a:sx n="66" d="100"/>
          <a:sy n="66" d="100"/>
        </p:scale>
        <p:origin x="-1386" y="-72"/>
      </p:cViewPr>
      <p:guideLst>
        <p:guide orient="horz" pos="2208"/>
        <p:guide pos="292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0A3A56D3-CCF0-49D4-B894-F71230D540D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029282" cy="350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8E12CEF7-9947-45A0-A360-28F020756A0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267119" y="0"/>
            <a:ext cx="4029282" cy="350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DE4CE83E-661C-4C48-ACEA-D16F33CF261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95600" y="525463"/>
            <a:ext cx="3505200" cy="26289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5CBC30EA-0CA5-4ABA-9C83-EAEF8D419AE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39942" y="3330419"/>
            <a:ext cx="6816518" cy="3154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87E512ED-C3DC-47F6-9110-DB8B5805BA1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6659641"/>
            <a:ext cx="4029282" cy="350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>
            <a:extLst>
              <a:ext uri="{FF2B5EF4-FFF2-40B4-BE49-F238E27FC236}">
                <a16:creationId xmlns:a16="http://schemas.microsoft.com/office/drawing/2014/main" id="{4E41A777-3887-4F22-A37D-EFBF494372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7119" y="6659641"/>
            <a:ext cx="4029282" cy="350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62804723-5E0A-4B8F-BB8E-4A9C77F631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cycle/circular graph is a cycle. I.e. it contains one cycle, and that cycle traverses all of the vertices.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804723-5E0A-4B8F-BB8E-4A9C77F63159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8435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cycle/circular graph is a cycle. I.e. it contains one cycle, and that cycle traverses all of the vertices.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804723-5E0A-4B8F-BB8E-4A9C77F63159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89122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cycle/circular graph is a cycle. I.e. it contains one cycle, and that cycle traverses all of the vertices.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804723-5E0A-4B8F-BB8E-4A9C77F63159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56938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50ECCBEB-EF98-4DA8-8364-AC8CAFF643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4500A2E-5E0F-4DF5-B1D6-61F9C2508182}" type="slidenum">
              <a:rPr lang="en-US" altLang="en-US" smtClean="0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D9048E90-767D-4B96-B641-B082C68DF5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6FE09486-8D8E-4A82-B03B-20885E5EE6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50ECCBEB-EF98-4DA8-8364-AC8CAFF643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4500A2E-5E0F-4DF5-B1D6-61F9C2508182}" type="slidenum">
              <a:rPr lang="en-US" altLang="en-US" smtClean="0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D9048E90-767D-4B96-B641-B082C68DF5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6FE09486-8D8E-4A82-B03B-20885E5EE6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07883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9F7198E8-68E1-4D95-945A-3BDBD25E36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14E81A2-5839-4621-9386-B89B2EC8C886}" type="slidenum">
              <a:rPr lang="en-US" altLang="en-US" smtClean="0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57841AEF-FC7F-4234-976B-DDEC7F1FA4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79F087D7-987E-4DEE-B30B-44FCD9D6A8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C257D90F-7D11-4FF2-80BF-C3A63D5E1C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8B95B2C-A6B0-4AEF-9BDA-B44197B54551}" type="slidenum">
              <a:rPr lang="en-US" altLang="en-US" smtClean="0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91159ED7-99A3-4E53-A3DD-15517904D9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949828A7-32A5-4AEF-A28E-CCB80B5410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45DD90E9-6325-4B0D-8297-635A1C4E7F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1C117CE-42F3-4EE2-9210-265200134494}" type="slidenum">
              <a:rPr lang="en-US" altLang="en-US" smtClean="0"/>
              <a:pPr>
                <a:spcBef>
                  <a:spcPct val="0"/>
                </a:spcBef>
              </a:pPr>
              <a:t>19</a:t>
            </a:fld>
            <a:endParaRPr lang="en-US" altLang="en-US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05DABA64-D186-4CA9-A0D3-9ACB00F686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38A867E9-5688-4C85-8C51-7E77235752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883EF193-4943-4729-B49A-5F18930730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B03923F-8830-40E5-9515-288C42BF860B}" type="slidenum">
              <a:rPr lang="en-US" altLang="en-US" smtClean="0"/>
              <a:pPr>
                <a:spcBef>
                  <a:spcPct val="0"/>
                </a:spcBef>
              </a:pPr>
              <a:t>20</a:t>
            </a:fld>
            <a:endParaRPr lang="en-US" altLang="en-US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D7E0BAA8-8C81-4387-8BAD-FC5D7FFE6B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48A87836-FFA9-4670-9F79-C7E32C5FFC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/>
              <a:t>It’s difficult to be sure you’ve found all walks of a length greater than one by hand, so we multiply matrices instead.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883EF193-4943-4729-B49A-5F18930730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B03923F-8830-40E5-9515-288C42BF860B}" type="slidenum">
              <a:rPr lang="en-US" altLang="en-US" smtClean="0"/>
              <a:pPr>
                <a:spcBef>
                  <a:spcPct val="0"/>
                </a:spcBef>
              </a:pPr>
              <a:t>21</a:t>
            </a:fld>
            <a:endParaRPr lang="en-US" altLang="en-US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D7E0BAA8-8C81-4387-8BAD-FC5D7FFE6B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48A87836-FFA9-4670-9F79-C7E32C5FFC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/>
              <a:t>It’s difficult to be sure you’ve found all walks of a length greater than one by hand, so we multiply matrices instead.</a:t>
            </a:r>
          </a:p>
        </p:txBody>
      </p:sp>
    </p:spTree>
    <p:extLst>
      <p:ext uri="{BB962C8B-B14F-4D97-AF65-F5344CB8AC3E}">
        <p14:creationId xmlns:p14="http://schemas.microsoft.com/office/powerpoint/2010/main" val="27373303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EB2501A6-21C6-49FF-8A23-4451C8F056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ADB789F-1B28-4C6C-B6CD-B73EEEBDB5A4}" type="slidenum">
              <a:rPr lang="en-US" altLang="en-US" smtClean="0"/>
              <a:pPr>
                <a:spcBef>
                  <a:spcPct val="0"/>
                </a:spcBef>
              </a:pPr>
              <a:t>22</a:t>
            </a:fld>
            <a:endParaRPr lang="en-US" altLang="en-US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020002E8-CF06-4D4B-96F1-91C5DB2883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A1769132-EDD7-4970-9FEE-9C7A565BD1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9074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EB2501A6-21C6-49FF-8A23-4451C8F056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ADB789F-1B28-4C6C-B6CD-B73EEEBDB5A4}" type="slidenum">
              <a:rPr lang="en-US" altLang="en-US" smtClean="0"/>
              <a:pPr>
                <a:spcBef>
                  <a:spcPct val="0"/>
                </a:spcBef>
              </a:pPr>
              <a:t>23</a:t>
            </a:fld>
            <a:endParaRPr lang="en-US" altLang="en-US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020002E8-CF06-4D4B-96F1-91C5DB2883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A1769132-EDD7-4970-9FEE-9C7A565BD1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883EF193-4943-4729-B49A-5F18930730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5650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3638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363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5500" indent="-2317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527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099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671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24300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B03923F-8830-40E5-9515-288C42BF860B}" type="slidenum">
              <a:rPr lang="en-US" altLang="en-US" smtClean="0"/>
              <a:pPr>
                <a:spcBef>
                  <a:spcPct val="0"/>
                </a:spcBef>
              </a:pPr>
              <a:t>24</a:t>
            </a:fld>
            <a:endParaRPr lang="en-US" altLang="en-US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D7E0BAA8-8C81-4387-8BAD-FC5D7FFE6B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48A87836-FFA9-4670-9F79-C7E32C5FFC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/>
              <a:t>It’s difficult to be sure you’ve found all walks of a length greater than one by hand, so we multiply matrices instead.</a:t>
            </a:r>
          </a:p>
        </p:txBody>
      </p:sp>
    </p:spTree>
    <p:extLst>
      <p:ext uri="{BB962C8B-B14F-4D97-AF65-F5344CB8AC3E}">
        <p14:creationId xmlns:p14="http://schemas.microsoft.com/office/powerpoint/2010/main" val="1254085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bg>
      <p:bgPr>
        <a:gradFill rotWithShape="0">
          <a:gsLst>
            <a:gs pos="0">
              <a:srgbClr val="03D4A8"/>
            </a:gs>
            <a:gs pos="25000">
              <a:srgbClr val="21D6E0"/>
            </a:gs>
            <a:gs pos="75000">
              <a:srgbClr val="0087E6"/>
            </a:gs>
            <a:gs pos="100000">
              <a:srgbClr val="005CB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113EA9-178C-4489-922E-F6FAF50276B9}"/>
              </a:ext>
            </a:extLst>
          </p:cNvPr>
          <p:cNvSpPr/>
          <p:nvPr userDrawn="1"/>
        </p:nvSpPr>
        <p:spPr>
          <a:xfrm>
            <a:off x="496133" y="300335"/>
            <a:ext cx="1313181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44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cs typeface="+mn-cs"/>
              </a:rPr>
              <a:t>Java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C2D8BB-CC46-422B-B9B7-695C3725ACE4}"/>
              </a:ext>
            </a:extLst>
          </p:cNvPr>
          <p:cNvSpPr/>
          <p:nvPr userDrawn="1"/>
        </p:nvSpPr>
        <p:spPr>
          <a:xfrm>
            <a:off x="478188" y="1224260"/>
            <a:ext cx="424430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cs typeface="+mn-cs"/>
              </a:rPr>
              <a:t>Object Oriented Programming</a:t>
            </a:r>
          </a:p>
        </p:txBody>
      </p:sp>
    </p:spTree>
    <p:extLst>
      <p:ext uri="{BB962C8B-B14F-4D97-AF65-F5344CB8AC3E}">
        <p14:creationId xmlns:p14="http://schemas.microsoft.com/office/powerpoint/2010/main" val="7546078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04071-794B-4701-A7DC-39C50A89B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24AC8-73D2-4AAD-9193-481E7E4AA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67884-52FD-48CD-AAE8-C43F57EE6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Lab 01-</a:t>
            </a:r>
            <a:fld id="{FE1F91A5-696C-4070-9C3C-613CEAE4D6B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2979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9973BA-09F2-4966-A1FD-F70770969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F9F1F5-98A9-445C-BF66-7172C843D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9603D7-1EAD-46DE-A6BE-DCAED6DB5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Lab 01-</a:t>
            </a:r>
            <a:fld id="{F030EF13-7497-4CFD-9EB1-248DA4F8547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6253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91630F-A09D-4EE7-93A3-A2B2B4818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5C01B6-64E4-4D59-8C09-A4B6D24DA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A19DD-0B36-4DA9-8BBE-65C6E5D65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Lab 01-</a:t>
            </a:r>
            <a:fld id="{128F8CC0-22B8-4BB4-BD05-2FA2C3E73A1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6317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5">
            <a:extLst>
              <a:ext uri="{FF2B5EF4-FFF2-40B4-BE49-F238E27FC236}">
                <a16:creationId xmlns:a16="http://schemas.microsoft.com/office/drawing/2014/main" id="{97A36CA0-EC99-448B-ABF9-AC948CD337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73163" y="4572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26">
            <a:extLst>
              <a:ext uri="{FF2B5EF4-FFF2-40B4-BE49-F238E27FC236}">
                <a16:creationId xmlns:a16="http://schemas.microsoft.com/office/drawing/2014/main" id="{6C5CB5D8-089D-4CA0-B8E5-BD0FEBD01E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73163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75" name="Rectangle 27">
            <a:extLst>
              <a:ext uri="{FF2B5EF4-FFF2-40B4-BE49-F238E27FC236}">
                <a16:creationId xmlns:a16="http://schemas.microsoft.com/office/drawing/2014/main" id="{353BC887-0D79-4553-B463-99B0C75FD13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73163" y="626586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50000"/>
              </a:spcBef>
              <a:defRPr sz="14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76" name="Rectangle 28">
            <a:extLst>
              <a:ext uri="{FF2B5EF4-FFF2-40B4-BE49-F238E27FC236}">
                <a16:creationId xmlns:a16="http://schemas.microsoft.com/office/drawing/2014/main" id="{E4C00373-27A8-46C3-B716-4FE131D0CF0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spcBef>
                <a:spcPct val="50000"/>
              </a:spcBef>
              <a:defRPr sz="14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77" name="Rectangle 29">
            <a:extLst>
              <a:ext uri="{FF2B5EF4-FFF2-40B4-BE49-F238E27FC236}">
                <a16:creationId xmlns:a16="http://schemas.microsoft.com/office/drawing/2014/main" id="{8F7AD570-5738-409B-9275-31BBF813129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4897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50000"/>
              </a:spcBef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Lab 01</a:t>
            </a:r>
            <a:fld id="{99B86487-F13D-4A55-9790-54C5D96315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1" name="Picture 31" descr="javaVert">
            <a:extLst>
              <a:ext uri="{FF2B5EF4-FFF2-40B4-BE49-F238E27FC236}">
                <a16:creationId xmlns:a16="http://schemas.microsoft.com/office/drawing/2014/main" id="{FD7EF5FD-22D5-4013-80B0-299ED91C5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572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83" r:id="rId2"/>
    <p:sldLayoutId id="2147483884" r:id="rId3"/>
    <p:sldLayoutId id="2147483885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Monotype Sorts"/>
        <a:buChar char="l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4088EA4-E047-98D7-7604-76ACDA973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85800" y="-1305576"/>
            <a:ext cx="7772400" cy="1143000"/>
          </a:xfrm>
        </p:spPr>
        <p:txBody>
          <a:bodyPr/>
          <a:lstStyle/>
          <a:p>
            <a:r>
              <a:rPr lang="en-US" dirty="0"/>
              <a:t>Practice classifying a graph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1139994B-73D7-4AB7-8E13-C60036ACF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4501" y="171027"/>
            <a:ext cx="7696200" cy="52322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2F5496"/>
                </a:solidFill>
                <a:effectLst/>
                <a:latin typeface="Comic Sans MS" panose="030F0702030302020204" pitchFamily="66" charset="0"/>
              </a:rPr>
              <a:t>Classify the graph: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8A19E84F-4EC8-675D-1CC7-C6A50B526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981" y="865274"/>
            <a:ext cx="7952728" cy="52322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lang="en-US" altLang="en-US" sz="2800" b="1" dirty="0">
                <a:solidFill>
                  <a:srgbClr val="2F5496"/>
                </a:solidFill>
                <a:latin typeface="Comic Sans MS" panose="030F0702030302020204" pitchFamily="66" charset="0"/>
              </a:rPr>
              <a:t> </a:t>
            </a:r>
            <a:r>
              <a:rPr lang="en-US" altLang="en-US" sz="1800" b="1" dirty="0">
                <a:solidFill>
                  <a:srgbClr val="2F5496"/>
                </a:solidFill>
                <a:latin typeface="Comic Sans MS" panose="030F0702030302020204" pitchFamily="66" charset="0"/>
              </a:rPr>
              <a:t>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2F5496"/>
                </a:solidFill>
                <a:effectLst/>
                <a:latin typeface="Comic Sans MS" panose="030F0702030302020204" pitchFamily="66" charset="0"/>
              </a:rPr>
              <a:t> simple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2F5496"/>
                </a:solidFill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2F5496"/>
                </a:solidFill>
                <a:effectLst/>
                <a:latin typeface="Comic Sans MS" panose="030F0702030302020204" pitchFamily="66" charset="0"/>
              </a:rPr>
              <a:t> </a:t>
            </a:r>
            <a:r>
              <a:rPr lang="en-US" altLang="en-US" sz="2800" b="1" dirty="0">
                <a:solidFill>
                  <a:srgbClr val="2F5496"/>
                </a:solidFill>
                <a:latin typeface="Comic Sans MS" panose="030F0702030302020204" pitchFamily="66" charset="0"/>
              </a:rPr>
              <a:t> </a:t>
            </a:r>
            <a:r>
              <a:rPr lang="en-US" altLang="en-US" sz="2000" b="1" dirty="0">
                <a:solidFill>
                  <a:srgbClr val="2F5496"/>
                </a:solidFill>
                <a:latin typeface="Comic Sans MS" panose="030F0702030302020204" pitchFamily="66" charset="0"/>
              </a:rPr>
              <a:t> </a:t>
            </a:r>
            <a:r>
              <a:rPr lang="en-US" altLang="en-US" sz="2800" b="1" dirty="0">
                <a:solidFill>
                  <a:srgbClr val="2F5496"/>
                </a:solidFill>
                <a:latin typeface="Comic Sans MS" panose="030F0702030302020204" pitchFamily="66" charset="0"/>
              </a:rPr>
              <a:t>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2F5496"/>
                </a:solidFill>
                <a:effectLst/>
                <a:latin typeface="Comic Sans MS" panose="030F0702030302020204" pitchFamily="66" charset="0"/>
              </a:rPr>
              <a:t>directed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2F5496"/>
                </a:solidFill>
                <a:effectLst/>
                <a:latin typeface="Comic Sans MS" panose="030F0702030302020204" pitchFamily="66" charset="0"/>
              </a:rPr>
              <a:t>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2F5496"/>
                </a:solidFill>
                <a:effectLst/>
                <a:latin typeface="Comic Sans MS" panose="030F0702030302020204" pitchFamily="66" charset="0"/>
              </a:rPr>
              <a:t>   weighted    cyclic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04FA207E-63F9-E167-46E8-3455AAF99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9679" y="1388494"/>
            <a:ext cx="8155944" cy="52322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2F5496"/>
                </a:solidFill>
                <a:effectLst/>
                <a:latin typeface="Comic Sans MS" panose="030F0702030302020204" pitchFamily="66" charset="0"/>
              </a:rPr>
              <a:t>non-simple  undirected  unweighted  acyclic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1AA239-0D6D-6416-5807-5C314D49C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879679" y="1463040"/>
            <a:ext cx="1951574" cy="4486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837482-473B-A1CC-17F6-A80605F55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2891771" y="902547"/>
            <a:ext cx="1951574" cy="4486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6DC26E-C89F-92BA-EBF8-2D6454C38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120609" y="1463040"/>
            <a:ext cx="1951574" cy="4486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078E9A-E8EC-8A92-7C64-65CD03239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7192426" y="1449489"/>
            <a:ext cx="1951574" cy="4486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5E4413-28CC-34C7-2ABE-91D22D3D7D0F}"/>
              </a:ext>
            </a:extLst>
          </p:cNvPr>
          <p:cNvSpPr txBox="1"/>
          <p:nvPr/>
        </p:nvSpPr>
        <p:spPr>
          <a:xfrm>
            <a:off x="6623573" y="2001379"/>
            <a:ext cx="2412050" cy="1313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2F5496"/>
                </a:solidFill>
                <a:effectLst/>
                <a:latin typeface="Comic Sans MS" panose="030F0702030302020204" pitchFamily="66" charset="0"/>
              </a:rPr>
              <a:t>connected</a:t>
            </a:r>
          </a:p>
          <a:p>
            <a:pPr>
              <a:lnSpc>
                <a:spcPct val="150000"/>
              </a:lnSpc>
            </a:pPr>
            <a:r>
              <a:rPr lang="en-US" altLang="en-US" sz="2800" b="1" dirty="0">
                <a:solidFill>
                  <a:srgbClr val="2F5496"/>
                </a:solidFill>
                <a:latin typeface="Comic Sans MS" panose="030F0702030302020204" pitchFamily="66" charset="0"/>
              </a:rPr>
              <a:t>disconnected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rgbClr val="2F5496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53935D-D88C-9A8F-EA62-E407EF6BD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623573" y="2192007"/>
            <a:ext cx="1951574" cy="4486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grpSp>
        <p:nvGrpSpPr>
          <p:cNvPr id="15" name="Group 14" descr="This image depicts an undirected (a.k.a. bidirectional), weighted graph where nodes represent characters and edges represent distances between them (in meters). &#10;Edges:&#10;{(SpongeBob, Patrick, 2m), (SpongeBob, Gary, 1m), (SpongeBob, Mr. Krabs, 12m), (Patrick, Gary, 4m), (Patrick, Karen, 43m), (Karen, Gary, 55m), (Karen, Plankton, 3m), (Plankton, Gary, 5m), (Mr. Krabs, Fish 1, 23m)}&#10;Nodes: all above plus Fish 2 which is not connected to others.&#10;&#10;Verbal description:&#10;- SpongeBob is connected to:&#10;  - Patrick (2 meters)&#10;  - Gary (1 meter)&#10;  - Mr. Krabs (12 meters)&#10;&#10;- Patrick is connected to:&#10;  - SpongeBob (2 meters)&#10;  - Karen (43 meters)&#10;  - Gary (4 meters)&#10;&#10;- Gary is connected to:&#10;  - SpongeBob (1 meter)&#10;  - Patrick (4 meters)&#10;  - Karen (55 meters)&#10;  - Plankton (5 meters)&#10;&#10;- Mr. Krabs is connected to:&#10;  - SpongeBob (12 meters)&#10;  - Fish 1 (23 meters)&#10;&#10;- Fish 1 is connected to:&#10;  - Mr. Krabs (23 meters)&#10;&#10;- Karen is connected to:&#10;  - Patrick (43 meters)&#10;  - Plankton (3 meters)&#10;  - Gary (55 meters)&#10;&#10;- Plankton is connected to:&#10;  - Karen (3 meters)&#10;  - Gary (5 meters)&#10;&#10;- Fish 2 is not connected to any other node.">
            <a:extLst>
              <a:ext uri="{FF2B5EF4-FFF2-40B4-BE49-F238E27FC236}">
                <a16:creationId xmlns:a16="http://schemas.microsoft.com/office/drawing/2014/main" id="{32DD52F1-CDDF-2D02-BE5A-1AEC6F229BD7}"/>
              </a:ext>
            </a:extLst>
          </p:cNvPr>
          <p:cNvGrpSpPr/>
          <p:nvPr/>
        </p:nvGrpSpPr>
        <p:grpSpPr>
          <a:xfrm>
            <a:off x="685800" y="2228590"/>
            <a:ext cx="5513554" cy="4612683"/>
            <a:chOff x="685800" y="2228590"/>
            <a:chExt cx="5513554" cy="4612683"/>
          </a:xfrm>
        </p:grpSpPr>
        <p:pic>
          <p:nvPicPr>
            <p:cNvPr id="2050" name="Picture 2" descr="This image depicts an undirected (a.k.a. bidirectional), weighted graph where nodes represent characters and edges represent distances between them (in meters). &#10;Edges:&#10;{(SpongeBob, Patrick, 2m), (SpongeBob, Gary, 1m), (SpongeBob, Mr. Krabs, 12m), (Patrick, Gary, 4m), (Patrick, Karen, 43m), (Karen, Gary, 55m), (Karen, Plankton, 3m), (Mr. Krabs, Fish 1, 23m)}&#10;Nodes: all above plus Fish 2 which is not connected to others.&#10;&#10;Verbal description:&#10;- SpongeBob is connected to:&#10;  - Patrick (2 meters)&#10;  - Gary (1 meter)&#10;  - Mr. Krabs (12 meters)&#10;&#10;- Patrick is connected to:&#10;  - SpongeBob (2 meters)&#10;  - Karen (43 meters)&#10;  - Gary (4 meters)&#10;&#10;- Gary is connected to:&#10;  - SpongeBob (1 meter)&#10;  - Patrick (4 meters)&#10;  - Karen (55 meters)&#10;&#10;- Mr. Krabs is connected to:&#10;  - SpongeBob (12 meters)&#10;  - Fish 1 (23 meters)&#10;&#10;- Fish 1 is connected to:&#10;  - Mr. Krabs (23 meters)&#10;&#10;- Karen is connected to:&#10;  - Patrick (43 meters)&#10;  - Plankton (3 meters)&#10;  - Gary (55 meters)&#10;&#10;- Plankton is connected to:&#10;  - Karen (3 meters)&#10;&#10;- Fish 2 is not connected to any other node.">
              <a:extLst>
                <a:ext uri="{FF2B5EF4-FFF2-40B4-BE49-F238E27FC236}">
                  <a16:creationId xmlns:a16="http://schemas.microsoft.com/office/drawing/2014/main" id="{DEBE3A29-AAB7-4A23-BDDA-DC865CD2CF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03" r="5588" b="2919"/>
            <a:stretch>
              <a:fillRect/>
            </a:stretch>
          </p:blipFill>
          <p:spPr bwMode="auto">
            <a:xfrm>
              <a:off x="685800" y="2228590"/>
              <a:ext cx="5513554" cy="46126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A418EAC-527F-C1FD-6D86-31BED14506C4}"/>
                </a:ext>
              </a:extLst>
            </p:cNvPr>
            <p:cNvSpPr/>
            <p:nvPr/>
          </p:nvSpPr>
          <p:spPr bwMode="auto">
            <a:xfrm>
              <a:off x="2568251" y="3989907"/>
              <a:ext cx="2254622" cy="1140893"/>
            </a:xfrm>
            <a:custGeom>
              <a:avLst/>
              <a:gdLst>
                <a:gd name="connsiteX0" fmla="*/ 0 w 2776653"/>
                <a:gd name="connsiteY0" fmla="*/ 0 h 1405053"/>
                <a:gd name="connsiteX1" fmla="*/ 334536 w 2776653"/>
                <a:gd name="connsiteY1" fmla="*/ 167268 h 1405053"/>
                <a:gd name="connsiteX2" fmla="*/ 1025912 w 2776653"/>
                <a:gd name="connsiteY2" fmla="*/ 412595 h 1405053"/>
                <a:gd name="connsiteX3" fmla="*/ 1973766 w 2776653"/>
                <a:gd name="connsiteY3" fmla="*/ 758283 h 1405053"/>
                <a:gd name="connsiteX4" fmla="*/ 2442117 w 2776653"/>
                <a:gd name="connsiteY4" fmla="*/ 1148575 h 1405053"/>
                <a:gd name="connsiteX5" fmla="*/ 2776653 w 2776653"/>
                <a:gd name="connsiteY5" fmla="*/ 1405053 h 1405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76653" h="1405053">
                  <a:moveTo>
                    <a:pt x="0" y="0"/>
                  </a:moveTo>
                  <a:cubicBezTo>
                    <a:pt x="81775" y="49251"/>
                    <a:pt x="163551" y="98502"/>
                    <a:pt x="334536" y="167268"/>
                  </a:cubicBezTo>
                  <a:cubicBezTo>
                    <a:pt x="505521" y="236034"/>
                    <a:pt x="1025912" y="412595"/>
                    <a:pt x="1025912" y="412595"/>
                  </a:cubicBezTo>
                  <a:cubicBezTo>
                    <a:pt x="1299117" y="511097"/>
                    <a:pt x="1737732" y="635620"/>
                    <a:pt x="1973766" y="758283"/>
                  </a:cubicBezTo>
                  <a:cubicBezTo>
                    <a:pt x="2209800" y="880946"/>
                    <a:pt x="2308303" y="1040780"/>
                    <a:pt x="2442117" y="1148575"/>
                  </a:cubicBezTo>
                  <a:cubicBezTo>
                    <a:pt x="2575931" y="1256370"/>
                    <a:pt x="2676292" y="1330711"/>
                    <a:pt x="2776653" y="1405053"/>
                  </a:cubicBezTo>
                </a:path>
              </a:pathLst>
            </a:cu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ED9DBA7-FA49-9287-4865-8BE5DBF95D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27643" y="4438217"/>
              <a:ext cx="244357" cy="2036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85679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4088EA4-E047-98D7-7604-76ACDA973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85800" y="-1305576"/>
            <a:ext cx="7772400" cy="1143000"/>
          </a:xfrm>
        </p:spPr>
        <p:txBody>
          <a:bodyPr/>
          <a:lstStyle/>
          <a:p>
            <a:r>
              <a:rPr lang="en-US" dirty="0"/>
              <a:t>Practice classifying a graph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1139994B-73D7-4AB7-8E13-C60036ACF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8745" y="289932"/>
            <a:ext cx="7935323" cy="138499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2F5496"/>
                </a:solidFill>
                <a:effectLst/>
                <a:latin typeface="Comic Sans MS" panose="030F0702030302020204" pitchFamily="66" charset="0"/>
              </a:rPr>
              <a:t>If Fish 2 was removed, it would be a s</a:t>
            </a:r>
            <a:r>
              <a:rPr lang="en-US" altLang="en-US" sz="2800" b="1" dirty="0">
                <a:solidFill>
                  <a:srgbClr val="2F5496"/>
                </a:solidFill>
                <a:latin typeface="Comic Sans MS" panose="030F0702030302020204" pitchFamily="66" charset="0"/>
              </a:rPr>
              <a:t>imple connected graph, which is the type of graph we’ll typically study.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6" name="Group 15" descr="This image depicts an undirected (a.k.a. bidirectional), weighted graph where nodes represent characters and edges represent distances between them (in meters). &#10;Edges:&#10;{(SpongeBob, Patrick, 2m), (SpongeBob, Gary, 1m), (SpongeBob, Mr. Krabs, 12m), (Patrick, Gary, 4m), (Patrick, Karen, 43m), (Karen, Gary, 55m), (Karen, Plankton, 3m), (Plankton, Gary, 5m), (Mr. Krabs, Fish 1, 23m)}&#10;&#10;Verbal description:&#10;- SpongeBob is connected to:&#10;  - Patrick (2 meters)&#10;  - Gary (1 meter)&#10;  - Mr. Krabs (12 meters)&#10;&#10;- Patrick is connected to:&#10;  - SpongeBob (2 meters)&#10;  - Karen (43 meters)&#10;  - Gary (4 meters)&#10;&#10;- Gary is connected to:&#10;  - SpongeBob (1 meter)&#10;  - Patrick (4 meters)&#10;  - Karen (55 meters)&#10;  - Plankton (5 meters)&#10;&#10;- Mr. Krabs is connected to:&#10;  - SpongeBob (12 meters)&#10;  - Fish 1 (23 meters)&#10;&#10;- Fish 1 is connected to:&#10;  - Mr. Krabs (23 meters)&#10;&#10;- Karen is connected to:&#10;  - Patrick (43 meters)&#10;  - Plankton (3 meters)&#10;  - Gary (55 meters)&#10;&#10;- Plankton is connected to:&#10;  - Karen (3 meters)&#10;  - Gary (5 meters)">
            <a:extLst>
              <a:ext uri="{FF2B5EF4-FFF2-40B4-BE49-F238E27FC236}">
                <a16:creationId xmlns:a16="http://schemas.microsoft.com/office/drawing/2014/main" id="{DC7A1B28-9B86-45D6-32DC-4BA5F37D84CE}"/>
              </a:ext>
            </a:extLst>
          </p:cNvPr>
          <p:cNvGrpSpPr/>
          <p:nvPr/>
        </p:nvGrpSpPr>
        <p:grpSpPr>
          <a:xfrm>
            <a:off x="1346039" y="2023710"/>
            <a:ext cx="6953123" cy="4544358"/>
            <a:chOff x="1346039" y="2023710"/>
            <a:chExt cx="6953123" cy="4544358"/>
          </a:xfrm>
        </p:grpSpPr>
        <p:pic>
          <p:nvPicPr>
            <p:cNvPr id="2050" name="Picture 2" descr="This image depicts an undirected (a.k.a. bidirectional), weighted graph where nodes represent characters and edges represent distances between them (in meters). &#10;Edges:&#10;{(SpongeBob, Patrick, 2m), (SpongeBob, Gary, 1m), (SpongeBob, Mr. Krabs, 12m), (Patrick, Gary, 4m), (Patrick, Karen, 43m), (Karen, Gary, 55m), (Karen, Plankton, 3m), (Plankton, Gary, 5m), (Mr. Krabs, Fish 1, 23m)}&#10;&#10;Verbal description:&#10;- SpongeBob is connected to:&#10;  - Patrick (2 meters)&#10;  - Gary (1 meter)&#10;  - Mr. Krabs (12 meters)&#10;&#10;- Patrick is connected to:&#10;  - SpongeBob (2 meters)&#10;  - Karen (43 meters)&#10;  - Gary (4 meters)&#10;&#10;- Gary is connected to:&#10;  - SpongeBob (1 meter)&#10;  - Patrick (4 meters)&#10;  - Karen (55 meters)&#10;  - Plankton (5 meters)&#10;&#10;- Mr. Krabs is connected to:&#10;  - SpongeBob (12 meters)&#10;  - Fish 1 (23 meters)&#10;&#10;- Fish 1 is connected to:&#10;  - Mr. Krabs (23 meters)&#10;&#10;- Karen is connected to:&#10;  - Patrick (43 meters)&#10;  - Plankton (3 meters)&#10;  - Gary (55 meters)&#10;&#10;- Plankton is connected to:&#10;  - Karen (3 meters)&#10;  - Gary (5 meters)">
              <a:extLst>
                <a:ext uri="{FF2B5EF4-FFF2-40B4-BE49-F238E27FC236}">
                  <a16:creationId xmlns:a16="http://schemas.microsoft.com/office/drawing/2014/main" id="{DEBE3A29-AAB7-4A23-BDDA-DC865CD2CF8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03" r="5588" b="24159"/>
            <a:stretch/>
          </p:blipFill>
          <p:spPr bwMode="auto">
            <a:xfrm>
              <a:off x="1346039" y="2023710"/>
              <a:ext cx="6953123" cy="4544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A7984DF4-F2CF-F1FD-7EE2-FAC2CAD70D67}"/>
                </a:ext>
              </a:extLst>
            </p:cNvPr>
            <p:cNvSpPr/>
            <p:nvPr/>
          </p:nvSpPr>
          <p:spPr bwMode="auto">
            <a:xfrm>
              <a:off x="3746810" y="4248615"/>
              <a:ext cx="2776653" cy="1405053"/>
            </a:xfrm>
            <a:custGeom>
              <a:avLst/>
              <a:gdLst>
                <a:gd name="connsiteX0" fmla="*/ 0 w 2776653"/>
                <a:gd name="connsiteY0" fmla="*/ 0 h 1405053"/>
                <a:gd name="connsiteX1" fmla="*/ 334536 w 2776653"/>
                <a:gd name="connsiteY1" fmla="*/ 167268 h 1405053"/>
                <a:gd name="connsiteX2" fmla="*/ 1025912 w 2776653"/>
                <a:gd name="connsiteY2" fmla="*/ 412595 h 1405053"/>
                <a:gd name="connsiteX3" fmla="*/ 1973766 w 2776653"/>
                <a:gd name="connsiteY3" fmla="*/ 758283 h 1405053"/>
                <a:gd name="connsiteX4" fmla="*/ 2442117 w 2776653"/>
                <a:gd name="connsiteY4" fmla="*/ 1148575 h 1405053"/>
                <a:gd name="connsiteX5" fmla="*/ 2776653 w 2776653"/>
                <a:gd name="connsiteY5" fmla="*/ 1405053 h 1405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76653" h="1405053">
                  <a:moveTo>
                    <a:pt x="0" y="0"/>
                  </a:moveTo>
                  <a:cubicBezTo>
                    <a:pt x="81775" y="49251"/>
                    <a:pt x="163551" y="98502"/>
                    <a:pt x="334536" y="167268"/>
                  </a:cubicBezTo>
                  <a:cubicBezTo>
                    <a:pt x="505521" y="236034"/>
                    <a:pt x="1025912" y="412595"/>
                    <a:pt x="1025912" y="412595"/>
                  </a:cubicBezTo>
                  <a:cubicBezTo>
                    <a:pt x="1299117" y="511097"/>
                    <a:pt x="1737732" y="635620"/>
                    <a:pt x="1973766" y="758283"/>
                  </a:cubicBezTo>
                  <a:cubicBezTo>
                    <a:pt x="2209800" y="880946"/>
                    <a:pt x="2308303" y="1040780"/>
                    <a:pt x="2442117" y="1148575"/>
                  </a:cubicBezTo>
                  <a:cubicBezTo>
                    <a:pt x="2575931" y="1256370"/>
                    <a:pt x="2676292" y="1330711"/>
                    <a:pt x="2776653" y="1405053"/>
                  </a:cubicBezTo>
                </a:path>
              </a:pathLst>
            </a:cu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E205C3D-1818-D4D8-1F0A-0D5DC4996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07728" y="4798741"/>
              <a:ext cx="300935" cy="2507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83262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89250-89E5-9D35-552F-D14AA47C2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87363" y="-1143000"/>
            <a:ext cx="7772400" cy="1143000"/>
          </a:xfrm>
        </p:spPr>
        <p:txBody>
          <a:bodyPr/>
          <a:lstStyle/>
          <a:p>
            <a:r>
              <a:rPr lang="en-US" dirty="0"/>
              <a:t>Walk definition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B52DB0-C138-4F28-BAF0-55441BBBF32B}"/>
              </a:ext>
            </a:extLst>
          </p:cNvPr>
          <p:cNvSpPr/>
          <p:nvPr/>
        </p:nvSpPr>
        <p:spPr>
          <a:xfrm>
            <a:off x="762000" y="388203"/>
            <a:ext cx="8153400" cy="1316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A </a:t>
            </a:r>
            <a:r>
              <a:rPr lang="en-US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walk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 is a 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sequence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 of 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edges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 which joins </a:t>
            </a:r>
            <a:br>
              <a:rPr lang="en-US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a sequence of 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vertices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</a:p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Sponge Bob 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 Patrick 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 Sponge Bob 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Gary 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Karen)</a:t>
            </a:r>
          </a:p>
        </p:txBody>
      </p:sp>
      <p:grpSp>
        <p:nvGrpSpPr>
          <p:cNvPr id="11" name="Group 10" descr="This image depicts an undirected (a.k.a. bidirectional), weighted graph where nodes represent characters and edges represent distances between them (in meters). &#10;Edges:&#10;{(SpongeBob, Patrick, 2m), (SpongeBob, Gary, 1m), (SpongeBob, Mr. Krabs, 12m), (Patrick, Gary, 4m), (Patrick, Karen, 43m), (Karen, Gary, 55m), (Karen, Plankton, 3m), (Plankton, Gary, 5m), (Mr. Krabs, Fish 1, 23m)}&#10;&#10;Verbal description:&#10;- SpongeBob is connected to:&#10;  - Patrick (2 meters)&#10;  - Gary (1 meter)&#10;  - Mr. Krabs (12 meters)&#10;&#10;- Patrick is connected to:&#10;  - SpongeBob (2 meters)&#10;  - Karen (43 meters)&#10;  - Gary (4 meters)&#10;&#10;- Gary is connected to:&#10;  - SpongeBob (1 meter)&#10;  - Patrick (4 meters)&#10;  - Karen (55 meters)&#10;  - Plankton (5 meters)&#10;&#10;- Mr. Krabs is connected to:&#10;  - SpongeBob (12 meters)&#10;  - Fish 1 (23 meters)&#10;&#10;- Fish 1 is connected to:&#10;  - Mr. Krabs (23 meters)&#10;&#10;- Karen is connected to:&#10;  - Patrick (43 meters)&#10;  - Plankton (3 meters)&#10;  - Gary (55 meters)&#10;&#10;- Plankton is connected to:&#10;  - Karen (3 meters)&#10;  - Gary (5 meters)">
            <a:extLst>
              <a:ext uri="{FF2B5EF4-FFF2-40B4-BE49-F238E27FC236}">
                <a16:creationId xmlns:a16="http://schemas.microsoft.com/office/drawing/2014/main" id="{DC99B5A8-1172-4B61-F98D-16D835CA870F}"/>
              </a:ext>
            </a:extLst>
          </p:cNvPr>
          <p:cNvGrpSpPr/>
          <p:nvPr/>
        </p:nvGrpSpPr>
        <p:grpSpPr>
          <a:xfrm>
            <a:off x="1346039" y="2023710"/>
            <a:ext cx="6953123" cy="4544358"/>
            <a:chOff x="1346039" y="2023710"/>
            <a:chExt cx="6953123" cy="4544358"/>
          </a:xfrm>
        </p:grpSpPr>
        <p:pic>
          <p:nvPicPr>
            <p:cNvPr id="12" name="Picture 2" descr="This image depicts an undirected (a.k.a. bidirectional), weighted graph where nodes represent characters and edges represent distances between them (in meters). &#10;Edges:&#10;{(SpongeBob, Patrick, 2m), (SpongeBob, Gary, 1m), (SpongeBob, Mr. Krabs, 12m), (Patrick, Gary, 4m), (Patrick, Karen, 43m), (Karen, Gary, 55m), (Karen, Plankton, 3m), (Plankton, Gary, 5m), (Mr. Krabs, Fish 1, 23m)}&#10;&#10;Verbal description:&#10;- SpongeBob is connected to:&#10;  - Patrick (2 meters)&#10;  - Gary (1 meter)&#10;  - Mr. Krabs (12 meters)&#10;&#10;- Patrick is connected to:&#10;  - SpongeBob (2 meters)&#10;  - Karen (43 meters)&#10;  - Gary (4 meters)&#10;&#10;- Gary is connected to:&#10;  - SpongeBob (1 meter)&#10;  - Patrick (4 meters)&#10;  - Karen (55 meters)&#10;  - Plankton (5 meters)&#10;&#10;- Mr. Krabs is connected to:&#10;  - SpongeBob (12 meters)&#10;  - Fish 1 (23 meters)&#10;&#10;- Fish 1 is connected to:&#10;  - Mr. Krabs (23 meters)&#10;&#10;- Karen is connected to:&#10;  - Patrick (43 meters)&#10;  - Plankton (3 meters)&#10;  - Gary (55 meters)&#10;&#10;- Plankton is connected to:&#10;  - Karen (3 meters)&#10;  - Gary (5 meters)">
              <a:extLst>
                <a:ext uri="{FF2B5EF4-FFF2-40B4-BE49-F238E27FC236}">
                  <a16:creationId xmlns:a16="http://schemas.microsoft.com/office/drawing/2014/main" id="{2A0AC0C7-F529-67CA-F3B5-74CD1127169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03" r="5588" b="24159"/>
            <a:stretch/>
          </p:blipFill>
          <p:spPr bwMode="auto">
            <a:xfrm>
              <a:off x="1346039" y="2023710"/>
              <a:ext cx="6953123" cy="4544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231C345-1E11-94AF-1AAC-39DF6CEA437B}"/>
                </a:ext>
              </a:extLst>
            </p:cNvPr>
            <p:cNvSpPr/>
            <p:nvPr/>
          </p:nvSpPr>
          <p:spPr bwMode="auto">
            <a:xfrm>
              <a:off x="3746810" y="4248615"/>
              <a:ext cx="2776653" cy="1405053"/>
            </a:xfrm>
            <a:custGeom>
              <a:avLst/>
              <a:gdLst>
                <a:gd name="connsiteX0" fmla="*/ 0 w 2776653"/>
                <a:gd name="connsiteY0" fmla="*/ 0 h 1405053"/>
                <a:gd name="connsiteX1" fmla="*/ 334536 w 2776653"/>
                <a:gd name="connsiteY1" fmla="*/ 167268 h 1405053"/>
                <a:gd name="connsiteX2" fmla="*/ 1025912 w 2776653"/>
                <a:gd name="connsiteY2" fmla="*/ 412595 h 1405053"/>
                <a:gd name="connsiteX3" fmla="*/ 1973766 w 2776653"/>
                <a:gd name="connsiteY3" fmla="*/ 758283 h 1405053"/>
                <a:gd name="connsiteX4" fmla="*/ 2442117 w 2776653"/>
                <a:gd name="connsiteY4" fmla="*/ 1148575 h 1405053"/>
                <a:gd name="connsiteX5" fmla="*/ 2776653 w 2776653"/>
                <a:gd name="connsiteY5" fmla="*/ 1405053 h 1405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76653" h="1405053">
                  <a:moveTo>
                    <a:pt x="0" y="0"/>
                  </a:moveTo>
                  <a:cubicBezTo>
                    <a:pt x="81775" y="49251"/>
                    <a:pt x="163551" y="98502"/>
                    <a:pt x="334536" y="167268"/>
                  </a:cubicBezTo>
                  <a:cubicBezTo>
                    <a:pt x="505521" y="236034"/>
                    <a:pt x="1025912" y="412595"/>
                    <a:pt x="1025912" y="412595"/>
                  </a:cubicBezTo>
                  <a:cubicBezTo>
                    <a:pt x="1299117" y="511097"/>
                    <a:pt x="1737732" y="635620"/>
                    <a:pt x="1973766" y="758283"/>
                  </a:cubicBezTo>
                  <a:cubicBezTo>
                    <a:pt x="2209800" y="880946"/>
                    <a:pt x="2308303" y="1040780"/>
                    <a:pt x="2442117" y="1148575"/>
                  </a:cubicBezTo>
                  <a:cubicBezTo>
                    <a:pt x="2575931" y="1256370"/>
                    <a:pt x="2676292" y="1330711"/>
                    <a:pt x="2776653" y="1405053"/>
                  </a:cubicBezTo>
                </a:path>
              </a:pathLst>
            </a:cu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2AF0BBA-F230-3B63-6D79-F1BABA8C3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07728" y="4798741"/>
              <a:ext cx="300935" cy="2507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2886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89250-89E5-9D35-552F-D14AA47C2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87363" y="-1143000"/>
            <a:ext cx="7772400" cy="1143000"/>
          </a:xfrm>
        </p:spPr>
        <p:txBody>
          <a:bodyPr/>
          <a:lstStyle/>
          <a:p>
            <a:r>
              <a:rPr lang="en-US" dirty="0"/>
              <a:t>Walk definition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B52DB0-C138-4F28-BAF0-55441BBBF32B}"/>
              </a:ext>
            </a:extLst>
          </p:cNvPr>
          <p:cNvSpPr/>
          <p:nvPr/>
        </p:nvSpPr>
        <p:spPr>
          <a:xfrm>
            <a:off x="762000" y="287844"/>
            <a:ext cx="8153400" cy="14397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A </a:t>
            </a:r>
            <a:r>
              <a:rPr lang="en-US" sz="2800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closed walk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 is a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walk that starts and ends at the same vertex.</a:t>
            </a:r>
            <a:endParaRPr lang="en-US" sz="2800" dirty="0">
              <a:solidFill>
                <a:srgbClr val="222222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Sponge Bob 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 Patrick 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 Karen 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 Patrick 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 Sponge Bob </a:t>
            </a:r>
          </a:p>
        </p:txBody>
      </p:sp>
      <p:grpSp>
        <p:nvGrpSpPr>
          <p:cNvPr id="5" name="Group 4" descr="This image depicts an undirected (a.k.a. bidirectional), weighted graph where nodes represent characters and edges represent distances between them (in meters). &#10;Edges:&#10;{(SpongeBob, Patrick, 2m), (SpongeBob, Gary, 1m), (SpongeBob, Mr. Krabs, 12m), (Patrick, Gary, 4m), (Patrick, Karen, 43m), (Karen, Gary, 55m), (Karen, Plankton, 3m), (Plankton, Gary, 5m), (Mr. Krabs, Fish 1, 23m)}&#10;&#10;Verbal description:&#10;- SpongeBob is connected to:&#10;  - Patrick (2 meters)&#10;  - Gary (1 meter)&#10;  - Mr. Krabs (12 meters)&#10;&#10;- Patrick is connected to:&#10;  - SpongeBob (2 meters)&#10;  - Karen (43 meters)&#10;  - Gary (4 meters)&#10;&#10;- Gary is connected to:&#10;  - SpongeBob (1 meter)&#10;  - Patrick (4 meters)&#10;  - Karen (55 meters)&#10;  - Plankton (5 meters)&#10;&#10;- Mr. Krabs is connected to:&#10;  - SpongeBob (12 meters)&#10;  - Fish 1 (23 meters)&#10;&#10;- Fish 1 is connected to:&#10;  - Mr. Krabs (23 meters)&#10;&#10;- Karen is connected to:&#10;  - Patrick (43 meters)&#10;  - Plankton (3 meters)&#10;  - Gary (55 meters)&#10;&#10;- Plankton is connected to:&#10;  - Karen (3 meters)&#10;  - Gary (5 meters)">
            <a:extLst>
              <a:ext uri="{FF2B5EF4-FFF2-40B4-BE49-F238E27FC236}">
                <a16:creationId xmlns:a16="http://schemas.microsoft.com/office/drawing/2014/main" id="{65B091BF-79BE-BBC1-9D74-C22CDB4D32F2}"/>
              </a:ext>
            </a:extLst>
          </p:cNvPr>
          <p:cNvGrpSpPr/>
          <p:nvPr/>
        </p:nvGrpSpPr>
        <p:grpSpPr>
          <a:xfrm>
            <a:off x="1346039" y="2023710"/>
            <a:ext cx="6953123" cy="4544358"/>
            <a:chOff x="1346039" y="2023710"/>
            <a:chExt cx="6953123" cy="4544358"/>
          </a:xfrm>
        </p:grpSpPr>
        <p:pic>
          <p:nvPicPr>
            <p:cNvPr id="6" name="Picture 2" descr="This image depicts an undirected (a.k.a. bidirectional), weighted graph where nodes represent characters and edges represent distances between them (in meters). &#10;Edges:&#10;{(SpongeBob, Patrick, 2m), (SpongeBob, Gary, 1m), (SpongeBob, Mr. Krabs, 12m), (Patrick, Gary, 4m), (Patrick, Karen, 43m), (Karen, Gary, 55m), (Karen, Plankton, 3m), (Plankton, Gary, 5m), (Mr. Krabs, Fish 1, 23m)}&#10;&#10;Verbal description:&#10;- SpongeBob is connected to:&#10;  - Patrick (2 meters)&#10;  - Gary (1 meter)&#10;  - Mr. Krabs (12 meters)&#10;&#10;- Patrick is connected to:&#10;  - SpongeBob (2 meters)&#10;  - Karen (43 meters)&#10;  - Gary (4 meters)&#10;&#10;- Gary is connected to:&#10;  - SpongeBob (1 meter)&#10;  - Patrick (4 meters)&#10;  - Karen (55 meters)&#10;  - Plankton (5 meters)&#10;&#10;- Mr. Krabs is connected to:&#10;  - SpongeBob (12 meters)&#10;  - Fish 1 (23 meters)&#10;&#10;- Fish 1 is connected to:&#10;  - Mr. Krabs (23 meters)&#10;&#10;- Karen is connected to:&#10;  - Patrick (43 meters)&#10;  - Plankton (3 meters)&#10;  - Gary (55 meters)&#10;&#10;- Plankton is connected to:&#10;  - Karen (3 meters)&#10;  - Gary (5 meters)">
              <a:extLst>
                <a:ext uri="{FF2B5EF4-FFF2-40B4-BE49-F238E27FC236}">
                  <a16:creationId xmlns:a16="http://schemas.microsoft.com/office/drawing/2014/main" id="{06556072-9AF7-0C5F-7E65-D29E409A706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03" r="5588" b="24159"/>
            <a:stretch/>
          </p:blipFill>
          <p:spPr bwMode="auto">
            <a:xfrm>
              <a:off x="1346039" y="2023710"/>
              <a:ext cx="6953123" cy="4544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8AEABF1-56D9-8F4A-930A-FE8E5404FB8A}"/>
                </a:ext>
              </a:extLst>
            </p:cNvPr>
            <p:cNvSpPr/>
            <p:nvPr/>
          </p:nvSpPr>
          <p:spPr bwMode="auto">
            <a:xfrm>
              <a:off x="3746810" y="4248615"/>
              <a:ext cx="2776653" cy="1405053"/>
            </a:xfrm>
            <a:custGeom>
              <a:avLst/>
              <a:gdLst>
                <a:gd name="connsiteX0" fmla="*/ 0 w 2776653"/>
                <a:gd name="connsiteY0" fmla="*/ 0 h 1405053"/>
                <a:gd name="connsiteX1" fmla="*/ 334536 w 2776653"/>
                <a:gd name="connsiteY1" fmla="*/ 167268 h 1405053"/>
                <a:gd name="connsiteX2" fmla="*/ 1025912 w 2776653"/>
                <a:gd name="connsiteY2" fmla="*/ 412595 h 1405053"/>
                <a:gd name="connsiteX3" fmla="*/ 1973766 w 2776653"/>
                <a:gd name="connsiteY3" fmla="*/ 758283 h 1405053"/>
                <a:gd name="connsiteX4" fmla="*/ 2442117 w 2776653"/>
                <a:gd name="connsiteY4" fmla="*/ 1148575 h 1405053"/>
                <a:gd name="connsiteX5" fmla="*/ 2776653 w 2776653"/>
                <a:gd name="connsiteY5" fmla="*/ 1405053 h 1405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76653" h="1405053">
                  <a:moveTo>
                    <a:pt x="0" y="0"/>
                  </a:moveTo>
                  <a:cubicBezTo>
                    <a:pt x="81775" y="49251"/>
                    <a:pt x="163551" y="98502"/>
                    <a:pt x="334536" y="167268"/>
                  </a:cubicBezTo>
                  <a:cubicBezTo>
                    <a:pt x="505521" y="236034"/>
                    <a:pt x="1025912" y="412595"/>
                    <a:pt x="1025912" y="412595"/>
                  </a:cubicBezTo>
                  <a:cubicBezTo>
                    <a:pt x="1299117" y="511097"/>
                    <a:pt x="1737732" y="635620"/>
                    <a:pt x="1973766" y="758283"/>
                  </a:cubicBezTo>
                  <a:cubicBezTo>
                    <a:pt x="2209800" y="880946"/>
                    <a:pt x="2308303" y="1040780"/>
                    <a:pt x="2442117" y="1148575"/>
                  </a:cubicBezTo>
                  <a:cubicBezTo>
                    <a:pt x="2575931" y="1256370"/>
                    <a:pt x="2676292" y="1330711"/>
                    <a:pt x="2776653" y="1405053"/>
                  </a:cubicBezTo>
                </a:path>
              </a:pathLst>
            </a:cu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4DFA03A-7FF1-50B4-7219-11EA018C5E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07728" y="4798741"/>
              <a:ext cx="300935" cy="2507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87386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6AC4DB-409E-B1D6-5328-136A9ABE5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14400" y="-1143000"/>
            <a:ext cx="7772400" cy="1143000"/>
          </a:xfrm>
        </p:spPr>
        <p:txBody>
          <a:bodyPr/>
          <a:lstStyle/>
          <a:p>
            <a:r>
              <a:rPr lang="en-US" dirty="0"/>
              <a:t>Trail definition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B52DB0-C138-4F28-BAF0-55441BBBF32B}"/>
              </a:ext>
            </a:extLst>
          </p:cNvPr>
          <p:cNvSpPr/>
          <p:nvPr/>
        </p:nvSpPr>
        <p:spPr>
          <a:xfrm>
            <a:off x="685800" y="142876"/>
            <a:ext cx="8346688" cy="1318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dirty="0"/>
              <a:t>A </a:t>
            </a:r>
            <a:r>
              <a:rPr lang="en-US" sz="3200" b="1" dirty="0"/>
              <a:t>trail</a:t>
            </a:r>
            <a:r>
              <a:rPr lang="en-US" sz="3200" dirty="0"/>
              <a:t> is a </a:t>
            </a:r>
            <a:r>
              <a:rPr lang="en-US" sz="3200" i="1" dirty="0"/>
              <a:t>walk</a:t>
            </a:r>
            <a:r>
              <a:rPr lang="en-US" sz="3200" dirty="0"/>
              <a:t> in which all </a:t>
            </a:r>
            <a:r>
              <a:rPr lang="en-US" sz="3200" u="sng" dirty="0"/>
              <a:t>edges</a:t>
            </a:r>
            <a:r>
              <a:rPr lang="en-US" sz="3200" dirty="0"/>
              <a:t> are distinct. </a:t>
            </a:r>
            <a:br>
              <a:rPr lang="en-US" sz="2800" dirty="0"/>
            </a:b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Sponge Bob 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 Gary 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 Patrick 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 Sponge Bob 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 Mr. Krabs</a:t>
            </a:r>
            <a:endParaRPr lang="en-US" sz="2800" dirty="0"/>
          </a:p>
        </p:txBody>
      </p:sp>
      <p:grpSp>
        <p:nvGrpSpPr>
          <p:cNvPr id="6" name="Group 5" descr="This image depicts an undirected (a.k.a. bidirectional), weighted graph where nodes represent characters and edges represent distances between them (in meters). &#10;Edges:&#10;{(SpongeBob, Patrick, 2m), (SpongeBob, Gary, 1m), (SpongeBob, Mr. Krabs, 12m), (Patrick, Gary, 4m), (Patrick, Karen, 43m), (Karen, Gary, 55m), (Karen, Plankton, 3m), (Plankton, Gary, 5m), (Mr. Krabs, Fish 1, 23m)}&#10;&#10;Verbal description:&#10;- SpongeBob is connected to:&#10;  - Patrick (2 meters)&#10;  - Gary (1 meter)&#10;  - Mr. Krabs (12 meters)&#10;&#10;- Patrick is connected to:&#10;  - SpongeBob (2 meters)&#10;  - Karen (43 meters)&#10;  - Gary (4 meters)&#10;&#10;- Gary is connected to:&#10;  - SpongeBob (1 meter)&#10;  - Patrick (4 meters)&#10;  - Karen (55 meters)&#10;  - Plankton (5 meters)&#10;&#10;- Mr. Krabs is connected to:&#10;  - SpongeBob (12 meters)&#10;  - Fish 1 (23 meters)&#10;&#10;- Fish 1 is connected to:&#10;  - Mr. Krabs (23 meters)&#10;&#10;- Karen is connected to:&#10;  - Patrick (43 meters)&#10;  - Plankton (3 meters)&#10;  - Gary (55 meters)&#10;&#10;- Plankton is connected to:&#10;  - Karen (3 meters)&#10;  - Gary (5 meters)">
            <a:extLst>
              <a:ext uri="{FF2B5EF4-FFF2-40B4-BE49-F238E27FC236}">
                <a16:creationId xmlns:a16="http://schemas.microsoft.com/office/drawing/2014/main" id="{44F9E4E3-573E-318B-5908-72B282288E71}"/>
              </a:ext>
            </a:extLst>
          </p:cNvPr>
          <p:cNvGrpSpPr/>
          <p:nvPr/>
        </p:nvGrpSpPr>
        <p:grpSpPr>
          <a:xfrm>
            <a:off x="1346039" y="2023710"/>
            <a:ext cx="6953123" cy="4544358"/>
            <a:chOff x="1346039" y="2023710"/>
            <a:chExt cx="6953123" cy="4544358"/>
          </a:xfrm>
        </p:grpSpPr>
        <p:pic>
          <p:nvPicPr>
            <p:cNvPr id="7" name="Picture 2" descr="This image depicts an undirected (a.k.a. bidirectional), weighted graph where nodes represent characters and edges represent distances between them (in meters). &#10;Edges:&#10;{(SpongeBob, Patrick, 2m), (SpongeBob, Gary, 1m), (SpongeBob, Mr. Krabs, 12m), (Patrick, Gary, 4m), (Patrick, Karen, 43m), (Karen, Gary, 55m), (Karen, Plankton, 3m), (Plankton, Gary, 5m), (Mr. Krabs, Fish 1, 23m)}&#10;&#10;Verbal description:&#10;- SpongeBob is connected to:&#10;  - Patrick (2 meters)&#10;  - Gary (1 meter)&#10;  - Mr. Krabs (12 meters)&#10;&#10;- Patrick is connected to:&#10;  - SpongeBob (2 meters)&#10;  - Karen (43 meters)&#10;  - Gary (4 meters)&#10;&#10;- Gary is connected to:&#10;  - SpongeBob (1 meter)&#10;  - Patrick (4 meters)&#10;  - Karen (55 meters)&#10;  - Plankton (5 meters)&#10;&#10;- Mr. Krabs is connected to:&#10;  - SpongeBob (12 meters)&#10;  - Fish 1 (23 meters)&#10;&#10;- Fish 1 is connected to:&#10;  - Mr. Krabs (23 meters)&#10;&#10;- Karen is connected to:&#10;  - Patrick (43 meters)&#10;  - Plankton (3 meters)&#10;  - Gary (55 meters)&#10;&#10;- Plankton is connected to:&#10;  - Karen (3 meters)&#10;  - Gary (5 meters)">
              <a:extLst>
                <a:ext uri="{FF2B5EF4-FFF2-40B4-BE49-F238E27FC236}">
                  <a16:creationId xmlns:a16="http://schemas.microsoft.com/office/drawing/2014/main" id="{5F39D935-AA97-7A78-B1EF-563FA034B21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03" r="5588" b="24159"/>
            <a:stretch/>
          </p:blipFill>
          <p:spPr bwMode="auto">
            <a:xfrm>
              <a:off x="1346039" y="2023710"/>
              <a:ext cx="6953123" cy="4544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9ED2D69-A4BE-DB44-449D-FC0E412F80E8}"/>
                </a:ext>
              </a:extLst>
            </p:cNvPr>
            <p:cNvSpPr/>
            <p:nvPr/>
          </p:nvSpPr>
          <p:spPr bwMode="auto">
            <a:xfrm>
              <a:off x="3746810" y="4248615"/>
              <a:ext cx="2776653" cy="1405053"/>
            </a:xfrm>
            <a:custGeom>
              <a:avLst/>
              <a:gdLst>
                <a:gd name="connsiteX0" fmla="*/ 0 w 2776653"/>
                <a:gd name="connsiteY0" fmla="*/ 0 h 1405053"/>
                <a:gd name="connsiteX1" fmla="*/ 334536 w 2776653"/>
                <a:gd name="connsiteY1" fmla="*/ 167268 h 1405053"/>
                <a:gd name="connsiteX2" fmla="*/ 1025912 w 2776653"/>
                <a:gd name="connsiteY2" fmla="*/ 412595 h 1405053"/>
                <a:gd name="connsiteX3" fmla="*/ 1973766 w 2776653"/>
                <a:gd name="connsiteY3" fmla="*/ 758283 h 1405053"/>
                <a:gd name="connsiteX4" fmla="*/ 2442117 w 2776653"/>
                <a:gd name="connsiteY4" fmla="*/ 1148575 h 1405053"/>
                <a:gd name="connsiteX5" fmla="*/ 2776653 w 2776653"/>
                <a:gd name="connsiteY5" fmla="*/ 1405053 h 1405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76653" h="1405053">
                  <a:moveTo>
                    <a:pt x="0" y="0"/>
                  </a:moveTo>
                  <a:cubicBezTo>
                    <a:pt x="81775" y="49251"/>
                    <a:pt x="163551" y="98502"/>
                    <a:pt x="334536" y="167268"/>
                  </a:cubicBezTo>
                  <a:cubicBezTo>
                    <a:pt x="505521" y="236034"/>
                    <a:pt x="1025912" y="412595"/>
                    <a:pt x="1025912" y="412595"/>
                  </a:cubicBezTo>
                  <a:cubicBezTo>
                    <a:pt x="1299117" y="511097"/>
                    <a:pt x="1737732" y="635620"/>
                    <a:pt x="1973766" y="758283"/>
                  </a:cubicBezTo>
                  <a:cubicBezTo>
                    <a:pt x="2209800" y="880946"/>
                    <a:pt x="2308303" y="1040780"/>
                    <a:pt x="2442117" y="1148575"/>
                  </a:cubicBezTo>
                  <a:cubicBezTo>
                    <a:pt x="2575931" y="1256370"/>
                    <a:pt x="2676292" y="1330711"/>
                    <a:pt x="2776653" y="1405053"/>
                  </a:cubicBezTo>
                </a:path>
              </a:pathLst>
            </a:cu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1FC5E99-DF36-86F7-9092-3C166B5349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07728" y="4798741"/>
              <a:ext cx="300935" cy="2507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86302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6AC4DB-409E-B1D6-5328-136A9ABE5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14400" y="-1143000"/>
            <a:ext cx="7772400" cy="1143000"/>
          </a:xfrm>
        </p:spPr>
        <p:txBody>
          <a:bodyPr/>
          <a:lstStyle/>
          <a:p>
            <a:r>
              <a:rPr lang="en-US" dirty="0"/>
              <a:t>Trail definition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B52DB0-C138-4F28-BAF0-55441BBBF32B}"/>
              </a:ext>
            </a:extLst>
          </p:cNvPr>
          <p:cNvSpPr/>
          <p:nvPr/>
        </p:nvSpPr>
        <p:spPr>
          <a:xfrm>
            <a:off x="627256" y="0"/>
            <a:ext cx="8346688" cy="21380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dirty="0"/>
              <a:t>A </a:t>
            </a:r>
            <a:r>
              <a:rPr lang="en-US" sz="3600" b="1" dirty="0"/>
              <a:t>closed trail</a:t>
            </a:r>
            <a:r>
              <a:rPr lang="en-US" sz="3600" dirty="0"/>
              <a:t> is known as a </a:t>
            </a:r>
            <a:r>
              <a:rPr lang="en-US" sz="3600" b="1" dirty="0"/>
              <a:t>circuit</a:t>
            </a:r>
            <a:r>
              <a:rPr lang="en-US" sz="3600" dirty="0"/>
              <a:t>. </a:t>
            </a:r>
            <a:br>
              <a:rPr lang="en-US" sz="3200" dirty="0"/>
            </a:b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Sponge Bob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 Patrick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 Gary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 Karen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b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</a:b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Plankton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 Gary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 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 Sponge Bob</a:t>
            </a:r>
            <a:endParaRPr lang="en-US" sz="3200" dirty="0"/>
          </a:p>
        </p:txBody>
      </p:sp>
      <p:grpSp>
        <p:nvGrpSpPr>
          <p:cNvPr id="6" name="Group 5" descr="This image depicts an undirected (a.k.a. bidirectional), weighted graph where nodes represent characters and edges represent distances between them (in meters). &#10;Edges:&#10;{(SpongeBob, Patrick, 2m), (SpongeBob, Gary, 1m), (SpongeBob, Mr. Krabs, 12m), (Patrick, Gary, 4m), (Patrick, Karen, 43m), (Karen, Gary, 55m), (Karen, Plankton, 3m), (Plankton, Gary, 5m), (Mr. Krabs, Fish 1, 23m)}&#10;&#10;Verbal description:&#10;- SpongeBob is connected to:&#10;  - Patrick (2 meters)&#10;  - Gary (1 meter)&#10;  - Mr. Krabs (12 meters)&#10;&#10;- Patrick is connected to:&#10;  - SpongeBob (2 meters)&#10;  - Karen (43 meters)&#10;  - Gary (4 meters)&#10;&#10;- Gary is connected to:&#10;  - SpongeBob (1 meter)&#10;  - Patrick (4 meters)&#10;  - Karen (55 meters)&#10;  - Plankton (5 meters)&#10;&#10;- Mr. Krabs is connected to:&#10;  - SpongeBob (12 meters)&#10;  - Fish 1 (23 meters)&#10;&#10;- Fish 1 is connected to:&#10;  - Mr. Krabs (23 meters)&#10;&#10;- Karen is connected to:&#10;  - Patrick (43 meters)&#10;  - Plankton (3 meters)&#10;  - Gary (55 meters)&#10;&#10;- Plankton is connected to:&#10;  - Karen (3 meters)&#10;  - Gary (5 meters)">
            <a:extLst>
              <a:ext uri="{FF2B5EF4-FFF2-40B4-BE49-F238E27FC236}">
                <a16:creationId xmlns:a16="http://schemas.microsoft.com/office/drawing/2014/main" id="{44F9E4E3-573E-318B-5908-72B282288E71}"/>
              </a:ext>
            </a:extLst>
          </p:cNvPr>
          <p:cNvGrpSpPr/>
          <p:nvPr/>
        </p:nvGrpSpPr>
        <p:grpSpPr>
          <a:xfrm>
            <a:off x="1382582" y="2187493"/>
            <a:ext cx="6953123" cy="4544358"/>
            <a:chOff x="1346039" y="2023710"/>
            <a:chExt cx="6953123" cy="4544358"/>
          </a:xfrm>
        </p:grpSpPr>
        <p:pic>
          <p:nvPicPr>
            <p:cNvPr id="7" name="Picture 2" descr="This image depicts an undirected (a.k.a. bidirectional), weighted graph where nodes represent characters and edges represent distances between them (in meters). &#10;Edges:&#10;{(SpongeBob, Patrick, 2m), (SpongeBob, Gary, 1m), (SpongeBob, Mr. Krabs, 12m), (Patrick, Gary, 4m), (Patrick, Karen, 43m), (Karen, Gary, 55m), (Karen, Plankton, 3m), (Plankton, Gary, 5m), (Mr. Krabs, Fish 1, 23m)}&#10;&#10;Verbal description:&#10;- SpongeBob is connected to:&#10;  - Patrick (2 meters)&#10;  - Gary (1 meter)&#10;  - Mr. Krabs (12 meters)&#10;&#10;- Patrick is connected to:&#10;  - SpongeBob (2 meters)&#10;  - Karen (43 meters)&#10;  - Gary (4 meters)&#10;&#10;- Gary is connected to:&#10;  - SpongeBob (1 meter)&#10;  - Patrick (4 meters)&#10;  - Karen (55 meters)&#10;  - Plankton (5 meters)&#10;&#10;- Mr. Krabs is connected to:&#10;  - SpongeBob (12 meters)&#10;  - Fish 1 (23 meters)&#10;&#10;- Fish 1 is connected to:&#10;  - Mr. Krabs (23 meters)&#10;&#10;- Karen is connected to:&#10;  - Patrick (43 meters)&#10;  - Plankton (3 meters)&#10;  - Gary (55 meters)&#10;&#10;- Plankton is connected to:&#10;  - Karen (3 meters)&#10;  - Gary (5 meters)">
              <a:extLst>
                <a:ext uri="{FF2B5EF4-FFF2-40B4-BE49-F238E27FC236}">
                  <a16:creationId xmlns:a16="http://schemas.microsoft.com/office/drawing/2014/main" id="{5F39D935-AA97-7A78-B1EF-563FA034B21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03" r="5588" b="24159"/>
            <a:stretch/>
          </p:blipFill>
          <p:spPr bwMode="auto">
            <a:xfrm>
              <a:off x="1346039" y="2023710"/>
              <a:ext cx="6953123" cy="4544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9ED2D69-A4BE-DB44-449D-FC0E412F80E8}"/>
                </a:ext>
              </a:extLst>
            </p:cNvPr>
            <p:cNvSpPr/>
            <p:nvPr/>
          </p:nvSpPr>
          <p:spPr bwMode="auto">
            <a:xfrm>
              <a:off x="3746810" y="4248615"/>
              <a:ext cx="2776653" cy="1405053"/>
            </a:xfrm>
            <a:custGeom>
              <a:avLst/>
              <a:gdLst>
                <a:gd name="connsiteX0" fmla="*/ 0 w 2776653"/>
                <a:gd name="connsiteY0" fmla="*/ 0 h 1405053"/>
                <a:gd name="connsiteX1" fmla="*/ 334536 w 2776653"/>
                <a:gd name="connsiteY1" fmla="*/ 167268 h 1405053"/>
                <a:gd name="connsiteX2" fmla="*/ 1025912 w 2776653"/>
                <a:gd name="connsiteY2" fmla="*/ 412595 h 1405053"/>
                <a:gd name="connsiteX3" fmla="*/ 1973766 w 2776653"/>
                <a:gd name="connsiteY3" fmla="*/ 758283 h 1405053"/>
                <a:gd name="connsiteX4" fmla="*/ 2442117 w 2776653"/>
                <a:gd name="connsiteY4" fmla="*/ 1148575 h 1405053"/>
                <a:gd name="connsiteX5" fmla="*/ 2776653 w 2776653"/>
                <a:gd name="connsiteY5" fmla="*/ 1405053 h 1405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76653" h="1405053">
                  <a:moveTo>
                    <a:pt x="0" y="0"/>
                  </a:moveTo>
                  <a:cubicBezTo>
                    <a:pt x="81775" y="49251"/>
                    <a:pt x="163551" y="98502"/>
                    <a:pt x="334536" y="167268"/>
                  </a:cubicBezTo>
                  <a:cubicBezTo>
                    <a:pt x="505521" y="236034"/>
                    <a:pt x="1025912" y="412595"/>
                    <a:pt x="1025912" y="412595"/>
                  </a:cubicBezTo>
                  <a:cubicBezTo>
                    <a:pt x="1299117" y="511097"/>
                    <a:pt x="1737732" y="635620"/>
                    <a:pt x="1973766" y="758283"/>
                  </a:cubicBezTo>
                  <a:cubicBezTo>
                    <a:pt x="2209800" y="880946"/>
                    <a:pt x="2308303" y="1040780"/>
                    <a:pt x="2442117" y="1148575"/>
                  </a:cubicBezTo>
                  <a:cubicBezTo>
                    <a:pt x="2575931" y="1256370"/>
                    <a:pt x="2676292" y="1330711"/>
                    <a:pt x="2776653" y="1405053"/>
                  </a:cubicBezTo>
                </a:path>
              </a:pathLst>
            </a:cu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1FC5E99-DF36-86F7-9092-3C166B5349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07728" y="4798741"/>
              <a:ext cx="300935" cy="2507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64897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CBDE8A9-B597-44F0-13D3-EA2EBED92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199" y="-1143000"/>
            <a:ext cx="7772400" cy="1143000"/>
          </a:xfrm>
        </p:spPr>
        <p:txBody>
          <a:bodyPr/>
          <a:lstStyle/>
          <a:p>
            <a:r>
              <a:rPr lang="en-US" dirty="0"/>
              <a:t>Path definition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B52DB0-C138-4F28-BAF0-55441BBBF32B}"/>
              </a:ext>
            </a:extLst>
          </p:cNvPr>
          <p:cNvSpPr/>
          <p:nvPr/>
        </p:nvSpPr>
        <p:spPr>
          <a:xfrm>
            <a:off x="685800" y="388203"/>
            <a:ext cx="8229600" cy="15225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A </a:t>
            </a:r>
            <a:r>
              <a:rPr lang="en-US" sz="2800" b="1" dirty="0"/>
              <a:t>path</a:t>
            </a:r>
            <a:r>
              <a:rPr lang="en-US" sz="2800" dirty="0"/>
              <a:t> is a </a:t>
            </a:r>
            <a:r>
              <a:rPr lang="en-US" sz="2800" i="1" dirty="0"/>
              <a:t>trail</a:t>
            </a:r>
            <a:r>
              <a:rPr lang="en-US" sz="2800" dirty="0"/>
              <a:t> in which all </a:t>
            </a:r>
            <a:r>
              <a:rPr lang="en-US" sz="2800" u="sng" dirty="0"/>
              <a:t>vertices</a:t>
            </a:r>
            <a:r>
              <a:rPr lang="en-US" sz="2800" dirty="0"/>
              <a:t> are distinct</a:t>
            </a:r>
            <a:br>
              <a:rPr lang="en-US" sz="2800" dirty="0"/>
            </a:br>
            <a:r>
              <a:rPr lang="en-US" sz="2800" dirty="0"/>
              <a:t>(except perhaps the start and ending vertices).  </a:t>
            </a:r>
          </a:p>
          <a:p>
            <a:pPr algn="ctr">
              <a:lnSpc>
                <a:spcPct val="150000"/>
              </a:lnSpc>
            </a:pP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Sponge Bob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 Gary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 Patrick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 Karen</a:t>
            </a:r>
            <a:endParaRPr lang="en-US" sz="2800" dirty="0"/>
          </a:p>
        </p:txBody>
      </p:sp>
      <p:grpSp>
        <p:nvGrpSpPr>
          <p:cNvPr id="6" name="Group 5" descr="This image depicts an undirected (a.k.a. bidirectional), weighted graph where nodes represent characters and edges represent distances between them (in meters). &#10;Edges:&#10;{(SpongeBob, Patrick, 2m), (SpongeBob, Gary, 1m), (SpongeBob, Mr. Krabs, 12m), (Patrick, Gary, 4m), (Patrick, Karen, 43m), (Karen, Gary, 55m), (Karen, Plankton, 3m), (Plankton, Gary, 5m), (Mr. Krabs, Fish 1, 23m)}&#10;&#10;Verbal description:&#10;- SpongeBob is connected to:&#10;  - Patrick (2 meters)&#10;  - Gary (1 meter)&#10;  - Mr. Krabs (12 meters)&#10;&#10;- Patrick is connected to:&#10;  - SpongeBob (2 meters)&#10;  - Karen (43 meters)&#10;  - Gary (4 meters)&#10;&#10;- Gary is connected to:&#10;  - SpongeBob (1 meter)&#10;  - Patrick (4 meters)&#10;  - Karen (55 meters)&#10;  - Plankton (5 meters)&#10;&#10;- Mr. Krabs is connected to:&#10;  - SpongeBob (12 meters)&#10;  - Fish 1 (23 meters)&#10;&#10;- Fish 1 is connected to:&#10;  - Mr. Krabs (23 meters)&#10;&#10;- Karen is connected to:&#10;  - Patrick (43 meters)&#10;  - Plankton (3 meters)&#10;  - Gary (55 meters)&#10;&#10;- Plankton is connected to:&#10;  - Karen (3 meters)&#10;  - Gary (5 meters)">
            <a:extLst>
              <a:ext uri="{FF2B5EF4-FFF2-40B4-BE49-F238E27FC236}">
                <a16:creationId xmlns:a16="http://schemas.microsoft.com/office/drawing/2014/main" id="{501D24A4-1D0B-E8A8-AAFF-0186DA685120}"/>
              </a:ext>
            </a:extLst>
          </p:cNvPr>
          <p:cNvGrpSpPr/>
          <p:nvPr/>
        </p:nvGrpSpPr>
        <p:grpSpPr>
          <a:xfrm>
            <a:off x="1346039" y="2135220"/>
            <a:ext cx="6953123" cy="4544358"/>
            <a:chOff x="1346039" y="2023710"/>
            <a:chExt cx="6953123" cy="4544358"/>
          </a:xfrm>
        </p:grpSpPr>
        <p:pic>
          <p:nvPicPr>
            <p:cNvPr id="7" name="Picture 2" descr="This image depicts an undirected (a.k.a. bidirectional), weighted graph where nodes represent characters and edges represent distances between them (in meters). &#10;Edges:&#10;{(SpongeBob, Patrick, 2m), (SpongeBob, Gary, 1m), (SpongeBob, Mr. Krabs, 12m), (Patrick, Gary, 4m), (Patrick, Karen, 43m), (Karen, Gary, 55m), (Karen, Plankton, 3m), (Plankton, Gary, 5m), (Mr. Krabs, Fish 1, 23m)}&#10;&#10;Verbal description:&#10;- SpongeBob is connected to:&#10;  - Patrick (2 meters)&#10;  - Gary (1 meter)&#10;  - Mr. Krabs (12 meters)&#10;&#10;- Patrick is connected to:&#10;  - SpongeBob (2 meters)&#10;  - Karen (43 meters)&#10;  - Gary (4 meters)&#10;&#10;- Gary is connected to:&#10;  - SpongeBob (1 meter)&#10;  - Patrick (4 meters)&#10;  - Karen (55 meters)&#10;  - Plankton (5 meters)&#10;&#10;- Mr. Krabs is connected to:&#10;  - SpongeBob (12 meters)&#10;  - Fish 1 (23 meters)&#10;&#10;- Fish 1 is connected to:&#10;  - Mr. Krabs (23 meters)&#10;&#10;- Karen is connected to:&#10;  - Patrick (43 meters)&#10;  - Plankton (3 meters)&#10;  - Gary (55 meters)&#10;&#10;- Plankton is connected to:&#10;  - Karen (3 meters)&#10;  - Gary (5 meters)">
              <a:extLst>
                <a:ext uri="{FF2B5EF4-FFF2-40B4-BE49-F238E27FC236}">
                  <a16:creationId xmlns:a16="http://schemas.microsoft.com/office/drawing/2014/main" id="{A101E2B7-0629-A65C-01B7-BBAEDB7425F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03" r="5588" b="24159"/>
            <a:stretch/>
          </p:blipFill>
          <p:spPr bwMode="auto">
            <a:xfrm>
              <a:off x="1346039" y="2023710"/>
              <a:ext cx="6953123" cy="4544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A7B3287-D16E-B5AD-5CCE-6C81D6A5FA57}"/>
                </a:ext>
              </a:extLst>
            </p:cNvPr>
            <p:cNvSpPr/>
            <p:nvPr/>
          </p:nvSpPr>
          <p:spPr bwMode="auto">
            <a:xfrm>
              <a:off x="3746810" y="4248615"/>
              <a:ext cx="2776653" cy="1405053"/>
            </a:xfrm>
            <a:custGeom>
              <a:avLst/>
              <a:gdLst>
                <a:gd name="connsiteX0" fmla="*/ 0 w 2776653"/>
                <a:gd name="connsiteY0" fmla="*/ 0 h 1405053"/>
                <a:gd name="connsiteX1" fmla="*/ 334536 w 2776653"/>
                <a:gd name="connsiteY1" fmla="*/ 167268 h 1405053"/>
                <a:gd name="connsiteX2" fmla="*/ 1025912 w 2776653"/>
                <a:gd name="connsiteY2" fmla="*/ 412595 h 1405053"/>
                <a:gd name="connsiteX3" fmla="*/ 1973766 w 2776653"/>
                <a:gd name="connsiteY3" fmla="*/ 758283 h 1405053"/>
                <a:gd name="connsiteX4" fmla="*/ 2442117 w 2776653"/>
                <a:gd name="connsiteY4" fmla="*/ 1148575 h 1405053"/>
                <a:gd name="connsiteX5" fmla="*/ 2776653 w 2776653"/>
                <a:gd name="connsiteY5" fmla="*/ 1405053 h 1405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76653" h="1405053">
                  <a:moveTo>
                    <a:pt x="0" y="0"/>
                  </a:moveTo>
                  <a:cubicBezTo>
                    <a:pt x="81775" y="49251"/>
                    <a:pt x="163551" y="98502"/>
                    <a:pt x="334536" y="167268"/>
                  </a:cubicBezTo>
                  <a:cubicBezTo>
                    <a:pt x="505521" y="236034"/>
                    <a:pt x="1025912" y="412595"/>
                    <a:pt x="1025912" y="412595"/>
                  </a:cubicBezTo>
                  <a:cubicBezTo>
                    <a:pt x="1299117" y="511097"/>
                    <a:pt x="1737732" y="635620"/>
                    <a:pt x="1973766" y="758283"/>
                  </a:cubicBezTo>
                  <a:cubicBezTo>
                    <a:pt x="2209800" y="880946"/>
                    <a:pt x="2308303" y="1040780"/>
                    <a:pt x="2442117" y="1148575"/>
                  </a:cubicBezTo>
                  <a:cubicBezTo>
                    <a:pt x="2575931" y="1256370"/>
                    <a:pt x="2676292" y="1330711"/>
                    <a:pt x="2776653" y="1405053"/>
                  </a:cubicBezTo>
                </a:path>
              </a:pathLst>
            </a:cu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ACE8296-2DD9-BF31-8733-54F2C3ED20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07728" y="4798741"/>
              <a:ext cx="300935" cy="2507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16407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210F908-8EDD-5195-68FC-786F5E58AC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771226" y="-709624"/>
            <a:ext cx="4572000" cy="52322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badi" panose="020B0604020104020204" pitchFamily="34" charset="0"/>
                <a:ea typeface="+mn-ea"/>
                <a:cs typeface="Arial" panose="020B0604020202020204" pitchFamily="34" charset="0"/>
              </a:rPr>
              <a:t>Cycle definition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B52DB0-C138-4F28-BAF0-55441BBBF32B}"/>
              </a:ext>
            </a:extLst>
          </p:cNvPr>
          <p:cNvSpPr/>
          <p:nvPr/>
        </p:nvSpPr>
        <p:spPr>
          <a:xfrm>
            <a:off x="685800" y="171456"/>
            <a:ext cx="8229600" cy="1214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A </a:t>
            </a:r>
            <a:r>
              <a:rPr lang="en-US" sz="3600" b="1" dirty="0"/>
              <a:t>closed path </a:t>
            </a:r>
            <a:r>
              <a:rPr lang="en-US" sz="3600" dirty="0"/>
              <a:t>is known as a </a:t>
            </a:r>
            <a:r>
              <a:rPr lang="en-US" sz="3600" b="1" dirty="0"/>
              <a:t>cycle</a:t>
            </a:r>
            <a:r>
              <a:rPr lang="en-US" sz="3600" dirty="0"/>
              <a:t>.</a:t>
            </a:r>
          </a:p>
          <a:p>
            <a:pPr algn="ctr">
              <a:lnSpc>
                <a:spcPct val="150000"/>
              </a:lnSpc>
            </a:pP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Gary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</a:rPr>
              <a:t> Patrick </a:t>
            </a:r>
            <a:r>
              <a:rPr lang="en-US" sz="2800" dirty="0">
                <a:solidFill>
                  <a:srgbClr val="222222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 Karen  Gary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47096A-2A5E-9AAE-7D28-6004407F11A9}"/>
              </a:ext>
            </a:extLst>
          </p:cNvPr>
          <p:cNvSpPr txBox="1"/>
          <p:nvPr/>
        </p:nvSpPr>
        <p:spPr>
          <a:xfrm>
            <a:off x="795866" y="5753400"/>
            <a:ext cx="3776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badi" panose="020B0604020104020204" pitchFamily="34" charset="0"/>
              </a:rPr>
              <a:t>A cycle </a:t>
            </a:r>
            <a:r>
              <a:rPr lang="en-US" b="1" u="sng" dirty="0">
                <a:solidFill>
                  <a:schemeClr val="accent2">
                    <a:lumMod val="75000"/>
                  </a:schemeClr>
                </a:solidFill>
                <a:latin typeface="Abadi" panose="020B0604020104020204" pitchFamily="34" charset="0"/>
              </a:rPr>
              <a:t>contains a path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badi" panose="020B0604020104020204" pitchFamily="34" charset="0"/>
              </a:rPr>
              <a:t>, </a:t>
            </a:r>
            <a:br>
              <a:rPr lang="en-US" b="1" dirty="0">
                <a:solidFill>
                  <a:schemeClr val="accent2">
                    <a:lumMod val="75000"/>
                  </a:schemeClr>
                </a:solidFill>
                <a:latin typeface="Abadi" panose="020B0604020104020204" pitchFamily="34" charset="0"/>
              </a:rPr>
            </a:b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badi" panose="020B0604020104020204" pitchFamily="34" charset="0"/>
              </a:rPr>
              <a:t>but is not itself a path.</a:t>
            </a:r>
            <a:endParaRPr lang="en-US" dirty="0"/>
          </a:p>
        </p:txBody>
      </p:sp>
      <p:grpSp>
        <p:nvGrpSpPr>
          <p:cNvPr id="7" name="Group 6" descr="This image depicts an undirected (a.k.a. bidirectional), weighted graph where nodes represent characters and edges represent distances between them (in meters). &#10;Edges:&#10;{(SpongeBob, Patrick, 2m), (SpongeBob, Gary, 1m), (SpongeBob, Mr. Krabs, 12m), (Patrick, Gary, 4m), (Patrick, Karen, 43m), (Karen, Gary, 55m), (Karen, Plankton, 3m), (Plankton, Gary, 5m), (Mr. Krabs, Fish 1, 23m)}&#10;&#10;Verbal description:&#10;- SpongeBob is connected to:&#10;  - Patrick (2 meters)&#10;  - Gary (1 meter)&#10;  - Mr. Krabs (12 meters)&#10;&#10;- Patrick is connected to:&#10;  - SpongeBob (2 meters)&#10;  - Karen (43 meters)&#10;  - Gary (4 meters)&#10;&#10;- Gary is connected to:&#10;  - SpongeBob (1 meter)&#10;  - Patrick (4 meters)&#10;  - Karen (55 meters)&#10;  - Plankton (5 meters)&#10;&#10;- Mr. Krabs is connected to:&#10;  - SpongeBob (12 meters)&#10;  - Fish 1 (23 meters)&#10;&#10;- Fish 1 is connected to:&#10;  - Mr. Krabs (23 meters)&#10;&#10;- Karen is connected to:&#10;  - Patrick (43 meters)&#10;  - Plankton (3 meters)&#10;  - Gary (55 meters)&#10;&#10;- Plankton is connected to:&#10;  - Karen (3 meters)&#10;  - Gary (5 meters)">
            <a:extLst>
              <a:ext uri="{FF2B5EF4-FFF2-40B4-BE49-F238E27FC236}">
                <a16:creationId xmlns:a16="http://schemas.microsoft.com/office/drawing/2014/main" id="{5FD3EE7F-90BA-DE8F-99D6-B2217AE02F58}"/>
              </a:ext>
            </a:extLst>
          </p:cNvPr>
          <p:cNvGrpSpPr/>
          <p:nvPr/>
        </p:nvGrpSpPr>
        <p:grpSpPr>
          <a:xfrm>
            <a:off x="1346039" y="2023710"/>
            <a:ext cx="6953123" cy="4544358"/>
            <a:chOff x="1346039" y="2023710"/>
            <a:chExt cx="6953123" cy="4544358"/>
          </a:xfrm>
        </p:grpSpPr>
        <p:pic>
          <p:nvPicPr>
            <p:cNvPr id="8" name="Picture 2" descr="This image depicts an undirected (a.k.a. bidirectional), weighted graph where nodes represent characters and edges represent distances between them (in meters). &#10;Edges:&#10;{(SpongeBob, Patrick, 2m), (SpongeBob, Gary, 1m), (SpongeBob, Mr. Krabs, 12m), (Patrick, Gary, 4m), (Patrick, Karen, 43m), (Karen, Gary, 55m), (Karen, Plankton, 3m), (Plankton, Gary, 5m), (Mr. Krabs, Fish 1, 23m)}&#10;&#10;Verbal description:&#10;- SpongeBob is connected to:&#10;  - Patrick (2 meters)&#10;  - Gary (1 meter)&#10;  - Mr. Krabs (12 meters)&#10;&#10;- Patrick is connected to:&#10;  - SpongeBob (2 meters)&#10;  - Karen (43 meters)&#10;  - Gary (4 meters)&#10;&#10;- Gary is connected to:&#10;  - SpongeBob (1 meter)&#10;  - Patrick (4 meters)&#10;  - Karen (55 meters)&#10;  - Plankton (5 meters)&#10;&#10;- Mr. Krabs is connected to:&#10;  - SpongeBob (12 meters)&#10;  - Fish 1 (23 meters)&#10;&#10;- Fish 1 is connected to:&#10;  - Mr. Krabs (23 meters)&#10;&#10;- Karen is connected to:&#10;  - Patrick (43 meters)&#10;  - Plankton (3 meters)&#10;  - Gary (55 meters)&#10;&#10;- Plankton is connected to:&#10;  - Karen (3 meters)&#10;  - Gary (5 meters)">
              <a:extLst>
                <a:ext uri="{FF2B5EF4-FFF2-40B4-BE49-F238E27FC236}">
                  <a16:creationId xmlns:a16="http://schemas.microsoft.com/office/drawing/2014/main" id="{60A8361E-EE8F-F16A-92AC-12C3B042651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03" r="5588" b="24159"/>
            <a:stretch/>
          </p:blipFill>
          <p:spPr bwMode="auto">
            <a:xfrm>
              <a:off x="1346039" y="2023710"/>
              <a:ext cx="6953123" cy="4544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6E7AFB8-FB2B-6FE6-DC7A-A85662B7C7F9}"/>
                </a:ext>
              </a:extLst>
            </p:cNvPr>
            <p:cNvSpPr/>
            <p:nvPr/>
          </p:nvSpPr>
          <p:spPr bwMode="auto">
            <a:xfrm>
              <a:off x="3746810" y="4248615"/>
              <a:ext cx="2776653" cy="1405053"/>
            </a:xfrm>
            <a:custGeom>
              <a:avLst/>
              <a:gdLst>
                <a:gd name="connsiteX0" fmla="*/ 0 w 2776653"/>
                <a:gd name="connsiteY0" fmla="*/ 0 h 1405053"/>
                <a:gd name="connsiteX1" fmla="*/ 334536 w 2776653"/>
                <a:gd name="connsiteY1" fmla="*/ 167268 h 1405053"/>
                <a:gd name="connsiteX2" fmla="*/ 1025912 w 2776653"/>
                <a:gd name="connsiteY2" fmla="*/ 412595 h 1405053"/>
                <a:gd name="connsiteX3" fmla="*/ 1973766 w 2776653"/>
                <a:gd name="connsiteY3" fmla="*/ 758283 h 1405053"/>
                <a:gd name="connsiteX4" fmla="*/ 2442117 w 2776653"/>
                <a:gd name="connsiteY4" fmla="*/ 1148575 h 1405053"/>
                <a:gd name="connsiteX5" fmla="*/ 2776653 w 2776653"/>
                <a:gd name="connsiteY5" fmla="*/ 1405053 h 1405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76653" h="1405053">
                  <a:moveTo>
                    <a:pt x="0" y="0"/>
                  </a:moveTo>
                  <a:cubicBezTo>
                    <a:pt x="81775" y="49251"/>
                    <a:pt x="163551" y="98502"/>
                    <a:pt x="334536" y="167268"/>
                  </a:cubicBezTo>
                  <a:cubicBezTo>
                    <a:pt x="505521" y="236034"/>
                    <a:pt x="1025912" y="412595"/>
                    <a:pt x="1025912" y="412595"/>
                  </a:cubicBezTo>
                  <a:cubicBezTo>
                    <a:pt x="1299117" y="511097"/>
                    <a:pt x="1737732" y="635620"/>
                    <a:pt x="1973766" y="758283"/>
                  </a:cubicBezTo>
                  <a:cubicBezTo>
                    <a:pt x="2209800" y="880946"/>
                    <a:pt x="2308303" y="1040780"/>
                    <a:pt x="2442117" y="1148575"/>
                  </a:cubicBezTo>
                  <a:cubicBezTo>
                    <a:pt x="2575931" y="1256370"/>
                    <a:pt x="2676292" y="1330711"/>
                    <a:pt x="2776653" y="1405053"/>
                  </a:cubicBezTo>
                </a:path>
              </a:pathLst>
            </a:cu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20EFAA9-AE46-8037-AC1D-6FD72307E8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07728" y="4798741"/>
              <a:ext cx="300935" cy="2507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8347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A31BA-5954-9DCA-DFB9-391AE5E0F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84" y="-1335132"/>
            <a:ext cx="7772400" cy="1143000"/>
          </a:xfrm>
        </p:spPr>
        <p:txBody>
          <a:bodyPr/>
          <a:lstStyle/>
          <a:p>
            <a:r>
              <a:rPr lang="en-US" dirty="0"/>
              <a:t>Classifying Walks 1</a:t>
            </a:r>
          </a:p>
        </p:txBody>
      </p:sp>
      <p:sp>
        <p:nvSpPr>
          <p:cNvPr id="28" name="TextBox 8">
            <a:extLst>
              <a:ext uri="{FF2B5EF4-FFF2-40B4-BE49-F238E27FC236}">
                <a16:creationId xmlns:a16="http://schemas.microsoft.com/office/drawing/2014/main" id="{02D5625A-2016-4987-AD81-09F13E3A7F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46" y="114077"/>
            <a:ext cx="729615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 dirty="0">
                <a:latin typeface="Tekton Pro" panose="020F0603020208020904" pitchFamily="34" charset="0"/>
              </a:rPr>
              <a:t>Given a group of edges &amp; nodes from a graph</a:t>
            </a:r>
            <a:endParaRPr lang="en-US" altLang="en-US" b="1" dirty="0">
              <a:latin typeface="Tekton Pro" panose="020F0603020208020904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83BB410-2390-4A57-915A-9CE680743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auto">
          <a:xfrm>
            <a:off x="2286000" y="680478"/>
            <a:ext cx="533400" cy="994532"/>
          </a:xfrm>
          <a:prstGeom prst="line">
            <a:avLst/>
          </a:prstGeom>
          <a:noFill/>
          <a:ln w="38100" algn="ctr">
            <a:solidFill>
              <a:srgbClr val="008000"/>
            </a:solidFill>
            <a:round/>
            <a:headEnd/>
            <a:tailEnd/>
          </a:ln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A7BF7BD-C5E3-48E4-B049-ED3B1D762319}"/>
              </a:ext>
            </a:extLst>
          </p:cNvPr>
          <p:cNvSpPr txBox="1"/>
          <p:nvPr/>
        </p:nvSpPr>
        <p:spPr>
          <a:xfrm>
            <a:off x="2715367" y="871007"/>
            <a:ext cx="49808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/>
              <a:t>i.e. possible to traverse?</a:t>
            </a:r>
          </a:p>
        </p:txBody>
      </p:sp>
      <p:sp>
        <p:nvSpPr>
          <p:cNvPr id="8196" name="TextBox 8">
            <a:extLst>
              <a:ext uri="{FF2B5EF4-FFF2-40B4-BE49-F238E27FC236}">
                <a16:creationId xmlns:a16="http://schemas.microsoft.com/office/drawing/2014/main" id="{16EE7FFD-980D-465B-94AC-66A026DCE0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8662" y="1663756"/>
            <a:ext cx="23862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 dirty="0">
                <a:latin typeface="Tekton Pro" panose="020F0603020208020904" pitchFamily="34" charset="0"/>
              </a:rPr>
              <a:t>Walk</a:t>
            </a:r>
            <a:endParaRPr lang="en-US" altLang="en-US" b="1" dirty="0">
              <a:latin typeface="Tekton Pro" panose="020F0603020208020904" pitchFamily="34" charset="0"/>
            </a:endParaRPr>
          </a:p>
        </p:txBody>
      </p:sp>
      <p:cxnSp>
        <p:nvCxnSpPr>
          <p:cNvPr id="8202" name="Straight Connector 26">
            <a:extLst>
              <a:ext uri="{FF2B5EF4-FFF2-40B4-BE49-F238E27FC236}">
                <a16:creationId xmlns:a16="http://schemas.microsoft.com/office/drawing/2014/main" id="{3C762799-7C57-4703-ADB9-A381875FF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8196" idx="2"/>
          </p:cNvCxnSpPr>
          <p:nvPr/>
        </p:nvCxnSpPr>
        <p:spPr bwMode="auto">
          <a:xfrm>
            <a:off x="2921794" y="2186976"/>
            <a:ext cx="431006" cy="957834"/>
          </a:xfrm>
          <a:prstGeom prst="line">
            <a:avLst/>
          </a:prstGeom>
          <a:noFill/>
          <a:ln w="38100" algn="ctr">
            <a:solidFill>
              <a:srgbClr val="008000"/>
            </a:solidFill>
            <a:round/>
            <a:headEnd/>
            <a:tailEnd/>
          </a:ln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BCD13CC-4E5A-49D0-83C7-3B87C0F33B1E}"/>
              </a:ext>
            </a:extLst>
          </p:cNvPr>
          <p:cNvSpPr txBox="1"/>
          <p:nvPr/>
        </p:nvSpPr>
        <p:spPr>
          <a:xfrm>
            <a:off x="3352800" y="2279239"/>
            <a:ext cx="49808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dirty="0"/>
              <a:t>edges distinct? (i.e. edges don’t repeat)</a:t>
            </a:r>
          </a:p>
        </p:txBody>
      </p:sp>
      <p:sp>
        <p:nvSpPr>
          <p:cNvPr id="8204" name="TextBox 31">
            <a:extLst>
              <a:ext uri="{FF2B5EF4-FFF2-40B4-BE49-F238E27FC236}">
                <a16:creationId xmlns:a16="http://schemas.microsoft.com/office/drawing/2014/main" id="{65E0B670-9FA3-48B2-9142-DB8D86769E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3651" y="3144810"/>
            <a:ext cx="224180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 dirty="0">
                <a:latin typeface="Tekton Pro" panose="020F0603020208020904" pitchFamily="34" charset="0"/>
              </a:rPr>
              <a:t>Trail</a:t>
            </a:r>
            <a:endParaRPr lang="en-US" altLang="en-US" b="1" dirty="0">
              <a:latin typeface="Tekton Pro" panose="020F0603020208020904" pitchFamily="34" charset="0"/>
            </a:endParaRPr>
          </a:p>
        </p:txBody>
      </p:sp>
      <p:cxnSp>
        <p:nvCxnSpPr>
          <p:cNvPr id="8203" name="Straight Connector 29">
            <a:extLst>
              <a:ext uri="{FF2B5EF4-FFF2-40B4-BE49-F238E27FC236}">
                <a16:creationId xmlns:a16="http://schemas.microsoft.com/office/drawing/2014/main" id="{2E21D6FE-456F-4B7B-89FD-5AC4F03AB8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8204" idx="2"/>
          </p:cNvCxnSpPr>
          <p:nvPr/>
        </p:nvCxnSpPr>
        <p:spPr bwMode="auto">
          <a:xfrm>
            <a:off x="3464552" y="3668030"/>
            <a:ext cx="574048" cy="1132570"/>
          </a:xfrm>
          <a:prstGeom prst="line">
            <a:avLst/>
          </a:prstGeom>
          <a:noFill/>
          <a:ln w="38100" algn="ctr">
            <a:solidFill>
              <a:srgbClr val="008000"/>
            </a:solidFill>
            <a:round/>
            <a:headEnd/>
            <a:tailEnd/>
          </a:ln>
        </p:spPr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BF23B18-6762-45FA-803C-EA4722AA1487}"/>
              </a:ext>
            </a:extLst>
          </p:cNvPr>
          <p:cNvSpPr txBox="1"/>
          <p:nvPr/>
        </p:nvSpPr>
        <p:spPr>
          <a:xfrm>
            <a:off x="3953377" y="3897097"/>
            <a:ext cx="22937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dirty="0"/>
              <a:t>vertices distinct?</a:t>
            </a:r>
          </a:p>
        </p:txBody>
      </p:sp>
      <p:sp>
        <p:nvSpPr>
          <p:cNvPr id="8207" name="TextBox 36">
            <a:extLst>
              <a:ext uri="{FF2B5EF4-FFF2-40B4-BE49-F238E27FC236}">
                <a16:creationId xmlns:a16="http://schemas.microsoft.com/office/drawing/2014/main" id="{BF9861FE-581F-4AFF-9225-F1A278F438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1524" y="4744402"/>
            <a:ext cx="199415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 dirty="0">
                <a:latin typeface="Tekton Pro" panose="020F0603020208020904" pitchFamily="34" charset="0"/>
              </a:rPr>
              <a:t>Path</a:t>
            </a:r>
            <a:endParaRPr lang="en-US" altLang="en-US" b="1" dirty="0">
              <a:latin typeface="Tekton Pro" panose="020F06030202080209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C06C510-D5FE-49B2-91A1-45C727852948}"/>
              </a:ext>
            </a:extLst>
          </p:cNvPr>
          <p:cNvSpPr txBox="1"/>
          <p:nvPr/>
        </p:nvSpPr>
        <p:spPr>
          <a:xfrm>
            <a:off x="4241192" y="5498455"/>
            <a:ext cx="17445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dirty="0"/>
              <a:t>start=end?</a:t>
            </a:r>
          </a:p>
        </p:txBody>
      </p:sp>
      <p:sp>
        <p:nvSpPr>
          <p:cNvPr id="8210" name="TextBox 39">
            <a:extLst>
              <a:ext uri="{FF2B5EF4-FFF2-40B4-BE49-F238E27FC236}">
                <a16:creationId xmlns:a16="http://schemas.microsoft.com/office/drawing/2014/main" id="{F910A171-A922-4E8F-8A7F-51F1EBFDB8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3684" y="6220048"/>
            <a:ext cx="1600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 dirty="0">
                <a:latin typeface="Tekton Pro" panose="020F0603020208020904" pitchFamily="34" charset="0"/>
              </a:rPr>
              <a:t>Cycle</a:t>
            </a:r>
            <a:endParaRPr lang="en-US" altLang="en-US" b="1" dirty="0">
              <a:latin typeface="Tekton Pro" panose="020F0603020208020904" pitchFamily="34" charset="0"/>
            </a:endParaRPr>
          </a:p>
        </p:txBody>
      </p:sp>
      <p:cxnSp>
        <p:nvCxnSpPr>
          <p:cNvPr id="8209" name="Straight Connector 38">
            <a:extLst>
              <a:ext uri="{FF2B5EF4-FFF2-40B4-BE49-F238E27FC236}">
                <a16:creationId xmlns:a16="http://schemas.microsoft.com/office/drawing/2014/main" id="{6FDE98A9-7EC0-4E68-AFC1-082D6A8075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8207" idx="2"/>
            <a:endCxn id="8210" idx="0"/>
          </p:cNvCxnSpPr>
          <p:nvPr/>
        </p:nvCxnSpPr>
        <p:spPr bwMode="auto">
          <a:xfrm>
            <a:off x="4038600" y="5267622"/>
            <a:ext cx="405184" cy="952426"/>
          </a:xfrm>
          <a:prstGeom prst="line">
            <a:avLst/>
          </a:prstGeom>
          <a:noFill/>
          <a:ln w="38100" algn="ctr">
            <a:solidFill>
              <a:srgbClr val="008000"/>
            </a:solidFill>
            <a:round/>
            <a:headEnd/>
            <a:tailEnd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CD4FB93-E45A-0E5B-23BB-5DD04F8CB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19976" y="-1317252"/>
            <a:ext cx="7772400" cy="1143000"/>
          </a:xfrm>
        </p:spPr>
        <p:txBody>
          <a:bodyPr/>
          <a:lstStyle/>
          <a:p>
            <a:pPr algn="ctr"/>
            <a:r>
              <a:rPr lang="en-US" sz="4000" b="1" dirty="0"/>
              <a:t>Classifying Walks 2</a:t>
            </a:r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01B32195-ABBD-BA9D-649F-3AE5C740D733}"/>
              </a:ext>
            </a:extLst>
          </p:cNvPr>
          <p:cNvSpPr txBox="1">
            <a:spLocks/>
          </p:cNvSpPr>
          <p:nvPr/>
        </p:nvSpPr>
        <p:spPr bwMode="auto">
          <a:xfrm>
            <a:off x="865581" y="19596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/>
            <a:r>
              <a:rPr lang="en-US" b="1" kern="0"/>
              <a:t>Classifying Types of Walks</a:t>
            </a:r>
            <a:endParaRPr lang="en-US" b="1" kern="0" dirty="0"/>
          </a:p>
        </p:txBody>
      </p:sp>
      <p:graphicFrame>
        <p:nvGraphicFramePr>
          <p:cNvPr id="5" name="Table 4" descr="Classifying types of walks">
            <a:extLst>
              <a:ext uri="{FF2B5EF4-FFF2-40B4-BE49-F238E27FC236}">
                <a16:creationId xmlns:a16="http://schemas.microsoft.com/office/drawing/2014/main" id="{2A8E8476-985C-65D5-66E2-FCF3C566D4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2357974"/>
              </p:ext>
            </p:extLst>
          </p:nvPr>
        </p:nvGraphicFramePr>
        <p:xfrm>
          <a:off x="591014" y="1628893"/>
          <a:ext cx="8430324" cy="31089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419815">
                  <a:extLst>
                    <a:ext uri="{9D8B030D-6E8A-4147-A177-3AD203B41FA5}">
                      <a16:colId xmlns:a16="http://schemas.microsoft.com/office/drawing/2014/main" val="2986153984"/>
                    </a:ext>
                  </a:extLst>
                </a:gridCol>
                <a:gridCol w="2977376">
                  <a:extLst>
                    <a:ext uri="{9D8B030D-6E8A-4147-A177-3AD203B41FA5}">
                      <a16:colId xmlns:a16="http://schemas.microsoft.com/office/drawing/2014/main" val="4248156122"/>
                    </a:ext>
                  </a:extLst>
                </a:gridCol>
                <a:gridCol w="3033133">
                  <a:extLst>
                    <a:ext uri="{9D8B030D-6E8A-4147-A177-3AD203B41FA5}">
                      <a16:colId xmlns:a16="http://schemas.microsoft.com/office/drawing/2014/main" val="42102925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3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chemeClr val="bg1"/>
                          </a:solidFill>
                        </a:rPr>
                        <a:t>Edges </a:t>
                      </a:r>
                      <a:br>
                        <a:rPr lang="en-US" sz="3600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sz="3600" b="1" dirty="0">
                          <a:solidFill>
                            <a:schemeClr val="bg1"/>
                          </a:solidFill>
                        </a:rPr>
                        <a:t>may repeat</a:t>
                      </a:r>
                      <a:endParaRPr lang="en-US" sz="36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chemeClr val="bg1"/>
                          </a:solidFill>
                        </a:rPr>
                        <a:t>Vertices </a:t>
                      </a:r>
                      <a:br>
                        <a:rPr lang="en-US" sz="3600" b="1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sz="3600" b="1" dirty="0">
                          <a:solidFill>
                            <a:schemeClr val="bg1"/>
                          </a:solidFill>
                        </a:rPr>
                        <a:t>may repeat</a:t>
                      </a:r>
                      <a:endParaRPr lang="en-US" sz="36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715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Walk</a:t>
                      </a:r>
                      <a:endParaRPr lang="en-US" sz="36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rgbClr val="2D5CB9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kern="1200" dirty="0">
                          <a:solidFill>
                            <a:srgbClr val="2D5CB9"/>
                          </a:solidFill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7478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Trail</a:t>
                      </a:r>
                      <a:endParaRPr lang="en-US" sz="36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no</a:t>
                      </a:r>
                      <a:endParaRPr lang="en-US" sz="3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kern="1200" dirty="0">
                          <a:solidFill>
                            <a:srgbClr val="2D5CB9"/>
                          </a:solidFill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6558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Path</a:t>
                      </a:r>
                      <a:endParaRPr lang="en-US" sz="3600" dirty="0">
                        <a:solidFill>
                          <a:schemeClr val="tx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no</a:t>
                      </a:r>
                      <a:endParaRPr lang="en-US" sz="3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no*</a:t>
                      </a:r>
                      <a:endParaRPr lang="en-US" sz="3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779140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E2E5C0B-9FD5-A5E0-5DF5-27BF764017A0}"/>
              </a:ext>
            </a:extLst>
          </p:cNvPr>
          <p:cNvSpPr txBox="1"/>
          <p:nvPr/>
        </p:nvSpPr>
        <p:spPr>
          <a:xfrm>
            <a:off x="800596" y="5608312"/>
            <a:ext cx="8011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latin typeface="Calibri" panose="020F0502020204030204" pitchFamily="34" charset="0"/>
                <a:ea typeface="Times New Roman" panose="02020603050405020304" pitchFamily="18" charset="0"/>
              </a:rPr>
              <a:t>* Except the start and end can match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263684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774C7-8127-5661-A2C9-9FFD71FBE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-1143000"/>
            <a:ext cx="7772400" cy="1143000"/>
          </a:xfrm>
        </p:spPr>
        <p:txBody>
          <a:bodyPr/>
          <a:lstStyle/>
          <a:p>
            <a:r>
              <a:rPr lang="en-US" dirty="0"/>
              <a:t>Classifying walk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77F4A3-EB29-4135-B016-5E5587945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990600" cy="6858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pic>
        <p:nvPicPr>
          <p:cNvPr id="27" name="Picture 2" descr="A diagram explaining the types of walks, where a walk as any possible traversal of part or all of a graph.&#10;A walk is a path in nothing repeats or it's a trail if only vertices repeat.&#10;Every path is technically also a trail and a walk.&#10;A path is a cycle if it's closed. Technically a cycle is a path with one edge added to take you back to the start.&#10;A trail is a circuit if it's closed.  Every cycle is also a circuit.">
            <a:extLst>
              <a:ext uri="{FF2B5EF4-FFF2-40B4-BE49-F238E27FC236}">
                <a16:creationId xmlns:a16="http://schemas.microsoft.com/office/drawing/2014/main" id="{D6F05885-D828-4E2C-A719-43DF4EC886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40"/>
          <a:stretch/>
        </p:blipFill>
        <p:spPr bwMode="auto">
          <a:xfrm>
            <a:off x="152400" y="850232"/>
            <a:ext cx="8839200" cy="4390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2600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91A75D7-86A5-ADE5-6FA6-FEB6CBA4A1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85800" y="-1337582"/>
            <a:ext cx="7772400" cy="1143000"/>
          </a:xfrm>
        </p:spPr>
        <p:txBody>
          <a:bodyPr/>
          <a:lstStyle/>
          <a:p>
            <a:r>
              <a:rPr lang="en-US" sz="4000" dirty="0"/>
              <a:t>Cyclic Graphs and Cycle Graphs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0E8E12-E4D6-40D2-BB74-F40D65063E0D}"/>
              </a:ext>
            </a:extLst>
          </p:cNvPr>
          <p:cNvSpPr/>
          <p:nvPr/>
        </p:nvSpPr>
        <p:spPr>
          <a:xfrm>
            <a:off x="995679" y="204692"/>
            <a:ext cx="756877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240" marR="0" algn="ctr"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A </a:t>
            </a:r>
            <a:r>
              <a:rPr lang="en-US" sz="3200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cyclic graph</a:t>
            </a: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3200" u="sng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contains</a:t>
            </a: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a cycle.</a:t>
            </a:r>
            <a:endParaRPr lang="en-US" sz="4000" dirty="0">
              <a:ea typeface="Times New Roman" panose="02020603050405020304" pitchFamily="18" charset="0"/>
            </a:endParaRPr>
          </a:p>
        </p:txBody>
      </p:sp>
      <p:pic>
        <p:nvPicPr>
          <p:cNvPr id="4098" name="Picture 2" descr="An undirected graph:&#10;Adjacency list:&#10;a : f&#10;b : c, e, h&#10;c : b, d, f&#10;d : c, e&#10;e : b, d&#10;f : a, g&#10;g : f&#10;h : b&#10;The graph is cyclic because the walk bcde is a cycle.">
            <a:extLst>
              <a:ext uri="{FF2B5EF4-FFF2-40B4-BE49-F238E27FC236}">
                <a16:creationId xmlns:a16="http://schemas.microsoft.com/office/drawing/2014/main" id="{BAA4C94D-8255-46E7-ADD5-4A5F7CAA8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504" y="907017"/>
            <a:ext cx="4284068" cy="2838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 descr="A directed graph:&#10;A : B&#10;B : C&#10;C : D&#10;D : E, F&#10;E : B&#10;F : none&#10;The graph is cyclic because of cycle BCDE.">
            <a:extLst>
              <a:ext uri="{FF2B5EF4-FFF2-40B4-BE49-F238E27FC236}">
                <a16:creationId xmlns:a16="http://schemas.microsoft.com/office/drawing/2014/main" id="{6D1CB03D-4821-024A-CD97-ED22EE9AB891}"/>
              </a:ext>
            </a:extLst>
          </p:cNvPr>
          <p:cNvGrpSpPr/>
          <p:nvPr/>
        </p:nvGrpSpPr>
        <p:grpSpPr>
          <a:xfrm>
            <a:off x="4504809" y="1281999"/>
            <a:ext cx="4532473" cy="2454885"/>
            <a:chOff x="3505200" y="3681212"/>
            <a:chExt cx="5346168" cy="2895600"/>
          </a:xfrm>
        </p:grpSpPr>
        <p:pic>
          <p:nvPicPr>
            <p:cNvPr id="3076" name="Picture 4">
              <a:extLst>
                <a:ext uri="{FF2B5EF4-FFF2-40B4-BE49-F238E27FC236}">
                  <a16:creationId xmlns:a16="http://schemas.microsoft.com/office/drawing/2014/main" id="{F5AF548D-38A9-47BF-A81C-9BE9864F52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05200" y="3681212"/>
              <a:ext cx="5346168" cy="2895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29C7A68-210E-44AC-8773-53FEC4D85A7C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841644" y="4256468"/>
              <a:ext cx="514080" cy="582766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7F7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78232D2-5D89-4796-8243-7F2F2C34295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832242" y="4301544"/>
              <a:ext cx="478196" cy="53769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7F7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E34F410-3B84-438B-B4FF-7C8822A56BEB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815138" y="5310188"/>
              <a:ext cx="478631" cy="561975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7F7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C00015C9-381C-4CB7-8DCE-EFF40C2A22C5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841644" y="5310188"/>
              <a:ext cx="496356" cy="561975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7F7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4CD014F5-2F22-4851-C77F-9ABF609ADC1C}"/>
              </a:ext>
            </a:extLst>
          </p:cNvPr>
          <p:cNvSpPr/>
          <p:nvPr/>
        </p:nvSpPr>
        <p:spPr>
          <a:xfrm>
            <a:off x="978744" y="3854435"/>
            <a:ext cx="789153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240" marR="0"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A </a:t>
            </a:r>
            <a:r>
              <a:rPr lang="en-US" sz="3200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circular graph </a:t>
            </a:r>
            <a:r>
              <a:rPr lang="en-US" sz="3200" u="sng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is</a:t>
            </a: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a cycle.</a:t>
            </a:r>
            <a:endParaRPr lang="en-US" sz="4000" dirty="0">
              <a:ea typeface="Times New Roman" panose="02020603050405020304" pitchFamily="18" charset="0"/>
            </a:endParaRPr>
          </a:p>
        </p:txBody>
      </p:sp>
      <p:pic>
        <p:nvPicPr>
          <p:cNvPr id="5" name="Picture 2" descr="A cycle/circular graph is a cycle. I.e. it contains one cycle, and that cycle traverses all of the vertices.&#10;Three examples are shown.&#10;Graph 1 contains three nodes and is drawn as a triangle:&#10;A : B&#10;B : C&#10;C : A&#10;Cycle ABCA traverses all nodes, so it's a cycle graph.&#10;Graph 2 is composed of four nodes and is drawn as a square. You can start at any node and traverse all of them, ending up back at your starting node, so it's also a cycle graph.&#10;The third graph contains five node and is drawn as a pentagon. It's also a cycle graph.">
            <a:extLst>
              <a:ext uri="{FF2B5EF4-FFF2-40B4-BE49-F238E27FC236}">
                <a16:creationId xmlns:a16="http://schemas.microsoft.com/office/drawing/2014/main" id="{34202338-936E-2FB7-636B-106F87560F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625"/>
          <a:stretch/>
        </p:blipFill>
        <p:spPr bwMode="auto">
          <a:xfrm>
            <a:off x="978744" y="4556760"/>
            <a:ext cx="7696200" cy="2410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228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91A75D7-86A5-ADE5-6FA6-FEB6CBA4A1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85800" y="-1337582"/>
            <a:ext cx="7772400" cy="1143000"/>
          </a:xfrm>
        </p:spPr>
        <p:txBody>
          <a:bodyPr/>
          <a:lstStyle/>
          <a:p>
            <a:r>
              <a:rPr lang="en-US" sz="4000" dirty="0"/>
              <a:t>Cyclic Graphs and Cycle Graphs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0E8E12-E4D6-40D2-BB74-F40D65063E0D}"/>
              </a:ext>
            </a:extLst>
          </p:cNvPr>
          <p:cNvSpPr/>
          <p:nvPr/>
        </p:nvSpPr>
        <p:spPr>
          <a:xfrm>
            <a:off x="995679" y="204692"/>
            <a:ext cx="756877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240" marR="0" algn="ctr"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An </a:t>
            </a:r>
            <a:r>
              <a:rPr lang="en-US" sz="3200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acyclic graph</a:t>
            </a: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3200" u="sng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contains</a:t>
            </a: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no cycles.</a:t>
            </a:r>
            <a:endParaRPr lang="en-US" sz="4000" dirty="0">
              <a:ea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D014F5-2F22-4851-C77F-9ABF609ADC1C}"/>
              </a:ext>
            </a:extLst>
          </p:cNvPr>
          <p:cNvSpPr/>
          <p:nvPr/>
        </p:nvSpPr>
        <p:spPr>
          <a:xfrm>
            <a:off x="834299" y="5776145"/>
            <a:ext cx="789153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240" marR="0" algn="ctr">
              <a:spcBef>
                <a:spcPts val="0"/>
              </a:spcBef>
              <a:spcAft>
                <a:spcPts val="0"/>
              </a:spcAft>
            </a:pPr>
            <a:r>
              <a:rPr lang="en-US" sz="36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It’s also known as a </a:t>
            </a:r>
            <a:r>
              <a:rPr lang="en-US" sz="3600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tree</a:t>
            </a:r>
            <a:r>
              <a:rPr lang="en-US" sz="36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n-US" sz="4400" dirty="0">
              <a:ea typeface="Times New Roman" panose="02020603050405020304" pitchFamily="18" charset="0"/>
            </a:endParaRPr>
          </a:p>
        </p:txBody>
      </p:sp>
      <p:pic>
        <p:nvPicPr>
          <p:cNvPr id="1026" name="Picture 2" descr="An undirected acyclic graph.&#10;Edges:&#10;{(1,4), (4,2), (4,3), (4,5), (5,7)}">
            <a:extLst>
              <a:ext uri="{FF2B5EF4-FFF2-40B4-BE49-F238E27FC236}">
                <a16:creationId xmlns:a16="http://schemas.microsoft.com/office/drawing/2014/main" id="{9ACD4A65-0713-4D80-CE46-B40673C59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0915" y="1188741"/>
            <a:ext cx="3640177" cy="4246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5642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91A75D7-86A5-ADE5-6FA6-FEB6CBA4A1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85800" y="-1337582"/>
            <a:ext cx="7772400" cy="1143000"/>
          </a:xfrm>
        </p:spPr>
        <p:txBody>
          <a:bodyPr/>
          <a:lstStyle/>
          <a:p>
            <a:r>
              <a:rPr lang="en-US" sz="4000" dirty="0"/>
              <a:t>Cyclic Graphs and Cycle Graphs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0E8E12-E4D6-40D2-BB74-F40D65063E0D}"/>
              </a:ext>
            </a:extLst>
          </p:cNvPr>
          <p:cNvSpPr/>
          <p:nvPr/>
        </p:nvSpPr>
        <p:spPr>
          <a:xfrm>
            <a:off x="889429" y="433706"/>
            <a:ext cx="77724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240" marR="0" algn="ctr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Directed</a:t>
            </a: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acyclic graphs (DAGs)</a:t>
            </a: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b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sz="32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have numerous scientific and computational applications</a:t>
            </a: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n-US" sz="4000" dirty="0">
              <a:ea typeface="Times New Roman" panose="02020603050405020304" pitchFamily="18" charset="0"/>
            </a:endParaRPr>
          </a:p>
        </p:txBody>
      </p:sp>
      <p:pic>
        <p:nvPicPr>
          <p:cNvPr id="2050" name="Picture 2" descr="A Directed Acyclic Graph (DAG).&#10;Edges:&#10;{(1,2), (1,3), (2,4), (2,5)}">
            <a:extLst>
              <a:ext uri="{FF2B5EF4-FFF2-40B4-BE49-F238E27FC236}">
                <a16:creationId xmlns:a16="http://schemas.microsoft.com/office/drawing/2014/main" id="{49B04352-864A-D69B-F802-DECF4C0E67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2270" y="2562131"/>
            <a:ext cx="4779459" cy="3413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7923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>
            <a:extLst>
              <a:ext uri="{FF2B5EF4-FFF2-40B4-BE49-F238E27FC236}">
                <a16:creationId xmlns:a16="http://schemas.microsoft.com/office/drawing/2014/main" id="{457AD8ED-394C-4315-AB11-20BCF350DE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350"/>
            <a:ext cx="8488363" cy="1143000"/>
          </a:xfrm>
        </p:spPr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finding Walks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84" name="Rectangle 7">
            <a:extLst>
              <a:ext uri="{FF2B5EF4-FFF2-40B4-BE49-F238E27FC236}">
                <a16:creationId xmlns:a16="http://schemas.microsoft.com/office/drawing/2014/main" id="{93C66925-D73A-445D-ABDC-FE88A0FC1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" y="1137722"/>
            <a:ext cx="73914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>
                <a:latin typeface="Times New Roman" panose="02020603050405020304" pitchFamily="18" charset="0"/>
              </a:rPr>
              <a:t>A </a:t>
            </a:r>
            <a:r>
              <a:rPr kumimoji="0" lang="en-US" altLang="en-US" b="1" dirty="0">
                <a:latin typeface="Times New Roman" panose="02020603050405020304" pitchFamily="18" charset="0"/>
              </a:rPr>
              <a:t>walk</a:t>
            </a:r>
            <a:r>
              <a:rPr kumimoji="0" lang="en-US" altLang="en-US" dirty="0">
                <a:latin typeface="Times New Roman" panose="02020603050405020304" pitchFamily="18" charset="0"/>
              </a:rPr>
              <a:t> is a sequence of vertices </a:t>
            </a:r>
            <a:br>
              <a:rPr kumimoji="0" lang="en-US" altLang="en-US" dirty="0">
                <a:latin typeface="Times New Roman" panose="02020603050405020304" pitchFamily="18" charset="0"/>
              </a:rPr>
            </a:br>
            <a:r>
              <a:rPr kumimoji="0" lang="en-US" altLang="en-US" dirty="0">
                <a:latin typeface="Times New Roman" panose="02020603050405020304" pitchFamily="18" charset="0"/>
              </a:rPr>
              <a:t>that is possible to traverse.</a:t>
            </a:r>
          </a:p>
        </p:txBody>
      </p:sp>
      <p:grpSp>
        <p:nvGrpSpPr>
          <p:cNvPr id="5" name="Group 4" descr="A directed graph:&#10;&#10;A connects to A, B, and D&#10;D connects to C&#10;C connects to F&#10;F connects to B&#10;B connects to E&#10;E connects to A">
            <a:extLst>
              <a:ext uri="{FF2B5EF4-FFF2-40B4-BE49-F238E27FC236}">
                <a16:creationId xmlns:a16="http://schemas.microsoft.com/office/drawing/2014/main" id="{FF4E5A41-0A0E-2493-3C86-8AB454C93377}"/>
              </a:ext>
            </a:extLst>
          </p:cNvPr>
          <p:cNvGrpSpPr/>
          <p:nvPr/>
        </p:nvGrpSpPr>
        <p:grpSpPr>
          <a:xfrm>
            <a:off x="1295400" y="2590800"/>
            <a:ext cx="3989388" cy="2819400"/>
            <a:chOff x="1295400" y="2590800"/>
            <a:chExt cx="3989388" cy="2819400"/>
          </a:xfrm>
        </p:grpSpPr>
        <p:pic>
          <p:nvPicPr>
            <p:cNvPr id="20485" name="Picture 2" descr="A directed graph:&#10;&#10;A connects to A, B, and D&#10;D connects to C&#10;C connects to F&#10;F connects to B&#10;B connects to E&#10;E connects to A">
              <a:extLst>
                <a:ext uri="{FF2B5EF4-FFF2-40B4-BE49-F238E27FC236}">
                  <a16:creationId xmlns:a16="http://schemas.microsoft.com/office/drawing/2014/main" id="{CA31B198-4A7A-477D-BD5D-D4B4247268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5400" y="2590800"/>
              <a:ext cx="3989388" cy="281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785A33D0-5C55-477B-E8EA-A68F6F256B7E}"/>
                </a:ext>
              </a:extLst>
            </p:cNvPr>
            <p:cNvSpPr/>
            <p:nvPr/>
          </p:nvSpPr>
          <p:spPr bwMode="auto">
            <a:xfrm rot="295007">
              <a:off x="3029386" y="2732321"/>
              <a:ext cx="311923" cy="358750"/>
            </a:xfrm>
            <a:custGeom>
              <a:avLst/>
              <a:gdLst>
                <a:gd name="connsiteX0" fmla="*/ 111265 w 311810"/>
                <a:gd name="connsiteY0" fmla="*/ 318993 h 318993"/>
                <a:gd name="connsiteX1" fmla="*/ 31752 w 311810"/>
                <a:gd name="connsiteY1" fmla="*/ 239480 h 318993"/>
                <a:gd name="connsiteX2" fmla="*/ 1935 w 311810"/>
                <a:gd name="connsiteY2" fmla="*/ 70515 h 318993"/>
                <a:gd name="connsiteX3" fmla="*/ 81448 w 311810"/>
                <a:gd name="connsiteY3" fmla="*/ 941 h 318993"/>
                <a:gd name="connsiteX4" fmla="*/ 250413 w 311810"/>
                <a:gd name="connsiteY4" fmla="*/ 40697 h 318993"/>
                <a:gd name="connsiteX5" fmla="*/ 310048 w 311810"/>
                <a:gd name="connsiteY5" fmla="*/ 179845 h 318993"/>
                <a:gd name="connsiteX6" fmla="*/ 290170 w 311810"/>
                <a:gd name="connsiteY6" fmla="*/ 299115 h 318993"/>
                <a:gd name="connsiteX0" fmla="*/ 121317 w 311923"/>
                <a:gd name="connsiteY0" fmla="*/ 358750 h 358750"/>
                <a:gd name="connsiteX1" fmla="*/ 31865 w 311923"/>
                <a:gd name="connsiteY1" fmla="*/ 239480 h 358750"/>
                <a:gd name="connsiteX2" fmla="*/ 2048 w 311923"/>
                <a:gd name="connsiteY2" fmla="*/ 70515 h 358750"/>
                <a:gd name="connsiteX3" fmla="*/ 81561 w 311923"/>
                <a:gd name="connsiteY3" fmla="*/ 941 h 358750"/>
                <a:gd name="connsiteX4" fmla="*/ 250526 w 311923"/>
                <a:gd name="connsiteY4" fmla="*/ 40697 h 358750"/>
                <a:gd name="connsiteX5" fmla="*/ 310161 w 311923"/>
                <a:gd name="connsiteY5" fmla="*/ 179845 h 358750"/>
                <a:gd name="connsiteX6" fmla="*/ 290283 w 311923"/>
                <a:gd name="connsiteY6" fmla="*/ 299115 h 35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923" h="358750">
                  <a:moveTo>
                    <a:pt x="121317" y="358750"/>
                  </a:moveTo>
                  <a:cubicBezTo>
                    <a:pt x="90671" y="339700"/>
                    <a:pt x="51743" y="287519"/>
                    <a:pt x="31865" y="239480"/>
                  </a:cubicBezTo>
                  <a:cubicBezTo>
                    <a:pt x="11987" y="191441"/>
                    <a:pt x="-6235" y="110272"/>
                    <a:pt x="2048" y="70515"/>
                  </a:cubicBezTo>
                  <a:cubicBezTo>
                    <a:pt x="10331" y="30758"/>
                    <a:pt x="40148" y="5911"/>
                    <a:pt x="81561" y="941"/>
                  </a:cubicBezTo>
                  <a:cubicBezTo>
                    <a:pt x="122974" y="-4029"/>
                    <a:pt x="212426" y="10880"/>
                    <a:pt x="250526" y="40697"/>
                  </a:cubicBezTo>
                  <a:cubicBezTo>
                    <a:pt x="288626" y="70514"/>
                    <a:pt x="303535" y="136775"/>
                    <a:pt x="310161" y="179845"/>
                  </a:cubicBezTo>
                  <a:cubicBezTo>
                    <a:pt x="316787" y="222915"/>
                    <a:pt x="303535" y="261015"/>
                    <a:pt x="290283" y="299115"/>
                  </a:cubicBezTo>
                </a:path>
              </a:pathLst>
            </a:cu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sp>
        <p:nvSpPr>
          <p:cNvPr id="2" name="Rectangle 7">
            <a:extLst>
              <a:ext uri="{FF2B5EF4-FFF2-40B4-BE49-F238E27FC236}">
                <a16:creationId xmlns:a16="http://schemas.microsoft.com/office/drawing/2014/main" id="{A79766A8-53C8-B8E7-8DA4-CF63942F7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5595" y="2581487"/>
            <a:ext cx="32526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="1" dirty="0">
                <a:latin typeface="Times New Roman" panose="02020603050405020304" pitchFamily="18" charset="0"/>
              </a:rPr>
              <a:t>Which is not a walk?</a:t>
            </a:r>
          </a:p>
        </p:txBody>
      </p:sp>
      <p:sp>
        <p:nvSpPr>
          <p:cNvPr id="20486" name="TextBox 7">
            <a:extLst>
              <a:ext uri="{FF2B5EF4-FFF2-40B4-BE49-F238E27FC236}">
                <a16:creationId xmlns:a16="http://schemas.microsoft.com/office/drawing/2014/main" id="{012E6CD6-F753-4C69-B126-19D1BB9295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3061" y="3124200"/>
            <a:ext cx="1399742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AA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FCF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ABEA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ABEAD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FBEABE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FBEADC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FCD</a:t>
            </a:r>
          </a:p>
        </p:txBody>
      </p:sp>
      <p:sp>
        <p:nvSpPr>
          <p:cNvPr id="3" name="TextBox 7" descr="FCD is not a walk">
            <a:extLst>
              <a:ext uri="{FF2B5EF4-FFF2-40B4-BE49-F238E27FC236}">
                <a16:creationId xmlns:a16="http://schemas.microsoft.com/office/drawing/2014/main" id="{26083098-9307-9F08-70A0-1C7166EDC4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3061" y="5340191"/>
            <a:ext cx="784189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strike="sngStrike" dirty="0">
                <a:solidFill>
                  <a:srgbClr val="C00000"/>
                </a:solidFill>
                <a:latin typeface="Times New Roman" panose="02020603050405020304" pitchFamily="18" charset="0"/>
              </a:rPr>
              <a:t>FCD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7FB3777-90A6-B41B-BA1F-65645182E1A2}"/>
              </a:ext>
            </a:extLst>
          </p:cNvPr>
          <p:cNvCxnSpPr>
            <a:cxnSpLocks/>
          </p:cNvCxnSpPr>
          <p:nvPr/>
        </p:nvCxnSpPr>
        <p:spPr bwMode="auto">
          <a:xfrm flipV="1">
            <a:off x="2486722" y="5174166"/>
            <a:ext cx="111512" cy="83099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2D5CB9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75E4A48-9CFC-5800-0175-42290CADFEB8}"/>
              </a:ext>
            </a:extLst>
          </p:cNvPr>
          <p:cNvSpPr txBox="1"/>
          <p:nvPr/>
        </p:nvSpPr>
        <p:spPr>
          <a:xfrm>
            <a:off x="631584" y="5938890"/>
            <a:ext cx="56465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D5CB9"/>
                </a:solidFill>
                <a:latin typeface="Abadi" panose="020B0604020104020204" pitchFamily="34" charset="0"/>
              </a:rPr>
              <a:t>Since this is a directed graph, (F, C) and (C, F) are considered distinct edges!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0486" grpId="0"/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>
            <a:extLst>
              <a:ext uri="{FF2B5EF4-FFF2-40B4-BE49-F238E27FC236}">
                <a16:creationId xmlns:a16="http://schemas.microsoft.com/office/drawing/2014/main" id="{457AD8ED-394C-4315-AB11-20BCF350DE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350"/>
            <a:ext cx="8488363" cy="1143000"/>
          </a:xfrm>
        </p:spPr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finding Trails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84" name="Rectangle 7">
            <a:extLst>
              <a:ext uri="{FF2B5EF4-FFF2-40B4-BE49-F238E27FC236}">
                <a16:creationId xmlns:a16="http://schemas.microsoft.com/office/drawing/2014/main" id="{93C66925-D73A-445D-ABDC-FE88A0FC1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681" y="1179998"/>
            <a:ext cx="73914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>
                <a:latin typeface="Times New Roman" panose="02020603050405020304" pitchFamily="18" charset="0"/>
              </a:rPr>
              <a:t>A </a:t>
            </a:r>
            <a:r>
              <a:rPr kumimoji="0" lang="en-US" altLang="en-US" b="1" dirty="0">
                <a:latin typeface="Times New Roman" panose="02020603050405020304" pitchFamily="18" charset="0"/>
              </a:rPr>
              <a:t>trail</a:t>
            </a:r>
            <a:r>
              <a:rPr kumimoji="0" lang="en-US" altLang="en-US" dirty="0">
                <a:latin typeface="Times New Roman" panose="02020603050405020304" pitchFamily="18" charset="0"/>
              </a:rPr>
              <a:t> is a walk where </a:t>
            </a:r>
            <a:br>
              <a:rPr kumimoji="0" lang="en-US" altLang="en-US" dirty="0">
                <a:latin typeface="Times New Roman" panose="02020603050405020304" pitchFamily="18" charset="0"/>
              </a:rPr>
            </a:br>
            <a:r>
              <a:rPr kumimoji="0" lang="en-US" altLang="en-US" b="1" dirty="0">
                <a:latin typeface="Times New Roman" panose="02020603050405020304" pitchFamily="18" charset="0"/>
              </a:rPr>
              <a:t>none of the edges repeat</a:t>
            </a:r>
            <a:r>
              <a:rPr kumimoji="0" lang="en-US" altLang="en-US" dirty="0">
                <a:latin typeface="Times New Roman" panose="02020603050405020304" pitchFamily="18" charset="0"/>
              </a:rPr>
              <a:t>.</a:t>
            </a:r>
          </a:p>
        </p:txBody>
      </p:sp>
      <p:grpSp>
        <p:nvGrpSpPr>
          <p:cNvPr id="5" name="Group 4" descr="A directed graph:&#10;&#10;A connects to A, B, and D&#10;D connects to C&#10;C connects to F&#10;F connects to B&#10;B connects to E&#10;E connects to A">
            <a:extLst>
              <a:ext uri="{FF2B5EF4-FFF2-40B4-BE49-F238E27FC236}">
                <a16:creationId xmlns:a16="http://schemas.microsoft.com/office/drawing/2014/main" id="{CB899262-D813-623A-E349-CCE6B45EA849}"/>
              </a:ext>
            </a:extLst>
          </p:cNvPr>
          <p:cNvGrpSpPr/>
          <p:nvPr/>
        </p:nvGrpSpPr>
        <p:grpSpPr>
          <a:xfrm>
            <a:off x="1295400" y="2590800"/>
            <a:ext cx="3989388" cy="2819400"/>
            <a:chOff x="1295400" y="2590800"/>
            <a:chExt cx="3989388" cy="2819400"/>
          </a:xfrm>
        </p:grpSpPr>
        <p:pic>
          <p:nvPicPr>
            <p:cNvPr id="20485" name="Picture 2" descr="A directed graph:&#10;&#10;A connects to A, B, and D&#10;D connects to C&#10;C connects to F&#10;F connects to B&#10;B connects to E&#10;E connects to A">
              <a:extLst>
                <a:ext uri="{FF2B5EF4-FFF2-40B4-BE49-F238E27FC236}">
                  <a16:creationId xmlns:a16="http://schemas.microsoft.com/office/drawing/2014/main" id="{CA31B198-4A7A-477D-BD5D-D4B4247268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5400" y="2590800"/>
              <a:ext cx="3989388" cy="281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CE2092A9-A883-3119-0ECF-306AE910EA4E}"/>
                </a:ext>
              </a:extLst>
            </p:cNvPr>
            <p:cNvSpPr/>
            <p:nvPr/>
          </p:nvSpPr>
          <p:spPr bwMode="auto">
            <a:xfrm rot="295007">
              <a:off x="3029386" y="2732321"/>
              <a:ext cx="311923" cy="358750"/>
            </a:xfrm>
            <a:custGeom>
              <a:avLst/>
              <a:gdLst>
                <a:gd name="connsiteX0" fmla="*/ 111265 w 311810"/>
                <a:gd name="connsiteY0" fmla="*/ 318993 h 318993"/>
                <a:gd name="connsiteX1" fmla="*/ 31752 w 311810"/>
                <a:gd name="connsiteY1" fmla="*/ 239480 h 318993"/>
                <a:gd name="connsiteX2" fmla="*/ 1935 w 311810"/>
                <a:gd name="connsiteY2" fmla="*/ 70515 h 318993"/>
                <a:gd name="connsiteX3" fmla="*/ 81448 w 311810"/>
                <a:gd name="connsiteY3" fmla="*/ 941 h 318993"/>
                <a:gd name="connsiteX4" fmla="*/ 250413 w 311810"/>
                <a:gd name="connsiteY4" fmla="*/ 40697 h 318993"/>
                <a:gd name="connsiteX5" fmla="*/ 310048 w 311810"/>
                <a:gd name="connsiteY5" fmla="*/ 179845 h 318993"/>
                <a:gd name="connsiteX6" fmla="*/ 290170 w 311810"/>
                <a:gd name="connsiteY6" fmla="*/ 299115 h 318993"/>
                <a:gd name="connsiteX0" fmla="*/ 121317 w 311923"/>
                <a:gd name="connsiteY0" fmla="*/ 358750 h 358750"/>
                <a:gd name="connsiteX1" fmla="*/ 31865 w 311923"/>
                <a:gd name="connsiteY1" fmla="*/ 239480 h 358750"/>
                <a:gd name="connsiteX2" fmla="*/ 2048 w 311923"/>
                <a:gd name="connsiteY2" fmla="*/ 70515 h 358750"/>
                <a:gd name="connsiteX3" fmla="*/ 81561 w 311923"/>
                <a:gd name="connsiteY3" fmla="*/ 941 h 358750"/>
                <a:gd name="connsiteX4" fmla="*/ 250526 w 311923"/>
                <a:gd name="connsiteY4" fmla="*/ 40697 h 358750"/>
                <a:gd name="connsiteX5" fmla="*/ 310161 w 311923"/>
                <a:gd name="connsiteY5" fmla="*/ 179845 h 358750"/>
                <a:gd name="connsiteX6" fmla="*/ 290283 w 311923"/>
                <a:gd name="connsiteY6" fmla="*/ 299115 h 35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923" h="358750">
                  <a:moveTo>
                    <a:pt x="121317" y="358750"/>
                  </a:moveTo>
                  <a:cubicBezTo>
                    <a:pt x="90671" y="339700"/>
                    <a:pt x="51743" y="287519"/>
                    <a:pt x="31865" y="239480"/>
                  </a:cubicBezTo>
                  <a:cubicBezTo>
                    <a:pt x="11987" y="191441"/>
                    <a:pt x="-6235" y="110272"/>
                    <a:pt x="2048" y="70515"/>
                  </a:cubicBezTo>
                  <a:cubicBezTo>
                    <a:pt x="10331" y="30758"/>
                    <a:pt x="40148" y="5911"/>
                    <a:pt x="81561" y="941"/>
                  </a:cubicBezTo>
                  <a:cubicBezTo>
                    <a:pt x="122974" y="-4029"/>
                    <a:pt x="212426" y="10880"/>
                    <a:pt x="250526" y="40697"/>
                  </a:cubicBezTo>
                  <a:cubicBezTo>
                    <a:pt x="288626" y="70514"/>
                    <a:pt x="303535" y="136775"/>
                    <a:pt x="310161" y="179845"/>
                  </a:cubicBezTo>
                  <a:cubicBezTo>
                    <a:pt x="316787" y="222915"/>
                    <a:pt x="303535" y="261015"/>
                    <a:pt x="290283" y="299115"/>
                  </a:cubicBezTo>
                </a:path>
              </a:pathLst>
            </a:cu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sp>
        <p:nvSpPr>
          <p:cNvPr id="2" name="Rectangle 7">
            <a:extLst>
              <a:ext uri="{FF2B5EF4-FFF2-40B4-BE49-F238E27FC236}">
                <a16:creationId xmlns:a16="http://schemas.microsoft.com/office/drawing/2014/main" id="{3B2566DE-6C6E-B0F3-7CC0-31F6669C78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5595" y="2581487"/>
            <a:ext cx="338136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="1" dirty="0">
                <a:latin typeface="Times New Roman" panose="02020603050405020304" pitchFamily="18" charset="0"/>
              </a:rPr>
              <a:t>Which is not a trail?</a:t>
            </a:r>
          </a:p>
        </p:txBody>
      </p:sp>
      <p:sp>
        <p:nvSpPr>
          <p:cNvPr id="20486" name="TextBox 7">
            <a:extLst>
              <a:ext uri="{FF2B5EF4-FFF2-40B4-BE49-F238E27FC236}">
                <a16:creationId xmlns:a16="http://schemas.microsoft.com/office/drawing/2014/main" id="{012E6CD6-F753-4C69-B126-19D1BB9295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2950" y="3043152"/>
            <a:ext cx="1399742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AA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FCF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ABEA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ABEAD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FBEABE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FBEADC</a:t>
            </a:r>
          </a:p>
        </p:txBody>
      </p:sp>
      <p:sp>
        <p:nvSpPr>
          <p:cNvPr id="4" name="TextBox 7" descr="FCF, FBEABE, and FCD are not trails">
            <a:extLst>
              <a:ext uri="{FF2B5EF4-FFF2-40B4-BE49-F238E27FC236}">
                <a16:creationId xmlns:a16="http://schemas.microsoft.com/office/drawing/2014/main" id="{B9079B1B-CFEA-D359-B411-BB418F2BA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2950" y="3043152"/>
            <a:ext cx="1364476" cy="230832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400" b="1" dirty="0">
              <a:solidFill>
                <a:srgbClr val="008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400" strike="sngStrike" dirty="0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400" b="1" dirty="0">
              <a:solidFill>
                <a:srgbClr val="008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400" b="1" dirty="0">
              <a:solidFill>
                <a:srgbClr val="008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strike="sngStrike" dirty="0">
                <a:solidFill>
                  <a:srgbClr val="C00000"/>
                </a:solidFill>
                <a:latin typeface="Times New Roman" panose="02020603050405020304" pitchFamily="18" charset="0"/>
              </a:rPr>
              <a:t>FBEABE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400" b="1" dirty="0">
              <a:solidFill>
                <a:srgbClr val="008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707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0486" grpId="0"/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>
            <a:extLst>
              <a:ext uri="{FF2B5EF4-FFF2-40B4-BE49-F238E27FC236}">
                <a16:creationId xmlns:a16="http://schemas.microsoft.com/office/drawing/2014/main" id="{60764AD1-394C-43A7-8AD0-A101433CC5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350"/>
            <a:ext cx="8488363" cy="1143000"/>
          </a:xfrm>
        </p:spPr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finding Paths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32" name="Rectangle 7">
            <a:extLst>
              <a:ext uri="{FF2B5EF4-FFF2-40B4-BE49-F238E27FC236}">
                <a16:creationId xmlns:a16="http://schemas.microsoft.com/office/drawing/2014/main" id="{6785E5E7-DF26-41F9-969A-11F89BB93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375" y="1144250"/>
            <a:ext cx="8055187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>
                <a:latin typeface="Times New Roman" panose="02020603050405020304" pitchFamily="18" charset="0"/>
              </a:rPr>
              <a:t>A </a:t>
            </a:r>
            <a:r>
              <a:rPr kumimoji="0" lang="en-US" altLang="en-US" b="1" dirty="0">
                <a:latin typeface="Times New Roman" panose="02020603050405020304" pitchFamily="18" charset="0"/>
              </a:rPr>
              <a:t>path</a:t>
            </a:r>
            <a:r>
              <a:rPr kumimoji="0" lang="en-US" altLang="en-US" dirty="0">
                <a:latin typeface="Times New Roman" panose="02020603050405020304" pitchFamily="18" charset="0"/>
              </a:rPr>
              <a:t> is a walk where </a:t>
            </a:r>
            <a:r>
              <a:rPr kumimoji="0" lang="en-US" altLang="en-US" b="1" dirty="0">
                <a:latin typeface="Times New Roman" panose="02020603050405020304" pitchFamily="18" charset="0"/>
              </a:rPr>
              <a:t>none of the edges or vertices repeat (except maybe the last)</a:t>
            </a:r>
            <a:r>
              <a:rPr kumimoji="0" lang="en-US" altLang="en-US" dirty="0">
                <a:latin typeface="Times New Roman" panose="02020603050405020304" pitchFamily="18" charset="0"/>
              </a:rPr>
              <a:t>.</a:t>
            </a:r>
          </a:p>
        </p:txBody>
      </p:sp>
      <p:grpSp>
        <p:nvGrpSpPr>
          <p:cNvPr id="6" name="Group 5" descr="A directed graph:&#10;&#10;A connects to A, B, and D&#10;D connects to C&#10;C connects to F&#10;F connects to B&#10;B connects to E&#10;E connects to A">
            <a:extLst>
              <a:ext uri="{FF2B5EF4-FFF2-40B4-BE49-F238E27FC236}">
                <a16:creationId xmlns:a16="http://schemas.microsoft.com/office/drawing/2014/main" id="{A334251E-17B8-084F-271F-1A3876FC9ABD}"/>
              </a:ext>
            </a:extLst>
          </p:cNvPr>
          <p:cNvGrpSpPr/>
          <p:nvPr/>
        </p:nvGrpSpPr>
        <p:grpSpPr>
          <a:xfrm>
            <a:off x="1295400" y="2590800"/>
            <a:ext cx="3989388" cy="2819400"/>
            <a:chOff x="1295400" y="2590800"/>
            <a:chExt cx="3989388" cy="2819400"/>
          </a:xfrm>
        </p:grpSpPr>
        <p:pic>
          <p:nvPicPr>
            <p:cNvPr id="22533" name="Picture 2" descr="A directed graph:&#10;&#10;A connects to A, B, and D&#10;D connects to C&#10;C connects to F&#10;F connects to B&#10;B connects to E&#10;E connects to A">
              <a:extLst>
                <a:ext uri="{FF2B5EF4-FFF2-40B4-BE49-F238E27FC236}">
                  <a16:creationId xmlns:a16="http://schemas.microsoft.com/office/drawing/2014/main" id="{C075331A-FEC0-4017-B0DA-B9992E2069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5400" y="2590800"/>
              <a:ext cx="3989388" cy="281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324D99F2-BEFA-8E96-CE0D-BA090A8B4B0C}"/>
                </a:ext>
              </a:extLst>
            </p:cNvPr>
            <p:cNvSpPr/>
            <p:nvPr/>
          </p:nvSpPr>
          <p:spPr bwMode="auto">
            <a:xfrm rot="295007">
              <a:off x="3029386" y="2732321"/>
              <a:ext cx="311923" cy="358750"/>
            </a:xfrm>
            <a:custGeom>
              <a:avLst/>
              <a:gdLst>
                <a:gd name="connsiteX0" fmla="*/ 111265 w 311810"/>
                <a:gd name="connsiteY0" fmla="*/ 318993 h 318993"/>
                <a:gd name="connsiteX1" fmla="*/ 31752 w 311810"/>
                <a:gd name="connsiteY1" fmla="*/ 239480 h 318993"/>
                <a:gd name="connsiteX2" fmla="*/ 1935 w 311810"/>
                <a:gd name="connsiteY2" fmla="*/ 70515 h 318993"/>
                <a:gd name="connsiteX3" fmla="*/ 81448 w 311810"/>
                <a:gd name="connsiteY3" fmla="*/ 941 h 318993"/>
                <a:gd name="connsiteX4" fmla="*/ 250413 w 311810"/>
                <a:gd name="connsiteY4" fmla="*/ 40697 h 318993"/>
                <a:gd name="connsiteX5" fmla="*/ 310048 w 311810"/>
                <a:gd name="connsiteY5" fmla="*/ 179845 h 318993"/>
                <a:gd name="connsiteX6" fmla="*/ 290170 w 311810"/>
                <a:gd name="connsiteY6" fmla="*/ 299115 h 318993"/>
                <a:gd name="connsiteX0" fmla="*/ 121317 w 311923"/>
                <a:gd name="connsiteY0" fmla="*/ 358750 h 358750"/>
                <a:gd name="connsiteX1" fmla="*/ 31865 w 311923"/>
                <a:gd name="connsiteY1" fmla="*/ 239480 h 358750"/>
                <a:gd name="connsiteX2" fmla="*/ 2048 w 311923"/>
                <a:gd name="connsiteY2" fmla="*/ 70515 h 358750"/>
                <a:gd name="connsiteX3" fmla="*/ 81561 w 311923"/>
                <a:gd name="connsiteY3" fmla="*/ 941 h 358750"/>
                <a:gd name="connsiteX4" fmla="*/ 250526 w 311923"/>
                <a:gd name="connsiteY4" fmla="*/ 40697 h 358750"/>
                <a:gd name="connsiteX5" fmla="*/ 310161 w 311923"/>
                <a:gd name="connsiteY5" fmla="*/ 179845 h 358750"/>
                <a:gd name="connsiteX6" fmla="*/ 290283 w 311923"/>
                <a:gd name="connsiteY6" fmla="*/ 299115 h 35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923" h="358750">
                  <a:moveTo>
                    <a:pt x="121317" y="358750"/>
                  </a:moveTo>
                  <a:cubicBezTo>
                    <a:pt x="90671" y="339700"/>
                    <a:pt x="51743" y="287519"/>
                    <a:pt x="31865" y="239480"/>
                  </a:cubicBezTo>
                  <a:cubicBezTo>
                    <a:pt x="11987" y="191441"/>
                    <a:pt x="-6235" y="110272"/>
                    <a:pt x="2048" y="70515"/>
                  </a:cubicBezTo>
                  <a:cubicBezTo>
                    <a:pt x="10331" y="30758"/>
                    <a:pt x="40148" y="5911"/>
                    <a:pt x="81561" y="941"/>
                  </a:cubicBezTo>
                  <a:cubicBezTo>
                    <a:pt x="122974" y="-4029"/>
                    <a:pt x="212426" y="10880"/>
                    <a:pt x="250526" y="40697"/>
                  </a:cubicBezTo>
                  <a:cubicBezTo>
                    <a:pt x="288626" y="70514"/>
                    <a:pt x="303535" y="136775"/>
                    <a:pt x="310161" y="179845"/>
                  </a:cubicBezTo>
                  <a:cubicBezTo>
                    <a:pt x="316787" y="222915"/>
                    <a:pt x="303535" y="261015"/>
                    <a:pt x="290283" y="299115"/>
                  </a:cubicBezTo>
                </a:path>
              </a:pathLst>
            </a:cu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sp>
        <p:nvSpPr>
          <p:cNvPr id="3" name="Rectangle 7">
            <a:extLst>
              <a:ext uri="{FF2B5EF4-FFF2-40B4-BE49-F238E27FC236}">
                <a16:creationId xmlns:a16="http://schemas.microsoft.com/office/drawing/2014/main" id="{99336366-53AB-A881-B2D4-81FA5657F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5595" y="2391843"/>
            <a:ext cx="35777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="1" dirty="0">
                <a:latin typeface="Times New Roman" panose="02020603050405020304" pitchFamily="18" charset="0"/>
              </a:rPr>
              <a:t>Which trail is not a path?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23A1F3-194C-4CBB-B956-546EF65BB421}"/>
              </a:ext>
            </a:extLst>
          </p:cNvPr>
          <p:cNvSpPr txBox="1"/>
          <p:nvPr/>
        </p:nvSpPr>
        <p:spPr>
          <a:xfrm>
            <a:off x="5823637" y="2919580"/>
            <a:ext cx="1451038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="1" dirty="0">
                <a:latin typeface="Times New Roman" panose="02020603050405020304" pitchFamily="18" charset="0"/>
              </a:rPr>
              <a:t>AA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/>
              <a:t>FCF</a:t>
            </a:r>
            <a:endParaRPr kumimoji="0" lang="en-US" altLang="en-US" sz="24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="1" dirty="0">
                <a:latin typeface="Times New Roman" panose="02020603050405020304" pitchFamily="18" charset="0"/>
              </a:rPr>
              <a:t>ABEA</a:t>
            </a:r>
          </a:p>
          <a:p>
            <a:pPr eaLnBrk="1" hangingPunct="1"/>
            <a:r>
              <a:rPr lang="en-US" altLang="en-US" b="1" dirty="0"/>
              <a:t>ABEAD</a:t>
            </a:r>
            <a:endParaRPr kumimoji="0" lang="en-US" altLang="en-US" sz="2400" strike="sngStrike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="1" dirty="0">
                <a:latin typeface="Times New Roman" panose="02020603050405020304" pitchFamily="18" charset="0"/>
              </a:rPr>
              <a:t>FBEADC</a:t>
            </a:r>
          </a:p>
        </p:txBody>
      </p:sp>
      <p:sp>
        <p:nvSpPr>
          <p:cNvPr id="4" name="TextBox 3" descr="AA, FCF, ABEA, ABEAD, FBEABE, and FCD&#10;are not paths.">
            <a:extLst>
              <a:ext uri="{FF2B5EF4-FFF2-40B4-BE49-F238E27FC236}">
                <a16:creationId xmlns:a16="http://schemas.microsoft.com/office/drawing/2014/main" id="{7B5708AF-34D6-BABE-ECF2-EC24124966E4}"/>
              </a:ext>
            </a:extLst>
          </p:cNvPr>
          <p:cNvSpPr txBox="1"/>
          <p:nvPr/>
        </p:nvSpPr>
        <p:spPr>
          <a:xfrm>
            <a:off x="5823637" y="2919580"/>
            <a:ext cx="1263487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400" b="1" strike="sngStrike" dirty="0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400" strike="sngStrike" dirty="0">
              <a:solidFill>
                <a:srgbClr val="C000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400" b="1" strike="sngStrike" dirty="0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 b="1" strike="sngStrike" dirty="0">
                <a:solidFill>
                  <a:srgbClr val="C00000"/>
                </a:solidFill>
              </a:rPr>
              <a:t>ABEAD</a:t>
            </a:r>
            <a:endParaRPr kumimoji="0" lang="en-US" altLang="en-US" sz="2400" b="1" strike="sngStrike" dirty="0">
              <a:solidFill>
                <a:srgbClr val="C00000"/>
              </a:solidFill>
            </a:endParaRP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CFCEB24F-4D92-9CC2-D79C-E137A60DD8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376" y="5709285"/>
            <a:ext cx="8055187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800" i="1" dirty="0">
                <a:latin typeface="Times New Roman" panose="02020603050405020304" pitchFamily="18" charset="0"/>
              </a:rPr>
              <a:t>A trail could be a single path, or it could be multiple connected paths.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>
            <a:extLst>
              <a:ext uri="{FF2B5EF4-FFF2-40B4-BE49-F238E27FC236}">
                <a16:creationId xmlns:a16="http://schemas.microsoft.com/office/drawing/2014/main" id="{EDFD8AA1-61EA-4464-A556-9AA06858A1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350"/>
            <a:ext cx="8488363" cy="1143000"/>
          </a:xfrm>
        </p:spPr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finding Cycles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80" name="Rectangle 7">
            <a:extLst>
              <a:ext uri="{FF2B5EF4-FFF2-40B4-BE49-F238E27FC236}">
                <a16:creationId xmlns:a16="http://schemas.microsoft.com/office/drawing/2014/main" id="{D09AB982-36F7-4CD7-9F9E-402CF08B2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681" y="1232913"/>
            <a:ext cx="73914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>
                <a:latin typeface="Times New Roman" panose="02020603050405020304" pitchFamily="18" charset="0"/>
              </a:rPr>
              <a:t>A </a:t>
            </a:r>
            <a:r>
              <a:rPr kumimoji="0" lang="en-US" altLang="en-US" b="1" dirty="0">
                <a:latin typeface="Times New Roman" panose="02020603050405020304" pitchFamily="18" charset="0"/>
              </a:rPr>
              <a:t>cycle</a:t>
            </a:r>
            <a:r>
              <a:rPr kumimoji="0" lang="en-US" altLang="en-US" dirty="0">
                <a:latin typeface="Times New Roman" panose="02020603050405020304" pitchFamily="18" charset="0"/>
              </a:rPr>
              <a:t> is </a:t>
            </a:r>
            <a:r>
              <a:rPr kumimoji="0" lang="en-US" altLang="en-US" b="1" dirty="0">
                <a:latin typeface="Times New Roman" panose="02020603050405020304" pitchFamily="18" charset="0"/>
              </a:rPr>
              <a:t>a closed path</a:t>
            </a:r>
            <a:r>
              <a:rPr kumimoji="0" lang="en-US" altLang="en-US" dirty="0">
                <a:latin typeface="Times New Roman" panose="02020603050405020304" pitchFamily="18" charset="0"/>
              </a:rPr>
              <a:t>. I.e. no vertices repeat except for the first and last vertices.</a:t>
            </a:r>
          </a:p>
        </p:txBody>
      </p:sp>
      <p:grpSp>
        <p:nvGrpSpPr>
          <p:cNvPr id="5" name="Group 4" descr="A directed graph:&#10;&#10;A connects to A, B, and D&#10;D connects to C&#10;C connects to F&#10;F connects to B&#10;B connects to E&#10;E connects to A">
            <a:extLst>
              <a:ext uri="{FF2B5EF4-FFF2-40B4-BE49-F238E27FC236}">
                <a16:creationId xmlns:a16="http://schemas.microsoft.com/office/drawing/2014/main" id="{6FDA4BB8-7AB4-0F28-25C3-2024C9364F57}"/>
              </a:ext>
            </a:extLst>
          </p:cNvPr>
          <p:cNvGrpSpPr/>
          <p:nvPr/>
        </p:nvGrpSpPr>
        <p:grpSpPr>
          <a:xfrm>
            <a:off x="1295400" y="2590800"/>
            <a:ext cx="3989388" cy="2819400"/>
            <a:chOff x="1295400" y="2590800"/>
            <a:chExt cx="3989388" cy="2819400"/>
          </a:xfrm>
        </p:grpSpPr>
        <p:pic>
          <p:nvPicPr>
            <p:cNvPr id="24581" name="Picture 2" descr="A directed graph:&#10;&#10;A connects to A, B, and D&#10;D connects to C&#10;C connects to F&#10;F connects to B&#10;B connects to E&#10;E connects to A">
              <a:extLst>
                <a:ext uri="{FF2B5EF4-FFF2-40B4-BE49-F238E27FC236}">
                  <a16:creationId xmlns:a16="http://schemas.microsoft.com/office/drawing/2014/main" id="{E3D8930F-5FF5-400B-8B43-F5A5E84F6D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5400" y="2590800"/>
              <a:ext cx="3989388" cy="281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4E2B937-5D5A-5C1C-21E4-725932534BFD}"/>
                </a:ext>
              </a:extLst>
            </p:cNvPr>
            <p:cNvSpPr/>
            <p:nvPr/>
          </p:nvSpPr>
          <p:spPr bwMode="auto">
            <a:xfrm rot="295007">
              <a:off x="3029386" y="2732321"/>
              <a:ext cx="311923" cy="358750"/>
            </a:xfrm>
            <a:custGeom>
              <a:avLst/>
              <a:gdLst>
                <a:gd name="connsiteX0" fmla="*/ 111265 w 311810"/>
                <a:gd name="connsiteY0" fmla="*/ 318993 h 318993"/>
                <a:gd name="connsiteX1" fmla="*/ 31752 w 311810"/>
                <a:gd name="connsiteY1" fmla="*/ 239480 h 318993"/>
                <a:gd name="connsiteX2" fmla="*/ 1935 w 311810"/>
                <a:gd name="connsiteY2" fmla="*/ 70515 h 318993"/>
                <a:gd name="connsiteX3" fmla="*/ 81448 w 311810"/>
                <a:gd name="connsiteY3" fmla="*/ 941 h 318993"/>
                <a:gd name="connsiteX4" fmla="*/ 250413 w 311810"/>
                <a:gd name="connsiteY4" fmla="*/ 40697 h 318993"/>
                <a:gd name="connsiteX5" fmla="*/ 310048 w 311810"/>
                <a:gd name="connsiteY5" fmla="*/ 179845 h 318993"/>
                <a:gd name="connsiteX6" fmla="*/ 290170 w 311810"/>
                <a:gd name="connsiteY6" fmla="*/ 299115 h 318993"/>
                <a:gd name="connsiteX0" fmla="*/ 121317 w 311923"/>
                <a:gd name="connsiteY0" fmla="*/ 358750 h 358750"/>
                <a:gd name="connsiteX1" fmla="*/ 31865 w 311923"/>
                <a:gd name="connsiteY1" fmla="*/ 239480 h 358750"/>
                <a:gd name="connsiteX2" fmla="*/ 2048 w 311923"/>
                <a:gd name="connsiteY2" fmla="*/ 70515 h 358750"/>
                <a:gd name="connsiteX3" fmla="*/ 81561 w 311923"/>
                <a:gd name="connsiteY3" fmla="*/ 941 h 358750"/>
                <a:gd name="connsiteX4" fmla="*/ 250526 w 311923"/>
                <a:gd name="connsiteY4" fmla="*/ 40697 h 358750"/>
                <a:gd name="connsiteX5" fmla="*/ 310161 w 311923"/>
                <a:gd name="connsiteY5" fmla="*/ 179845 h 358750"/>
                <a:gd name="connsiteX6" fmla="*/ 290283 w 311923"/>
                <a:gd name="connsiteY6" fmla="*/ 299115 h 35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923" h="358750">
                  <a:moveTo>
                    <a:pt x="121317" y="358750"/>
                  </a:moveTo>
                  <a:cubicBezTo>
                    <a:pt x="90671" y="339700"/>
                    <a:pt x="51743" y="287519"/>
                    <a:pt x="31865" y="239480"/>
                  </a:cubicBezTo>
                  <a:cubicBezTo>
                    <a:pt x="11987" y="191441"/>
                    <a:pt x="-6235" y="110272"/>
                    <a:pt x="2048" y="70515"/>
                  </a:cubicBezTo>
                  <a:cubicBezTo>
                    <a:pt x="10331" y="30758"/>
                    <a:pt x="40148" y="5911"/>
                    <a:pt x="81561" y="941"/>
                  </a:cubicBezTo>
                  <a:cubicBezTo>
                    <a:pt x="122974" y="-4029"/>
                    <a:pt x="212426" y="10880"/>
                    <a:pt x="250526" y="40697"/>
                  </a:cubicBezTo>
                  <a:cubicBezTo>
                    <a:pt x="288626" y="70514"/>
                    <a:pt x="303535" y="136775"/>
                    <a:pt x="310161" y="179845"/>
                  </a:cubicBezTo>
                  <a:cubicBezTo>
                    <a:pt x="316787" y="222915"/>
                    <a:pt x="303535" y="261015"/>
                    <a:pt x="290283" y="299115"/>
                  </a:cubicBezTo>
                </a:path>
              </a:pathLst>
            </a:cu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sp>
        <p:nvSpPr>
          <p:cNvPr id="2" name="Rectangle 7">
            <a:extLst>
              <a:ext uri="{FF2B5EF4-FFF2-40B4-BE49-F238E27FC236}">
                <a16:creationId xmlns:a16="http://schemas.microsoft.com/office/drawing/2014/main" id="{731108A5-9004-FC87-8F34-D22449604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5595" y="2581487"/>
            <a:ext cx="36299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="1" dirty="0">
                <a:latin typeface="Times New Roman" panose="02020603050405020304" pitchFamily="18" charset="0"/>
              </a:rPr>
              <a:t>Which path is not a cycle?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CE80BA-2AEE-3F59-3817-2EA03589C633}"/>
              </a:ext>
            </a:extLst>
          </p:cNvPr>
          <p:cNvSpPr txBox="1"/>
          <p:nvPr/>
        </p:nvSpPr>
        <p:spPr>
          <a:xfrm>
            <a:off x="5993479" y="3181836"/>
            <a:ext cx="1451038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="1" dirty="0">
                <a:latin typeface="Times New Roman" panose="02020603050405020304" pitchFamily="18" charset="0"/>
              </a:rPr>
              <a:t>AA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/>
              <a:t>FCF</a:t>
            </a:r>
            <a:endParaRPr kumimoji="0" lang="en-US" altLang="en-US" sz="24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="1" dirty="0">
                <a:latin typeface="Times New Roman" panose="02020603050405020304" pitchFamily="18" charset="0"/>
              </a:rPr>
              <a:t>ABEA</a:t>
            </a:r>
            <a:endParaRPr kumimoji="0" lang="en-US" altLang="en-US" sz="2400" strike="sngStrike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="1" dirty="0">
                <a:latin typeface="Times New Roman" panose="02020603050405020304" pitchFamily="18" charset="0"/>
              </a:rPr>
              <a:t>FBEADC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A82EA1-0B05-72B4-FE5E-36B492C8FF31}"/>
              </a:ext>
            </a:extLst>
          </p:cNvPr>
          <p:cNvSpPr txBox="1"/>
          <p:nvPr/>
        </p:nvSpPr>
        <p:spPr>
          <a:xfrm>
            <a:off x="5993479" y="3181836"/>
            <a:ext cx="1451038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b="1" dirty="0">
              <a:solidFill>
                <a:srgbClr val="0080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2400" strike="sngStrike" dirty="0">
              <a:solidFill>
                <a:srgbClr val="C000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b="1" dirty="0">
              <a:solidFill>
                <a:srgbClr val="0080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b="1" strike="sngStrike" dirty="0">
                <a:solidFill>
                  <a:srgbClr val="C00000"/>
                </a:solidFill>
                <a:latin typeface="Times New Roman" panose="02020603050405020304" pitchFamily="18" charset="0"/>
              </a:rPr>
              <a:t>FBEADC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>
            <a:extLst>
              <a:ext uri="{FF2B5EF4-FFF2-40B4-BE49-F238E27FC236}">
                <a16:creationId xmlns:a16="http://schemas.microsoft.com/office/drawing/2014/main" id="{11B77141-AB65-489C-ADEA-AD26BE5B3F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350"/>
            <a:ext cx="8488363" cy="1143000"/>
          </a:xfrm>
        </p:spPr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of a Walk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628" name="Rectangle 7">
            <a:extLst>
              <a:ext uri="{FF2B5EF4-FFF2-40B4-BE49-F238E27FC236}">
                <a16:creationId xmlns:a16="http://schemas.microsoft.com/office/drawing/2014/main" id="{189A66FD-D4E8-46F7-A3E2-5038C8CE4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533525"/>
            <a:ext cx="7391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The length of a walk is the number of edges that the path uses.</a:t>
            </a:r>
          </a:p>
        </p:txBody>
      </p:sp>
      <p:grpSp>
        <p:nvGrpSpPr>
          <p:cNvPr id="3" name="Group 2" descr="A directed graph:&#10;&#10;A connects to A, B, and D&#10;D connects to C&#10;C connects to F&#10;F connects to B&#10;B connects to E&#10;E connects to A">
            <a:extLst>
              <a:ext uri="{FF2B5EF4-FFF2-40B4-BE49-F238E27FC236}">
                <a16:creationId xmlns:a16="http://schemas.microsoft.com/office/drawing/2014/main" id="{99CB652E-0B49-5714-7AAE-9C90FD3A4791}"/>
              </a:ext>
            </a:extLst>
          </p:cNvPr>
          <p:cNvGrpSpPr/>
          <p:nvPr/>
        </p:nvGrpSpPr>
        <p:grpSpPr>
          <a:xfrm>
            <a:off x="1295400" y="2590800"/>
            <a:ext cx="3989388" cy="2819400"/>
            <a:chOff x="1295400" y="2590800"/>
            <a:chExt cx="3989388" cy="2819400"/>
          </a:xfrm>
        </p:grpSpPr>
        <p:pic>
          <p:nvPicPr>
            <p:cNvPr id="26629" name="Picture 2" descr="A directed graph:&#10;&#10;A connects to A, B, and D&#10;D connects to C&#10;C connects to F&#10;F connects to B&#10;B connects to E&#10;E connects to A">
              <a:extLst>
                <a:ext uri="{FF2B5EF4-FFF2-40B4-BE49-F238E27FC236}">
                  <a16:creationId xmlns:a16="http://schemas.microsoft.com/office/drawing/2014/main" id="{F725BCC2-3DA7-4244-BE45-D1E7A8174A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5400" y="2590800"/>
              <a:ext cx="3989388" cy="281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71CCFAF4-F5D9-8053-C011-23A2BAE01564}"/>
                </a:ext>
              </a:extLst>
            </p:cNvPr>
            <p:cNvSpPr/>
            <p:nvPr/>
          </p:nvSpPr>
          <p:spPr bwMode="auto">
            <a:xfrm rot="295007">
              <a:off x="3029386" y="2732321"/>
              <a:ext cx="311923" cy="358750"/>
            </a:xfrm>
            <a:custGeom>
              <a:avLst/>
              <a:gdLst>
                <a:gd name="connsiteX0" fmla="*/ 111265 w 311810"/>
                <a:gd name="connsiteY0" fmla="*/ 318993 h 318993"/>
                <a:gd name="connsiteX1" fmla="*/ 31752 w 311810"/>
                <a:gd name="connsiteY1" fmla="*/ 239480 h 318993"/>
                <a:gd name="connsiteX2" fmla="*/ 1935 w 311810"/>
                <a:gd name="connsiteY2" fmla="*/ 70515 h 318993"/>
                <a:gd name="connsiteX3" fmla="*/ 81448 w 311810"/>
                <a:gd name="connsiteY3" fmla="*/ 941 h 318993"/>
                <a:gd name="connsiteX4" fmla="*/ 250413 w 311810"/>
                <a:gd name="connsiteY4" fmla="*/ 40697 h 318993"/>
                <a:gd name="connsiteX5" fmla="*/ 310048 w 311810"/>
                <a:gd name="connsiteY5" fmla="*/ 179845 h 318993"/>
                <a:gd name="connsiteX6" fmla="*/ 290170 w 311810"/>
                <a:gd name="connsiteY6" fmla="*/ 299115 h 318993"/>
                <a:gd name="connsiteX0" fmla="*/ 121317 w 311923"/>
                <a:gd name="connsiteY0" fmla="*/ 358750 h 358750"/>
                <a:gd name="connsiteX1" fmla="*/ 31865 w 311923"/>
                <a:gd name="connsiteY1" fmla="*/ 239480 h 358750"/>
                <a:gd name="connsiteX2" fmla="*/ 2048 w 311923"/>
                <a:gd name="connsiteY2" fmla="*/ 70515 h 358750"/>
                <a:gd name="connsiteX3" fmla="*/ 81561 w 311923"/>
                <a:gd name="connsiteY3" fmla="*/ 941 h 358750"/>
                <a:gd name="connsiteX4" fmla="*/ 250526 w 311923"/>
                <a:gd name="connsiteY4" fmla="*/ 40697 h 358750"/>
                <a:gd name="connsiteX5" fmla="*/ 310161 w 311923"/>
                <a:gd name="connsiteY5" fmla="*/ 179845 h 358750"/>
                <a:gd name="connsiteX6" fmla="*/ 290283 w 311923"/>
                <a:gd name="connsiteY6" fmla="*/ 299115 h 35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923" h="358750">
                  <a:moveTo>
                    <a:pt x="121317" y="358750"/>
                  </a:moveTo>
                  <a:cubicBezTo>
                    <a:pt x="90671" y="339700"/>
                    <a:pt x="51743" y="287519"/>
                    <a:pt x="31865" y="239480"/>
                  </a:cubicBezTo>
                  <a:cubicBezTo>
                    <a:pt x="11987" y="191441"/>
                    <a:pt x="-6235" y="110272"/>
                    <a:pt x="2048" y="70515"/>
                  </a:cubicBezTo>
                  <a:cubicBezTo>
                    <a:pt x="10331" y="30758"/>
                    <a:pt x="40148" y="5911"/>
                    <a:pt x="81561" y="941"/>
                  </a:cubicBezTo>
                  <a:cubicBezTo>
                    <a:pt x="122974" y="-4029"/>
                    <a:pt x="212426" y="10880"/>
                    <a:pt x="250526" y="40697"/>
                  </a:cubicBezTo>
                  <a:cubicBezTo>
                    <a:pt x="288626" y="70514"/>
                    <a:pt x="303535" y="136775"/>
                    <a:pt x="310161" y="179845"/>
                  </a:cubicBezTo>
                  <a:cubicBezTo>
                    <a:pt x="316787" y="222915"/>
                    <a:pt x="303535" y="261015"/>
                    <a:pt x="290283" y="299115"/>
                  </a:cubicBezTo>
                </a:path>
              </a:pathLst>
            </a:cu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sp>
        <p:nvSpPr>
          <p:cNvPr id="26630" name="TextBox 7">
            <a:extLst>
              <a:ext uri="{FF2B5EF4-FFF2-40B4-BE49-F238E27FC236}">
                <a16:creationId xmlns:a16="http://schemas.microsoft.com/office/drawing/2014/main" id="{B3A34AB9-E1B2-4954-9A77-3330BE188B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2950" y="3124200"/>
            <a:ext cx="270619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tabLst>
                <a:tab pos="1262063" algn="l"/>
              </a:tabLst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62063" algn="l"/>
              </a:tabLst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62063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62063" algn="l"/>
              </a:tabLst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62063" algn="l"/>
              </a:tabLst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62063" algn="l"/>
              </a:tabLst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62063" algn="l"/>
              </a:tabLst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62063" algn="l"/>
              </a:tabLst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62063" algn="l"/>
              </a:tabLst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AA	– length 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AD	– length 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ABEA	– length 3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Times New Roman" panose="02020603050405020304" pitchFamily="18" charset="0"/>
              </a:rPr>
              <a:t>FBEADC – length 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>
            <a:extLst>
              <a:ext uri="{FF2B5EF4-FFF2-40B4-BE49-F238E27FC236}">
                <a16:creationId xmlns:a16="http://schemas.microsoft.com/office/drawing/2014/main" id="{309F6BEF-77E2-4D32-B878-D4120D8664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350"/>
            <a:ext cx="8488363" cy="1143000"/>
          </a:xfrm>
        </p:spPr>
        <p:txBody>
          <a:bodyPr/>
          <a:lstStyle/>
          <a:p>
            <a:pPr algn="ctr"/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Counting Walks in Adjacency Matrices</a:t>
            </a: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76" name="Rectangle 7">
            <a:extLst>
              <a:ext uri="{FF2B5EF4-FFF2-40B4-BE49-F238E27FC236}">
                <a16:creationId xmlns:a16="http://schemas.microsoft.com/office/drawing/2014/main" id="{5673CD53-C556-42EB-A397-08EBD93B9C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533525"/>
            <a:ext cx="73914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3600" dirty="0">
                <a:latin typeface="Times New Roman" panose="02020603050405020304" pitchFamily="18" charset="0"/>
              </a:rPr>
              <a:t>How many walks of length 1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3600" dirty="0">
                <a:latin typeface="Times New Roman" panose="02020603050405020304" pitchFamily="18" charset="0"/>
              </a:rPr>
              <a:t>exist in this Adjacency matrix? </a:t>
            </a:r>
          </a:p>
        </p:txBody>
      </p:sp>
      <p:graphicFrame>
        <p:nvGraphicFramePr>
          <p:cNvPr id="8" name="Table 7" descr="The adjacency matrix">
            <a:extLst>
              <a:ext uri="{FF2B5EF4-FFF2-40B4-BE49-F238E27FC236}">
                <a16:creationId xmlns:a16="http://schemas.microsoft.com/office/drawing/2014/main" id="{619D650B-D2F5-4A3F-95CD-9F310E58FF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263519"/>
              </p:ext>
            </p:extLst>
          </p:nvPr>
        </p:nvGraphicFramePr>
        <p:xfrm>
          <a:off x="4151041" y="3140186"/>
          <a:ext cx="3429000" cy="2243140"/>
        </p:xfrm>
        <a:graphic>
          <a:graphicData uri="http://schemas.openxmlformats.org/drawingml/2006/table">
            <a:tbl>
              <a:tblPr firstRow="1"/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07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dirty="0">
                          <a:latin typeface="Calibri"/>
                          <a:ea typeface="Calibri"/>
                          <a:cs typeface="Times New Roman"/>
                        </a:rPr>
                        <a:t>A</a:t>
                      </a:r>
                      <a:endParaRPr lang="en-US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>
                          <a:latin typeface="Calibri"/>
                          <a:ea typeface="Calibri"/>
                          <a:cs typeface="Times New Roman"/>
                        </a:rPr>
                        <a:t>B</a:t>
                      </a:r>
                      <a:endParaRPr lang="en-US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>
                          <a:latin typeface="Calibri"/>
                          <a:ea typeface="Calibri"/>
                          <a:cs typeface="Times New Roman"/>
                        </a:rPr>
                        <a:t>C</a:t>
                      </a:r>
                      <a:endParaRPr lang="en-US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7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dirty="0">
                          <a:latin typeface="Calibri"/>
                          <a:ea typeface="Calibri"/>
                          <a:cs typeface="Times New Roman"/>
                        </a:rPr>
                        <a:t>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7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dirty="0">
                          <a:latin typeface="Calibri"/>
                          <a:ea typeface="Calibri"/>
                          <a:cs typeface="Times New Roman"/>
                        </a:rPr>
                        <a:t>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7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dirty="0">
                          <a:latin typeface="Calibri"/>
                          <a:ea typeface="Calibri"/>
                          <a:cs typeface="Times New Roman"/>
                        </a:rPr>
                        <a:t>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2" name="Group 11" descr="An undirected graph with edges {(A,B), (A,C)}&#10;Adjacency list:&#10;A B, C&#10;B A&#10;C A">
            <a:extLst>
              <a:ext uri="{FF2B5EF4-FFF2-40B4-BE49-F238E27FC236}">
                <a16:creationId xmlns:a16="http://schemas.microsoft.com/office/drawing/2014/main" id="{E219C6CA-2C31-0568-6931-9C4EC6E2656A}"/>
              </a:ext>
            </a:extLst>
          </p:cNvPr>
          <p:cNvGrpSpPr/>
          <p:nvPr/>
        </p:nvGrpSpPr>
        <p:grpSpPr>
          <a:xfrm>
            <a:off x="1066800" y="3191573"/>
            <a:ext cx="1996533" cy="2383108"/>
            <a:chOff x="1066800" y="3191573"/>
            <a:chExt cx="1996533" cy="2383108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C85E9774-08D9-ED9C-BEE1-B4F57C61493B}"/>
                </a:ext>
              </a:extLst>
            </p:cNvPr>
            <p:cNvSpPr/>
            <p:nvPr/>
          </p:nvSpPr>
          <p:spPr bwMode="auto">
            <a:xfrm>
              <a:off x="1066800" y="3917416"/>
              <a:ext cx="716466" cy="71646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1800"/>
                </a:spcAft>
                <a:buClrTx/>
                <a:buSzTx/>
                <a:buFontTx/>
                <a:buNone/>
                <a:tabLst/>
              </a:pPr>
              <a:r>
                <a:rPr kumimoji="0" lang="en-US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</a:t>
              </a: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D7FEB91B-AE61-ED2F-28D1-6985B816DD9B}"/>
                </a:ext>
              </a:extLst>
            </p:cNvPr>
            <p:cNvSpPr/>
            <p:nvPr/>
          </p:nvSpPr>
          <p:spPr bwMode="auto">
            <a:xfrm>
              <a:off x="2141034" y="4858215"/>
              <a:ext cx="716466" cy="71646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1800"/>
                </a:spcAft>
                <a:buClrTx/>
                <a:buSzTx/>
                <a:buFontTx/>
                <a:buNone/>
                <a:tabLst/>
              </a:pPr>
              <a:r>
                <a:rPr kumimoji="0" lang="en-US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3F19D3C6-635E-EC81-9A02-7F05D8A8507D}"/>
                </a:ext>
              </a:extLst>
            </p:cNvPr>
            <p:cNvSpPr/>
            <p:nvPr/>
          </p:nvSpPr>
          <p:spPr bwMode="auto">
            <a:xfrm>
              <a:off x="2346867" y="3191573"/>
              <a:ext cx="716466" cy="71646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1800"/>
                </a:spcAft>
                <a:buClrTx/>
                <a:buSzTx/>
                <a:buFontTx/>
                <a:buNone/>
                <a:tabLst/>
              </a:pPr>
              <a:r>
                <a:rPr kumimoji="0" lang="en-US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B5D722A-8B6A-88F8-8FAA-D83AB1703276}"/>
                </a:ext>
              </a:extLst>
            </p:cNvPr>
            <p:cNvCxnSpPr>
              <a:stCxn id="2" idx="7"/>
              <a:endCxn id="4" idx="3"/>
            </p:cNvCxnSpPr>
            <p:nvPr/>
          </p:nvCxnSpPr>
          <p:spPr bwMode="auto">
            <a:xfrm flipV="1">
              <a:off x="1678342" y="3803115"/>
              <a:ext cx="773449" cy="21922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FFB90CF-6B3C-6E04-D809-BD7235379C24}"/>
                </a:ext>
              </a:extLst>
            </p:cNvPr>
            <p:cNvCxnSpPr>
              <a:stCxn id="3" idx="1"/>
              <a:endCxn id="2" idx="5"/>
            </p:cNvCxnSpPr>
            <p:nvPr/>
          </p:nvCxnSpPr>
          <p:spPr bwMode="auto">
            <a:xfrm flipH="1" flipV="1">
              <a:off x="1678342" y="4528958"/>
              <a:ext cx="567616" cy="43418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3" name="Rectangle 7">
            <a:extLst>
              <a:ext uri="{FF2B5EF4-FFF2-40B4-BE49-F238E27FC236}">
                <a16:creationId xmlns:a16="http://schemas.microsoft.com/office/drawing/2014/main" id="{0C5C35CA-E6F1-D7DA-6381-FBAE60E10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2723" y="2087523"/>
            <a:ext cx="48731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3600" b="1" dirty="0">
                <a:solidFill>
                  <a:srgbClr val="2D5CB9"/>
                </a:solidFill>
                <a:latin typeface="Times New Roman" panose="02020603050405020304" pitchFamily="18" charset="0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>
            <a:extLst>
              <a:ext uri="{FF2B5EF4-FFF2-40B4-BE49-F238E27FC236}">
                <a16:creationId xmlns:a16="http://schemas.microsoft.com/office/drawing/2014/main" id="{309F6BEF-77E2-4D32-B878-D4120D8664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350"/>
            <a:ext cx="8488363" cy="1143000"/>
          </a:xfrm>
        </p:spPr>
        <p:txBody>
          <a:bodyPr/>
          <a:lstStyle/>
          <a:p>
            <a:pPr algn="ctr"/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Counting Walks in Adjacency Matrices</a:t>
            </a: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76" name="Rectangle 7">
            <a:extLst>
              <a:ext uri="{FF2B5EF4-FFF2-40B4-BE49-F238E27FC236}">
                <a16:creationId xmlns:a16="http://schemas.microsoft.com/office/drawing/2014/main" id="{5673CD53-C556-42EB-A397-08EBD93B9C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533525"/>
            <a:ext cx="73914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>
                <a:latin typeface="Times New Roman" panose="02020603050405020304" pitchFamily="18" charset="0"/>
              </a:rPr>
              <a:t>How many walks of length </a:t>
            </a:r>
            <a:r>
              <a:rPr kumimoji="0" lang="en-US" altLang="en-US" b="1" dirty="0">
                <a:highlight>
                  <a:srgbClr val="FFFF00"/>
                </a:highlight>
                <a:latin typeface="Times New Roman" panose="02020603050405020304" pitchFamily="18" charset="0"/>
              </a:rPr>
              <a:t>2</a:t>
            </a:r>
            <a:r>
              <a:rPr kumimoji="0" lang="en-US" altLang="en-US" dirty="0">
                <a:latin typeface="Times New Roman" panose="02020603050405020304" pitchFamily="18" charset="0"/>
              </a:rPr>
              <a:t> exists in this Adjacency matrix? </a:t>
            </a:r>
          </a:p>
        </p:txBody>
      </p:sp>
      <p:graphicFrame>
        <p:nvGraphicFramePr>
          <p:cNvPr id="8" name="Table 7" descr="The adjacency matrix">
            <a:extLst>
              <a:ext uri="{FF2B5EF4-FFF2-40B4-BE49-F238E27FC236}">
                <a16:creationId xmlns:a16="http://schemas.microsoft.com/office/drawing/2014/main" id="{619D650B-D2F5-4A3F-95CD-9F310E58FF6F}"/>
              </a:ext>
            </a:extLst>
          </p:cNvPr>
          <p:cNvGraphicFramePr>
            <a:graphicFrameLocks noGrp="1"/>
          </p:cNvGraphicFramePr>
          <p:nvPr/>
        </p:nvGraphicFramePr>
        <p:xfrm>
          <a:off x="4151041" y="3140186"/>
          <a:ext cx="3429000" cy="2243140"/>
        </p:xfrm>
        <a:graphic>
          <a:graphicData uri="http://schemas.openxmlformats.org/drawingml/2006/table">
            <a:tbl>
              <a:tblPr firstRow="1"/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07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dirty="0">
                          <a:latin typeface="Calibri"/>
                          <a:ea typeface="Calibri"/>
                          <a:cs typeface="Times New Roman"/>
                        </a:rPr>
                        <a:t>A</a:t>
                      </a:r>
                      <a:endParaRPr lang="en-US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>
                          <a:latin typeface="Calibri"/>
                          <a:ea typeface="Calibri"/>
                          <a:cs typeface="Times New Roman"/>
                        </a:rPr>
                        <a:t>B</a:t>
                      </a:r>
                      <a:endParaRPr lang="en-US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>
                          <a:latin typeface="Calibri"/>
                          <a:ea typeface="Calibri"/>
                          <a:cs typeface="Times New Roman"/>
                        </a:rPr>
                        <a:t>C</a:t>
                      </a:r>
                      <a:endParaRPr lang="en-US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7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dirty="0">
                          <a:latin typeface="Calibri"/>
                          <a:ea typeface="Calibri"/>
                          <a:cs typeface="Times New Roman"/>
                        </a:rPr>
                        <a:t>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7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dirty="0">
                          <a:latin typeface="Calibri"/>
                          <a:ea typeface="Calibri"/>
                          <a:cs typeface="Times New Roman"/>
                        </a:rPr>
                        <a:t>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7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dirty="0">
                          <a:latin typeface="Calibri"/>
                          <a:ea typeface="Calibri"/>
                          <a:cs typeface="Times New Roman"/>
                        </a:rPr>
                        <a:t>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67438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>
            <a:extLst>
              <a:ext uri="{FF2B5EF4-FFF2-40B4-BE49-F238E27FC236}">
                <a16:creationId xmlns:a16="http://schemas.microsoft.com/office/drawing/2014/main" id="{790BB70D-BC8C-42FD-B9E8-BCDEEAA74E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350"/>
            <a:ext cx="8488363" cy="1143000"/>
          </a:xfrm>
        </p:spPr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 Multiplication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To calculate the element in the second row, first column in the resultant matrix, the second row of second matrix is multiplied by the first column of the second matrix. &#10;Both matrices are 3 by 3 matrices.&#10;Matrix A:&#10;1 0 2&#10;3 1 0&#10;5 -1 2&#10;Matrix B: &#10;2 -1 0&#10;5 1 -1&#10;-2 0 0&#10;To multiple the second row of the first matrix, 3 1 0, by the first column of the second matrix, 2 5 -2, you multiply the first times first, then second times second, then third times third, and then sum the results, like so:&#10;3*2 + 1*5 + 0*-2 = 11">
            <a:extLst>
              <a:ext uri="{FF2B5EF4-FFF2-40B4-BE49-F238E27FC236}">
                <a16:creationId xmlns:a16="http://schemas.microsoft.com/office/drawing/2014/main" id="{C0589C27-47CB-34B5-7120-E33FE963B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85914"/>
            <a:ext cx="8699406" cy="3506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69930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>
            <a:extLst>
              <a:ext uri="{FF2B5EF4-FFF2-40B4-BE49-F238E27FC236}">
                <a16:creationId xmlns:a16="http://schemas.microsoft.com/office/drawing/2014/main" id="{790BB70D-BC8C-42FD-B9E8-BCDEEAA74E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350"/>
            <a:ext cx="8488363" cy="1143000"/>
          </a:xfrm>
        </p:spPr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 Multiplication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24" name="Picture 2" descr="The first row of one matrix is multiplied by the first column of an identical matrix to get the top left entry in the resultant matrix. &#10;The matrix is a 3 by 3 matrix:&#10;0 1 1&#10;1 0 0&#10;1 0 0&#10;To multiple the first row, 0 1 1, by the first column, 0 1 1, you multiply the first times first, then second times second, then third times third, and then sum the results, like so:&#10;0*0 + 1*1 + 1*1 = 2">
            <a:extLst>
              <a:ext uri="{FF2B5EF4-FFF2-40B4-BE49-F238E27FC236}">
                <a16:creationId xmlns:a16="http://schemas.microsoft.com/office/drawing/2014/main" id="{FF3F6163-B9FB-4419-B236-33CA5ECA5B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600200"/>
            <a:ext cx="651510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>
            <a:extLst>
              <a:ext uri="{FF2B5EF4-FFF2-40B4-BE49-F238E27FC236}">
                <a16:creationId xmlns:a16="http://schemas.microsoft.com/office/drawing/2014/main" id="{309F6BEF-77E2-4D32-B878-D4120D8664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350"/>
            <a:ext cx="8488363" cy="1143000"/>
          </a:xfrm>
        </p:spPr>
        <p:txBody>
          <a:bodyPr/>
          <a:lstStyle/>
          <a:p>
            <a:pPr algn="ctr"/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Counting Walks in Adjacency Matrices</a:t>
            </a: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76" name="Rectangle 7">
            <a:extLst>
              <a:ext uri="{FF2B5EF4-FFF2-40B4-BE49-F238E27FC236}">
                <a16:creationId xmlns:a16="http://schemas.microsoft.com/office/drawing/2014/main" id="{5673CD53-C556-42EB-A397-08EBD93B9C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681" y="1218753"/>
            <a:ext cx="73914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3600" dirty="0">
                <a:latin typeface="Times New Roman" panose="02020603050405020304" pitchFamily="18" charset="0"/>
              </a:rPr>
              <a:t>How many walks of length </a:t>
            </a:r>
            <a:r>
              <a:rPr kumimoji="0" lang="en-US" altLang="en-US" sz="3600" b="1" dirty="0">
                <a:latin typeface="Times New Roman" panose="02020603050405020304" pitchFamily="18" charset="0"/>
              </a:rPr>
              <a:t>2</a:t>
            </a:r>
            <a:br>
              <a:rPr kumimoji="0" lang="en-US" altLang="en-US" sz="3600" dirty="0">
                <a:latin typeface="Times New Roman" panose="02020603050405020304" pitchFamily="18" charset="0"/>
              </a:rPr>
            </a:br>
            <a:r>
              <a:rPr kumimoji="0" lang="en-US" altLang="en-US" sz="3600" dirty="0">
                <a:latin typeface="Times New Roman" panose="02020603050405020304" pitchFamily="18" charset="0"/>
              </a:rPr>
              <a:t>exist in this Adjacency matrix? </a:t>
            </a:r>
          </a:p>
        </p:txBody>
      </p:sp>
      <p:graphicFrame>
        <p:nvGraphicFramePr>
          <p:cNvPr id="8" name="Table 7" descr="The adjacency matrix">
            <a:extLst>
              <a:ext uri="{FF2B5EF4-FFF2-40B4-BE49-F238E27FC236}">
                <a16:creationId xmlns:a16="http://schemas.microsoft.com/office/drawing/2014/main" id="{619D650B-D2F5-4A3F-95CD-9F310E58FF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0110346"/>
              </p:ext>
            </p:extLst>
          </p:nvPr>
        </p:nvGraphicFramePr>
        <p:xfrm>
          <a:off x="4151041" y="3140186"/>
          <a:ext cx="3429000" cy="2243140"/>
        </p:xfrm>
        <a:graphic>
          <a:graphicData uri="http://schemas.openxmlformats.org/drawingml/2006/table">
            <a:tbl>
              <a:tblPr firstRow="1"/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07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dirty="0">
                          <a:latin typeface="Calibri"/>
                          <a:ea typeface="Calibri"/>
                          <a:cs typeface="Times New Roman"/>
                        </a:rPr>
                        <a:t>A</a:t>
                      </a:r>
                      <a:endParaRPr lang="en-US" sz="3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>
                          <a:latin typeface="Calibri"/>
                          <a:ea typeface="Calibri"/>
                          <a:cs typeface="Times New Roman"/>
                        </a:rPr>
                        <a:t>B</a:t>
                      </a:r>
                      <a:endParaRPr lang="en-US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>
                          <a:latin typeface="Calibri"/>
                          <a:ea typeface="Calibri"/>
                          <a:cs typeface="Times New Roman"/>
                        </a:rPr>
                        <a:t>C</a:t>
                      </a:r>
                      <a:endParaRPr lang="en-US" sz="3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7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dirty="0">
                          <a:latin typeface="Calibri"/>
                          <a:ea typeface="Calibri"/>
                          <a:cs typeface="Times New Roman"/>
                        </a:rPr>
                        <a:t>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7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dirty="0">
                          <a:latin typeface="Calibri"/>
                          <a:ea typeface="Calibri"/>
                          <a:cs typeface="Times New Roman"/>
                        </a:rPr>
                        <a:t>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7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dirty="0">
                          <a:latin typeface="Calibri"/>
                          <a:ea typeface="Calibri"/>
                          <a:cs typeface="Times New Roman"/>
                        </a:rPr>
                        <a:t>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7" name="Group 6" descr="An undirected graph with edges {(A,B), (A,C)}&#10;Adjacency list:&#10;A B, C&#10;B A&#10;C A">
            <a:extLst>
              <a:ext uri="{FF2B5EF4-FFF2-40B4-BE49-F238E27FC236}">
                <a16:creationId xmlns:a16="http://schemas.microsoft.com/office/drawing/2014/main" id="{BA32440C-8045-FAE9-B364-243B9D25E2E6}"/>
              </a:ext>
            </a:extLst>
          </p:cNvPr>
          <p:cNvGrpSpPr/>
          <p:nvPr/>
        </p:nvGrpSpPr>
        <p:grpSpPr>
          <a:xfrm>
            <a:off x="1066800" y="3191573"/>
            <a:ext cx="1996533" cy="2383108"/>
            <a:chOff x="1066800" y="3191573"/>
            <a:chExt cx="1996533" cy="2383108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C85E9774-08D9-ED9C-BEE1-B4F57C61493B}"/>
                </a:ext>
              </a:extLst>
            </p:cNvPr>
            <p:cNvSpPr/>
            <p:nvPr/>
          </p:nvSpPr>
          <p:spPr bwMode="auto">
            <a:xfrm>
              <a:off x="1066800" y="3917416"/>
              <a:ext cx="716466" cy="71646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1800"/>
                </a:spcAft>
                <a:buClrTx/>
                <a:buSzTx/>
                <a:buFontTx/>
                <a:buNone/>
                <a:tabLst/>
              </a:pPr>
              <a:r>
                <a:rPr kumimoji="0" lang="en-US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</a:t>
              </a: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D7FEB91B-AE61-ED2F-28D1-6985B816DD9B}"/>
                </a:ext>
              </a:extLst>
            </p:cNvPr>
            <p:cNvSpPr/>
            <p:nvPr/>
          </p:nvSpPr>
          <p:spPr bwMode="auto">
            <a:xfrm>
              <a:off x="2141034" y="4858215"/>
              <a:ext cx="716466" cy="71646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1800"/>
                </a:spcAft>
                <a:buClrTx/>
                <a:buSzTx/>
                <a:buFontTx/>
                <a:buNone/>
                <a:tabLst/>
              </a:pPr>
              <a:r>
                <a:rPr kumimoji="0" lang="en-US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3F19D3C6-635E-EC81-9A02-7F05D8A8507D}"/>
                </a:ext>
              </a:extLst>
            </p:cNvPr>
            <p:cNvSpPr/>
            <p:nvPr/>
          </p:nvSpPr>
          <p:spPr bwMode="auto">
            <a:xfrm>
              <a:off x="2346867" y="3191573"/>
              <a:ext cx="716466" cy="71646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1800"/>
                </a:spcAft>
                <a:buClrTx/>
                <a:buSzTx/>
                <a:buFontTx/>
                <a:buNone/>
                <a:tabLst/>
              </a:pPr>
              <a:r>
                <a:rPr kumimoji="0" lang="en-US" sz="3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B5D722A-8B6A-88F8-8FAA-D83AB1703276}"/>
                </a:ext>
              </a:extLst>
            </p:cNvPr>
            <p:cNvCxnSpPr>
              <a:stCxn id="2" idx="7"/>
              <a:endCxn id="4" idx="3"/>
            </p:cNvCxnSpPr>
            <p:nvPr/>
          </p:nvCxnSpPr>
          <p:spPr bwMode="auto">
            <a:xfrm flipV="1">
              <a:off x="1678342" y="3803115"/>
              <a:ext cx="773449" cy="21922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FFB90CF-6B3C-6E04-D809-BD7235379C24}"/>
                </a:ext>
              </a:extLst>
            </p:cNvPr>
            <p:cNvCxnSpPr>
              <a:stCxn id="3" idx="1"/>
              <a:endCxn id="2" idx="5"/>
            </p:cNvCxnSpPr>
            <p:nvPr/>
          </p:nvCxnSpPr>
          <p:spPr bwMode="auto">
            <a:xfrm flipH="1" flipV="1">
              <a:off x="1678342" y="4528958"/>
              <a:ext cx="567616" cy="43418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5" name="Rectangle 7">
            <a:extLst>
              <a:ext uri="{FF2B5EF4-FFF2-40B4-BE49-F238E27FC236}">
                <a16:creationId xmlns:a16="http://schemas.microsoft.com/office/drawing/2014/main" id="{EDE92B70-3417-D5D3-5E9E-D1F0D49B83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7018" y="1769752"/>
            <a:ext cx="48731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3600" b="1" dirty="0">
                <a:solidFill>
                  <a:srgbClr val="2D5CB9"/>
                </a:solidFill>
                <a:latin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165886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6CB0F-75EA-A019-A47B-F8ACB6542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123" y="274320"/>
            <a:ext cx="7772400" cy="1143000"/>
          </a:xfrm>
        </p:spPr>
        <p:txBody>
          <a:bodyPr/>
          <a:lstStyle/>
          <a:p>
            <a:pPr algn="ctr"/>
            <a:r>
              <a:rPr lang="en-US" b="1" dirty="0"/>
              <a:t>Old terminology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DA271D-8FD1-4FB5-ABBA-BD80110A0AE0}"/>
              </a:ext>
            </a:extLst>
          </p:cNvPr>
          <p:cNvSpPr/>
          <p:nvPr/>
        </p:nvSpPr>
        <p:spPr>
          <a:xfrm>
            <a:off x="1066800" y="1911821"/>
            <a:ext cx="7848600" cy="30343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400" dirty="0">
                <a:solidFill>
                  <a:srgbClr val="282829"/>
                </a:solidFill>
                <a:latin typeface="-apple-system"/>
              </a:rPr>
              <a:t>FYI, some older texts use the terms </a:t>
            </a:r>
            <a:r>
              <a:rPr lang="en-US" sz="4400" b="1" dirty="0">
                <a:solidFill>
                  <a:srgbClr val="990033"/>
                </a:solidFill>
                <a:latin typeface="-apple-system"/>
              </a:rPr>
              <a:t>path</a:t>
            </a:r>
            <a:r>
              <a:rPr lang="en-US" sz="4400" dirty="0">
                <a:solidFill>
                  <a:srgbClr val="990033"/>
                </a:solidFill>
                <a:latin typeface="-apple-system"/>
              </a:rPr>
              <a:t> </a:t>
            </a:r>
            <a:r>
              <a:rPr lang="en-US" sz="4400" b="1" dirty="0">
                <a:solidFill>
                  <a:srgbClr val="990033"/>
                </a:solidFill>
                <a:latin typeface="-apple-system"/>
              </a:rPr>
              <a:t>and</a:t>
            </a:r>
            <a:r>
              <a:rPr lang="en-US" sz="4400" dirty="0">
                <a:solidFill>
                  <a:srgbClr val="990033"/>
                </a:solidFill>
                <a:latin typeface="-apple-system"/>
              </a:rPr>
              <a:t> </a:t>
            </a:r>
            <a:r>
              <a:rPr lang="en-US" sz="4400" b="1" dirty="0">
                <a:solidFill>
                  <a:srgbClr val="990033"/>
                </a:solidFill>
                <a:latin typeface="-apple-system"/>
              </a:rPr>
              <a:t>simple path</a:t>
            </a:r>
            <a:r>
              <a:rPr lang="en-US" sz="4400" dirty="0">
                <a:solidFill>
                  <a:srgbClr val="990033"/>
                </a:solidFill>
                <a:latin typeface="-apple-system"/>
              </a:rPr>
              <a:t> </a:t>
            </a:r>
            <a:r>
              <a:rPr lang="en-US" sz="4400" dirty="0">
                <a:solidFill>
                  <a:srgbClr val="282829"/>
                </a:solidFill>
                <a:latin typeface="-apple-system"/>
              </a:rPr>
              <a:t>where we use </a:t>
            </a:r>
            <a:r>
              <a:rPr lang="en-US" sz="4400" b="1" dirty="0">
                <a:solidFill>
                  <a:srgbClr val="008000"/>
                </a:solidFill>
                <a:latin typeface="-apple-system"/>
              </a:rPr>
              <a:t>walk</a:t>
            </a:r>
            <a:r>
              <a:rPr lang="en-US" sz="4400" dirty="0">
                <a:solidFill>
                  <a:srgbClr val="008000"/>
                </a:solidFill>
                <a:latin typeface="-apple-system"/>
              </a:rPr>
              <a:t> </a:t>
            </a:r>
            <a:r>
              <a:rPr lang="en-US" sz="4400" b="1" dirty="0">
                <a:solidFill>
                  <a:srgbClr val="008000"/>
                </a:solidFill>
                <a:latin typeface="-apple-system"/>
              </a:rPr>
              <a:t>and</a:t>
            </a:r>
            <a:r>
              <a:rPr lang="en-US" sz="4400" dirty="0">
                <a:solidFill>
                  <a:srgbClr val="008000"/>
                </a:solidFill>
                <a:latin typeface="-apple-system"/>
              </a:rPr>
              <a:t> </a:t>
            </a:r>
            <a:r>
              <a:rPr lang="en-US" sz="4400" b="1" dirty="0">
                <a:solidFill>
                  <a:srgbClr val="008000"/>
                </a:solidFill>
                <a:latin typeface="-apple-system"/>
              </a:rPr>
              <a:t>path</a:t>
            </a:r>
            <a:r>
              <a:rPr lang="en-US" sz="4400" dirty="0">
                <a:solidFill>
                  <a:srgbClr val="282829"/>
                </a:solidFill>
                <a:latin typeface="-apple-system"/>
              </a:rPr>
              <a:t>.  : (</a:t>
            </a:r>
          </a:p>
        </p:txBody>
      </p:sp>
    </p:spTree>
    <p:extLst>
      <p:ext uri="{BB962C8B-B14F-4D97-AF65-F5344CB8AC3E}">
        <p14:creationId xmlns:p14="http://schemas.microsoft.com/office/powerpoint/2010/main" val="2043752655"/>
      </p:ext>
    </p:extLst>
  </p:cSld>
  <p:clrMapOvr>
    <a:masterClrMapping/>
  </p:clrMapOvr>
</p:sld>
</file>

<file path=ppt/theme/theme1.xml><?xml version="1.0" encoding="utf-8"?>
<a:theme xmlns:a="http://schemas.openxmlformats.org/drawingml/2006/main" name="Dads Tie">
  <a:themeElements>
    <a:clrScheme name="Dads Tie 2">
      <a:dk1>
        <a:srgbClr val="000000"/>
      </a:dk1>
      <a:lt1>
        <a:srgbClr val="FFFFFF"/>
      </a:lt1>
      <a:dk2>
        <a:srgbClr val="003366"/>
      </a:dk2>
      <a:lt2>
        <a:srgbClr val="5490A8"/>
      </a:lt2>
      <a:accent1>
        <a:srgbClr val="0099CC"/>
      </a:accent1>
      <a:accent2>
        <a:srgbClr val="3366CC"/>
      </a:accent2>
      <a:accent3>
        <a:srgbClr val="FFFFFF"/>
      </a:accent3>
      <a:accent4>
        <a:srgbClr val="000000"/>
      </a:accent4>
      <a:accent5>
        <a:srgbClr val="AACAE2"/>
      </a:accent5>
      <a:accent6>
        <a:srgbClr val="2D5CB9"/>
      </a:accent6>
      <a:hlink>
        <a:srgbClr val="99CCFF"/>
      </a:hlink>
      <a:folHlink>
        <a:srgbClr val="E1E1B7"/>
      </a:folHlink>
    </a:clrScheme>
    <a:fontScheme name="Dads Ti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ads Tie 1">
        <a:dk1>
          <a:srgbClr val="5490A8"/>
        </a:dk1>
        <a:lt1>
          <a:srgbClr val="DDDDDD"/>
        </a:lt1>
        <a:dk2>
          <a:srgbClr val="00172E"/>
        </a:dk2>
        <a:lt2>
          <a:srgbClr val="CCECFF"/>
        </a:lt2>
        <a:accent1>
          <a:srgbClr val="0099CC"/>
        </a:accent1>
        <a:accent2>
          <a:srgbClr val="3366CC"/>
        </a:accent2>
        <a:accent3>
          <a:srgbClr val="AAABAD"/>
        </a:accent3>
        <a:accent4>
          <a:srgbClr val="BDBDBD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ds Tie 2">
        <a:dk1>
          <a:srgbClr val="000000"/>
        </a:dk1>
        <a:lt1>
          <a:srgbClr val="FFFFFF"/>
        </a:lt1>
        <a:dk2>
          <a:srgbClr val="003366"/>
        </a:dk2>
        <a:lt2>
          <a:srgbClr val="5490A8"/>
        </a:lt2>
        <a:accent1>
          <a:srgbClr val="0099CC"/>
        </a:accent1>
        <a:accent2>
          <a:srgbClr val="3366CC"/>
        </a:accent2>
        <a:accent3>
          <a:srgbClr val="FFFFFF"/>
        </a:accent3>
        <a:accent4>
          <a:srgbClr val="000000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ds Tie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ds Tie 4">
        <a:dk1>
          <a:srgbClr val="000000"/>
        </a:dk1>
        <a:lt1>
          <a:srgbClr val="FFFFFF"/>
        </a:lt1>
        <a:dk2>
          <a:srgbClr val="666633"/>
        </a:dk2>
        <a:lt2>
          <a:srgbClr val="908A6C"/>
        </a:lt2>
        <a:accent1>
          <a:srgbClr val="808000"/>
        </a:accent1>
        <a:accent2>
          <a:srgbClr val="996633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8A5C2D"/>
        </a:accent6>
        <a:hlink>
          <a:srgbClr val="CCCC00"/>
        </a:hlink>
        <a:folHlink>
          <a:srgbClr val="D6DE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ds Tie 5">
        <a:dk1>
          <a:srgbClr val="000000"/>
        </a:dk1>
        <a:lt1>
          <a:srgbClr val="FFFFFF"/>
        </a:lt1>
        <a:dk2>
          <a:srgbClr val="181848"/>
        </a:dk2>
        <a:lt2>
          <a:srgbClr val="656F97"/>
        </a:lt2>
        <a:accent1>
          <a:srgbClr val="6666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B8B8FF"/>
        </a:accent5>
        <a:accent6>
          <a:srgbClr val="2D2D8A"/>
        </a:accent6>
        <a:hlink>
          <a:srgbClr val="9A9ABC"/>
        </a:hlink>
        <a:folHlink>
          <a:srgbClr val="D2B6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ds Tie 6">
        <a:dk1>
          <a:srgbClr val="CC0066"/>
        </a:dk1>
        <a:lt1>
          <a:srgbClr val="FFFFFF"/>
        </a:lt1>
        <a:dk2>
          <a:srgbClr val="000000"/>
        </a:dk2>
        <a:lt2>
          <a:srgbClr val="CC0099"/>
        </a:lt2>
        <a:accent1>
          <a:srgbClr val="FF9900"/>
        </a:accent1>
        <a:accent2>
          <a:srgbClr val="CC6600"/>
        </a:accent2>
        <a:accent3>
          <a:srgbClr val="AAAAAA"/>
        </a:accent3>
        <a:accent4>
          <a:srgbClr val="DADADA"/>
        </a:accent4>
        <a:accent5>
          <a:srgbClr val="FFCAAA"/>
        </a:accent5>
        <a:accent6>
          <a:srgbClr val="B95C00"/>
        </a:accent6>
        <a:hlink>
          <a:srgbClr val="0099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Designs\Dads Tie.pot</Template>
  <TotalTime>11066</TotalTime>
  <Words>866</Words>
  <Application>Microsoft Office PowerPoint</Application>
  <PresentationFormat>On-screen Show (4:3)</PresentationFormat>
  <Paragraphs>197</Paragraphs>
  <Slides>25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Abadi</vt:lpstr>
      <vt:lpstr>-apple-system</vt:lpstr>
      <vt:lpstr>Arial</vt:lpstr>
      <vt:lpstr>Calibri</vt:lpstr>
      <vt:lpstr>Comic Sans MS</vt:lpstr>
      <vt:lpstr>Monotype Sorts</vt:lpstr>
      <vt:lpstr>Tahoma</vt:lpstr>
      <vt:lpstr>Tekton Pro</vt:lpstr>
      <vt:lpstr>Times New Roman</vt:lpstr>
      <vt:lpstr>Dads Tie</vt:lpstr>
      <vt:lpstr>Practice classifying a graph</vt:lpstr>
      <vt:lpstr>Practice classifying a graph</vt:lpstr>
      <vt:lpstr>Walk definition</vt:lpstr>
      <vt:lpstr>Walk definition</vt:lpstr>
      <vt:lpstr>Trail definition</vt:lpstr>
      <vt:lpstr>Trail definition</vt:lpstr>
      <vt:lpstr>Path definition</vt:lpstr>
      <vt:lpstr>Cycle definition</vt:lpstr>
      <vt:lpstr>Classifying Walks 1</vt:lpstr>
      <vt:lpstr>Classifying Walks 2</vt:lpstr>
      <vt:lpstr>Classifying walk 3</vt:lpstr>
      <vt:lpstr>Cyclic Graphs and Cycle Graphs</vt:lpstr>
      <vt:lpstr>Cyclic Graphs and Cycle Graphs</vt:lpstr>
      <vt:lpstr>Cyclic Graphs and Cycle Graphs</vt:lpstr>
      <vt:lpstr>Practice finding Walks</vt:lpstr>
      <vt:lpstr>Practice finding Trails</vt:lpstr>
      <vt:lpstr>Practice finding Paths</vt:lpstr>
      <vt:lpstr>Practice finding Cycles</vt:lpstr>
      <vt:lpstr>Length of a Walk</vt:lpstr>
      <vt:lpstr>Counting Walks in Adjacency Matrices</vt:lpstr>
      <vt:lpstr>Counting Walks in Adjacency Matrices</vt:lpstr>
      <vt:lpstr>Matrix Multiplication</vt:lpstr>
      <vt:lpstr>Matrix Multiplication</vt:lpstr>
      <vt:lpstr>Counting Walks in Adjacency Matrices</vt:lpstr>
      <vt:lpstr>Old terminology</vt:lpstr>
    </vt:vector>
  </TitlesOfParts>
  <Company>Skylight Publishing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Methods</dc:title>
  <dc:subject>Chapter 7</dc:subject>
  <dc:creator>Maria Litvin and Gary Litvin</dc:creator>
  <cp:lastModifiedBy>Weldon Jasik</cp:lastModifiedBy>
  <cp:revision>711</cp:revision>
  <cp:lastPrinted>2021-05-14T18:26:42Z</cp:lastPrinted>
  <dcterms:created xsi:type="dcterms:W3CDTF">2002-08-16T13:24:03Z</dcterms:created>
  <dcterms:modified xsi:type="dcterms:W3CDTF">2025-04-02T18:04:49Z</dcterms:modified>
</cp:coreProperties>
</file>
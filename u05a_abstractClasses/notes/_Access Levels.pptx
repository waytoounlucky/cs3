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72" r:id="rId2"/>
    <p:sldId id="508" r:id="rId3"/>
    <p:sldId id="509" r:id="rId4"/>
    <p:sldId id="656" r:id="rId5"/>
    <p:sldId id="511" r:id="rId6"/>
    <p:sldId id="653" r:id="rId7"/>
    <p:sldId id="569" r:id="rId8"/>
    <p:sldId id="654" r:id="rId9"/>
    <p:sldId id="510" r:id="rId10"/>
    <p:sldId id="655" r:id="rId11"/>
    <p:sldId id="571" r:id="rId12"/>
    <p:sldId id="570" r:id="rId13"/>
    <p:sldId id="669" r:id="rId14"/>
    <p:sldId id="670" r:id="rId15"/>
    <p:sldId id="671" r:id="rId16"/>
    <p:sldId id="672" r:id="rId17"/>
    <p:sldId id="67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FF"/>
    <a:srgbClr val="008000"/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6" autoAdjust="0"/>
    <p:restoredTop sz="90929"/>
  </p:normalViewPr>
  <p:slideViewPr>
    <p:cSldViewPr snapToGrid="0">
      <p:cViewPr varScale="1">
        <p:scale>
          <a:sx n="59" d="100"/>
          <a:sy n="59" d="100"/>
        </p:scale>
        <p:origin x="62" y="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7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F815407-1E49-4376-AB7C-2D15708DFB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376ADFC-07FE-4DE5-B8BB-06006E891A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4CB35903-B38D-48F4-A7EF-36D7B2A910D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E19B9881-FE86-44C8-8DF4-692DE97F24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AC3DC78-E5C8-414C-980B-A1B848457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EB7A4B-F4EA-4E91-95BB-68E553458E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3A950EF-1A33-497C-B558-E69D820A5F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59435F0-A266-4CDA-9ED8-7DA908FA96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D03E6892-61A6-48CC-9D8C-943BEB4CE7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0941B27F-E969-43EB-9326-DFD543DCE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en-US" altLang="en-US" sz="1200" b="1"/>
              <a:t>©A+ Computer Science     www.apluscompsci.com                 </a:t>
            </a:r>
            <a:fld id="{5D7796AD-AC2A-49DB-88C3-2A1E7C748D11}" type="slidenum">
              <a:rPr lang="en-US" altLang="en-US" sz="1200" b="1"/>
              <a:pPr algn="r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040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673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r>
              <a:rPr lang="en-US" altLang="en-US" sz="1600"/>
              <a:t>When methods or data are labeled public, they can be accessed in the super class, sub class, or any other class.   </a:t>
            </a:r>
          </a:p>
          <a:p>
            <a:r>
              <a:rPr lang="en-US" altLang="en-US" sz="1600"/>
              <a:t>When a sub class inherits public parts, those parts can be accessed directly by the sub class.</a:t>
            </a:r>
          </a:p>
        </p:txBody>
      </p:sp>
    </p:spTree>
    <p:extLst>
      <p:ext uri="{BB962C8B-B14F-4D97-AF65-F5344CB8AC3E}">
        <p14:creationId xmlns:p14="http://schemas.microsoft.com/office/powerpoint/2010/main" val="3025381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r>
              <a:rPr lang="en-US" altLang="en-US" sz="1600"/>
              <a:t>When methods or data are labeled private, they can be accessed in the super class.   </a:t>
            </a:r>
          </a:p>
          <a:p>
            <a:r>
              <a:rPr lang="en-US" altLang="en-US" sz="1600"/>
              <a:t>When a sub class inherits private parts, those parts cannot be accessed directly by the sub class or any other class.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51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r>
              <a:rPr lang="en-US" altLang="en-US" sz="1600"/>
              <a:t>When methods or data are labeled protected, they can be accessed in the super class and sub class only.   </a:t>
            </a:r>
          </a:p>
          <a:p>
            <a:r>
              <a:rPr lang="en-US" altLang="en-US" sz="1600"/>
              <a:t>When a sub class inherits protected parts, those parts can be accessed directly by the sub class.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551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r>
              <a:rPr lang="en-US" altLang="en-US" sz="1600"/>
              <a:t>When methods or data are labeled protected, they can be accessed in the super class and sub class only.   </a:t>
            </a:r>
          </a:p>
          <a:p>
            <a:r>
              <a:rPr lang="en-US" altLang="en-US" sz="1600"/>
              <a:t>When a sub class inherits protected parts, those parts can be accessed directly by the sub class.</a:t>
            </a:r>
          </a:p>
          <a:p>
            <a:r>
              <a:rPr lang="en-US" altLang="en-US"/>
              <a:t>?Protected is commonly referred to as package public?</a:t>
            </a:r>
          </a:p>
        </p:txBody>
      </p:sp>
    </p:spTree>
    <p:extLst>
      <p:ext uri="{BB962C8B-B14F-4D97-AF65-F5344CB8AC3E}">
        <p14:creationId xmlns:p14="http://schemas.microsoft.com/office/powerpoint/2010/main" val="297927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3950" y="679450"/>
            <a:ext cx="4535488" cy="34004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308475"/>
            <a:ext cx="5424488" cy="4079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60" tIns="45280" rIns="90560" bIns="4528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928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class, members are non-static, non-final, and package access unless declared to be otherwise using a MODIFIER.</a:t>
            </a:r>
          </a:p>
          <a:p>
            <a:r>
              <a:rPr lang="en-US" dirty="0"/>
              <a:t>Methods are concrete unless declared to be otherwise.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40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class, members are non-static, non-final, and package access unless declared to be otherwise using a MODIFIER.</a:t>
            </a:r>
          </a:p>
          <a:p>
            <a:r>
              <a:rPr lang="en-US" dirty="0"/>
              <a:t>Methods are concrete unless declared to be otherwise.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90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class, members are non-static, non-final, and package access unless declared to be otherwise using a MODIFIER.</a:t>
            </a:r>
          </a:p>
          <a:p>
            <a:r>
              <a:rPr lang="en-US" dirty="0"/>
              <a:t>Methods are concrete unless declared to be otherwise.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13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class, members are non-static, non-final, and package access unless declared to be otherwise using a MODIFIER.</a:t>
            </a:r>
          </a:p>
          <a:p>
            <a:r>
              <a:rPr lang="en-US" dirty="0"/>
              <a:t>Methods are concrete unless declared to be otherwise.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5C64-87B5-45EC-8800-5548194A4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E92FF-1295-4BA5-A977-81DE887F0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E6A6F-73C6-492C-905C-B64F3B65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71FBC-3207-4E50-B9F1-DD1979E2F4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35CD04-A742-40F5-98D2-34F7E88B02B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7C7B7-A504-4385-931E-E47475FB08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9547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504D-3687-4D3F-BD72-A8FD7F87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72F4-A9B1-46AC-8AD0-C9233E83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80FD2-8DC5-42C9-A173-A533DAE9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BE66B-901B-4AC1-8E92-AF14AC0BAB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6FF23BB-C5F3-4169-8CED-04304C0F47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9344-8481-450E-B425-D9551B2CE8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0034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BCB4-6E38-43C4-9921-93103D6E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9420E-F4A8-4AC8-8EC2-E20C01C5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7E4B-A067-4E8D-94B3-2188D2AF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DA12D-0594-436B-9138-BA786B45C4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CD0480-CE55-448A-9631-3C72E4857B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85C44-2CC4-414E-9BDC-4AF25F21E7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47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D3C4-CC81-4638-A376-84C3A078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3C26-F75C-4EEA-9E4D-5CCADB9FD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47126-E3AA-4217-892E-309FA9B3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3B8D1-F43F-460D-A811-42716909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65C4-5CC5-465E-810F-DF15D187F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3B78E-F85F-4B51-9BC1-4A3D1BEFF7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309C2B-7732-4E0A-B57D-137789B049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3744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2BAD-72A2-41C1-8A78-E22CBB18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21D4D-53BC-4DBB-84EB-2AABC370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BC23F-B304-4032-8807-88F6352AD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20129-D346-4195-8994-704EF8B1C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60DE5-02B6-406C-A96C-D6B744BAE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B4000-8200-4477-BBCB-081B7C51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4A8FDB-2B4C-4D41-8611-B98E270EA5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4D0588-9D7A-4D0C-82DB-AF434FCC7F4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2C709-772B-4C1B-B0E7-C17AAFEB9A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775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732F-C397-4707-8D20-35C9DCE6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32989-F540-4127-B8A1-25E42D01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1AD8-0D92-4FC9-917E-DEF1A5CDB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C087E4-2C53-4EB3-9F91-7B3CAF6D90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AEAE-6212-429A-B4E8-E14254BB95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2534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A3E29-640D-4CCB-801B-BC10F87B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B8C62-BD17-4994-A304-6E26695BA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A53652-5EC9-4BFF-9B18-4AE23DEA85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65639-4179-47AB-9E5F-14D208106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8103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007D-5F73-40AD-9281-ED3ACC86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05D1-AA8E-4AF6-8AA9-7233901DE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D1596-D40F-45F5-B922-EC891F1C9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C964-FD6F-4266-8C64-98572671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4783-D625-489D-956A-5709A8130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BD152A-AB58-4CFA-963E-D8F8104849B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B06BFB-38CD-4ED1-A45D-3DC1A81AA6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3576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0510-4C13-4B69-A1FA-0EBB0702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BC7F2-1E1A-4422-B5AC-284289062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0E81C-0E79-46F3-A0BB-472DC38E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7246-8994-4E2E-B358-C5130E69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F288-4A3D-46E0-93BB-BF384D611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06F42B-5442-4398-A9F4-6CA010D0CF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5BC27E-D61D-4884-B06B-8CA66193A7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9614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4472-EC5C-477A-93B1-022E4528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81608-C4E0-48A4-93F1-37AA99DE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BAFD-B394-46DF-907A-3FF1728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14554-B930-485A-98C8-ADC871352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E15174-5903-4E96-831C-4B01590BD9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5DC8C-6EF6-4CBF-8968-547E25CE05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0109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F299F-E3B3-4D88-8493-3F9217538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4B9A3-D4CB-45BE-BCF4-574E4EF68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499A-13AD-43F3-80CE-5B6D5217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4931-7244-4A55-943A-F1F4B7E93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9BCF1D-322C-4F09-87F4-20B4B3BF90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D200-6BEE-4CEC-821E-8E6499C7C1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38975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98D48-FA85-41FE-B471-F406F1568E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3875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5AECFC-27A2-4290-95CC-0B9AC6AAA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9FCCAF-2A01-4FDC-870A-A4198DB92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A84978-95EE-4BC4-97C2-E62EDBAA60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DB3F5C-E8A6-4B9F-8B77-7B49F77321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3CB3114-C76D-4197-BAB3-C0227B6868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484AF92-3B09-4A7D-AB7A-5D2E2578F1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endParaRPr lang="en-US" altLang="en-US"/>
          </a:p>
          <a:p>
            <a:endParaRPr lang="en-US" altLang="en-US" b="0">
              <a:latin typeface="Tahoma" panose="020B0604030504040204" pitchFamily="34" charset="0"/>
            </a:endParaRP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6867" name="WordArt 2"/>
          <p:cNvSpPr>
            <a:spLocks noChangeArrowheads="1" noChangeShapeType="1" noTextEdit="1"/>
          </p:cNvSpPr>
          <p:nvPr/>
        </p:nvSpPr>
        <p:spPr bwMode="auto">
          <a:xfrm>
            <a:off x="762000" y="1752600"/>
            <a:ext cx="7772400" cy="3581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4400" kern="10" dirty="0">
                <a:gradFill rotWithShape="1">
                  <a:gsLst>
                    <a:gs pos="0">
                      <a:srgbClr val="009900"/>
                    </a:gs>
                    <a:gs pos="100000">
                      <a:srgbClr val="99FF99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Access Modifiers</a:t>
            </a:r>
          </a:p>
          <a:p>
            <a:pPr algn="ctr">
              <a:defRPr/>
            </a:pPr>
            <a:endParaRPr lang="en-US" sz="2000" kern="10" dirty="0">
              <a:gradFill rotWithShape="1">
                <a:gsLst>
                  <a:gs pos="0">
                    <a:srgbClr val="009900"/>
                  </a:gs>
                  <a:gs pos="100000">
                    <a:srgbClr val="99FF99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C0C0C0"/>
                </a:outerShdw>
              </a:effectLst>
              <a:latin typeface="Impact"/>
            </a:endParaRPr>
          </a:p>
          <a:p>
            <a:pPr algn="ctr">
              <a:defRPr/>
            </a:pPr>
            <a:r>
              <a:rPr lang="en-US" sz="3600" b="0" kern="10" dirty="0">
                <a:gradFill rotWithShape="1">
                  <a:gsLst>
                    <a:gs pos="0">
                      <a:srgbClr val="009900"/>
                    </a:gs>
                    <a:gs pos="100000">
                      <a:srgbClr val="99FF99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(</a:t>
            </a:r>
            <a:r>
              <a:rPr lang="en-US" sz="3600" kern="10" dirty="0">
                <a:gradFill rotWithShape="1">
                  <a:gsLst>
                    <a:gs pos="0">
                      <a:srgbClr val="009900"/>
                    </a:gs>
                    <a:gs pos="100000">
                      <a:srgbClr val="99FF99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Visibility Modifiers</a:t>
            </a:r>
            <a:r>
              <a:rPr lang="en-US" sz="3600" b="0" kern="10" dirty="0">
                <a:gradFill rotWithShape="1">
                  <a:gsLst>
                    <a:gs pos="0">
                      <a:srgbClr val="009900"/>
                    </a:gs>
                    <a:gs pos="100000">
                      <a:srgbClr val="99FF99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)</a:t>
            </a:r>
          </a:p>
          <a:p>
            <a:pPr algn="ctr">
              <a:defRPr/>
            </a:pPr>
            <a:endParaRPr lang="en-US" sz="3600" kern="10" dirty="0">
              <a:gradFill rotWithShape="1">
                <a:gsLst>
                  <a:gs pos="0">
                    <a:srgbClr val="009900"/>
                  </a:gs>
                  <a:gs pos="100000">
                    <a:srgbClr val="99FF99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C0C0C0"/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72843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WordArt 2"/>
          <p:cNvSpPr>
            <a:spLocks noChangeArrowheads="1" noChangeShapeType="1" noTextEdit="1"/>
          </p:cNvSpPr>
          <p:nvPr/>
        </p:nvSpPr>
        <p:spPr bwMode="auto">
          <a:xfrm>
            <a:off x="762000" y="685800"/>
            <a:ext cx="72390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Public</a:t>
            </a:r>
          </a:p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Protected</a:t>
            </a:r>
          </a:p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Package</a:t>
            </a:r>
          </a:p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56267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685800" y="1752600"/>
            <a:ext cx="7523163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All members defined as </a:t>
            </a:r>
            <a:r>
              <a:rPr lang="en-US" altLang="en-US" sz="4000">
                <a:solidFill>
                  <a:schemeClr val="accent2"/>
                </a:solidFill>
                <a:latin typeface="Arial" panose="020B0604020202020204" pitchFamily="34" charset="0"/>
              </a:rPr>
              <a:t>public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can be accessed by members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of </a:t>
            </a:r>
            <a:r>
              <a:rPr lang="en-US" altLang="en-US" sz="4000" u="sng">
                <a:latin typeface="Arial" panose="020B0604020202020204" pitchFamily="34" charset="0"/>
              </a:rPr>
              <a:t>any</a:t>
            </a:r>
            <a:r>
              <a:rPr lang="en-US" altLang="en-US" sz="4000">
                <a:latin typeface="Arial" panose="020B0604020202020204" pitchFamily="34" charset="0"/>
              </a:rPr>
              <a:t> class.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This is the least restrictive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visibility level.</a:t>
            </a:r>
          </a:p>
        </p:txBody>
      </p:sp>
      <p:sp>
        <p:nvSpPr>
          <p:cNvPr id="77828" name="WordArt 4"/>
          <p:cNvSpPr>
            <a:spLocks noChangeArrowheads="1" noChangeShapeType="1" noTextEdit="1"/>
          </p:cNvSpPr>
          <p:nvPr/>
        </p:nvSpPr>
        <p:spPr bwMode="auto">
          <a:xfrm>
            <a:off x="1524000" y="457200"/>
            <a:ext cx="5715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2950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My file:&#10;package myPackage;&#10;public class MyClass {&#10;   // class member with public access&#10;}&#10;public class MyOtherClass {&#10;}&#10;Your file:&#10;package yourPackage;&#10;class YourClass extends MyClass { &#10;}&#10;class YourOtherClass extends MyClass {&#10;}&#10;My public class member can be access from any of the other classes.">
            <a:extLst>
              <a:ext uri="{FF2B5EF4-FFF2-40B4-BE49-F238E27FC236}">
                <a16:creationId xmlns:a16="http://schemas.microsoft.com/office/drawing/2014/main" id="{1667D4FA-C3E8-BE3F-0214-43E7C61F61CA}"/>
              </a:ext>
            </a:extLst>
          </p:cNvPr>
          <p:cNvGrpSpPr/>
          <p:nvPr/>
        </p:nvGrpSpPr>
        <p:grpSpPr>
          <a:xfrm>
            <a:off x="-76200" y="-152400"/>
            <a:ext cx="9067800" cy="7239000"/>
            <a:chOff x="-76200" y="-152400"/>
            <a:chExt cx="9067800" cy="7239000"/>
          </a:xfrm>
        </p:grpSpPr>
        <p:pic>
          <p:nvPicPr>
            <p:cNvPr id="18434" name="Picture 4" descr="Clipart - Manilla &lt;strong&gt;folder&lt;/strong&gt;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6200" y="-152400"/>
              <a:ext cx="8001000" cy="388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5" name="TextBox 5"/>
            <p:cNvSpPr txBox="1">
              <a:spLocks noChangeArrowheads="1"/>
            </p:cNvSpPr>
            <p:nvPr/>
          </p:nvSpPr>
          <p:spPr bwMode="auto">
            <a:xfrm>
              <a:off x="533400" y="228600"/>
              <a:ext cx="16557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myPackage</a:t>
              </a:r>
            </a:p>
          </p:txBody>
        </p:sp>
        <p:pic>
          <p:nvPicPr>
            <p:cNvPr id="18436" name="Picture 6" descr="Clipart - Manilla &lt;strong&gt;folder&lt;/strong&g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3251200"/>
              <a:ext cx="8001000" cy="383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7" name="TextBox 7"/>
            <p:cNvSpPr txBox="1">
              <a:spLocks noChangeArrowheads="1"/>
            </p:cNvSpPr>
            <p:nvPr/>
          </p:nvSpPr>
          <p:spPr bwMode="auto">
            <a:xfrm>
              <a:off x="1600200" y="3632200"/>
              <a:ext cx="18430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yourPackage</a:t>
              </a:r>
            </a:p>
          </p:txBody>
        </p:sp>
        <p:sp>
          <p:nvSpPr>
            <p:cNvPr id="18438" name="TextBox 8"/>
            <p:cNvSpPr txBox="1">
              <a:spLocks noChangeArrowheads="1"/>
            </p:cNvSpPr>
            <p:nvPr/>
          </p:nvSpPr>
          <p:spPr bwMode="auto">
            <a:xfrm>
              <a:off x="685800" y="920750"/>
              <a:ext cx="2366353" cy="2246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 err="1">
                  <a:latin typeface="Tahoma" panose="020B0604030504040204" pitchFamily="34" charset="0"/>
                </a:rPr>
                <a:t>MyClass</a:t>
              </a: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    </a:t>
              </a:r>
              <a:r>
                <a:rPr lang="en-US" altLang="en-US" sz="2000" b="1" dirty="0">
                  <a:solidFill>
                    <a:srgbClr val="0070C0"/>
                  </a:solidFill>
                  <a:latin typeface="Tahoma" panose="020B0604030504040204" pitchFamily="34" charset="0"/>
                </a:rPr>
                <a:t>public</a:t>
              </a:r>
              <a:r>
                <a:rPr lang="en-US" altLang="en-US" sz="2000" b="1" dirty="0">
                  <a:latin typeface="Tahoma" panose="020B0604030504040204" pitchFamily="34" charset="0"/>
                </a:rPr>
                <a:t> </a:t>
              </a:r>
              <a:r>
                <a:rPr lang="en-US" altLang="en-US" sz="20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int size;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8439" name="TextBox 9"/>
            <p:cNvSpPr txBox="1">
              <a:spLocks noChangeArrowheads="1"/>
            </p:cNvSpPr>
            <p:nvPr/>
          </p:nvSpPr>
          <p:spPr bwMode="auto">
            <a:xfrm>
              <a:off x="4445000" y="903288"/>
              <a:ext cx="1955800" cy="163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MyOtherClass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8440" name="TextBox 10"/>
            <p:cNvSpPr txBox="1">
              <a:spLocks noChangeArrowheads="1"/>
            </p:cNvSpPr>
            <p:nvPr/>
          </p:nvSpPr>
          <p:spPr bwMode="auto">
            <a:xfrm>
              <a:off x="1624013" y="4506913"/>
              <a:ext cx="36703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YourClass extends MyClass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8441" name="TextBox 11"/>
            <p:cNvSpPr txBox="1">
              <a:spLocks noChangeArrowheads="1"/>
            </p:cNvSpPr>
            <p:nvPr/>
          </p:nvSpPr>
          <p:spPr bwMode="auto">
            <a:xfrm>
              <a:off x="5927725" y="4506913"/>
              <a:ext cx="21844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YourOtherClass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8442" name="Freeform 12"/>
            <p:cNvSpPr>
              <a:spLocks/>
            </p:cNvSpPr>
            <p:nvPr/>
          </p:nvSpPr>
          <p:spPr bwMode="auto">
            <a:xfrm>
              <a:off x="2057400" y="2178050"/>
              <a:ext cx="982663" cy="657225"/>
            </a:xfrm>
            <a:custGeom>
              <a:avLst/>
              <a:gdLst>
                <a:gd name="T0" fmla="*/ 832486 w 982696"/>
                <a:gd name="T1" fmla="*/ 0 h 657289"/>
                <a:gd name="T2" fmla="*/ 982607 w 982696"/>
                <a:gd name="T3" fmla="*/ 327514 h 657289"/>
                <a:gd name="T4" fmla="*/ 846134 w 982696"/>
                <a:gd name="T5" fmla="*/ 655029 h 657289"/>
                <a:gd name="T6" fmla="*/ 549362 w 982696"/>
                <a:gd name="T7" fmla="*/ 469623 h 657289"/>
                <a:gd name="T8" fmla="*/ 0 w 982696"/>
                <a:gd name="T9" fmla="*/ 450332 h 657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82696" h="657289">
                  <a:moveTo>
                    <a:pt x="832514" y="0"/>
                  </a:moveTo>
                  <a:cubicBezTo>
                    <a:pt x="906439" y="109182"/>
                    <a:pt x="980365" y="218364"/>
                    <a:pt x="982640" y="327546"/>
                  </a:cubicBezTo>
                  <a:cubicBezTo>
                    <a:pt x="984915" y="436728"/>
                    <a:pt x="918372" y="631406"/>
                    <a:pt x="846162" y="655093"/>
                  </a:cubicBezTo>
                  <a:cubicBezTo>
                    <a:pt x="773952" y="678780"/>
                    <a:pt x="697231" y="503788"/>
                    <a:pt x="549380" y="469669"/>
                  </a:cubicBezTo>
                  <a:cubicBezTo>
                    <a:pt x="401529" y="435550"/>
                    <a:pt x="100662" y="476338"/>
                    <a:pt x="0" y="450376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13"/>
            <p:cNvSpPr>
              <a:spLocks/>
            </p:cNvSpPr>
            <p:nvPr/>
          </p:nvSpPr>
          <p:spPr bwMode="auto">
            <a:xfrm>
              <a:off x="3557588" y="1736725"/>
              <a:ext cx="1309687" cy="584200"/>
            </a:xfrm>
            <a:custGeom>
              <a:avLst/>
              <a:gdLst>
                <a:gd name="T0" fmla="*/ 0 w 1309941"/>
                <a:gd name="T1" fmla="*/ 400860 h 584262"/>
                <a:gd name="T2" fmla="*/ 387181 w 1309941"/>
                <a:gd name="T3" fmla="*/ 584111 h 584262"/>
                <a:gd name="T4" fmla="*/ 687618 w 1309941"/>
                <a:gd name="T5" fmla="*/ 382339 h 584262"/>
                <a:gd name="T6" fmla="*/ 835966 w 1309941"/>
                <a:gd name="T7" fmla="*/ 19229 h 584262"/>
                <a:gd name="T8" fmla="*/ 1309687 w 1309941"/>
                <a:gd name="T9" fmla="*/ 0 h 5842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9941" h="584262">
                  <a:moveTo>
                    <a:pt x="0" y="400903"/>
                  </a:moveTo>
                  <a:cubicBezTo>
                    <a:pt x="73925" y="510085"/>
                    <a:pt x="272631" y="587260"/>
                    <a:pt x="387256" y="584173"/>
                  </a:cubicBezTo>
                  <a:cubicBezTo>
                    <a:pt x="501881" y="581086"/>
                    <a:pt x="612939" y="476537"/>
                    <a:pt x="687751" y="382380"/>
                  </a:cubicBezTo>
                  <a:cubicBezTo>
                    <a:pt x="762563" y="288223"/>
                    <a:pt x="706474" y="39702"/>
                    <a:pt x="836128" y="19231"/>
                  </a:cubicBezTo>
                  <a:cubicBezTo>
                    <a:pt x="965782" y="-1240"/>
                    <a:pt x="1254612" y="7754"/>
                    <a:pt x="1309941" y="0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14"/>
            <p:cNvSpPr>
              <a:spLocks/>
            </p:cNvSpPr>
            <p:nvPr/>
          </p:nvSpPr>
          <p:spPr bwMode="auto">
            <a:xfrm>
              <a:off x="3144838" y="2252663"/>
              <a:ext cx="2111375" cy="3260725"/>
            </a:xfrm>
            <a:custGeom>
              <a:avLst/>
              <a:gdLst>
                <a:gd name="T0" fmla="*/ 0 w 2110797"/>
                <a:gd name="T1" fmla="*/ 0 h 3259890"/>
                <a:gd name="T2" fmla="*/ 819822 w 2110797"/>
                <a:gd name="T3" fmla="*/ 1258596 h 3259890"/>
                <a:gd name="T4" fmla="*/ 2091361 w 2110797"/>
                <a:gd name="T5" fmla="*/ 2397258 h 3259890"/>
                <a:gd name="T6" fmla="*/ 1571199 w 2110797"/>
                <a:gd name="T7" fmla="*/ 3186632 h 3259890"/>
                <a:gd name="T8" fmla="*/ 670873 w 2110797"/>
                <a:gd name="T9" fmla="*/ 3257287 h 32598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0797" h="3259890">
                  <a:moveTo>
                    <a:pt x="0" y="0"/>
                  </a:moveTo>
                  <a:cubicBezTo>
                    <a:pt x="73925" y="109182"/>
                    <a:pt x="471133" y="858833"/>
                    <a:pt x="819598" y="1258274"/>
                  </a:cubicBezTo>
                  <a:cubicBezTo>
                    <a:pt x="1168063" y="1657715"/>
                    <a:pt x="1965593" y="2075387"/>
                    <a:pt x="2090788" y="2396644"/>
                  </a:cubicBezTo>
                  <a:cubicBezTo>
                    <a:pt x="2215983" y="2717901"/>
                    <a:pt x="1718620" y="3219935"/>
                    <a:pt x="1570769" y="3185816"/>
                  </a:cubicBezTo>
                  <a:cubicBezTo>
                    <a:pt x="1422918" y="3151697"/>
                    <a:pt x="771351" y="3282415"/>
                    <a:pt x="670689" y="3256453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15"/>
            <p:cNvSpPr>
              <a:spLocks/>
            </p:cNvSpPr>
            <p:nvPr/>
          </p:nvSpPr>
          <p:spPr bwMode="auto">
            <a:xfrm>
              <a:off x="3397250" y="2270125"/>
              <a:ext cx="2868613" cy="3178175"/>
            </a:xfrm>
            <a:custGeom>
              <a:avLst/>
              <a:gdLst>
                <a:gd name="T0" fmla="*/ 0 w 2868616"/>
                <a:gd name="T1" fmla="*/ 0 h 3179242"/>
                <a:gd name="T2" fmla="*/ 1015540 w 2868616"/>
                <a:gd name="T3" fmla="*/ 964037 h 3179242"/>
                <a:gd name="T4" fmla="*/ 1729148 w 2868616"/>
                <a:gd name="T5" fmla="*/ 1665085 h 3179242"/>
                <a:gd name="T6" fmla="*/ 2221414 w 2868616"/>
                <a:gd name="T7" fmla="*/ 2248934 h 3179242"/>
                <a:gd name="T8" fmla="*/ 2235333 w 2868616"/>
                <a:gd name="T9" fmla="*/ 2872993 h 3179242"/>
                <a:gd name="T10" fmla="*/ 2403523 w 2868616"/>
                <a:gd name="T11" fmla="*/ 3135779 h 3179242"/>
                <a:gd name="T12" fmla="*/ 2858715 w 2868616"/>
                <a:gd name="T13" fmla="*/ 3173745 h 31792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68616" h="3179242">
                  <a:moveTo>
                    <a:pt x="0" y="0"/>
                  </a:moveTo>
                  <a:cubicBezTo>
                    <a:pt x="73925" y="109182"/>
                    <a:pt x="727349" y="686754"/>
                    <a:pt x="1015541" y="964361"/>
                  </a:cubicBezTo>
                  <a:cubicBezTo>
                    <a:pt x="1303733" y="1241968"/>
                    <a:pt x="1558107" y="1426930"/>
                    <a:pt x="1729150" y="1665644"/>
                  </a:cubicBezTo>
                  <a:cubicBezTo>
                    <a:pt x="1900193" y="1904358"/>
                    <a:pt x="2137052" y="2048303"/>
                    <a:pt x="2221416" y="2249689"/>
                  </a:cubicBezTo>
                  <a:cubicBezTo>
                    <a:pt x="2305780" y="2451075"/>
                    <a:pt x="2221312" y="2726101"/>
                    <a:pt x="2235335" y="2873958"/>
                  </a:cubicBezTo>
                  <a:cubicBezTo>
                    <a:pt x="2249358" y="3021815"/>
                    <a:pt x="2318679" y="3070361"/>
                    <a:pt x="2403526" y="3136832"/>
                  </a:cubicBezTo>
                  <a:cubicBezTo>
                    <a:pt x="2255675" y="3102713"/>
                    <a:pt x="2959380" y="3200773"/>
                    <a:pt x="2858718" y="3174811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476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9875" name="Rectangle 2"/>
          <p:cNvSpPr>
            <a:spLocks noChangeArrowheads="1"/>
          </p:cNvSpPr>
          <p:nvPr/>
        </p:nvSpPr>
        <p:spPr bwMode="auto">
          <a:xfrm>
            <a:off x="762000" y="1524000"/>
            <a:ext cx="8175625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All members defined as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Arial" panose="020B0604020202020204" pitchFamily="34" charset="0"/>
              </a:rPr>
              <a:t>private</a:t>
            </a:r>
            <a:r>
              <a:rPr lang="en-US" altLang="en-US" sz="4000">
                <a:latin typeface="Arial" panose="020B0604020202020204" pitchFamily="34" charset="0"/>
              </a:rPr>
              <a:t> can only be accessed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by members of the class where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they are defined.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Private members may not be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accessed directly by sub classes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or by other classes.</a:t>
            </a:r>
          </a:p>
        </p:txBody>
      </p:sp>
      <p:sp>
        <p:nvSpPr>
          <p:cNvPr id="79876" name="WordArt 5"/>
          <p:cNvSpPr>
            <a:spLocks noChangeArrowheads="1" noChangeShapeType="1" noTextEdit="1"/>
          </p:cNvSpPr>
          <p:nvPr/>
        </p:nvSpPr>
        <p:spPr bwMode="auto">
          <a:xfrm>
            <a:off x="1524000" y="457200"/>
            <a:ext cx="5715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131576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My file:&#10;package myPackage;&#10;public class MyClass {&#10;   // class member with private access&#10;}&#10;public class MyOtherClass {&#10;}&#10;Your file:&#10;package yourPackage;&#10;class YourClass extends MyClass { &#10;}&#10;class YourOtherClass extends MyClass {&#10;}&#10;My private class member can only be accessed from inside the same class.">
            <a:extLst>
              <a:ext uri="{FF2B5EF4-FFF2-40B4-BE49-F238E27FC236}">
                <a16:creationId xmlns:a16="http://schemas.microsoft.com/office/drawing/2014/main" id="{9E912DA1-0E8A-8046-DE8B-F34A399CA6E8}"/>
              </a:ext>
            </a:extLst>
          </p:cNvPr>
          <p:cNvGrpSpPr/>
          <p:nvPr/>
        </p:nvGrpSpPr>
        <p:grpSpPr>
          <a:xfrm>
            <a:off x="-76200" y="-152400"/>
            <a:ext cx="9067800" cy="7239000"/>
            <a:chOff x="-76200" y="-152400"/>
            <a:chExt cx="9067800" cy="7239000"/>
          </a:xfrm>
        </p:grpSpPr>
        <p:pic>
          <p:nvPicPr>
            <p:cNvPr id="9218" name="Picture 4" descr="Clipart - Manilla &lt;strong&gt;folder&lt;/strong&gt;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6200" y="-152400"/>
              <a:ext cx="8001000" cy="388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9" name="TextBox 5"/>
            <p:cNvSpPr txBox="1">
              <a:spLocks noChangeArrowheads="1"/>
            </p:cNvSpPr>
            <p:nvPr/>
          </p:nvSpPr>
          <p:spPr bwMode="auto">
            <a:xfrm>
              <a:off x="533400" y="228600"/>
              <a:ext cx="16557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myPackage</a:t>
              </a:r>
            </a:p>
          </p:txBody>
        </p:sp>
        <p:pic>
          <p:nvPicPr>
            <p:cNvPr id="9220" name="Picture 6" descr="Clipart - Manilla &lt;strong&gt;folder&lt;/strong&g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3251200"/>
              <a:ext cx="8001000" cy="383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1" name="TextBox 7"/>
            <p:cNvSpPr txBox="1">
              <a:spLocks noChangeArrowheads="1"/>
            </p:cNvSpPr>
            <p:nvPr/>
          </p:nvSpPr>
          <p:spPr bwMode="auto">
            <a:xfrm>
              <a:off x="1600200" y="3632200"/>
              <a:ext cx="18430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yourPackage</a:t>
              </a:r>
            </a:p>
          </p:txBody>
        </p:sp>
        <p:sp>
          <p:nvSpPr>
            <p:cNvPr id="9222" name="TextBox 8"/>
            <p:cNvSpPr txBox="1">
              <a:spLocks noChangeArrowheads="1"/>
            </p:cNvSpPr>
            <p:nvPr/>
          </p:nvSpPr>
          <p:spPr bwMode="auto">
            <a:xfrm>
              <a:off x="685800" y="920750"/>
              <a:ext cx="2501006" cy="2246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 err="1">
                  <a:latin typeface="Tahoma" panose="020B0604030504040204" pitchFamily="34" charset="0"/>
                </a:rPr>
                <a:t>MyClass</a:t>
              </a: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    </a:t>
              </a:r>
              <a:r>
                <a:rPr lang="en-US" altLang="en-US" sz="2000" b="1" dirty="0">
                  <a:solidFill>
                    <a:srgbClr val="0070C0"/>
                  </a:solidFill>
                  <a:latin typeface="Tahoma" panose="020B0604030504040204" pitchFamily="34" charset="0"/>
                </a:rPr>
                <a:t>private</a:t>
              </a:r>
              <a:r>
                <a:rPr lang="en-US" altLang="en-US" sz="2000" b="1" dirty="0">
                  <a:latin typeface="Tahoma" panose="020B0604030504040204" pitchFamily="34" charset="0"/>
                </a:rPr>
                <a:t> </a:t>
              </a:r>
              <a:r>
                <a:rPr lang="en-US" altLang="en-US" sz="20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int size;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i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9223" name="TextBox 9"/>
            <p:cNvSpPr txBox="1">
              <a:spLocks noChangeArrowheads="1"/>
            </p:cNvSpPr>
            <p:nvPr/>
          </p:nvSpPr>
          <p:spPr bwMode="auto">
            <a:xfrm>
              <a:off x="4292600" y="920750"/>
              <a:ext cx="1955800" cy="163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MyOtherClass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9224" name="TextBox 10"/>
            <p:cNvSpPr txBox="1">
              <a:spLocks noChangeArrowheads="1"/>
            </p:cNvSpPr>
            <p:nvPr/>
          </p:nvSpPr>
          <p:spPr bwMode="auto">
            <a:xfrm>
              <a:off x="1624013" y="4506913"/>
              <a:ext cx="36703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YourClass extends MyClass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9225" name="TextBox 11"/>
            <p:cNvSpPr txBox="1">
              <a:spLocks noChangeArrowheads="1"/>
            </p:cNvSpPr>
            <p:nvPr/>
          </p:nvSpPr>
          <p:spPr bwMode="auto">
            <a:xfrm>
              <a:off x="5927725" y="4506913"/>
              <a:ext cx="21844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YourOtherClass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9226" name="Freeform 12"/>
            <p:cNvSpPr>
              <a:spLocks/>
            </p:cNvSpPr>
            <p:nvPr/>
          </p:nvSpPr>
          <p:spPr bwMode="auto">
            <a:xfrm>
              <a:off x="2133600" y="1989138"/>
              <a:ext cx="671513" cy="561975"/>
            </a:xfrm>
            <a:custGeom>
              <a:avLst/>
              <a:gdLst>
                <a:gd name="T0" fmla="*/ 587326 w 670973"/>
                <a:gd name="T1" fmla="*/ 0 h 561907"/>
                <a:gd name="T2" fmla="*/ 669279 w 670973"/>
                <a:gd name="T3" fmla="*/ 177441 h 561907"/>
                <a:gd name="T4" fmla="*/ 532691 w 670973"/>
                <a:gd name="T5" fmla="*/ 505028 h 561907"/>
                <a:gd name="T6" fmla="*/ 0 w 670973"/>
                <a:gd name="T7" fmla="*/ 559626 h 5619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0973" h="561907">
                  <a:moveTo>
                    <a:pt x="586854" y="0"/>
                  </a:moveTo>
                  <a:cubicBezTo>
                    <a:pt x="660779" y="109182"/>
                    <a:pt x="677839" y="93259"/>
                    <a:pt x="668741" y="177420"/>
                  </a:cubicBezTo>
                  <a:cubicBezTo>
                    <a:pt x="659643" y="261581"/>
                    <a:pt x="643720" y="441277"/>
                    <a:pt x="532263" y="504967"/>
                  </a:cubicBezTo>
                  <a:cubicBezTo>
                    <a:pt x="420806" y="568657"/>
                    <a:pt x="210403" y="564107"/>
                    <a:pt x="0" y="559558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423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23" name="Rectangle 2"/>
          <p:cNvSpPr>
            <a:spLocks noChangeArrowheads="1"/>
          </p:cNvSpPr>
          <p:nvPr/>
        </p:nvSpPr>
        <p:spPr bwMode="auto">
          <a:xfrm>
            <a:off x="685800" y="1524000"/>
            <a:ext cx="7542449" cy="523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This is the </a:t>
            </a:r>
            <a:r>
              <a:rPr lang="en-US" altLang="en-US" sz="4000" b="1" dirty="0">
                <a:latin typeface="Arial" panose="020B0604020202020204" pitchFamily="34" charset="0"/>
              </a:rPr>
              <a:t>default</a:t>
            </a:r>
            <a:r>
              <a:rPr lang="en-US" altLang="en-US" sz="4000" dirty="0">
                <a:latin typeface="Arial" panose="020B0604020202020204" pitchFamily="34" charset="0"/>
              </a:rPr>
              <a:t> visibility.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All members defined as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accent2"/>
                </a:solidFill>
                <a:latin typeface="Arial" panose="020B0604020202020204" pitchFamily="34" charset="0"/>
              </a:rPr>
              <a:t>package</a:t>
            </a:r>
            <a:r>
              <a:rPr lang="en-US" altLang="en-US" sz="4000" dirty="0">
                <a:latin typeface="Arial" panose="020B0604020202020204" pitchFamily="34" charset="0"/>
              </a:rPr>
              <a:t> can be accessed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by members of any other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class in the same package.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Sub class members may access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them only if the sub class is 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the same package.</a:t>
            </a:r>
          </a:p>
        </p:txBody>
      </p:sp>
      <p:sp>
        <p:nvSpPr>
          <p:cNvPr id="81924" name="WordArt 3"/>
          <p:cNvSpPr>
            <a:spLocks noChangeArrowheads="1" noChangeShapeType="1" noTextEdit="1"/>
          </p:cNvSpPr>
          <p:nvPr/>
        </p:nvSpPr>
        <p:spPr bwMode="auto">
          <a:xfrm>
            <a:off x="1524000" y="457200"/>
            <a:ext cx="5715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185231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Clipart - Manilla &lt;strong&gt;folder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52400"/>
            <a:ext cx="958596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Box 5"/>
          <p:cNvSpPr txBox="1">
            <a:spLocks noChangeArrowheads="1"/>
          </p:cNvSpPr>
          <p:nvPr/>
        </p:nvSpPr>
        <p:spPr bwMode="auto">
          <a:xfrm>
            <a:off x="533400" y="228600"/>
            <a:ext cx="1655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myPackage</a:t>
            </a:r>
          </a:p>
        </p:txBody>
      </p:sp>
      <p:pic>
        <p:nvPicPr>
          <p:cNvPr id="12292" name="Picture 6" descr="Clipart - Manilla &lt;strong&gt;folder&lt;/strong&gt;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51200"/>
            <a:ext cx="8001000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Box 7"/>
          <p:cNvSpPr txBox="1">
            <a:spLocks noChangeArrowheads="1"/>
          </p:cNvSpPr>
          <p:nvPr/>
        </p:nvSpPr>
        <p:spPr bwMode="auto">
          <a:xfrm>
            <a:off x="1600200" y="3632200"/>
            <a:ext cx="1843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yourPackage</a:t>
            </a:r>
          </a:p>
        </p:txBody>
      </p: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685800" y="920750"/>
            <a:ext cx="157126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MyClass</a:t>
            </a:r>
            <a:endParaRPr lang="en-US" altLang="en-US" sz="2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000" b="1" dirty="0">
                <a:solidFill>
                  <a:srgbClr val="7030A0"/>
                </a:solidFill>
                <a:latin typeface="Tahoma" panose="020B0604030504040204" pitchFamily="34" charset="0"/>
              </a:rPr>
              <a:t>     int size;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i="1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2295" name="TextBox 9"/>
          <p:cNvSpPr txBox="1">
            <a:spLocks noChangeArrowheads="1"/>
          </p:cNvSpPr>
          <p:nvPr/>
        </p:nvSpPr>
        <p:spPr bwMode="auto">
          <a:xfrm>
            <a:off x="4154488" y="903288"/>
            <a:ext cx="195738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Tahoma" panose="020B0604030504040204" pitchFamily="34" charset="0"/>
              </a:rPr>
              <a:t>MyOtherClass</a:t>
            </a:r>
            <a:endParaRPr lang="en-US" altLang="en-US" sz="2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2296" name="TextBox 10"/>
          <p:cNvSpPr txBox="1">
            <a:spLocks noChangeArrowheads="1"/>
          </p:cNvSpPr>
          <p:nvPr/>
        </p:nvSpPr>
        <p:spPr bwMode="auto">
          <a:xfrm>
            <a:off x="1624013" y="4506913"/>
            <a:ext cx="36703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YourClass extends MyClass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2297" name="TextBox 11"/>
          <p:cNvSpPr txBox="1">
            <a:spLocks noChangeArrowheads="1"/>
          </p:cNvSpPr>
          <p:nvPr/>
        </p:nvSpPr>
        <p:spPr bwMode="auto">
          <a:xfrm>
            <a:off x="5927725" y="4506913"/>
            <a:ext cx="2184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YourOtherClass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2298" name="Freeform 12"/>
          <p:cNvSpPr>
            <a:spLocks/>
          </p:cNvSpPr>
          <p:nvPr/>
        </p:nvSpPr>
        <p:spPr bwMode="auto">
          <a:xfrm>
            <a:off x="2357438" y="2178050"/>
            <a:ext cx="982662" cy="657225"/>
          </a:xfrm>
          <a:custGeom>
            <a:avLst/>
            <a:gdLst>
              <a:gd name="T0" fmla="*/ 832485 w 982696"/>
              <a:gd name="T1" fmla="*/ 0 h 657289"/>
              <a:gd name="T2" fmla="*/ 982606 w 982696"/>
              <a:gd name="T3" fmla="*/ 327514 h 657289"/>
              <a:gd name="T4" fmla="*/ 846133 w 982696"/>
              <a:gd name="T5" fmla="*/ 655029 h 657289"/>
              <a:gd name="T6" fmla="*/ 549361 w 982696"/>
              <a:gd name="T7" fmla="*/ 469623 h 657289"/>
              <a:gd name="T8" fmla="*/ 0 w 982696"/>
              <a:gd name="T9" fmla="*/ 450332 h 6572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82696" h="657289">
                <a:moveTo>
                  <a:pt x="832514" y="0"/>
                </a:moveTo>
                <a:cubicBezTo>
                  <a:pt x="906439" y="109182"/>
                  <a:pt x="980365" y="218364"/>
                  <a:pt x="982640" y="327546"/>
                </a:cubicBezTo>
                <a:cubicBezTo>
                  <a:pt x="984915" y="436728"/>
                  <a:pt x="918372" y="631406"/>
                  <a:pt x="846162" y="655093"/>
                </a:cubicBezTo>
                <a:cubicBezTo>
                  <a:pt x="773952" y="678780"/>
                  <a:pt x="697231" y="503788"/>
                  <a:pt x="549380" y="469669"/>
                </a:cubicBezTo>
                <a:cubicBezTo>
                  <a:pt x="401529" y="435550"/>
                  <a:pt x="100662" y="476338"/>
                  <a:pt x="0" y="450376"/>
                </a:cubicBez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Freeform 13"/>
          <p:cNvSpPr>
            <a:spLocks/>
          </p:cNvSpPr>
          <p:nvPr/>
        </p:nvSpPr>
        <p:spPr bwMode="auto">
          <a:xfrm>
            <a:off x="3389313" y="1946275"/>
            <a:ext cx="1228725" cy="606425"/>
          </a:xfrm>
          <a:custGeom>
            <a:avLst/>
            <a:gdLst>
              <a:gd name="T0" fmla="*/ 0 w 1228298"/>
              <a:gd name="T1" fmla="*/ 286142 h 607403"/>
              <a:gd name="T2" fmla="*/ 273050 w 1228298"/>
              <a:gd name="T3" fmla="*/ 599535 h 607403"/>
              <a:gd name="T4" fmla="*/ 655321 w 1228298"/>
              <a:gd name="T5" fmla="*/ 463276 h 607403"/>
              <a:gd name="T6" fmla="*/ 787416 w 1228298"/>
              <a:gd name="T7" fmla="*/ 19200 h 607403"/>
              <a:gd name="T8" fmla="*/ 1228725 w 1228298"/>
              <a:gd name="T9" fmla="*/ 0 h 60740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8298" h="607403">
                <a:moveTo>
                  <a:pt x="0" y="286603"/>
                </a:moveTo>
                <a:cubicBezTo>
                  <a:pt x="73925" y="395785"/>
                  <a:pt x="163773" y="570932"/>
                  <a:pt x="272955" y="600502"/>
                </a:cubicBezTo>
                <a:cubicBezTo>
                  <a:pt x="382137" y="630072"/>
                  <a:pt x="569395" y="560902"/>
                  <a:pt x="655093" y="464023"/>
                </a:cubicBezTo>
                <a:cubicBezTo>
                  <a:pt x="740791" y="367144"/>
                  <a:pt x="657488" y="39702"/>
                  <a:pt x="787142" y="19231"/>
                </a:cubicBezTo>
                <a:cubicBezTo>
                  <a:pt x="916796" y="-1240"/>
                  <a:pt x="1172969" y="7754"/>
                  <a:pt x="1228298" y="0"/>
                </a:cubicBez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0B265-D54D-E00F-065D-9B970D52A66D}"/>
              </a:ext>
            </a:extLst>
          </p:cNvPr>
          <p:cNvSpPr txBox="1"/>
          <p:nvPr/>
        </p:nvSpPr>
        <p:spPr>
          <a:xfrm>
            <a:off x="6092825" y="796468"/>
            <a:ext cx="29800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Note that there is no modifier since package is the default access level.</a:t>
            </a:r>
          </a:p>
        </p:txBody>
      </p:sp>
    </p:spTree>
    <p:extLst>
      <p:ext uri="{BB962C8B-B14F-4D97-AF65-F5344CB8AC3E}">
        <p14:creationId xmlns:p14="http://schemas.microsoft.com/office/powerpoint/2010/main" val="376976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3971" name="Rectangle 2"/>
          <p:cNvSpPr>
            <a:spLocks noChangeArrowheads="1"/>
          </p:cNvSpPr>
          <p:nvPr/>
        </p:nvSpPr>
        <p:spPr bwMode="auto">
          <a:xfrm>
            <a:off x="685800" y="1676400"/>
            <a:ext cx="7299325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All members defined as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Arial" panose="020B0604020202020204" pitchFamily="34" charset="0"/>
              </a:rPr>
              <a:t>protected</a:t>
            </a:r>
            <a:r>
              <a:rPr lang="en-US" altLang="en-US" sz="4000">
                <a:latin typeface="Arial" panose="020B0604020202020204" pitchFamily="34" charset="0"/>
              </a:rPr>
              <a:t> can be accessed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by members of the sub class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and any other class in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same package.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This makes protected less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restrictive than package.</a:t>
            </a:r>
          </a:p>
        </p:txBody>
      </p:sp>
      <p:sp>
        <p:nvSpPr>
          <p:cNvPr id="83972" name="WordArt 5"/>
          <p:cNvSpPr>
            <a:spLocks noChangeArrowheads="1" noChangeShapeType="1" noTextEdit="1"/>
          </p:cNvSpPr>
          <p:nvPr/>
        </p:nvSpPr>
        <p:spPr bwMode="auto">
          <a:xfrm>
            <a:off x="1524000" y="457200"/>
            <a:ext cx="5715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protected</a:t>
            </a:r>
          </a:p>
        </p:txBody>
      </p:sp>
    </p:spTree>
    <p:extLst>
      <p:ext uri="{BB962C8B-B14F-4D97-AF65-F5344CB8AC3E}">
        <p14:creationId xmlns:p14="http://schemas.microsoft.com/office/powerpoint/2010/main" val="6525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My file:&#10;package myPackage;&#10;public class MyClass {&#10;   // class member with protected access&#10;}&#10;public class MyOtherClass {&#10;}&#10;Your file:&#10;package yourPackage;&#10;class YourClass extends MyClass { &#10;}&#10;class YourOtherClass extends MyClass {&#10;}&#10;My protected class member can be access from classes in the same package AND from subclasses.">
            <a:extLst>
              <a:ext uri="{FF2B5EF4-FFF2-40B4-BE49-F238E27FC236}">
                <a16:creationId xmlns:a16="http://schemas.microsoft.com/office/drawing/2014/main" id="{A4C86D36-B26A-B68A-400F-956BDFA115C8}"/>
              </a:ext>
            </a:extLst>
          </p:cNvPr>
          <p:cNvGrpSpPr/>
          <p:nvPr/>
        </p:nvGrpSpPr>
        <p:grpSpPr>
          <a:xfrm>
            <a:off x="-76200" y="-152400"/>
            <a:ext cx="9067800" cy="7239000"/>
            <a:chOff x="-76200" y="-152400"/>
            <a:chExt cx="9067800" cy="7239000"/>
          </a:xfrm>
        </p:grpSpPr>
        <p:pic>
          <p:nvPicPr>
            <p:cNvPr id="15362" name="Picture 4" descr="Clipart - Manilla &lt;strong&gt;folder&lt;/strong&gt;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6200" y="-152400"/>
              <a:ext cx="8001000" cy="388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3" name="TextBox 5"/>
            <p:cNvSpPr txBox="1">
              <a:spLocks noChangeArrowheads="1"/>
            </p:cNvSpPr>
            <p:nvPr/>
          </p:nvSpPr>
          <p:spPr bwMode="auto">
            <a:xfrm>
              <a:off x="533400" y="228600"/>
              <a:ext cx="16557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myPackage</a:t>
              </a:r>
            </a:p>
          </p:txBody>
        </p:sp>
        <p:pic>
          <p:nvPicPr>
            <p:cNvPr id="15364" name="Picture 6" descr="Clipart - Manilla &lt;strong&gt;folder&lt;/strong&g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3251200"/>
              <a:ext cx="8001000" cy="383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5" name="TextBox 7"/>
            <p:cNvSpPr txBox="1">
              <a:spLocks noChangeArrowheads="1"/>
            </p:cNvSpPr>
            <p:nvPr/>
          </p:nvSpPr>
          <p:spPr bwMode="auto">
            <a:xfrm>
              <a:off x="1600200" y="3632200"/>
              <a:ext cx="18430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yourPackage</a:t>
              </a:r>
            </a:p>
          </p:txBody>
        </p:sp>
        <p:sp>
          <p:nvSpPr>
            <p:cNvPr id="15366" name="TextBox 8"/>
            <p:cNvSpPr txBox="1">
              <a:spLocks noChangeArrowheads="1"/>
            </p:cNvSpPr>
            <p:nvPr/>
          </p:nvSpPr>
          <p:spPr bwMode="auto">
            <a:xfrm>
              <a:off x="685800" y="920750"/>
              <a:ext cx="3200400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 err="1">
                  <a:latin typeface="Tahoma" panose="020B0604030504040204" pitchFamily="34" charset="0"/>
                </a:rPr>
                <a:t>MyClass</a:t>
              </a: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    </a:t>
              </a:r>
              <a:r>
                <a:rPr lang="en-US" altLang="en-US" sz="2000" b="1" dirty="0">
                  <a:solidFill>
                    <a:srgbClr val="0070C0"/>
                  </a:solidFill>
                  <a:latin typeface="Tahoma" panose="020B0604030504040204" pitchFamily="34" charset="0"/>
                </a:rPr>
                <a:t>protected</a:t>
              </a:r>
              <a:r>
                <a:rPr lang="en-US" altLang="en-US" sz="2000" b="1" dirty="0">
                  <a:latin typeface="Tahoma" panose="020B0604030504040204" pitchFamily="34" charset="0"/>
                </a:rPr>
                <a:t> </a:t>
              </a:r>
              <a:r>
                <a:rPr lang="en-US" altLang="en-US" sz="20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int size;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5367" name="TextBox 9"/>
            <p:cNvSpPr txBox="1">
              <a:spLocks noChangeArrowheads="1"/>
            </p:cNvSpPr>
            <p:nvPr/>
          </p:nvSpPr>
          <p:spPr bwMode="auto">
            <a:xfrm>
              <a:off x="4445000" y="903288"/>
              <a:ext cx="1955800" cy="163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MyOtherClass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5368" name="TextBox 10"/>
            <p:cNvSpPr txBox="1">
              <a:spLocks noChangeArrowheads="1"/>
            </p:cNvSpPr>
            <p:nvPr/>
          </p:nvSpPr>
          <p:spPr bwMode="auto">
            <a:xfrm>
              <a:off x="1624013" y="4506913"/>
              <a:ext cx="36703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YourClass </a:t>
              </a:r>
              <a:r>
                <a:rPr lang="en-US" altLang="en-US" sz="2000">
                  <a:solidFill>
                    <a:srgbClr val="0070C0"/>
                  </a:solidFill>
                  <a:latin typeface="Tahoma" panose="020B0604030504040204" pitchFamily="34" charset="0"/>
                </a:rPr>
                <a:t>extends MyClass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5369" name="TextBox 11"/>
            <p:cNvSpPr txBox="1">
              <a:spLocks noChangeArrowheads="1"/>
            </p:cNvSpPr>
            <p:nvPr/>
          </p:nvSpPr>
          <p:spPr bwMode="auto">
            <a:xfrm>
              <a:off x="5927725" y="4506913"/>
              <a:ext cx="21844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YourOtherClass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}</a:t>
              </a:r>
            </a:p>
          </p:txBody>
        </p:sp>
        <p:sp>
          <p:nvSpPr>
            <p:cNvPr id="15370" name="Freeform 12"/>
            <p:cNvSpPr>
              <a:spLocks/>
            </p:cNvSpPr>
            <p:nvPr/>
          </p:nvSpPr>
          <p:spPr bwMode="auto">
            <a:xfrm>
              <a:off x="2357438" y="2178050"/>
              <a:ext cx="982662" cy="657225"/>
            </a:xfrm>
            <a:custGeom>
              <a:avLst/>
              <a:gdLst>
                <a:gd name="T0" fmla="*/ 832485 w 982696"/>
                <a:gd name="T1" fmla="*/ 0 h 657289"/>
                <a:gd name="T2" fmla="*/ 982606 w 982696"/>
                <a:gd name="T3" fmla="*/ 327514 h 657289"/>
                <a:gd name="T4" fmla="*/ 846133 w 982696"/>
                <a:gd name="T5" fmla="*/ 655029 h 657289"/>
                <a:gd name="T6" fmla="*/ 549361 w 982696"/>
                <a:gd name="T7" fmla="*/ 469623 h 657289"/>
                <a:gd name="T8" fmla="*/ 0 w 982696"/>
                <a:gd name="T9" fmla="*/ 450332 h 657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82696" h="657289">
                  <a:moveTo>
                    <a:pt x="832514" y="0"/>
                  </a:moveTo>
                  <a:cubicBezTo>
                    <a:pt x="906439" y="109182"/>
                    <a:pt x="980365" y="218364"/>
                    <a:pt x="982640" y="327546"/>
                  </a:cubicBezTo>
                  <a:cubicBezTo>
                    <a:pt x="984915" y="436728"/>
                    <a:pt x="918372" y="631406"/>
                    <a:pt x="846162" y="655093"/>
                  </a:cubicBezTo>
                  <a:cubicBezTo>
                    <a:pt x="773952" y="678780"/>
                    <a:pt x="697231" y="503788"/>
                    <a:pt x="549380" y="469669"/>
                  </a:cubicBezTo>
                  <a:cubicBezTo>
                    <a:pt x="401529" y="435550"/>
                    <a:pt x="100662" y="476338"/>
                    <a:pt x="0" y="450376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3"/>
            <p:cNvSpPr>
              <a:spLocks/>
            </p:cNvSpPr>
            <p:nvPr/>
          </p:nvSpPr>
          <p:spPr bwMode="auto">
            <a:xfrm>
              <a:off x="3678238" y="1946275"/>
              <a:ext cx="1228725" cy="606425"/>
            </a:xfrm>
            <a:custGeom>
              <a:avLst/>
              <a:gdLst>
                <a:gd name="T0" fmla="*/ 0 w 1228298"/>
                <a:gd name="T1" fmla="*/ 286142 h 607403"/>
                <a:gd name="T2" fmla="*/ 273050 w 1228298"/>
                <a:gd name="T3" fmla="*/ 599535 h 607403"/>
                <a:gd name="T4" fmla="*/ 655321 w 1228298"/>
                <a:gd name="T5" fmla="*/ 463276 h 607403"/>
                <a:gd name="T6" fmla="*/ 787416 w 1228298"/>
                <a:gd name="T7" fmla="*/ 19200 h 607403"/>
                <a:gd name="T8" fmla="*/ 1228725 w 1228298"/>
                <a:gd name="T9" fmla="*/ 0 h 6074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8298" h="607403">
                  <a:moveTo>
                    <a:pt x="0" y="286603"/>
                  </a:moveTo>
                  <a:cubicBezTo>
                    <a:pt x="73925" y="395785"/>
                    <a:pt x="163773" y="570932"/>
                    <a:pt x="272955" y="600502"/>
                  </a:cubicBezTo>
                  <a:cubicBezTo>
                    <a:pt x="382137" y="630072"/>
                    <a:pt x="569395" y="560902"/>
                    <a:pt x="655093" y="464023"/>
                  </a:cubicBezTo>
                  <a:cubicBezTo>
                    <a:pt x="740791" y="367144"/>
                    <a:pt x="657488" y="39702"/>
                    <a:pt x="787142" y="19231"/>
                  </a:cubicBezTo>
                  <a:cubicBezTo>
                    <a:pt x="916796" y="-1240"/>
                    <a:pt x="1172969" y="7754"/>
                    <a:pt x="1228298" y="0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15"/>
            <p:cNvSpPr>
              <a:spLocks/>
            </p:cNvSpPr>
            <p:nvPr/>
          </p:nvSpPr>
          <p:spPr bwMode="auto">
            <a:xfrm>
              <a:off x="3451225" y="2252663"/>
              <a:ext cx="2111375" cy="3260725"/>
            </a:xfrm>
            <a:custGeom>
              <a:avLst/>
              <a:gdLst>
                <a:gd name="T0" fmla="*/ 0 w 2110797"/>
                <a:gd name="T1" fmla="*/ 0 h 3259890"/>
                <a:gd name="T2" fmla="*/ 819822 w 2110797"/>
                <a:gd name="T3" fmla="*/ 1258596 h 3259890"/>
                <a:gd name="T4" fmla="*/ 2091361 w 2110797"/>
                <a:gd name="T5" fmla="*/ 2397258 h 3259890"/>
                <a:gd name="T6" fmla="*/ 1571199 w 2110797"/>
                <a:gd name="T7" fmla="*/ 3186632 h 3259890"/>
                <a:gd name="T8" fmla="*/ 670873 w 2110797"/>
                <a:gd name="T9" fmla="*/ 3257287 h 32598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0797" h="3259890">
                  <a:moveTo>
                    <a:pt x="0" y="0"/>
                  </a:moveTo>
                  <a:cubicBezTo>
                    <a:pt x="73925" y="109182"/>
                    <a:pt x="471133" y="858833"/>
                    <a:pt x="819598" y="1258274"/>
                  </a:cubicBezTo>
                  <a:cubicBezTo>
                    <a:pt x="1168063" y="1657715"/>
                    <a:pt x="1965593" y="2075387"/>
                    <a:pt x="2090788" y="2396644"/>
                  </a:cubicBezTo>
                  <a:cubicBezTo>
                    <a:pt x="2215983" y="2717901"/>
                    <a:pt x="1718620" y="3219935"/>
                    <a:pt x="1570769" y="3185816"/>
                  </a:cubicBezTo>
                  <a:cubicBezTo>
                    <a:pt x="1422918" y="3151697"/>
                    <a:pt x="771351" y="3282415"/>
                    <a:pt x="670689" y="3256453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5025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6019" name="Rectangle 37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 b="1">
                <a:solidFill>
                  <a:schemeClr val="accent2"/>
                </a:solidFill>
                <a:latin typeface="Helvetica" panose="020B0604020202020204" pitchFamily="34" charset="0"/>
              </a:rPr>
              <a:t>Visibility Levels</a:t>
            </a:r>
          </a:p>
        </p:txBody>
      </p:sp>
      <p:graphicFrame>
        <p:nvGraphicFramePr>
          <p:cNvPr id="534641" name="Group 113"/>
          <p:cNvGraphicFramePr>
            <a:graphicFrameLocks noGrp="1"/>
          </p:cNvGraphicFramePr>
          <p:nvPr>
            <p:ph idx="1"/>
          </p:nvPr>
        </p:nvGraphicFramePr>
        <p:xfrm>
          <a:off x="609600" y="1905000"/>
          <a:ext cx="8153400" cy="4068762"/>
        </p:xfrm>
        <a:graphic>
          <a:graphicData uri="http://schemas.openxmlformats.org/drawingml/2006/table">
            <a:tbl>
              <a:tblPr/>
              <a:tblGrid>
                <a:gridCol w="183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8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Visibility</a:t>
                      </a: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This Class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Same Package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Sub Classes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World</a:t>
                      </a: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9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Public</a:t>
                      </a:r>
                    </a:p>
                  </a:txBody>
                  <a:tcPr marT="45715" marB="4571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9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Protected</a:t>
                      </a:r>
                    </a:p>
                  </a:txBody>
                  <a:tcPr marT="45715" marB="4571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9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Package</a:t>
                      </a:r>
                    </a:p>
                  </a:txBody>
                  <a:tcPr marT="45715" marB="4571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sym typeface="Wingdings" pitchFamily="2" charset="2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9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Private</a:t>
                      </a:r>
                    </a:p>
                  </a:txBody>
                  <a:tcPr marT="45715" marB="4571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sym typeface="Wingdings" pitchFamily="2" charset="2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73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7043" name="WordArt 2"/>
          <p:cNvSpPr>
            <a:spLocks noChangeArrowheads="1" noChangeShapeType="1" noTextEdit="1"/>
          </p:cNvSpPr>
          <p:nvPr/>
        </p:nvSpPr>
        <p:spPr bwMode="auto">
          <a:xfrm>
            <a:off x="762000" y="685800"/>
            <a:ext cx="72390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Public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Protected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Package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18945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3985"/>
            <a:ext cx="7329573" cy="6858000"/>
            <a:chOff x="1303402" y="3985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40F573-36EA-7554-1D64-9E9597EC43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504" y="5991225"/>
            <a:ext cx="1908291" cy="365125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altLang="en-US" sz="200" b="1">
              <a:latin typeface="+mn-lt"/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altLang="en-US" sz="200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altLang="en-US" sz="200" b="1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altLang="en-US" sz="200" b="1"/>
              <a:t>© A+ Computer Science  -  www.apluscompsci.com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48819-D895-FA5C-8E13-690F3602BA1A}"/>
              </a:ext>
            </a:extLst>
          </p:cNvPr>
          <p:cNvSpPr/>
          <p:nvPr/>
        </p:nvSpPr>
        <p:spPr>
          <a:xfrm>
            <a:off x="1611780" y="1920868"/>
            <a:ext cx="5920210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Default Modifiers</a:t>
            </a:r>
            <a:b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Classes and</a:t>
            </a:r>
            <a:b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Interfaces</a:t>
            </a:r>
          </a:p>
        </p:txBody>
      </p:sp>
    </p:spTree>
    <p:extLst>
      <p:ext uri="{BB962C8B-B14F-4D97-AF65-F5344CB8AC3E}">
        <p14:creationId xmlns:p14="http://schemas.microsoft.com/office/powerpoint/2010/main" val="270685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99C54-BC66-E966-E034-3133B507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4640"/>
            <a:ext cx="7772400" cy="11430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Variable defaults 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975-21A8-46D8-2D21-66448E2E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690" y="1666240"/>
            <a:ext cx="2438400" cy="650240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Abadi" panose="020B0604020104020204" pitchFamily="34" charset="0"/>
              </a:rPr>
              <a:t>static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5E6F95-175B-F428-2166-AC52DFDFE68A}"/>
              </a:ext>
            </a:extLst>
          </p:cNvPr>
          <p:cNvSpPr txBox="1">
            <a:spLocks/>
          </p:cNvSpPr>
          <p:nvPr/>
        </p:nvSpPr>
        <p:spPr bwMode="auto">
          <a:xfrm>
            <a:off x="4688840" y="166624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non-static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7955AA-BF7E-46BD-BE24-5DD80030A53C}"/>
              </a:ext>
            </a:extLst>
          </p:cNvPr>
          <p:cNvSpPr txBox="1">
            <a:spLocks/>
          </p:cNvSpPr>
          <p:nvPr/>
        </p:nvSpPr>
        <p:spPr bwMode="auto">
          <a:xfrm>
            <a:off x="1329690" y="243840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final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BD298B-50CC-8305-AFF7-69C5A3442FF6}"/>
              </a:ext>
            </a:extLst>
          </p:cNvPr>
          <p:cNvSpPr txBox="1">
            <a:spLocks/>
          </p:cNvSpPr>
          <p:nvPr/>
        </p:nvSpPr>
        <p:spPr bwMode="auto">
          <a:xfrm>
            <a:off x="4719320" y="243840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non-final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0602F1-9068-813D-A100-64B1304B9061}"/>
              </a:ext>
            </a:extLst>
          </p:cNvPr>
          <p:cNvSpPr txBox="1">
            <a:spLocks/>
          </p:cNvSpPr>
          <p:nvPr/>
        </p:nvSpPr>
        <p:spPr bwMode="auto">
          <a:xfrm>
            <a:off x="177800" y="3331210"/>
            <a:ext cx="174244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public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FA904D-C76B-BE80-AB14-E4859E998229}"/>
              </a:ext>
            </a:extLst>
          </p:cNvPr>
          <p:cNvSpPr txBox="1">
            <a:spLocks/>
          </p:cNvSpPr>
          <p:nvPr/>
        </p:nvSpPr>
        <p:spPr bwMode="auto">
          <a:xfrm>
            <a:off x="2047240" y="333121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protected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E744E7-47C3-5C86-AA54-28C093B59001}"/>
              </a:ext>
            </a:extLst>
          </p:cNvPr>
          <p:cNvSpPr txBox="1">
            <a:spLocks/>
          </p:cNvSpPr>
          <p:nvPr/>
        </p:nvSpPr>
        <p:spPr bwMode="auto">
          <a:xfrm>
            <a:off x="4612640" y="3331210"/>
            <a:ext cx="207772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package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B08BFE-2E23-3D11-4362-661BAA05F0B7}"/>
              </a:ext>
            </a:extLst>
          </p:cNvPr>
          <p:cNvSpPr txBox="1">
            <a:spLocks/>
          </p:cNvSpPr>
          <p:nvPr/>
        </p:nvSpPr>
        <p:spPr bwMode="auto">
          <a:xfrm>
            <a:off x="6817360" y="3331210"/>
            <a:ext cx="207772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private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FC545BF-7132-1B8F-BDE8-D447D91AB4F1}"/>
              </a:ext>
            </a:extLst>
          </p:cNvPr>
          <p:cNvSpPr txBox="1">
            <a:spLocks/>
          </p:cNvSpPr>
          <p:nvPr/>
        </p:nvSpPr>
        <p:spPr bwMode="auto">
          <a:xfrm>
            <a:off x="4688840" y="166624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non-static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1D26CE6-2339-1B8A-9126-B121F853A9EF}"/>
              </a:ext>
            </a:extLst>
          </p:cNvPr>
          <p:cNvSpPr txBox="1">
            <a:spLocks/>
          </p:cNvSpPr>
          <p:nvPr/>
        </p:nvSpPr>
        <p:spPr bwMode="auto">
          <a:xfrm>
            <a:off x="4719320" y="244602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non-final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82CF301-BBDA-5635-C4AA-1C8D6133AB40}"/>
              </a:ext>
            </a:extLst>
          </p:cNvPr>
          <p:cNvSpPr txBox="1">
            <a:spLocks/>
          </p:cNvSpPr>
          <p:nvPr/>
        </p:nvSpPr>
        <p:spPr bwMode="auto">
          <a:xfrm>
            <a:off x="4612640" y="3338830"/>
            <a:ext cx="207772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package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97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5" grpId="1"/>
      <p:bldP spid="6" grpId="0"/>
      <p:bldP spid="7" grpId="0"/>
      <p:bldP spid="8" grpId="0"/>
      <p:bldP spid="9" grpId="0"/>
      <p:bldP spid="10" grpId="0"/>
      <p:bldP spid="11" grpId="0"/>
      <p:bldP spid="15" grpId="0"/>
      <p:bldP spid="16" grpId="0"/>
      <p:bldP spid="16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99C54-BC66-E966-E034-3133B507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4640"/>
            <a:ext cx="7772400" cy="11430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Method defaults 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975-21A8-46D8-2D21-66448E2E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690" y="1666240"/>
            <a:ext cx="2438400" cy="650240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Abadi" panose="020B0604020104020204" pitchFamily="34" charset="0"/>
              </a:rPr>
              <a:t>static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5E6F95-175B-F428-2166-AC52DFDFE68A}"/>
              </a:ext>
            </a:extLst>
          </p:cNvPr>
          <p:cNvSpPr txBox="1">
            <a:spLocks/>
          </p:cNvSpPr>
          <p:nvPr/>
        </p:nvSpPr>
        <p:spPr bwMode="auto">
          <a:xfrm>
            <a:off x="4688840" y="166624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non-static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7955AA-BF7E-46BD-BE24-5DD80030A53C}"/>
              </a:ext>
            </a:extLst>
          </p:cNvPr>
          <p:cNvSpPr txBox="1">
            <a:spLocks/>
          </p:cNvSpPr>
          <p:nvPr/>
        </p:nvSpPr>
        <p:spPr bwMode="auto">
          <a:xfrm>
            <a:off x="1329690" y="243840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final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BD298B-50CC-8305-AFF7-69C5A3442FF6}"/>
              </a:ext>
            </a:extLst>
          </p:cNvPr>
          <p:cNvSpPr txBox="1">
            <a:spLocks/>
          </p:cNvSpPr>
          <p:nvPr/>
        </p:nvSpPr>
        <p:spPr bwMode="auto">
          <a:xfrm>
            <a:off x="4719320" y="243840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non-final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0602F1-9068-813D-A100-64B1304B9061}"/>
              </a:ext>
            </a:extLst>
          </p:cNvPr>
          <p:cNvSpPr txBox="1">
            <a:spLocks/>
          </p:cNvSpPr>
          <p:nvPr/>
        </p:nvSpPr>
        <p:spPr bwMode="auto">
          <a:xfrm>
            <a:off x="177800" y="3331210"/>
            <a:ext cx="174244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public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FA904D-C76B-BE80-AB14-E4859E998229}"/>
              </a:ext>
            </a:extLst>
          </p:cNvPr>
          <p:cNvSpPr txBox="1">
            <a:spLocks/>
          </p:cNvSpPr>
          <p:nvPr/>
        </p:nvSpPr>
        <p:spPr bwMode="auto">
          <a:xfrm>
            <a:off x="2047240" y="333121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protected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E744E7-47C3-5C86-AA54-28C093B59001}"/>
              </a:ext>
            </a:extLst>
          </p:cNvPr>
          <p:cNvSpPr txBox="1">
            <a:spLocks/>
          </p:cNvSpPr>
          <p:nvPr/>
        </p:nvSpPr>
        <p:spPr bwMode="auto">
          <a:xfrm>
            <a:off x="4612640" y="3331210"/>
            <a:ext cx="207772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package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B08BFE-2E23-3D11-4362-661BAA05F0B7}"/>
              </a:ext>
            </a:extLst>
          </p:cNvPr>
          <p:cNvSpPr txBox="1">
            <a:spLocks/>
          </p:cNvSpPr>
          <p:nvPr/>
        </p:nvSpPr>
        <p:spPr bwMode="auto">
          <a:xfrm>
            <a:off x="6817360" y="3331210"/>
            <a:ext cx="207772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private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2E43BE6-5714-EECD-A1AC-80CECE76CF96}"/>
              </a:ext>
            </a:extLst>
          </p:cNvPr>
          <p:cNvSpPr txBox="1">
            <a:spLocks/>
          </p:cNvSpPr>
          <p:nvPr/>
        </p:nvSpPr>
        <p:spPr bwMode="auto">
          <a:xfrm>
            <a:off x="1203960" y="4345940"/>
            <a:ext cx="256794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concrete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64A87D2-BA9E-874E-91A0-E5326075701B}"/>
              </a:ext>
            </a:extLst>
          </p:cNvPr>
          <p:cNvSpPr txBox="1">
            <a:spLocks/>
          </p:cNvSpPr>
          <p:nvPr/>
        </p:nvSpPr>
        <p:spPr bwMode="auto">
          <a:xfrm>
            <a:off x="4810760" y="434594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latin typeface="Abadi" panose="020B0604020104020204" pitchFamily="34" charset="0"/>
              </a:rPr>
              <a:t>abstract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FC545BF-7132-1B8F-BDE8-D447D91AB4F1}"/>
              </a:ext>
            </a:extLst>
          </p:cNvPr>
          <p:cNvSpPr txBox="1">
            <a:spLocks/>
          </p:cNvSpPr>
          <p:nvPr/>
        </p:nvSpPr>
        <p:spPr bwMode="auto">
          <a:xfrm>
            <a:off x="4688840" y="166624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non-static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1D26CE6-2339-1B8A-9126-B121F853A9EF}"/>
              </a:ext>
            </a:extLst>
          </p:cNvPr>
          <p:cNvSpPr txBox="1">
            <a:spLocks/>
          </p:cNvSpPr>
          <p:nvPr/>
        </p:nvSpPr>
        <p:spPr bwMode="auto">
          <a:xfrm>
            <a:off x="4719320" y="244602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non-final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82CF301-BBDA-5635-C4AA-1C8D6133AB40}"/>
              </a:ext>
            </a:extLst>
          </p:cNvPr>
          <p:cNvSpPr txBox="1">
            <a:spLocks/>
          </p:cNvSpPr>
          <p:nvPr/>
        </p:nvSpPr>
        <p:spPr bwMode="auto">
          <a:xfrm>
            <a:off x="4612640" y="3338830"/>
            <a:ext cx="207772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package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51A2694-033E-1E59-585C-40E9F95B5028}"/>
              </a:ext>
            </a:extLst>
          </p:cNvPr>
          <p:cNvSpPr txBox="1">
            <a:spLocks/>
          </p:cNvSpPr>
          <p:nvPr/>
        </p:nvSpPr>
        <p:spPr bwMode="auto">
          <a:xfrm>
            <a:off x="1272540" y="4351020"/>
            <a:ext cx="2438400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concrete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09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1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99C54-BC66-E966-E034-3133B507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4640"/>
            <a:ext cx="7772400" cy="11430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Defaults 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975-21A8-46D8-2D21-66448E2E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" y="1666240"/>
            <a:ext cx="8221980" cy="368300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Variables in a class are non-static, non-final, and package level access.</a:t>
            </a:r>
          </a:p>
          <a:p>
            <a:pPr marL="0" indent="0">
              <a:buNone/>
            </a:pPr>
            <a:endParaRPr lang="en-US" sz="400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Methods in a class are </a:t>
            </a:r>
            <a:r>
              <a:rPr lang="en-US" sz="4000" b="1" dirty="0">
                <a:latin typeface="Abadi" panose="020B0604020104020204" pitchFamily="34" charset="0"/>
              </a:rPr>
              <a:t>concrete</a:t>
            </a:r>
            <a:r>
              <a:rPr lang="en-US" sz="4000" dirty="0">
                <a:latin typeface="Abadi" panose="020B0604020104020204" pitchFamily="34" charset="0"/>
              </a:rPr>
              <a:t> and non-static, non-final, and package level access.</a:t>
            </a:r>
          </a:p>
        </p:txBody>
      </p:sp>
    </p:spTree>
    <p:extLst>
      <p:ext uri="{BB962C8B-B14F-4D97-AF65-F5344CB8AC3E}">
        <p14:creationId xmlns:p14="http://schemas.microsoft.com/office/powerpoint/2010/main" val="193812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99C54-BC66-E966-E034-3133B507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4640"/>
            <a:ext cx="7772400" cy="11430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Defaults in an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975-21A8-46D8-2D21-66448E2E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" y="1666240"/>
            <a:ext cx="8221980" cy="368300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Variables in an interface are public, static, and final.</a:t>
            </a:r>
          </a:p>
          <a:p>
            <a:pPr marL="0" indent="0">
              <a:buNone/>
            </a:pPr>
            <a:endParaRPr lang="en-US" sz="400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Methods in an interface are public, abstract, non-static, and non-final.</a:t>
            </a:r>
          </a:p>
        </p:txBody>
      </p:sp>
    </p:spTree>
    <p:extLst>
      <p:ext uri="{BB962C8B-B14F-4D97-AF65-F5344CB8AC3E}">
        <p14:creationId xmlns:p14="http://schemas.microsoft.com/office/powerpoint/2010/main" val="16745931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780</Words>
  <Application>Microsoft Office PowerPoint</Application>
  <PresentationFormat>On-screen Show (4:3)</PresentationFormat>
  <Paragraphs>251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Abadi</vt:lpstr>
      <vt:lpstr>Arial</vt:lpstr>
      <vt:lpstr>Arial Black</vt:lpstr>
      <vt:lpstr>Helvetica</vt:lpstr>
      <vt:lpstr>Impact</vt:lpstr>
      <vt:lpstr>Tahoma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Visibility Levels</vt:lpstr>
      <vt:lpstr>PowerPoint Presentation</vt:lpstr>
      <vt:lpstr>PowerPoint Presentation</vt:lpstr>
      <vt:lpstr>Variable defaults in a class</vt:lpstr>
      <vt:lpstr>Method defaults in a class</vt:lpstr>
      <vt:lpstr>Defaults in a class</vt:lpstr>
      <vt:lpstr>Defaults in an Interface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</dc:title>
  <dc:subject>Interfaces</dc:subject>
  <dc:creator>A+ Computer Science</dc:creator>
  <cp:keywords>www.apluscompsci.com</cp:keywords>
  <dc:description>Interfaces_x000d_
©A+ Computer Science_x000d_
www.apluscompsci.com</dc:description>
  <cp:lastModifiedBy>Weldon Jasik</cp:lastModifiedBy>
  <cp:revision>265</cp:revision>
  <dcterms:created xsi:type="dcterms:W3CDTF">2002-06-22T16:18:29Z</dcterms:created>
  <dcterms:modified xsi:type="dcterms:W3CDTF">2024-10-11T15:42:13Z</dcterms:modified>
  <cp:category>www.apluscompsci.com</cp:category>
</cp:coreProperties>
</file>
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5" r:id="rId4"/>
    <p:sldId id="260" r:id="rId5"/>
    <p:sldId id="261" r:id="rId6"/>
    <p:sldId id="262" r:id="rId7"/>
    <p:sldId id="263" r:id="rId8"/>
    <p:sldId id="257" r:id="rId9"/>
    <p:sldId id="258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8" autoAdjust="0"/>
    <p:restoredTop sz="66782" autoAdjust="0"/>
  </p:normalViewPr>
  <p:slideViewPr>
    <p:cSldViewPr snapToGrid="0">
      <p:cViewPr varScale="1">
        <p:scale>
          <a:sx n="80" d="100"/>
          <a:sy n="80" d="100"/>
        </p:scale>
        <p:origin x="177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0FEDD-1D16-455B-804D-A08D7503E213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2D4FB-0CA6-4668-B3D3-EAE02AB0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81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Although primitive conversions and reference variable casting may look similar, they’re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quitedifferent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concepts.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In both cases, we’re “turning” one type into another. But, in a simplified way, a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primitivevariable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contains its value, and conversion of a primitive variable means irreversible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changesin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its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value: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1.1;int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myInt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(int)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;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assertNotEquals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(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,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myInt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);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After the conversion in the above example, </a:t>
            </a:r>
            <a:r>
              <a:rPr lang="en-US" sz="1800" b="0" i="1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myInt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variable is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, and we can’t restore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theprevious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value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1.1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from it.</a:t>
            </a:r>
          </a:p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Reference variables are 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; the reference variable only refers to an object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butdoesn’t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contain the object itself.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And casting a reference variable doesn’t touch the object it refers to but only labels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thisobject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in another way, expanding or narrowing opportunities to work with it.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Upcastingnarrows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the list of methods and properties available to this object, and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downcastingcan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extend it.</a:t>
            </a:r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reference is like a remote control to an object. The remote control has more or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fewerbuttons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depending on its type, and the object itself is stored in a heap. When we do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casting,we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change the type of the remote control but don’t change the object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63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primitive variable contains its value, and conversion of a primitive variable means irreversible changes in its value:</a:t>
            </a:r>
          </a:p>
          <a:p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double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1.1;</a:t>
            </a:r>
          </a:p>
          <a:p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int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myInt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(int)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; </a:t>
            </a:r>
          </a:p>
          <a:p>
            <a:endParaRPr lang="en-US" sz="1800" b="0" i="0" u="none" strike="noStrike" baseline="0" dirty="0">
              <a:solidFill>
                <a:srgbClr val="202429"/>
              </a:solidFill>
              <a:latin typeface="Liberation Mono"/>
            </a:endParaRP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After the conversion in the above example, </a:t>
            </a:r>
            <a:r>
              <a:rPr lang="en-US" sz="1800" b="0" i="1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myInt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variable is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, and we can’t restore the previous value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1.1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from it.</a:t>
            </a:r>
          </a:p>
          <a:p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Reference variables are 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; the reference variable only refers to an object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butdoesn’t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contain the object itself.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And casting a reference variable doesn’t touch the object it refers to but only labels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thisobject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in another way, expanding or narrowing opportunities to work with it.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Upcastingnarrows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the list of methods and properties available to this object, and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downcastingcan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extend it.</a:t>
            </a:r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reference is like a remote control to an object. The remote control has more or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fewerbuttons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depending on its type, and the object itself is stored in a heap. When we do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casting,we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change the type of the remote control but don’t change the object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14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Reference variables are 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; the reference variable only refers to an object but doesn’t contain the object itself.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And casting a reference variable doesn’t touch the object it refers to but only labels this object in another way, expanding or narrowing opportunities to work with it. </a:t>
            </a:r>
          </a:p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Upcasting narrows the list of methods and properties available to this object, and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can extend it.</a:t>
            </a:r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60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course we could use a type cast on </a:t>
            </a:r>
            <a:r>
              <a:rPr lang="en-US" i="1" dirty="0"/>
              <a:t>c</a:t>
            </a:r>
            <a:r>
              <a:rPr lang="en-US" i="0" dirty="0"/>
              <a:t>:</a:t>
            </a:r>
          </a:p>
          <a:p>
            <a:endParaRPr lang="en-US" i="0" dirty="0"/>
          </a:p>
          <a:p>
            <a:r>
              <a:rPr lang="en-US" i="0" dirty="0" err="1"/>
              <a:t>out.println</a:t>
            </a:r>
            <a:r>
              <a:rPr lang="en-US" i="0" dirty="0"/>
              <a:t>( ((Integer)c).</a:t>
            </a:r>
            <a:r>
              <a:rPr lang="en-US" i="0" dirty="0" err="1"/>
              <a:t>intValue</a:t>
            </a:r>
            <a:r>
              <a:rPr lang="en-US" i="0" dirty="0"/>
              <a:t>() 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9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FBA0-B298-4C40-8774-D5F591F1D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0C257-7139-4A9E-AB34-02A798E1D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B6DF4-7EA1-4F71-8355-17A754A1E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94F43-4BF9-4AF0-86D6-4E8059B5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086FE-293B-4441-A403-B7C9E6A4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DC7E-F660-48D8-A8AD-19215846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B53A-E6BF-4FA6-ACE1-05FD6AC3E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9B96C-A430-4842-9A86-B29E5F02A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D3104-F430-4E90-84EA-991DA4396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4ECFC-12E5-4748-9FC5-191AE566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8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E97C-F728-41F6-90FF-64F8E289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21A84-AA3A-4B59-B3DE-CC00259C9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4AAF1-65FB-46F1-9935-F2D1A39C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4515C-6D0E-4E2A-8B96-776ABAC9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6C28D-56A9-43AC-A710-71437732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2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16F5-C5F8-45C7-B271-3AF9CFA79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972C7-CBA8-4F2A-8445-87EC4DF59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E23AA-A640-47E6-B2B3-EB2960DB3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5C9F0-AD12-4A5D-87DC-7A5A0733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74488-BD4D-49DF-BB13-78DD1217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3024F-402C-4D34-BE78-0911A996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1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8E103-3386-4ECB-B3A8-CFA992E8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65260-1C84-4F38-AC8D-71CC7F31D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BFCE4-BD21-456C-9FC7-406D1F548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6B9E5-6EE6-42CD-91C8-56D6CBF66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22CE53-A0AE-4E90-B3CC-EA01EBB82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2A339-21FE-4675-9476-3F40B19C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FC62E-EEF5-4ECE-9CC4-8D38E33A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F55440-BE2D-4B03-8679-82BEAFC6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5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802D-E0D7-40A3-A316-C8B2E3D5B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04D12-23C8-4FFE-B25D-5EAC13C7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58F0B-B4DE-43AB-80CB-46577454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52E95-F2CD-4402-A140-4D5666E22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A03FB9-3926-4FC3-B749-0A882E5B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5D161-5A2B-4CD6-96E3-58491954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620C2-18FF-418B-ACDD-1905519E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9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DFBF9-EE29-4D3C-A95B-FCB8CDF48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D63C-A7E1-4D85-A112-576509882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A9B60-F297-4ED7-BEF5-B6643A776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4D968-AB09-4BF1-9610-1B1015D1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FAFA7-E109-4C76-B9D8-C1BCA6FD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DF8D6-3E2F-477E-AFC7-1CA613FD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9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45D8-7A9F-405F-B512-645B6B98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D6B10-3F0E-4E43-B9E2-AE807C5CD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CEFF5-44A5-4B06-A60F-5E68B7DC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B6C0A-AA76-45DA-9635-8C953B4A3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7A0D9-0B90-4D2D-8904-D3B55CB1F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3E3E7-7D69-48E8-9749-86D48B85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4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9D4C-B512-4BD5-92B6-8BC66C89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0A3C4-2499-40AE-818F-220B7C825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FECF4-0D15-44E9-85CF-AFEE80BFC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E794C-4D2D-4F32-8B10-9BE1233E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A9449-8D68-4FE9-BFF8-8E0F7551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3D86C-AE7A-41E7-B9EF-76879C6C9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8B581-9DE8-40BC-9E25-6E80B7366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DAA31-0A7F-4589-9A33-CC3AD766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06017-DF7C-42C4-8659-64C91F48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A82E6-D3B8-4C3E-9B78-7E2D968D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99326B-D8DE-429B-8309-4364E6F9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A38F0-597B-4A67-9AB4-E35E856E9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10D5A-1233-4B11-9433-C9F65D6D1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68D44-80EB-4F6E-9C73-A75C00DAC030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1A6B8-B711-4614-BE40-D6E8F7DD4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13B34-D331-4FCF-AF4C-E6880B482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8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5AE8-C6BC-4BE4-9ABA-B6C18FDD0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7214"/>
            <a:ext cx="9144000" cy="1300162"/>
          </a:xfrm>
        </p:spPr>
        <p:txBody>
          <a:bodyPr>
            <a:normAutofit/>
          </a:bodyPr>
          <a:lstStyle/>
          <a:p>
            <a:r>
              <a:rPr lang="en-US" sz="7200" b="1" dirty="0"/>
              <a:t>Types of Type Casts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68793-DBBD-4F23-B68A-A48D0D7C4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813" y="2586038"/>
            <a:ext cx="10744199" cy="3414711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6000" b="1" dirty="0"/>
              <a:t>Primitive conversions and reference variable casting are quite different concepts.</a:t>
            </a:r>
          </a:p>
        </p:txBody>
      </p:sp>
    </p:spTree>
    <p:extLst>
      <p:ext uri="{BB962C8B-B14F-4D97-AF65-F5344CB8AC3E}">
        <p14:creationId xmlns:p14="http://schemas.microsoft.com/office/powerpoint/2010/main" val="374472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5AE8-C6BC-4BE4-9ABA-B6C18FDD0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7214"/>
            <a:ext cx="9144000" cy="8524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Primitive Type Casts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68793-DBBD-4F23-B68A-A48D0D7C4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813" y="1666875"/>
            <a:ext cx="10744199" cy="4981575"/>
          </a:xfrm>
        </p:spPr>
        <p:txBody>
          <a:bodyPr>
            <a:normAutofit/>
          </a:bodyPr>
          <a:lstStyle/>
          <a:p>
            <a:pPr algn="l">
              <a:lnSpc>
                <a:spcPct val="134000"/>
              </a:lnSpc>
            </a:pP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primitive variable contains its value, and conversion of a primitive variable means irreversible changes in its value:</a:t>
            </a:r>
          </a:p>
          <a:p>
            <a:pPr algn="l">
              <a:lnSpc>
                <a:spcPct val="134000"/>
              </a:lnSpc>
            </a:pPr>
            <a:endParaRPr lang="en-US" sz="900" b="0" i="0" u="none" strike="noStrike" baseline="0" dirty="0">
              <a:solidFill>
                <a:srgbClr val="202429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>
              <a:lnSpc>
                <a:spcPct val="134000"/>
              </a:lnSpc>
            </a:pPr>
            <a:r>
              <a:rPr lang="en-US" sz="3200" b="0" i="0" u="none" strike="noStrike" baseline="0" dirty="0">
                <a:solidFill>
                  <a:srgbClr val="20242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lang="en-US" sz="3200" b="0" i="0" u="none" strike="noStrike" baseline="0" dirty="0" err="1">
                <a:solidFill>
                  <a:srgbClr val="20242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myInt</a:t>
            </a:r>
            <a:r>
              <a:rPr lang="en-US" sz="3200" b="0" i="0" u="none" strike="noStrike" baseline="0" dirty="0">
                <a:solidFill>
                  <a:srgbClr val="20242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(int) 1.8; </a:t>
            </a:r>
          </a:p>
          <a:p>
            <a:pPr algn="l">
              <a:lnSpc>
                <a:spcPct val="134000"/>
              </a:lnSpc>
            </a:pPr>
            <a:endParaRPr lang="en-US" sz="900" b="0" i="0" u="none" strike="noStrike" baseline="0" dirty="0">
              <a:solidFill>
                <a:srgbClr val="202429"/>
              </a:solidFill>
              <a:latin typeface="Liberation Mono"/>
            </a:endParaRPr>
          </a:p>
          <a:p>
            <a:pPr algn="l">
              <a:lnSpc>
                <a:spcPct val="134000"/>
              </a:lnSpc>
            </a:pP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After the conversion in the above example, </a:t>
            </a:r>
            <a:r>
              <a:rPr lang="en-US" sz="3200" b="0" i="1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myInt</a:t>
            </a:r>
            <a:r>
              <a:rPr lang="en-US" sz="32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</a:t>
            </a: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stores </a:t>
            </a:r>
            <a:r>
              <a:rPr lang="en-US" sz="32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</a:t>
            </a: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, and we can’t restore the previous value </a:t>
            </a:r>
            <a:r>
              <a:rPr lang="en-US" sz="32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1.1 </a:t>
            </a: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from it.</a:t>
            </a:r>
          </a:p>
        </p:txBody>
      </p:sp>
    </p:spTree>
    <p:extLst>
      <p:ext uri="{BB962C8B-B14F-4D97-AF65-F5344CB8AC3E}">
        <p14:creationId xmlns:p14="http://schemas.microsoft.com/office/powerpoint/2010/main" val="139257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5AE8-C6BC-4BE4-9ABA-B6C18FDD0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7214"/>
            <a:ext cx="9144000" cy="8524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Reference Type Casts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68793-DBBD-4F23-B68A-A48D0D7C4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814" y="1666875"/>
            <a:ext cx="10101262" cy="4981575"/>
          </a:xfrm>
        </p:spPr>
        <p:txBody>
          <a:bodyPr>
            <a:normAutofit/>
          </a:bodyPr>
          <a:lstStyle/>
          <a:p>
            <a:pPr algn="l">
              <a:lnSpc>
                <a:spcPct val="134000"/>
              </a:lnSpc>
            </a:pPr>
            <a:r>
              <a:rPr lang="en-US" sz="36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Casting a reference variable doesn’t change the object it refers to. It tells the compiler to treat this object in another way.</a:t>
            </a:r>
          </a:p>
          <a:p>
            <a:pPr algn="l">
              <a:lnSpc>
                <a:spcPct val="134000"/>
              </a:lnSpc>
            </a:pPr>
            <a:r>
              <a:rPr lang="en-US" sz="36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Upcasting narrows the list of methods and properties available to this object, and </a:t>
            </a:r>
            <a:r>
              <a:rPr lang="en-US" sz="36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</a:t>
            </a:r>
            <a:r>
              <a:rPr lang="en-US" sz="36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can extend it.</a:t>
            </a:r>
            <a:endParaRPr lang="en-US" sz="36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9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Upcasting is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2" y="1884362"/>
            <a:ext cx="5924939" cy="341632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5;  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      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c = (Comparable)x;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                  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c = x;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2BA15-34CE-B1BB-D48A-8D52C3F0155C}"/>
              </a:ext>
            </a:extLst>
          </p:cNvPr>
          <p:cNvSpPr txBox="1"/>
          <p:nvPr/>
        </p:nvSpPr>
        <p:spPr>
          <a:xfrm>
            <a:off x="6677610" y="1647299"/>
            <a:ext cx="46761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>
                <a:solidFill>
                  <a:srgbClr val="7030A0"/>
                </a:solidFill>
                <a:latin typeface="Consolas" panose="020B0609020204030204" pitchFamily="49" charset="0"/>
              </a:rPr>
              <a:t>upcasts</a:t>
            </a:r>
            <a:r>
              <a:rPr lang="en-US" sz="2400" b="1" dirty="0">
                <a:latin typeface="Consolas" panose="020B0609020204030204" pitchFamily="49" charset="0"/>
              </a:rPr>
              <a:t> the Integer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 Comparable.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works, too. </a:t>
            </a:r>
            <a:endParaRPr lang="en-US" sz="24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EFE72E-0F89-A617-B20E-A1FBD0DD35D8}"/>
              </a:ext>
            </a:extLst>
          </p:cNvPr>
          <p:cNvSpPr txBox="1">
            <a:spLocks/>
          </p:cNvSpPr>
          <p:nvPr/>
        </p:nvSpPr>
        <p:spPr>
          <a:xfrm>
            <a:off x="459337" y="5634036"/>
            <a:ext cx="11124034" cy="111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b="1" i="1" dirty="0">
                <a:latin typeface="Consolas" panose="020B0609020204030204" pitchFamily="49" charset="0"/>
              </a:rPr>
              <a:t>Note that we can only call the </a:t>
            </a:r>
            <a:r>
              <a:rPr lang="en-US" sz="2400" b="1" i="1" dirty="0" err="1">
                <a:latin typeface="Consolas" panose="020B0609020204030204" pitchFamily="49" charset="0"/>
              </a:rPr>
              <a:t>compareTo</a:t>
            </a:r>
            <a:r>
              <a:rPr lang="en-US" sz="2400" b="1" i="1" dirty="0">
                <a:latin typeface="Consolas" panose="020B0609020204030204" pitchFamily="49" charset="0"/>
              </a:rPr>
              <a:t>() method using c, not any of the other Integer methods. </a:t>
            </a:r>
          </a:p>
        </p:txBody>
      </p:sp>
    </p:spTree>
    <p:extLst>
      <p:ext uri="{BB962C8B-B14F-4D97-AF65-F5344CB8AC3E}">
        <p14:creationId xmlns:p14="http://schemas.microsoft.com/office/powerpoint/2010/main" val="329355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1325563"/>
          </a:xfrm>
        </p:spPr>
        <p:txBody>
          <a:bodyPr/>
          <a:lstStyle/>
          <a:p>
            <a:pPr algn="ctr"/>
            <a:r>
              <a:rPr lang="en-US" b="1" dirty="0" err="1"/>
              <a:t>Downcasting</a:t>
            </a:r>
            <a:r>
              <a:rPr lang="en-US" b="1" dirty="0"/>
              <a:t> is NOT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52" y="1789112"/>
            <a:ext cx="497321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n = 5;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(Integer)n;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Integer x = n;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5934651" y="1552049"/>
            <a:ext cx="53460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downcasts</a:t>
            </a:r>
            <a:r>
              <a:rPr lang="en-US" sz="2400" b="1" dirty="0">
                <a:latin typeface="Consolas" panose="020B0609020204030204" pitchFamily="49" charset="0"/>
              </a:rPr>
              <a:t> the Comparable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an Integer.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It doesn’t work without the type cast.</a:t>
            </a:r>
            <a:endParaRPr lang="en-US" sz="24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4647E3-53BB-A52D-B368-94221AA54296}"/>
              </a:ext>
            </a:extLst>
          </p:cNvPr>
          <p:cNvSpPr txBox="1">
            <a:spLocks/>
          </p:cNvSpPr>
          <p:nvPr/>
        </p:nvSpPr>
        <p:spPr>
          <a:xfrm>
            <a:off x="1581150" y="5634036"/>
            <a:ext cx="8220076" cy="111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b="1" i="1" dirty="0">
                <a:latin typeface="Consolas" panose="020B0609020204030204" pitchFamily="49" charset="0"/>
              </a:rPr>
              <a:t>We can call any Integer method using x, not just the </a:t>
            </a:r>
            <a:r>
              <a:rPr lang="en-US" b="1" i="1" dirty="0" err="1">
                <a:latin typeface="Consolas" panose="020B0609020204030204" pitchFamily="49" charset="0"/>
              </a:rPr>
              <a:t>compareTo</a:t>
            </a:r>
            <a:r>
              <a:rPr lang="en-US" b="1" i="1" dirty="0">
                <a:latin typeface="Consolas" panose="020B0609020204030204" pitchFamily="49" charset="0"/>
              </a:rPr>
              <a:t>() method.</a:t>
            </a:r>
          </a:p>
        </p:txBody>
      </p:sp>
    </p:spTree>
    <p:extLst>
      <p:ext uri="{BB962C8B-B14F-4D97-AF65-F5344CB8AC3E}">
        <p14:creationId xmlns:p14="http://schemas.microsoft.com/office/powerpoint/2010/main" val="1039496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226"/>
          </a:xfrm>
        </p:spPr>
        <p:txBody>
          <a:bodyPr/>
          <a:lstStyle/>
          <a:p>
            <a:pPr algn="ctr"/>
            <a:r>
              <a:rPr lang="en-US" b="1" dirty="0"/>
              <a:t>Casting Doesn’t Convert the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1690688"/>
            <a:ext cx="8808098" cy="4868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What is the output?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a = 5;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b = (String)a;</a:t>
            </a:r>
          </a:p>
          <a:p>
            <a:pPr marL="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out.println</a:t>
            </a:r>
            <a:r>
              <a:rPr lang="en-US" b="1" dirty="0">
                <a:latin typeface="Consolas" panose="020B0609020204030204" pitchFamily="49" charset="0"/>
              </a:rPr>
              <a:t>(b + 3);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53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8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Syntax error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Run-time error - </a:t>
            </a:r>
            <a:r>
              <a:rPr lang="en-US" b="1" dirty="0" err="1">
                <a:latin typeface="Consolas" panose="020B0609020204030204" pitchFamily="49" charset="0"/>
              </a:rPr>
              <a:t>ClassCastException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6096000" y="2377727"/>
            <a:ext cx="55887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This doesn’t compile, because you can’t type cast an Integer object to be a String object. 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B87628-ED3B-458A-D4DF-29B983E3B664}"/>
              </a:ext>
            </a:extLst>
          </p:cNvPr>
          <p:cNvSpPr txBox="1"/>
          <p:nvPr/>
        </p:nvSpPr>
        <p:spPr>
          <a:xfrm>
            <a:off x="597159" y="5355796"/>
            <a:ext cx="4151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lphaLcParenR" startAt="4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Syntax error</a:t>
            </a:r>
          </a:p>
        </p:txBody>
      </p:sp>
    </p:spTree>
    <p:extLst>
      <p:ext uri="{BB962C8B-B14F-4D97-AF65-F5344CB8AC3E}">
        <p14:creationId xmlns:p14="http://schemas.microsoft.com/office/powerpoint/2010/main" val="339736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226"/>
          </a:xfrm>
        </p:spPr>
        <p:txBody>
          <a:bodyPr/>
          <a:lstStyle/>
          <a:p>
            <a:pPr algn="ctr"/>
            <a:r>
              <a:rPr lang="en-US" b="1" dirty="0"/>
              <a:t>Casting Doesn’t Convert the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1690688"/>
            <a:ext cx="8808098" cy="4868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What is the output?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n = "5";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(Integer)n;</a:t>
            </a:r>
          </a:p>
          <a:p>
            <a:pPr marL="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out.println</a:t>
            </a:r>
            <a:r>
              <a:rPr lang="en-US" b="1" dirty="0">
                <a:latin typeface="Consolas" panose="020B0609020204030204" pitchFamily="49" charset="0"/>
              </a:rPr>
              <a:t>(x + 3);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53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8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Syntax error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Run-time error - </a:t>
            </a:r>
            <a:r>
              <a:rPr lang="en-US" b="1" dirty="0" err="1">
                <a:latin typeface="Consolas" panose="020B0609020204030204" pitchFamily="49" charset="0"/>
              </a:rPr>
              <a:t>ClassCastException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6096000" y="1994269"/>
            <a:ext cx="573220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This compiles because </a:t>
            </a:r>
            <a:r>
              <a:rPr lang="en-US" sz="2600" b="1" i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and </a:t>
            </a:r>
            <a:r>
              <a:rPr lang="en-US" sz="2600" b="1" i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are Comparable, as are the String and Integer classes. </a:t>
            </a:r>
            <a:b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It throws a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ClassCastException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when you run it because String is neither a superclass nor a subclass of the Integer class.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F2EA9-8DC8-8013-C640-A60BCA585902}"/>
              </a:ext>
            </a:extLst>
          </p:cNvPr>
          <p:cNvSpPr txBox="1"/>
          <p:nvPr/>
        </p:nvSpPr>
        <p:spPr>
          <a:xfrm>
            <a:off x="597159" y="5814545"/>
            <a:ext cx="8046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lphaLcParenR" startAt="4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Run-time error -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ClassCastException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02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B8A16-E3F5-ABEF-E221-3EF0755F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Java Number Hierarchy</a:t>
            </a:r>
          </a:p>
        </p:txBody>
      </p:sp>
      <p:pic>
        <p:nvPicPr>
          <p:cNvPr id="5" name="Content Placeholder 4" descr="A diagram of a number&#10;&#10;Description automatically generated">
            <a:extLst>
              <a:ext uri="{FF2B5EF4-FFF2-40B4-BE49-F238E27FC236}">
                <a16:creationId xmlns:a16="http://schemas.microsoft.com/office/drawing/2014/main" id="{48CC9F37-BAD9-2B55-A69A-15ED3FC23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343" y="1966117"/>
            <a:ext cx="9239683" cy="4210131"/>
          </a:xfrm>
        </p:spPr>
      </p:pic>
    </p:spTree>
    <p:extLst>
      <p:ext uri="{BB962C8B-B14F-4D97-AF65-F5344CB8AC3E}">
        <p14:creationId xmlns:p14="http://schemas.microsoft.com/office/powerpoint/2010/main" val="3484536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Upcasting is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76192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5;  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      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Number n = (Number)x;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                  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Number n = x;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2BA15-34CE-B1BB-D48A-8D52C3F0155C}"/>
              </a:ext>
            </a:extLst>
          </p:cNvPr>
          <p:cNvSpPr txBox="1"/>
          <p:nvPr/>
        </p:nvSpPr>
        <p:spPr>
          <a:xfrm>
            <a:off x="5757361" y="1904474"/>
            <a:ext cx="55964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>
                <a:solidFill>
                  <a:srgbClr val="7030A0"/>
                </a:solidFill>
                <a:latin typeface="Consolas" panose="020B0609020204030204" pitchFamily="49" charset="0"/>
              </a:rPr>
              <a:t>upcasts</a:t>
            </a:r>
            <a:r>
              <a:rPr lang="en-US" sz="2400" b="1" dirty="0">
                <a:latin typeface="Consolas" panose="020B0609020204030204" pitchFamily="49" charset="0"/>
              </a:rPr>
              <a:t> the Integer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 Number.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works, too.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34622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Downcasting</a:t>
            </a:r>
            <a:r>
              <a:rPr lang="en-US" b="1" dirty="0"/>
              <a:t> is NOT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52" y="2141537"/>
            <a:ext cx="497321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Number n = 5;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(Integer)n;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Integer x = n;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5757362" y="1904474"/>
            <a:ext cx="53460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downcasts</a:t>
            </a:r>
            <a:r>
              <a:rPr lang="en-US" sz="2400" b="1" dirty="0">
                <a:latin typeface="Consolas" panose="020B0609020204030204" pitchFamily="49" charset="0"/>
              </a:rPr>
              <a:t> the Number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an Integer.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It doesn’t work without the type cast.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6591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997</Words>
  <Application>Microsoft Office PowerPoint</Application>
  <PresentationFormat>Widescreen</PresentationFormat>
  <Paragraphs>123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JetBrains Mono</vt:lpstr>
      <vt:lpstr>Liberation Mono</vt:lpstr>
      <vt:lpstr>Office Theme</vt:lpstr>
      <vt:lpstr>Types of Type Casts</vt:lpstr>
      <vt:lpstr>Primitive Type Casts</vt:lpstr>
      <vt:lpstr>Reference Type Casts</vt:lpstr>
      <vt:lpstr>Upcasting is Automatic</vt:lpstr>
      <vt:lpstr>Downcasting is NOT Automatic</vt:lpstr>
      <vt:lpstr>Casting Doesn’t Convert the Object!</vt:lpstr>
      <vt:lpstr>Casting Doesn’t Convert the Object!</vt:lpstr>
      <vt:lpstr>The Java Number Hierarchy</vt:lpstr>
      <vt:lpstr>Upcasting is Automatic</vt:lpstr>
      <vt:lpstr>Downcasting is NOT Automatic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WELDON JASIK</dc:creator>
  <cp:lastModifiedBy>Weldon Jasik</cp:lastModifiedBy>
  <cp:revision>17</cp:revision>
  <dcterms:created xsi:type="dcterms:W3CDTF">2020-01-23T21:06:20Z</dcterms:created>
  <dcterms:modified xsi:type="dcterms:W3CDTF">2023-10-31T18:03:59Z</dcterms:modified>
</cp:coreProperties>
</file>